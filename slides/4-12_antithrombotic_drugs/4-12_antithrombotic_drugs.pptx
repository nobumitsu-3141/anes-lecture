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抗血栓薬の休薬は、止めれば血栓、続ければ出血という二つのリスクの間で決める。この講義では、手技の出血リスクと患者の血栓リスクで決める考え方、ワルファリン・DOAC・抗血小板薬の休薬と再開、ヘパリンブリッジが要る場面（原則不要）、区域麻酔では手術より長い休薬が要ること（ASRA 第 5 版、国内 3 学会 改訂第 2 版）、相談先と緊急時、術前指示の書き方を扱う。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原則（JCS/JHRS 2020 不整脈薬物治療ガイドライン）: 休薬するかどうかは血栓リスク・薬剤・手技の出血リスクから患者ごとに決め、手技を行う医師は抗凝固薬を処方している診療所・病院に相談し、休薬に伴う血栓塞栓リスクを患者に説明して同意を得る。止血できる手技では原則休薬しない。休薬する場合は期間を最小限にし、止血を確認したら速やかに再開する。この推奨は待機手術向けで、緊急手術には当てはまらない。「止血できる手技では原則休薬しない」は JCS 本文の全体の原則で、低出血リスクの定義ではない。低出血リスクの手技でも、出血すると止血が難しい場合は中断を考慮する（IIa）。表 39 は標準的な手技の分類なので、出血リスクの高い症例では低リスク手技でも中断が要ることがある。</a:t>
            </a:r>
          </a:p>
          <a:p>
            <a:r>
              <a:rPr lang="ja-JP" altLang="en-US" dirty="0"/>
              <a:t>出血リスク分類（同 表 39・40）: minor は歯科手術（抜歯、膿瘍切開、インプラント）、白内障手術、生検なしの消化器内視鏡、体表の小手術、乳腺生検。低出血リスクは関節鏡手術、乳房切除、耳鼻科・頭頸部手術、緑内障・硝子体手術、経尿道手術、デバイス植込み、血管造影など。高出血リスクは脊髄くも膜下麻酔・硬膜外麻酔、開頭・脊髄手術、胸部・腹部・骨盤手術（鏡視下を含む）、大きな整形外科手術など。麻酔方法そのもの（脊髄幹麻酔）が高出血リスクに分類されている。minor では抗凝固薬を継続（Class I）、低出血リスク手技では継続を考慮（IIa）、高出血リスク手技では中断（IIa）。抜歯では、INR が治療域内ならワルファリンを継続する（JCS 2020、I）。国内の抜歯ガイドライン 2015 年改訂版（日本有病者歯科医療学会・日本口腔外科学会・日本老年歯科医学会）は、PT-INR 3.0 以下なら継続したまま抜歯できるとしていた【要確認: 2020 年版以降の記載と現行版の INR の閾値（日本有病者歯科医療学会のサイトか Minds の掲載版の本文で）】。ワルファリン中止で抜歯した患者の約 1% に重篤な塞栓症が起きたという報告がある。</a:t>
            </a:r>
          </a:p>
          <a:p>
            <a:r>
              <a:rPr lang="ja-JP" altLang="en-US" dirty="0"/>
              <a:t>血栓リスク（ACCP 2022 の層別化で高リスク）: 機械弁（脳卒中のリスク因子がある僧帽弁位、ケージボール弁・傾斜ディスク弁、3 か月以内の脳卒中・TIA）、心房細動（CHA2DS2-VASc 7 以上〔CHADS2 5〜6〕、3 か月以内の脳卒中・TIA、リウマチ性弁膜症）、3 か月以内（特に 1 か月以内）の静脈血栓塞栓症、重度の血栓性素因（プロテイン C・S・アンチトロンビン欠乏、抗リン脂質抗体など）。再発性 VTE と 3〜12 か月前の VTE は中等度リスク【要確認: ACCP 2022 原文の血栓リスク層別化の表（正誤表 Chest 2023;164:267 の反映後）。今回は転載表（JNMA J Nepal Med Assoc 2025）で確認】。</a:t>
            </a:r>
          </a:p>
          <a:p>
            <a:r>
              <a:rPr lang="ja-JP" altLang="en-US" dirty="0"/>
              <a:t>静脈血栓塞栓症の後の待機手術: 3 か月以内（特に 1 か月以内）の静脈血栓塞栓症は血栓リスクが高い。待機手術は、延期できるなら少なくとも 3 か月延ばすことを主科・処方医と検討する（専門家の意見。整形外科の国際コンセンサスは 6 か月の延期を推奨）。ステント後は 4-8。</a:t>
            </a:r>
          </a:p>
          <a:p>
            <a:r>
              <a:rPr lang="ja-JP" altLang="en-US" dirty="0"/>
              <a:t>参考: Ono K, et al. J Arrhythm 2022;38:833-973（JCS/JHRS 2020 英語版） / Douketis JD, et al. Chest 2022;162:e207-e243（ACCP 2022。正誤表 Chest 2023;164:267）</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休薬と再開: ワルファリンは約 5 日前に中止し、INR が正常化してから手術・脊髄幹麻酔を行う（ASRA 第 5 版、ACCP 2022）。施設基準は INR 1.4〜1.5 未満。再開は術後 24 時間以内（ACCP）。</a:t>
            </a:r>
          </a:p>
          <a:p>
            <a:r>
              <a:rPr lang="ja-JP" altLang="en-US" dirty="0"/>
              <a:t>BRIDGE 試験（Douketis 2015、心房細動 1,884 例の二重盲検 RCT）: ワルファリンを術前 5 日に中止し術後 24 時間以内に再開。ダルテパリンでブリッジした群としない群を比べ、動脈血栓塞栓症はブリッジ群 0.3%、ブリッジなし群 0.4%（ブリッジなしの非劣性 P=0.01）。大出血はブリッジ群 3.2%、ブリッジなし群 1.3%（ブリッジなし群の相対リスク 0.41、95%CI 0.20–0.78、P=0.005）。ブリッジは血栓を減らさず出血を増やす。対象は平均 CHADS2 2.3 で、機械弁や最近の脳卒中は少ないか除外されており、高リスク例にそのままは当てはまらない。</a:t>
            </a:r>
          </a:p>
          <a:p>
            <a:r>
              <a:rPr lang="ja-JP" altLang="en-US" dirty="0"/>
              <a:t>ブリッジを考慮する場面: JCS/JHRS 2020 は、心房細動でワルファリンを中断する場合のルーチンのブリッジは不要とし、考慮するのは弁膜症性心房細動（機械弁、リウマチ性僧帽弁狭窄）と非常に血栓リスクの高い非弁膜症性心房細動（3 か月以内の脳梗塞、CHADS2 が極めて高いなど）。JCS 2020 表 40 では、ワルファリン中断中のヘパリンブリッジそのものが IIb（B）。シミュレーションモデル（van der Pol S, et al. Europace 2019;21:716-723。JCS 2020 が「BRIDGE 試験から発展した解析」として引用）では、ブリッジが有益なのは HAS-BLED 2 以下かつ CHA2DS2-VASc 6 以上に限られ、術後 5 日以内に INR が治療域に戻る患者では有益性がなかった。BRIDGE の患者データの解析ではないので、CHA2DS2-VASc 6 以上を単独の基準にはしない。2023 ACC/AHA/ACCP/HRS 心房細動ガイドラインは、最近の脳卒中・TIA と機械弁を除く心房細動では、ブリッジせずに経口抗凝固薬を一時中止する（Class 1。ワルファリンは B-R、DOAC は B-NR）。機械弁と最近の脳卒中・TIA を除き、ワルファリン休薬中の LMWH ブリッジは行うべきでない（Class 3: Harm、B-R）。</a:t>
            </a:r>
          </a:p>
          <a:p>
            <a:r>
              <a:rPr lang="ja-JP" altLang="en-US" dirty="0"/>
              <a:t>機械弁: ACCP 2022 は機械弁でも待機手術のブリッジを行わないことを提案する（条件付き、確実性は非常に低い）。根拠の一つの PERIOP2 試験（術後のダルテパリン対プラセボ）では、90 日の重大血栓塞栓症 1.0% 対 1.2%、大出血 1.3% 対 2.0% で利益がなく、心房細動と機械弁で結果は一貫していた。ACCP 2022 の強い推奨は、AF でのブリッジ反対と、ペースメーカー・ICD 植込みでの VKA 継続の 2 つだけで、機械弁は条件付き。その後の AMBER 研究（Godoy A, et al. JACC Adv 2026;5:102578。二葉弁の機械弁 AVR 553 例の多施設後ろ向きコホート、僧帽弁位は対象外）では、30 日以内の血栓塞栓症はどの方法でも 0.5% 未満だった。ブリッジなしと比べてフルブリッジ（術前＋術後）では、大出血が 3.0% 対 0%、臨床的に問題となる出血が 9.5% 対 2.0%（傾向スコアマッチで 10.6% 対 2.4%）。</a:t>
            </a:r>
          </a:p>
          <a:p>
            <a:r>
              <a:rPr lang="ja-JP" altLang="en-US" dirty="0"/>
              <a:t>一方、次の指針はブリッジを考慮する立場で、指針によって方向が違う。JCS/JHRS 2020 は弁膜症性心房細動（機械弁、リウマチ性僧帽弁狭窄）でブリッジを考慮するとする（表 40 ではワルファリン中断中のブリッジは IIb）。ACC/AHA 2020 弁膜症ガイドラインは、僧帽弁位の機械弁、血栓塞栓リスク因子のある機械弁 AVR、旧世代の機械弁で、INR が治療域を下回る間のブリッジを個別に妥当とし、リスク因子のない二葉弁 AVR はブリッジせずに中断するとする【要確認: ACC/AHA 2020 弁膜症ガイドライン（Otto CM, et al. Circulation 2021;143:e72-e227）の推奨表で、ブリッジの推奨クラス（記憶では 2a）】。2024 AHA/ACC 周術期ガイドラインは、高血栓リスクで VKA を中断する場合の術前ブリッジを 2a、ルーチンのブリッジを 3: Harm とする（要約論文で確認）。研修医だけで決めず、循環器内科・心臓血管外科に相談する。機械弁に DOAC は使えない。</a:t>
            </a:r>
          </a:p>
          <a:p>
            <a:r>
              <a:rPr lang="ja-JP" altLang="en-US" dirty="0"/>
              <a:t>緊急: ビタミン K とプロトロンビン複合体製剤（ケイセントラ）で拮抗し、INR を測って判断する。離島では製剤の在庫を確かめておく。</a:t>
            </a:r>
          </a:p>
          <a:p>
            <a:r>
              <a:rPr lang="ja-JP" altLang="en-US" dirty="0"/>
              <a:t>参考: Kovacs MJ, et al. BMJ 2021;373:n1205（PERIOP2） / Joglar JA, et al. Circulation 2024;149:e1-e156（2023 ACC/AHA/ACCP/HRS AF） / Thompson A, et al. Circulation 2024;150:e351-e442（2024 AHA/ACC 周術期） / van der Pol S, et al. Europace 2019;21:716-723 / Godoy A, et al. JACC Adv 2026;5:102578（AMBER）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PAUSE 研究（Douketis 2019、心房細動 3,007 例の前向きコホート）: アピキサバン・ダビガトラン・リバーロキサバンを、低出血リスク手技の 1 日前、高出血リスク手技の 2 日前に休薬し、術後は低リスクで 1 日、高リスクで 2〜3 日後に再開。ヘパリンブリッジも凝固検査も行わず、30 日の大出血はアピキサバン 1.35%、ダビガトラン 0.90%、リバーロキサバン 1.85%、動脈血栓塞栓症（脳梗塞・全身性塞栓症・TIA）は 0.16%、0.60%、0.37%。高出血リスク手技の大出血はアピキサバン 2.96%、リバーロキサバン 2.95%。対照群のないコホート研究で、結論は「低率だった」であり、「安全が証明された」ではない。ダビガトランは CrCl 50 mL/分未満で休薬を延ばした。エドキサバンは対象外。</a:t>
            </a:r>
          </a:p>
          <a:p>
            <a:r>
              <a:rPr lang="ja-JP" altLang="en-US" dirty="0"/>
              <a:t>分類の違い: PAUSE の「低出血リスク」は休薬を前提とした区分で、JCS の低出血リスクとは同じではない。JCS 2020 では、minor 手技は継続（I）、低出血リスク手技も継続を考慮（IIa）、低出血リスクの消化器内視鏡は DOAC の血中濃度ピークを避けて継続（IIa）。このスライドは「休薬する場合」の目安で、S2 の「休薬しない手技」とは別の話。</a:t>
            </a:r>
          </a:p>
          <a:p>
            <a:r>
              <a:rPr lang="ja-JP" altLang="en-US" dirty="0"/>
              <a:t>国内（JCS/JHRS 2020）: 大出血リスクの手技では DOAC の最終内服を手術の 48 時間以上前とし、ダビガトランは CrCl 80 以上で 48 時間以上、50〜79 で 72 時間以上、30〜49 で 96 時間以上前。国内ではダビガトランは CrCl 30 未満で禁忌。術前に DOAC を中止した患者に周術期のヘパリンブリッジは推奨しない。DOAC を継続して行う手技は血中濃度がピークの時間帯を避ける。JCS/JHRS 2024 フォーカスアップデートには周術期の休薬の章がなく、国内の基準は JCS/JHRS 2020 のまま。</a:t>
            </a:r>
          </a:p>
          <a:p>
            <a:r>
              <a:rPr lang="ja-JP" altLang="en-US" dirty="0"/>
              <a:t>米国（2023 ACC/AHA/ACCP/HRS 心房細動ガイドライン、Table 18）: ダビガトランは CrCl 50 超で低リスク 1 日・高リスク 2 日、CrCl 30〜50 で低リスク 2 日・高リスク 4 日休薬（JCS とは CrCl の区切りが違う）。エドキサバン（国内で多く使われる抗 Xa 薬。PAUSE の対象外）は CrCl 15 超で低リスク 1 日・高リスク 2 日休薬。再開は低出血リスクなら翌日、高出血リスクなら術後 2 日目夜〜3 日目夜が妥当（2a）。</a:t>
            </a:r>
          </a:p>
          <a:p>
            <a:r>
              <a:rPr lang="ja-JP" altLang="en-US" dirty="0"/>
              <a:t>数え方: 「2 日休薬」は手術日を含めず丸 2 日内服しないので、最終内服から手術まで通常は約 60 時間になる（2023 ACC/AHA の原文の数え方）。JCS の「48 時間以上」とは数え方が違うので、最終内服の日時を記録して時間で数える。</a:t>
            </a:r>
          </a:p>
          <a:p>
            <a:r>
              <a:rPr lang="ja-JP" altLang="en-US" dirty="0"/>
              <a:t>添付文書: 国内の添付文書はガイドラインと違う数値を記していることがある（例: アピキサバンは、出血リスクが低いか出血が限られコントロールできる手技で 24 時間以上前、中〜高リスクの手技で 48 時間以上前。2013 年の使用上の注意改訂による）。PMDA の電子添文の最新版と施設の取り決めを確かめる。</a:t>
            </a:r>
          </a:p>
          <a:p>
            <a:r>
              <a:rPr lang="ja-JP" altLang="en-US" dirty="0"/>
              <a:t>緊急: ダビガトランは最終内服から 24 時間以内（腎障害や P 糖蛋白阻害薬の併用では 48 時間まで考慮）にイダルシズマブ 5 g で中和できる。抗 Xa 薬（アピキサバン、エドキサバン、リバーロキサバン）の中和薬アンデキサネット アルファ（オンデキサ）は国内で使える（国内の市販後調査は 2022 年 5 月に登録開始）。適応は生命を脅かす出血・止血困難な出血での中和で（JCS/JHRS 2024：I、B）、出血のない緊急手術の前の中和は適応に入らない。ヘパリンの抗 Xa・抗 IIa 作用も打ち消すため、ヘパリンを使う手術（人工心肺など）では ACT で監視する。プロトロンビン複合体製剤は抗 Xa 薬の大出血で考慮できるが、DOAC には保険適用外（JCS 2020 で IIb〔C〕。2024 年 2 月時点でも保険適用外）。離島では在庫を事前に確かめ、脊髄幹麻酔を避けて全身麻酔にすることも選択肢。</a:t>
            </a:r>
          </a:p>
          <a:p>
            <a:r>
              <a:rPr lang="ja-JP" altLang="en-US" dirty="0"/>
              <a:t>参考: Ono K, et al. J Arrhythm 2022;38:833-973（JCS/JHRS 2020 英語版） / Iwasaki YK, et al. Circ J 2025;89:1012-1073（JCS/JHRS 2024 フォーカスアップデート）</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アスピリン: PCI 既往があれば周術期もアスピリン（75〜100 mg）を続ける（2024 AHA/ACC 周術期ガイドライン、Class 1）。PCI 既往がなければ、心イベントのリスクが出血リスクを上回るときに続けるのが 2b で、新たに始めるのは推奨しない（3）【要確認: 2024 AHA/ACC 原文（Thompson A, et al. Circulation 2024;150:e351-e442）の推奨表。今回は要約論文（J Cardiothorac Vasc Anesth）で確認】。頭蓋内・脊柱管内など閉鎖腔の手術は出血したときの害が大きく、アスピリンでも休薬を考慮する（Thrombosis Canada の要約では、頭蓋内など出血リスクが非常に高い手術で 7 日前の休薬を考慮）。脳神経外科・処方医と決める。一次予防だけの処方なら出血リスクの高い手術で中止できることもあるが、処方医と相談する。</a:t>
            </a:r>
          </a:p>
          <a:p>
            <a:r>
              <a:rPr lang="ja-JP" altLang="en-US" dirty="0"/>
              <a:t>区域麻酔とアスピリン: ASRA 第 5 版は、アスピリン単剤なら脊髄幹麻酔・深部ブロックの前に休薬は不要とする。国内 3 学会 改訂第 2 版は、低用量アスピリン（200 mg/日未満）を含む NSAIDs で神経ブロック前の休薬は必須でないとする【要確認: 改訂第 2 版の本文で 200 mg/日の閾値（日本ペインクリニック学会サイトの PDF。今回は検索の抜粋だけ）】。他の抗血栓薬と併用していれば別に考える。</a:t>
            </a:r>
          </a:p>
          <a:p>
            <a:r>
              <a:rPr lang="ja-JP" altLang="en-US" dirty="0"/>
              <a:t>P2Y12 阻害薬: 手術での休薬の目安は ACCP 2022・ESC 2022 でクロピドグレル 5 日、チカグレロル 3〜5 日、プラスグレル 7 日。国内の添付文書はプラビックス・エフィエントとも 14 日以上前（エフィエントは「血小板凝集抑制が問題となるような手術の場合には、14 日以上前に投与を中止することが望ましい」）【要確認: PMDA 電子添文（プラビックス、エフィエント）の「重要な基本的注意」にある手術前の中止の記載。今回は二次資料と検索の抜粋で確認】。プラスグレルの国内用量は海外より少ないが、国内用量で周術期の休薬期間を検証したデータは見つからず、目安の 7 日は海外データによる。区域麻酔ではクロピドグレル 5〜7 日、チカグレロル 5 日、プラスグレル 7〜10 日（ASRA 第 5 版 → S7）。チカグレロルは可逆的に結合するが、休薬の目安は 3〜5 日。再開は止血を確認して術後 24 時間が目安（ACCP 2022）。負荷投与するかは出血リスクと PCI 施行医の判断で。</a:t>
            </a:r>
          </a:p>
          <a:p>
            <a:r>
              <a:rPr lang="ja-JP" altLang="en-US" dirty="0"/>
              <a:t>DAPT 中: ステント留置後の早い時期の待機手術は延期が第一（→ 4-8）。休薬するなら PCI を担当した循環器内科に必ず相談し、アスピリンは続けて P2Y12 阻害薬だけを止める。BMS から 30 日以内、DES から 3 か月以内に延期できない手術が必要なら、出血リスクが大きくなければ DAPT を続けたまま行う（2024 AHA/ACC、Class 1。詳細は 4-8）。短期 DAPT のあとクロピドグレル単剤に移る処方や、心房細動でステント留置から 1 年を超えた患者の抗凝固薬単剤（JCS/JHRS 2020、Class I）もあるので、何を何のために飲んでいるかを確かめてから決める。</a:t>
            </a:r>
          </a:p>
          <a:p>
            <a:r>
              <a:rPr lang="ja-JP" altLang="en-US" dirty="0"/>
              <a:t>併用: NSAIDs や SSRI（血小板のセロトニン取り込み阻害）の併用で出血は増える。抗凝固薬と抗血小板薬の併用（アスピリンに LMWH、DOAC に NSAIDs など）は単剤の休薬表どおりでは安全と言えず、脊髄幹麻酔を避けるか、より保守的にする。</a:t>
            </a:r>
          </a:p>
          <a:p>
            <a:r>
              <a:rPr lang="ja-JP" altLang="en-US" dirty="0"/>
              <a:t>参考: 日本循環器学会 2020 年 JCS ガイドライン フォーカスアップデート版 冠動脈疾患患者における抗血栓療法 / Selvamani BJ, et al. Cureus 2026;18:e107704（ACCP・ESC・ASRA の比較表）</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ASRA 第 5 版（Kopp SL, et al. Reg Anesth Pain Med 2025。2025 年 10 月オンライン公開、doi:10.1136/rapm-2024-105766）: 米国区域麻酔学会の抗血栓療法中の区域麻酔ガイドライン第 5 版は、用量の呼び方を「低用量／高用量」に改め、エビデンスが乏しい部分は保守的な方針をとる。用量の区分は量そのものではなく、患者の特徴と適応で決まる（抄録）。高用量の抗 Xa DOAC（アピキサバン、リバーロキサバン、エドキサバン）は脊髄幹麻酔・深部ブロックの 72 時間以上前に中止し、初回投与は穿刺またはカテーテル抜去から 24 時間以上あける（表の「24 時間後」の意味）。低用量はリバーロキサバン 24 時間、アピキサバン 36 時間、再開は抜去 6 時間後。施設で測定できれば、残存 DOAC 濃度 30 ng/mL 未満または抗 Xa 活性 0.1 IU/mL 以下を目安にできる（国内 3 学会 改訂第 2 版も同じ閾値を参照する）。休薬から 24〜48 時間で 30 ng/mL 未満に下がるのは約 2/3 の患者なので（2023 ACC/AHA）、時間だけで安全とは言えない。中和薬のルーチン投与は推奨しない【要確認: ASRA 第 5 版の原文（rapm.bmj.com）で、表の各時間（今回は Cureus 2026 の比較表と Guideline Central の要約で確認）と、中和薬のルーチン投与を推奨しない記載】。</a:t>
            </a:r>
          </a:p>
          <a:p>
            <a:r>
              <a:rPr lang="ja-JP" altLang="en-US" dirty="0"/>
              <a:t>ワルファリン: 約 5 日前に中止し、INR が正常化（施設基準 1.4〜1.5 未満）してから穿刺する。カテーテルの抜去も INR 1.5 未満で行い、抜去後はすぐ再開できる。ESAIC/ESRA 2022 は、ワルファリン内服中のカテーテル留置を禁忌とする（二次資料）。</a:t>
            </a:r>
          </a:p>
          <a:p>
            <a:r>
              <a:rPr lang="ja-JP" altLang="en-US" dirty="0"/>
              <a:t>用量の区分（最も間違えやすい点）: 低用量は術後 VTE 予防量のこと。心房細動の減量用量（アピキサバン 2.5 mg×2、リバーロキサバン 10 mg×1、エドキサバン 30 mg・15 mg×1）は、量が少なくても高用量として扱い、72 時間あける。国内で外来処方のアピキサバン・リバーロキサバンを飲んでいる患者は、ほぼ全員が高用量にあたる。低用量エドキサバン（国内では術後 VTE 予防の 30 mg）の扱いは資料で食い違う（Cureus の表は 24 時間、ASRA のブログは推奨なし）【要確認: ASRA 第 5 版原文の用量の定義と、低用量エドキサバンの扱い】。</a:t>
            </a:r>
          </a:p>
          <a:p>
            <a:r>
              <a:rPr lang="ja-JP" altLang="en-US" dirty="0"/>
              <a:t>ダビガトラン: 高用量は CrCl 50 mL/分以上で 72 時間、30〜49 で 120 時間、再開は抜去 24 時間後。低用量（術後 VTE 予防量）は 48 時間、再開は 6 時間後。CrCl 30 未満は脊髄幹麻酔・深部ブロックを避ける（残存濃度で確かめられる場合を除く）。国内のダビガトラン（心房細動の 150 mg・110 mg×2）は高用量として扱う。手術の基準（JCS/JHRS 2020: CCr 80 以上で 48、50〜79 で 72、30〜49 で 96 時間）と混同しない。</a:t>
            </a:r>
          </a:p>
          <a:p>
            <a:r>
              <a:rPr lang="ja-JP" altLang="en-US" dirty="0"/>
              <a:t>手術の基準との差: 外科が決めた DOAC の休薬（PAUSE・ACCP: 高出血リスクで 2 日＝最終内服から約 60〜68 時間）では、ASRA が脊髄幹麻酔に求める 72 時間を満たさない。脊髄くも膜下・硬膜外麻酔を使うかもしれない症例は、術前外来の時点で麻酔科が休薬期間を決める。DOAC はカテーテル抜去後に再開する（低用量 6 時間、高用量 24 時間）。</a:t>
            </a:r>
          </a:p>
          <a:p>
            <a:r>
              <a:rPr lang="ja-JP" altLang="en-US" dirty="0"/>
              <a:t>参考: 抗血栓療法中の区域麻酔・神経ブロックガイドライン 改訂第 2 版（2026） / Suleiman A, et al. Br J Anaesth 2025;135:1603-1608 / Selvamani BJ, et al. Cureus 2026;18:e107704（比較表。二次資料）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LMWH: 低用量（術後 VTE 予防量）は 12 時間以上、高用量は 24 時間以上止め、再開は抜去 4 時間以上後（ASRA 第 5 版）。国内の術後 VTE 予防のエノキサパリン 2000 IU×2 は「低用量の 1 日 2 回」にあたるので、硬膜外カテーテルを留置している間は投与しない。初回投与はカテーテル抜去の 4 時間以上後とし、開始時刻を術前に主科と決めて指示に書く【要確認: PMDA のクレキサン電子添文の「警告」「重要な基本的注意」にある脊椎・硬膜外麻酔とカテーテル抜去の記載】。LMWH（皮下注）の低用量 1 日 2 回投与中・高用量投与中は、カテーテルを留置しない。</a:t>
            </a:r>
          </a:p>
          <a:p>
            <a:r>
              <a:rPr lang="ja-JP" altLang="en-US" dirty="0"/>
              <a:t>未分画ヘパリン: 静注は 4〜6 時間止めて aPTT が正常なのを確かめ、再開は抜去 1 時間以上後。皮下注は低用量 4〜6 時間、高用量 12〜24 時間止める。皮下注の再開は、二次資料（Cureus 2026 の表）では抜去後すぐでよいとされるが、講義では静注と揃えて抜去 1 時間以上後とする（講義者の運用提案）【要確認: ASRA 第 5 版原文の皮下注 UFH の再開時刻】。</a:t>
            </a:r>
          </a:p>
          <a:p>
            <a:r>
              <a:rPr lang="ja-JP" altLang="en-US" dirty="0"/>
              <a:t>抗血小板薬: アスピリン単剤と NSAIDs なら脊髄幹麻酔・深部ブロックの前に休薬は不要（ASRA 第 5 版）。クロピドグレルは 5〜7 日、チカグレロルは 5 日、プラスグレルは 7〜10 日前に止める。クロピドグレルは負荷投与をしなければ 1〜2 日留置してよく、再開は負荷なしなら抜去後すぐ、負荷投与なら抜去 6 時間後。プラスグレル・チカグレロルの投与中は留置しない【要確認: ASRA 第 5 版原文の抗血小板薬の項で、プラスグレル・チカグレロル投与中のカテーテル留置の扱い。第 4 版の推奨で、第 5 版では確かめられていない】。</a:t>
            </a:r>
          </a:p>
          <a:p>
            <a:r>
              <a:rPr lang="ja-JP" altLang="en-US" dirty="0"/>
              <a:t>国内 3 学会: 日本ペインクリニック学会・日本麻酔科学会・日本区域麻酔学会 合同「抗血栓療法中の区域麻酔・神経ブロックガイドライン 改訂第 2 版」（2026）が出た。2016 年版（追補 2017）の表は旧版なので使わない。改訂第 2 版は、低用量アスピリンを含む NSAIDs では神経ブロック前の休薬は必須でない、出血リスクが特に高くなければ体表の神経ブロックは休薬せずに行える、脊髄幹麻酔・深部ブロックでは薬物動態に基づいて休薬期間を設ける、としている【要確認: 改訂第 2 版の本文（日本ペインクリニック学会サイトの PDF。今回は接続できず検索の抜粋だけ）で、この 3 点と薬剤別休薬期間表。表を確かめるまで S6・S7 に国内の列は加えない】。</a:t>
            </a:r>
          </a:p>
          <a:p>
            <a:r>
              <a:rPr lang="ja-JP" altLang="en-US" dirty="0"/>
              <a:t>カテーテル: 抜去も穿刺と同じくらい危ない。抜去前の休薬（LMWH、ワルファリンは INR 1.5 未満）と抜去後の再開時刻を指示に書く。DOAC はカテーテル抜去後に再開する（低用量 6 時間、高用量 24 時間 → S6）。</a:t>
            </a:r>
          </a:p>
          <a:p>
            <a:r>
              <a:rPr lang="ja-JP" altLang="en-US" dirty="0"/>
              <a:t>参考: 抗血栓療法中の区域麻酔・神経ブロックガイドライン 改訂第 2 版（2026） / Selvamani BJ, et al. Cureus 2026;18:e107704（比較表。二次資料）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相談: JCS/JHRS 2020 は、手技を行う医師が抗凝固薬の処方医に相談し、患者に血栓リスクを説明して同意を得るよう求めている。ステント後は PCI 施行医、機械弁は循環器内科・心臓血管外科、3 か月以内の静脈血栓塞栓症は待機手術を延期するか（延期できるなら少なくとも 3 か月。→ S2）を主科・処方医と決める。離島では電話・オンラインでの相談先を前もって決めておく。</a:t>
            </a:r>
          </a:p>
          <a:p>
            <a:r>
              <a:rPr lang="ja-JP" altLang="en-US" dirty="0"/>
              <a:t>緊急手術: 休薬表は待機手術向けで、緊急手術には当てはまらない。最終内服の時刻を聞き、ワルファリンは INR、DOAC は腎機能（CrCl）と時間で残り方を推定する。ダビガトランはイダルシズマブ 5 g（投与後 1 分以内に中和、効果は 24 時間）、ワルファリンはビタミン K とプロトロンビン複合体製剤。抗 Xa 薬の中和薬アンデキサネット アルファ（オンデキサ）は国内で使えるが、適応は生命を脅かす出血・止血困難な出血で（JCS/JHRS 2024：I、B）、出血のない緊急手術の前の中和は適応に入らない。ヘパリンの作用も打ち消すので、人工心肺などヘパリンを使う手術では ACT で監視する。プロトロンビン複合体製剤は抗 Xa 薬の大出血で考慮できるが、DOAC には保険適用外。離島では在庫を確かめ、なければ血液製剤と出血に備え、脊髄幹麻酔を避けて全身麻酔にする。</a:t>
            </a:r>
          </a:p>
          <a:p>
            <a:r>
              <a:rPr lang="ja-JP" altLang="en-US" dirty="0"/>
              <a:t>記録: 休薬の指示、再開の時刻、相談した相手、患者への説明を記録し、病棟・手術室・主科に伝える。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書き方: 薬ごとに、最終内服の日時、なぜその長さか（手術の出血リスクか、脊髄幹麻酔か）、ブリッジの有無、再開の時刻と条件（止血の確認）、相談した相手、を書く。「2 日前から中止」だけでは最終内服の時刻がわからず、48 時間と 60 時間の違いが生まれる。</a:t>
            </a:r>
          </a:p>
          <a:p>
            <a:r>
              <a:rPr lang="ja-JP" altLang="en-US" dirty="0"/>
              <a:t>時間の計算: 手術 3 日前の夜 20 時に最終内服すると、当日 9 時の入室では 61 時間（13 時でも 65 時間）で、72 時間に届かない。4 日前の夜 20 時なら 9 時入室で約 85 時間。最終内服の時刻から入室時刻までを時間で数える。エリキュース 5 mg×2 は ASRA の高用量で、心房細動の減量用量（2.5 mg×2）も高用量として扱う（→ S6）。</a:t>
            </a:r>
          </a:p>
          <a:p>
            <a:r>
              <a:rPr lang="ja-JP" altLang="en-US" dirty="0"/>
              <a:t>例を 2 人に分けた理由: 心房細動でステント留置から 1 年を超えた患者は、抗凝固薬の単剤が標準（JCS/JHRS 2020、Class I）。抗凝固薬と抗血小板薬を併用している患者は単剤の表では安全と言えないので、脊髄幹麻酔を避けるか、処方の見直しを含めて処方医と決める。患者 B のようにステント留置から 2 年たっても DAPT が続いているのは標準的ではないので、続けている理由を PCI 施行医に確かめる。クロピドグレルは ASRA 第 5 版で脊髄幹麻酔の前に 5〜7 日なので、例では長い方の 7 日で指示した（講義者の運用提案。手術 7 日前の朝 8 時なら当日 9 時で 7 日と 1 時間）。</a:t>
            </a:r>
          </a:p>
          <a:p>
            <a:r>
              <a:rPr lang="ja-JP" altLang="en-US" dirty="0"/>
              <a:t>区域麻酔: 脊髄くも膜下麻酔・硬膜外麻酔を使う可能性があれば、手術の基準（DOAC 2 日）ではなく区域麻酔の基準（高用量 DOAC 72 時間）で指示を出す。当日に基準を満たしていなければ、区域麻酔をあきらめて全身麻酔にするか延期する。</a:t>
            </a:r>
          </a:p>
          <a:p>
            <a:r>
              <a:rPr lang="ja-JP" altLang="en-US" dirty="0"/>
              <a:t>再開: 止血が確認できたら速やかに。エリキュースの術後 2 日目の夜の再開は、穿刺から 24 時間以上たっており、高出血リスク手術の再開（術後 2〜3 日、PAUSE）とも合う。P2Y12 阻害薬を負荷投与で再開するなら、穿刺・カテーテル抜去から 6 時間以上あける（ASRA 第 5 版、二次資料）。硬膜外カテーテルを留置している間は、抜去のタイミングと再開時刻を別に書く（→ S7）。</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分）。抗血栓薬の休薬は、手技の出血リスク（抜歯・白内障・体表は継続、脊髄幹麻酔・胸腹部は中断）と患者の血栓リスク（機械弁、3 か月以内の脳卒中・静脈血栓塞栓症、ステント後）で決め、処方医に相談する。ワルファリンは 5 日前に止めて INR を確かめ、DOAC は手術の出血リスクで 1〜2 日休薬し、ヘパリンブリッジは原則しない（BRIDGE、PAUSE）。アスピリンは原則続け（頭蓋内・脊柱管内の手術は別）、P2Y12 阻害薬は PCI 施行医と相談してから止める。区域麻酔の休薬は手術より長く、高用量 DOAC は 72 時間（心房細動の減量用量も高用量として扱う）、ダビガトランは腎機能で 72〜120 時間（ASRA 第 5 版。国内 3 学会は改訂第 2 版）。最終内服の日時、再開の条件、相談した相手を記録し、緊急手術では中和薬の在庫と全身麻酔への変更を考える。次は 4-13（常用薬②：糖尿病薬）。</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常用薬①：抗血栓薬</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4-12 術前評価</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出血と血栓の天秤で決める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考え方</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抗凝固薬</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抗血小</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板薬</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区域</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麻酔</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日本循環器学会／日本不整脈心電学会 2020 年改訂版 不整脈薬物治療ガイドライン</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Douketis JD, et al. Chest 2022;162:e207-e243（ACCP 2022）</a:t>
            </a:r>
            <a:endParaRPr lang="ja-JP" sz="1600" dirty="0"/>
          </a:p>
        </p:txBody>
      </p:sp>
      <p:sp>
        <p:nvSpPr>
          <p:cNvPr id="11" name="Shape 9"/>
          <p:cNvSpPr/>
          <p:nvPr/>
        </p:nvSpPr>
        <p:spPr>
          <a:xfrm>
            <a:off x="7434986" y="1691640"/>
            <a:ext cx="4251046" cy="4197096"/>
          </a:xfrm>
          <a:prstGeom prst="roundRect">
            <a:avLst>
              <a:gd name="adj" fmla="val 1743"/>
            </a:avLst>
          </a:prstGeom>
          <a:solidFill>
            <a:srgbClr val="F2F2F2"/>
          </a:solidFill>
          <a:ln/>
        </p:spPr>
      </p:sp>
      <p:sp>
        <p:nvSpPr>
          <p:cNvPr id="12" name="Text 10"/>
          <p:cNvSpPr txBox="1"/>
          <p:nvPr/>
        </p:nvSpPr>
        <p:spPr>
          <a:xfrm>
            <a:off x="7526426" y="1764792"/>
            <a:ext cx="4068166" cy="374904"/>
          </a:xfrm>
          <a:prstGeom prst="rect">
            <a:avLst/>
          </a:prstGeom>
          <a:noFill/>
          <a:ln/>
        </p:spPr>
        <p:txBody>
          <a:bodyPr wrap="square" lIns="0" tIns="0" rIns="0" bIns="0" rtlCol="0" anchor="t"/>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患者の血栓リスク（高い例）</a:t>
            </a:r>
            <a:endParaRPr lang="ja-JP" sz="2200" dirty="0"/>
          </a:p>
        </p:txBody>
      </p:sp>
      <p:sp>
        <p:nvSpPr>
          <p:cNvPr id="13" name="Text 11"/>
          <p:cNvSpPr txBox="1"/>
          <p:nvPr/>
        </p:nvSpPr>
        <p:spPr>
          <a:xfrm>
            <a:off x="7526426" y="2155241"/>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4" name="Text 12"/>
          <p:cNvSpPr txBox="1"/>
          <p:nvPr/>
        </p:nvSpPr>
        <p:spPr>
          <a:xfrm>
            <a:off x="7782458" y="2155241"/>
            <a:ext cx="381213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機械弁（特に僧帽弁位）、</a:t>
            </a:r>
            <a:endParaRPr lang="ja-JP" sz="2200" dirty="0"/>
          </a:p>
        </p:txBody>
      </p:sp>
      <p:sp>
        <p:nvSpPr>
          <p:cNvPr id="15" name="Text 13"/>
          <p:cNvSpPr txBox="1"/>
          <p:nvPr/>
        </p:nvSpPr>
        <p:spPr>
          <a:xfrm>
            <a:off x="7782458" y="2489911"/>
            <a:ext cx="381213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リウマチ性僧帽弁狭窄</a:t>
            </a:r>
            <a:endParaRPr lang="ja-JP" sz="2200" dirty="0"/>
          </a:p>
        </p:txBody>
      </p:sp>
      <p:sp>
        <p:nvSpPr>
          <p:cNvPr id="16" name="Text 14"/>
          <p:cNvSpPr txBox="1"/>
          <p:nvPr/>
        </p:nvSpPr>
        <p:spPr>
          <a:xfrm>
            <a:off x="7526426" y="2883103"/>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7" name="Text 15"/>
          <p:cNvSpPr txBox="1"/>
          <p:nvPr/>
        </p:nvSpPr>
        <p:spPr>
          <a:xfrm>
            <a:off x="7782458" y="2883103"/>
            <a:ext cx="381213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3 か月以内の脳卒中・</a:t>
            </a:r>
            <a:endParaRPr lang="ja-JP" sz="2200" dirty="0"/>
          </a:p>
        </p:txBody>
      </p:sp>
      <p:sp>
        <p:nvSpPr>
          <p:cNvPr id="18" name="Text 16"/>
          <p:cNvSpPr txBox="1"/>
          <p:nvPr/>
        </p:nvSpPr>
        <p:spPr>
          <a:xfrm>
            <a:off x="7782458" y="3218688"/>
            <a:ext cx="381213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TIA・静脈血栓塞栓症</a:t>
            </a:r>
            <a:endParaRPr lang="ja-JP" sz="2200" dirty="0"/>
          </a:p>
        </p:txBody>
      </p:sp>
      <p:sp>
        <p:nvSpPr>
          <p:cNvPr id="19" name="Text 17"/>
          <p:cNvSpPr txBox="1"/>
          <p:nvPr/>
        </p:nvSpPr>
        <p:spPr>
          <a:xfrm>
            <a:off x="7526426" y="3610966"/>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0" name="Text 18"/>
          <p:cNvSpPr txBox="1"/>
          <p:nvPr/>
        </p:nvSpPr>
        <p:spPr>
          <a:xfrm>
            <a:off x="7782458" y="3610966"/>
            <a:ext cx="381213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CHA2DS2-VASc が</a:t>
            </a:r>
            <a:endParaRPr lang="ja-JP" sz="2200" dirty="0"/>
          </a:p>
        </p:txBody>
      </p:sp>
      <p:sp>
        <p:nvSpPr>
          <p:cNvPr id="21" name="Text 19"/>
          <p:cNvSpPr txBox="1"/>
          <p:nvPr/>
        </p:nvSpPr>
        <p:spPr>
          <a:xfrm>
            <a:off x="7782458" y="3946550"/>
            <a:ext cx="381213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高い心房細動</a:t>
            </a:r>
            <a:endParaRPr lang="ja-JP" sz="2200" dirty="0"/>
          </a:p>
        </p:txBody>
      </p:sp>
      <p:sp>
        <p:nvSpPr>
          <p:cNvPr id="22" name="Text 20"/>
          <p:cNvSpPr txBox="1"/>
          <p:nvPr/>
        </p:nvSpPr>
        <p:spPr>
          <a:xfrm>
            <a:off x="7526426" y="4339742"/>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3" name="Text 21"/>
          <p:cNvSpPr txBox="1"/>
          <p:nvPr/>
        </p:nvSpPr>
        <p:spPr>
          <a:xfrm>
            <a:off x="7782458" y="4339742"/>
            <a:ext cx="381213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抗リン脂質抗体症候群</a:t>
            </a:r>
            <a:endParaRPr lang="ja-JP" sz="2200" dirty="0"/>
          </a:p>
        </p:txBody>
      </p:sp>
      <p:sp>
        <p:nvSpPr>
          <p:cNvPr id="24" name="Text 22"/>
          <p:cNvSpPr txBox="1"/>
          <p:nvPr/>
        </p:nvSpPr>
        <p:spPr>
          <a:xfrm>
            <a:off x="7782458" y="4674413"/>
            <a:ext cx="381213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などの血栓性素因</a:t>
            </a:r>
            <a:endParaRPr lang="ja-JP" sz="2200" dirty="0"/>
          </a:p>
        </p:txBody>
      </p:sp>
      <p:sp>
        <p:nvSpPr>
          <p:cNvPr id="25" name="Text 23"/>
          <p:cNvSpPr txBox="1"/>
          <p:nvPr/>
        </p:nvSpPr>
        <p:spPr>
          <a:xfrm>
            <a:off x="7526426" y="5067605"/>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6" name="Text 24"/>
          <p:cNvSpPr txBox="1"/>
          <p:nvPr/>
        </p:nvSpPr>
        <p:spPr>
          <a:xfrm>
            <a:off x="7782458" y="5067605"/>
            <a:ext cx="381213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冠動脈ステント留置後の</a:t>
            </a:r>
            <a:endParaRPr lang="ja-JP" sz="2200" dirty="0"/>
          </a:p>
        </p:txBody>
      </p:sp>
      <p:sp>
        <p:nvSpPr>
          <p:cNvPr id="27" name="Text 25"/>
          <p:cNvSpPr txBox="1"/>
          <p:nvPr/>
        </p:nvSpPr>
        <p:spPr>
          <a:xfrm>
            <a:off x="7782458" y="5403190"/>
            <a:ext cx="381213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早い時期（→ 4-8）</a:t>
            </a:r>
            <a:endParaRPr lang="ja-JP" sz="2200" dirty="0"/>
          </a:p>
        </p:txBody>
      </p:sp>
      <p:sp>
        <p:nvSpPr>
          <p:cNvPr id="28" name="Shape 26"/>
          <p:cNvSpPr/>
          <p:nvPr/>
        </p:nvSpPr>
        <p:spPr>
          <a:xfrm>
            <a:off x="502920" y="5105095"/>
            <a:ext cx="6712610" cy="783641"/>
          </a:xfrm>
          <a:prstGeom prst="roundRect">
            <a:avLst>
              <a:gd name="adj" fmla="val 11669"/>
            </a:avLst>
          </a:prstGeom>
          <a:solidFill>
            <a:srgbClr val="FFFFFF"/>
          </a:solidFill>
          <a:ln w="44450">
            <a:solidFill>
              <a:srgbClr val="00A8AA"/>
            </a:solidFill>
            <a:prstDash val="solid"/>
          </a:ln>
        </p:spPr>
      </p:sp>
      <p:sp>
        <p:nvSpPr>
          <p:cNvPr id="29" name="Text 27"/>
          <p:cNvSpPr txBox="1"/>
          <p:nvPr/>
        </p:nvSpPr>
        <p:spPr>
          <a:xfrm>
            <a:off x="566928" y="5141671"/>
            <a:ext cx="6584594" cy="374904"/>
          </a:xfrm>
          <a:prstGeom prst="rect">
            <a:avLst/>
          </a:prstGeom>
          <a:noFill/>
          <a:ln/>
        </p:spPr>
        <p:txBody>
          <a:bodyPr wrap="square" lIns="0" tIns="0" rIns="0" bIns="0" rtlCol="0" anchor="t"/>
          <a:lstStyle/>
          <a:p>
            <a:pPr algn="ctr" indent="0" marL="0">
              <a:buNone/>
            </a:pPr>
            <a:r>
              <a:rPr lang="ja-JP" altLang="en-US" sz="2200" b="1" dirty="0">
                <a:solidFill>
                  <a:srgbClr val="0072B2"/>
                </a:solidFill>
                <a:latin typeface="メイリオ" pitchFamily="34" charset="0"/>
                <a:ea typeface="メイリオ" pitchFamily="34" charset="-122"/>
                <a:cs typeface="メイリオ" pitchFamily="34" charset="-120"/>
              </a:rPr>
              <a:t>止血できる手技は休薬しない。</a:t>
            </a:r>
            <a:r>
              <a:rPr lang="ja-JP" altLang="en-US" sz="2200" b="1" dirty="0">
                <a:solidFill>
                  <a:srgbClr val="262626"/>
                </a:solidFill>
                <a:latin typeface="メイリオ" pitchFamily="34" charset="0"/>
                <a:ea typeface="メイリオ" pitchFamily="34" charset="-122"/>
                <a:cs typeface="メイリオ" pitchFamily="34" charset="-120"/>
              </a:rPr>
              <a:t>休薬は最小限、</a:t>
            </a:r>
            <a:endParaRPr lang="ja-JP" sz="2200" dirty="0"/>
          </a:p>
        </p:txBody>
      </p:sp>
      <p:sp>
        <p:nvSpPr>
          <p:cNvPr id="30" name="Text 28"/>
          <p:cNvSpPr txBox="1"/>
          <p:nvPr/>
        </p:nvSpPr>
        <p:spPr>
          <a:xfrm>
            <a:off x="566928" y="5477256"/>
            <a:ext cx="6584594" cy="374904"/>
          </a:xfrm>
          <a:prstGeom prst="rect">
            <a:avLst/>
          </a:prstGeom>
          <a:noFill/>
          <a:ln/>
        </p:spPr>
        <p:txBody>
          <a:bodyPr wrap="square" lIns="0" tIns="0" rIns="0" bIns="0" rtlCol="0" anchor="t"/>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止血を確認したらすぐ再開。</a:t>
            </a:r>
            <a:r>
              <a:rPr lang="ja-JP" altLang="en-US" sz="2200" b="1" dirty="0">
                <a:solidFill>
                  <a:srgbClr val="0072B2"/>
                </a:solidFill>
                <a:latin typeface="メイリオ" pitchFamily="34" charset="0"/>
                <a:ea typeface="メイリオ" pitchFamily="34" charset="-122"/>
                <a:cs typeface="メイリオ" pitchFamily="34" charset="-120"/>
              </a:rPr>
              <a:t>処方医に相談する</a:t>
            </a:r>
            <a:endParaRPr lang="ja-JP" sz="2200" dirty="0"/>
          </a:p>
        </p:txBody>
      </p:sp>
      <p:sp>
        <p:nvSpPr>
          <p:cNvPr id="31" name="Shape 29"/>
          <p:cNvSpPr/>
          <p:nvPr/>
        </p:nvSpPr>
        <p:spPr>
          <a:xfrm>
            <a:off x="502920" y="1691640"/>
            <a:ext cx="6712610" cy="3193999"/>
          </a:xfrm>
          <a:prstGeom prst="roundRect">
            <a:avLst>
              <a:gd name="adj" fmla="val 2290"/>
            </a:avLst>
          </a:prstGeom>
          <a:solidFill>
            <a:srgbClr val="F2F2F2"/>
          </a:solidFill>
          <a:ln/>
        </p:spPr>
      </p:sp>
      <p:sp>
        <p:nvSpPr>
          <p:cNvPr id="32" name="Text 30"/>
          <p:cNvSpPr txBox="1"/>
          <p:nvPr/>
        </p:nvSpPr>
        <p:spPr>
          <a:xfrm>
            <a:off x="594360" y="1764792"/>
            <a:ext cx="6529730" cy="37490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手技の出血リスク（JCS 2020）</a:t>
            </a:r>
            <a:endParaRPr lang="ja-JP" sz="2200" dirty="0"/>
          </a:p>
        </p:txBody>
      </p:sp>
      <p:sp>
        <p:nvSpPr>
          <p:cNvPr id="33" name="Text 31"/>
          <p:cNvSpPr txBox="1"/>
          <p:nvPr/>
        </p:nvSpPr>
        <p:spPr>
          <a:xfrm>
            <a:off x="594360" y="2155241"/>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4" name="Text 32"/>
          <p:cNvSpPr txBox="1"/>
          <p:nvPr/>
        </p:nvSpPr>
        <p:spPr>
          <a:xfrm>
            <a:off x="850392" y="2155241"/>
            <a:ext cx="6273698" cy="37490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minor：</a:t>
            </a:r>
            <a:r>
              <a:rPr lang="ja-JP" altLang="en-US" sz="2200" dirty="0">
                <a:solidFill>
                  <a:srgbClr val="262626"/>
                </a:solidFill>
                <a:latin typeface="メイリオ" pitchFamily="34" charset="0"/>
                <a:ea typeface="メイリオ" pitchFamily="34" charset="-122"/>
                <a:cs typeface="メイリオ" pitchFamily="34" charset="-120"/>
              </a:rPr>
              <a:t>抜歯、白内障、体表の小手術、</a:t>
            </a:r>
            <a:endParaRPr lang="ja-JP" sz="2200" dirty="0"/>
          </a:p>
        </p:txBody>
      </p:sp>
      <p:sp>
        <p:nvSpPr>
          <p:cNvPr id="35" name="Text 33"/>
          <p:cNvSpPr txBox="1"/>
          <p:nvPr/>
        </p:nvSpPr>
        <p:spPr>
          <a:xfrm>
            <a:off x="850392" y="2489911"/>
            <a:ext cx="627369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生検なしの内視鏡 → </a:t>
            </a:r>
            <a:r>
              <a:rPr lang="ja-JP" altLang="en-US" sz="2200" b="1" dirty="0">
                <a:solidFill>
                  <a:srgbClr val="0072B2"/>
                </a:solidFill>
                <a:latin typeface="メイリオ" pitchFamily="34" charset="0"/>
                <a:ea typeface="メイリオ" pitchFamily="34" charset="-122"/>
                <a:cs typeface="メイリオ" pitchFamily="34" charset="-120"/>
              </a:rPr>
              <a:t>休薬しない（I）</a:t>
            </a:r>
            <a:endParaRPr lang="ja-JP" sz="2200" dirty="0"/>
          </a:p>
        </p:txBody>
      </p:sp>
      <p:sp>
        <p:nvSpPr>
          <p:cNvPr id="36" name="Text 34"/>
          <p:cNvSpPr txBox="1"/>
          <p:nvPr/>
        </p:nvSpPr>
        <p:spPr>
          <a:xfrm>
            <a:off x="594360" y="2942539"/>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7" name="Text 35"/>
          <p:cNvSpPr txBox="1"/>
          <p:nvPr/>
        </p:nvSpPr>
        <p:spPr>
          <a:xfrm>
            <a:off x="850392" y="2942539"/>
            <a:ext cx="6273698" cy="37490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低：</a:t>
            </a:r>
            <a:r>
              <a:rPr lang="ja-JP" altLang="en-US" sz="2200" dirty="0">
                <a:solidFill>
                  <a:srgbClr val="262626"/>
                </a:solidFill>
                <a:latin typeface="メイリオ" pitchFamily="34" charset="0"/>
                <a:ea typeface="メイリオ" pitchFamily="34" charset="-122"/>
                <a:cs typeface="メイリオ" pitchFamily="34" charset="-120"/>
              </a:rPr>
              <a:t>関節鏡、乳房切除、</a:t>
            </a:r>
            <a:endParaRPr lang="ja-JP" sz="2200" dirty="0"/>
          </a:p>
        </p:txBody>
      </p:sp>
      <p:sp>
        <p:nvSpPr>
          <p:cNvPr id="38" name="Text 36"/>
          <p:cNvSpPr txBox="1"/>
          <p:nvPr/>
        </p:nvSpPr>
        <p:spPr>
          <a:xfrm>
            <a:off x="850392" y="3278124"/>
            <a:ext cx="627369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経尿道手術など → </a:t>
            </a:r>
            <a:r>
              <a:rPr lang="ja-JP" altLang="en-US" sz="2200" b="1" dirty="0">
                <a:solidFill>
                  <a:srgbClr val="0072B2"/>
                </a:solidFill>
                <a:latin typeface="メイリオ" pitchFamily="34" charset="0"/>
                <a:ea typeface="メイリオ" pitchFamily="34" charset="-122"/>
                <a:cs typeface="メイリオ" pitchFamily="34" charset="-120"/>
              </a:rPr>
              <a:t>継続を考慮（IIa）</a:t>
            </a:r>
            <a:endParaRPr lang="ja-JP" sz="2200" dirty="0"/>
          </a:p>
        </p:txBody>
      </p:sp>
      <p:sp>
        <p:nvSpPr>
          <p:cNvPr id="39" name="Text 37"/>
          <p:cNvSpPr txBox="1"/>
          <p:nvPr/>
        </p:nvSpPr>
        <p:spPr>
          <a:xfrm>
            <a:off x="594360" y="3729838"/>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40" name="Text 38"/>
          <p:cNvSpPr txBox="1"/>
          <p:nvPr/>
        </p:nvSpPr>
        <p:spPr>
          <a:xfrm>
            <a:off x="850392" y="3729838"/>
            <a:ext cx="6273698" cy="37490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高：</a:t>
            </a:r>
            <a:r>
              <a:rPr lang="ja-JP" altLang="en-US" sz="2200" dirty="0">
                <a:solidFill>
                  <a:srgbClr val="262626"/>
                </a:solidFill>
                <a:latin typeface="メイリオ" pitchFamily="34" charset="0"/>
                <a:ea typeface="メイリオ" pitchFamily="34" charset="-122"/>
                <a:cs typeface="メイリオ" pitchFamily="34" charset="-120"/>
              </a:rPr>
              <a:t>脊髄幹麻酔、開頭・脊椎、</a:t>
            </a:r>
            <a:endParaRPr lang="ja-JP" sz="2200" dirty="0"/>
          </a:p>
        </p:txBody>
      </p:sp>
      <p:sp>
        <p:nvSpPr>
          <p:cNvPr id="41" name="Text 39"/>
          <p:cNvSpPr txBox="1"/>
          <p:nvPr/>
        </p:nvSpPr>
        <p:spPr>
          <a:xfrm>
            <a:off x="850392" y="4065422"/>
            <a:ext cx="627369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胸・腹・骨盤（鏡視下を含む）、</a:t>
            </a:r>
            <a:endParaRPr lang="ja-JP" sz="2200" dirty="0"/>
          </a:p>
        </p:txBody>
      </p:sp>
      <p:sp>
        <p:nvSpPr>
          <p:cNvPr id="42" name="Text 40"/>
          <p:cNvSpPr txBox="1"/>
          <p:nvPr/>
        </p:nvSpPr>
        <p:spPr>
          <a:xfrm>
            <a:off x="850392" y="4401007"/>
            <a:ext cx="627369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大きな整形外科 → </a:t>
            </a:r>
            <a:r>
              <a:rPr lang="ja-JP" altLang="en-US" sz="2200" b="1" dirty="0">
                <a:solidFill>
                  <a:srgbClr val="D55E00"/>
                </a:solidFill>
                <a:latin typeface="メイリオ" pitchFamily="34" charset="0"/>
                <a:ea typeface="メイリオ" pitchFamily="34" charset="-122"/>
                <a:cs typeface="メイリオ" pitchFamily="34" charset="-120"/>
              </a:rPr>
              <a:t>中断（IIa）</a:t>
            </a:r>
            <a:endParaRPr lang="ja-JP"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ワルファリンとブリッジ</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考え方</a:t>
            </a:r>
            <a:endParaRPr lang="ja-JP" sz="1050" dirty="0"/>
          </a:p>
        </p:txBody>
      </p:sp>
      <p:sp>
        <p:nvSpPr>
          <p:cNvPr id="5" name="Text 3"/>
          <p:cNvSpPr/>
          <p:nvPr/>
        </p:nvSpPr>
        <p:spPr>
          <a:xfrm>
            <a:off x="9354312"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抗凝固薬</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抗血小</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板薬</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区域</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麻酔</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Douketis JD, et al. N Engl J Med 2015;373:823-833 / 日本循環器学会／日本不整脈心電学会</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2020 年改訂版 不整脈薬物治療ガイドライン / Douketis JD, et al. Chest 2022;162:e207-e243</a:t>
            </a:r>
            <a:endParaRPr lang="ja-JP" sz="1600" dirty="0"/>
          </a:p>
        </p:txBody>
      </p:sp>
      <p:sp>
        <p:nvSpPr>
          <p:cNvPr id="11" name="Text 9"/>
          <p:cNvSpPr txBox="1"/>
          <p:nvPr/>
        </p:nvSpPr>
        <p:spPr>
          <a:xfrm>
            <a:off x="502920" y="1783080"/>
            <a:ext cx="350215"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2" name="Text 10"/>
          <p:cNvSpPr txBox="1"/>
          <p:nvPr/>
        </p:nvSpPr>
        <p:spPr>
          <a:xfrm>
            <a:off x="853135" y="1783080"/>
            <a:ext cx="10832897"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5 日前に中止</a:t>
            </a:r>
            <a:r>
              <a:rPr lang="ja-JP" altLang="en-US" sz="2400" dirty="0">
                <a:solidFill>
                  <a:srgbClr val="262626"/>
                </a:solidFill>
                <a:latin typeface="メイリオ" pitchFamily="34" charset="0"/>
                <a:ea typeface="メイリオ" pitchFamily="34" charset="-122"/>
                <a:cs typeface="メイリオ" pitchFamily="34" charset="-120"/>
              </a:rPr>
              <a:t>。手術前に INR が戻ったことを確かめる（1.5 未満）</a:t>
            </a:r>
            <a:endParaRPr lang="ja-JP" sz="2400" dirty="0"/>
          </a:p>
        </p:txBody>
      </p:sp>
      <p:sp>
        <p:nvSpPr>
          <p:cNvPr id="13" name="Text 11"/>
          <p:cNvSpPr txBox="1"/>
          <p:nvPr/>
        </p:nvSpPr>
        <p:spPr>
          <a:xfrm>
            <a:off x="502920" y="2423160"/>
            <a:ext cx="350215"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4" name="Text 12"/>
          <p:cNvSpPr txBox="1"/>
          <p:nvPr/>
        </p:nvSpPr>
        <p:spPr>
          <a:xfrm>
            <a:off x="853135" y="2423160"/>
            <a:ext cx="10832897"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再開は術後 </a:t>
            </a:r>
            <a:r>
              <a:rPr lang="ja-JP" altLang="en-US" sz="2400" b="1" dirty="0">
                <a:solidFill>
                  <a:srgbClr val="0072B2"/>
                </a:solidFill>
                <a:latin typeface="メイリオ" pitchFamily="34" charset="0"/>
                <a:ea typeface="メイリオ" pitchFamily="34" charset="-122"/>
                <a:cs typeface="メイリオ" pitchFamily="34" charset="-120"/>
              </a:rPr>
              <a:t>24 時間以内</a:t>
            </a:r>
            <a:r>
              <a:rPr lang="ja-JP" altLang="en-US" sz="2400" dirty="0">
                <a:solidFill>
                  <a:srgbClr val="262626"/>
                </a:solidFill>
                <a:latin typeface="メイリオ" pitchFamily="34" charset="0"/>
                <a:ea typeface="メイリオ" pitchFamily="34" charset="-122"/>
                <a:cs typeface="メイリオ" pitchFamily="34" charset="-120"/>
              </a:rPr>
              <a:t>（止血を確認して）</a:t>
            </a:r>
            <a:endParaRPr lang="ja-JP" sz="2400" dirty="0"/>
          </a:p>
        </p:txBody>
      </p:sp>
      <p:sp>
        <p:nvSpPr>
          <p:cNvPr id="15" name="Text 13"/>
          <p:cNvSpPr txBox="1"/>
          <p:nvPr/>
        </p:nvSpPr>
        <p:spPr>
          <a:xfrm>
            <a:off x="502920" y="3063240"/>
            <a:ext cx="350215"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6" name="Text 14"/>
          <p:cNvSpPr txBox="1"/>
          <p:nvPr/>
        </p:nvSpPr>
        <p:spPr>
          <a:xfrm>
            <a:off x="853135" y="3063240"/>
            <a:ext cx="10832897"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原則ブリッジしない</a:t>
            </a:r>
            <a:r>
              <a:rPr lang="ja-JP" altLang="en-US" sz="2400" dirty="0">
                <a:solidFill>
                  <a:srgbClr val="262626"/>
                </a:solidFill>
                <a:latin typeface="メイリオ" pitchFamily="34" charset="0"/>
                <a:ea typeface="メイリオ" pitchFamily="34" charset="-122"/>
                <a:cs typeface="メイリオ" pitchFamily="34" charset="-120"/>
              </a:rPr>
              <a:t>。BRIDGE：血栓は減らず、大出血 </a:t>
            </a:r>
            <a:r>
              <a:rPr lang="ja-JP" altLang="en-US" sz="2400" b="1" dirty="0">
                <a:solidFill>
                  <a:srgbClr val="262626"/>
                </a:solidFill>
                <a:latin typeface="メイリオ" pitchFamily="34" charset="0"/>
                <a:ea typeface="メイリオ" pitchFamily="34" charset="-122"/>
                <a:cs typeface="メイリオ" pitchFamily="34" charset="-120"/>
              </a:rPr>
              <a:t>1.3%→3.2%</a:t>
            </a:r>
            <a:endParaRPr lang="ja-JP" sz="2400" dirty="0"/>
          </a:p>
        </p:txBody>
      </p:sp>
      <p:sp>
        <p:nvSpPr>
          <p:cNvPr id="17" name="Text 15"/>
          <p:cNvSpPr txBox="1"/>
          <p:nvPr/>
        </p:nvSpPr>
        <p:spPr>
          <a:xfrm>
            <a:off x="502920" y="3703320"/>
            <a:ext cx="350215"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8" name="Text 16"/>
          <p:cNvSpPr txBox="1"/>
          <p:nvPr/>
        </p:nvSpPr>
        <p:spPr>
          <a:xfrm>
            <a:off x="853135" y="3703320"/>
            <a:ext cx="10832897"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考慮：</a:t>
            </a:r>
            <a:r>
              <a:rPr lang="ja-JP" altLang="en-US" sz="2400" dirty="0">
                <a:solidFill>
                  <a:srgbClr val="262626"/>
                </a:solidFill>
                <a:latin typeface="メイリオ" pitchFamily="34" charset="0"/>
                <a:ea typeface="メイリオ" pitchFamily="34" charset="-122"/>
                <a:cs typeface="メイリオ" pitchFamily="34" charset="-120"/>
              </a:rPr>
              <a:t>機械弁・リウマチ性僧帽弁狭窄・3 か月以内の脳梗塞など</a:t>
            </a:r>
            <a:endParaRPr lang="ja-JP" sz="2400" dirty="0"/>
          </a:p>
        </p:txBody>
      </p:sp>
      <p:sp>
        <p:nvSpPr>
          <p:cNvPr id="19" name="Text 17"/>
          <p:cNvSpPr txBox="1"/>
          <p:nvPr/>
        </p:nvSpPr>
        <p:spPr>
          <a:xfrm>
            <a:off x="502920" y="4343400"/>
            <a:ext cx="350215"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0" name="Text 18"/>
          <p:cNvSpPr txBox="1"/>
          <p:nvPr/>
        </p:nvSpPr>
        <p:spPr>
          <a:xfrm>
            <a:off x="853135" y="4343400"/>
            <a:ext cx="10832897"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機械弁のブリッジは指針で違う。</a:t>
            </a:r>
            <a:r>
              <a:rPr lang="ja-JP" altLang="en-US" sz="2400" b="1" dirty="0">
                <a:solidFill>
                  <a:srgbClr val="0072B2"/>
                </a:solidFill>
                <a:latin typeface="メイリオ" pitchFamily="34" charset="0"/>
                <a:ea typeface="メイリオ" pitchFamily="34" charset="-122"/>
                <a:cs typeface="メイリオ" pitchFamily="34" charset="-120"/>
              </a:rPr>
              <a:t>循環器・心臓血管外科と決める</a:t>
            </a:r>
            <a:endParaRPr lang="ja-JP" sz="2400" dirty="0"/>
          </a:p>
        </p:txBody>
      </p:sp>
      <p:sp>
        <p:nvSpPr>
          <p:cNvPr id="21" name="Text 19"/>
          <p:cNvSpPr/>
          <p:nvPr/>
        </p:nvSpPr>
        <p:spPr>
          <a:xfrm>
            <a:off x="502920" y="5248656"/>
            <a:ext cx="11183112" cy="640080"/>
          </a:xfrm>
          <a:prstGeom prst="roundRect">
            <a:avLst>
              <a:gd name="adj" fmla="val 14286"/>
            </a:avLst>
          </a:prstGeom>
          <a:solidFill>
            <a:srgbClr val="FFFFFF"/>
          </a:solidFill>
          <a:ln w="44450">
            <a:solidFill>
              <a:srgbClr val="C00000"/>
            </a:solidFill>
          </a:ln>
        </p:spPr>
        <p:txBody>
          <a:bodyPr wrap="square" lIns="73152" tIns="73152" rIns="73152" bIns="73152" rtlCol="0" anchor="ctr"/>
          <a:lstStyle/>
          <a:p>
            <a:pPr algn="ctr" indent="0" marL="0">
              <a:buNone/>
            </a:pPr>
            <a:r>
              <a:rPr lang="ja-JP" altLang="en-US" sz="2400" b="1" dirty="0">
                <a:solidFill>
                  <a:srgbClr val="C00000"/>
                </a:solidFill>
                <a:latin typeface="メイリオ" pitchFamily="34" charset="0"/>
                <a:ea typeface="メイリオ" pitchFamily="34" charset="-122"/>
                <a:cs typeface="メイリオ" pitchFamily="34" charset="-120"/>
              </a:rPr>
              <a:t>緊急手術：</a:t>
            </a:r>
            <a:r>
              <a:rPr lang="ja-JP" altLang="en-US" sz="2400" b="1" dirty="0">
                <a:solidFill>
                  <a:srgbClr val="262626"/>
                </a:solidFill>
                <a:latin typeface="メイリオ" pitchFamily="34" charset="0"/>
                <a:ea typeface="メイリオ" pitchFamily="34" charset="-122"/>
                <a:cs typeface="メイリオ" pitchFamily="34" charset="-120"/>
              </a:rPr>
              <a:t>ビタミン K、プロトロンビン複合体製剤。INR を測って判断</a:t>
            </a:r>
            <a:endParaRPr lang="ja-JP"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DOAC は 1〜2 日休薬</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考え方</a:t>
            </a:r>
            <a:endParaRPr lang="ja-JP" sz="1050" dirty="0"/>
          </a:p>
        </p:txBody>
      </p:sp>
      <p:sp>
        <p:nvSpPr>
          <p:cNvPr id="5" name="Text 3"/>
          <p:cNvSpPr/>
          <p:nvPr/>
        </p:nvSpPr>
        <p:spPr>
          <a:xfrm>
            <a:off x="9354312"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抗凝固薬</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抗血小</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板薬</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区域</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麻酔</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Douketis JD, et al. JAMA Intern Med 2019;179:1469-1478 / 日本循環器学会／日本不整脈心電学会</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2020 年改訂版 不整脈薬物治療ガイドライン / Joglar JA, et al. Circulation 2024;149:e1-e156</a:t>
            </a:r>
            <a:endParaRPr lang="ja-JP" sz="1600" dirty="0"/>
          </a:p>
        </p:txBody>
      </p:sp>
      <p:sp>
        <p:nvSpPr>
          <p:cNvPr id="11" name="Shape 9"/>
          <p:cNvSpPr/>
          <p:nvPr/>
        </p:nvSpPr>
        <p:spPr>
          <a:xfrm>
            <a:off x="502920" y="5105095"/>
            <a:ext cx="11183112" cy="783641"/>
          </a:xfrm>
          <a:prstGeom prst="roundRect">
            <a:avLst>
              <a:gd name="adj" fmla="val 11669"/>
            </a:avLst>
          </a:prstGeom>
          <a:solidFill>
            <a:srgbClr val="FFFFFF"/>
          </a:solidFill>
          <a:ln w="44450">
            <a:solidFill>
              <a:srgbClr val="00A8AA"/>
            </a:solidFill>
            <a:prstDash val="solid"/>
          </a:ln>
        </p:spPr>
      </p:sp>
      <p:sp>
        <p:nvSpPr>
          <p:cNvPr id="12" name="Text 10"/>
          <p:cNvSpPr txBox="1"/>
          <p:nvPr/>
        </p:nvSpPr>
        <p:spPr>
          <a:xfrm>
            <a:off x="566928" y="5141671"/>
            <a:ext cx="11055096" cy="374904"/>
          </a:xfrm>
          <a:prstGeom prst="rect">
            <a:avLst/>
          </a:prstGeom>
          <a:noFill/>
          <a:ln/>
        </p:spPr>
        <p:txBody>
          <a:bodyPr wrap="square" lIns="0" tIns="0" rIns="0" bIns="0" rtlCol="0" anchor="t"/>
          <a:lstStyle/>
          <a:p>
            <a:pPr algn="ctr" indent="0" marL="0">
              <a:buNone/>
            </a:pPr>
            <a:r>
              <a:rPr lang="ja-JP" altLang="en-US" sz="2200" b="1" dirty="0">
                <a:solidFill>
                  <a:srgbClr val="0072B2"/>
                </a:solidFill>
                <a:latin typeface="メイリオ" pitchFamily="34" charset="0"/>
                <a:ea typeface="メイリオ" pitchFamily="34" charset="-122"/>
                <a:cs typeface="メイリオ" pitchFamily="34" charset="-120"/>
              </a:rPr>
              <a:t>PAUSE：</a:t>
            </a:r>
            <a:r>
              <a:rPr lang="ja-JP" altLang="en-US" sz="2200" b="1" dirty="0">
                <a:solidFill>
                  <a:srgbClr val="262626"/>
                </a:solidFill>
                <a:latin typeface="メイリオ" pitchFamily="34" charset="0"/>
                <a:ea typeface="メイリオ" pitchFamily="34" charset="-122"/>
                <a:cs typeface="メイリオ" pitchFamily="34" charset="-120"/>
              </a:rPr>
              <a:t>30 日の大出血 0.90〜1.85%、動脈血栓塞栓症 0.16〜0.60%。</a:t>
            </a:r>
            <a:endParaRPr lang="ja-JP" sz="2200" dirty="0"/>
          </a:p>
        </p:txBody>
      </p:sp>
      <p:sp>
        <p:nvSpPr>
          <p:cNvPr id="13" name="Text 11"/>
          <p:cNvSpPr txBox="1"/>
          <p:nvPr/>
        </p:nvSpPr>
        <p:spPr>
          <a:xfrm>
            <a:off x="566928" y="5477256"/>
            <a:ext cx="11055096" cy="374904"/>
          </a:xfrm>
          <a:prstGeom prst="rect">
            <a:avLst/>
          </a:prstGeom>
          <a:noFill/>
          <a:ln/>
        </p:spPr>
        <p:txBody>
          <a:bodyPr wrap="square" lIns="0" tIns="0" rIns="0" bIns="0" rtlCol="0" anchor="t"/>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ブリッジなし・凝固検査なしで</a:t>
            </a:r>
            <a:r>
              <a:rPr lang="ja-JP" altLang="en-US" sz="2200" b="1" dirty="0">
                <a:solidFill>
                  <a:srgbClr val="0072B2"/>
                </a:solidFill>
                <a:latin typeface="メイリオ" pitchFamily="34" charset="0"/>
                <a:ea typeface="メイリオ" pitchFamily="34" charset="-122"/>
                <a:cs typeface="メイリオ" pitchFamily="34" charset="-120"/>
              </a:rPr>
              <a:t>低率だった</a:t>
            </a:r>
            <a:endParaRPr lang="ja-JP" sz="2200" dirty="0"/>
          </a:p>
        </p:txBody>
      </p:sp>
      <p:sp>
        <p:nvSpPr>
          <p:cNvPr id="14" name="Shape 12"/>
          <p:cNvSpPr/>
          <p:nvPr/>
        </p:nvSpPr>
        <p:spPr>
          <a:xfrm>
            <a:off x="502920" y="1664208"/>
            <a:ext cx="6395314" cy="3221431"/>
          </a:xfrm>
          <a:prstGeom prst="roundRect">
            <a:avLst>
              <a:gd name="adj" fmla="val 2271"/>
            </a:avLst>
          </a:prstGeom>
          <a:solidFill>
            <a:srgbClr val="F2F2F2"/>
          </a:solidFill>
          <a:ln/>
        </p:spPr>
      </p:sp>
      <p:sp>
        <p:nvSpPr>
          <p:cNvPr id="15" name="Text 13"/>
          <p:cNvSpPr txBox="1"/>
          <p:nvPr/>
        </p:nvSpPr>
        <p:spPr>
          <a:xfrm>
            <a:off x="576072" y="1709928"/>
            <a:ext cx="6249010" cy="37490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休薬する場合（出血リスク別）</a:t>
            </a:r>
            <a:endParaRPr lang="ja-JP" sz="2200" dirty="0"/>
          </a:p>
        </p:txBody>
      </p:sp>
      <p:sp>
        <p:nvSpPr>
          <p:cNvPr id="16" name="Text 14"/>
          <p:cNvSpPr txBox="1"/>
          <p:nvPr/>
        </p:nvSpPr>
        <p:spPr>
          <a:xfrm>
            <a:off x="576072" y="2063801"/>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7" name="Text 15"/>
          <p:cNvSpPr txBox="1"/>
          <p:nvPr/>
        </p:nvSpPr>
        <p:spPr>
          <a:xfrm>
            <a:off x="832104" y="2063801"/>
            <a:ext cx="5992978" cy="37490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低リスク：</a:t>
            </a:r>
            <a:r>
              <a:rPr lang="ja-JP" altLang="en-US" sz="2200" dirty="0">
                <a:solidFill>
                  <a:srgbClr val="262626"/>
                </a:solidFill>
                <a:latin typeface="メイリオ" pitchFamily="34" charset="0"/>
                <a:ea typeface="メイリオ" pitchFamily="34" charset="-122"/>
                <a:cs typeface="メイリオ" pitchFamily="34" charset="-120"/>
              </a:rPr>
              <a:t>1 日休薬、翌日に再開</a:t>
            </a:r>
            <a:endParaRPr lang="ja-JP" sz="2200" dirty="0"/>
          </a:p>
        </p:txBody>
      </p:sp>
      <p:sp>
        <p:nvSpPr>
          <p:cNvPr id="18" name="Text 16"/>
          <p:cNvSpPr txBox="1"/>
          <p:nvPr/>
        </p:nvSpPr>
        <p:spPr>
          <a:xfrm>
            <a:off x="576072" y="2398471"/>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9" name="Text 17"/>
          <p:cNvSpPr txBox="1"/>
          <p:nvPr/>
        </p:nvSpPr>
        <p:spPr>
          <a:xfrm>
            <a:off x="832104" y="2398471"/>
            <a:ext cx="5992978" cy="37490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高リスク：</a:t>
            </a:r>
            <a:r>
              <a:rPr lang="ja-JP" altLang="en-US" sz="2200" dirty="0">
                <a:solidFill>
                  <a:srgbClr val="262626"/>
                </a:solidFill>
                <a:latin typeface="メイリオ" pitchFamily="34" charset="0"/>
                <a:ea typeface="メイリオ" pitchFamily="34" charset="-122"/>
                <a:cs typeface="メイリオ" pitchFamily="34" charset="-120"/>
              </a:rPr>
              <a:t>2 日休薬</a:t>
            </a:r>
            <a:endParaRPr lang="ja-JP" sz="2200" dirty="0"/>
          </a:p>
        </p:txBody>
      </p:sp>
      <p:sp>
        <p:nvSpPr>
          <p:cNvPr id="20" name="Text 18"/>
          <p:cNvSpPr txBox="1"/>
          <p:nvPr/>
        </p:nvSpPr>
        <p:spPr>
          <a:xfrm>
            <a:off x="576072" y="2734056"/>
            <a:ext cx="624901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（最終内服から約 60 時間。</a:t>
            </a:r>
            <a:endParaRPr lang="ja-JP" sz="2200" dirty="0"/>
          </a:p>
        </p:txBody>
      </p:sp>
      <p:sp>
        <p:nvSpPr>
          <p:cNvPr id="21" name="Text 19"/>
          <p:cNvSpPr txBox="1"/>
          <p:nvPr/>
        </p:nvSpPr>
        <p:spPr>
          <a:xfrm>
            <a:off x="576072" y="3069641"/>
            <a:ext cx="624901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JCS は 48 時間以上）、2〜3 日後に再開</a:t>
            </a:r>
            <a:endParaRPr lang="ja-JP" sz="2200" dirty="0"/>
          </a:p>
        </p:txBody>
      </p:sp>
      <p:sp>
        <p:nvSpPr>
          <p:cNvPr id="22" name="Text 20"/>
          <p:cNvSpPr txBox="1"/>
          <p:nvPr/>
        </p:nvSpPr>
        <p:spPr>
          <a:xfrm>
            <a:off x="576072" y="3404311"/>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3" name="Text 21"/>
          <p:cNvSpPr txBox="1"/>
          <p:nvPr/>
        </p:nvSpPr>
        <p:spPr>
          <a:xfrm>
            <a:off x="832104" y="3404311"/>
            <a:ext cx="5992978" cy="37490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ダビガトラン（高リスク、JCS 2020）：</a:t>
            </a:r>
            <a:endParaRPr lang="ja-JP" sz="2200" dirty="0"/>
          </a:p>
        </p:txBody>
      </p:sp>
      <p:sp>
        <p:nvSpPr>
          <p:cNvPr id="24" name="Text 22"/>
          <p:cNvSpPr txBox="1"/>
          <p:nvPr/>
        </p:nvSpPr>
        <p:spPr>
          <a:xfrm>
            <a:off x="576072" y="3739896"/>
            <a:ext cx="624901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CrCl 80 以上 48 時間、50〜79 で 72 時間、</a:t>
            </a:r>
            <a:endParaRPr lang="ja-JP" sz="2200" dirty="0"/>
          </a:p>
        </p:txBody>
      </p:sp>
      <p:sp>
        <p:nvSpPr>
          <p:cNvPr id="25" name="Text 23"/>
          <p:cNvSpPr txBox="1"/>
          <p:nvPr/>
        </p:nvSpPr>
        <p:spPr>
          <a:xfrm>
            <a:off x="576072" y="4075481"/>
            <a:ext cx="624901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30〜49 で 96 時間以上</a:t>
            </a:r>
            <a:endParaRPr lang="ja-JP" sz="2200" dirty="0"/>
          </a:p>
        </p:txBody>
      </p:sp>
      <p:sp>
        <p:nvSpPr>
          <p:cNvPr id="26" name="Text 24"/>
          <p:cNvSpPr txBox="1"/>
          <p:nvPr/>
        </p:nvSpPr>
        <p:spPr>
          <a:xfrm>
            <a:off x="576072" y="4410151"/>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7" name="Text 25"/>
          <p:cNvSpPr txBox="1"/>
          <p:nvPr/>
        </p:nvSpPr>
        <p:spPr>
          <a:xfrm>
            <a:off x="832104" y="4410151"/>
            <a:ext cx="5992978" cy="374904"/>
          </a:xfrm>
          <a:prstGeom prst="rect">
            <a:avLst/>
          </a:prstGeom>
          <a:noFill/>
          <a:ln/>
        </p:spPr>
        <p:txBody>
          <a:bodyPr wrap="square" lIns="0" tIns="0" rIns="0" bIns="0" rtlCol="0" anchor="t"/>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ブリッジも凝固検査も要らない</a:t>
            </a:r>
            <a:endParaRPr lang="ja-JP" sz="2200" dirty="0"/>
          </a:p>
        </p:txBody>
      </p:sp>
      <p:sp>
        <p:nvSpPr>
          <p:cNvPr id="28" name="Shape 26"/>
          <p:cNvSpPr/>
          <p:nvPr/>
        </p:nvSpPr>
        <p:spPr>
          <a:xfrm>
            <a:off x="7117690" y="1664208"/>
            <a:ext cx="4567428" cy="3221431"/>
          </a:xfrm>
          <a:prstGeom prst="roundRect">
            <a:avLst>
              <a:gd name="adj" fmla="val 2271"/>
            </a:avLst>
          </a:prstGeom>
          <a:solidFill>
            <a:srgbClr val="F2F2F2"/>
          </a:solidFill>
          <a:ln/>
        </p:spPr>
      </p:sp>
      <p:sp>
        <p:nvSpPr>
          <p:cNvPr id="29" name="Text 27"/>
          <p:cNvSpPr txBox="1"/>
          <p:nvPr/>
        </p:nvSpPr>
        <p:spPr>
          <a:xfrm>
            <a:off x="7190842" y="1709928"/>
            <a:ext cx="4421124" cy="374904"/>
          </a:xfrm>
          <a:prstGeom prst="rect">
            <a:avLst/>
          </a:prstGeom>
          <a:noFill/>
          <a:ln/>
        </p:spPr>
        <p:txBody>
          <a:bodyPr wrap="square" lIns="0" tIns="0" rIns="0" bIns="0" rtlCol="0" anchor="t"/>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落とし穴</a:t>
            </a:r>
            <a:endParaRPr lang="ja-JP" sz="2200" dirty="0"/>
          </a:p>
        </p:txBody>
      </p:sp>
      <p:sp>
        <p:nvSpPr>
          <p:cNvPr id="30" name="Text 28"/>
          <p:cNvSpPr txBox="1"/>
          <p:nvPr/>
        </p:nvSpPr>
        <p:spPr>
          <a:xfrm>
            <a:off x="7190842" y="2063801"/>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1" name="Text 29"/>
          <p:cNvSpPr txBox="1"/>
          <p:nvPr/>
        </p:nvSpPr>
        <p:spPr>
          <a:xfrm>
            <a:off x="7446874" y="2063801"/>
            <a:ext cx="4165092" cy="37490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『2 日休薬』と『48 時間』は</a:t>
            </a:r>
            <a:endParaRPr lang="ja-JP" sz="2200" dirty="0"/>
          </a:p>
        </p:txBody>
      </p:sp>
      <p:sp>
        <p:nvSpPr>
          <p:cNvPr id="32" name="Text 30"/>
          <p:cNvSpPr txBox="1"/>
          <p:nvPr/>
        </p:nvSpPr>
        <p:spPr>
          <a:xfrm>
            <a:off x="7190842" y="2398471"/>
            <a:ext cx="4421124" cy="37490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違う。</a:t>
            </a:r>
            <a:r>
              <a:rPr lang="ja-JP" altLang="en-US" sz="2200" dirty="0">
                <a:solidFill>
                  <a:srgbClr val="262626"/>
                </a:solidFill>
                <a:latin typeface="メイリオ" pitchFamily="34" charset="0"/>
                <a:ea typeface="メイリオ" pitchFamily="34" charset="-122"/>
                <a:cs typeface="メイリオ" pitchFamily="34" charset="-120"/>
              </a:rPr>
              <a:t>最終内服の日時で数える</a:t>
            </a:r>
            <a:endParaRPr lang="ja-JP" sz="2200" dirty="0"/>
          </a:p>
        </p:txBody>
      </p:sp>
      <p:sp>
        <p:nvSpPr>
          <p:cNvPr id="33" name="Text 31"/>
          <p:cNvSpPr txBox="1"/>
          <p:nvPr/>
        </p:nvSpPr>
        <p:spPr>
          <a:xfrm>
            <a:off x="7190842" y="2734056"/>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4" name="Text 32"/>
          <p:cNvSpPr txBox="1"/>
          <p:nvPr/>
        </p:nvSpPr>
        <p:spPr>
          <a:xfrm>
            <a:off x="7446874" y="2734056"/>
            <a:ext cx="4165092" cy="37490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腎機能は eGFR ではなく</a:t>
            </a:r>
            <a:endParaRPr lang="ja-JP" sz="2200" dirty="0"/>
          </a:p>
        </p:txBody>
      </p:sp>
      <p:sp>
        <p:nvSpPr>
          <p:cNvPr id="35" name="Text 33"/>
          <p:cNvSpPr txBox="1"/>
          <p:nvPr/>
        </p:nvSpPr>
        <p:spPr>
          <a:xfrm>
            <a:off x="7190842" y="3069641"/>
            <a:ext cx="4421124" cy="37490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CrCl</a:t>
            </a:r>
            <a:r>
              <a:rPr lang="ja-JP" altLang="en-US" sz="2200" dirty="0">
                <a:solidFill>
                  <a:srgbClr val="262626"/>
                </a:solidFill>
                <a:latin typeface="メイリオ" pitchFamily="34" charset="0"/>
                <a:ea typeface="メイリオ" pitchFamily="34" charset="-122"/>
                <a:cs typeface="メイリオ" pitchFamily="34" charset="-120"/>
              </a:rPr>
              <a:t>（Cockcroft-Gault）</a:t>
            </a:r>
            <a:endParaRPr lang="ja-JP" sz="2200" dirty="0"/>
          </a:p>
        </p:txBody>
      </p:sp>
      <p:sp>
        <p:nvSpPr>
          <p:cNvPr id="36" name="Text 34"/>
          <p:cNvSpPr txBox="1"/>
          <p:nvPr/>
        </p:nvSpPr>
        <p:spPr>
          <a:xfrm>
            <a:off x="7190842" y="3404311"/>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7" name="Text 35"/>
          <p:cNvSpPr txBox="1"/>
          <p:nvPr/>
        </p:nvSpPr>
        <p:spPr>
          <a:xfrm>
            <a:off x="7446874" y="3404311"/>
            <a:ext cx="4165092" cy="37490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脊髄幹麻酔なら 72 時間</a:t>
            </a:r>
            <a:endParaRPr lang="ja-JP" sz="2200" dirty="0"/>
          </a:p>
        </p:txBody>
      </p:sp>
      <p:sp>
        <p:nvSpPr>
          <p:cNvPr id="38" name="Text 36"/>
          <p:cNvSpPr txBox="1"/>
          <p:nvPr/>
        </p:nvSpPr>
        <p:spPr>
          <a:xfrm>
            <a:off x="7190842" y="3739896"/>
            <a:ext cx="442112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 区域麻酔①）</a:t>
            </a:r>
            <a:endParaRPr lang="ja-JP" sz="2200" dirty="0"/>
          </a:p>
        </p:txBody>
      </p:sp>
      <p:sp>
        <p:nvSpPr>
          <p:cNvPr id="39" name="Text 37"/>
          <p:cNvSpPr txBox="1"/>
          <p:nvPr/>
        </p:nvSpPr>
        <p:spPr>
          <a:xfrm>
            <a:off x="7190842" y="4075481"/>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40" name="Text 38"/>
          <p:cNvSpPr txBox="1"/>
          <p:nvPr/>
        </p:nvSpPr>
        <p:spPr>
          <a:xfrm>
            <a:off x="7446874" y="4075481"/>
            <a:ext cx="4165092" cy="37490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添付文書の記載</a:t>
            </a:r>
            <a:endParaRPr lang="ja-JP" sz="2200" dirty="0"/>
          </a:p>
        </p:txBody>
      </p:sp>
      <p:sp>
        <p:nvSpPr>
          <p:cNvPr id="41" name="Text 39"/>
          <p:cNvSpPr txBox="1"/>
          <p:nvPr/>
        </p:nvSpPr>
        <p:spPr>
          <a:xfrm>
            <a:off x="7190842" y="4410151"/>
            <a:ext cx="442112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（24/48 時間など）</a:t>
            </a:r>
            <a:r>
              <a:rPr lang="ja-JP" altLang="en-US" sz="2200" b="1" dirty="0">
                <a:solidFill>
                  <a:srgbClr val="262626"/>
                </a:solidFill>
                <a:latin typeface="メイリオ" pitchFamily="34" charset="0"/>
                <a:ea typeface="メイリオ" pitchFamily="34" charset="-122"/>
                <a:cs typeface="メイリオ" pitchFamily="34" charset="-120"/>
              </a:rPr>
              <a:t>も確かめる</a:t>
            </a:r>
            <a:endParaRPr lang="ja-JP"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抗血小板薬</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考え方</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抗凝固薬</a:t>
            </a:r>
            <a:endParaRPr lang="ja-JP" sz="1050" dirty="0"/>
          </a:p>
        </p:txBody>
      </p:sp>
      <p:sp>
        <p:nvSpPr>
          <p:cNvPr id="6" name="Text 4"/>
          <p:cNvSpPr/>
          <p:nvPr/>
        </p:nvSpPr>
        <p:spPr>
          <a:xfrm>
            <a:off x="10030968"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抗血小</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板薬</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区域</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麻酔</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Douketis JD, et al. Chest 2022;162:e207-e243（ACCP 2022）/Halvorsen S, et al. Eur Heart J</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2022;43:3826-3924（ESC 2022）/Thompson A, et al. Circulation 2024;150:e351-e442</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64208"/>
          <a:ext cx="11155680" cy="914400"/>
        </p:xfrm>
        <a:graphic>
          <a:graphicData uri="http://schemas.openxmlformats.org/drawingml/2006/table">
            <a:tbl>
              <a:tblPr/>
              <a:tblGrid>
                <a:gridCol w="2688336"/>
                <a:gridCol w="3931920"/>
                <a:gridCol w="4535424"/>
              </a:tblGrid>
              <a:tr h="41148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薬</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休薬の目安（手術）</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注意</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749808">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アスピリン</a:t>
                      </a:r>
                      <a:endParaRPr lang="en-US" sz="2200" dirty="0">
                        <a:latin typeface="メイリオ" charset="0"/>
                        <a:ea typeface="メイリオ" charset="0"/>
                        <a:cs typeface="メイリオ" charset="0"/>
                      </a:endParaRPr>
                    </a:p>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（低用量）</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b="1" dirty="0">
                          <a:solidFill>
                            <a:srgbClr val="0072B2"/>
                          </a:solidFill>
                          <a:latin typeface="メイリオ" pitchFamily="34" charset="0"/>
                          <a:ea typeface="メイリオ" pitchFamily="34" charset="-122"/>
                          <a:cs typeface="メイリオ" pitchFamily="34" charset="-120"/>
                        </a:rPr>
                        <a:t>原則続ける。</a:t>
                      </a:r>
                      <a:endParaRPr lang="en-US" sz="2200" dirty="0">
                        <a:latin typeface="メイリオ" charset="0"/>
                        <a:ea typeface="メイリオ" charset="0"/>
                        <a:cs typeface="メイリオ" charset="0"/>
                      </a:endParaRPr>
                    </a:p>
                    <a:p>
                      <a:pPr algn="l" indent="0" marL="0">
                        <a:lnSpc>
                          <a:spcPts val="2640"/>
                        </a:lnSpc>
                        <a:buNone/>
                      </a:pPr>
                      <a:r>
                        <a:rPr lang="ja-JP" altLang="en-US" sz="2200" b="1" dirty="0">
                          <a:solidFill>
                            <a:srgbClr val="0072B2"/>
                          </a:solidFill>
                          <a:latin typeface="メイリオ" pitchFamily="34" charset="0"/>
                          <a:ea typeface="メイリオ" pitchFamily="34" charset="-122"/>
                          <a:cs typeface="メイリオ" pitchFamily="34" charset="-120"/>
                        </a:rPr>
                        <a:t>特にステント後</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頭蓋内・脊柱管内は別。</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一次予防なら処方医と中止も</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クロピドグレル</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5 日前</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（添付文書は 14 日以上）</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DAPT 中の待機手術は</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延期が第一。PCI 施行医に相談</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プラスグレル</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7 日前</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（添付文書は 14 日以上）</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国内用量でも目安は 7 日</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（海外データ）</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チカグレロル</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3〜5 日前</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可逆的。</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DAPT 中は PCI 施行医に相談</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12" name="Text 9"/>
          <p:cNvSpPr txBox="1"/>
          <p:nvPr/>
        </p:nvSpPr>
        <p:spPr>
          <a:xfrm>
            <a:off x="502920" y="5385816"/>
            <a:ext cx="111831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NSAIDs・SSRI・抗凝固薬の併用で出血は増え、</a:t>
            </a:r>
            <a:r>
              <a:rPr lang="ja-JP" altLang="en-US" sz="2400" b="1" dirty="0">
                <a:solidFill>
                  <a:srgbClr val="D55E00"/>
                </a:solidFill>
                <a:latin typeface="メイリオ" pitchFamily="34" charset="0"/>
                <a:ea typeface="メイリオ" pitchFamily="34" charset="-122"/>
                <a:cs typeface="メイリオ" pitchFamily="34" charset="-120"/>
              </a:rPr>
              <a:t>単剤の表は使えない</a:t>
            </a:r>
            <a:endParaRPr lang="ja-JP"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区域麻酔は長く休む①</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考え方</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抗凝固薬</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抗血小</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板薬</a:t>
            </a:r>
            <a:endParaRPr lang="ja-JP" sz="1050" dirty="0"/>
          </a:p>
        </p:txBody>
      </p:sp>
      <p:sp>
        <p:nvSpPr>
          <p:cNvPr id="7" name="Text 5"/>
          <p:cNvSpPr/>
          <p:nvPr/>
        </p:nvSpPr>
        <p:spPr>
          <a:xfrm>
            <a:off x="10707624"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区域</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麻酔</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Kopp SL, et al. Reg Anesth Pain Med 2025 / 日本ペインクリニック学会・日本麻酔科学会・</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日本区域麻酔学会「抗血栓療法中の区域麻酔・神経ブロックガイドライン 改訂第 2 版」（2026）</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64208"/>
          <a:ext cx="11155680" cy="914400"/>
        </p:xfrm>
        <a:graphic>
          <a:graphicData uri="http://schemas.openxmlformats.org/drawingml/2006/table">
            <a:tbl>
              <a:tblPr/>
              <a:tblGrid>
                <a:gridCol w="2660904"/>
                <a:gridCol w="5120640"/>
                <a:gridCol w="3374136"/>
              </a:tblGrid>
              <a:tr h="749808">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薬</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脊髄幹麻酔・深部ブロックの前</a:t>
                      </a:r>
                      <a:endParaRPr lang="en-US" sz="2200" dirty="0">
                        <a:latin typeface="メイリオ" charset="0"/>
                        <a:ea typeface="メイリオ" charset="0"/>
                        <a:cs typeface="メイリオ" charset="0"/>
                      </a:endParaRPr>
                    </a:p>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（ASRA 第 5 版）</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カテーテル</a:t>
                      </a:r>
                      <a:endParaRPr lang="en-US" sz="2200" dirty="0">
                        <a:latin typeface="メイリオ" charset="0"/>
                        <a:ea typeface="メイリオ" charset="0"/>
                        <a:cs typeface="メイリオ" charset="0"/>
                      </a:endParaRPr>
                    </a:p>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抜去後の再開</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749808">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ワルファリン</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約 5 日。INR 正常化</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抜去は INR 1.5 未満。</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抜去後すぐ</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抗 Xa 薬 高用量</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b="1" dirty="0">
                          <a:solidFill>
                            <a:srgbClr val="D55E00"/>
                          </a:solidFill>
                          <a:latin typeface="メイリオ" pitchFamily="34" charset="0"/>
                          <a:ea typeface="メイリオ" pitchFamily="34" charset="-122"/>
                          <a:cs typeface="メイリオ" pitchFamily="34" charset="-120"/>
                        </a:rPr>
                        <a:t>72 時間以上</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24 時間後</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抗 Xa 薬 低用量</a:t>
                      </a:r>
                      <a:endParaRPr lang="en-US" sz="2200" dirty="0">
                        <a:latin typeface="メイリオ" charset="0"/>
                        <a:ea typeface="メイリオ" charset="0"/>
                        <a:cs typeface="メイリオ" charset="0"/>
                      </a:endParaRPr>
                    </a:p>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（VTE 予防量）</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リバーロキサバン 24 時間、</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アピキサバン 36 時間</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6 時間後</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ダビガトラン</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CrCl 50 以上 72 時間、</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30〜49 で 120 時間</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24 時間後</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（国内は高用量）</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12" name="Text 9"/>
          <p:cNvSpPr txBox="1"/>
          <p:nvPr/>
        </p:nvSpPr>
        <p:spPr>
          <a:xfrm>
            <a:off x="502920" y="5362956"/>
            <a:ext cx="111831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低用量＝VTE 予防量。心房細動の減量用量は</a:t>
            </a:r>
            <a:r>
              <a:rPr lang="ja-JP" altLang="en-US" sz="2400" b="1" dirty="0">
                <a:solidFill>
                  <a:srgbClr val="D55E00"/>
                </a:solidFill>
                <a:latin typeface="メイリオ" pitchFamily="34" charset="0"/>
                <a:ea typeface="メイリオ" pitchFamily="34" charset="-122"/>
                <a:cs typeface="メイリオ" pitchFamily="34" charset="-120"/>
              </a:rPr>
              <a:t>高用量として扱う</a:t>
            </a:r>
            <a:endParaRPr lang="ja-JP"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区域麻酔は長く休む②</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考え方</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抗凝固薬</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抗血小</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板薬</a:t>
            </a:r>
            <a:endParaRPr lang="ja-JP" sz="1050" dirty="0"/>
          </a:p>
        </p:txBody>
      </p:sp>
      <p:sp>
        <p:nvSpPr>
          <p:cNvPr id="7" name="Text 5"/>
          <p:cNvSpPr/>
          <p:nvPr/>
        </p:nvSpPr>
        <p:spPr>
          <a:xfrm>
            <a:off x="10707624"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区域</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麻酔</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Kopp SL, et al. Reg Anesth Pain Med 2025 / 日本ペインクリニック学会・日本麻酔科学会・</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日本区域麻酔学会「抗血栓療法中の区域麻酔・神経ブロックガイドライン 改訂第 2 版」（2026）</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64208"/>
          <a:ext cx="11155680" cy="914400"/>
        </p:xfrm>
        <a:graphic>
          <a:graphicData uri="http://schemas.openxmlformats.org/drawingml/2006/table">
            <a:tbl>
              <a:tblPr/>
              <a:tblGrid>
                <a:gridCol w="1792224"/>
                <a:gridCol w="6254496"/>
                <a:gridCol w="3108960"/>
              </a:tblGrid>
              <a:tr h="749808">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薬</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脊髄幹麻酔・深部ブロックの前</a:t>
                      </a:r>
                      <a:endParaRPr lang="en-US" sz="2200" dirty="0">
                        <a:latin typeface="メイリオ" charset="0"/>
                        <a:ea typeface="メイリオ" charset="0"/>
                        <a:cs typeface="メイリオ" charset="0"/>
                      </a:endParaRPr>
                    </a:p>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（ASRA 第 5 版）</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カテーテル</a:t>
                      </a:r>
                      <a:endParaRPr lang="en-US" sz="2200" dirty="0">
                        <a:latin typeface="メイリオ" charset="0"/>
                        <a:ea typeface="メイリオ" charset="0"/>
                        <a:cs typeface="メイリオ" charset="0"/>
                      </a:endParaRPr>
                    </a:p>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抜去後の再開</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41148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LMWH</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低用量 12 時間、高用量 24 時間</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4 時間後</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088136">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未分画</a:t>
                      </a:r>
                      <a:endParaRPr lang="en-US" sz="2200" dirty="0">
                        <a:latin typeface="メイリオ" charset="0"/>
                        <a:ea typeface="メイリオ" charset="0"/>
                        <a:cs typeface="メイリオ" charset="0"/>
                      </a:endParaRPr>
                    </a:p>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ヘパリン</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皮下 低用量 4〜6 時間、</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高用量 12〜24 時間。</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静注 4〜6 時間＋aPTT 正常</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1 時間後</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088136">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抗血小板薬</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アスピリン・NSAIDs は不要。</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クロピドグレル 5〜7 日、</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チカグレロル 5 日、プラスグレル 7〜10 日</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負荷なし：すぐ、</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負荷あり：6 時間後</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12" name="Text 9"/>
          <p:cNvSpPr txBox="1"/>
          <p:nvPr/>
        </p:nvSpPr>
        <p:spPr>
          <a:xfrm>
            <a:off x="502920" y="5312664"/>
            <a:ext cx="111831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抜去も穿刺と同じ基準。</a:t>
            </a:r>
            <a:r>
              <a:rPr lang="ja-JP" altLang="en-US" sz="2400" b="1" dirty="0">
                <a:solidFill>
                  <a:srgbClr val="D55E00"/>
                </a:solidFill>
                <a:latin typeface="メイリオ" pitchFamily="34" charset="0"/>
                <a:ea typeface="メイリオ" pitchFamily="34" charset="-122"/>
                <a:cs typeface="メイリオ" pitchFamily="34" charset="-120"/>
              </a:rPr>
              <a:t>抜去前の休薬と再開時刻を指示に書く</a:t>
            </a:r>
            <a:endParaRPr lang="ja-JP"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相談先と緊急時</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考え方</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抗凝固薬</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抗血小</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板薬</a:t>
            </a:r>
            <a:endParaRPr lang="ja-JP" sz="1050" dirty="0"/>
          </a:p>
        </p:txBody>
      </p:sp>
      <p:sp>
        <p:nvSpPr>
          <p:cNvPr id="7" name="Text 5"/>
          <p:cNvSpPr/>
          <p:nvPr/>
        </p:nvSpPr>
        <p:spPr>
          <a:xfrm>
            <a:off x="10707624"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区域</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麻酔</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日本循環器学会／日本不整脈心電学会 2020 年改訂版 不整脈薬物治療ガイドライン</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Douketis JD, et al. Chest 2022;162:e207-e243/Iwasaki YK, et al. Circ J 2025;89:1012-1073</a:t>
            </a:r>
            <a:endParaRPr lang="ja-JP" sz="1600" dirty="0"/>
          </a:p>
        </p:txBody>
      </p:sp>
      <p:sp>
        <p:nvSpPr>
          <p:cNvPr id="11" name="Text 9"/>
          <p:cNvSpPr/>
          <p:nvPr/>
        </p:nvSpPr>
        <p:spPr>
          <a:xfrm>
            <a:off x="502920" y="5285232"/>
            <a:ext cx="11183112" cy="603504"/>
          </a:xfrm>
          <a:prstGeom prst="roundRect">
            <a:avLst>
              <a:gd name="adj" fmla="val 15152"/>
            </a:avLst>
          </a:prstGeom>
          <a:solidFill>
            <a:srgbClr val="FFFFFF"/>
          </a:solidFill>
          <a:ln w="44450">
            <a:solidFill>
              <a:srgbClr val="00A8AA"/>
            </a:solidFill>
          </a:ln>
        </p:spPr>
        <p:txBody>
          <a:bodyPr wrap="square" lIns="73152" tIns="73152" rIns="73152" bIns="73152"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休薬・再開の判断と相談した相手を</a:t>
            </a:r>
            <a:r>
              <a:rPr lang="ja-JP" altLang="en-US" sz="2400" b="1" dirty="0">
                <a:solidFill>
                  <a:srgbClr val="D55E00"/>
                </a:solidFill>
                <a:latin typeface="メイリオ" pitchFamily="34" charset="0"/>
                <a:ea typeface="メイリオ" pitchFamily="34" charset="-122"/>
                <a:cs typeface="メイリオ" pitchFamily="34" charset="-120"/>
              </a:rPr>
              <a:t>記録に残し</a:t>
            </a:r>
            <a:r>
              <a:rPr lang="ja-JP" altLang="en-US" sz="2400" b="1" dirty="0">
                <a:solidFill>
                  <a:srgbClr val="262626"/>
                </a:solidFill>
                <a:latin typeface="メイリオ" pitchFamily="34" charset="0"/>
                <a:ea typeface="メイリオ" pitchFamily="34" charset="-122"/>
                <a:cs typeface="メイリオ" pitchFamily="34" charset="-120"/>
              </a:rPr>
              <a:t>、患者にも説明する</a:t>
            </a:r>
            <a:endParaRPr lang="ja-JP" sz="2400" dirty="0"/>
          </a:p>
        </p:txBody>
      </p:sp>
      <p:sp>
        <p:nvSpPr>
          <p:cNvPr id="12" name="Shape 10"/>
          <p:cNvSpPr/>
          <p:nvPr/>
        </p:nvSpPr>
        <p:spPr>
          <a:xfrm>
            <a:off x="502920" y="1691640"/>
            <a:ext cx="5553151" cy="3374136"/>
          </a:xfrm>
          <a:prstGeom prst="roundRect">
            <a:avLst>
              <a:gd name="adj" fmla="val 2168"/>
            </a:avLst>
          </a:prstGeom>
          <a:solidFill>
            <a:srgbClr val="F2F2F2"/>
          </a:solidFill>
          <a:ln/>
        </p:spPr>
      </p:sp>
      <p:sp>
        <p:nvSpPr>
          <p:cNvPr id="13" name="Text 11"/>
          <p:cNvSpPr txBox="1"/>
          <p:nvPr/>
        </p:nvSpPr>
        <p:spPr>
          <a:xfrm>
            <a:off x="594360" y="1764792"/>
            <a:ext cx="5370271" cy="37490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誰に相談するか</a:t>
            </a:r>
            <a:endParaRPr lang="ja-JP" sz="2200" dirty="0"/>
          </a:p>
        </p:txBody>
      </p:sp>
      <p:sp>
        <p:nvSpPr>
          <p:cNvPr id="14" name="Text 12"/>
          <p:cNvSpPr txBox="1"/>
          <p:nvPr/>
        </p:nvSpPr>
        <p:spPr>
          <a:xfrm>
            <a:off x="594360" y="2155241"/>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5" name="Text 13"/>
          <p:cNvSpPr txBox="1"/>
          <p:nvPr/>
        </p:nvSpPr>
        <p:spPr>
          <a:xfrm>
            <a:off x="850392" y="2155241"/>
            <a:ext cx="511423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抗凝固薬の処方医（診療所・内科）</a:t>
            </a:r>
            <a:endParaRPr lang="ja-JP" sz="2200" dirty="0"/>
          </a:p>
        </p:txBody>
      </p:sp>
      <p:sp>
        <p:nvSpPr>
          <p:cNvPr id="16" name="Text 14"/>
          <p:cNvSpPr txBox="1"/>
          <p:nvPr/>
        </p:nvSpPr>
        <p:spPr>
          <a:xfrm>
            <a:off x="594360" y="2593238"/>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7" name="Text 15"/>
          <p:cNvSpPr txBox="1"/>
          <p:nvPr/>
        </p:nvSpPr>
        <p:spPr>
          <a:xfrm>
            <a:off x="850392" y="2593238"/>
            <a:ext cx="5114239" cy="37490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ステント後：</a:t>
            </a:r>
            <a:endParaRPr lang="ja-JP" sz="2200" dirty="0"/>
          </a:p>
        </p:txBody>
      </p:sp>
      <p:sp>
        <p:nvSpPr>
          <p:cNvPr id="18" name="Text 16"/>
          <p:cNvSpPr txBox="1"/>
          <p:nvPr/>
        </p:nvSpPr>
        <p:spPr>
          <a:xfrm>
            <a:off x="850392" y="2928823"/>
            <a:ext cx="511423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PCI 施行医・循環器内科</a:t>
            </a:r>
            <a:endParaRPr lang="ja-JP" sz="2200" dirty="0"/>
          </a:p>
        </p:txBody>
      </p:sp>
      <p:sp>
        <p:nvSpPr>
          <p:cNvPr id="19" name="Text 17"/>
          <p:cNvSpPr txBox="1"/>
          <p:nvPr/>
        </p:nvSpPr>
        <p:spPr>
          <a:xfrm>
            <a:off x="594360" y="3367735"/>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0" name="Text 18"/>
          <p:cNvSpPr txBox="1"/>
          <p:nvPr/>
        </p:nvSpPr>
        <p:spPr>
          <a:xfrm>
            <a:off x="850392" y="3367735"/>
            <a:ext cx="5114239" cy="37490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機械弁：</a:t>
            </a:r>
            <a:r>
              <a:rPr lang="ja-JP" altLang="en-US" sz="2200" dirty="0">
                <a:solidFill>
                  <a:srgbClr val="262626"/>
                </a:solidFill>
                <a:latin typeface="メイリオ" pitchFamily="34" charset="0"/>
                <a:ea typeface="メイリオ" pitchFamily="34" charset="-122"/>
                <a:cs typeface="メイリオ" pitchFamily="34" charset="-120"/>
              </a:rPr>
              <a:t>循環器内科・心臓血管外科</a:t>
            </a:r>
            <a:endParaRPr lang="ja-JP" sz="2200" dirty="0"/>
          </a:p>
        </p:txBody>
      </p:sp>
      <p:sp>
        <p:nvSpPr>
          <p:cNvPr id="21" name="Text 19"/>
          <p:cNvSpPr txBox="1"/>
          <p:nvPr/>
        </p:nvSpPr>
        <p:spPr>
          <a:xfrm>
            <a:off x="594360" y="3805733"/>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2" name="Text 20"/>
          <p:cNvSpPr txBox="1"/>
          <p:nvPr/>
        </p:nvSpPr>
        <p:spPr>
          <a:xfrm>
            <a:off x="850392" y="3805733"/>
            <a:ext cx="5114239" cy="37490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3 か月以内の静脈血栓塞栓症：</a:t>
            </a:r>
            <a:endParaRPr lang="ja-JP" sz="2200" dirty="0"/>
          </a:p>
        </p:txBody>
      </p:sp>
      <p:sp>
        <p:nvSpPr>
          <p:cNvPr id="23" name="Text 21"/>
          <p:cNvSpPr txBox="1"/>
          <p:nvPr/>
        </p:nvSpPr>
        <p:spPr>
          <a:xfrm>
            <a:off x="850392" y="4141318"/>
            <a:ext cx="511423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延期を主科と</a:t>
            </a:r>
            <a:endParaRPr lang="ja-JP" sz="2200" dirty="0"/>
          </a:p>
        </p:txBody>
      </p:sp>
      <p:sp>
        <p:nvSpPr>
          <p:cNvPr id="24" name="Text 22"/>
          <p:cNvSpPr txBox="1"/>
          <p:nvPr/>
        </p:nvSpPr>
        <p:spPr>
          <a:xfrm>
            <a:off x="594360" y="4580230"/>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5" name="Text 23"/>
          <p:cNvSpPr txBox="1"/>
          <p:nvPr/>
        </p:nvSpPr>
        <p:spPr>
          <a:xfrm>
            <a:off x="850392" y="4580230"/>
            <a:ext cx="511423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迷ったら</a:t>
            </a:r>
            <a:r>
              <a:rPr lang="ja-JP" altLang="en-US" sz="2200" b="1" dirty="0">
                <a:solidFill>
                  <a:srgbClr val="0072B2"/>
                </a:solidFill>
                <a:latin typeface="メイリオ" pitchFamily="34" charset="0"/>
                <a:ea typeface="メイリオ" pitchFamily="34" charset="-122"/>
                <a:cs typeface="メイリオ" pitchFamily="34" charset="-120"/>
              </a:rPr>
              <a:t>上級の麻酔科医に電話</a:t>
            </a:r>
            <a:endParaRPr lang="ja-JP" sz="2200" dirty="0"/>
          </a:p>
        </p:txBody>
      </p:sp>
      <p:sp>
        <p:nvSpPr>
          <p:cNvPr id="26" name="Shape 24"/>
          <p:cNvSpPr/>
          <p:nvPr/>
        </p:nvSpPr>
        <p:spPr>
          <a:xfrm>
            <a:off x="6275527" y="1691640"/>
            <a:ext cx="5409590" cy="3374136"/>
          </a:xfrm>
          <a:prstGeom prst="roundRect">
            <a:avLst>
              <a:gd name="adj" fmla="val 2168"/>
            </a:avLst>
          </a:prstGeom>
          <a:solidFill>
            <a:srgbClr val="F2F2F2"/>
          </a:solidFill>
          <a:ln/>
        </p:spPr>
      </p:sp>
      <p:sp>
        <p:nvSpPr>
          <p:cNvPr id="27" name="Text 25"/>
          <p:cNvSpPr txBox="1"/>
          <p:nvPr/>
        </p:nvSpPr>
        <p:spPr>
          <a:xfrm>
            <a:off x="6366967" y="1764792"/>
            <a:ext cx="5226710" cy="374904"/>
          </a:xfrm>
          <a:prstGeom prst="rect">
            <a:avLst/>
          </a:prstGeom>
          <a:noFill/>
          <a:ln/>
        </p:spPr>
        <p:txBody>
          <a:bodyPr wrap="square" lIns="0" tIns="0" rIns="0" bIns="0" rtlCol="0" anchor="t"/>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緊急手術</a:t>
            </a:r>
            <a:endParaRPr lang="ja-JP" sz="2200" dirty="0"/>
          </a:p>
        </p:txBody>
      </p:sp>
      <p:sp>
        <p:nvSpPr>
          <p:cNvPr id="28" name="Text 26"/>
          <p:cNvSpPr txBox="1"/>
          <p:nvPr/>
        </p:nvSpPr>
        <p:spPr>
          <a:xfrm>
            <a:off x="6366967" y="2155241"/>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9" name="Text 27"/>
          <p:cNvSpPr txBox="1"/>
          <p:nvPr/>
        </p:nvSpPr>
        <p:spPr>
          <a:xfrm>
            <a:off x="6622999" y="2155241"/>
            <a:ext cx="497067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休薬表は使えない。</a:t>
            </a:r>
            <a:endParaRPr lang="ja-JP" sz="2200" dirty="0"/>
          </a:p>
        </p:txBody>
      </p:sp>
      <p:sp>
        <p:nvSpPr>
          <p:cNvPr id="30" name="Text 28"/>
          <p:cNvSpPr txBox="1"/>
          <p:nvPr/>
        </p:nvSpPr>
        <p:spPr>
          <a:xfrm>
            <a:off x="6622999" y="2489911"/>
            <a:ext cx="497067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最終内服の時刻を聞く</a:t>
            </a:r>
            <a:endParaRPr lang="ja-JP" sz="2200" dirty="0"/>
          </a:p>
        </p:txBody>
      </p:sp>
      <p:sp>
        <p:nvSpPr>
          <p:cNvPr id="31" name="Text 29"/>
          <p:cNvSpPr txBox="1"/>
          <p:nvPr/>
        </p:nvSpPr>
        <p:spPr>
          <a:xfrm>
            <a:off x="6366967" y="2928823"/>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2" name="Text 30"/>
          <p:cNvSpPr txBox="1"/>
          <p:nvPr/>
        </p:nvSpPr>
        <p:spPr>
          <a:xfrm>
            <a:off x="6622999" y="2928823"/>
            <a:ext cx="4970678" cy="37490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中和薬の在庫：</a:t>
            </a:r>
            <a:endParaRPr lang="ja-JP" sz="2200" dirty="0"/>
          </a:p>
        </p:txBody>
      </p:sp>
      <p:sp>
        <p:nvSpPr>
          <p:cNvPr id="33" name="Text 31"/>
          <p:cNvSpPr txBox="1"/>
          <p:nvPr/>
        </p:nvSpPr>
        <p:spPr>
          <a:xfrm>
            <a:off x="6622999" y="3264408"/>
            <a:ext cx="497067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ビタミン K、PCC、イダルシズマブ</a:t>
            </a:r>
            <a:endParaRPr lang="ja-JP" sz="2200" dirty="0"/>
          </a:p>
        </p:txBody>
      </p:sp>
      <p:sp>
        <p:nvSpPr>
          <p:cNvPr id="34" name="Text 32"/>
          <p:cNvSpPr txBox="1"/>
          <p:nvPr/>
        </p:nvSpPr>
        <p:spPr>
          <a:xfrm>
            <a:off x="6366967" y="3702406"/>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5" name="Text 33"/>
          <p:cNvSpPr txBox="1"/>
          <p:nvPr/>
        </p:nvSpPr>
        <p:spPr>
          <a:xfrm>
            <a:off x="6622999" y="3702406"/>
            <a:ext cx="497067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脊髄幹麻酔を避けて全身麻酔に</a:t>
            </a:r>
            <a:endParaRPr lang="ja-JP" sz="2200" dirty="0"/>
          </a:p>
        </p:txBody>
      </p:sp>
      <p:sp>
        <p:nvSpPr>
          <p:cNvPr id="36" name="Text 34"/>
          <p:cNvSpPr txBox="1"/>
          <p:nvPr/>
        </p:nvSpPr>
        <p:spPr>
          <a:xfrm>
            <a:off x="6366967" y="4141318"/>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7" name="Text 35"/>
          <p:cNvSpPr txBox="1"/>
          <p:nvPr/>
        </p:nvSpPr>
        <p:spPr>
          <a:xfrm>
            <a:off x="6622999" y="4141318"/>
            <a:ext cx="497067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血液製剤の準備（→ 4-4）</a:t>
            </a:r>
            <a:endParaRPr lang="ja-JP" sz="2200" dirty="0"/>
          </a:p>
        </p:txBody>
      </p:sp>
      <p:sp>
        <p:nvSpPr>
          <p:cNvPr id="38" name="Text 36"/>
          <p:cNvSpPr txBox="1"/>
          <p:nvPr/>
        </p:nvSpPr>
        <p:spPr>
          <a:xfrm>
            <a:off x="6366967" y="4580230"/>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9" name="Text 37"/>
          <p:cNvSpPr txBox="1"/>
          <p:nvPr/>
        </p:nvSpPr>
        <p:spPr>
          <a:xfrm>
            <a:off x="6622999" y="4580230"/>
            <a:ext cx="497067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DOAC は CrCl で残り方が違う</a:t>
            </a:r>
            <a:endParaRPr lang="ja-JP"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術前指示の書き方</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考え方</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抗凝固薬</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抗血小</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板薬</a:t>
            </a:r>
            <a:endParaRPr lang="ja-JP" sz="1050" dirty="0"/>
          </a:p>
        </p:txBody>
      </p:sp>
      <p:sp>
        <p:nvSpPr>
          <p:cNvPr id="7" name="Text 5"/>
          <p:cNvSpPr/>
          <p:nvPr/>
        </p:nvSpPr>
        <p:spPr>
          <a:xfrm>
            <a:off x="10707624"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区域</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麻酔</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Kopp SL, et al. Reg Anesth Pain Med 2025/Douketis JD, et al. JAMA Intern Med</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2019;179:1469-78/日本循環器学会／日本不整脈心電学会 2020 年改訂版不整脈薬物治療ガイドライン</a:t>
            </a:r>
            <a:endParaRPr lang="ja-JP" sz="1600" dirty="0"/>
          </a:p>
        </p:txBody>
      </p:sp>
      <p:sp>
        <p:nvSpPr>
          <p:cNvPr id="11" name="Shape 9"/>
          <p:cNvSpPr/>
          <p:nvPr/>
        </p:nvSpPr>
        <p:spPr>
          <a:xfrm>
            <a:off x="502920" y="1664208"/>
            <a:ext cx="11183112" cy="3547872"/>
          </a:xfrm>
          <a:prstGeom prst="roundRect">
            <a:avLst>
              <a:gd name="adj" fmla="val 2062"/>
            </a:avLst>
          </a:prstGeom>
          <a:solidFill>
            <a:srgbClr val="F2F2F2"/>
          </a:solidFill>
          <a:ln/>
        </p:spPr>
      </p:sp>
      <p:sp>
        <p:nvSpPr>
          <p:cNvPr id="12" name="Text 10"/>
          <p:cNvSpPr txBox="1"/>
          <p:nvPr/>
        </p:nvSpPr>
        <p:spPr>
          <a:xfrm>
            <a:off x="585216" y="1755648"/>
            <a:ext cx="11018520" cy="37490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患者 A（心房細動）</a:t>
            </a:r>
            <a:r>
              <a:rPr lang="ja-JP" altLang="en-US" sz="2200" b="1" dirty="0">
                <a:solidFill>
                  <a:srgbClr val="262626"/>
                </a:solidFill>
                <a:latin typeface="メイリオ" pitchFamily="34" charset="0"/>
                <a:ea typeface="メイリオ" pitchFamily="34" charset="-122"/>
                <a:cs typeface="メイリオ" pitchFamily="34" charset="-120"/>
              </a:rPr>
              <a:t>エリキュース 5 mg 1 日 2 回</a:t>
            </a:r>
            <a:r>
              <a:rPr lang="ja-JP" altLang="en-US" sz="2200" dirty="0">
                <a:solidFill>
                  <a:srgbClr val="262626"/>
                </a:solidFill>
                <a:latin typeface="メイリオ" pitchFamily="34" charset="0"/>
                <a:ea typeface="メイリオ" pitchFamily="34" charset="-122"/>
                <a:cs typeface="メイリオ" pitchFamily="34" charset="-120"/>
              </a:rPr>
              <a:t>：最終内服は</a:t>
            </a:r>
            <a:endParaRPr lang="ja-JP" sz="2200" dirty="0"/>
          </a:p>
        </p:txBody>
      </p:sp>
      <p:sp>
        <p:nvSpPr>
          <p:cNvPr id="13" name="Text 11"/>
          <p:cNvSpPr txBox="1"/>
          <p:nvPr/>
        </p:nvSpPr>
        <p:spPr>
          <a:xfrm>
            <a:off x="896112" y="2091233"/>
            <a:ext cx="1070762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手術 4 日前の夜（○/○ 20 時）。脊髄くも膜下麻酔の予定のため</a:t>
            </a:r>
            <a:endParaRPr lang="ja-JP" sz="2200" dirty="0"/>
          </a:p>
        </p:txBody>
      </p:sp>
      <p:sp>
        <p:nvSpPr>
          <p:cNvPr id="14" name="Text 12"/>
          <p:cNvSpPr txBox="1"/>
          <p:nvPr/>
        </p:nvSpPr>
        <p:spPr>
          <a:xfrm>
            <a:off x="896112" y="2425903"/>
            <a:ext cx="10707624" cy="374904"/>
          </a:xfrm>
          <a:prstGeom prst="rect">
            <a:avLst/>
          </a:prstGeom>
          <a:noFill/>
          <a:ln/>
        </p:spPr>
        <p:txBody>
          <a:bodyPr wrap="square" lIns="0" tIns="0" rIns="0" bIns="0" rtlCol="0" anchor="t"/>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72 時間以上</a:t>
            </a:r>
            <a:r>
              <a:rPr lang="ja-JP" altLang="en-US" sz="2200" dirty="0">
                <a:solidFill>
                  <a:srgbClr val="262626"/>
                </a:solidFill>
                <a:latin typeface="メイリオ" pitchFamily="34" charset="0"/>
                <a:ea typeface="メイリオ" pitchFamily="34" charset="-122"/>
                <a:cs typeface="メイリオ" pitchFamily="34" charset="-120"/>
              </a:rPr>
              <a:t>あける（9 時入室で約 85 時間）。ブリッジなし</a:t>
            </a:r>
            <a:endParaRPr lang="ja-JP" sz="2200" dirty="0"/>
          </a:p>
        </p:txBody>
      </p:sp>
      <p:sp>
        <p:nvSpPr>
          <p:cNvPr id="15" name="Text 13"/>
          <p:cNvSpPr txBox="1"/>
          <p:nvPr/>
        </p:nvSpPr>
        <p:spPr>
          <a:xfrm>
            <a:off x="585216" y="2816352"/>
            <a:ext cx="11018520" cy="37490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再開：</a:t>
            </a:r>
            <a:r>
              <a:rPr lang="ja-JP" altLang="en-US" sz="2200" dirty="0">
                <a:solidFill>
                  <a:srgbClr val="262626"/>
                </a:solidFill>
                <a:latin typeface="メイリオ" pitchFamily="34" charset="0"/>
                <a:ea typeface="メイリオ" pitchFamily="34" charset="-122"/>
                <a:cs typeface="メイリオ" pitchFamily="34" charset="-120"/>
              </a:rPr>
              <a:t>術後 2 日目の夜、止血を確認してから。処方医（○○内科）に連絡済み</a:t>
            </a:r>
            <a:endParaRPr lang="ja-JP" sz="2200" dirty="0"/>
          </a:p>
        </p:txBody>
      </p:sp>
      <p:sp>
        <p:nvSpPr>
          <p:cNvPr id="16" name="Shape 14"/>
          <p:cNvSpPr/>
          <p:nvPr/>
        </p:nvSpPr>
        <p:spPr>
          <a:xfrm>
            <a:off x="585216" y="3261665"/>
            <a:ext cx="11018520" cy="0"/>
          </a:xfrm>
          <a:prstGeom prst="line">
            <a:avLst/>
          </a:prstGeom>
          <a:noFill/>
          <a:ln w="12700">
            <a:solidFill>
              <a:srgbClr val="BFBFBF"/>
            </a:solidFill>
            <a:prstDash val="solid"/>
          </a:ln>
        </p:spPr>
      </p:sp>
      <p:sp>
        <p:nvSpPr>
          <p:cNvPr id="17" name="Text 15"/>
          <p:cNvSpPr txBox="1"/>
          <p:nvPr/>
        </p:nvSpPr>
        <p:spPr>
          <a:xfrm>
            <a:off x="585216" y="3353105"/>
            <a:ext cx="11018520" cy="37490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患者 B（ステント留置 2 年前）</a:t>
            </a:r>
            <a:r>
              <a:rPr lang="ja-JP" altLang="en-US" sz="2200" b="1" dirty="0">
                <a:solidFill>
                  <a:srgbClr val="262626"/>
                </a:solidFill>
                <a:latin typeface="メイリオ" pitchFamily="34" charset="0"/>
                <a:ea typeface="メイリオ" pitchFamily="34" charset="-122"/>
                <a:cs typeface="メイリオ" pitchFamily="34" charset="-120"/>
              </a:rPr>
              <a:t>バイアスピリン 100 mg</a:t>
            </a:r>
            <a:r>
              <a:rPr lang="ja-JP" altLang="en-US" sz="2200" dirty="0">
                <a:solidFill>
                  <a:srgbClr val="262626"/>
                </a:solidFill>
                <a:latin typeface="メイリオ" pitchFamily="34" charset="0"/>
                <a:ea typeface="メイリオ" pitchFamily="34" charset="-122"/>
                <a:cs typeface="メイリオ" pitchFamily="34" charset="-120"/>
              </a:rPr>
              <a:t>：継続</a:t>
            </a:r>
            <a:endParaRPr lang="ja-JP" sz="2200" dirty="0"/>
          </a:p>
        </p:txBody>
      </p:sp>
      <p:sp>
        <p:nvSpPr>
          <p:cNvPr id="18" name="Text 16"/>
          <p:cNvSpPr txBox="1"/>
          <p:nvPr/>
        </p:nvSpPr>
        <p:spPr>
          <a:xfrm>
            <a:off x="585216" y="3742639"/>
            <a:ext cx="11018520" cy="37490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クロピドグレル 75 mg</a:t>
            </a:r>
            <a:r>
              <a:rPr lang="ja-JP" altLang="en-US" sz="2200" dirty="0">
                <a:solidFill>
                  <a:srgbClr val="262626"/>
                </a:solidFill>
                <a:latin typeface="メイリオ" pitchFamily="34" charset="0"/>
                <a:ea typeface="メイリオ" pitchFamily="34" charset="-122"/>
                <a:cs typeface="メイリオ" pitchFamily="34" charset="-120"/>
              </a:rPr>
              <a:t>：PCI 施行医（循環器 ○○医師）と相談し、</a:t>
            </a:r>
            <a:endParaRPr lang="ja-JP" sz="2200" dirty="0"/>
          </a:p>
        </p:txBody>
      </p:sp>
      <p:sp>
        <p:nvSpPr>
          <p:cNvPr id="19" name="Text 17"/>
          <p:cNvSpPr txBox="1"/>
          <p:nvPr/>
        </p:nvSpPr>
        <p:spPr>
          <a:xfrm>
            <a:off x="896112" y="4078224"/>
            <a:ext cx="1070762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最終内服は手術 7 日前の朝（○/○ 8 時）。</a:t>
            </a:r>
            <a:endParaRPr lang="ja-JP" sz="2200" dirty="0"/>
          </a:p>
        </p:txBody>
      </p:sp>
      <p:sp>
        <p:nvSpPr>
          <p:cNvPr id="20" name="Text 18"/>
          <p:cNvSpPr txBox="1"/>
          <p:nvPr/>
        </p:nvSpPr>
        <p:spPr>
          <a:xfrm>
            <a:off x="896112" y="4413809"/>
            <a:ext cx="1070762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脊髄くも膜下麻酔のため </a:t>
            </a:r>
            <a:r>
              <a:rPr lang="ja-JP" altLang="en-US" sz="2200" b="1" dirty="0">
                <a:solidFill>
                  <a:srgbClr val="D55E00"/>
                </a:solidFill>
                <a:latin typeface="メイリオ" pitchFamily="34" charset="0"/>
                <a:ea typeface="メイリオ" pitchFamily="34" charset="-122"/>
                <a:cs typeface="メイリオ" pitchFamily="34" charset="-120"/>
              </a:rPr>
              <a:t>7 日以上</a:t>
            </a:r>
            <a:r>
              <a:rPr lang="ja-JP" altLang="en-US" sz="2200" dirty="0">
                <a:solidFill>
                  <a:srgbClr val="262626"/>
                </a:solidFill>
                <a:latin typeface="メイリオ" pitchFamily="34" charset="0"/>
                <a:ea typeface="メイリオ" pitchFamily="34" charset="-122"/>
                <a:cs typeface="メイリオ" pitchFamily="34" charset="-120"/>
              </a:rPr>
              <a:t>あける。再開は止血を確認してから</a:t>
            </a:r>
            <a:endParaRPr lang="ja-JP" sz="2200" dirty="0"/>
          </a:p>
        </p:txBody>
      </p:sp>
      <p:sp>
        <p:nvSpPr>
          <p:cNvPr id="21" name="Text 19"/>
          <p:cNvSpPr txBox="1"/>
          <p:nvPr/>
        </p:nvSpPr>
        <p:spPr>
          <a:xfrm>
            <a:off x="896112" y="4748479"/>
            <a:ext cx="1070762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（負荷投与なら穿刺から 6 時間以上後）</a:t>
            </a:r>
            <a:endParaRPr lang="ja-JP" sz="2200" dirty="0"/>
          </a:p>
        </p:txBody>
      </p:sp>
      <p:sp>
        <p:nvSpPr>
          <p:cNvPr id="22" name="Text 20"/>
          <p:cNvSpPr txBox="1"/>
          <p:nvPr/>
        </p:nvSpPr>
        <p:spPr>
          <a:xfrm>
            <a:off x="502920" y="5431536"/>
            <a:ext cx="11183112" cy="457200"/>
          </a:xfrm>
          <a:prstGeom prst="rect">
            <a:avLst/>
          </a:prstGeom>
          <a:noFill/>
          <a:ln/>
        </p:spPr>
        <p:txBody>
          <a:bodyPr wrap="square" lIns="0" tIns="0" rIns="0" bIns="0" rtlCol="0" anchor="t"/>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『○日前から中止』ではなく、</a:t>
            </a:r>
            <a:r>
              <a:rPr lang="ja-JP" altLang="en-US" sz="2400" b="1" dirty="0">
                <a:solidFill>
                  <a:srgbClr val="D55E00"/>
                </a:solidFill>
                <a:latin typeface="メイリオ" pitchFamily="34" charset="0"/>
                <a:ea typeface="メイリオ" pitchFamily="34" charset="-122"/>
                <a:cs typeface="メイリオ" pitchFamily="34" charset="-120"/>
              </a:rPr>
              <a:t>最終内服の日時と再開の条件</a:t>
            </a:r>
            <a:r>
              <a:rPr lang="ja-JP" altLang="en-US" sz="2400" b="1" dirty="0">
                <a:solidFill>
                  <a:srgbClr val="262626"/>
                </a:solidFill>
                <a:latin typeface="メイリオ" pitchFamily="34" charset="0"/>
                <a:ea typeface="メイリオ" pitchFamily="34" charset="-122"/>
                <a:cs typeface="メイリオ" pitchFamily="34" charset="-120"/>
              </a:rPr>
              <a:t>を書く</a:t>
            </a:r>
            <a:endParaRPr lang="ja-JP"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考え方</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抗凝固薬</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抗血小</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板薬</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区域</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麻酔</a:t>
            </a:r>
            <a:endParaRPr lang="ja-JP" sz="1050" dirty="0"/>
          </a:p>
        </p:txBody>
      </p:sp>
      <p:sp>
        <p:nvSpPr>
          <p:cNvPr id="8" name="Text 6"/>
          <p:cNvSpPr/>
          <p:nvPr/>
        </p:nvSpPr>
        <p:spPr>
          <a:xfrm>
            <a:off x="11384280"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9</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日本循環器学会／日本不整脈心電学会 2020 年改訂版 不整脈薬物治療ガイドライン</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Douketis JD, et al. Chest 2022;162:e207-e243 / Kopp SL, et al. Reg Anesth Pain Med 2025</a:t>
            </a:r>
            <a:endParaRPr lang="ja-JP" sz="1600" dirty="0"/>
          </a:p>
        </p:txBody>
      </p:sp>
      <p:sp>
        <p:nvSpPr>
          <p:cNvPr id="11" name="Text 9"/>
          <p:cNvSpPr txBox="1"/>
          <p:nvPr/>
        </p:nvSpPr>
        <p:spPr>
          <a:xfrm>
            <a:off x="502920" y="1691640"/>
            <a:ext cx="11155680" cy="4197096"/>
          </a:xfrm>
          <a:prstGeom prst="rect">
            <a:avLst/>
          </a:prstGeom>
          <a:noFill/>
          <a:ln/>
        </p:spPr>
        <p:txBody>
          <a:bodyPr wrap="square" lIns="0" tIns="0" rIns="0" bIns="0" rtlCol="0" anchor="ctr"/>
          <a:lstStyle/>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休薬は</a:t>
            </a:r>
            <a:r>
              <a:rPr lang="ja-JP" altLang="en-US" sz="2400" b="1" dirty="0">
                <a:solidFill>
                  <a:srgbClr val="0072B2"/>
                </a:solidFill>
                <a:latin typeface="メイリオ" pitchFamily="34" charset="0"/>
                <a:ea typeface="メイリオ" pitchFamily="34" charset="-122"/>
                <a:cs typeface="メイリオ" pitchFamily="34" charset="-120"/>
              </a:rPr>
              <a:t>出血リスク × 血栓リスク</a:t>
            </a:r>
            <a:r>
              <a:rPr lang="ja-JP" altLang="en-US" sz="2400" dirty="0">
                <a:solidFill>
                  <a:srgbClr val="262626"/>
                </a:solidFill>
                <a:latin typeface="メイリオ" pitchFamily="34" charset="0"/>
                <a:ea typeface="メイリオ" pitchFamily="34" charset="-122"/>
                <a:cs typeface="メイリオ" pitchFamily="34" charset="-120"/>
              </a:rPr>
              <a:t>で決める。止血できる手技は続ける</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ワルファリン 5 日、DOAC 1〜2 日。</a:t>
            </a:r>
            <a:r>
              <a:rPr lang="ja-JP" altLang="en-US" sz="2400" b="1" dirty="0">
                <a:solidFill>
                  <a:srgbClr val="D55E00"/>
                </a:solidFill>
                <a:latin typeface="メイリオ" pitchFamily="34" charset="0"/>
                <a:ea typeface="メイリオ" pitchFamily="34" charset="-122"/>
                <a:cs typeface="メイリオ" pitchFamily="34" charset="-120"/>
              </a:rPr>
              <a:t>ブリッジは原則しない</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アスピリンは原則続ける。P2Y12 阻害薬の中止は </a:t>
            </a:r>
            <a:r>
              <a:rPr lang="ja-JP" altLang="en-US" sz="2400" b="1" dirty="0">
                <a:solidFill>
                  <a:srgbClr val="0072B2"/>
                </a:solidFill>
                <a:latin typeface="メイリオ" pitchFamily="34" charset="0"/>
                <a:ea typeface="メイリオ" pitchFamily="34" charset="-122"/>
                <a:cs typeface="メイリオ" pitchFamily="34" charset="-120"/>
              </a:rPr>
              <a:t>PCI 施行医と</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区域麻酔は手術より長い：</a:t>
            </a:r>
            <a:r>
              <a:rPr lang="ja-JP" altLang="en-US" sz="2400" b="1" dirty="0">
                <a:solidFill>
                  <a:srgbClr val="D55E00"/>
                </a:solidFill>
                <a:latin typeface="メイリオ" pitchFamily="34" charset="0"/>
                <a:ea typeface="メイリオ" pitchFamily="34" charset="-122"/>
                <a:cs typeface="メイリオ" pitchFamily="34" charset="-120"/>
              </a:rPr>
              <a:t>高用量 DOAC 72 時間</a:t>
            </a:r>
            <a:r>
              <a:rPr lang="ja-JP" altLang="en-US" sz="2400" dirty="0">
                <a:solidFill>
                  <a:srgbClr val="262626"/>
                </a:solidFill>
                <a:latin typeface="メイリオ" pitchFamily="34" charset="0"/>
                <a:ea typeface="メイリオ" pitchFamily="34" charset="-122"/>
                <a:cs typeface="メイリオ" pitchFamily="34" charset="-120"/>
              </a:rPr>
              <a:t>（ASRA 第 5 版）</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最終内服の日時・再開の条件・相談相手を記録する。</a:t>
            </a:r>
            <a:r>
              <a:rPr lang="ja-JP" altLang="en-US" sz="2400" b="1" dirty="0">
                <a:solidFill>
                  <a:srgbClr val="D55E00"/>
                </a:solidFill>
                <a:latin typeface="メイリオ" pitchFamily="34" charset="0"/>
                <a:ea typeface="メイリオ" pitchFamily="34" charset="-122"/>
                <a:cs typeface="メイリオ" pitchFamily="34" charset="-120"/>
              </a:rPr>
              <a:t>緊急は中和薬</a:t>
            </a:r>
            <a:endParaRPr lang="ja-JP"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4-12 常用薬①：抗血栓薬</dc:title>
  <dc:subject/>
  <dc:creator>Anes-lecture</dc:creator>
  <cp:lastModifiedBy>Anes-lecture</cp:lastModifiedBy>
  <cp:revision>1</cp:revision>
  <dcterms:created xsi:type="dcterms:W3CDTF">2026-10-16T00:43:46Z</dcterms:created>
  <dcterms:modified xsi:type="dcterms:W3CDTF">2026-10-16T00:43:46Z</dcterms:modified>
</cp:coreProperties>
</file>