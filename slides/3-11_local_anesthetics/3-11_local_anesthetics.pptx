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局所麻酔薬は、研修医が自分の手で使う最初の麻酔薬になる（浸潤麻酔、創部への注入）。この回では、仕組み、国内で使う薬の種類と作用時間、添付文書の最大用量と体重あたりの目安、mg/kg から mL への計算、そして「用量以下でも中毒は起こる」という限界を扱う。中毒（LAST）の症状と治療は直後の 6-8 で扱う。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仕組み: 局所麻酔薬は神経の電位依存性ナトリウムチャネルを細胞の内側から塞ぎ、活動電位の発生と伝導を止める。痛みの信号が中枢に届かなくなる。</a:t>
            </a:r>
          </a:p>
          <a:p>
            <a:r>
              <a:rPr lang="ja-JP" altLang="en-US" dirty="0"/>
              <a:t>イオン型と非イオン型: 局所麻酔薬は弱塩基で、溶液中では非イオン型とイオン型が混ざっている。膜を通るのは非イオン型、チャネルを塞ぐのはイオン型。pKa が低い薬ほど生理的 pH で非イオン型が多く、発現が速い。</a:t>
            </a:r>
          </a:p>
          <a:p>
            <a:r>
              <a:rPr lang="ja-JP" altLang="en-US" dirty="0"/>
              <a:t>炎症: 炎症の組織では効きにくい。古典的には、組織が酸性でイオン型が増え、膜を通れないためと説明される。ただし、酸性化だけでは説明しきれないとする実験もある（Ueno 2008）。膿瘍の切開で効きにくい一因。</a:t>
            </a:r>
          </a:p>
          <a:p>
            <a:r>
              <a:rPr lang="ja-JP" altLang="en-US" dirty="0"/>
              <a:t>線維: 臨床では、痛み・温度覚・交感神経が先に遮断され、運動・触覚・圧覚があとまで残ることが多い（「痛くないが触られている感じはある」）。古典的には「細い線維から効く」と説明される。ただしラットの実験では、細い有髄線維（Aδ、Aγ）が最も効きやすく、無髄の C 線維はむしろ効きにくかった（Gokin 2001）。太さだけでは決まらない。</a:t>
            </a:r>
          </a:p>
          <a:p>
            <a:r>
              <a:rPr lang="ja-JP" altLang="en-US" dirty="0"/>
              <a:t>参考: Gokin AP, et al. Anesthesiology 2001;95:1441-54</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pKa: 生理的 pH（7.4）に近いほど非イオン型が多く、発現が速い。リドカイン 7.9、メピバカイン 7.6、ブピバカイン・ロピバカイン 8.1（教科書の値）【要確認: 使う教科書の書名・版・表番号（Miller's Anesthesia、Stoelting の局所麻酔薬の物性の表など）。メピバカインは教科書により 7.6 と 7.7】。値は出典・測定法・温度で 0.1〜0.3 ほど違い、実測でアミド型 7.92〜8.21 とした報告もある（Strichartz 1990）。重炭酸で pH を上げると発現が速くなるのも同じ理屈。</a:t>
            </a:r>
          </a:p>
          <a:p>
            <a:r>
              <a:rPr lang="ja-JP" altLang="en-US" dirty="0"/>
              <a:t>脂溶性: 膜を通りやすく、少量で効く（力価が高い）。ブピバカインはリドカインの約 4 倍の力価があり、0.25% で 1% リドカインに相当する【要確認: 力価比（約 4 倍）の出典（教科書の書名・版・表番号）】。力価が高い薬は中毒（特に心毒性）も強い。</a:t>
            </a:r>
          </a:p>
          <a:p>
            <a:r>
              <a:rPr lang="ja-JP" altLang="en-US" dirty="0"/>
              <a:t>蛋白結合: 受容体（チャネル）への結合も長く、作用時間が長い。ブピバカイン約 95%、ロピバカイン約 94%、リドカイン約 65%（リドカイン 65%〜ブピバカイン 95% 超: Mazoit 2004。ロピバカイン 94%: Lee 1989）。血漿では主に α1-酸性糖蛋白（AAG）と結合し、アルブミンとも結合する。AAG が低い新生児・乳児では遊離型が増える。酸性では結合が減り、遊離型が増える。どちらも中毒が出やすくなる。</a:t>
            </a:r>
          </a:p>
          <a:p>
            <a:r>
              <a:rPr lang="ja-JP" altLang="en-US" dirty="0"/>
              <a:t>参考: Lee A, et al. Anesth Analg 1989;69:736-8 / 日本麻酔科学会「麻酔薬および麻酔関連薬使用ガイドライン 第4版」Ⅴ 局所麻酔薬（2025）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分類: アミド型（リドカイン、メピバカイン、ブピバカイン、レボブピバカイン、ロピバカイン）とエステル型（テトラカイン、プロカインなど）。国内で日常的に使うのはアミド型で、肝で代謝される。エステル型は血漿コリンエステラーゼで分解される。</a:t>
            </a:r>
          </a:p>
          <a:p>
            <a:r>
              <a:rPr lang="ja-JP" altLang="en-US" dirty="0"/>
              <a:t>作用時間の数値は目安で、部位、濃度、量、アドレナリン添加で大きく変わる。伝達麻酔では長く、腕神経叢ブロックの鎮痛持続は、長時間作用型単独で平均 730 分（約 12 時間）、中時間作用型で平均 168 分（Choi 2014 メタ解析、9 RCT）【要確認: 表の作用時間の出典（使う教科書の書名・版・表番号、または第4版の局所麻酔薬の章の記載）】。</a:t>
            </a:r>
          </a:p>
          <a:p>
            <a:r>
              <a:rPr lang="ja-JP" altLang="en-US" dirty="0"/>
              <a:t>適応: 国内の長時間作用型（マーカイン注、アナペイン注、ポプスカイン）の効能・効果は硬膜外麻酔・伝達麻酔・術後鎮痛（製剤による）で、浸潤麻酔は含まれない【要確認: 各添付文書「4. 効能又は効果」の原文】。外科医が創部にロピバカインなどを浸潤させるのは添付文書外の使い方で、その量も総量に入れる。</a:t>
            </a:r>
          </a:p>
          <a:p>
            <a:r>
              <a:rPr lang="ja-JP" altLang="en-US" dirty="0"/>
              <a:t>リドカイン: 万能で、気道の表面麻酔（スプレー、ゼリー）にも使う。表面麻酔の量も総量に入れて数える。</a:t>
            </a:r>
          </a:p>
          <a:p>
            <a:r>
              <a:rPr lang="ja-JP" altLang="en-US" dirty="0"/>
              <a:t>ブピバカイン: 最も長く、脊髄くも膜下麻酔の標準（高比重・等比重製剤）。心毒性が最も強く、血管内に入ると治療が難しい。</a:t>
            </a:r>
          </a:p>
          <a:p>
            <a:r>
              <a:rPr lang="ja-JP" altLang="en-US" dirty="0"/>
              <a:t>レボブピバカインとロピバカイン: ブピバカインの S 体（レボブピバカイン）、またはそれに近い構造（ロピバカイン）で、心毒性が少ない。ロピバカインは低濃度で運動神経の遮断が弱く、術後の持続投与に向く。</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書き方の違い: リドカインとメピバカインの添付文書は「基準最高用量」と書く（適宜増減の規定があるので、表ヘッダも「上限」と言い切らない）。ブピバカイン、レボブピバカイン、ロピバカインの添付文書は「1 回〜まで」と書いている。</a:t>
            </a:r>
          </a:p>
          <a:p>
            <a:r>
              <a:rPr lang="ja-JP" altLang="en-US" dirty="0"/>
              <a:t>リドカイン: キシロカイン注射液の添付文書では、硬膜外・伝達・浸潤のいずれも、リドカイン塩酸塩として 1 回 200 mg を基準最高用量とする（0.5% で 40 mL、1% で 20 mL、2% で 10 mL。年齢・麻酔領域・部位・組織・症状・体質により適宜増減）【要確認: エピレナミンなしのキシロカイン注射液 0.5%・1%・2% の「6. 用法及び用量」の原文（査読の検索ではキシロカイン注ポリアンプの記載しか特定できなかった）】。エピレナミン含有製剤は、0.5%（1:100,000）で 1 回 100 mL、1%（1:100,000）で 1 回 50 mL、2%（1:80,000）で 1 回 25 mL（いずれもリドカイン塩酸塩として 500 mg）を基準最高用量とする。</a:t>
            </a:r>
          </a:p>
          <a:p>
            <a:r>
              <a:rPr lang="ja-JP" altLang="en-US" dirty="0"/>
              <a:t>メピバカイン: カルボカイン注（0.5%・1%・2%）の添付文書では、硬膜外・伝達・浸潤のいずれも基準最高用量は 1 回 500 mg（メピバカイン塩酸塩として）。</a:t>
            </a:r>
          </a:p>
          <a:p>
            <a:r>
              <a:rPr lang="ja-JP" altLang="en-US" dirty="0"/>
              <a:t>ブピバカイン: マーカイン注の用法及び用量では、成人 1 回 体重 1 kg あたり 2 mg（無水物として。0.25% で 0.8 mL、0.5% で 0.4 mL）まで。マーカイン注脊麻用 0.5%（等比重・高比重）は 1 回 10〜20 mg（2〜4 mL）を脊髄くも膜下腔に注入し、1 回 20 mg（4 mL）を超えないこと（どちらも用法及び用量の本文）。</a:t>
            </a:r>
          </a:p>
          <a:p>
            <a:r>
              <a:rPr lang="ja-JP" altLang="en-US" dirty="0"/>
              <a:t>レボブピバカイン: ポプスカインの添付文書では、伝達麻酔は 0.25% で 1 回 40 mL（100 mg）まで、複数の神経ブロックでも総量 60 mL（150 mg）を超えない。0.5% では 1 回 30 mL（150 mg）まで、複数の神経ブロックでも総量 30 mL（150 mg）を超えない。硬膜外麻酔は 0.75% で 1 回 20 mL（150 mg）まで。術後鎮痛は 0.25% を手術終了時から硬膜外腔に 6 mL/時（15 mg/時）で持続投与し、4〜8 mL/時の範囲で増減する（mg はいずれもレボブピバカインとして）。</a:t>
            </a:r>
          </a:p>
          <a:p>
            <a:r>
              <a:rPr lang="ja-JP" altLang="en-US" dirty="0"/>
              <a:t>ロピバカイン: アナペイン注の添付文書では、7.5 mg/mL（0.75%）の伝達麻酔は 1 回 40 mL（300 mg）まで。硬膜外麻酔は 7.5 mg/mL で 1 回 20 mL（150 mg）、10 mg/mL（1%）で 1 回 20 mL（200 mg）まで。術後鎮痛は 2 mg/mL（0.2%）を手術終了時から硬膜外腔に 6 mL/時（12 mg/時）で持続投与し、4〜10 mL/時の範囲で増減する。</a:t>
            </a:r>
          </a:p>
          <a:p>
            <a:r>
              <a:rPr lang="ja-JP" altLang="en-US" dirty="0"/>
              <a:t>いずれも「上限まで入れてよい」ではなく、部位・年齢・体重・全身状態で減量する。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表の mg/kg は教科書の目安で、添付文書の値ではない（添付文書外）。値は国や教科書で違う（El-Boghdadly 2018）【要確認: リドカイン 3〜4.5（7）、メピバカイン 4.5〜5（7）、ブピバカイン 2〜2.5（3）の出典（使う教科書の書名・版・表番号）。第4版に mg/kg の表があるか】。</a:t>
            </a:r>
          </a:p>
          <a:p>
            <a:r>
              <a:rPr lang="ja-JP" altLang="en-US" dirty="0"/>
              <a:t>レボブピバカイン: 2 mg/kg とする表が多い（El-Boghdadly 2018 の表でも 2 mg/kg）。ロピバカインと同じ 3 mg/kg にはしない。国内添付文書の上限は 150 mg（ポプスカイン）。</a:t>
            </a:r>
          </a:p>
          <a:p>
            <a:r>
              <a:rPr lang="ja-JP" altLang="en-US" dirty="0"/>
              <a:t>使い方: 添付文書の 1 回量（例 リドカイン 200 mg）と、体重あたりの教科書の目安（例 3 mg/kg × 50 kg = 150 mg）を両方計算し、低い方を上限にする。これは安全側に倒した実務上の決まりである。</a:t>
            </a:r>
          </a:p>
          <a:p>
            <a:r>
              <a:rPr lang="ja-JP" altLang="en-US" dirty="0"/>
              <a:t>根拠の弱さ: mg/kg の上限は、無作為化試験に基づく値ではない。投与部位（吸収の多さ）と、年齢・臓器障害・妊娠などの患者要因で下げる（Rosenberg 2004）。神経周囲に投与した後の血中濃度は、年齢・体重・妊娠とあまり相関しない（Tucker 1979）。</a:t>
            </a:r>
          </a:p>
          <a:p>
            <a:r>
              <a:rPr lang="ja-JP" altLang="en-US" dirty="0"/>
              <a:t>減らす患者: 小柄な患者、高齢者、乳児（AAG 低値）、妊婦、重い心不全では目安からさらに減らす。肝・腎・心疾患でクリアランスが落ちることが特に問題になるのは反復投与や持続投与のときで、術後の持続硬膜外や持続神経ブロックでは蓄積に注意する（Rosenberg 2004）。</a:t>
            </a:r>
          </a:p>
          <a:p>
            <a:r>
              <a:rPr lang="ja-JP" altLang="en-US" dirty="0"/>
              <a:t>体重: 肥満患者で実体重を使うと過量になる。除脂肪体重か理想体重に近い値を使う（→ 3-1）。</a:t>
            </a:r>
          </a:p>
          <a:p>
            <a:r>
              <a:rPr lang="ja-JP" altLang="en-US" dirty="0"/>
              <a:t>複数の薬を混ぜるとき: それぞれの上限に対する割合を足して 100% を超えない（例 リドカインを上限の 50%、ブピバカインを上限の 50%）。混ぜても毒性はほぼ相加的で、相乗的には強まらない（de Jong 1981、マウスの実験）。表面麻酔や創部の浸潤など、外科医が使う分も合計に入れる。</a:t>
            </a:r>
          </a:p>
          <a:p>
            <a:r>
              <a:rPr lang="ja-JP" altLang="en-US" dirty="0"/>
              <a:t>参考: de Jong RH, et al. Anesthesiology 1981;54:177-81 / Tucker GT, et al. Clin Pharmacokinet 1979;4:241-78 / 日本麻酔科学会「麻酔薬および麻酔関連薬使用ガイドライン 第4版」Ⅴ（2025）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 → mg/mL: 1% は 1 g/100 mL = 10 mg/mL。0.25% は 2.5 mg/mL、0.5% は 5 mg/mL、2% は 20 mg/mL。</a:t>
            </a:r>
          </a:p>
          <a:p>
            <a:r>
              <a:rPr lang="ja-JP" altLang="en-US" dirty="0"/>
              <a:t>例 1: 60 kg でブピバカイン 2 mg/kg = 120 mg。0.25% なら 48 mL、0.5% なら 24 mL。</a:t>
            </a:r>
          </a:p>
          <a:p>
            <a:r>
              <a:rPr lang="ja-JP" altLang="en-US" dirty="0"/>
              <a:t>例 2: 50 kg でリドカイン。体重の目安（教科書の値、添付文書外）3 mg/kg なら 150 mg、添付文書の 1 回量は 200 mg。低い方の 150 mg を上限にすると、1% で 15 mL、2% で 7.5 mL。アドレナリン添加（1% E）なら添付文書 500 mg、教科書の目安 7 mg/kg = 350 mg → 350 mg = 35 mL。</a:t>
            </a:r>
          </a:p>
          <a:p>
            <a:r>
              <a:rPr lang="ja-JP" altLang="en-US" dirty="0"/>
              <a:t>研修医に: 自分が浸潤麻酔をする前に、必ず「この患者の上限は何 mL か」を計算してから針を持つ。外科医が追加で使う分も数える。</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部位: 局所麻酔薬の血中濃度は、投与した部位の血管の多さで決まる。吸収の多い順は、静注＞気管内＞肋間＞傍頸管＞仙骨硬膜外＞腰部硬膜外＞腕神経叢＞坐骨・大腿＞皮下（教科書の順序。原典は Braid 1965。肋間〜坐骨・大腿の並びは Riff 2022 にも同じ記載）【要確認: 気管内と皮下を含む全体の順序の出典（使う教科書の書名・版・表番号）。Braid 1965 は PubMed に抄録がなく、本文は未確認】。血管内誤注入は吸収ではなく直接入るので、どれよりも速い。気道の表面麻酔のリドカインも総量に入れる。TAP など筋膜面ブロックも大量に入れると血中濃度が高くなる（ロピバカイン 3 mg/kg の TAP ブロックで、神経毒性がありうる血中濃度に達した: Griffiths 2010）。</a:t>
            </a:r>
          </a:p>
          <a:p>
            <a:r>
              <a:rPr lang="ja-JP" altLang="en-US" dirty="0"/>
              <a:t>血管内誤注入の予防: 注入前と注入中に吸引する（陰圧で血液が引けないことを確かめる）、少量ずつ分けて注入する（5 mL 未満ずつ、注入の間に 30〜45 秒あける）、ゆっくり入れる、患者と話しながら症状（口のしびれ、耳鳴り、金属味、めまい）を聞く、超音波で針先と薬の広がりを見る。吸引は偽陰性が約 2% あり、陰性でも血管内は否定できない（El-Boghdadly 2018）。</a:t>
            </a:r>
          </a:p>
          <a:p>
            <a:r>
              <a:rPr lang="ja-JP" altLang="en-US" dirty="0"/>
              <a:t>症状の出方: 中毒は注入直後に起こることが最も多い。約 3 分の 1 は中枢症状から心血管症状へ進み、約 5 分の 1 は中枢症状なしに心血管症状だけで始まる（El-Boghdadly 2018）。会話で症状を聞くだけでは拾えない例があるので、心電図と血圧も見る。</a:t>
            </a:r>
          </a:p>
          <a:p>
            <a:r>
              <a:rPr lang="ja-JP" altLang="en-US" dirty="0"/>
              <a:t>患者側: 年齢の両極端（高齢、新生児・乳児）、小柄・筋肉量の少なさ、心疾患（特に心不全）、肝障害（代謝の低下）、妊娠、一部の代謝性疾患、アシドーシス（遊離型の増加など）で中毒が出やすい（Neal 2018、Macfarlane 2021）。</a:t>
            </a:r>
          </a:p>
          <a:p>
            <a:r>
              <a:rPr lang="ja-JP" altLang="en-US" dirty="0"/>
              <a:t>時間: 血管内誤注入なら注入中〜直後。組織からの吸収では、ピークまでの時間は部位で違う。TAP ブロックで平均 30 分（遅い人で 90 分）、腹直筋鞘ブロックで約 60 分（El-Boghdadly 2018、Griffiths 2010）。持続投与では数時間〜数日後にも起こる。超音波ガイド、局所浸潤、持続投与が増え、発症は遅れる傾向にある（Neal 2018、Macfarlane 2021）。注入後少なくとも 30 分は監視を続け、患者から離れない。</a:t>
            </a:r>
          </a:p>
          <a:p>
            <a:r>
              <a:rPr lang="ja-JP" altLang="en-US" dirty="0"/>
              <a:t>中毒の症状と治療（脂肪乳剤）は次の 6-8 で扱う。</a:t>
            </a:r>
          </a:p>
          <a:p>
            <a:r>
              <a:rPr lang="ja-JP" altLang="en-US" dirty="0"/>
              <a:t>参考: Riff C, et al. Pharmaceutics 2022;14:708 / Griffiths JD, et al. Br J Anaesth 2010;105:853-6 / Neal JM, et al. Reg Anesth Pain Med 2018;43:113-23 / Macfarlane AJR, et al. Anaesthesia 2021;76 Suppl 1:27-39 / 日本麻酔科学会「局所麻酔薬中毒への対応プラクティカルガイド」（2017 年 6 月） / 日本麻酔科学会「麻酔薬および麻酔関連薬使用ガイドライン 第4版」Ⅴ（2025）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利点: 血管を収縮させて吸収を遅らせ、血中濃度のピークを下げる（最大用量が上がるのはこのため）。作用時間が延び、出血が減る。硬膜外のテストドーズ（アドレナリン 15 μg 入り）が血管内に入ると、若い健常者では心拍数が平均 30 回/分以上上がる。20 回/分以上上がれば血管内注入と判定する（Guinard 1990）。β 遮断薬を使っている患者では心拍数が上がらず、かえって下がることがある。高齢者（Guinard 1995）や全身麻酔中（Liu 1996）は上がり方が小さく、見逃すことがある。</a:t>
            </a:r>
          </a:p>
          <a:p>
            <a:r>
              <a:rPr lang="ja-JP" altLang="en-US" dirty="0"/>
              <a:t>濃度: 1:200,000 = 5 μg/mL。大量に使うときは 2.5〜5 μg/mL の添加が勧められている（Rosenberg 2004）。国内の市販品（キシロカイン注射液エピレナミン含有）は、「0.5%」「1%」が 1:100,000（アドレナリン 0.01 mg/mL = 10 μg/mL）、「2%」が 1:80,000（0.0125 mg/mL = 12.5 μg/mL）で、どれも 1:200,000 より濃い。自分で混ぜるときは、0.1 mg（1 mg/mL の 0.1 mL）を 20 mL に入れると 1:200,000。</a:t>
            </a:r>
          </a:p>
          <a:p>
            <a:r>
              <a:rPr lang="ja-JP" altLang="en-US" dirty="0"/>
              <a:t>注意: 指趾、陰茎、耳などの終末動脈の領域では、虚血の恐れから伝統的にアドレナリンを避けてきた。国内のキシロカイン注射液エピレナミン含有の添付文書では、伝達麻酔・浸潤麻酔で陰茎の麻酔を目的とする患者は禁忌。耳・指趾は 2020 年 12 月の改訂で禁忌から外れた。全身性または末梢性の血行障害がある患者、複数の指趾に同時に投与する患者、小児では、壊死のおそれがあるので投与の可否を慎重に検討し、必要に応じて減量する。リドカイン以外の局所麻酔薬にアドレナリン（ボスミン）を混ぜて使う場合は、ボスミンの添付文書で耳・指趾・陰茎に投与しないこととされている【要確認: キシロカイン注射液エピレナミン含有の「2. 禁忌」「9.1」「9.7」と、ボスミン注 1mg の該当箇所の原文（査読では厚労省の 2020 年 12 月の改訂指示を検索スニペットで確認しただけ）】。海外では、指と手への低用量アドレナリン（1:100,000 以下）3,110 例で組織の喪失は 0 例だった（Lalonde 2005）。一方、Cochrane（2015）は、使用も回避も推奨できるだけの根拠はないとしている。施設の方針にも従う。</a:t>
            </a:r>
          </a:p>
          <a:p>
            <a:r>
              <a:rPr lang="ja-JP" altLang="en-US" dirty="0"/>
              <a:t>全身作用: アドレナリンの全身作用（頻脈、高血圧、不整脈）が虚血性心疾患や不整脈の患者で問題になる。高血圧、動脈硬化、心不全、甲状腺機能亢進症、糖尿病、血管攣縮の既往がある患者でも問題になりうる【要確認: これらがキシロカイン注射液エピレナミン含有の添付文書で禁忌か注意（9.1 合併症・既往歴等のある患者）か、「10. 相互作用」とあわせて原文で確かめる。第1査読者の記憶のみで未照合】。揮発性麻酔薬との相互作用で不整脈が起こりやすい（ハロタンで顕著、セボフルランでは少ない）。</a:t>
            </a:r>
          </a:p>
          <a:p>
            <a:r>
              <a:rPr lang="ja-JP" altLang="en-US" dirty="0"/>
              <a:t>参考: Guinard JP, et al. Reg Anesth 1995;20:193-8 / Liu SS, et al. Anesthesiology 1996;84:81-7 / Rosenberg PH, et al. Reg Anesth Pain Med 2004;29:564-75 / Lalonde D, et al. J Hand Surg Am 2005;30:1061-7 / Prabhakar H, et al. Cochrane Database Syst Rev 2015;(3):CD010645 / 日本麻酔科学会「麻酔薬および麻酔関連薬使用ガイドライン 第4版」Ⅴ（2025）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分）。仕組み、種類、上限、計算、限界。研修医が自分で使う薬なので、「上限を mL で言える」ことを合格ラインにする。次は 6-8（局所麻酔薬中毒 LAST）で、症状と脂肪乳剤の使い方を続けて扱う。</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局所麻酔薬</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3-11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どうやって効くか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Ueno T, et al. J Inflamm Res 2008;1:41-8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第4版」Ⅴ 局所麻酔薬（2025）</a:t>
            </a:r>
            <a:endParaRPr lang="ja-JP" sz="1600" dirty="0"/>
          </a:p>
        </p:txBody>
      </p:sp>
      <p:sp>
        <p:nvSpPr>
          <p:cNvPr id="11" name="Shape 9"/>
          <p:cNvSpPr/>
          <p:nvPr/>
        </p:nvSpPr>
        <p:spPr>
          <a:xfrm>
            <a:off x="502920" y="3429000"/>
            <a:ext cx="3108960" cy="640080"/>
          </a:xfrm>
          <a:prstGeom prst="rect">
            <a:avLst/>
          </a:prstGeom>
          <a:solidFill>
            <a:srgbClr val="D9D9D9"/>
          </a:solidFill>
          <a:ln/>
        </p:spPr>
      </p:sp>
      <p:sp>
        <p:nvSpPr>
          <p:cNvPr id="12" name="Shape 10"/>
          <p:cNvSpPr/>
          <p:nvPr/>
        </p:nvSpPr>
        <p:spPr>
          <a:xfrm>
            <a:off x="5074920" y="3429000"/>
            <a:ext cx="457200" cy="640080"/>
          </a:xfrm>
          <a:prstGeom prst="rect">
            <a:avLst/>
          </a:prstGeom>
          <a:solidFill>
            <a:srgbClr val="D9D9D9"/>
          </a:solidFill>
          <a:ln/>
        </p:spPr>
      </p:sp>
      <p:sp>
        <p:nvSpPr>
          <p:cNvPr id="13" name="Shape 11"/>
          <p:cNvSpPr/>
          <p:nvPr/>
        </p:nvSpPr>
        <p:spPr>
          <a:xfrm>
            <a:off x="502920" y="3429000"/>
            <a:ext cx="3108960" cy="0"/>
          </a:xfrm>
          <a:prstGeom prst="line">
            <a:avLst/>
          </a:prstGeom>
          <a:noFill/>
          <a:ln w="25400">
            <a:solidFill>
              <a:srgbClr val="7F7F7F"/>
            </a:solidFill>
            <a:prstDash val="solid"/>
          </a:ln>
        </p:spPr>
      </p:sp>
      <p:sp>
        <p:nvSpPr>
          <p:cNvPr id="14" name="Shape 12"/>
          <p:cNvSpPr/>
          <p:nvPr/>
        </p:nvSpPr>
        <p:spPr>
          <a:xfrm>
            <a:off x="5074920" y="3429000"/>
            <a:ext cx="457200" cy="0"/>
          </a:xfrm>
          <a:prstGeom prst="line">
            <a:avLst/>
          </a:prstGeom>
          <a:noFill/>
          <a:ln w="25400">
            <a:solidFill>
              <a:srgbClr val="7F7F7F"/>
            </a:solidFill>
            <a:prstDash val="solid"/>
          </a:ln>
        </p:spPr>
      </p:sp>
      <p:sp>
        <p:nvSpPr>
          <p:cNvPr id="15" name="Shape 13"/>
          <p:cNvSpPr/>
          <p:nvPr/>
        </p:nvSpPr>
        <p:spPr>
          <a:xfrm>
            <a:off x="502920" y="4069080"/>
            <a:ext cx="3108960" cy="0"/>
          </a:xfrm>
          <a:prstGeom prst="line">
            <a:avLst/>
          </a:prstGeom>
          <a:noFill/>
          <a:ln w="25400">
            <a:solidFill>
              <a:srgbClr val="7F7F7F"/>
            </a:solidFill>
            <a:prstDash val="solid"/>
          </a:ln>
        </p:spPr>
      </p:sp>
      <p:sp>
        <p:nvSpPr>
          <p:cNvPr id="16" name="Shape 14"/>
          <p:cNvSpPr/>
          <p:nvPr/>
        </p:nvSpPr>
        <p:spPr>
          <a:xfrm>
            <a:off x="5074920" y="4069080"/>
            <a:ext cx="457200" cy="0"/>
          </a:xfrm>
          <a:prstGeom prst="line">
            <a:avLst/>
          </a:prstGeom>
          <a:noFill/>
          <a:ln w="25400">
            <a:solidFill>
              <a:srgbClr val="7F7F7F"/>
            </a:solidFill>
            <a:prstDash val="solid"/>
          </a:ln>
        </p:spPr>
      </p:sp>
      <p:sp>
        <p:nvSpPr>
          <p:cNvPr id="17" name="Shape 15"/>
          <p:cNvSpPr/>
          <p:nvPr/>
        </p:nvSpPr>
        <p:spPr>
          <a:xfrm>
            <a:off x="3611880" y="3200400"/>
            <a:ext cx="502920" cy="1097280"/>
          </a:xfrm>
          <a:prstGeom prst="roundRect">
            <a:avLst>
              <a:gd name="adj" fmla="val 14545"/>
            </a:avLst>
          </a:prstGeom>
          <a:solidFill>
            <a:srgbClr val="0072B2"/>
          </a:solidFill>
          <a:ln/>
        </p:spPr>
      </p:sp>
      <p:sp>
        <p:nvSpPr>
          <p:cNvPr id="18" name="Shape 16"/>
          <p:cNvSpPr/>
          <p:nvPr/>
        </p:nvSpPr>
        <p:spPr>
          <a:xfrm>
            <a:off x="4572000" y="3200400"/>
            <a:ext cx="502920" cy="1097280"/>
          </a:xfrm>
          <a:prstGeom prst="roundRect">
            <a:avLst>
              <a:gd name="adj" fmla="val 14545"/>
            </a:avLst>
          </a:prstGeom>
          <a:solidFill>
            <a:srgbClr val="0072B2"/>
          </a:solidFill>
          <a:ln/>
        </p:spPr>
      </p:sp>
      <p:sp>
        <p:nvSpPr>
          <p:cNvPr id="19" name="Shape 17"/>
          <p:cNvSpPr/>
          <p:nvPr/>
        </p:nvSpPr>
        <p:spPr>
          <a:xfrm>
            <a:off x="2400300" y="2446020"/>
            <a:ext cx="502920" cy="502920"/>
          </a:xfrm>
          <a:prstGeom prst="ellipse">
            <a:avLst/>
          </a:prstGeom>
          <a:solidFill>
            <a:srgbClr val="FFFFFF"/>
          </a:solidFill>
          <a:ln w="38100">
            <a:solidFill>
              <a:srgbClr val="D55E00"/>
            </a:solidFill>
            <a:prstDash val="solid"/>
          </a:ln>
        </p:spPr>
      </p:sp>
      <p:sp>
        <p:nvSpPr>
          <p:cNvPr id="20" name="Shape 18"/>
          <p:cNvSpPr/>
          <p:nvPr/>
        </p:nvSpPr>
        <p:spPr>
          <a:xfrm>
            <a:off x="2651760" y="3063240"/>
            <a:ext cx="0" cy="1280160"/>
          </a:xfrm>
          <a:prstGeom prst="line">
            <a:avLst/>
          </a:prstGeom>
          <a:noFill/>
          <a:ln w="38100">
            <a:solidFill>
              <a:srgbClr val="404040"/>
            </a:solidFill>
            <a:prstDash val="solid"/>
          </a:ln>
        </p:spPr>
      </p:sp>
      <p:sp>
        <p:nvSpPr>
          <p:cNvPr id="21" name="Shape 19"/>
          <p:cNvSpPr/>
          <p:nvPr/>
        </p:nvSpPr>
        <p:spPr>
          <a:xfrm>
            <a:off x="2532888" y="4325112"/>
            <a:ext cx="237744" cy="201168"/>
          </a:xfrm>
          <a:custGeom>
            <a:avLst/>
            <a:gdLst/>
            <a:ahLst/>
            <a:cxnLst/>
            <a:rect l="l" t="t" r="r" b="b"/>
            <a:pathLst>
              <a:path w="237744" h="201168">
                <a:moveTo>
                  <a:pt x="118872" y="201168"/>
                </a:moveTo>
                <a:lnTo>
                  <a:pt x="0" y="0"/>
                </a:lnTo>
                <a:lnTo>
                  <a:pt x="237744" y="0"/>
                </a:lnTo>
                <a:close/>
              </a:path>
            </a:pathLst>
          </a:custGeom>
          <a:solidFill>
            <a:srgbClr val="404040"/>
          </a:solidFill>
          <a:ln w="12700">
            <a:solidFill>
              <a:srgbClr val="404040"/>
            </a:solidFill>
            <a:prstDash val="solid"/>
          </a:ln>
        </p:spPr>
      </p:sp>
      <p:sp>
        <p:nvSpPr>
          <p:cNvPr id="22" name="Shape 20"/>
          <p:cNvSpPr/>
          <p:nvPr/>
        </p:nvSpPr>
        <p:spPr>
          <a:xfrm>
            <a:off x="2400300" y="4594860"/>
            <a:ext cx="502920" cy="502920"/>
          </a:xfrm>
          <a:prstGeom prst="ellipse">
            <a:avLst/>
          </a:prstGeom>
          <a:solidFill>
            <a:srgbClr val="D55E00"/>
          </a:solidFill>
          <a:ln/>
        </p:spPr>
      </p:sp>
      <p:sp>
        <p:nvSpPr>
          <p:cNvPr id="23" name="Shape 21"/>
          <p:cNvSpPr/>
          <p:nvPr/>
        </p:nvSpPr>
        <p:spPr>
          <a:xfrm>
            <a:off x="3017520" y="4224528"/>
            <a:ext cx="1325880" cy="621792"/>
          </a:xfrm>
          <a:custGeom>
            <a:avLst/>
            <a:gdLst/>
            <a:ahLst/>
            <a:cxnLst/>
            <a:rect l="l" t="t" r="r" b="b"/>
            <a:pathLst>
              <a:path w="1325880" h="621792">
                <a:moveTo>
                  <a:pt x="0" y="621792"/>
                </a:moveTo>
                <a:lnTo>
                  <a:pt x="1325880" y="621792"/>
                </a:lnTo>
                <a:lnTo>
                  <a:pt x="1325880" y="0"/>
                </a:lnTo>
              </a:path>
            </a:pathLst>
          </a:custGeom>
          <a:noFill/>
          <a:ln w="38100">
            <a:solidFill>
              <a:srgbClr val="404040"/>
            </a:solidFill>
            <a:prstDash val="solid"/>
          </a:ln>
        </p:spPr>
      </p:sp>
      <p:sp>
        <p:nvSpPr>
          <p:cNvPr id="24" name="Shape 22"/>
          <p:cNvSpPr/>
          <p:nvPr/>
        </p:nvSpPr>
        <p:spPr>
          <a:xfrm>
            <a:off x="4224528" y="4041648"/>
            <a:ext cx="237744" cy="201168"/>
          </a:xfrm>
          <a:custGeom>
            <a:avLst/>
            <a:gdLst/>
            <a:ahLst/>
            <a:cxnLst/>
            <a:rect l="l" t="t" r="r" b="b"/>
            <a:pathLst>
              <a:path w="237744" h="201168">
                <a:moveTo>
                  <a:pt x="118872" y="0"/>
                </a:moveTo>
                <a:lnTo>
                  <a:pt x="237744" y="201168"/>
                </a:lnTo>
                <a:lnTo>
                  <a:pt x="0" y="201168"/>
                </a:lnTo>
                <a:close/>
              </a:path>
            </a:pathLst>
          </a:custGeom>
          <a:solidFill>
            <a:srgbClr val="404040"/>
          </a:solidFill>
          <a:ln w="12700">
            <a:solidFill>
              <a:srgbClr val="404040"/>
            </a:solidFill>
            <a:prstDash val="solid"/>
          </a:ln>
        </p:spPr>
      </p:sp>
      <p:sp>
        <p:nvSpPr>
          <p:cNvPr id="25" name="Shape 23"/>
          <p:cNvSpPr/>
          <p:nvPr/>
        </p:nvSpPr>
        <p:spPr>
          <a:xfrm>
            <a:off x="4160520" y="3566160"/>
            <a:ext cx="365760" cy="365760"/>
          </a:xfrm>
          <a:prstGeom prst="ellipse">
            <a:avLst/>
          </a:prstGeom>
          <a:solidFill>
            <a:srgbClr val="D55E00"/>
          </a:solidFill>
          <a:ln/>
        </p:spPr>
      </p:sp>
      <p:sp>
        <p:nvSpPr>
          <p:cNvPr id="26" name="Text 24"/>
          <p:cNvSpPr txBox="1"/>
          <p:nvPr/>
        </p:nvSpPr>
        <p:spPr>
          <a:xfrm>
            <a:off x="1737360" y="1783080"/>
            <a:ext cx="1828800" cy="420624"/>
          </a:xfrm>
          <a:prstGeom prst="rect">
            <a:avLst/>
          </a:prstGeom>
          <a:noFill/>
          <a:ln/>
        </p:spPr>
        <p:txBody>
          <a:bodyPr wrap="square" lIns="0" tIns="0" rIns="0" bIns="0" rtlCol="0" anchor="ctr"/>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非イオン型</a:t>
            </a:r>
            <a:endParaRPr lang="ja-JP" sz="2200" dirty="0"/>
          </a:p>
        </p:txBody>
      </p:sp>
      <p:sp>
        <p:nvSpPr>
          <p:cNvPr id="27" name="Text 25"/>
          <p:cNvSpPr txBox="1"/>
          <p:nvPr/>
        </p:nvSpPr>
        <p:spPr>
          <a:xfrm>
            <a:off x="3429000" y="2560320"/>
            <a:ext cx="1828800" cy="420624"/>
          </a:xfrm>
          <a:prstGeom prst="rect">
            <a:avLst/>
          </a:prstGeom>
          <a:noFill/>
          <a:ln/>
        </p:spPr>
        <p:txBody>
          <a:bodyPr wrap="square" lIns="0" tIns="0" rIns="0" bIns="0" rtlCol="0" anchor="ctr"/>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Na チャネル</a:t>
            </a:r>
            <a:endParaRPr lang="ja-JP" sz="2200" dirty="0"/>
          </a:p>
        </p:txBody>
      </p:sp>
      <p:sp>
        <p:nvSpPr>
          <p:cNvPr id="28" name="Text 26"/>
          <p:cNvSpPr txBox="1"/>
          <p:nvPr/>
        </p:nvSpPr>
        <p:spPr>
          <a:xfrm>
            <a:off x="502920" y="2788920"/>
            <a:ext cx="1463040" cy="420624"/>
          </a:xfrm>
          <a:prstGeom prst="rect">
            <a:avLst/>
          </a:prstGeom>
          <a:noFill/>
          <a:ln/>
        </p:spPr>
        <p:txBody>
          <a:bodyPr wrap="square" lIns="0" tIns="0" rIns="0" bIns="0" rtlCol="0" anchor="ctr"/>
          <a:lstStyle/>
          <a:p>
            <a:pPr algn="l" indent="0" marL="0">
              <a:buNone/>
            </a:pPr>
            <a:r>
              <a:rPr lang="ja-JP" altLang="en-US" sz="2200" dirty="0">
                <a:solidFill>
                  <a:srgbClr val="595959"/>
                </a:solidFill>
                <a:latin typeface="メイリオ" pitchFamily="34" charset="0"/>
                <a:ea typeface="メイリオ" pitchFamily="34" charset="-122"/>
                <a:cs typeface="メイリオ" pitchFamily="34" charset="-120"/>
              </a:rPr>
              <a:t>細胞の外</a:t>
            </a:r>
            <a:endParaRPr lang="ja-JP" sz="2200" dirty="0"/>
          </a:p>
        </p:txBody>
      </p:sp>
      <p:sp>
        <p:nvSpPr>
          <p:cNvPr id="29" name="Text 27"/>
          <p:cNvSpPr txBox="1"/>
          <p:nvPr/>
        </p:nvSpPr>
        <p:spPr>
          <a:xfrm>
            <a:off x="502920" y="4288536"/>
            <a:ext cx="1737360" cy="420624"/>
          </a:xfrm>
          <a:prstGeom prst="rect">
            <a:avLst/>
          </a:prstGeom>
          <a:noFill/>
          <a:ln/>
        </p:spPr>
        <p:txBody>
          <a:bodyPr wrap="square" lIns="0" tIns="0" rIns="0" bIns="0" rtlCol="0" anchor="ctr"/>
          <a:lstStyle/>
          <a:p>
            <a:pPr algn="l" indent="0" marL="0">
              <a:buNone/>
            </a:pPr>
            <a:r>
              <a:rPr lang="ja-JP" altLang="en-US" sz="2200" dirty="0">
                <a:solidFill>
                  <a:srgbClr val="595959"/>
                </a:solidFill>
                <a:latin typeface="メイリオ" pitchFamily="34" charset="0"/>
                <a:ea typeface="メイリオ" pitchFamily="34" charset="-122"/>
                <a:cs typeface="メイリオ" pitchFamily="34" charset="-120"/>
              </a:rPr>
              <a:t>細胞の内側</a:t>
            </a:r>
            <a:endParaRPr lang="ja-JP" sz="2200" dirty="0"/>
          </a:p>
        </p:txBody>
      </p:sp>
      <p:sp>
        <p:nvSpPr>
          <p:cNvPr id="30" name="Text 28"/>
          <p:cNvSpPr txBox="1"/>
          <p:nvPr/>
        </p:nvSpPr>
        <p:spPr>
          <a:xfrm>
            <a:off x="1920240" y="5321808"/>
            <a:ext cx="1463040" cy="420624"/>
          </a:xfrm>
          <a:prstGeom prst="rect">
            <a:avLst/>
          </a:prstGeom>
          <a:noFill/>
          <a:ln/>
        </p:spPr>
        <p:txBody>
          <a:bodyPr wrap="square" lIns="0" tIns="0" rIns="0" bIns="0" rtlCol="0" anchor="ctr"/>
          <a:lstStyle/>
          <a:p>
            <a:pPr algn="ctr" indent="0" marL="0">
              <a:buNone/>
            </a:pPr>
            <a:r>
              <a:rPr lang="ja-JP" altLang="en-US" sz="2200" b="1" dirty="0">
                <a:solidFill>
                  <a:srgbClr val="D55E00"/>
                </a:solidFill>
                <a:latin typeface="メイリオ" pitchFamily="34" charset="0"/>
                <a:ea typeface="メイリオ" pitchFamily="34" charset="-122"/>
                <a:cs typeface="メイリオ" pitchFamily="34" charset="-120"/>
              </a:rPr>
              <a:t>イオン型</a:t>
            </a:r>
            <a:endParaRPr lang="ja-JP" sz="2200" dirty="0"/>
          </a:p>
        </p:txBody>
      </p:sp>
      <p:sp>
        <p:nvSpPr>
          <p:cNvPr id="31" name="Text 29"/>
          <p:cNvSpPr txBox="1"/>
          <p:nvPr/>
        </p:nvSpPr>
        <p:spPr>
          <a:xfrm>
            <a:off x="5806440" y="2295144"/>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32" name="Text 30"/>
          <p:cNvSpPr txBox="1"/>
          <p:nvPr/>
        </p:nvSpPr>
        <p:spPr>
          <a:xfrm>
            <a:off x="6190488" y="2295144"/>
            <a:ext cx="54955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Na チャネルを細胞の</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内側から塞ぎ、活動電位を止める</a:t>
            </a:r>
            <a:endParaRPr lang="ja-JP" sz="2400" dirty="0"/>
          </a:p>
        </p:txBody>
      </p:sp>
      <p:sp>
        <p:nvSpPr>
          <p:cNvPr id="33" name="Text 31"/>
          <p:cNvSpPr txBox="1"/>
          <p:nvPr/>
        </p:nvSpPr>
        <p:spPr>
          <a:xfrm>
            <a:off x="5806440" y="3538728"/>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34" name="Text 32"/>
          <p:cNvSpPr txBox="1"/>
          <p:nvPr/>
        </p:nvSpPr>
        <p:spPr>
          <a:xfrm>
            <a:off x="6190488" y="3538728"/>
            <a:ext cx="5495544"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非イオン型が膜を通り、</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イオン型がチャネルに効く</a:t>
            </a:r>
            <a:endParaRPr lang="ja-JP" sz="2400" dirty="0"/>
          </a:p>
        </p:txBody>
      </p:sp>
      <p:sp>
        <p:nvSpPr>
          <p:cNvPr id="35" name="Text 33"/>
          <p:cNvSpPr txBox="1"/>
          <p:nvPr/>
        </p:nvSpPr>
        <p:spPr>
          <a:xfrm>
            <a:off x="5806440" y="4782312"/>
            <a:ext cx="384048"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a:t>
            </a:r>
            <a:endParaRPr lang="ja-JP" sz="2400" dirty="0"/>
          </a:p>
        </p:txBody>
      </p:sp>
      <p:sp>
        <p:nvSpPr>
          <p:cNvPr id="36" name="Text 34"/>
          <p:cNvSpPr txBox="1"/>
          <p:nvPr/>
        </p:nvSpPr>
        <p:spPr>
          <a:xfrm>
            <a:off x="6190488" y="4782312"/>
            <a:ext cx="5495544"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炎症（酸性）の組織では効きにくい</a:t>
            </a:r>
            <a:endParaRPr lang="ja-JP"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性質を決める 3 つ</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Strichartz GR, et al. Anesth Analg 1990;71:158-70</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Mazoit JX, et al. Clin Pharmacokinet 2004;43:17-32</a:t>
            </a:r>
            <a:endParaRPr lang="ja-JP" sz="1600" dirty="0"/>
          </a:p>
        </p:txBody>
      </p:sp>
      <p:sp>
        <p:nvSpPr>
          <p:cNvPr id="11" name="Shape 9"/>
          <p:cNvSpPr/>
          <p:nvPr/>
        </p:nvSpPr>
        <p:spPr>
          <a:xfrm>
            <a:off x="502920" y="2194560"/>
            <a:ext cx="3566160" cy="3209544"/>
          </a:xfrm>
          <a:prstGeom prst="roundRect">
            <a:avLst>
              <a:gd name="adj" fmla="val 2279"/>
            </a:avLst>
          </a:prstGeom>
          <a:solidFill>
            <a:srgbClr val="FFFFFF"/>
          </a:solidFill>
          <a:ln w="31750">
            <a:solidFill>
              <a:srgbClr val="0072B2"/>
            </a:solidFill>
            <a:prstDash val="solid"/>
          </a:ln>
        </p:spPr>
      </p:sp>
      <p:sp>
        <p:nvSpPr>
          <p:cNvPr id="12" name="Text 10"/>
          <p:cNvSpPr txBox="1"/>
          <p:nvPr/>
        </p:nvSpPr>
        <p:spPr>
          <a:xfrm>
            <a:off x="667512" y="2359152"/>
            <a:ext cx="3236976" cy="502920"/>
          </a:xfrm>
          <a:prstGeom prst="rect">
            <a:avLst/>
          </a:prstGeom>
          <a:noFill/>
          <a:ln/>
        </p:spPr>
        <p:txBody>
          <a:bodyPr wrap="square" lIns="0" tIns="0" rIns="0" bIns="0" rtlCol="0" anchor="t"/>
          <a:lstStyle/>
          <a:p>
            <a:pPr algn="l" indent="0" marL="0">
              <a:buNone/>
            </a:pPr>
            <a:r>
              <a:rPr lang="ja-JP" altLang="en-US" sz="2600" b="1" dirty="0">
                <a:solidFill>
                  <a:srgbClr val="262626"/>
                </a:solidFill>
                <a:latin typeface="メイリオ" pitchFamily="34" charset="0"/>
                <a:ea typeface="メイリオ" pitchFamily="34" charset="-122"/>
                <a:cs typeface="メイリオ" pitchFamily="34" charset="-120"/>
              </a:rPr>
              <a:t>pKa → 発現の速さ</a:t>
            </a:r>
            <a:endParaRPr lang="ja-JP" sz="2600" dirty="0"/>
          </a:p>
        </p:txBody>
      </p:sp>
      <p:sp>
        <p:nvSpPr>
          <p:cNvPr id="13" name="Text 11"/>
          <p:cNvSpPr txBox="1"/>
          <p:nvPr/>
        </p:nvSpPr>
        <p:spPr>
          <a:xfrm>
            <a:off x="667512" y="3008376"/>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低いほど速い</a:t>
            </a:r>
            <a:endParaRPr lang="ja-JP" sz="2400" dirty="0"/>
          </a:p>
        </p:txBody>
      </p:sp>
      <p:sp>
        <p:nvSpPr>
          <p:cNvPr id="14" name="Text 12"/>
          <p:cNvSpPr txBox="1"/>
          <p:nvPr/>
        </p:nvSpPr>
        <p:spPr>
          <a:xfrm>
            <a:off x="667512" y="3895344"/>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リドカイン 7.9</a:t>
            </a:r>
            <a:endParaRPr lang="ja-JP" sz="2400" dirty="0"/>
          </a:p>
        </p:txBody>
      </p:sp>
      <p:sp>
        <p:nvSpPr>
          <p:cNvPr id="15" name="Text 13"/>
          <p:cNvSpPr txBox="1"/>
          <p:nvPr/>
        </p:nvSpPr>
        <p:spPr>
          <a:xfrm>
            <a:off x="667512" y="4782312"/>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ブピバカイン 8.1</a:t>
            </a:r>
            <a:endParaRPr lang="ja-JP" sz="2400" dirty="0"/>
          </a:p>
        </p:txBody>
      </p:sp>
      <p:sp>
        <p:nvSpPr>
          <p:cNvPr id="16" name="Shape 14"/>
          <p:cNvSpPr/>
          <p:nvPr/>
        </p:nvSpPr>
        <p:spPr>
          <a:xfrm>
            <a:off x="4306824" y="2194560"/>
            <a:ext cx="3566160" cy="3209544"/>
          </a:xfrm>
          <a:prstGeom prst="roundRect">
            <a:avLst>
              <a:gd name="adj" fmla="val 2279"/>
            </a:avLst>
          </a:prstGeom>
          <a:solidFill>
            <a:srgbClr val="FFFFFF"/>
          </a:solidFill>
          <a:ln w="31750">
            <a:solidFill>
              <a:srgbClr val="D55E00"/>
            </a:solidFill>
            <a:prstDash val="solid"/>
          </a:ln>
        </p:spPr>
      </p:sp>
      <p:sp>
        <p:nvSpPr>
          <p:cNvPr id="17" name="Text 15"/>
          <p:cNvSpPr txBox="1"/>
          <p:nvPr/>
        </p:nvSpPr>
        <p:spPr>
          <a:xfrm>
            <a:off x="4471416" y="2359152"/>
            <a:ext cx="3236976" cy="502920"/>
          </a:xfrm>
          <a:prstGeom prst="rect">
            <a:avLst/>
          </a:prstGeom>
          <a:noFill/>
          <a:ln/>
        </p:spPr>
        <p:txBody>
          <a:bodyPr wrap="square" lIns="0" tIns="0" rIns="0" bIns="0" rtlCol="0" anchor="t"/>
          <a:lstStyle/>
          <a:p>
            <a:pPr algn="l" indent="0" marL="0">
              <a:buNone/>
            </a:pPr>
            <a:r>
              <a:rPr lang="ja-JP" altLang="en-US" sz="2600" b="1" dirty="0">
                <a:solidFill>
                  <a:srgbClr val="262626"/>
                </a:solidFill>
                <a:latin typeface="メイリオ" pitchFamily="34" charset="0"/>
                <a:ea typeface="メイリオ" pitchFamily="34" charset="-122"/>
                <a:cs typeface="メイリオ" pitchFamily="34" charset="-120"/>
              </a:rPr>
              <a:t>脂溶性 → 強さ</a:t>
            </a:r>
            <a:endParaRPr lang="ja-JP" sz="2600" dirty="0"/>
          </a:p>
        </p:txBody>
      </p:sp>
      <p:sp>
        <p:nvSpPr>
          <p:cNvPr id="18" name="Text 16"/>
          <p:cNvSpPr txBox="1"/>
          <p:nvPr/>
        </p:nvSpPr>
        <p:spPr>
          <a:xfrm>
            <a:off x="4471416" y="3008376"/>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高いほど少量で効く</a:t>
            </a:r>
            <a:endParaRPr lang="ja-JP" sz="2400" dirty="0"/>
          </a:p>
        </p:txBody>
      </p:sp>
      <p:sp>
        <p:nvSpPr>
          <p:cNvPr id="19" name="Text 17"/>
          <p:cNvSpPr txBox="1"/>
          <p:nvPr/>
        </p:nvSpPr>
        <p:spPr>
          <a:xfrm>
            <a:off x="4471416" y="3666744"/>
            <a:ext cx="3236976" cy="9144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ブピバカインは</a:t>
            </a:r>
            <a:endParaRPr lang="ja-JP" sz="2400" dirty="0"/>
          </a:p>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リドカインの約 4 倍</a:t>
            </a:r>
            <a:endParaRPr lang="ja-JP" sz="2400" dirty="0"/>
          </a:p>
        </p:txBody>
      </p:sp>
      <p:sp>
        <p:nvSpPr>
          <p:cNvPr id="20" name="Text 18"/>
          <p:cNvSpPr txBox="1"/>
          <p:nvPr/>
        </p:nvSpPr>
        <p:spPr>
          <a:xfrm>
            <a:off x="4471416" y="4782312"/>
            <a:ext cx="3236976" cy="457200"/>
          </a:xfrm>
          <a:prstGeom prst="rect">
            <a:avLst/>
          </a:prstGeom>
          <a:noFill/>
          <a:ln/>
        </p:spPr>
        <p:txBody>
          <a:bodyPr wrap="square" lIns="0" tIns="0" rIns="0" bIns="0" rtlCol="0" anchor="t"/>
          <a:lstStyle/>
          <a:p>
            <a:pPr algn="l" indent="0" marL="0">
              <a:buNone/>
            </a:pPr>
            <a:r>
              <a:rPr lang="ja-JP" altLang="en-US" sz="2400" b="1" dirty="0">
                <a:solidFill>
                  <a:srgbClr val="C00000"/>
                </a:solidFill>
                <a:latin typeface="メイリオ" pitchFamily="34" charset="0"/>
                <a:ea typeface="メイリオ" pitchFamily="34" charset="-122"/>
                <a:cs typeface="メイリオ" pitchFamily="34" charset="-120"/>
              </a:rPr>
              <a:t>中毒も強い</a:t>
            </a:r>
            <a:endParaRPr lang="ja-JP" sz="2400" dirty="0"/>
          </a:p>
        </p:txBody>
      </p:sp>
      <p:sp>
        <p:nvSpPr>
          <p:cNvPr id="21" name="Shape 19"/>
          <p:cNvSpPr/>
          <p:nvPr/>
        </p:nvSpPr>
        <p:spPr>
          <a:xfrm>
            <a:off x="8119872" y="2194560"/>
            <a:ext cx="3566160" cy="3209544"/>
          </a:xfrm>
          <a:prstGeom prst="roundRect">
            <a:avLst>
              <a:gd name="adj" fmla="val 2279"/>
            </a:avLst>
          </a:prstGeom>
          <a:solidFill>
            <a:srgbClr val="FFFFFF"/>
          </a:solidFill>
          <a:ln w="31750">
            <a:solidFill>
              <a:srgbClr val="00A8AA"/>
            </a:solidFill>
            <a:prstDash val="solid"/>
          </a:ln>
        </p:spPr>
      </p:sp>
      <p:sp>
        <p:nvSpPr>
          <p:cNvPr id="22" name="Text 20"/>
          <p:cNvSpPr txBox="1"/>
          <p:nvPr/>
        </p:nvSpPr>
        <p:spPr>
          <a:xfrm>
            <a:off x="8284464" y="2359152"/>
            <a:ext cx="3236976" cy="502920"/>
          </a:xfrm>
          <a:prstGeom prst="rect">
            <a:avLst/>
          </a:prstGeom>
          <a:noFill/>
          <a:ln/>
        </p:spPr>
        <p:txBody>
          <a:bodyPr wrap="square" lIns="0" tIns="0" rIns="0" bIns="0" rtlCol="0" anchor="t"/>
          <a:lstStyle/>
          <a:p>
            <a:pPr algn="l" indent="0" marL="0">
              <a:buNone/>
            </a:pPr>
            <a:r>
              <a:rPr lang="ja-JP" altLang="en-US" sz="2600" b="1" dirty="0">
                <a:solidFill>
                  <a:srgbClr val="262626"/>
                </a:solidFill>
                <a:latin typeface="メイリオ" pitchFamily="34" charset="0"/>
                <a:ea typeface="メイリオ" pitchFamily="34" charset="-122"/>
                <a:cs typeface="メイリオ" pitchFamily="34" charset="-120"/>
              </a:rPr>
              <a:t>蛋白結合 → 持続</a:t>
            </a:r>
            <a:endParaRPr lang="ja-JP" sz="2600" dirty="0"/>
          </a:p>
        </p:txBody>
      </p:sp>
      <p:sp>
        <p:nvSpPr>
          <p:cNvPr id="23" name="Text 21"/>
          <p:cNvSpPr txBox="1"/>
          <p:nvPr/>
        </p:nvSpPr>
        <p:spPr>
          <a:xfrm>
            <a:off x="8284464" y="3008376"/>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高いほど長い</a:t>
            </a:r>
            <a:endParaRPr lang="ja-JP" sz="2400" dirty="0"/>
          </a:p>
        </p:txBody>
      </p:sp>
      <p:sp>
        <p:nvSpPr>
          <p:cNvPr id="24" name="Text 22"/>
          <p:cNvSpPr txBox="1"/>
          <p:nvPr/>
        </p:nvSpPr>
        <p:spPr>
          <a:xfrm>
            <a:off x="8284464" y="3895344"/>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ブピバカイン 約 95%</a:t>
            </a:r>
            <a:endParaRPr lang="ja-JP" sz="2400" dirty="0"/>
          </a:p>
        </p:txBody>
      </p:sp>
      <p:sp>
        <p:nvSpPr>
          <p:cNvPr id="25" name="Text 23"/>
          <p:cNvSpPr txBox="1"/>
          <p:nvPr/>
        </p:nvSpPr>
        <p:spPr>
          <a:xfrm>
            <a:off x="8284464" y="4782312"/>
            <a:ext cx="3236976" cy="457200"/>
          </a:xfrm>
          <a:prstGeom prst="rect">
            <a:avLst/>
          </a:prstGeom>
          <a:noFill/>
          <a:ln/>
        </p:spPr>
        <p:txBody>
          <a:bodyPr wrap="square" lIns="0" tIns="0" rIns="0" bIns="0" rtlCol="0" anchor="t"/>
          <a:lstStyle/>
          <a:p>
            <a:pPr algn="l" indent="0" marL="0">
              <a:buNone/>
            </a:pPr>
            <a:r>
              <a:rPr lang="ja-JP" altLang="en-US" sz="2400" dirty="0">
                <a:solidFill>
                  <a:srgbClr val="262626"/>
                </a:solidFill>
                <a:latin typeface="メイリオ" pitchFamily="34" charset="0"/>
                <a:ea typeface="メイリオ" pitchFamily="34" charset="-122"/>
                <a:cs typeface="メイリオ" pitchFamily="34" charset="-120"/>
              </a:rPr>
              <a:t>リドカイン 約 65%</a:t>
            </a:r>
            <a:endParaRPr lang="ja-JP"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種類と作用時間</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 / Choi S, et al. Br J Anaesth 2014;112:427-39</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第4版」Ⅴ（2025）</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670048"/>
                <a:gridCol w="1426464"/>
                <a:gridCol w="3529584"/>
                <a:gridCol w="3557016"/>
              </a:tblGrid>
              <a:tr h="411480">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発現</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持続（目安）</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主な用途</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リドカイン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速い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1〜2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浸潤、硬膜外、伝達、</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気道の表面麻酔</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メピバカイン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速い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1.5〜3 時間</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浸潤、伝達</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ブピバカイン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やや遅い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3〜8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（伝達は 12 時間前後）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脊髄くも膜下、</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硬膜外、伝達</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1088136">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レボブピバカイン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やや遅い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3〜8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（伝達は 12 時間前後）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硬膜外、伝達</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（ブピバカインより</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心毒性が少ない）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ロピバカイン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やや遅い</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3〜8 時間</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（伝達は 12 時間前後）</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硬膜外、伝達、</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術後の持続</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添付文書の最大用量</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キシロカイン注射液（同エピレナミン含有） 添付文書 / カルボカイン注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マーカイン注（同脊麻用） 添付文書 / ポプスカイン 添付文書 / アナペイン注 添付文書</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670048"/>
                <a:gridCol w="3886200"/>
                <a:gridCol w="4626864"/>
              </a:tblGrid>
              <a:tr h="749808">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添付文書の</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基準最高用量（1 回）</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注記</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リドカイン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200 mg</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アドレナリン含有は 500 mg</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（1% で 50 mL）</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メピバカイン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500 mg</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硬膜外・伝達・浸潤とも</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（0.5〜2% 共通）</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11480">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ブピバカイン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2 mg/kg</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脊髄くも膜下は 20 mg まで</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レボブピバカイン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150 mg</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伝達・硬膜外とも。</a:t>
                      </a:r>
                      <a:endParaRPr lang="en-US" sz="2200" dirty="0">
                        <a:latin typeface="メイリオ" charset="0"/>
                        <a:ea typeface="メイリオ" charset="0"/>
                        <a:cs typeface="メイリオ" charset="0"/>
                      </a:endParaRPr>
                    </a:p>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0.25% 伝達は 1 回 100 mg</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749808">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ロピバカイン</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300 mg（伝達）、</a:t>
                      </a:r>
                      <a:endParaRPr lang="en-US" sz="2200" dirty="0">
                        <a:latin typeface="メイリオ" charset="0"/>
                        <a:ea typeface="メイリオ" charset="0"/>
                        <a:cs typeface="メイリオ" charset="0"/>
                      </a:endParaRPr>
                    </a:p>
                    <a:p>
                      <a:pPr algn="l" indent="0" marL="0">
                        <a:lnSpc>
                          <a:spcPts val="2640"/>
                        </a:lnSpc>
                        <a:buNone/>
                      </a:pPr>
                      <a:r>
                        <a:rPr lang="ja-JP" altLang="en-US" sz="2200" b="1" dirty="0">
                          <a:solidFill>
                            <a:srgbClr val="262626"/>
                          </a:solidFill>
                          <a:latin typeface="メイリオ" pitchFamily="34" charset="0"/>
                          <a:ea typeface="メイリオ" pitchFamily="34" charset="-122"/>
                          <a:cs typeface="メイリオ" pitchFamily="34" charset="-120"/>
                        </a:rPr>
                        <a:t>150〜200 mg（硬膜外）</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lnSpc>
                          <a:spcPts val="2640"/>
                        </a:lnSpc>
                        <a:buNone/>
                      </a:pPr>
                      <a:r>
                        <a:rPr lang="ja-JP" altLang="en-US" sz="2200" dirty="0">
                          <a:solidFill>
                            <a:srgbClr val="262626"/>
                          </a:solidFill>
                          <a:latin typeface="メイリオ" pitchFamily="34" charset="0"/>
                          <a:ea typeface="メイリオ" pitchFamily="34" charset="-122"/>
                          <a:cs typeface="メイリオ" pitchFamily="34" charset="-120"/>
                        </a:rPr>
                        <a:t>伝達は 0.75% 40 mL</a:t>
                      </a:r>
                      <a:endParaRPr lang="en-US" sz="2200" dirty="0">
                        <a:latin typeface="メイリオ" charset="0"/>
                        <a:ea typeface="メイリオ" charset="0"/>
                        <a:cs typeface="メイリオ" charset="0"/>
                      </a:endParaRPr>
                    </a:p>
                  </a:txBody>
                  <a:tcPr marL="76200" marR="76200" marT="38100" marB="381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体重あたりの目安</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Rosenberg PH, et al. Reg Anesth Pain Med 2004;29:564-75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El-Boghdadly K, et al. Local Reg Anesth 2018;11:35-44</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3291840"/>
                <a:gridCol w="4206240"/>
                <a:gridCol w="3685032"/>
              </a:tblGrid>
              <a:tr h="521208">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教科書の目安（mg/kg）</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アドレナリン添加</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リドカイン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3〜4.5</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7</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メピバカイン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4.5〜5</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7</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ブピバカイン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2〜2.5</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3</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ロピバカイン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3</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52120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レボブピバカイン</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2</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101600" marR="1016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502920" y="5129784"/>
            <a:ext cx="11183112" cy="749808"/>
          </a:xfrm>
          <a:prstGeom prst="roundRect">
            <a:avLst>
              <a:gd name="adj" fmla="val 9756"/>
            </a:avLst>
          </a:prstGeom>
          <a:solidFill>
            <a:srgbClr val="FFFFFF"/>
          </a:solidFill>
          <a:ln w="31750">
            <a:solidFill>
              <a:srgbClr val="00A8AA"/>
            </a:solidFill>
          </a:ln>
        </p:spPr>
        <p:txBody>
          <a:bodyPr wrap="square" lIns="73152" tIns="73152" rIns="73152" bIns="73152" rtlCol="0" anchor="ctr"/>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添付文書の 1 回量と、教科書の目安の</a:t>
            </a:r>
            <a:r>
              <a:rPr lang="ja-JP" altLang="en-US" sz="2800" b="1" dirty="0">
                <a:solidFill>
                  <a:srgbClr val="D55E00"/>
                </a:solidFill>
                <a:latin typeface="メイリオ" pitchFamily="34" charset="0"/>
                <a:ea typeface="メイリオ" pitchFamily="34" charset="-122"/>
                <a:cs typeface="メイリオ" pitchFamily="34" charset="-120"/>
              </a:rPr>
              <a:t>『低い方』</a:t>
            </a:r>
            <a:r>
              <a:rPr lang="ja-JP" altLang="en-US" sz="2800" dirty="0">
                <a:solidFill>
                  <a:srgbClr val="262626"/>
                </a:solidFill>
                <a:latin typeface="メイリオ" pitchFamily="34" charset="0"/>
                <a:ea typeface="メイリオ" pitchFamily="34" charset="-122"/>
                <a:cs typeface="メイリオ" pitchFamily="34" charset="-120"/>
              </a:rPr>
              <a:t>を守る</a:t>
            </a:r>
            <a:endParaRPr lang="ja-JP"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mg/kg → mL の計算</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a:t>
            </a:r>
            <a:endParaRPr lang="ja-JP" sz="1600" dirty="0"/>
          </a:p>
        </p:txBody>
      </p:sp>
      <p:sp>
        <p:nvSpPr>
          <p:cNvPr id="11" name="Shape 9"/>
          <p:cNvSpPr/>
          <p:nvPr/>
        </p:nvSpPr>
        <p:spPr>
          <a:xfrm>
            <a:off x="6400800" y="1691640"/>
            <a:ext cx="5285232" cy="2112264"/>
          </a:xfrm>
          <a:prstGeom prst="roundRect">
            <a:avLst>
              <a:gd name="adj" fmla="val 3463"/>
            </a:avLst>
          </a:prstGeom>
          <a:solidFill>
            <a:srgbClr val="F2F2F2"/>
          </a:solidFill>
          <a:ln/>
        </p:spPr>
      </p:sp>
      <p:sp>
        <p:nvSpPr>
          <p:cNvPr id="12" name="Text 10"/>
          <p:cNvSpPr txBox="1"/>
          <p:nvPr/>
        </p:nvSpPr>
        <p:spPr>
          <a:xfrm>
            <a:off x="6583680" y="1828800"/>
            <a:ext cx="491947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60 kg、0.25% ブピバカイン</a:t>
            </a:r>
            <a:endParaRPr lang="ja-JP" sz="2400" dirty="0"/>
          </a:p>
        </p:txBody>
      </p:sp>
      <p:sp>
        <p:nvSpPr>
          <p:cNvPr id="13" name="Text 11"/>
          <p:cNvSpPr txBox="1"/>
          <p:nvPr/>
        </p:nvSpPr>
        <p:spPr>
          <a:xfrm>
            <a:off x="6583680" y="2350008"/>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上限 2 mg/kg × 60 = 120 mg</a:t>
            </a:r>
            <a:endParaRPr lang="ja-JP" sz="2200" dirty="0"/>
          </a:p>
        </p:txBody>
      </p:sp>
      <p:sp>
        <p:nvSpPr>
          <p:cNvPr id="14" name="Text 12"/>
          <p:cNvSpPr txBox="1"/>
          <p:nvPr/>
        </p:nvSpPr>
        <p:spPr>
          <a:xfrm>
            <a:off x="6583680" y="2798064"/>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0.25% = 2.5 mg/mL</a:t>
            </a:r>
            <a:endParaRPr lang="ja-JP" sz="2200" dirty="0"/>
          </a:p>
        </p:txBody>
      </p:sp>
      <p:sp>
        <p:nvSpPr>
          <p:cNvPr id="15" name="Text 13"/>
          <p:cNvSpPr txBox="1"/>
          <p:nvPr/>
        </p:nvSpPr>
        <p:spPr>
          <a:xfrm>
            <a:off x="6583680" y="3246120"/>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120 ÷ 2.5 = </a:t>
            </a:r>
            <a:r>
              <a:rPr lang="ja-JP" altLang="en-US" sz="2200" b="1" dirty="0">
                <a:solidFill>
                  <a:srgbClr val="D55E00"/>
                </a:solidFill>
                <a:latin typeface="メイリオ" pitchFamily="34" charset="0"/>
                <a:ea typeface="メイリオ" pitchFamily="34" charset="-122"/>
                <a:cs typeface="メイリオ" pitchFamily="34" charset="-120"/>
              </a:rPr>
              <a:t>48 mL</a:t>
            </a:r>
            <a:endParaRPr lang="ja-JP" sz="2200" dirty="0"/>
          </a:p>
        </p:txBody>
      </p:sp>
      <p:sp>
        <p:nvSpPr>
          <p:cNvPr id="16" name="Shape 14"/>
          <p:cNvSpPr/>
          <p:nvPr/>
        </p:nvSpPr>
        <p:spPr>
          <a:xfrm>
            <a:off x="6400800" y="4041648"/>
            <a:ext cx="5285232" cy="2112264"/>
          </a:xfrm>
          <a:prstGeom prst="roundRect">
            <a:avLst>
              <a:gd name="adj" fmla="val 3463"/>
            </a:avLst>
          </a:prstGeom>
          <a:solidFill>
            <a:srgbClr val="F2F2F2"/>
          </a:solidFill>
          <a:ln/>
        </p:spPr>
      </p:sp>
      <p:sp>
        <p:nvSpPr>
          <p:cNvPr id="17" name="Text 15"/>
          <p:cNvSpPr txBox="1"/>
          <p:nvPr/>
        </p:nvSpPr>
        <p:spPr>
          <a:xfrm>
            <a:off x="6583680" y="4178808"/>
            <a:ext cx="491947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50 kg、1% リドカイン</a:t>
            </a:r>
            <a:endParaRPr lang="ja-JP" sz="2400" dirty="0"/>
          </a:p>
        </p:txBody>
      </p:sp>
      <p:sp>
        <p:nvSpPr>
          <p:cNvPr id="18" name="Text 16"/>
          <p:cNvSpPr txBox="1"/>
          <p:nvPr/>
        </p:nvSpPr>
        <p:spPr>
          <a:xfrm>
            <a:off x="6583680" y="4700016"/>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体重の目安 3 mg/kg × 50 = 150 mg</a:t>
            </a:r>
            <a:endParaRPr lang="ja-JP" sz="2200" dirty="0"/>
          </a:p>
        </p:txBody>
      </p:sp>
      <p:sp>
        <p:nvSpPr>
          <p:cNvPr id="19" name="Text 17"/>
          <p:cNvSpPr txBox="1"/>
          <p:nvPr/>
        </p:nvSpPr>
        <p:spPr>
          <a:xfrm>
            <a:off x="6583680" y="5148072"/>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添付文書 200 mg → </a:t>
            </a:r>
            <a:r>
              <a:rPr lang="ja-JP" altLang="en-US" sz="2200" b="1" dirty="0">
                <a:solidFill>
                  <a:srgbClr val="262626"/>
                </a:solidFill>
                <a:latin typeface="メイリオ" pitchFamily="34" charset="0"/>
                <a:ea typeface="メイリオ" pitchFamily="34" charset="-122"/>
                <a:cs typeface="メイリオ" pitchFamily="34" charset="-120"/>
              </a:rPr>
              <a:t>低い方 150 mg</a:t>
            </a:r>
            <a:endParaRPr lang="ja-JP" sz="2200" dirty="0"/>
          </a:p>
        </p:txBody>
      </p:sp>
      <p:sp>
        <p:nvSpPr>
          <p:cNvPr id="20" name="Text 18"/>
          <p:cNvSpPr txBox="1"/>
          <p:nvPr/>
        </p:nvSpPr>
        <p:spPr>
          <a:xfrm>
            <a:off x="6583680" y="5596128"/>
            <a:ext cx="4919472"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 = 10 mg/mL → </a:t>
            </a:r>
            <a:r>
              <a:rPr lang="ja-JP" altLang="en-US" sz="2200" b="1" dirty="0">
                <a:solidFill>
                  <a:srgbClr val="D55E00"/>
                </a:solidFill>
                <a:latin typeface="メイリオ" pitchFamily="34" charset="0"/>
                <a:ea typeface="メイリオ" pitchFamily="34" charset="-122"/>
                <a:cs typeface="メイリオ" pitchFamily="34" charset="-120"/>
              </a:rPr>
              <a:t>15 mL</a:t>
            </a:r>
            <a:endParaRPr lang="ja-JP" sz="2200" dirty="0"/>
          </a:p>
        </p:txBody>
      </p:sp>
      <p:sp>
        <p:nvSpPr>
          <p:cNvPr id="21" name="Text 19"/>
          <p:cNvSpPr txBox="1"/>
          <p:nvPr/>
        </p:nvSpPr>
        <p:spPr>
          <a:xfrm>
            <a:off x="502920" y="2532888"/>
            <a:ext cx="5532120" cy="502920"/>
          </a:xfrm>
          <a:prstGeom prst="rect">
            <a:avLst/>
          </a:prstGeom>
          <a:noFill/>
          <a:ln/>
        </p:spPr>
        <p:txBody>
          <a:bodyPr wrap="square" lIns="0" tIns="0" rIns="0" bIns="0" rtlCol="0" anchor="t"/>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X % = </a:t>
            </a:r>
            <a:r>
              <a:rPr lang="ja-JP" altLang="en-US" sz="2600" b="1" dirty="0">
                <a:solidFill>
                  <a:srgbClr val="0072B2"/>
                </a:solidFill>
                <a:latin typeface="メイリオ" pitchFamily="34" charset="0"/>
                <a:ea typeface="メイリオ" pitchFamily="34" charset="-122"/>
                <a:cs typeface="メイリオ" pitchFamily="34" charset="-120"/>
              </a:rPr>
              <a:t>X × 10 mg/mL</a:t>
            </a:r>
            <a:endParaRPr lang="ja-JP" sz="2600" dirty="0"/>
          </a:p>
        </p:txBody>
      </p:sp>
      <p:sp>
        <p:nvSpPr>
          <p:cNvPr id="22" name="Shape 20"/>
          <p:cNvSpPr/>
          <p:nvPr/>
        </p:nvSpPr>
        <p:spPr>
          <a:xfrm>
            <a:off x="3268980" y="3273552"/>
            <a:ext cx="0" cy="1124712"/>
          </a:xfrm>
          <a:prstGeom prst="line">
            <a:avLst/>
          </a:prstGeom>
          <a:noFill/>
          <a:ln w="38100">
            <a:solidFill>
              <a:srgbClr val="404040"/>
            </a:solidFill>
            <a:prstDash val="solid"/>
          </a:ln>
        </p:spPr>
      </p:sp>
      <p:sp>
        <p:nvSpPr>
          <p:cNvPr id="23" name="Shape 21"/>
          <p:cNvSpPr/>
          <p:nvPr/>
        </p:nvSpPr>
        <p:spPr>
          <a:xfrm>
            <a:off x="3150108" y="4379976"/>
            <a:ext cx="237744" cy="201168"/>
          </a:xfrm>
          <a:custGeom>
            <a:avLst/>
            <a:gdLst/>
            <a:ahLst/>
            <a:cxnLst/>
            <a:rect l="l" t="t" r="r" b="b"/>
            <a:pathLst>
              <a:path w="237744" h="201168">
                <a:moveTo>
                  <a:pt x="118872" y="201168"/>
                </a:moveTo>
                <a:lnTo>
                  <a:pt x="0" y="0"/>
                </a:lnTo>
                <a:lnTo>
                  <a:pt x="237744" y="0"/>
                </a:lnTo>
                <a:close/>
              </a:path>
            </a:pathLst>
          </a:custGeom>
          <a:solidFill>
            <a:srgbClr val="404040"/>
          </a:solidFill>
          <a:ln w="12700">
            <a:solidFill>
              <a:srgbClr val="404040"/>
            </a:solidFill>
            <a:prstDash val="solid"/>
          </a:ln>
        </p:spPr>
      </p:sp>
      <p:sp>
        <p:nvSpPr>
          <p:cNvPr id="24" name="Text 22"/>
          <p:cNvSpPr txBox="1"/>
          <p:nvPr/>
        </p:nvSpPr>
        <p:spPr>
          <a:xfrm>
            <a:off x="502920" y="4818888"/>
            <a:ext cx="5532120" cy="502920"/>
          </a:xfrm>
          <a:prstGeom prst="rect">
            <a:avLst/>
          </a:prstGeom>
          <a:noFill/>
          <a:ln/>
        </p:spPr>
        <p:txBody>
          <a:bodyPr wrap="square" lIns="0" tIns="0" rIns="0" bIns="0" rtlCol="0" anchor="t"/>
          <a:lstStyle/>
          <a:p>
            <a:pPr algn="ctr" indent="0" marL="0">
              <a:buNone/>
            </a:pPr>
            <a:r>
              <a:rPr lang="ja-JP" altLang="en-US" sz="2600" b="1" dirty="0">
                <a:solidFill>
                  <a:srgbClr val="262626"/>
                </a:solidFill>
                <a:latin typeface="メイリオ" pitchFamily="34" charset="0"/>
                <a:ea typeface="メイリオ" pitchFamily="34" charset="-122"/>
                <a:cs typeface="メイリオ" pitchFamily="34" charset="-120"/>
              </a:rPr>
              <a:t>mL = 上限(mg) ÷ 濃度(mg/mL)</a:t>
            </a:r>
            <a:endParaRPr lang="ja-JP"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用量以下でも中毒は起こる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El-Boghdadly K, et al. Local Reg Anesth 2018;11:35-44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Braid DP, et al. Br J Anaesth 1965;37:394-404</a:t>
            </a:r>
            <a:endParaRPr lang="ja-JP" sz="1600" dirty="0"/>
          </a:p>
        </p:txBody>
      </p:sp>
      <p:sp>
        <p:nvSpPr>
          <p:cNvPr id="11" name="Text 9"/>
          <p:cNvSpPr txBox="1"/>
          <p:nvPr/>
        </p:nvSpPr>
        <p:spPr>
          <a:xfrm>
            <a:off x="502920" y="1810512"/>
            <a:ext cx="2194560" cy="420624"/>
          </a:xfrm>
          <a:prstGeom prst="rect">
            <a:avLst/>
          </a:prstGeom>
          <a:noFill/>
          <a:ln/>
        </p:spPr>
        <p:txBody>
          <a:bodyPr wrap="square" lIns="0" tIns="0" rIns="0" bIns="0" rtlCol="0" anchor="ctr"/>
          <a:lstStyle/>
          <a:p>
            <a:pPr algn="l" indent="0" marL="0">
              <a:buNone/>
            </a:pPr>
            <a:r>
              <a:rPr lang="ja-JP" altLang="en-US" sz="2200" b="1" dirty="0">
                <a:solidFill>
                  <a:srgbClr val="595959"/>
                </a:solidFill>
                <a:latin typeface="メイリオ" pitchFamily="34" charset="0"/>
                <a:ea typeface="メイリオ" pitchFamily="34" charset="-122"/>
                <a:cs typeface="メイリオ" pitchFamily="34" charset="-120"/>
              </a:rPr>
              <a:t>吸収が多い順</a:t>
            </a:r>
            <a:endParaRPr lang="ja-JP" sz="2200" dirty="0"/>
          </a:p>
        </p:txBody>
      </p:sp>
      <p:sp>
        <p:nvSpPr>
          <p:cNvPr id="12" name="Text 10"/>
          <p:cNvSpPr/>
          <p:nvPr/>
        </p:nvSpPr>
        <p:spPr>
          <a:xfrm>
            <a:off x="502920" y="2468880"/>
            <a:ext cx="1197864" cy="868680"/>
          </a:xfrm>
          <a:prstGeom prst="roundRect">
            <a:avLst>
              <a:gd name="adj" fmla="val 8421"/>
            </a:avLst>
          </a:prstGeom>
          <a:solidFill>
            <a:srgbClr val="C00000"/>
          </a:solidFill>
          <a:ln/>
        </p:spPr>
        <p:txBody>
          <a:bodyPr wrap="square" lIns="73152" tIns="73152" rIns="73152" bIns="73152" rtlCol="0" anchor="ctr"/>
          <a:lstStyle/>
          <a:p>
            <a:pPr algn="ctr" indent="0" marL="0">
              <a:buNone/>
            </a:pPr>
            <a:r>
              <a:rPr lang="ja-JP" altLang="en-US" sz="2200" b="1" dirty="0">
                <a:solidFill>
                  <a:srgbClr val="FFFFFF"/>
                </a:solidFill>
                <a:latin typeface="メイリオ" pitchFamily="34" charset="0"/>
                <a:ea typeface="メイリオ" pitchFamily="34" charset="-122"/>
                <a:cs typeface="メイリオ" pitchFamily="34" charset="-120"/>
              </a:rPr>
              <a:t>血管内</a:t>
            </a:r>
            <a:endParaRPr lang="ja-JP" sz="2200" dirty="0"/>
          </a:p>
        </p:txBody>
      </p:sp>
      <p:sp>
        <p:nvSpPr>
          <p:cNvPr id="13" name="Shape 11"/>
          <p:cNvSpPr/>
          <p:nvPr/>
        </p:nvSpPr>
        <p:spPr>
          <a:xfrm>
            <a:off x="1764792" y="2903220"/>
            <a:ext cx="109728" cy="0"/>
          </a:xfrm>
          <a:prstGeom prst="line">
            <a:avLst/>
          </a:prstGeom>
          <a:noFill/>
          <a:ln w="31750">
            <a:solidFill>
              <a:srgbClr val="404040"/>
            </a:solidFill>
            <a:prstDash val="solid"/>
          </a:ln>
        </p:spPr>
      </p:sp>
      <p:sp>
        <p:nvSpPr>
          <p:cNvPr id="14" name="Shape 12"/>
          <p:cNvSpPr/>
          <p:nvPr/>
        </p:nvSpPr>
        <p:spPr>
          <a:xfrm>
            <a:off x="1856232"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15" name="Text 13"/>
          <p:cNvSpPr/>
          <p:nvPr/>
        </p:nvSpPr>
        <p:spPr>
          <a:xfrm>
            <a:off x="2066544" y="2468880"/>
            <a:ext cx="2130552"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気管</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（表面麻酔）</a:t>
            </a:r>
            <a:endParaRPr lang="ja-JP" sz="2200" dirty="0"/>
          </a:p>
        </p:txBody>
      </p:sp>
      <p:sp>
        <p:nvSpPr>
          <p:cNvPr id="16" name="Shape 14"/>
          <p:cNvSpPr/>
          <p:nvPr/>
        </p:nvSpPr>
        <p:spPr>
          <a:xfrm>
            <a:off x="4261104" y="2903220"/>
            <a:ext cx="109728" cy="0"/>
          </a:xfrm>
          <a:prstGeom prst="line">
            <a:avLst/>
          </a:prstGeom>
          <a:noFill/>
          <a:ln w="31750">
            <a:solidFill>
              <a:srgbClr val="404040"/>
            </a:solidFill>
            <a:prstDash val="solid"/>
          </a:ln>
        </p:spPr>
      </p:sp>
      <p:sp>
        <p:nvSpPr>
          <p:cNvPr id="17" name="Shape 15"/>
          <p:cNvSpPr/>
          <p:nvPr/>
        </p:nvSpPr>
        <p:spPr>
          <a:xfrm>
            <a:off x="4352544"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18" name="Text 16"/>
          <p:cNvSpPr/>
          <p:nvPr/>
        </p:nvSpPr>
        <p:spPr>
          <a:xfrm>
            <a:off x="4562856" y="2468880"/>
            <a:ext cx="877824"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肋間</a:t>
            </a:r>
            <a:endParaRPr lang="ja-JP" sz="2200" dirty="0"/>
          </a:p>
        </p:txBody>
      </p:sp>
      <p:sp>
        <p:nvSpPr>
          <p:cNvPr id="19" name="Shape 17"/>
          <p:cNvSpPr/>
          <p:nvPr/>
        </p:nvSpPr>
        <p:spPr>
          <a:xfrm>
            <a:off x="5504688" y="2903220"/>
            <a:ext cx="109728" cy="0"/>
          </a:xfrm>
          <a:prstGeom prst="line">
            <a:avLst/>
          </a:prstGeom>
          <a:noFill/>
          <a:ln w="31750">
            <a:solidFill>
              <a:srgbClr val="404040"/>
            </a:solidFill>
            <a:prstDash val="solid"/>
          </a:ln>
        </p:spPr>
      </p:sp>
      <p:sp>
        <p:nvSpPr>
          <p:cNvPr id="20" name="Shape 18"/>
          <p:cNvSpPr/>
          <p:nvPr/>
        </p:nvSpPr>
        <p:spPr>
          <a:xfrm>
            <a:off x="5596128"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21" name="Text 19"/>
          <p:cNvSpPr/>
          <p:nvPr/>
        </p:nvSpPr>
        <p:spPr>
          <a:xfrm>
            <a:off x="5806440" y="2468880"/>
            <a:ext cx="1197864"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仙骨</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硬膜外</a:t>
            </a:r>
            <a:endParaRPr lang="ja-JP" sz="2200" dirty="0"/>
          </a:p>
        </p:txBody>
      </p:sp>
      <p:sp>
        <p:nvSpPr>
          <p:cNvPr id="22" name="Shape 20"/>
          <p:cNvSpPr/>
          <p:nvPr/>
        </p:nvSpPr>
        <p:spPr>
          <a:xfrm>
            <a:off x="7068312" y="2903220"/>
            <a:ext cx="109728" cy="0"/>
          </a:xfrm>
          <a:prstGeom prst="line">
            <a:avLst/>
          </a:prstGeom>
          <a:noFill/>
          <a:ln w="31750">
            <a:solidFill>
              <a:srgbClr val="404040"/>
            </a:solidFill>
            <a:prstDash val="solid"/>
          </a:ln>
        </p:spPr>
      </p:sp>
      <p:sp>
        <p:nvSpPr>
          <p:cNvPr id="23" name="Shape 21"/>
          <p:cNvSpPr/>
          <p:nvPr/>
        </p:nvSpPr>
        <p:spPr>
          <a:xfrm>
            <a:off x="7159752"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24" name="Text 22"/>
          <p:cNvSpPr/>
          <p:nvPr/>
        </p:nvSpPr>
        <p:spPr>
          <a:xfrm>
            <a:off x="7370064" y="2468880"/>
            <a:ext cx="1197864"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腰部</a:t>
            </a:r>
            <a:endParaRPr lang="ja-JP" sz="2200" dirty="0"/>
          </a:p>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硬膜外</a:t>
            </a:r>
            <a:endParaRPr lang="ja-JP" sz="2200" dirty="0"/>
          </a:p>
        </p:txBody>
      </p:sp>
      <p:sp>
        <p:nvSpPr>
          <p:cNvPr id="25" name="Shape 23"/>
          <p:cNvSpPr/>
          <p:nvPr/>
        </p:nvSpPr>
        <p:spPr>
          <a:xfrm>
            <a:off x="8631936" y="2903220"/>
            <a:ext cx="109728" cy="0"/>
          </a:xfrm>
          <a:prstGeom prst="line">
            <a:avLst/>
          </a:prstGeom>
          <a:noFill/>
          <a:ln w="31750">
            <a:solidFill>
              <a:srgbClr val="404040"/>
            </a:solidFill>
            <a:prstDash val="solid"/>
          </a:ln>
        </p:spPr>
      </p:sp>
      <p:sp>
        <p:nvSpPr>
          <p:cNvPr id="26" name="Shape 24"/>
          <p:cNvSpPr/>
          <p:nvPr/>
        </p:nvSpPr>
        <p:spPr>
          <a:xfrm>
            <a:off x="8723376"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27" name="Text 25"/>
          <p:cNvSpPr/>
          <p:nvPr/>
        </p:nvSpPr>
        <p:spPr>
          <a:xfrm>
            <a:off x="8933688" y="2468880"/>
            <a:ext cx="1508760"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腕神経叢</a:t>
            </a:r>
            <a:endParaRPr lang="ja-JP" sz="2200" dirty="0"/>
          </a:p>
        </p:txBody>
      </p:sp>
      <p:sp>
        <p:nvSpPr>
          <p:cNvPr id="28" name="Shape 26"/>
          <p:cNvSpPr/>
          <p:nvPr/>
        </p:nvSpPr>
        <p:spPr>
          <a:xfrm>
            <a:off x="10506456" y="2903220"/>
            <a:ext cx="109728" cy="0"/>
          </a:xfrm>
          <a:prstGeom prst="line">
            <a:avLst/>
          </a:prstGeom>
          <a:noFill/>
          <a:ln w="31750">
            <a:solidFill>
              <a:srgbClr val="404040"/>
            </a:solidFill>
            <a:prstDash val="solid"/>
          </a:ln>
        </p:spPr>
      </p:sp>
      <p:sp>
        <p:nvSpPr>
          <p:cNvPr id="29" name="Shape 27"/>
          <p:cNvSpPr/>
          <p:nvPr/>
        </p:nvSpPr>
        <p:spPr>
          <a:xfrm>
            <a:off x="10597896" y="2802636"/>
            <a:ext cx="146304" cy="201168"/>
          </a:xfrm>
          <a:custGeom>
            <a:avLst/>
            <a:gdLst/>
            <a:ahLst/>
            <a:cxnLst/>
            <a:rect l="l" t="t" r="r" b="b"/>
            <a:pathLst>
              <a:path w="146304" h="201168">
                <a:moveTo>
                  <a:pt x="146304" y="100584"/>
                </a:moveTo>
                <a:lnTo>
                  <a:pt x="0" y="201168"/>
                </a:lnTo>
                <a:lnTo>
                  <a:pt x="0" y="0"/>
                </a:lnTo>
                <a:close/>
              </a:path>
            </a:pathLst>
          </a:custGeom>
          <a:solidFill>
            <a:srgbClr val="404040"/>
          </a:solidFill>
          <a:ln w="12700">
            <a:solidFill>
              <a:srgbClr val="404040"/>
            </a:solidFill>
            <a:prstDash val="solid"/>
          </a:ln>
        </p:spPr>
      </p:sp>
      <p:sp>
        <p:nvSpPr>
          <p:cNvPr id="30" name="Text 28"/>
          <p:cNvSpPr/>
          <p:nvPr/>
        </p:nvSpPr>
        <p:spPr>
          <a:xfrm>
            <a:off x="10808208" y="2468880"/>
            <a:ext cx="877824" cy="868680"/>
          </a:xfrm>
          <a:prstGeom prst="roundRect">
            <a:avLst>
              <a:gd name="adj" fmla="val 8421"/>
            </a:avLst>
          </a:prstGeom>
          <a:solidFill>
            <a:srgbClr val="F2F2F2"/>
          </a:solidFill>
          <a:ln/>
        </p:spPr>
        <p:txBody>
          <a:bodyPr wrap="square" lIns="73152" tIns="73152" rIns="73152" bIns="73152" rtlCol="0" anchor="ct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皮下</a:t>
            </a:r>
            <a:endParaRPr lang="ja-JP" sz="2200" dirty="0"/>
          </a:p>
        </p:txBody>
      </p:sp>
      <p:sp>
        <p:nvSpPr>
          <p:cNvPr id="31" name="Text 29"/>
          <p:cNvSpPr txBox="1"/>
          <p:nvPr/>
        </p:nvSpPr>
        <p:spPr>
          <a:xfrm>
            <a:off x="502920" y="3931920"/>
            <a:ext cx="11155680" cy="1956816"/>
          </a:xfrm>
          <a:prstGeom prst="rect">
            <a:avLst/>
          </a:prstGeom>
          <a:noFill/>
          <a:ln/>
        </p:spPr>
        <p:txBody>
          <a:bodyPr wrap="square" lIns="0" tIns="0" rIns="0" bIns="0" rtlCol="0" anchor="t"/>
          <a:lstStyle/>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同じ量でも、血管の多い部位ほど血中濃度が上がる</a:t>
            </a:r>
            <a:endParaRPr lang="ja-JP" sz="2400" dirty="0"/>
          </a:p>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血管内なら注入中〜直後に痙攣。量が多ければ</a:t>
            </a:r>
            <a:r>
              <a:rPr lang="ja-JP" altLang="en-US" sz="2400" b="1" dirty="0">
                <a:solidFill>
                  <a:srgbClr val="C00000"/>
                </a:solidFill>
                <a:latin typeface="メイリオ" pitchFamily="34" charset="0"/>
                <a:ea typeface="メイリオ" pitchFamily="34" charset="-122"/>
                <a:cs typeface="メイリオ" pitchFamily="34" charset="-120"/>
              </a:rPr>
              <a:t>心停止</a:t>
            </a:r>
            <a:endParaRPr lang="ja-JP" sz="2400" dirty="0"/>
          </a:p>
          <a:p>
            <a:pPr algn="l" marL="355600" indent="-355600">
              <a:spcAft>
                <a:spcPts val="2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年齢の両極端・小柄、心・肝疾患、妊娠、アシドーシスで出やすい</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アドレナリン添加</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キシロカイン注射液エピレナミン含有 添付文書</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Guinard JP, et al. Anesthesiology 1990;73:386-92</a:t>
            </a:r>
            <a:endParaRPr lang="ja-JP" sz="1600" dirty="0"/>
          </a:p>
        </p:txBody>
      </p:sp>
      <p:sp>
        <p:nvSpPr>
          <p:cNvPr id="11" name="Shape 9"/>
          <p:cNvSpPr/>
          <p:nvPr/>
        </p:nvSpPr>
        <p:spPr>
          <a:xfrm>
            <a:off x="502920" y="1819656"/>
            <a:ext cx="5408676" cy="3959352"/>
          </a:xfrm>
          <a:prstGeom prst="roundRect">
            <a:avLst>
              <a:gd name="adj" fmla="val 1848"/>
            </a:avLst>
          </a:prstGeom>
          <a:solidFill>
            <a:srgbClr val="F2F2F2"/>
          </a:solidFill>
          <a:ln/>
        </p:spPr>
      </p:sp>
      <p:sp>
        <p:nvSpPr>
          <p:cNvPr id="12" name="Text 10"/>
          <p:cNvSpPr txBox="1"/>
          <p:nvPr/>
        </p:nvSpPr>
        <p:spPr>
          <a:xfrm>
            <a:off x="667512" y="1984248"/>
            <a:ext cx="5079492" cy="539496"/>
          </a:xfrm>
          <a:prstGeom prst="rect">
            <a:avLst/>
          </a:prstGeom>
          <a:noFill/>
          <a:ln/>
        </p:spPr>
        <p:txBody>
          <a:bodyPr wrap="square" lIns="0" tIns="0" rIns="0" bIns="0" rtlCol="0" anchor="t"/>
          <a:lstStyle/>
          <a:p>
            <a:pPr algn="l" indent="0" marL="0">
              <a:buNone/>
            </a:pPr>
            <a:r>
              <a:rPr lang="ja-JP" altLang="en-US" sz="2800" b="1" dirty="0">
                <a:solidFill>
                  <a:srgbClr val="0072B2"/>
                </a:solidFill>
                <a:latin typeface="メイリオ" pitchFamily="34" charset="0"/>
                <a:ea typeface="メイリオ" pitchFamily="34" charset="-122"/>
                <a:cs typeface="メイリオ" pitchFamily="34" charset="-120"/>
              </a:rPr>
              <a:t>利点</a:t>
            </a:r>
            <a:endParaRPr lang="ja-JP" sz="2800" dirty="0"/>
          </a:p>
        </p:txBody>
      </p:sp>
      <p:sp>
        <p:nvSpPr>
          <p:cNvPr id="13" name="Text 11"/>
          <p:cNvSpPr txBox="1"/>
          <p:nvPr/>
        </p:nvSpPr>
        <p:spPr>
          <a:xfrm>
            <a:off x="667512" y="265176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4" name="Text 12"/>
          <p:cNvSpPr txBox="1"/>
          <p:nvPr/>
        </p:nvSpPr>
        <p:spPr>
          <a:xfrm>
            <a:off x="996696" y="2651760"/>
            <a:ext cx="475030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吸収が遅くなり、</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血中濃度のピークが下がる</a:t>
            </a:r>
            <a:endParaRPr lang="ja-JP" sz="2200" dirty="0"/>
          </a:p>
        </p:txBody>
      </p:sp>
      <p:sp>
        <p:nvSpPr>
          <p:cNvPr id="15" name="Text 13"/>
          <p:cNvSpPr txBox="1"/>
          <p:nvPr/>
        </p:nvSpPr>
        <p:spPr>
          <a:xfrm>
            <a:off x="667512" y="3639312"/>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6" name="Text 14"/>
          <p:cNvSpPr txBox="1"/>
          <p:nvPr/>
        </p:nvSpPr>
        <p:spPr>
          <a:xfrm>
            <a:off x="996696" y="3639312"/>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作用時間が延びる</a:t>
            </a:r>
            <a:endParaRPr lang="ja-JP" sz="2200" dirty="0"/>
          </a:p>
        </p:txBody>
      </p:sp>
      <p:sp>
        <p:nvSpPr>
          <p:cNvPr id="17" name="Text 15"/>
          <p:cNvSpPr txBox="1"/>
          <p:nvPr/>
        </p:nvSpPr>
        <p:spPr>
          <a:xfrm>
            <a:off x="667512" y="420624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18" name="Text 16"/>
          <p:cNvSpPr txBox="1"/>
          <p:nvPr/>
        </p:nvSpPr>
        <p:spPr>
          <a:xfrm>
            <a:off x="996696" y="4206240"/>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出血が減る</a:t>
            </a:r>
            <a:endParaRPr lang="ja-JP" sz="2200" dirty="0"/>
          </a:p>
        </p:txBody>
      </p:sp>
      <p:sp>
        <p:nvSpPr>
          <p:cNvPr id="19" name="Text 17"/>
          <p:cNvSpPr txBox="1"/>
          <p:nvPr/>
        </p:nvSpPr>
        <p:spPr>
          <a:xfrm>
            <a:off x="667512" y="477316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0" name="Text 18"/>
          <p:cNvSpPr txBox="1"/>
          <p:nvPr/>
        </p:nvSpPr>
        <p:spPr>
          <a:xfrm>
            <a:off x="996696" y="4773168"/>
            <a:ext cx="4750308" cy="841248"/>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血管内誤注入のテスト</a:t>
            </a:r>
            <a:endParaRPr lang="ja-JP" sz="2200" dirty="0"/>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（心拍数の上昇）</a:t>
            </a:r>
            <a:endParaRPr lang="ja-JP" sz="2200" dirty="0"/>
          </a:p>
        </p:txBody>
      </p:sp>
      <p:sp>
        <p:nvSpPr>
          <p:cNvPr id="21" name="Shape 19"/>
          <p:cNvSpPr/>
          <p:nvPr/>
        </p:nvSpPr>
        <p:spPr>
          <a:xfrm>
            <a:off x="6277356" y="1819656"/>
            <a:ext cx="5408676" cy="3959352"/>
          </a:xfrm>
          <a:prstGeom prst="roundRect">
            <a:avLst>
              <a:gd name="adj" fmla="val 1848"/>
            </a:avLst>
          </a:prstGeom>
          <a:solidFill>
            <a:srgbClr val="F2F2F2"/>
          </a:solidFill>
          <a:ln/>
        </p:spPr>
      </p:sp>
      <p:sp>
        <p:nvSpPr>
          <p:cNvPr id="22" name="Text 20"/>
          <p:cNvSpPr txBox="1"/>
          <p:nvPr/>
        </p:nvSpPr>
        <p:spPr>
          <a:xfrm>
            <a:off x="6441948" y="1984248"/>
            <a:ext cx="5079492" cy="539496"/>
          </a:xfrm>
          <a:prstGeom prst="rect">
            <a:avLst/>
          </a:prstGeom>
          <a:noFill/>
          <a:ln/>
        </p:spPr>
        <p:txBody>
          <a:bodyPr wrap="square" lIns="0" tIns="0" rIns="0" bIns="0" rtlCol="0" anchor="t"/>
          <a:lstStyle/>
          <a:p>
            <a:pPr algn="l" indent="0" marL="0">
              <a:buNone/>
            </a:pPr>
            <a:r>
              <a:rPr lang="ja-JP" altLang="en-US" sz="2800" b="1" dirty="0">
                <a:solidFill>
                  <a:srgbClr val="D55E00"/>
                </a:solidFill>
                <a:latin typeface="メイリオ" pitchFamily="34" charset="0"/>
                <a:ea typeface="メイリオ" pitchFamily="34" charset="-122"/>
                <a:cs typeface="メイリオ" pitchFamily="34" charset="-120"/>
              </a:rPr>
              <a:t>注意</a:t>
            </a:r>
            <a:endParaRPr lang="ja-JP" sz="2800" dirty="0"/>
          </a:p>
        </p:txBody>
      </p:sp>
      <p:sp>
        <p:nvSpPr>
          <p:cNvPr id="23" name="Text 21"/>
          <p:cNvSpPr txBox="1"/>
          <p:nvPr/>
        </p:nvSpPr>
        <p:spPr>
          <a:xfrm>
            <a:off x="6441948" y="2651760"/>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4" name="Text 22"/>
          <p:cNvSpPr txBox="1"/>
          <p:nvPr/>
        </p:nvSpPr>
        <p:spPr>
          <a:xfrm>
            <a:off x="6771132" y="2651760"/>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1:200,000（5 μg/mL）で混ぜる</a:t>
            </a:r>
            <a:endParaRPr lang="ja-JP" sz="2200" dirty="0"/>
          </a:p>
        </p:txBody>
      </p:sp>
      <p:sp>
        <p:nvSpPr>
          <p:cNvPr id="25" name="Text 23"/>
          <p:cNvSpPr txBox="1"/>
          <p:nvPr/>
        </p:nvSpPr>
        <p:spPr>
          <a:xfrm>
            <a:off x="6441948" y="3218688"/>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6" name="Text 24"/>
          <p:cNvSpPr txBox="1"/>
          <p:nvPr/>
        </p:nvSpPr>
        <p:spPr>
          <a:xfrm>
            <a:off x="6771132" y="3218688"/>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市販品は 1:100,000 と濃い</a:t>
            </a:r>
            <a:endParaRPr lang="ja-JP" sz="2200" dirty="0"/>
          </a:p>
        </p:txBody>
      </p:sp>
      <p:sp>
        <p:nvSpPr>
          <p:cNvPr id="27" name="Text 25"/>
          <p:cNvSpPr txBox="1"/>
          <p:nvPr/>
        </p:nvSpPr>
        <p:spPr>
          <a:xfrm>
            <a:off x="6441948" y="3785616"/>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8" name="Text 26"/>
          <p:cNvSpPr txBox="1"/>
          <p:nvPr/>
        </p:nvSpPr>
        <p:spPr>
          <a:xfrm>
            <a:off x="6771132" y="3785616"/>
            <a:ext cx="4750308" cy="420624"/>
          </a:xfrm>
          <a:prstGeom prst="rect">
            <a:avLst/>
          </a:prstGeom>
          <a:noFill/>
          <a:ln/>
        </p:spPr>
        <p:txBody>
          <a:bodyPr wrap="square" lIns="0" tIns="0" rIns="0" bIns="0" rtlCol="0" anchor="t"/>
          <a:lstStyle/>
          <a:p>
            <a:pPr algn="l" indent="0" marL="0">
              <a:buNone/>
            </a:pPr>
            <a:r>
              <a:rPr lang="ja-JP" altLang="en-US" sz="2200" b="1" dirty="0">
                <a:solidFill>
                  <a:srgbClr val="C00000"/>
                </a:solidFill>
                <a:latin typeface="メイリオ" pitchFamily="34" charset="0"/>
                <a:ea typeface="メイリオ" pitchFamily="34" charset="-122"/>
                <a:cs typeface="メイリオ" pitchFamily="34" charset="-120"/>
              </a:rPr>
              <a:t>陰茎は添付文書で禁忌</a:t>
            </a:r>
            <a:endParaRPr lang="ja-JP" sz="2200" dirty="0"/>
          </a:p>
        </p:txBody>
      </p:sp>
      <p:sp>
        <p:nvSpPr>
          <p:cNvPr id="29" name="Text 27"/>
          <p:cNvSpPr txBox="1"/>
          <p:nvPr/>
        </p:nvSpPr>
        <p:spPr>
          <a:xfrm>
            <a:off x="6441948" y="4352544"/>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0" name="Text 28"/>
          <p:cNvSpPr txBox="1"/>
          <p:nvPr/>
        </p:nvSpPr>
        <p:spPr>
          <a:xfrm>
            <a:off x="6771132" y="4352544"/>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耳・指趾は慎重に</a:t>
            </a:r>
            <a:endParaRPr lang="ja-JP" sz="2200" dirty="0"/>
          </a:p>
        </p:txBody>
      </p:sp>
      <p:sp>
        <p:nvSpPr>
          <p:cNvPr id="31" name="Text 29"/>
          <p:cNvSpPr txBox="1"/>
          <p:nvPr/>
        </p:nvSpPr>
        <p:spPr>
          <a:xfrm>
            <a:off x="6441948" y="4919472"/>
            <a:ext cx="329184"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2" name="Text 30"/>
          <p:cNvSpPr txBox="1"/>
          <p:nvPr/>
        </p:nvSpPr>
        <p:spPr>
          <a:xfrm>
            <a:off x="6771132" y="4919472"/>
            <a:ext cx="4750308" cy="42062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不整脈、高血圧、虚血性心疾患</a:t>
            </a:r>
            <a:endParaRPr lang="ja-JP"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仕組み</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種類</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最大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用量</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計算</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限界</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 / 日本麻酔科学会「麻酔薬および麻酔関連薬使用ガイドライン 第4版」Ⅴ（2025）</a:t>
            </a:r>
            <a:endParaRPr lang="ja-JP" sz="1600" dirty="0"/>
          </a:p>
        </p:txBody>
      </p:sp>
      <p:sp>
        <p:nvSpPr>
          <p:cNvPr id="11" name="Text 9"/>
          <p:cNvSpPr txBox="1"/>
          <p:nvPr/>
        </p:nvSpPr>
        <p:spPr>
          <a:xfrm>
            <a:off x="502920" y="1691640"/>
            <a:ext cx="11155680" cy="4480560"/>
          </a:xfrm>
          <a:prstGeom prst="rect">
            <a:avLst/>
          </a:prstGeom>
          <a:noFill/>
          <a:ln/>
        </p:spPr>
        <p:txBody>
          <a:bodyPr wrap="square" lIns="0" tIns="0" rIns="0" bIns="0" rtlCol="0" anchor="ctr"/>
          <a:lstStyle/>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Na チャネルを内側から塞ぐ。炎症の組織では効きにくい</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リドカインは速く短い、ブピバカイン系は遅く長い</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添付文書の 1 回量と mg/kg の目安の</a:t>
            </a:r>
            <a:r>
              <a:rPr lang="ja-JP" altLang="en-US" sz="2800" b="1" dirty="0">
                <a:solidFill>
                  <a:srgbClr val="D55E00"/>
                </a:solidFill>
                <a:latin typeface="メイリオ" pitchFamily="34" charset="0"/>
                <a:ea typeface="メイリオ" pitchFamily="34" charset="-122"/>
                <a:cs typeface="メイリオ" pitchFamily="34" charset="-120"/>
              </a:rPr>
              <a:t>低い方</a:t>
            </a:r>
            <a:r>
              <a:rPr lang="ja-JP" altLang="en-US" sz="2800" dirty="0">
                <a:solidFill>
                  <a:srgbClr val="262626"/>
                </a:solidFill>
                <a:latin typeface="メイリオ" pitchFamily="34" charset="0"/>
                <a:ea typeface="メイリオ" pitchFamily="34" charset="-122"/>
                <a:cs typeface="メイリオ" pitchFamily="34" charset="-120"/>
              </a:rPr>
              <a:t>を守る</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針を持つ前に、</a:t>
            </a:r>
            <a:r>
              <a:rPr lang="ja-JP" altLang="en-US" sz="2800" b="1" dirty="0">
                <a:solidFill>
                  <a:srgbClr val="D55E00"/>
                </a:solidFill>
                <a:latin typeface="メイリオ" pitchFamily="34" charset="0"/>
                <a:ea typeface="メイリオ" pitchFamily="34" charset="-122"/>
                <a:cs typeface="メイリオ" pitchFamily="34" charset="-120"/>
              </a:rPr>
              <a:t>上限を mL で計算する</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血管内に入れば</a:t>
            </a:r>
            <a:r>
              <a:rPr lang="ja-JP" altLang="en-US" sz="2800" b="1" dirty="0">
                <a:solidFill>
                  <a:srgbClr val="C00000"/>
                </a:solidFill>
                <a:latin typeface="メイリオ" pitchFamily="34" charset="0"/>
                <a:ea typeface="メイリオ" pitchFamily="34" charset="-122"/>
                <a:cs typeface="メイリオ" pitchFamily="34" charset="-120"/>
              </a:rPr>
              <a:t>用量以下でも中毒</a:t>
            </a:r>
            <a:r>
              <a:rPr lang="ja-JP" altLang="en-US" sz="2800" dirty="0">
                <a:solidFill>
                  <a:srgbClr val="262626"/>
                </a:solidFill>
                <a:latin typeface="メイリオ" pitchFamily="34" charset="0"/>
                <a:ea typeface="メイリオ" pitchFamily="34" charset="-122"/>
                <a:cs typeface="メイリオ" pitchFamily="34" charset="-120"/>
              </a:rPr>
              <a:t>。吸引・分割・会話</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3-11 局所麻酔薬</dc:title>
  <dc:subject/>
  <dc:creator>Anes-lecture</dc:creator>
  <cp:lastModifiedBy>Anes-lecture</cp:lastModifiedBy>
  <cp:revision>1</cp:revision>
  <dcterms:created xsi:type="dcterms:W3CDTF">2026-10-13T18:28:40Z</dcterms:created>
  <dcterms:modified xsi:type="dcterms:W3CDTF">2026-10-13T18:28:40Z</dcterms:modified>
</cp:coreProperties>
</file>