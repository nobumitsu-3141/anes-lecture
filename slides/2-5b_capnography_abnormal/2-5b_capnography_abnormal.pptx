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後半では、波形の変化を「消える」「下がる」「上がる」「形が変わる」の4つに分け、それぞれで考える原因と、最初にすることを扱う。原則は、波形の異常はまず患者（換気と循環）を疑い、次に回路を疑う。</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読む順番: 波形があるか（なければ換気が届いていないか、測れていない）。高さ（EtCO2 の値）はどうか。形はどうか（プラトーの傾き、基線、くぼみ）。傾向はどうか（トレンド画面で、急な変化かじわじわか）。</a:t>
            </a:r>
          </a:p>
          <a:p>
            <a:r>
              <a:rPr lang="ja-JP" altLang="en-US" dirty="0"/>
              <a:t>まず患者: 波形が消えたら、最初に患者の胸の動きと脈を確かめ、必要なら用手換気に切り替える。回路やサンプルラインの確認はそのあと。</a:t>
            </a:r>
          </a:p>
          <a:p>
            <a:r>
              <a:rPr lang="ja-JP" altLang="en-US" dirty="0"/>
              <a:t>他のモニターと一緒に: 気道内圧の上昇があれば閉塞、SpO2 が落ちていれば酸素化の問題、血圧が落ちていれば循環の問題、と組み合わせて考える。</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突然消える＝換気が届いていないか、測れていない。鑑別: 回路の外れ（よく起きる。外れやすいのは気管チューブと回路の接続部）、サンプルラインの外れや閉塞（装置側の問題。他のモニターは正常）、チューブの閉塞や屈曲（気道内圧が上がる）、事故抜管（気道内圧が下がる、リーク音。体位変換のあとに起きやすい）。</a:t>
            </a:r>
          </a:p>
          <a:p>
            <a:r>
              <a:rPr lang="ja-JP" altLang="en-US" dirty="0"/>
              <a:t>食道挿管: 挿管直後の食道挿管では、正常な波形がしばらく続いてから消えるのではない。初めから波形が出ないか、マスク換気で胃に入った CO2 による低い波形が出て、数回の換気で消える。持続する呼気 CO2（7 呼吸以上で高さが保たれるか増え、ピークが基線より 1 kPa ＝ 7.5 mmHg を超える）を確認できなければ、食道挿管を否定するまでその前提で動く（→ 2-5a、7-5）。</a:t>
            </a:r>
          </a:p>
          <a:p>
            <a:r>
              <a:rPr lang="ja-JP" altLang="en-US" dirty="0"/>
              <a:t>心停止との違い: 心停止では肺に血液が来なくなり、EtCO2 は数呼吸のうちに急に下がっていく（一瞬で平坦になるのではない。→ S4）。胸骨圧迫中も、チューブと回路が正しければ、小さくなった波形が見えるのが普通である。蘇生中でも波形が完全に平坦なら、チューブの位置異常・回路外れ・閉塞を否定できるまで、それがあるものとして動く。</a:t>
            </a:r>
          </a:p>
          <a:p>
            <a:r>
              <a:rPr lang="ja-JP" altLang="en-US" dirty="0"/>
              <a:t>回路外れの落とし穴: 外れた場所がサンプリング部位より上流で、自発呼吸があると、波形が残って外れに気づかないことがある。気道内圧と換気量のアラームも合わせて見る。</a:t>
            </a:r>
          </a:p>
          <a:p>
            <a:r>
              <a:rPr lang="ja-JP" altLang="en-US" dirty="0"/>
              <a:t>最初にすること: 患者を見る。胸が動いているか、脈が触れるか。回路を外し、麻酔器とは別の手動換気用バッグ（自己膨張式バッグ）で 100% 酸素の用手換気に切り替え、換気できるか確かめる。吸引カテーテルを通して閉塞を除く。接続とサンプルラインを確認する。心停止なら胸骨圧迫を始め、応援を呼ぶ（→ 6-10 術中心停止）。</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急に下がる（形は保たれる）: 換気は続いているのに肺に届く血流が減ったことを意味する。肺塞栓、空気塞栓（座位の脳外科手術、中心静脈カテーテルの操作など）、急な低血圧や大量出血、心拍出量の急な低下（心筋虚血、不整脈）、心停止（数呼吸かけて急に下がり 0 に近づく）。血圧と脈波を同時に見る。腹腔鏡手術では、CO2 のガス塞栓で一過性の上昇のあと急な低下と低血圧が起こりうる。</a:t>
            </a:r>
          </a:p>
          <a:p>
            <a:r>
              <a:rPr lang="ja-JP" altLang="en-US" dirty="0"/>
              <a:t>形も崩れて下がる: カフの漏れや回路の漏れでは、呼気ガスが一部逃げてプラトーが保てず、形が崩れて低くなる。気道内圧の低下、リーク音、カフ圧の確認。</a:t>
            </a:r>
          </a:p>
          <a:p>
            <a:r>
              <a:rPr lang="ja-JP" altLang="en-US" dirty="0"/>
              <a:t>最初にすること: 血圧と心拍数を確認、出血量を確認、術野（空気塞栓の可能性）を確認し、指導医を呼ぶ（→ 6-2 低血圧）。</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じわじわ下がるときは緊急性が低いことが多いが、原因を確かめる。換気量が多すぎる（分時換気量と設定を見直す）。低体温で代謝が落ちている（体温を確認）。心拍出量が徐々に減っている（出血、脱水、麻酔が深すぎる）。サンプルラインの小さな漏れや、サイドストリームでの希釈（接続部の緩み）。</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上がるときは、排出が減ったか（低換気）、産生が増えたか（発熱、シバリング、悪性高熱症）、運搬が増えたか（CO2 気腹、駆血帯の解除、重炭酸ナトリウムの投与）を考える（→ 6-6 高二酸化炭素血症）。</a:t>
            </a:r>
          </a:p>
          <a:p>
            <a:r>
              <a:rPr lang="ja-JP" altLang="en-US" dirty="0"/>
              <a:t>悪性高熱症: 換気の設定を変えていないのに EtCO2 が上がり続け、換気量を増やしても下がらない。頻脈、筋強直（咬筋強直を含む）、体温の上昇が加わる。体温の上昇は遅れて出ることが多い。体温が正常でも悪性高熱症を否定しない。疑ったら、すぐに応援を呼ぶ（ダントロレンの溶解には人手が要る）。揮発性麻酔薬を止め、100% 酸素・高流量で換気量を増やし、ダントロレンの準備と投与を始める（用量と手順は → 6-9 悪性高熱症）。</a:t>
            </a:r>
          </a:p>
          <a:p>
            <a:r>
              <a:rPr lang="ja-JP" altLang="en-US" dirty="0"/>
              <a:t>吸収剤の劣化: 二酸化炭素吸収剤が消耗すると呼気の CO2 が吸気に混ざり（再呼吸）、基線が 0 に戻らなくなる。次のスライドで扱う。</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基線が上がる＝吸気に CO2 が混ざっている（再呼吸）か、測定が追いついていない。</a:t>
            </a:r>
          </a:p>
          <a:p>
            <a:r>
              <a:rPr lang="ja-JP" altLang="en-US" dirty="0"/>
              <a:t>再呼吸の原因: 二酸化炭素吸収剤の消耗（指示薬の色の変化を確認。色が戻ることもあるので時間でも管理）、呼気弁・吸気弁の固着や破損（弁の動きを目で確認）。CO2 吸収剤のない回路（ジャクソンリースなどの Mapleson 系）は、新鮮ガスで呼気を押し流して再呼吸を防いでいる。新鮮ガス流量が足りないと再呼吸が起こり、基線が上がる。</a:t>
            </a:r>
          </a:p>
          <a:p>
            <a:r>
              <a:rPr lang="ja-JP" altLang="en-US" dirty="0"/>
              <a:t>測定の問題: サイドストリームでは、サンプルラインの中でガスが混ざることと、装置の応答の遅れのため、呼吸数が多く一回換気量が小さいと（小児など）、吸気で 0 まで下がりきらないことがある。これは再呼吸ではなく測定の問題で、吸収剤を換えても直らない。</a:t>
            </a:r>
          </a:p>
          <a:p>
            <a:r>
              <a:rPr lang="ja-JP" altLang="en-US" dirty="0"/>
              <a:t>対処: 吸収剤を交換する。交換までの間は新鮮ガス流量を上げて再呼吸を減らす。弁の故障なら回路を交換する。</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呼気の流れが妨げられると、肺胞ガスが時間差をもって出てくるため、立ち上がりが鈍り、プラトーが斜めになる（α 角が大きくなる）。原因: 気管支攣縮（麻酔が浅い、喘息、アナフィラキシー）、COPD、チューブの屈曲や分泌物による部分閉塞。</a:t>
            </a:r>
          </a:p>
          <a:p>
            <a:r>
              <a:rPr lang="ja-JP" altLang="en-US" dirty="0"/>
              <a:t>一緒に見るもの: 気道内圧（上がっていれば閉塞）、聴診（喘鳴、左右差）、チューブの深さ。吸引カテーテルを通して閉塞を除く。対処は 6-5（気道内圧上昇・換気困難）。</a:t>
            </a:r>
          </a:p>
          <a:p>
            <a:r>
              <a:rPr lang="ja-JP" altLang="en-US" dirty="0"/>
              <a:t>片肺挿管ではカプノグラムがほとんど変わらないことが多い。SpO2 の低下、気道内圧の上昇、呼吸音の左右差、チューブの深さで見つける。</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プラトーのくぼみ（curare cleft）: 人工呼吸中に患者が自分で吸おうとすると、呼気の途中でガスが吸い込まれ、プラトーに V 字のくぼみができる。筋弛緩が切れてきたサインのこともあれば、麻酔が浅く刺激に反応しているサインのこともある。横隔膜は母指の筋より早く筋弛緩から回復するので、母指の TOF カウントが少なくても、くぼみが出ることがある。TOF（→ 2-6）と麻酔深度の両方を確かめ、筋弛緩薬を足すか、麻酔を深くするかを指導医と判断する。麻酔が浅いまま筋弛緩薬だけを足すと、術中覚醒の危険がある。しゃっくりでも似た形になる。</a:t>
            </a:r>
          </a:p>
          <a:p>
            <a:r>
              <a:rPr lang="ja-JP" altLang="en-US" dirty="0"/>
              <a:t>心拍に同期した揺れ（心原性振動）: 心拍で肺が小さく動き、呼気の終わりにさざ波が出る。呼吸数が少なく呼気が長いときに目立つ。異常ではないが、装置が呼吸として数えると呼吸数が実際より多く表示されることがある。</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この表は手元に置いて使う。所見から原因の候補を思い出し、最初にすることを体で覚える。迷ったら「まず患者、次に回路」。蘇生中でも完全に平坦なら、チューブの位置異常を否定できるまでその前提で動く。</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出典（全文）: Kodali BS. Anesthesiology 2013;118:192-201 / Kerslake I, Kelly F. Uses of capnography in the critical care unit. BJA Education 2017;17:178-183 / Chrimes N, et al. Anaesthesia 2022;77:1395-1415</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AWAZOE">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502920" y="320040"/>
            <a:ext cx="8503920" cy="868680"/>
          </a:xfrm>
          <a:prstGeom prst="rect">
            <a:avLst/>
          </a:prstGeom>
          <a:noFill/>
          <a:ln/>
        </p:spPr>
        <p:txBody>
          <a:bodyPr wrap="square" lIns="0" tIns="0" rIns="0" bIns="0" rtlCol="0" anchor="ctr"/>
          <a:lstStyle>
            <a:lvl1pPr algn="l" indent="0" marL="0">
              <a:buNone/>
              <a:defRPr lang="en-US" sz="4400" b="1" dirty="0">
                <a:ln w="28575">
                  <a:solidFill>
                    <a:srgbClr val="000000"/>
                  </a:solidFill>
                </a:ln>
                <a:solidFill>
                  <a:srgbClr val="BF9000"/>
                </a:solidFill>
                <a:latin typeface="メイリオ" pitchFamily="34" charset="0"/>
                <a:ea typeface="メイリオ" pitchFamily="34" charset="-122"/>
                <a:cs typeface="メイリオ" pitchFamily="34" charset="-120"/>
              </a:defRPr>
            </a:lvl1pPr>
          </a:lstStyle>
          <a:p>
            <a:pPr algn="l" indent="0" marL="0">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AWAZOE_COVER">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502920" y="1508760"/>
            <a:ext cx="11183112" cy="1737360"/>
          </a:xfrm>
          <a:prstGeom prst="rect">
            <a:avLst/>
          </a:prstGeom>
          <a:noFill/>
          <a:ln/>
        </p:spPr>
        <p:txBody>
          <a:bodyPr wrap="square" lIns="0" tIns="0" rIns="0" bIns="0" rtlCol="0" anchor="b"/>
          <a:lstStyle>
            <a:lvl1pPr algn="ctr" indent="0" marL="0">
              <a:buNone/>
              <a:defRPr lang="en-US" sz="4400" b="1" dirty="0">
                <a:ln w="28575">
                  <a:solidFill>
                    <a:srgbClr val="000000"/>
                  </a:solidFill>
                </a:ln>
                <a:solidFill>
                  <a:srgbClr val="BF9000"/>
                </a:solidFill>
                <a:latin typeface="メイリオ" pitchFamily="34" charset="0"/>
                <a:ea typeface="メイリオ" pitchFamily="34" charset="-122"/>
                <a:cs typeface="メイリオ" pitchFamily="34" charset="-120"/>
              </a:defRPr>
            </a:lvl1pPr>
          </a:lstStyle>
          <a:p>
            <a:pPr algn="ctr" indent="0" marL="0">
              <a:buNone/>
            </a:pPr>
            <a:endParaRPr lang="en-US" sz="4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p:cNvSpPr>
            <a:spLocks noGrp="1"/>
          </p:cNvSpPr>
          <p:nvPr>
            <p:ph type="title"/>
          </p:nvPr>
        </p:nvSpPr>
        <p:spPr>
          <a:xfrm>
            <a:off x="502920" y="1508760"/>
            <a:ext cx="11183112" cy="1737360"/>
          </a:xfrm>
          <a:prstGeom prst="rect">
            <a:avLst/>
          </a:prstGeom>
          <a:noFill/>
          <a:ln/>
        </p:spPr>
        <p:txBody>
          <a:bodyPr wrap="square" lIns="0" tIns="0" rIns="0" bIns="0" rtlCol="0" anchor="b"/>
          <a:lstStyle/>
          <a:p>
            <a:pPr algn="ctr"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カプノグラフィ② 異常波形の読み方</a:t>
            </a:r>
            <a:endParaRPr lang="ja-JP" sz="4400" dirty="0"/>
          </a:p>
        </p:txBody>
      </p:sp>
      <p:sp>
        <p:nvSpPr>
          <p:cNvPr id="3" name="Shape 1"/>
          <p:cNvSpPr/>
          <p:nvPr/>
        </p:nvSpPr>
        <p:spPr>
          <a:xfrm>
            <a:off x="0" y="3474720"/>
            <a:ext cx="12191970" cy="0"/>
          </a:xfrm>
          <a:prstGeom prst="line">
            <a:avLst/>
          </a:prstGeom>
          <a:noFill/>
          <a:ln w="101600">
            <a:solidFill>
              <a:srgbClr val="BF9000"/>
            </a:solidFill>
            <a:prstDash val="solid"/>
          </a:ln>
        </p:spPr>
      </p:sp>
      <p:sp>
        <p:nvSpPr>
          <p:cNvPr id="4" name="Text 2"/>
          <p:cNvSpPr txBox="1"/>
          <p:nvPr/>
        </p:nvSpPr>
        <p:spPr>
          <a:xfrm>
            <a:off x="502920" y="3749040"/>
            <a:ext cx="11183112" cy="539496"/>
          </a:xfrm>
          <a:prstGeom prst="rect">
            <a:avLst/>
          </a:prstGeom>
          <a:noFill/>
          <a:ln/>
        </p:spPr>
        <p:txBody>
          <a:bodyPr wrap="square" lIns="0" tIns="0" rIns="0" bIns="0" rtlCol="0" anchor="t"/>
          <a:lstStyle/>
          <a:p>
            <a:pPr algn="ctr" indent="0" marL="0">
              <a:buNone/>
            </a:pPr>
            <a:r>
              <a:rPr lang="ja-JP" altLang="en-US" sz="2800" dirty="0">
                <a:solidFill>
                  <a:srgbClr val="262626"/>
                </a:solidFill>
                <a:latin typeface="メイリオ" pitchFamily="34" charset="0"/>
                <a:ea typeface="メイリオ" pitchFamily="34" charset="-122"/>
                <a:cs typeface="メイリオ" pitchFamily="34" charset="-120"/>
              </a:rPr>
              <a:t>2-5 モニタリング</a:t>
            </a:r>
            <a:endParaRPr lang="ja-JP" sz="2800" dirty="0"/>
          </a:p>
        </p:txBody>
      </p:sp>
      <p:sp>
        <p:nvSpPr>
          <p:cNvPr id="5" name="Text 3"/>
          <p:cNvSpPr txBox="1"/>
          <p:nvPr/>
        </p:nvSpPr>
        <p:spPr>
          <a:xfrm>
            <a:off x="502920" y="4693920"/>
            <a:ext cx="11183112" cy="420624"/>
          </a:xfrm>
          <a:prstGeom prst="rect">
            <a:avLst/>
          </a:prstGeom>
          <a:noFill/>
          <a:ln/>
        </p:spPr>
        <p:txBody>
          <a:bodyPr wrap="square" lIns="0" tIns="0" rIns="0" bIns="0" rtlCol="0" anchor="t"/>
          <a:lstStyle/>
          <a:p>
            <a:pPr algn="ctr" indent="0" marL="0">
              <a:buNone/>
            </a:pPr>
            <a:r>
              <a:rPr lang="ja-JP" altLang="en-US" sz="2200" dirty="0">
                <a:solidFill>
                  <a:srgbClr val="595959"/>
                </a:solidFill>
                <a:latin typeface="メイリオ" pitchFamily="34" charset="0"/>
                <a:ea typeface="メイリオ" pitchFamily="34" charset="-122"/>
                <a:cs typeface="メイリオ" pitchFamily="34" charset="-120"/>
              </a:rPr>
              <a:t>初期研修医向け麻酔講義</a:t>
            </a:r>
            <a:endParaRPr lang="ja-JP"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読む順番</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00A8AA"/>
          </a:solidFill>
          <a:ln/>
        </p:spPr>
        <p:txBody>
          <a:bodyPr wrap="squar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順番</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消える・</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下がる</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上がる</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形</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まとめ</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1</a:t>
            </a:r>
            <a:endParaRPr lang="ja-JP" sz="1200" dirty="0"/>
          </a:p>
        </p:txBody>
      </p:sp>
      <p:sp>
        <p:nvSpPr>
          <p:cNvPr id="10" name="Text 8"/>
          <p:cNvSpPr/>
          <p:nvPr/>
        </p:nvSpPr>
        <p:spPr>
          <a:xfrm>
            <a:off x="502920" y="1783080"/>
            <a:ext cx="2331720" cy="1143000"/>
          </a:xfrm>
          <a:prstGeom prst="roundRect">
            <a:avLst>
              <a:gd name="adj" fmla="val 8000"/>
            </a:avLst>
          </a:prstGeom>
          <a:solidFill>
            <a:srgbClr val="F2F2F2"/>
          </a:solidFill>
          <a:ln w="25400">
            <a:solidFill>
              <a:srgbClr val="0072B2"/>
            </a:solidFill>
          </a:ln>
        </p:spPr>
        <p:txBody>
          <a:bodyPr wrap="square" lIns="73152" tIns="73152" rIns="73152" bIns="73152" rtlCol="0" anchor="ctr"/>
          <a:lstStyle/>
          <a:p>
            <a:pPr algn="ctr" indent="0" marL="0">
              <a:buNone/>
            </a:pPr>
            <a:r>
              <a:rPr lang="ja-JP" altLang="en-US" sz="2800" b="1" dirty="0">
                <a:solidFill>
                  <a:srgbClr val="0072B2"/>
                </a:solidFill>
                <a:latin typeface="メイリオ" pitchFamily="34" charset="0"/>
                <a:ea typeface="メイリオ" pitchFamily="34" charset="-122"/>
                <a:cs typeface="メイリオ" pitchFamily="34" charset="-120"/>
              </a:rPr>
              <a:t>①</a:t>
            </a:r>
            <a:endParaRPr lang="ja-JP" sz="2400" dirty="0"/>
          </a:p>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波形はあるか</a:t>
            </a:r>
            <a:endParaRPr lang="ja-JP" sz="2400" dirty="0"/>
          </a:p>
        </p:txBody>
      </p:sp>
      <p:sp>
        <p:nvSpPr>
          <p:cNvPr id="11" name="Shape 9"/>
          <p:cNvSpPr/>
          <p:nvPr/>
        </p:nvSpPr>
        <p:spPr>
          <a:xfrm>
            <a:off x="2944368" y="2354580"/>
            <a:ext cx="399288" cy="0"/>
          </a:xfrm>
          <a:prstGeom prst="line">
            <a:avLst/>
          </a:prstGeom>
          <a:noFill/>
          <a:ln w="38100">
            <a:solidFill>
              <a:srgbClr val="404040"/>
            </a:solidFill>
            <a:prstDash val="solid"/>
            <a:tailEnd type="triangle"/>
          </a:ln>
        </p:spPr>
      </p:sp>
      <p:sp>
        <p:nvSpPr>
          <p:cNvPr id="12" name="Text 10"/>
          <p:cNvSpPr/>
          <p:nvPr/>
        </p:nvSpPr>
        <p:spPr>
          <a:xfrm>
            <a:off x="3453384" y="1783080"/>
            <a:ext cx="2331720" cy="1143000"/>
          </a:xfrm>
          <a:prstGeom prst="roundRect">
            <a:avLst>
              <a:gd name="adj" fmla="val 8000"/>
            </a:avLst>
          </a:prstGeom>
          <a:solidFill>
            <a:srgbClr val="F2F2F2"/>
          </a:solidFill>
          <a:ln w="25400">
            <a:solidFill>
              <a:srgbClr val="0072B2"/>
            </a:solidFill>
          </a:ln>
        </p:spPr>
        <p:txBody>
          <a:bodyPr wrap="square" lIns="73152" tIns="73152" rIns="73152" bIns="73152" rtlCol="0" anchor="ctr"/>
          <a:lstStyle/>
          <a:p>
            <a:pPr algn="ctr" indent="0" marL="0">
              <a:buNone/>
            </a:pPr>
            <a:r>
              <a:rPr lang="ja-JP" altLang="en-US" sz="2800" b="1" dirty="0">
                <a:solidFill>
                  <a:srgbClr val="0072B2"/>
                </a:solidFill>
                <a:latin typeface="メイリオ" pitchFamily="34" charset="0"/>
                <a:ea typeface="メイリオ" pitchFamily="34" charset="-122"/>
                <a:cs typeface="メイリオ" pitchFamily="34" charset="-120"/>
              </a:rPr>
              <a:t>②</a:t>
            </a:r>
            <a:endParaRPr lang="ja-JP" sz="2400" dirty="0"/>
          </a:p>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高さ（値）は</a:t>
            </a:r>
            <a:endParaRPr lang="ja-JP" sz="2400" dirty="0"/>
          </a:p>
        </p:txBody>
      </p:sp>
      <p:sp>
        <p:nvSpPr>
          <p:cNvPr id="13" name="Shape 11"/>
          <p:cNvSpPr/>
          <p:nvPr/>
        </p:nvSpPr>
        <p:spPr>
          <a:xfrm>
            <a:off x="5894832" y="2354580"/>
            <a:ext cx="399288" cy="0"/>
          </a:xfrm>
          <a:prstGeom prst="line">
            <a:avLst/>
          </a:prstGeom>
          <a:noFill/>
          <a:ln w="38100">
            <a:solidFill>
              <a:srgbClr val="404040"/>
            </a:solidFill>
            <a:prstDash val="solid"/>
            <a:tailEnd type="triangle"/>
          </a:ln>
        </p:spPr>
      </p:sp>
      <p:sp>
        <p:nvSpPr>
          <p:cNvPr id="14" name="Text 12"/>
          <p:cNvSpPr/>
          <p:nvPr/>
        </p:nvSpPr>
        <p:spPr>
          <a:xfrm>
            <a:off x="6403848" y="1783080"/>
            <a:ext cx="2331720" cy="1143000"/>
          </a:xfrm>
          <a:prstGeom prst="roundRect">
            <a:avLst>
              <a:gd name="adj" fmla="val 8000"/>
            </a:avLst>
          </a:prstGeom>
          <a:solidFill>
            <a:srgbClr val="F2F2F2"/>
          </a:solidFill>
          <a:ln w="25400">
            <a:solidFill>
              <a:srgbClr val="0072B2"/>
            </a:solidFill>
          </a:ln>
        </p:spPr>
        <p:txBody>
          <a:bodyPr wrap="square" lIns="73152" tIns="73152" rIns="73152" bIns="73152" rtlCol="0" anchor="ctr"/>
          <a:lstStyle/>
          <a:p>
            <a:pPr algn="ctr" indent="0" marL="0">
              <a:buNone/>
            </a:pPr>
            <a:r>
              <a:rPr lang="ja-JP" altLang="en-US" sz="2800" b="1" dirty="0">
                <a:solidFill>
                  <a:srgbClr val="0072B2"/>
                </a:solidFill>
                <a:latin typeface="メイリオ" pitchFamily="34" charset="0"/>
                <a:ea typeface="メイリオ" pitchFamily="34" charset="-122"/>
                <a:cs typeface="メイリオ" pitchFamily="34" charset="-120"/>
              </a:rPr>
              <a:t>③</a:t>
            </a:r>
            <a:endParaRPr lang="ja-JP" sz="2400" dirty="0"/>
          </a:p>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形は</a:t>
            </a:r>
            <a:endParaRPr lang="ja-JP" sz="2400" dirty="0"/>
          </a:p>
        </p:txBody>
      </p:sp>
      <p:sp>
        <p:nvSpPr>
          <p:cNvPr id="15" name="Shape 13"/>
          <p:cNvSpPr/>
          <p:nvPr/>
        </p:nvSpPr>
        <p:spPr>
          <a:xfrm>
            <a:off x="8845296" y="2354580"/>
            <a:ext cx="399288" cy="0"/>
          </a:xfrm>
          <a:prstGeom prst="line">
            <a:avLst/>
          </a:prstGeom>
          <a:noFill/>
          <a:ln w="38100">
            <a:solidFill>
              <a:srgbClr val="404040"/>
            </a:solidFill>
            <a:prstDash val="solid"/>
            <a:tailEnd type="triangle"/>
          </a:ln>
        </p:spPr>
      </p:sp>
      <p:sp>
        <p:nvSpPr>
          <p:cNvPr id="16" name="Text 14"/>
          <p:cNvSpPr/>
          <p:nvPr/>
        </p:nvSpPr>
        <p:spPr>
          <a:xfrm>
            <a:off x="9354312" y="1783080"/>
            <a:ext cx="2331720" cy="1143000"/>
          </a:xfrm>
          <a:prstGeom prst="roundRect">
            <a:avLst>
              <a:gd name="adj" fmla="val 8000"/>
            </a:avLst>
          </a:prstGeom>
          <a:solidFill>
            <a:srgbClr val="F2F2F2"/>
          </a:solidFill>
          <a:ln w="25400">
            <a:solidFill>
              <a:srgbClr val="0072B2"/>
            </a:solidFill>
          </a:ln>
        </p:spPr>
        <p:txBody>
          <a:bodyPr wrap="square" lIns="73152" tIns="73152" rIns="73152" bIns="73152" rtlCol="0" anchor="ctr"/>
          <a:lstStyle/>
          <a:p>
            <a:pPr algn="ctr" indent="0" marL="0">
              <a:buNone/>
            </a:pPr>
            <a:r>
              <a:rPr lang="ja-JP" altLang="en-US" sz="2800" b="1" dirty="0">
                <a:solidFill>
                  <a:srgbClr val="0072B2"/>
                </a:solidFill>
                <a:latin typeface="メイリオ" pitchFamily="34" charset="0"/>
                <a:ea typeface="メイリオ" pitchFamily="34" charset="-122"/>
                <a:cs typeface="メイリオ" pitchFamily="34" charset="-120"/>
              </a:rPr>
              <a:t>④</a:t>
            </a:r>
            <a:endParaRPr lang="ja-JP" sz="2400" dirty="0"/>
          </a:p>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傾向は</a:t>
            </a:r>
            <a:endParaRPr lang="ja-JP" sz="2400" dirty="0"/>
          </a:p>
        </p:txBody>
      </p:sp>
      <p:sp>
        <p:nvSpPr>
          <p:cNvPr id="17" name="Text 15"/>
          <p:cNvSpPr/>
          <p:nvPr/>
        </p:nvSpPr>
        <p:spPr>
          <a:xfrm>
            <a:off x="502920" y="3383280"/>
            <a:ext cx="11183112" cy="868680"/>
          </a:xfrm>
          <a:prstGeom prst="roundRect">
            <a:avLst>
              <a:gd name="adj" fmla="val 8421"/>
            </a:avLst>
          </a:prstGeom>
          <a:solidFill>
            <a:srgbClr val="F2F2F2"/>
          </a:solidFill>
          <a:ln w="28575">
            <a:solidFill>
              <a:srgbClr val="00A8AA"/>
            </a:solidFill>
          </a:ln>
        </p:spPr>
        <p:txBody>
          <a:bodyPr wrap="square" lIns="73152" tIns="73152" rIns="73152" bIns="73152" rtlCol="0" anchor="ctr"/>
          <a:lstStyle/>
          <a:p>
            <a:pPr algn="ctr" indent="0" marL="0">
              <a:buNone/>
            </a:pPr>
            <a:r>
              <a:rPr lang="ja-JP" altLang="en-US" sz="2800" b="1" dirty="0">
                <a:solidFill>
                  <a:srgbClr val="00A8AA"/>
                </a:solidFill>
                <a:latin typeface="メイリオ" pitchFamily="34" charset="0"/>
                <a:ea typeface="メイリオ" pitchFamily="34" charset="-122"/>
                <a:cs typeface="メイリオ" pitchFamily="34" charset="-120"/>
              </a:rPr>
              <a:t>異常は、まず患者（換気・循環）、次に回路</a:t>
            </a:r>
            <a:endParaRPr lang="ja-JP" sz="2800" dirty="0"/>
          </a:p>
        </p:txBody>
      </p:sp>
      <p:sp>
        <p:nvSpPr>
          <p:cNvPr id="18" name="Text 16"/>
          <p:cNvSpPr txBox="1"/>
          <p:nvPr/>
        </p:nvSpPr>
        <p:spPr>
          <a:xfrm>
            <a:off x="502920" y="4663440"/>
            <a:ext cx="11155680" cy="1115568"/>
          </a:xfrm>
          <a:prstGeom prst="rect">
            <a:avLst/>
          </a:prstGeom>
          <a:noFill/>
          <a:ln/>
        </p:spPr>
        <p:txBody>
          <a:bodyPr wrap="square" lIns="0" tIns="0" rIns="0" bIns="0" rtlCol="0" anchor="t"/>
          <a:lstStyle/>
          <a:p>
            <a:pPr algn="l" marL="355600" indent="-355600">
              <a:spcAft>
                <a:spcPts val="14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変化の速さで絞る：突然か、じわじわか</a:t>
            </a:r>
            <a:endParaRPr lang="ja-JP" sz="2400" dirty="0"/>
          </a:p>
          <a:p>
            <a:pPr algn="l" marL="355600" indent="-355600">
              <a:spcAft>
                <a:spcPts val="14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気道内圧・SpO2・血圧と一緒に見る</a:t>
            </a:r>
            <a:endParaRPr lang="ja-JP"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突然消えた</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順番</a:t>
            </a:r>
            <a:endParaRPr lang="ja-JP" sz="1100" dirty="0"/>
          </a:p>
        </p:txBody>
      </p:sp>
      <p:sp>
        <p:nvSpPr>
          <p:cNvPr id="5" name="Text 3"/>
          <p:cNvSpPr/>
          <p:nvPr/>
        </p:nvSpPr>
        <p:spPr>
          <a:xfrm>
            <a:off x="9354312" y="54864"/>
            <a:ext cx="621792" cy="585216"/>
          </a:xfrm>
          <a:prstGeom prst="roundRect">
            <a:avLst>
              <a:gd name="adj" fmla="val 15625"/>
            </a:avLst>
          </a:prstGeom>
          <a:solidFill>
            <a:srgbClr val="00A8AA"/>
          </a:solidFill>
          <a:ln/>
        </p:spPr>
        <p:txBody>
          <a:bodyPr wrap="squar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消える・</a:t>
            </a:r>
            <a:endParaRPr lang="ja-JP" sz="1100" dirty="0"/>
          </a:p>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下がる</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上がる</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形</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まとめ</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2</a:t>
            </a:r>
            <a:endParaRPr lang="ja-JP" sz="1200" dirty="0"/>
          </a:p>
        </p:txBody>
      </p:sp>
      <p:sp>
        <p:nvSpPr>
          <p:cNvPr id="10" name="Text 8"/>
          <p:cNvSpPr txBox="1"/>
          <p:nvPr/>
        </p:nvSpPr>
        <p:spPr>
          <a:xfrm>
            <a:off x="502920" y="6263640"/>
            <a:ext cx="10607040" cy="45720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Chrimes N, et al. Anaesthesia 2022;77:1395-1415</a:t>
            </a:r>
            <a:endParaRPr lang="ja-JP" sz="1600" dirty="0"/>
          </a:p>
        </p:txBody>
      </p:sp>
      <p:sp>
        <p:nvSpPr>
          <p:cNvPr id="11" name="Shape 9"/>
          <p:cNvSpPr/>
          <p:nvPr/>
        </p:nvSpPr>
        <p:spPr>
          <a:xfrm flipV="1">
            <a:off x="777240" y="1828800"/>
            <a:ext cx="0" cy="2606040"/>
          </a:xfrm>
          <a:prstGeom prst="line">
            <a:avLst/>
          </a:prstGeom>
          <a:noFill/>
          <a:ln w="25400">
            <a:solidFill>
              <a:srgbClr val="7F7F7F"/>
            </a:solidFill>
            <a:prstDash val="solid"/>
            <a:tailEnd type="triangle"/>
          </a:ln>
        </p:spPr>
      </p:sp>
      <p:sp>
        <p:nvSpPr>
          <p:cNvPr id="12" name="Shape 10"/>
          <p:cNvSpPr/>
          <p:nvPr/>
        </p:nvSpPr>
        <p:spPr>
          <a:xfrm>
            <a:off x="777240" y="4434840"/>
            <a:ext cx="4160520" cy="0"/>
          </a:xfrm>
          <a:prstGeom prst="line">
            <a:avLst/>
          </a:prstGeom>
          <a:noFill/>
          <a:ln w="25400">
            <a:solidFill>
              <a:srgbClr val="7F7F7F"/>
            </a:solidFill>
            <a:prstDash val="solid"/>
            <a:tailEnd type="triangle"/>
          </a:ln>
        </p:spPr>
      </p:sp>
      <p:sp>
        <p:nvSpPr>
          <p:cNvPr id="13" name="Shape 11"/>
          <p:cNvSpPr/>
          <p:nvPr/>
        </p:nvSpPr>
        <p:spPr>
          <a:xfrm>
            <a:off x="850392" y="2560320"/>
            <a:ext cx="2057400" cy="1874520"/>
          </a:xfrm>
          <a:custGeom>
            <a:avLst/>
            <a:gdLst/>
            <a:ahLst/>
            <a:cxnLst/>
            <a:rect l="l" t="t" r="r" b="b"/>
            <a:pathLst>
              <a:path w="2057400" h="1874520">
                <a:moveTo>
                  <a:pt x="0" y="1874520"/>
                </a:moveTo>
                <a:lnTo>
                  <a:pt x="82296" y="1874520"/>
                </a:lnTo>
                <a:lnTo>
                  <a:pt x="92354" y="1665122"/>
                </a:lnTo>
                <a:lnTo>
                  <a:pt x="106070" y="793699"/>
                </a:lnTo>
                <a:lnTo>
                  <a:pt x="119786" y="253289"/>
                </a:lnTo>
                <a:lnTo>
                  <a:pt x="133502" y="130759"/>
                </a:lnTo>
                <a:lnTo>
                  <a:pt x="480060" y="0"/>
                </a:lnTo>
                <a:lnTo>
                  <a:pt x="488290" y="562356"/>
                </a:lnTo>
                <a:lnTo>
                  <a:pt x="500177" y="1762049"/>
                </a:lnTo>
                <a:lnTo>
                  <a:pt x="511150" y="1874520"/>
                </a:lnTo>
                <a:lnTo>
                  <a:pt x="685800" y="1874520"/>
                </a:lnTo>
                <a:lnTo>
                  <a:pt x="768096" y="1874520"/>
                </a:lnTo>
                <a:lnTo>
                  <a:pt x="778154" y="1665122"/>
                </a:lnTo>
                <a:lnTo>
                  <a:pt x="791870" y="793699"/>
                </a:lnTo>
                <a:lnTo>
                  <a:pt x="805586" y="253289"/>
                </a:lnTo>
                <a:lnTo>
                  <a:pt x="819302" y="130759"/>
                </a:lnTo>
                <a:lnTo>
                  <a:pt x="1165860" y="0"/>
                </a:lnTo>
                <a:lnTo>
                  <a:pt x="1174090" y="562356"/>
                </a:lnTo>
                <a:lnTo>
                  <a:pt x="1186891" y="1762049"/>
                </a:lnTo>
                <a:lnTo>
                  <a:pt x="1196950" y="1874520"/>
                </a:lnTo>
                <a:lnTo>
                  <a:pt x="1371600" y="1874520"/>
                </a:lnTo>
                <a:lnTo>
                  <a:pt x="1453896" y="1874520"/>
                </a:lnTo>
                <a:lnTo>
                  <a:pt x="1463954" y="1665122"/>
                </a:lnTo>
                <a:lnTo>
                  <a:pt x="1477670" y="793699"/>
                </a:lnTo>
                <a:lnTo>
                  <a:pt x="1491386" y="253289"/>
                </a:lnTo>
                <a:lnTo>
                  <a:pt x="1505102" y="130759"/>
                </a:lnTo>
                <a:lnTo>
                  <a:pt x="1851660" y="0"/>
                </a:lnTo>
                <a:lnTo>
                  <a:pt x="1859890" y="562356"/>
                </a:lnTo>
                <a:lnTo>
                  <a:pt x="1871777" y="1762049"/>
                </a:lnTo>
                <a:lnTo>
                  <a:pt x="1882750" y="1874520"/>
                </a:lnTo>
                <a:lnTo>
                  <a:pt x="2057400" y="1874520"/>
                </a:lnTo>
              </a:path>
            </a:pathLst>
          </a:custGeom>
          <a:noFill/>
          <a:ln w="44450">
            <a:solidFill>
              <a:srgbClr val="0072B2"/>
            </a:solidFill>
            <a:prstDash val="solid"/>
          </a:ln>
        </p:spPr>
      </p:sp>
      <p:sp>
        <p:nvSpPr>
          <p:cNvPr id="14" name="Shape 12"/>
          <p:cNvSpPr/>
          <p:nvPr/>
        </p:nvSpPr>
        <p:spPr>
          <a:xfrm>
            <a:off x="2907792" y="4434840"/>
            <a:ext cx="1865376" cy="9144"/>
          </a:xfrm>
          <a:custGeom>
            <a:avLst/>
            <a:gdLst/>
            <a:ahLst/>
            <a:cxnLst/>
            <a:rect l="l" t="t" r="r" b="b"/>
            <a:pathLst>
              <a:path w="1865376" h="9144">
                <a:moveTo>
                  <a:pt x="0" y="0"/>
                </a:moveTo>
                <a:lnTo>
                  <a:pt x="1865376" y="0"/>
                </a:lnTo>
              </a:path>
            </a:pathLst>
          </a:custGeom>
          <a:noFill/>
          <a:ln w="44450">
            <a:solidFill>
              <a:srgbClr val="D55E00"/>
            </a:solidFill>
            <a:prstDash val="solid"/>
          </a:ln>
        </p:spPr>
      </p:sp>
      <p:sp>
        <p:nvSpPr>
          <p:cNvPr id="15" name="Text 13"/>
          <p:cNvSpPr txBox="1"/>
          <p:nvPr/>
        </p:nvSpPr>
        <p:spPr>
          <a:xfrm>
            <a:off x="5349240" y="1778508"/>
            <a:ext cx="384048"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a:t>
            </a:r>
            <a:endParaRPr lang="ja-JP" sz="2400" dirty="0"/>
          </a:p>
        </p:txBody>
      </p:sp>
      <p:sp>
        <p:nvSpPr>
          <p:cNvPr id="16" name="Text 14"/>
          <p:cNvSpPr txBox="1"/>
          <p:nvPr/>
        </p:nvSpPr>
        <p:spPr>
          <a:xfrm>
            <a:off x="5733288" y="1778508"/>
            <a:ext cx="5952744"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回路外れ・サンプルラインの外れ</a:t>
            </a:r>
            <a:endParaRPr lang="ja-JP" sz="2400" dirty="0"/>
          </a:p>
        </p:txBody>
      </p:sp>
      <p:sp>
        <p:nvSpPr>
          <p:cNvPr id="17" name="Text 15"/>
          <p:cNvSpPr txBox="1"/>
          <p:nvPr/>
        </p:nvSpPr>
        <p:spPr>
          <a:xfrm>
            <a:off x="5349240" y="2528316"/>
            <a:ext cx="384048"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a:t>
            </a:r>
            <a:endParaRPr lang="ja-JP" sz="2400" dirty="0"/>
          </a:p>
        </p:txBody>
      </p:sp>
      <p:sp>
        <p:nvSpPr>
          <p:cNvPr id="18" name="Text 16"/>
          <p:cNvSpPr txBox="1"/>
          <p:nvPr/>
        </p:nvSpPr>
        <p:spPr>
          <a:xfrm>
            <a:off x="5733288" y="2528316"/>
            <a:ext cx="5952744"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チューブの閉塞・屈曲・事故抜管</a:t>
            </a:r>
            <a:endParaRPr lang="ja-JP" sz="2400" dirty="0"/>
          </a:p>
        </p:txBody>
      </p:sp>
      <p:sp>
        <p:nvSpPr>
          <p:cNvPr id="19" name="Text 17"/>
          <p:cNvSpPr txBox="1"/>
          <p:nvPr/>
        </p:nvSpPr>
        <p:spPr>
          <a:xfrm>
            <a:off x="5349240" y="3278124"/>
            <a:ext cx="384048"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a:t>
            </a:r>
            <a:endParaRPr lang="ja-JP" sz="2400" dirty="0"/>
          </a:p>
        </p:txBody>
      </p:sp>
      <p:sp>
        <p:nvSpPr>
          <p:cNvPr id="20" name="Text 18"/>
          <p:cNvSpPr txBox="1"/>
          <p:nvPr/>
        </p:nvSpPr>
        <p:spPr>
          <a:xfrm>
            <a:off x="5733288" y="3278124"/>
            <a:ext cx="5952744"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食道挿管（初めから出ない）</a:t>
            </a:r>
            <a:endParaRPr lang="ja-JP" sz="2400" dirty="0"/>
          </a:p>
        </p:txBody>
      </p:sp>
      <p:sp>
        <p:nvSpPr>
          <p:cNvPr id="21" name="Text 19"/>
          <p:cNvSpPr txBox="1"/>
          <p:nvPr/>
        </p:nvSpPr>
        <p:spPr>
          <a:xfrm>
            <a:off x="5349240" y="4027932"/>
            <a:ext cx="384048"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a:t>
            </a:r>
            <a:endParaRPr lang="ja-JP" sz="2400" dirty="0"/>
          </a:p>
        </p:txBody>
      </p:sp>
      <p:sp>
        <p:nvSpPr>
          <p:cNvPr id="22" name="Text 20"/>
          <p:cNvSpPr txBox="1"/>
          <p:nvPr/>
        </p:nvSpPr>
        <p:spPr>
          <a:xfrm>
            <a:off x="5733288" y="4027932"/>
            <a:ext cx="5952744"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蘇生中でも平坦 ＝ </a:t>
            </a:r>
            <a:r>
              <a:rPr lang="ja-JP" altLang="en-US" sz="2400" b="1" dirty="0">
                <a:solidFill>
                  <a:srgbClr val="C00000"/>
                </a:solidFill>
                <a:latin typeface="メイリオ" pitchFamily="34" charset="0"/>
                <a:ea typeface="メイリオ" pitchFamily="34" charset="-122"/>
                <a:cs typeface="メイリオ" pitchFamily="34" charset="-120"/>
              </a:rPr>
              <a:t>位置異常を疑う</a:t>
            </a:r>
            <a:endParaRPr lang="ja-JP" sz="2400" dirty="0"/>
          </a:p>
        </p:txBody>
      </p:sp>
      <p:sp>
        <p:nvSpPr>
          <p:cNvPr id="23" name="Text 21"/>
          <p:cNvSpPr/>
          <p:nvPr/>
        </p:nvSpPr>
        <p:spPr>
          <a:xfrm>
            <a:off x="502920" y="4983480"/>
            <a:ext cx="11183112" cy="777240"/>
          </a:xfrm>
          <a:prstGeom prst="roundRect">
            <a:avLst>
              <a:gd name="adj" fmla="val 9412"/>
            </a:avLst>
          </a:prstGeom>
          <a:solidFill>
            <a:srgbClr val="F2F2F2"/>
          </a:solidFill>
          <a:ln w="28575">
            <a:solidFill>
              <a:srgbClr val="C00000"/>
            </a:solidFill>
          </a:ln>
        </p:spPr>
        <p:txBody>
          <a:bodyPr wrap="square" lIns="73152" tIns="73152" rIns="73152" bIns="73152" rtlCol="0" anchor="ctr"/>
          <a:lstStyle/>
          <a:p>
            <a:pPr algn="ctr" indent="0" marL="0">
              <a:buNone/>
            </a:pPr>
            <a:r>
              <a:rPr lang="ja-JP" altLang="en-US" sz="2800" b="1" dirty="0">
                <a:solidFill>
                  <a:srgbClr val="C00000"/>
                </a:solidFill>
                <a:latin typeface="メイリオ" pitchFamily="34" charset="0"/>
                <a:ea typeface="メイリオ" pitchFamily="34" charset="-122"/>
                <a:cs typeface="メイリオ" pitchFamily="34" charset="-120"/>
              </a:rPr>
              <a:t>まず患者：胸を見る・脈を触れる・用手換気</a:t>
            </a:r>
            <a:endParaRPr lang="ja-JP"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急に下がる</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順番</a:t>
            </a:r>
            <a:endParaRPr lang="ja-JP" sz="1100" dirty="0"/>
          </a:p>
        </p:txBody>
      </p:sp>
      <p:sp>
        <p:nvSpPr>
          <p:cNvPr id="5" name="Text 3"/>
          <p:cNvSpPr/>
          <p:nvPr/>
        </p:nvSpPr>
        <p:spPr>
          <a:xfrm>
            <a:off x="9354312" y="54864"/>
            <a:ext cx="621792" cy="585216"/>
          </a:xfrm>
          <a:prstGeom prst="roundRect">
            <a:avLst>
              <a:gd name="adj" fmla="val 15625"/>
            </a:avLst>
          </a:prstGeom>
          <a:solidFill>
            <a:srgbClr val="00A8AA"/>
          </a:solidFill>
          <a:ln/>
        </p:spPr>
        <p:txBody>
          <a:bodyPr wrap="squar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消える・</a:t>
            </a:r>
            <a:endParaRPr lang="ja-JP" sz="1100" dirty="0"/>
          </a:p>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下がる</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上がる</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形</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まとめ</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3</a:t>
            </a:r>
            <a:endParaRPr lang="ja-JP" sz="1200" dirty="0"/>
          </a:p>
        </p:txBody>
      </p:sp>
      <p:sp>
        <p:nvSpPr>
          <p:cNvPr id="10" name="Shape 8"/>
          <p:cNvSpPr/>
          <p:nvPr/>
        </p:nvSpPr>
        <p:spPr>
          <a:xfrm flipV="1">
            <a:off x="777240" y="1874520"/>
            <a:ext cx="0" cy="3657600"/>
          </a:xfrm>
          <a:prstGeom prst="line">
            <a:avLst/>
          </a:prstGeom>
          <a:noFill/>
          <a:ln w="25400">
            <a:solidFill>
              <a:srgbClr val="7F7F7F"/>
            </a:solidFill>
            <a:prstDash val="solid"/>
            <a:tailEnd type="triangle"/>
          </a:ln>
        </p:spPr>
      </p:sp>
      <p:sp>
        <p:nvSpPr>
          <p:cNvPr id="11" name="Shape 9"/>
          <p:cNvSpPr/>
          <p:nvPr/>
        </p:nvSpPr>
        <p:spPr>
          <a:xfrm>
            <a:off x="777240" y="5532120"/>
            <a:ext cx="4160520" cy="0"/>
          </a:xfrm>
          <a:prstGeom prst="line">
            <a:avLst/>
          </a:prstGeom>
          <a:noFill/>
          <a:ln w="25400">
            <a:solidFill>
              <a:srgbClr val="7F7F7F"/>
            </a:solidFill>
            <a:prstDash val="solid"/>
            <a:tailEnd type="triangle"/>
          </a:ln>
        </p:spPr>
      </p:sp>
      <p:sp>
        <p:nvSpPr>
          <p:cNvPr id="12" name="Shape 10"/>
          <p:cNvSpPr/>
          <p:nvPr/>
        </p:nvSpPr>
        <p:spPr>
          <a:xfrm>
            <a:off x="850392" y="2971800"/>
            <a:ext cx="2359152" cy="2560320"/>
          </a:xfrm>
          <a:custGeom>
            <a:avLst/>
            <a:gdLst/>
            <a:ahLst/>
            <a:cxnLst/>
            <a:rect l="l" t="t" r="r" b="b"/>
            <a:pathLst>
              <a:path w="2359152" h="2560320">
                <a:moveTo>
                  <a:pt x="0" y="2560320"/>
                </a:moveTo>
                <a:lnTo>
                  <a:pt x="94183" y="2560320"/>
                </a:lnTo>
                <a:lnTo>
                  <a:pt x="106070" y="2275027"/>
                </a:lnTo>
                <a:lnTo>
                  <a:pt x="121615" y="1084478"/>
                </a:lnTo>
                <a:lnTo>
                  <a:pt x="137160" y="345643"/>
                </a:lnTo>
                <a:lnTo>
                  <a:pt x="153619" y="179222"/>
                </a:lnTo>
                <a:lnTo>
                  <a:pt x="550469" y="0"/>
                </a:lnTo>
                <a:lnTo>
                  <a:pt x="559613" y="768096"/>
                </a:lnTo>
                <a:lnTo>
                  <a:pt x="574243" y="2406701"/>
                </a:lnTo>
                <a:lnTo>
                  <a:pt x="586130" y="2560320"/>
                </a:lnTo>
                <a:lnTo>
                  <a:pt x="786384" y="2560320"/>
                </a:lnTo>
                <a:lnTo>
                  <a:pt x="880567" y="2560320"/>
                </a:lnTo>
                <a:lnTo>
                  <a:pt x="892454" y="2275027"/>
                </a:lnTo>
                <a:lnTo>
                  <a:pt x="907999" y="1084478"/>
                </a:lnTo>
                <a:lnTo>
                  <a:pt x="924458" y="345643"/>
                </a:lnTo>
                <a:lnTo>
                  <a:pt x="940003" y="179222"/>
                </a:lnTo>
                <a:lnTo>
                  <a:pt x="1336853" y="0"/>
                </a:lnTo>
                <a:lnTo>
                  <a:pt x="1345997" y="768096"/>
                </a:lnTo>
                <a:lnTo>
                  <a:pt x="1360627" y="2406701"/>
                </a:lnTo>
                <a:lnTo>
                  <a:pt x="1372514" y="2560320"/>
                </a:lnTo>
                <a:lnTo>
                  <a:pt x="1572768" y="2560320"/>
                </a:lnTo>
                <a:lnTo>
                  <a:pt x="1666951" y="2560320"/>
                </a:lnTo>
                <a:lnTo>
                  <a:pt x="1678838" y="2275027"/>
                </a:lnTo>
                <a:lnTo>
                  <a:pt x="1694383" y="1084478"/>
                </a:lnTo>
                <a:lnTo>
                  <a:pt x="1710842" y="345643"/>
                </a:lnTo>
                <a:lnTo>
                  <a:pt x="1726387" y="179222"/>
                </a:lnTo>
                <a:lnTo>
                  <a:pt x="2123237" y="0"/>
                </a:lnTo>
                <a:lnTo>
                  <a:pt x="2132381" y="768096"/>
                </a:lnTo>
                <a:lnTo>
                  <a:pt x="2147011" y="2406701"/>
                </a:lnTo>
                <a:lnTo>
                  <a:pt x="2158898" y="2560320"/>
                </a:lnTo>
                <a:lnTo>
                  <a:pt x="2359152" y="2560320"/>
                </a:lnTo>
              </a:path>
            </a:pathLst>
          </a:custGeom>
          <a:noFill/>
          <a:ln w="44450">
            <a:solidFill>
              <a:srgbClr val="0072B2"/>
            </a:solidFill>
            <a:prstDash val="solid"/>
          </a:ln>
        </p:spPr>
      </p:sp>
      <p:sp>
        <p:nvSpPr>
          <p:cNvPr id="13" name="Shape 11"/>
          <p:cNvSpPr/>
          <p:nvPr/>
        </p:nvSpPr>
        <p:spPr>
          <a:xfrm>
            <a:off x="3209544" y="4251960"/>
            <a:ext cx="1572768" cy="1280160"/>
          </a:xfrm>
          <a:custGeom>
            <a:avLst/>
            <a:gdLst/>
            <a:ahLst/>
            <a:cxnLst/>
            <a:rect l="l" t="t" r="r" b="b"/>
            <a:pathLst>
              <a:path w="1572768" h="1280160">
                <a:moveTo>
                  <a:pt x="0" y="1280160"/>
                </a:moveTo>
                <a:lnTo>
                  <a:pt x="94183" y="1280160"/>
                </a:lnTo>
                <a:lnTo>
                  <a:pt x="106070" y="1137514"/>
                </a:lnTo>
                <a:lnTo>
                  <a:pt x="121615" y="542239"/>
                </a:lnTo>
                <a:lnTo>
                  <a:pt x="138074" y="172822"/>
                </a:lnTo>
                <a:lnTo>
                  <a:pt x="153619" y="89611"/>
                </a:lnTo>
                <a:lnTo>
                  <a:pt x="550469" y="0"/>
                </a:lnTo>
                <a:lnTo>
                  <a:pt x="559613" y="384048"/>
                </a:lnTo>
                <a:lnTo>
                  <a:pt x="574243" y="1203350"/>
                </a:lnTo>
                <a:lnTo>
                  <a:pt x="586130" y="1280160"/>
                </a:lnTo>
                <a:lnTo>
                  <a:pt x="786384" y="1280160"/>
                </a:lnTo>
                <a:lnTo>
                  <a:pt x="880567" y="1280160"/>
                </a:lnTo>
                <a:lnTo>
                  <a:pt x="892454" y="1137514"/>
                </a:lnTo>
                <a:lnTo>
                  <a:pt x="907999" y="542239"/>
                </a:lnTo>
                <a:lnTo>
                  <a:pt x="924458" y="172822"/>
                </a:lnTo>
                <a:lnTo>
                  <a:pt x="940003" y="89611"/>
                </a:lnTo>
                <a:lnTo>
                  <a:pt x="1336853" y="0"/>
                </a:lnTo>
                <a:lnTo>
                  <a:pt x="1345997" y="384048"/>
                </a:lnTo>
                <a:lnTo>
                  <a:pt x="1360627" y="1203350"/>
                </a:lnTo>
                <a:lnTo>
                  <a:pt x="1372514" y="1280160"/>
                </a:lnTo>
                <a:lnTo>
                  <a:pt x="1572768" y="1280160"/>
                </a:lnTo>
              </a:path>
            </a:pathLst>
          </a:custGeom>
          <a:noFill/>
          <a:ln w="44450">
            <a:solidFill>
              <a:srgbClr val="D55E00"/>
            </a:solidFill>
            <a:prstDash val="solid"/>
          </a:ln>
        </p:spPr>
      </p:sp>
      <p:sp>
        <p:nvSpPr>
          <p:cNvPr id="14" name="Text 12"/>
          <p:cNvSpPr txBox="1"/>
          <p:nvPr/>
        </p:nvSpPr>
        <p:spPr>
          <a:xfrm>
            <a:off x="5349240" y="1783080"/>
            <a:ext cx="384048"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a:t>
            </a:r>
            <a:endParaRPr lang="ja-JP" sz="2400" dirty="0"/>
          </a:p>
        </p:txBody>
      </p:sp>
      <p:sp>
        <p:nvSpPr>
          <p:cNvPr id="15" name="Text 13"/>
          <p:cNvSpPr txBox="1"/>
          <p:nvPr/>
        </p:nvSpPr>
        <p:spPr>
          <a:xfrm>
            <a:off x="5733288" y="1783080"/>
            <a:ext cx="5952744" cy="9144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形は保たれ、高さだけ下がる</a:t>
            </a:r>
            <a:endParaRPr lang="ja-JP" sz="2400" dirty="0"/>
          </a:p>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 </a:t>
            </a:r>
            <a:r>
              <a:rPr lang="ja-JP" altLang="en-US" sz="2400" b="1" dirty="0">
                <a:solidFill>
                  <a:srgbClr val="00A8AA"/>
                </a:solidFill>
                <a:latin typeface="メイリオ" pitchFamily="34" charset="0"/>
                <a:ea typeface="メイリオ" pitchFamily="34" charset="-122"/>
                <a:cs typeface="メイリオ" pitchFamily="34" charset="-120"/>
              </a:rPr>
              <a:t>肺血流の低下</a:t>
            </a:r>
            <a:endParaRPr lang="ja-JP" sz="2400" dirty="0"/>
          </a:p>
        </p:txBody>
      </p:sp>
      <p:sp>
        <p:nvSpPr>
          <p:cNvPr id="16" name="Text 14"/>
          <p:cNvSpPr txBox="1"/>
          <p:nvPr/>
        </p:nvSpPr>
        <p:spPr>
          <a:xfrm>
            <a:off x="5349240" y="2971800"/>
            <a:ext cx="384048"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a:t>
            </a:r>
            <a:endParaRPr lang="ja-JP" sz="2400" dirty="0"/>
          </a:p>
        </p:txBody>
      </p:sp>
      <p:sp>
        <p:nvSpPr>
          <p:cNvPr id="17" name="Text 15"/>
          <p:cNvSpPr txBox="1"/>
          <p:nvPr/>
        </p:nvSpPr>
        <p:spPr>
          <a:xfrm>
            <a:off x="5733288" y="2971800"/>
            <a:ext cx="5952744"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肺塞栓・空気塞栓</a:t>
            </a:r>
            <a:endParaRPr lang="ja-JP" sz="2400" dirty="0"/>
          </a:p>
        </p:txBody>
      </p:sp>
      <p:sp>
        <p:nvSpPr>
          <p:cNvPr id="18" name="Text 16"/>
          <p:cNvSpPr txBox="1"/>
          <p:nvPr/>
        </p:nvSpPr>
        <p:spPr>
          <a:xfrm>
            <a:off x="5349240" y="3703320"/>
            <a:ext cx="384048"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a:t>
            </a:r>
            <a:endParaRPr lang="ja-JP" sz="2400" dirty="0"/>
          </a:p>
        </p:txBody>
      </p:sp>
      <p:sp>
        <p:nvSpPr>
          <p:cNvPr id="19" name="Text 17"/>
          <p:cNvSpPr txBox="1"/>
          <p:nvPr/>
        </p:nvSpPr>
        <p:spPr>
          <a:xfrm>
            <a:off x="5733288" y="3703320"/>
            <a:ext cx="5952744"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急な低血圧・大量出血</a:t>
            </a:r>
            <a:endParaRPr lang="ja-JP" sz="2400" dirty="0"/>
          </a:p>
        </p:txBody>
      </p:sp>
      <p:sp>
        <p:nvSpPr>
          <p:cNvPr id="20" name="Text 18"/>
          <p:cNvSpPr txBox="1"/>
          <p:nvPr/>
        </p:nvSpPr>
        <p:spPr>
          <a:xfrm>
            <a:off x="5349240" y="4434840"/>
            <a:ext cx="384048"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a:t>
            </a:r>
            <a:endParaRPr lang="ja-JP" sz="2400" dirty="0"/>
          </a:p>
        </p:txBody>
      </p:sp>
      <p:sp>
        <p:nvSpPr>
          <p:cNvPr id="21" name="Text 19"/>
          <p:cNvSpPr txBox="1"/>
          <p:nvPr/>
        </p:nvSpPr>
        <p:spPr>
          <a:xfrm>
            <a:off x="5733288" y="4434840"/>
            <a:ext cx="5952744"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心拍出量の急な低下・心停止</a:t>
            </a:r>
            <a:endParaRPr lang="ja-JP" sz="2400" dirty="0"/>
          </a:p>
        </p:txBody>
      </p:sp>
      <p:sp>
        <p:nvSpPr>
          <p:cNvPr id="22" name="Text 20"/>
          <p:cNvSpPr txBox="1"/>
          <p:nvPr/>
        </p:nvSpPr>
        <p:spPr>
          <a:xfrm>
            <a:off x="5349240" y="5166360"/>
            <a:ext cx="384048"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a:t>
            </a:r>
            <a:endParaRPr lang="ja-JP" sz="2400" dirty="0"/>
          </a:p>
        </p:txBody>
      </p:sp>
      <p:sp>
        <p:nvSpPr>
          <p:cNvPr id="23" name="Text 21"/>
          <p:cNvSpPr txBox="1"/>
          <p:nvPr/>
        </p:nvSpPr>
        <p:spPr>
          <a:xfrm>
            <a:off x="5733288" y="5166360"/>
            <a:ext cx="5952744"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カフ漏れ・回路の漏れ（形も崩れる）</a:t>
            </a:r>
            <a:endParaRPr lang="ja-JP"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じわじわ下がる</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順番</a:t>
            </a:r>
            <a:endParaRPr lang="ja-JP" sz="1100" dirty="0"/>
          </a:p>
        </p:txBody>
      </p:sp>
      <p:sp>
        <p:nvSpPr>
          <p:cNvPr id="5" name="Text 3"/>
          <p:cNvSpPr/>
          <p:nvPr/>
        </p:nvSpPr>
        <p:spPr>
          <a:xfrm>
            <a:off x="9354312" y="54864"/>
            <a:ext cx="621792" cy="585216"/>
          </a:xfrm>
          <a:prstGeom prst="roundRect">
            <a:avLst>
              <a:gd name="adj" fmla="val 15625"/>
            </a:avLst>
          </a:prstGeom>
          <a:solidFill>
            <a:srgbClr val="00A8AA"/>
          </a:solidFill>
          <a:ln/>
        </p:spPr>
        <p:txBody>
          <a:bodyPr wrap="squar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消える・</a:t>
            </a:r>
            <a:endParaRPr lang="ja-JP" sz="1100" dirty="0"/>
          </a:p>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下がる</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上がる</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形</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まとめ</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4</a:t>
            </a:r>
            <a:endParaRPr lang="ja-JP" sz="1200" dirty="0"/>
          </a:p>
        </p:txBody>
      </p:sp>
      <p:sp>
        <p:nvSpPr>
          <p:cNvPr id="10" name="Shape 8"/>
          <p:cNvSpPr/>
          <p:nvPr/>
        </p:nvSpPr>
        <p:spPr>
          <a:xfrm flipV="1">
            <a:off x="777240" y="1874520"/>
            <a:ext cx="0" cy="3657600"/>
          </a:xfrm>
          <a:prstGeom prst="line">
            <a:avLst/>
          </a:prstGeom>
          <a:noFill/>
          <a:ln w="25400">
            <a:solidFill>
              <a:srgbClr val="7F7F7F"/>
            </a:solidFill>
            <a:prstDash val="solid"/>
            <a:tailEnd type="triangle"/>
          </a:ln>
        </p:spPr>
      </p:sp>
      <p:sp>
        <p:nvSpPr>
          <p:cNvPr id="11" name="Shape 9"/>
          <p:cNvSpPr/>
          <p:nvPr/>
        </p:nvSpPr>
        <p:spPr>
          <a:xfrm>
            <a:off x="777240" y="5532120"/>
            <a:ext cx="4160520" cy="0"/>
          </a:xfrm>
          <a:prstGeom prst="line">
            <a:avLst/>
          </a:prstGeom>
          <a:noFill/>
          <a:ln w="25400">
            <a:solidFill>
              <a:srgbClr val="7F7F7F"/>
            </a:solidFill>
            <a:prstDash val="solid"/>
            <a:tailEnd type="triangle"/>
          </a:ln>
        </p:spPr>
      </p:sp>
      <p:sp>
        <p:nvSpPr>
          <p:cNvPr id="12" name="Shape 10"/>
          <p:cNvSpPr/>
          <p:nvPr/>
        </p:nvSpPr>
        <p:spPr>
          <a:xfrm>
            <a:off x="850392" y="2971800"/>
            <a:ext cx="1298448" cy="2560320"/>
          </a:xfrm>
          <a:custGeom>
            <a:avLst/>
            <a:gdLst/>
            <a:ahLst/>
            <a:cxnLst/>
            <a:rect l="l" t="t" r="r" b="b"/>
            <a:pathLst>
              <a:path w="1298448" h="2560320">
                <a:moveTo>
                  <a:pt x="0" y="2560320"/>
                </a:moveTo>
                <a:lnTo>
                  <a:pt x="77724" y="2560320"/>
                </a:lnTo>
                <a:lnTo>
                  <a:pt x="87782" y="2275027"/>
                </a:lnTo>
                <a:lnTo>
                  <a:pt x="100584" y="1084478"/>
                </a:lnTo>
                <a:lnTo>
                  <a:pt x="113386" y="345643"/>
                </a:lnTo>
                <a:lnTo>
                  <a:pt x="126187" y="179222"/>
                </a:lnTo>
                <a:lnTo>
                  <a:pt x="454457" y="0"/>
                </a:lnTo>
                <a:lnTo>
                  <a:pt x="462686" y="768096"/>
                </a:lnTo>
                <a:lnTo>
                  <a:pt x="473659" y="2406701"/>
                </a:lnTo>
                <a:lnTo>
                  <a:pt x="483718" y="2560320"/>
                </a:lnTo>
                <a:lnTo>
                  <a:pt x="649224" y="2560320"/>
                </a:lnTo>
                <a:lnTo>
                  <a:pt x="726948" y="2560320"/>
                </a:lnTo>
                <a:lnTo>
                  <a:pt x="737006" y="2275027"/>
                </a:lnTo>
                <a:lnTo>
                  <a:pt x="749808" y="1084478"/>
                </a:lnTo>
                <a:lnTo>
                  <a:pt x="762610" y="345643"/>
                </a:lnTo>
                <a:lnTo>
                  <a:pt x="775411" y="179222"/>
                </a:lnTo>
                <a:lnTo>
                  <a:pt x="1103681" y="0"/>
                </a:lnTo>
                <a:lnTo>
                  <a:pt x="1111910" y="768096"/>
                </a:lnTo>
                <a:lnTo>
                  <a:pt x="1122883" y="2406701"/>
                </a:lnTo>
                <a:lnTo>
                  <a:pt x="1132942" y="2560320"/>
                </a:lnTo>
                <a:lnTo>
                  <a:pt x="1298448" y="2560320"/>
                </a:lnTo>
              </a:path>
            </a:pathLst>
          </a:custGeom>
          <a:noFill/>
          <a:ln w="44450">
            <a:solidFill>
              <a:srgbClr val="0072B2"/>
            </a:solidFill>
            <a:prstDash val="solid"/>
          </a:ln>
        </p:spPr>
      </p:sp>
      <p:sp>
        <p:nvSpPr>
          <p:cNvPr id="13" name="Shape 11"/>
          <p:cNvSpPr/>
          <p:nvPr/>
        </p:nvSpPr>
        <p:spPr>
          <a:xfrm>
            <a:off x="2148840" y="3337560"/>
            <a:ext cx="2596896" cy="2194560"/>
          </a:xfrm>
          <a:custGeom>
            <a:avLst/>
            <a:gdLst/>
            <a:ahLst/>
            <a:cxnLst/>
            <a:rect l="l" t="t" r="r" b="b"/>
            <a:pathLst>
              <a:path w="2596896" h="2194560">
                <a:moveTo>
                  <a:pt x="0" y="2194560"/>
                </a:moveTo>
                <a:lnTo>
                  <a:pt x="77724" y="2194560"/>
                </a:lnTo>
                <a:lnTo>
                  <a:pt x="87782" y="1949501"/>
                </a:lnTo>
                <a:lnTo>
                  <a:pt x="100584" y="929030"/>
                </a:lnTo>
                <a:lnTo>
                  <a:pt x="113386" y="296266"/>
                </a:lnTo>
                <a:lnTo>
                  <a:pt x="126187" y="153619"/>
                </a:lnTo>
                <a:lnTo>
                  <a:pt x="454457" y="0"/>
                </a:lnTo>
                <a:lnTo>
                  <a:pt x="462686" y="658368"/>
                </a:lnTo>
                <a:lnTo>
                  <a:pt x="473659" y="2062886"/>
                </a:lnTo>
                <a:lnTo>
                  <a:pt x="483718" y="2194560"/>
                </a:lnTo>
                <a:lnTo>
                  <a:pt x="649224" y="2194560"/>
                </a:lnTo>
                <a:lnTo>
                  <a:pt x="726948" y="2194560"/>
                </a:lnTo>
                <a:lnTo>
                  <a:pt x="737006" y="1990649"/>
                </a:lnTo>
                <a:lnTo>
                  <a:pt x="749808" y="1140257"/>
                </a:lnTo>
                <a:lnTo>
                  <a:pt x="762610" y="612648"/>
                </a:lnTo>
                <a:lnTo>
                  <a:pt x="775411" y="493776"/>
                </a:lnTo>
                <a:lnTo>
                  <a:pt x="1103681" y="365760"/>
                </a:lnTo>
                <a:lnTo>
                  <a:pt x="1111910" y="914400"/>
                </a:lnTo>
                <a:lnTo>
                  <a:pt x="1122883" y="2084832"/>
                </a:lnTo>
                <a:lnTo>
                  <a:pt x="1132942" y="2194560"/>
                </a:lnTo>
                <a:lnTo>
                  <a:pt x="1298448" y="2194560"/>
                </a:lnTo>
                <a:lnTo>
                  <a:pt x="1376172" y="2194560"/>
                </a:lnTo>
                <a:lnTo>
                  <a:pt x="1386230" y="2030882"/>
                </a:lnTo>
                <a:lnTo>
                  <a:pt x="1399032" y="1350569"/>
                </a:lnTo>
                <a:lnTo>
                  <a:pt x="1411834" y="929030"/>
                </a:lnTo>
                <a:lnTo>
                  <a:pt x="1424635" y="833933"/>
                </a:lnTo>
                <a:lnTo>
                  <a:pt x="1752905" y="731520"/>
                </a:lnTo>
                <a:lnTo>
                  <a:pt x="1761134" y="1170432"/>
                </a:lnTo>
                <a:lnTo>
                  <a:pt x="1772107" y="2106778"/>
                </a:lnTo>
                <a:lnTo>
                  <a:pt x="1782166" y="2194560"/>
                </a:lnTo>
                <a:lnTo>
                  <a:pt x="1947672" y="2194560"/>
                </a:lnTo>
                <a:lnTo>
                  <a:pt x="2025396" y="2194560"/>
                </a:lnTo>
                <a:lnTo>
                  <a:pt x="2035454" y="2072030"/>
                </a:lnTo>
                <a:lnTo>
                  <a:pt x="2048256" y="1561795"/>
                </a:lnTo>
                <a:lnTo>
                  <a:pt x="2061058" y="1245413"/>
                </a:lnTo>
                <a:lnTo>
                  <a:pt x="2073859" y="1174090"/>
                </a:lnTo>
                <a:lnTo>
                  <a:pt x="2402129" y="1097280"/>
                </a:lnTo>
                <a:lnTo>
                  <a:pt x="2410358" y="1426464"/>
                </a:lnTo>
                <a:lnTo>
                  <a:pt x="2421331" y="2128723"/>
                </a:lnTo>
                <a:lnTo>
                  <a:pt x="2431390" y="2194560"/>
                </a:lnTo>
                <a:lnTo>
                  <a:pt x="2596896" y="2194560"/>
                </a:lnTo>
              </a:path>
            </a:pathLst>
          </a:custGeom>
          <a:noFill/>
          <a:ln w="44450">
            <a:solidFill>
              <a:srgbClr val="D55E00"/>
            </a:solidFill>
            <a:prstDash val="solid"/>
          </a:ln>
        </p:spPr>
      </p:sp>
      <p:sp>
        <p:nvSpPr>
          <p:cNvPr id="14" name="Text 12"/>
          <p:cNvSpPr txBox="1"/>
          <p:nvPr/>
        </p:nvSpPr>
        <p:spPr>
          <a:xfrm>
            <a:off x="5349240" y="2212848"/>
            <a:ext cx="384048"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a:t>
            </a:r>
            <a:endParaRPr lang="ja-JP" sz="2400" dirty="0"/>
          </a:p>
        </p:txBody>
      </p:sp>
      <p:sp>
        <p:nvSpPr>
          <p:cNvPr id="15" name="Text 13"/>
          <p:cNvSpPr txBox="1"/>
          <p:nvPr/>
        </p:nvSpPr>
        <p:spPr>
          <a:xfrm>
            <a:off x="5733288" y="2212848"/>
            <a:ext cx="5952744"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過換気（換気量の設定が多い）</a:t>
            </a:r>
            <a:endParaRPr lang="ja-JP" sz="2400" dirty="0"/>
          </a:p>
        </p:txBody>
      </p:sp>
      <p:sp>
        <p:nvSpPr>
          <p:cNvPr id="16" name="Text 14"/>
          <p:cNvSpPr txBox="1"/>
          <p:nvPr/>
        </p:nvSpPr>
        <p:spPr>
          <a:xfrm>
            <a:off x="5349240" y="3054096"/>
            <a:ext cx="384048"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a:t>
            </a:r>
            <a:endParaRPr lang="ja-JP" sz="2400" dirty="0"/>
          </a:p>
        </p:txBody>
      </p:sp>
      <p:sp>
        <p:nvSpPr>
          <p:cNvPr id="17" name="Text 15"/>
          <p:cNvSpPr txBox="1"/>
          <p:nvPr/>
        </p:nvSpPr>
        <p:spPr>
          <a:xfrm>
            <a:off x="5733288" y="3054096"/>
            <a:ext cx="5952744"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低体温・代謝の低下</a:t>
            </a:r>
            <a:endParaRPr lang="ja-JP" sz="2400" dirty="0"/>
          </a:p>
        </p:txBody>
      </p:sp>
      <p:sp>
        <p:nvSpPr>
          <p:cNvPr id="18" name="Text 16"/>
          <p:cNvSpPr txBox="1"/>
          <p:nvPr/>
        </p:nvSpPr>
        <p:spPr>
          <a:xfrm>
            <a:off x="5349240" y="3895344"/>
            <a:ext cx="384048"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a:t>
            </a:r>
            <a:endParaRPr lang="ja-JP" sz="2400" dirty="0"/>
          </a:p>
        </p:txBody>
      </p:sp>
      <p:sp>
        <p:nvSpPr>
          <p:cNvPr id="19" name="Text 17"/>
          <p:cNvSpPr txBox="1"/>
          <p:nvPr/>
        </p:nvSpPr>
        <p:spPr>
          <a:xfrm>
            <a:off x="5733288" y="3895344"/>
            <a:ext cx="5952744"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徐々に減る心拍出量</a:t>
            </a:r>
            <a:endParaRPr lang="ja-JP" sz="2400" dirty="0"/>
          </a:p>
        </p:txBody>
      </p:sp>
      <p:sp>
        <p:nvSpPr>
          <p:cNvPr id="20" name="Text 18"/>
          <p:cNvSpPr txBox="1"/>
          <p:nvPr/>
        </p:nvSpPr>
        <p:spPr>
          <a:xfrm>
            <a:off x="5349240" y="4736592"/>
            <a:ext cx="384048"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a:t>
            </a:r>
            <a:endParaRPr lang="ja-JP" sz="2400" dirty="0"/>
          </a:p>
        </p:txBody>
      </p:sp>
      <p:sp>
        <p:nvSpPr>
          <p:cNvPr id="21" name="Text 19"/>
          <p:cNvSpPr txBox="1"/>
          <p:nvPr/>
        </p:nvSpPr>
        <p:spPr>
          <a:xfrm>
            <a:off x="5733288" y="4736592"/>
            <a:ext cx="5952744"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サンプルラインの漏れ・希釈</a:t>
            </a:r>
            <a:endParaRPr lang="ja-JP"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上がる</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順番</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消える・</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下がる</a:t>
            </a:r>
            <a:endParaRPr lang="ja-JP" sz="1100" dirty="0"/>
          </a:p>
        </p:txBody>
      </p:sp>
      <p:sp>
        <p:nvSpPr>
          <p:cNvPr id="6" name="Text 4"/>
          <p:cNvSpPr/>
          <p:nvPr/>
        </p:nvSpPr>
        <p:spPr>
          <a:xfrm>
            <a:off x="10030968" y="54864"/>
            <a:ext cx="621792" cy="585216"/>
          </a:xfrm>
          <a:prstGeom prst="roundRect">
            <a:avLst>
              <a:gd name="adj" fmla="val 15625"/>
            </a:avLst>
          </a:prstGeom>
          <a:solidFill>
            <a:srgbClr val="00A8AA"/>
          </a:solidFill>
          <a:ln/>
        </p:spPr>
        <p:txBody>
          <a:bodyPr wrap="squar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上がる</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形</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まとめ</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5</a:t>
            </a:r>
            <a:endParaRPr lang="ja-JP" sz="1200" dirty="0"/>
          </a:p>
        </p:txBody>
      </p:sp>
      <p:sp>
        <p:nvSpPr>
          <p:cNvPr id="10" name="Shape 8"/>
          <p:cNvSpPr/>
          <p:nvPr/>
        </p:nvSpPr>
        <p:spPr>
          <a:xfrm flipV="1">
            <a:off x="777240" y="1828800"/>
            <a:ext cx="0" cy="2697480"/>
          </a:xfrm>
          <a:prstGeom prst="line">
            <a:avLst/>
          </a:prstGeom>
          <a:noFill/>
          <a:ln w="25400">
            <a:solidFill>
              <a:srgbClr val="7F7F7F"/>
            </a:solidFill>
            <a:prstDash val="solid"/>
            <a:tailEnd type="triangle"/>
          </a:ln>
        </p:spPr>
      </p:sp>
      <p:sp>
        <p:nvSpPr>
          <p:cNvPr id="11" name="Shape 9"/>
          <p:cNvSpPr/>
          <p:nvPr/>
        </p:nvSpPr>
        <p:spPr>
          <a:xfrm>
            <a:off x="777240" y="4526280"/>
            <a:ext cx="4160520" cy="0"/>
          </a:xfrm>
          <a:prstGeom prst="line">
            <a:avLst/>
          </a:prstGeom>
          <a:noFill/>
          <a:ln w="25400">
            <a:solidFill>
              <a:srgbClr val="7F7F7F"/>
            </a:solidFill>
            <a:prstDash val="solid"/>
            <a:tailEnd type="triangle"/>
          </a:ln>
        </p:spPr>
      </p:sp>
      <p:sp>
        <p:nvSpPr>
          <p:cNvPr id="12" name="Shape 10"/>
          <p:cNvSpPr/>
          <p:nvPr/>
        </p:nvSpPr>
        <p:spPr>
          <a:xfrm>
            <a:off x="850392" y="3337560"/>
            <a:ext cx="1335024" cy="1188720"/>
          </a:xfrm>
          <a:custGeom>
            <a:avLst/>
            <a:gdLst/>
            <a:ahLst/>
            <a:cxnLst/>
            <a:rect l="l" t="t" r="r" b="b"/>
            <a:pathLst>
              <a:path w="1335024" h="1188720">
                <a:moveTo>
                  <a:pt x="0" y="1188720"/>
                </a:moveTo>
                <a:lnTo>
                  <a:pt x="80467" y="1188720"/>
                </a:lnTo>
                <a:lnTo>
                  <a:pt x="90526" y="1056132"/>
                </a:lnTo>
                <a:lnTo>
                  <a:pt x="103327" y="502920"/>
                </a:lnTo>
                <a:lnTo>
                  <a:pt x="117043" y="160934"/>
                </a:lnTo>
                <a:lnTo>
                  <a:pt x="129845" y="83210"/>
                </a:lnTo>
                <a:lnTo>
                  <a:pt x="467258" y="0"/>
                </a:lnTo>
                <a:lnTo>
                  <a:pt x="475488" y="356616"/>
                </a:lnTo>
                <a:lnTo>
                  <a:pt x="487375" y="1117397"/>
                </a:lnTo>
                <a:lnTo>
                  <a:pt x="497434" y="1188720"/>
                </a:lnTo>
                <a:lnTo>
                  <a:pt x="667512" y="1188720"/>
                </a:lnTo>
                <a:lnTo>
                  <a:pt x="747979" y="1188720"/>
                </a:lnTo>
                <a:lnTo>
                  <a:pt x="758038" y="1056132"/>
                </a:lnTo>
                <a:lnTo>
                  <a:pt x="770839" y="502920"/>
                </a:lnTo>
                <a:lnTo>
                  <a:pt x="784555" y="160934"/>
                </a:lnTo>
                <a:lnTo>
                  <a:pt x="797357" y="83210"/>
                </a:lnTo>
                <a:lnTo>
                  <a:pt x="1134770" y="0"/>
                </a:lnTo>
                <a:lnTo>
                  <a:pt x="1143000" y="356616"/>
                </a:lnTo>
                <a:lnTo>
                  <a:pt x="1154887" y="1117397"/>
                </a:lnTo>
                <a:lnTo>
                  <a:pt x="1164946" y="1188720"/>
                </a:lnTo>
                <a:lnTo>
                  <a:pt x="1335024" y="1188720"/>
                </a:lnTo>
              </a:path>
            </a:pathLst>
          </a:custGeom>
          <a:noFill/>
          <a:ln w="44450">
            <a:solidFill>
              <a:srgbClr val="0072B2"/>
            </a:solidFill>
            <a:prstDash val="solid"/>
          </a:ln>
        </p:spPr>
      </p:sp>
      <p:sp>
        <p:nvSpPr>
          <p:cNvPr id="13" name="Shape 11"/>
          <p:cNvSpPr/>
          <p:nvPr/>
        </p:nvSpPr>
        <p:spPr>
          <a:xfrm>
            <a:off x="2185416" y="2423160"/>
            <a:ext cx="2670048" cy="2103120"/>
          </a:xfrm>
          <a:custGeom>
            <a:avLst/>
            <a:gdLst/>
            <a:ahLst/>
            <a:cxnLst/>
            <a:rect l="l" t="t" r="r" b="b"/>
            <a:pathLst>
              <a:path w="2670048" h="2103120">
                <a:moveTo>
                  <a:pt x="0" y="2103120"/>
                </a:moveTo>
                <a:lnTo>
                  <a:pt x="80467" y="2103120"/>
                </a:lnTo>
                <a:lnTo>
                  <a:pt x="90526" y="1944929"/>
                </a:lnTo>
                <a:lnTo>
                  <a:pt x="103327" y="1285646"/>
                </a:lnTo>
                <a:lnTo>
                  <a:pt x="117043" y="876910"/>
                </a:lnTo>
                <a:lnTo>
                  <a:pt x="129845" y="784555"/>
                </a:lnTo>
                <a:lnTo>
                  <a:pt x="467258" y="685800"/>
                </a:lnTo>
                <a:lnTo>
                  <a:pt x="475488" y="1110996"/>
                </a:lnTo>
                <a:lnTo>
                  <a:pt x="487375" y="2018081"/>
                </a:lnTo>
                <a:lnTo>
                  <a:pt x="497434" y="2103120"/>
                </a:lnTo>
                <a:lnTo>
                  <a:pt x="667512" y="2103120"/>
                </a:lnTo>
                <a:lnTo>
                  <a:pt x="747979" y="2103120"/>
                </a:lnTo>
                <a:lnTo>
                  <a:pt x="758038" y="1919326"/>
                </a:lnTo>
                <a:lnTo>
                  <a:pt x="770839" y="1153973"/>
                </a:lnTo>
                <a:lnTo>
                  <a:pt x="784555" y="679399"/>
                </a:lnTo>
                <a:lnTo>
                  <a:pt x="797357" y="572414"/>
                </a:lnTo>
                <a:lnTo>
                  <a:pt x="1134770" y="457200"/>
                </a:lnTo>
                <a:lnTo>
                  <a:pt x="1143000" y="950976"/>
                </a:lnTo>
                <a:lnTo>
                  <a:pt x="1154887" y="2004365"/>
                </a:lnTo>
                <a:lnTo>
                  <a:pt x="1164946" y="2103120"/>
                </a:lnTo>
                <a:lnTo>
                  <a:pt x="1335024" y="2103120"/>
                </a:lnTo>
                <a:lnTo>
                  <a:pt x="1415491" y="2103120"/>
                </a:lnTo>
                <a:lnTo>
                  <a:pt x="1425550" y="1893722"/>
                </a:lnTo>
                <a:lnTo>
                  <a:pt x="1438351" y="1022299"/>
                </a:lnTo>
                <a:lnTo>
                  <a:pt x="1452067" y="481889"/>
                </a:lnTo>
                <a:lnTo>
                  <a:pt x="1464869" y="359359"/>
                </a:lnTo>
                <a:lnTo>
                  <a:pt x="1802282" y="228600"/>
                </a:lnTo>
                <a:lnTo>
                  <a:pt x="1810512" y="790956"/>
                </a:lnTo>
                <a:lnTo>
                  <a:pt x="1822399" y="1990649"/>
                </a:lnTo>
                <a:lnTo>
                  <a:pt x="1832458" y="2103120"/>
                </a:lnTo>
                <a:lnTo>
                  <a:pt x="2002536" y="2103120"/>
                </a:lnTo>
                <a:lnTo>
                  <a:pt x="2083003" y="2103120"/>
                </a:lnTo>
                <a:lnTo>
                  <a:pt x="2093062" y="1868119"/>
                </a:lnTo>
                <a:lnTo>
                  <a:pt x="2105863" y="890626"/>
                </a:lnTo>
                <a:lnTo>
                  <a:pt x="2119579" y="284378"/>
                </a:lnTo>
                <a:lnTo>
                  <a:pt x="2132381" y="147218"/>
                </a:lnTo>
                <a:lnTo>
                  <a:pt x="2469794" y="0"/>
                </a:lnTo>
                <a:lnTo>
                  <a:pt x="2478024" y="630936"/>
                </a:lnTo>
                <a:lnTo>
                  <a:pt x="2489911" y="1976933"/>
                </a:lnTo>
                <a:lnTo>
                  <a:pt x="2499970" y="2103120"/>
                </a:lnTo>
                <a:lnTo>
                  <a:pt x="2670048" y="2103120"/>
                </a:lnTo>
              </a:path>
            </a:pathLst>
          </a:custGeom>
          <a:noFill/>
          <a:ln w="44450">
            <a:solidFill>
              <a:srgbClr val="D55E00"/>
            </a:solidFill>
            <a:prstDash val="solid"/>
          </a:ln>
        </p:spPr>
      </p:sp>
      <p:sp>
        <p:nvSpPr>
          <p:cNvPr id="14" name="Text 12"/>
          <p:cNvSpPr txBox="1"/>
          <p:nvPr/>
        </p:nvSpPr>
        <p:spPr>
          <a:xfrm>
            <a:off x="5349240" y="1755648"/>
            <a:ext cx="384048"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a:t>
            </a:r>
            <a:endParaRPr lang="ja-JP" sz="2400" dirty="0"/>
          </a:p>
        </p:txBody>
      </p:sp>
      <p:sp>
        <p:nvSpPr>
          <p:cNvPr id="15" name="Text 13"/>
          <p:cNvSpPr txBox="1"/>
          <p:nvPr/>
        </p:nvSpPr>
        <p:spPr>
          <a:xfrm>
            <a:off x="5733288" y="1755648"/>
            <a:ext cx="5952744" cy="9144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低換気</a:t>
            </a:r>
            <a:endParaRPr lang="ja-JP" sz="2400" dirty="0"/>
          </a:p>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（設定が少ない・自発呼吸が弱い）</a:t>
            </a:r>
            <a:endParaRPr lang="ja-JP" sz="2400" dirty="0"/>
          </a:p>
        </p:txBody>
      </p:sp>
      <p:sp>
        <p:nvSpPr>
          <p:cNvPr id="16" name="Text 14"/>
          <p:cNvSpPr txBox="1"/>
          <p:nvPr/>
        </p:nvSpPr>
        <p:spPr>
          <a:xfrm>
            <a:off x="5349240" y="2889504"/>
            <a:ext cx="384048"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a:t>
            </a:r>
            <a:endParaRPr lang="ja-JP" sz="2400" dirty="0"/>
          </a:p>
        </p:txBody>
      </p:sp>
      <p:sp>
        <p:nvSpPr>
          <p:cNvPr id="17" name="Text 15"/>
          <p:cNvSpPr txBox="1"/>
          <p:nvPr/>
        </p:nvSpPr>
        <p:spPr>
          <a:xfrm>
            <a:off x="5733288" y="2889504"/>
            <a:ext cx="5952744"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発熱・シバリング・悪性高熱症</a:t>
            </a:r>
            <a:endParaRPr lang="ja-JP" sz="2400" dirty="0"/>
          </a:p>
        </p:txBody>
      </p:sp>
      <p:sp>
        <p:nvSpPr>
          <p:cNvPr id="18" name="Text 16"/>
          <p:cNvSpPr txBox="1"/>
          <p:nvPr/>
        </p:nvSpPr>
        <p:spPr>
          <a:xfrm>
            <a:off x="5349240" y="3566160"/>
            <a:ext cx="384048"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a:t>
            </a:r>
            <a:endParaRPr lang="ja-JP" sz="2400" dirty="0"/>
          </a:p>
        </p:txBody>
      </p:sp>
      <p:sp>
        <p:nvSpPr>
          <p:cNvPr id="19" name="Text 17"/>
          <p:cNvSpPr txBox="1"/>
          <p:nvPr/>
        </p:nvSpPr>
        <p:spPr>
          <a:xfrm>
            <a:off x="5733288" y="3566160"/>
            <a:ext cx="5952744"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CO2 気腹・駆血帯の解除・重炭酸</a:t>
            </a:r>
            <a:endParaRPr lang="ja-JP" sz="2400" dirty="0"/>
          </a:p>
        </p:txBody>
      </p:sp>
      <p:sp>
        <p:nvSpPr>
          <p:cNvPr id="20" name="Text 18"/>
          <p:cNvSpPr txBox="1"/>
          <p:nvPr/>
        </p:nvSpPr>
        <p:spPr>
          <a:xfrm>
            <a:off x="5349240" y="4242816"/>
            <a:ext cx="384048"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a:t>
            </a:r>
            <a:endParaRPr lang="ja-JP" sz="2400" dirty="0"/>
          </a:p>
        </p:txBody>
      </p:sp>
      <p:sp>
        <p:nvSpPr>
          <p:cNvPr id="21" name="Text 19"/>
          <p:cNvSpPr txBox="1"/>
          <p:nvPr/>
        </p:nvSpPr>
        <p:spPr>
          <a:xfrm>
            <a:off x="5733288" y="4242816"/>
            <a:ext cx="5952744"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吸収剤の劣化（基線も上がる）</a:t>
            </a:r>
            <a:endParaRPr lang="ja-JP" sz="2400" dirty="0"/>
          </a:p>
        </p:txBody>
      </p:sp>
      <p:sp>
        <p:nvSpPr>
          <p:cNvPr id="22" name="Text 20"/>
          <p:cNvSpPr/>
          <p:nvPr/>
        </p:nvSpPr>
        <p:spPr>
          <a:xfrm>
            <a:off x="502920" y="5029200"/>
            <a:ext cx="11183112" cy="777240"/>
          </a:xfrm>
          <a:prstGeom prst="roundRect">
            <a:avLst>
              <a:gd name="adj" fmla="val 9412"/>
            </a:avLst>
          </a:prstGeom>
          <a:solidFill>
            <a:srgbClr val="F2F2F2"/>
          </a:solidFill>
          <a:ln w="28575">
            <a:solidFill>
              <a:srgbClr val="C00000"/>
            </a:solidFill>
          </a:ln>
        </p:spPr>
        <p:txBody>
          <a:bodyPr wrap="square" lIns="73152" tIns="73152" rIns="73152" bIns="73152" rtlCol="0" anchor="ctr"/>
          <a:lstStyle/>
          <a:p>
            <a:pPr algn="ctr" indent="0" marL="0">
              <a:buNone/>
            </a:pPr>
            <a:r>
              <a:rPr lang="ja-JP" altLang="en-US" sz="2800" b="1" dirty="0">
                <a:solidFill>
                  <a:srgbClr val="C00000"/>
                </a:solidFill>
                <a:latin typeface="メイリオ" pitchFamily="34" charset="0"/>
                <a:ea typeface="メイリオ" pitchFamily="34" charset="-122"/>
                <a:cs typeface="メイリオ" pitchFamily="34" charset="-120"/>
              </a:rPr>
              <a:t>説明のつかない上昇＋頻脈＋筋強直 → 悪性高熱症を疑う</a:t>
            </a:r>
            <a:endParaRPr lang="ja-JP" sz="2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基線が 0 に戻らない</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順番</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消える・</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下がる</a:t>
            </a:r>
            <a:endParaRPr lang="ja-JP" sz="1100" dirty="0"/>
          </a:p>
        </p:txBody>
      </p:sp>
      <p:sp>
        <p:nvSpPr>
          <p:cNvPr id="6" name="Text 4"/>
          <p:cNvSpPr/>
          <p:nvPr/>
        </p:nvSpPr>
        <p:spPr>
          <a:xfrm>
            <a:off x="10030968" y="54864"/>
            <a:ext cx="621792" cy="585216"/>
          </a:xfrm>
          <a:prstGeom prst="roundRect">
            <a:avLst>
              <a:gd name="adj" fmla="val 15625"/>
            </a:avLst>
          </a:prstGeom>
          <a:solidFill>
            <a:srgbClr val="00A8AA"/>
          </a:solidFill>
          <a:ln/>
        </p:spPr>
        <p:txBody>
          <a:bodyPr wrap="squar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上がる</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形</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まとめ</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6</a:t>
            </a:r>
            <a:endParaRPr lang="ja-JP" sz="1200" dirty="0"/>
          </a:p>
        </p:txBody>
      </p:sp>
      <p:sp>
        <p:nvSpPr>
          <p:cNvPr id="10" name="Shape 8"/>
          <p:cNvSpPr/>
          <p:nvPr/>
        </p:nvSpPr>
        <p:spPr>
          <a:xfrm flipV="1">
            <a:off x="1005840" y="1828800"/>
            <a:ext cx="0" cy="2697480"/>
          </a:xfrm>
          <a:prstGeom prst="line">
            <a:avLst/>
          </a:prstGeom>
          <a:noFill/>
          <a:ln w="25400">
            <a:solidFill>
              <a:srgbClr val="7F7F7F"/>
            </a:solidFill>
            <a:prstDash val="solid"/>
            <a:tailEnd type="triangle"/>
          </a:ln>
        </p:spPr>
      </p:sp>
      <p:sp>
        <p:nvSpPr>
          <p:cNvPr id="11" name="Shape 9"/>
          <p:cNvSpPr/>
          <p:nvPr/>
        </p:nvSpPr>
        <p:spPr>
          <a:xfrm>
            <a:off x="1005840" y="4526280"/>
            <a:ext cx="3931920" cy="0"/>
          </a:xfrm>
          <a:prstGeom prst="line">
            <a:avLst/>
          </a:prstGeom>
          <a:noFill/>
          <a:ln w="25400">
            <a:solidFill>
              <a:srgbClr val="7F7F7F"/>
            </a:solidFill>
            <a:prstDash val="dash"/>
          </a:ln>
        </p:spPr>
      </p:sp>
      <p:sp>
        <p:nvSpPr>
          <p:cNvPr id="12" name="Text 10"/>
          <p:cNvSpPr txBox="1"/>
          <p:nvPr/>
        </p:nvSpPr>
        <p:spPr>
          <a:xfrm>
            <a:off x="502920" y="4297680"/>
            <a:ext cx="274320" cy="457200"/>
          </a:xfrm>
          <a:prstGeom prst="rect">
            <a:avLst/>
          </a:prstGeom>
          <a:noFill/>
          <a:ln/>
        </p:spPr>
        <p:txBody>
          <a:bodyPr wrap="square" lIns="0" tIns="0" rIns="0" bIns="0" rtlCol="0" anchor="t"/>
          <a:lstStyle/>
          <a:p>
            <a:pPr algn="r" indent="0" marL="0">
              <a:buNone/>
            </a:pPr>
            <a:r>
              <a:rPr lang="ja-JP" altLang="en-US" sz="2400" b="1" dirty="0">
                <a:solidFill>
                  <a:srgbClr val="7F7F7F"/>
                </a:solidFill>
                <a:latin typeface="メイリオ" pitchFamily="34" charset="0"/>
                <a:ea typeface="メイリオ" pitchFamily="34" charset="-122"/>
                <a:cs typeface="メイリオ" pitchFamily="34" charset="-120"/>
              </a:rPr>
              <a:t>0</a:t>
            </a:r>
            <a:endParaRPr lang="ja-JP" sz="2400" dirty="0"/>
          </a:p>
        </p:txBody>
      </p:sp>
      <p:sp>
        <p:nvSpPr>
          <p:cNvPr id="13" name="Shape 11"/>
          <p:cNvSpPr/>
          <p:nvPr/>
        </p:nvSpPr>
        <p:spPr>
          <a:xfrm>
            <a:off x="1078992" y="2606040"/>
            <a:ext cx="1554480" cy="1920240"/>
          </a:xfrm>
          <a:custGeom>
            <a:avLst/>
            <a:gdLst/>
            <a:ahLst/>
            <a:cxnLst/>
            <a:rect l="l" t="t" r="r" b="b"/>
            <a:pathLst>
              <a:path w="1554480" h="1920240">
                <a:moveTo>
                  <a:pt x="0" y="1920240"/>
                </a:moveTo>
                <a:lnTo>
                  <a:pt x="93269" y="1920240"/>
                </a:lnTo>
                <a:lnTo>
                  <a:pt x="105156" y="1706270"/>
                </a:lnTo>
                <a:lnTo>
                  <a:pt x="120701" y="812902"/>
                </a:lnTo>
                <a:lnTo>
                  <a:pt x="136246" y="259690"/>
                </a:lnTo>
                <a:lnTo>
                  <a:pt x="151790" y="134417"/>
                </a:lnTo>
                <a:lnTo>
                  <a:pt x="544068" y="0"/>
                </a:lnTo>
                <a:lnTo>
                  <a:pt x="553212" y="576072"/>
                </a:lnTo>
                <a:lnTo>
                  <a:pt x="567842" y="1805026"/>
                </a:lnTo>
                <a:lnTo>
                  <a:pt x="578815" y="1920240"/>
                </a:lnTo>
                <a:lnTo>
                  <a:pt x="777240" y="1920240"/>
                </a:lnTo>
                <a:lnTo>
                  <a:pt x="870509" y="1920240"/>
                </a:lnTo>
                <a:lnTo>
                  <a:pt x="882396" y="1706270"/>
                </a:lnTo>
                <a:lnTo>
                  <a:pt x="897941" y="812902"/>
                </a:lnTo>
                <a:lnTo>
                  <a:pt x="913486" y="259690"/>
                </a:lnTo>
                <a:lnTo>
                  <a:pt x="929030" y="134417"/>
                </a:lnTo>
                <a:lnTo>
                  <a:pt x="1321308" y="0"/>
                </a:lnTo>
                <a:lnTo>
                  <a:pt x="1330452" y="576072"/>
                </a:lnTo>
                <a:lnTo>
                  <a:pt x="1345082" y="1805026"/>
                </a:lnTo>
                <a:lnTo>
                  <a:pt x="1356055" y="1920240"/>
                </a:lnTo>
                <a:lnTo>
                  <a:pt x="1554480" y="1920240"/>
                </a:lnTo>
              </a:path>
            </a:pathLst>
          </a:custGeom>
          <a:noFill/>
          <a:ln w="44450">
            <a:solidFill>
              <a:srgbClr val="0072B2"/>
            </a:solidFill>
            <a:prstDash val="solid"/>
          </a:ln>
        </p:spPr>
      </p:sp>
      <p:sp>
        <p:nvSpPr>
          <p:cNvPr id="14" name="Shape 12"/>
          <p:cNvSpPr/>
          <p:nvPr/>
        </p:nvSpPr>
        <p:spPr>
          <a:xfrm>
            <a:off x="2633472" y="2331720"/>
            <a:ext cx="2331720" cy="2194560"/>
          </a:xfrm>
          <a:custGeom>
            <a:avLst/>
            <a:gdLst/>
            <a:ahLst/>
            <a:cxnLst/>
            <a:rect l="l" t="t" r="r" b="b"/>
            <a:pathLst>
              <a:path w="2331720" h="2194560">
                <a:moveTo>
                  <a:pt x="0" y="2194560"/>
                </a:moveTo>
                <a:lnTo>
                  <a:pt x="93269" y="2194560"/>
                </a:lnTo>
                <a:lnTo>
                  <a:pt x="105156" y="1959559"/>
                </a:lnTo>
                <a:lnTo>
                  <a:pt x="120701" y="982066"/>
                </a:lnTo>
                <a:lnTo>
                  <a:pt x="136246" y="375818"/>
                </a:lnTo>
                <a:lnTo>
                  <a:pt x="151790" y="238658"/>
                </a:lnTo>
                <a:lnTo>
                  <a:pt x="544068" y="91440"/>
                </a:lnTo>
                <a:lnTo>
                  <a:pt x="553212" y="607162"/>
                </a:lnTo>
                <a:lnTo>
                  <a:pt x="567842" y="1707185"/>
                </a:lnTo>
                <a:lnTo>
                  <a:pt x="578815" y="1810512"/>
                </a:lnTo>
                <a:lnTo>
                  <a:pt x="777240" y="1810512"/>
                </a:lnTo>
                <a:lnTo>
                  <a:pt x="870509" y="1810512"/>
                </a:lnTo>
                <a:lnTo>
                  <a:pt x="882396" y="1613916"/>
                </a:lnTo>
                <a:lnTo>
                  <a:pt x="897941" y="792785"/>
                </a:lnTo>
                <a:lnTo>
                  <a:pt x="913486" y="284378"/>
                </a:lnTo>
                <a:lnTo>
                  <a:pt x="929030" y="169164"/>
                </a:lnTo>
                <a:lnTo>
                  <a:pt x="1321308" y="45720"/>
                </a:lnTo>
                <a:lnTo>
                  <a:pt x="1330452" y="575158"/>
                </a:lnTo>
                <a:lnTo>
                  <a:pt x="1345082" y="1704442"/>
                </a:lnTo>
                <a:lnTo>
                  <a:pt x="1356055" y="1810512"/>
                </a:lnTo>
                <a:lnTo>
                  <a:pt x="1554480" y="1810512"/>
                </a:lnTo>
                <a:lnTo>
                  <a:pt x="1647749" y="1810512"/>
                </a:lnTo>
                <a:lnTo>
                  <a:pt x="1659636" y="1608430"/>
                </a:lnTo>
                <a:lnTo>
                  <a:pt x="1675181" y="766267"/>
                </a:lnTo>
                <a:lnTo>
                  <a:pt x="1690726" y="244145"/>
                </a:lnTo>
                <a:lnTo>
                  <a:pt x="1706270" y="127102"/>
                </a:lnTo>
                <a:lnTo>
                  <a:pt x="2098548" y="0"/>
                </a:lnTo>
                <a:lnTo>
                  <a:pt x="2107692" y="543154"/>
                </a:lnTo>
                <a:lnTo>
                  <a:pt x="2121408" y="1701698"/>
                </a:lnTo>
                <a:lnTo>
                  <a:pt x="2133295" y="1810512"/>
                </a:lnTo>
                <a:lnTo>
                  <a:pt x="2331720" y="1810512"/>
                </a:lnTo>
              </a:path>
            </a:pathLst>
          </a:custGeom>
          <a:noFill/>
          <a:ln w="44450">
            <a:solidFill>
              <a:srgbClr val="D55E00"/>
            </a:solidFill>
            <a:prstDash val="solid"/>
          </a:ln>
        </p:spPr>
      </p:sp>
      <p:sp>
        <p:nvSpPr>
          <p:cNvPr id="15" name="Text 13"/>
          <p:cNvSpPr txBox="1"/>
          <p:nvPr/>
        </p:nvSpPr>
        <p:spPr>
          <a:xfrm>
            <a:off x="5349240" y="1824228"/>
            <a:ext cx="384048"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a:t>
            </a:r>
            <a:endParaRPr lang="ja-JP" sz="2400" dirty="0"/>
          </a:p>
        </p:txBody>
      </p:sp>
      <p:sp>
        <p:nvSpPr>
          <p:cNvPr id="16" name="Text 14"/>
          <p:cNvSpPr txBox="1"/>
          <p:nvPr/>
        </p:nvSpPr>
        <p:spPr>
          <a:xfrm>
            <a:off x="5733288" y="1824228"/>
            <a:ext cx="5952744"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二酸化炭素吸収剤の劣化（色を確認）</a:t>
            </a:r>
            <a:endParaRPr lang="ja-JP" sz="2400" dirty="0"/>
          </a:p>
        </p:txBody>
      </p:sp>
      <p:sp>
        <p:nvSpPr>
          <p:cNvPr id="17" name="Text 15"/>
          <p:cNvSpPr txBox="1"/>
          <p:nvPr/>
        </p:nvSpPr>
        <p:spPr>
          <a:xfrm>
            <a:off x="5349240" y="2574036"/>
            <a:ext cx="384048"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a:t>
            </a:r>
            <a:endParaRPr lang="ja-JP" sz="2400" dirty="0"/>
          </a:p>
        </p:txBody>
      </p:sp>
      <p:sp>
        <p:nvSpPr>
          <p:cNvPr id="18" name="Text 16"/>
          <p:cNvSpPr txBox="1"/>
          <p:nvPr/>
        </p:nvSpPr>
        <p:spPr>
          <a:xfrm>
            <a:off x="5733288" y="2574036"/>
            <a:ext cx="5952744"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一方弁の故障</a:t>
            </a:r>
            <a:endParaRPr lang="ja-JP" sz="2400" dirty="0"/>
          </a:p>
        </p:txBody>
      </p:sp>
      <p:sp>
        <p:nvSpPr>
          <p:cNvPr id="19" name="Text 17"/>
          <p:cNvSpPr txBox="1"/>
          <p:nvPr/>
        </p:nvSpPr>
        <p:spPr>
          <a:xfrm>
            <a:off x="5349240" y="3323844"/>
            <a:ext cx="384048"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a:t>
            </a:r>
            <a:endParaRPr lang="ja-JP" sz="2400" dirty="0"/>
          </a:p>
        </p:txBody>
      </p:sp>
      <p:sp>
        <p:nvSpPr>
          <p:cNvPr id="20" name="Text 18"/>
          <p:cNvSpPr txBox="1"/>
          <p:nvPr/>
        </p:nvSpPr>
        <p:spPr>
          <a:xfrm>
            <a:off x="5733288" y="3323844"/>
            <a:ext cx="5952744"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吸収剤なしの回路で流量不足</a:t>
            </a:r>
            <a:endParaRPr lang="ja-JP" sz="2400" dirty="0"/>
          </a:p>
        </p:txBody>
      </p:sp>
      <p:sp>
        <p:nvSpPr>
          <p:cNvPr id="21" name="Text 19"/>
          <p:cNvSpPr txBox="1"/>
          <p:nvPr/>
        </p:nvSpPr>
        <p:spPr>
          <a:xfrm>
            <a:off x="5349240" y="4073652"/>
            <a:ext cx="384048"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a:t>
            </a:r>
            <a:endParaRPr lang="ja-JP" sz="2400" dirty="0"/>
          </a:p>
        </p:txBody>
      </p:sp>
      <p:sp>
        <p:nvSpPr>
          <p:cNvPr id="22" name="Text 20"/>
          <p:cNvSpPr txBox="1"/>
          <p:nvPr/>
        </p:nvSpPr>
        <p:spPr>
          <a:xfrm>
            <a:off x="5733288" y="4073652"/>
            <a:ext cx="5952744"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測定の遅れ（呼吸数が多い小児）</a:t>
            </a:r>
            <a:endParaRPr lang="ja-JP" sz="2400" dirty="0"/>
          </a:p>
        </p:txBody>
      </p:sp>
      <p:sp>
        <p:nvSpPr>
          <p:cNvPr id="23" name="Text 21"/>
          <p:cNvSpPr/>
          <p:nvPr/>
        </p:nvSpPr>
        <p:spPr>
          <a:xfrm>
            <a:off x="502920" y="5029200"/>
            <a:ext cx="11183112" cy="777240"/>
          </a:xfrm>
          <a:prstGeom prst="roundRect">
            <a:avLst>
              <a:gd name="adj" fmla="val 9412"/>
            </a:avLst>
          </a:prstGeom>
          <a:solidFill>
            <a:srgbClr val="F2F2F2"/>
          </a:solidFill>
          <a:ln w="28575">
            <a:solidFill>
              <a:srgbClr val="00A8AA"/>
            </a:solidFill>
          </a:ln>
        </p:spPr>
        <p:txBody>
          <a:bodyPr wrap="square" lIns="73152" tIns="73152" rIns="73152" bIns="73152" rtlCol="0" anchor="ctr"/>
          <a:lstStyle/>
          <a:p>
            <a:pPr algn="ctr" indent="0" marL="0">
              <a:buNone/>
            </a:pPr>
            <a:r>
              <a:rPr lang="ja-JP" altLang="en-US" sz="2800" b="1" dirty="0">
                <a:solidFill>
                  <a:srgbClr val="00A8AA"/>
                </a:solidFill>
                <a:latin typeface="メイリオ" pitchFamily="34" charset="0"/>
                <a:ea typeface="メイリオ" pitchFamily="34" charset="-122"/>
                <a:cs typeface="メイリオ" pitchFamily="34" charset="-120"/>
              </a:rPr>
              <a:t>吸収剤を交換し、新鮮ガス流量を上げる</a:t>
            </a:r>
            <a:endParaRPr lang="ja-JP" sz="2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プラトーが斜め（閉塞）</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順番</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消える・</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下がる</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上がる</a:t>
            </a:r>
            <a:endParaRPr lang="ja-JP" sz="1100" dirty="0"/>
          </a:p>
        </p:txBody>
      </p:sp>
      <p:sp>
        <p:nvSpPr>
          <p:cNvPr id="7" name="Text 5"/>
          <p:cNvSpPr/>
          <p:nvPr/>
        </p:nvSpPr>
        <p:spPr>
          <a:xfrm>
            <a:off x="10707624" y="54864"/>
            <a:ext cx="621792" cy="585216"/>
          </a:xfrm>
          <a:prstGeom prst="roundRect">
            <a:avLst>
              <a:gd name="adj" fmla="val 15625"/>
            </a:avLst>
          </a:prstGeom>
          <a:solidFill>
            <a:srgbClr val="00A8AA"/>
          </a:solidFill>
          <a:ln/>
        </p:spPr>
        <p:txBody>
          <a:bodyPr wrap="squar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形</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まとめ</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7</a:t>
            </a:r>
            <a:endParaRPr lang="ja-JP" sz="1200" dirty="0"/>
          </a:p>
        </p:txBody>
      </p:sp>
      <p:sp>
        <p:nvSpPr>
          <p:cNvPr id="10" name="Shape 8"/>
          <p:cNvSpPr/>
          <p:nvPr/>
        </p:nvSpPr>
        <p:spPr>
          <a:xfrm flipV="1">
            <a:off x="777240" y="1874520"/>
            <a:ext cx="0" cy="3474720"/>
          </a:xfrm>
          <a:prstGeom prst="line">
            <a:avLst/>
          </a:prstGeom>
          <a:noFill/>
          <a:ln w="25400">
            <a:solidFill>
              <a:srgbClr val="7F7F7F"/>
            </a:solidFill>
            <a:prstDash val="solid"/>
            <a:tailEnd type="triangle"/>
          </a:ln>
        </p:spPr>
      </p:sp>
      <p:sp>
        <p:nvSpPr>
          <p:cNvPr id="11" name="Shape 9"/>
          <p:cNvSpPr/>
          <p:nvPr/>
        </p:nvSpPr>
        <p:spPr>
          <a:xfrm>
            <a:off x="777240" y="5349240"/>
            <a:ext cx="4160520" cy="0"/>
          </a:xfrm>
          <a:prstGeom prst="line">
            <a:avLst/>
          </a:prstGeom>
          <a:noFill/>
          <a:ln w="25400">
            <a:solidFill>
              <a:srgbClr val="7F7F7F"/>
            </a:solidFill>
            <a:prstDash val="solid"/>
            <a:tailEnd type="triangle"/>
          </a:ln>
        </p:spPr>
      </p:sp>
      <p:sp>
        <p:nvSpPr>
          <p:cNvPr id="12" name="Shape 10"/>
          <p:cNvSpPr/>
          <p:nvPr/>
        </p:nvSpPr>
        <p:spPr>
          <a:xfrm>
            <a:off x="850392" y="2880360"/>
            <a:ext cx="1828800" cy="2468880"/>
          </a:xfrm>
          <a:custGeom>
            <a:avLst/>
            <a:gdLst/>
            <a:ahLst/>
            <a:cxnLst/>
            <a:rect l="l" t="t" r="r" b="b"/>
            <a:pathLst>
              <a:path w="1828800" h="2468880">
                <a:moveTo>
                  <a:pt x="0" y="2468880"/>
                </a:moveTo>
                <a:lnTo>
                  <a:pt x="109728" y="2468880"/>
                </a:lnTo>
                <a:lnTo>
                  <a:pt x="123444" y="2193646"/>
                </a:lnTo>
                <a:lnTo>
                  <a:pt x="141732" y="1045159"/>
                </a:lnTo>
                <a:lnTo>
                  <a:pt x="160020" y="333756"/>
                </a:lnTo>
                <a:lnTo>
                  <a:pt x="178308" y="172822"/>
                </a:lnTo>
                <a:lnTo>
                  <a:pt x="640080" y="0"/>
                </a:lnTo>
                <a:lnTo>
                  <a:pt x="651053" y="740664"/>
                </a:lnTo>
                <a:lnTo>
                  <a:pt x="667512" y="2320747"/>
                </a:lnTo>
                <a:lnTo>
                  <a:pt x="681228" y="2468880"/>
                </a:lnTo>
                <a:lnTo>
                  <a:pt x="914400" y="2468880"/>
                </a:lnTo>
                <a:lnTo>
                  <a:pt x="1024128" y="2468880"/>
                </a:lnTo>
                <a:lnTo>
                  <a:pt x="1037844" y="2193646"/>
                </a:lnTo>
                <a:lnTo>
                  <a:pt x="1056132" y="1045159"/>
                </a:lnTo>
                <a:lnTo>
                  <a:pt x="1074420" y="333756"/>
                </a:lnTo>
                <a:lnTo>
                  <a:pt x="1092708" y="172822"/>
                </a:lnTo>
                <a:lnTo>
                  <a:pt x="1554480" y="0"/>
                </a:lnTo>
                <a:lnTo>
                  <a:pt x="1565453" y="740664"/>
                </a:lnTo>
                <a:lnTo>
                  <a:pt x="1581912" y="2320747"/>
                </a:lnTo>
                <a:lnTo>
                  <a:pt x="1595628" y="2468880"/>
                </a:lnTo>
                <a:lnTo>
                  <a:pt x="1828800" y="2468880"/>
                </a:lnTo>
              </a:path>
            </a:pathLst>
          </a:custGeom>
          <a:noFill/>
          <a:ln w="44450">
            <a:solidFill>
              <a:srgbClr val="0072B2"/>
            </a:solidFill>
            <a:prstDash val="solid"/>
          </a:ln>
        </p:spPr>
      </p:sp>
      <p:sp>
        <p:nvSpPr>
          <p:cNvPr id="13" name="Shape 11"/>
          <p:cNvSpPr/>
          <p:nvPr/>
        </p:nvSpPr>
        <p:spPr>
          <a:xfrm>
            <a:off x="2679192" y="3017520"/>
            <a:ext cx="2103120" cy="2331720"/>
          </a:xfrm>
          <a:custGeom>
            <a:avLst/>
            <a:gdLst/>
            <a:ahLst/>
            <a:cxnLst/>
            <a:rect l="l" t="t" r="r" b="b"/>
            <a:pathLst>
              <a:path w="2103120" h="2331720">
                <a:moveTo>
                  <a:pt x="0" y="2331720"/>
                </a:moveTo>
                <a:lnTo>
                  <a:pt x="126187" y="2331720"/>
                </a:lnTo>
                <a:lnTo>
                  <a:pt x="160020" y="2011680"/>
                </a:lnTo>
                <a:lnTo>
                  <a:pt x="193853" y="1731874"/>
                </a:lnTo>
                <a:lnTo>
                  <a:pt x="227686" y="1485900"/>
                </a:lnTo>
                <a:lnTo>
                  <a:pt x="261518" y="1271930"/>
                </a:lnTo>
                <a:lnTo>
                  <a:pt x="295351" y="1083564"/>
                </a:lnTo>
                <a:lnTo>
                  <a:pt x="329184" y="919886"/>
                </a:lnTo>
                <a:lnTo>
                  <a:pt x="363017" y="775411"/>
                </a:lnTo>
                <a:lnTo>
                  <a:pt x="396850" y="650138"/>
                </a:lnTo>
                <a:lnTo>
                  <a:pt x="430682" y="539496"/>
                </a:lnTo>
                <a:lnTo>
                  <a:pt x="465430" y="443484"/>
                </a:lnTo>
                <a:lnTo>
                  <a:pt x="499262" y="359359"/>
                </a:lnTo>
                <a:lnTo>
                  <a:pt x="533095" y="285293"/>
                </a:lnTo>
                <a:lnTo>
                  <a:pt x="566928" y="220370"/>
                </a:lnTo>
                <a:lnTo>
                  <a:pt x="600761" y="163678"/>
                </a:lnTo>
                <a:lnTo>
                  <a:pt x="634594" y="114300"/>
                </a:lnTo>
                <a:lnTo>
                  <a:pt x="668426" y="71323"/>
                </a:lnTo>
                <a:lnTo>
                  <a:pt x="702259" y="32918"/>
                </a:lnTo>
                <a:lnTo>
                  <a:pt x="736092" y="0"/>
                </a:lnTo>
                <a:lnTo>
                  <a:pt x="748894" y="699516"/>
                </a:lnTo>
                <a:lnTo>
                  <a:pt x="767182" y="2191817"/>
                </a:lnTo>
                <a:lnTo>
                  <a:pt x="783641" y="2331720"/>
                </a:lnTo>
                <a:lnTo>
                  <a:pt x="1051560" y="2331720"/>
                </a:lnTo>
                <a:lnTo>
                  <a:pt x="1177747" y="2331720"/>
                </a:lnTo>
                <a:lnTo>
                  <a:pt x="1211580" y="2011680"/>
                </a:lnTo>
                <a:lnTo>
                  <a:pt x="1245413" y="1731874"/>
                </a:lnTo>
                <a:lnTo>
                  <a:pt x="1279246" y="1485900"/>
                </a:lnTo>
                <a:lnTo>
                  <a:pt x="1313078" y="1271930"/>
                </a:lnTo>
                <a:lnTo>
                  <a:pt x="1346911" y="1083564"/>
                </a:lnTo>
                <a:lnTo>
                  <a:pt x="1380744" y="919886"/>
                </a:lnTo>
                <a:lnTo>
                  <a:pt x="1414577" y="775411"/>
                </a:lnTo>
                <a:lnTo>
                  <a:pt x="1448410" y="650138"/>
                </a:lnTo>
                <a:lnTo>
                  <a:pt x="1483157" y="539496"/>
                </a:lnTo>
                <a:lnTo>
                  <a:pt x="1516990" y="443484"/>
                </a:lnTo>
                <a:lnTo>
                  <a:pt x="1550822" y="359359"/>
                </a:lnTo>
                <a:lnTo>
                  <a:pt x="1584655" y="285293"/>
                </a:lnTo>
                <a:lnTo>
                  <a:pt x="1618488" y="220370"/>
                </a:lnTo>
                <a:lnTo>
                  <a:pt x="1652321" y="163678"/>
                </a:lnTo>
                <a:lnTo>
                  <a:pt x="1686154" y="114300"/>
                </a:lnTo>
                <a:lnTo>
                  <a:pt x="1719986" y="71323"/>
                </a:lnTo>
                <a:lnTo>
                  <a:pt x="1753819" y="32918"/>
                </a:lnTo>
                <a:lnTo>
                  <a:pt x="1787652" y="0"/>
                </a:lnTo>
                <a:lnTo>
                  <a:pt x="1800454" y="699516"/>
                </a:lnTo>
                <a:lnTo>
                  <a:pt x="1819656" y="2191817"/>
                </a:lnTo>
                <a:lnTo>
                  <a:pt x="1835201" y="2331720"/>
                </a:lnTo>
                <a:lnTo>
                  <a:pt x="2103120" y="2331720"/>
                </a:lnTo>
              </a:path>
            </a:pathLst>
          </a:custGeom>
          <a:noFill/>
          <a:ln w="44450">
            <a:solidFill>
              <a:srgbClr val="D55E00"/>
            </a:solidFill>
            <a:prstDash val="solid"/>
          </a:ln>
        </p:spPr>
      </p:sp>
      <p:sp>
        <p:nvSpPr>
          <p:cNvPr id="14" name="Text 12"/>
          <p:cNvSpPr txBox="1"/>
          <p:nvPr/>
        </p:nvSpPr>
        <p:spPr>
          <a:xfrm>
            <a:off x="5349240" y="1975104"/>
            <a:ext cx="384048"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a:t>
            </a:r>
            <a:endParaRPr lang="ja-JP" sz="2400" dirty="0"/>
          </a:p>
        </p:txBody>
      </p:sp>
      <p:sp>
        <p:nvSpPr>
          <p:cNvPr id="15" name="Text 13"/>
          <p:cNvSpPr txBox="1"/>
          <p:nvPr/>
        </p:nvSpPr>
        <p:spPr>
          <a:xfrm>
            <a:off x="5733288" y="1975104"/>
            <a:ext cx="5952744"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気管支攣縮・喘息・COPD</a:t>
            </a:r>
            <a:endParaRPr lang="ja-JP" sz="2400" dirty="0"/>
          </a:p>
        </p:txBody>
      </p:sp>
      <p:sp>
        <p:nvSpPr>
          <p:cNvPr id="16" name="Text 14"/>
          <p:cNvSpPr txBox="1"/>
          <p:nvPr/>
        </p:nvSpPr>
        <p:spPr>
          <a:xfrm>
            <a:off x="5349240" y="2761488"/>
            <a:ext cx="384048"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a:t>
            </a:r>
            <a:endParaRPr lang="ja-JP" sz="2400" dirty="0"/>
          </a:p>
        </p:txBody>
      </p:sp>
      <p:sp>
        <p:nvSpPr>
          <p:cNvPr id="17" name="Text 15"/>
          <p:cNvSpPr txBox="1"/>
          <p:nvPr/>
        </p:nvSpPr>
        <p:spPr>
          <a:xfrm>
            <a:off x="5733288" y="2761488"/>
            <a:ext cx="5952744" cy="9144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チューブの屈曲・</a:t>
            </a:r>
            <a:endParaRPr lang="ja-JP" sz="2400" dirty="0"/>
          </a:p>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分泌物による部分閉塞</a:t>
            </a:r>
            <a:endParaRPr lang="ja-JP" sz="2400" dirty="0"/>
          </a:p>
        </p:txBody>
      </p:sp>
      <p:sp>
        <p:nvSpPr>
          <p:cNvPr id="18" name="Text 16"/>
          <p:cNvSpPr txBox="1"/>
          <p:nvPr/>
        </p:nvSpPr>
        <p:spPr>
          <a:xfrm>
            <a:off x="5349240" y="4005072"/>
            <a:ext cx="384048"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a:t>
            </a:r>
            <a:endParaRPr lang="ja-JP" sz="2400" dirty="0"/>
          </a:p>
        </p:txBody>
      </p:sp>
      <p:sp>
        <p:nvSpPr>
          <p:cNvPr id="19" name="Text 17"/>
          <p:cNvSpPr txBox="1"/>
          <p:nvPr/>
        </p:nvSpPr>
        <p:spPr>
          <a:xfrm>
            <a:off x="5733288" y="4005072"/>
            <a:ext cx="5952744"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気道内圧の上昇・聴診とあわせて判断</a:t>
            </a:r>
            <a:endParaRPr lang="ja-JP" sz="2400" dirty="0"/>
          </a:p>
        </p:txBody>
      </p:sp>
      <p:sp>
        <p:nvSpPr>
          <p:cNvPr id="20" name="Text 18"/>
          <p:cNvSpPr txBox="1"/>
          <p:nvPr/>
        </p:nvSpPr>
        <p:spPr>
          <a:xfrm>
            <a:off x="5349240" y="4791456"/>
            <a:ext cx="384048"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a:t>
            </a:r>
            <a:endParaRPr lang="ja-JP" sz="2400" dirty="0"/>
          </a:p>
        </p:txBody>
      </p:sp>
      <p:sp>
        <p:nvSpPr>
          <p:cNvPr id="21" name="Text 19"/>
          <p:cNvSpPr txBox="1"/>
          <p:nvPr/>
        </p:nvSpPr>
        <p:spPr>
          <a:xfrm>
            <a:off x="5733288" y="4791456"/>
            <a:ext cx="5952744"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対処 </a:t>
            </a:r>
            <a:r>
              <a:rPr lang="ja-JP" altLang="en-US" sz="2400" b="1" dirty="0">
                <a:solidFill>
                  <a:srgbClr val="00A8AA"/>
                </a:solidFill>
                <a:latin typeface="メイリオ" pitchFamily="34" charset="0"/>
                <a:ea typeface="メイリオ" pitchFamily="34" charset="-122"/>
                <a:cs typeface="メイリオ" pitchFamily="34" charset="-120"/>
              </a:rPr>
              <a:t>→ 6-5 気道内圧上昇・換気困難</a:t>
            </a:r>
            <a:endParaRPr lang="ja-JP"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くぼみと揺れ</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順番</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消える・</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下がる</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上がる</a:t>
            </a:r>
            <a:endParaRPr lang="ja-JP" sz="1100" dirty="0"/>
          </a:p>
        </p:txBody>
      </p:sp>
      <p:sp>
        <p:nvSpPr>
          <p:cNvPr id="7" name="Text 5"/>
          <p:cNvSpPr/>
          <p:nvPr/>
        </p:nvSpPr>
        <p:spPr>
          <a:xfrm>
            <a:off x="10707624" y="54864"/>
            <a:ext cx="621792" cy="585216"/>
          </a:xfrm>
          <a:prstGeom prst="roundRect">
            <a:avLst>
              <a:gd name="adj" fmla="val 15625"/>
            </a:avLst>
          </a:prstGeom>
          <a:solidFill>
            <a:srgbClr val="00A8AA"/>
          </a:solidFill>
          <a:ln/>
        </p:spPr>
        <p:txBody>
          <a:bodyPr wrap="squar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形</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まとめ</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8</a:t>
            </a:r>
            <a:endParaRPr lang="ja-JP" sz="1200" dirty="0"/>
          </a:p>
        </p:txBody>
      </p:sp>
      <p:sp>
        <p:nvSpPr>
          <p:cNvPr id="10" name="Shape 8"/>
          <p:cNvSpPr/>
          <p:nvPr/>
        </p:nvSpPr>
        <p:spPr>
          <a:xfrm flipV="1">
            <a:off x="640080" y="1737360"/>
            <a:ext cx="0" cy="1783080"/>
          </a:xfrm>
          <a:prstGeom prst="line">
            <a:avLst/>
          </a:prstGeom>
          <a:noFill/>
          <a:ln w="25400">
            <a:solidFill>
              <a:srgbClr val="7F7F7F"/>
            </a:solidFill>
            <a:prstDash val="solid"/>
            <a:tailEnd type="triangle"/>
          </a:ln>
        </p:spPr>
      </p:sp>
      <p:sp>
        <p:nvSpPr>
          <p:cNvPr id="11" name="Shape 9"/>
          <p:cNvSpPr/>
          <p:nvPr/>
        </p:nvSpPr>
        <p:spPr>
          <a:xfrm>
            <a:off x="640080" y="3520440"/>
            <a:ext cx="5120640" cy="0"/>
          </a:xfrm>
          <a:prstGeom prst="line">
            <a:avLst/>
          </a:prstGeom>
          <a:noFill/>
          <a:ln w="25400">
            <a:solidFill>
              <a:srgbClr val="7F7F7F"/>
            </a:solidFill>
            <a:prstDash val="solid"/>
            <a:tailEnd type="triangle"/>
          </a:ln>
        </p:spPr>
      </p:sp>
      <p:sp>
        <p:nvSpPr>
          <p:cNvPr id="12" name="Shape 10"/>
          <p:cNvSpPr/>
          <p:nvPr/>
        </p:nvSpPr>
        <p:spPr>
          <a:xfrm>
            <a:off x="713232" y="2148840"/>
            <a:ext cx="2322576" cy="1371600"/>
          </a:xfrm>
          <a:custGeom>
            <a:avLst/>
            <a:gdLst/>
            <a:ahLst/>
            <a:cxnLst/>
            <a:rect l="l" t="t" r="r" b="b"/>
            <a:pathLst>
              <a:path w="2322576" h="1371600">
                <a:moveTo>
                  <a:pt x="0" y="1371600"/>
                </a:moveTo>
                <a:lnTo>
                  <a:pt x="138989" y="1371600"/>
                </a:lnTo>
                <a:lnTo>
                  <a:pt x="156362" y="1218895"/>
                </a:lnTo>
                <a:lnTo>
                  <a:pt x="180137" y="580644"/>
                </a:lnTo>
                <a:lnTo>
                  <a:pt x="202997" y="185623"/>
                </a:lnTo>
                <a:lnTo>
                  <a:pt x="226771" y="96012"/>
                </a:lnTo>
                <a:lnTo>
                  <a:pt x="812902" y="0"/>
                </a:lnTo>
                <a:lnTo>
                  <a:pt x="826618" y="411480"/>
                </a:lnTo>
                <a:lnTo>
                  <a:pt x="847649" y="1289304"/>
                </a:lnTo>
                <a:lnTo>
                  <a:pt x="865022" y="1371600"/>
                </a:lnTo>
                <a:lnTo>
                  <a:pt x="1161288" y="1371600"/>
                </a:lnTo>
                <a:lnTo>
                  <a:pt x="1300277" y="1371600"/>
                </a:lnTo>
                <a:lnTo>
                  <a:pt x="1317650" y="1218895"/>
                </a:lnTo>
                <a:lnTo>
                  <a:pt x="1341425" y="580644"/>
                </a:lnTo>
                <a:lnTo>
                  <a:pt x="1364285" y="185623"/>
                </a:lnTo>
                <a:lnTo>
                  <a:pt x="1388059" y="96012"/>
                </a:lnTo>
                <a:lnTo>
                  <a:pt x="1974190" y="0"/>
                </a:lnTo>
                <a:lnTo>
                  <a:pt x="1987906" y="411480"/>
                </a:lnTo>
                <a:lnTo>
                  <a:pt x="2008937" y="1289304"/>
                </a:lnTo>
                <a:lnTo>
                  <a:pt x="2026310" y="1371600"/>
                </a:lnTo>
                <a:lnTo>
                  <a:pt x="2322576" y="1371600"/>
                </a:lnTo>
              </a:path>
            </a:pathLst>
          </a:custGeom>
          <a:noFill/>
          <a:ln w="44450">
            <a:solidFill>
              <a:srgbClr val="0072B2"/>
            </a:solidFill>
            <a:prstDash val="solid"/>
          </a:ln>
        </p:spPr>
      </p:sp>
      <p:sp>
        <p:nvSpPr>
          <p:cNvPr id="13" name="Shape 11"/>
          <p:cNvSpPr/>
          <p:nvPr/>
        </p:nvSpPr>
        <p:spPr>
          <a:xfrm>
            <a:off x="3035808" y="2148840"/>
            <a:ext cx="2322576" cy="1371600"/>
          </a:xfrm>
          <a:custGeom>
            <a:avLst/>
            <a:gdLst/>
            <a:ahLst/>
            <a:cxnLst/>
            <a:rect l="l" t="t" r="r" b="b"/>
            <a:pathLst>
              <a:path w="2322576" h="1371600">
                <a:moveTo>
                  <a:pt x="0" y="1371600"/>
                </a:moveTo>
                <a:lnTo>
                  <a:pt x="138989" y="1371600"/>
                </a:lnTo>
                <a:lnTo>
                  <a:pt x="156362" y="1218895"/>
                </a:lnTo>
                <a:lnTo>
                  <a:pt x="180137" y="580644"/>
                </a:lnTo>
                <a:lnTo>
                  <a:pt x="202997" y="185623"/>
                </a:lnTo>
                <a:lnTo>
                  <a:pt x="226771" y="96012"/>
                </a:lnTo>
                <a:lnTo>
                  <a:pt x="467258" y="56693"/>
                </a:lnTo>
                <a:lnTo>
                  <a:pt x="519379" y="569671"/>
                </a:lnTo>
                <a:lnTo>
                  <a:pt x="583387" y="37490"/>
                </a:lnTo>
                <a:lnTo>
                  <a:pt x="812902" y="0"/>
                </a:lnTo>
                <a:lnTo>
                  <a:pt x="826618" y="411480"/>
                </a:lnTo>
                <a:lnTo>
                  <a:pt x="847649" y="1289304"/>
                </a:lnTo>
                <a:lnTo>
                  <a:pt x="865022" y="1371600"/>
                </a:lnTo>
                <a:lnTo>
                  <a:pt x="1161288" y="1371600"/>
                </a:lnTo>
                <a:lnTo>
                  <a:pt x="1300277" y="1371600"/>
                </a:lnTo>
                <a:lnTo>
                  <a:pt x="1317650" y="1218895"/>
                </a:lnTo>
                <a:lnTo>
                  <a:pt x="1341425" y="580644"/>
                </a:lnTo>
                <a:lnTo>
                  <a:pt x="1364285" y="185623"/>
                </a:lnTo>
                <a:lnTo>
                  <a:pt x="1388059" y="96012"/>
                </a:lnTo>
                <a:lnTo>
                  <a:pt x="1628546" y="56693"/>
                </a:lnTo>
                <a:lnTo>
                  <a:pt x="1680667" y="569671"/>
                </a:lnTo>
                <a:lnTo>
                  <a:pt x="1744675" y="37490"/>
                </a:lnTo>
                <a:lnTo>
                  <a:pt x="1974190" y="0"/>
                </a:lnTo>
                <a:lnTo>
                  <a:pt x="1987906" y="411480"/>
                </a:lnTo>
                <a:lnTo>
                  <a:pt x="2008937" y="1289304"/>
                </a:lnTo>
                <a:lnTo>
                  <a:pt x="2026310" y="1371600"/>
                </a:lnTo>
                <a:lnTo>
                  <a:pt x="2322576" y="1371600"/>
                </a:lnTo>
              </a:path>
            </a:pathLst>
          </a:custGeom>
          <a:noFill/>
          <a:ln w="44450">
            <a:solidFill>
              <a:srgbClr val="D55E00"/>
            </a:solidFill>
            <a:prstDash val="solid"/>
          </a:ln>
        </p:spPr>
      </p:sp>
      <p:sp>
        <p:nvSpPr>
          <p:cNvPr id="14" name="Shape 12"/>
          <p:cNvSpPr/>
          <p:nvPr/>
        </p:nvSpPr>
        <p:spPr>
          <a:xfrm flipV="1">
            <a:off x="6519672" y="1737360"/>
            <a:ext cx="0" cy="1783080"/>
          </a:xfrm>
          <a:prstGeom prst="line">
            <a:avLst/>
          </a:prstGeom>
          <a:noFill/>
          <a:ln w="25400">
            <a:solidFill>
              <a:srgbClr val="7F7F7F"/>
            </a:solidFill>
            <a:prstDash val="solid"/>
            <a:tailEnd type="triangle"/>
          </a:ln>
        </p:spPr>
      </p:sp>
      <p:sp>
        <p:nvSpPr>
          <p:cNvPr id="15" name="Shape 13"/>
          <p:cNvSpPr/>
          <p:nvPr/>
        </p:nvSpPr>
        <p:spPr>
          <a:xfrm>
            <a:off x="6519672" y="3520440"/>
            <a:ext cx="5120640" cy="0"/>
          </a:xfrm>
          <a:prstGeom prst="line">
            <a:avLst/>
          </a:prstGeom>
          <a:noFill/>
          <a:ln w="25400">
            <a:solidFill>
              <a:srgbClr val="7F7F7F"/>
            </a:solidFill>
            <a:prstDash val="solid"/>
            <a:tailEnd type="triangle"/>
          </a:ln>
        </p:spPr>
      </p:sp>
      <p:sp>
        <p:nvSpPr>
          <p:cNvPr id="16" name="Shape 14"/>
          <p:cNvSpPr/>
          <p:nvPr/>
        </p:nvSpPr>
        <p:spPr>
          <a:xfrm>
            <a:off x="6592824" y="2148840"/>
            <a:ext cx="2011680" cy="1371600"/>
          </a:xfrm>
          <a:custGeom>
            <a:avLst/>
            <a:gdLst/>
            <a:ahLst/>
            <a:cxnLst/>
            <a:rect l="l" t="t" r="r" b="b"/>
            <a:pathLst>
              <a:path w="2011680" h="1371600">
                <a:moveTo>
                  <a:pt x="0" y="1371600"/>
                </a:moveTo>
                <a:lnTo>
                  <a:pt x="120701" y="1371600"/>
                </a:lnTo>
                <a:lnTo>
                  <a:pt x="135331" y="1218895"/>
                </a:lnTo>
                <a:lnTo>
                  <a:pt x="155448" y="580644"/>
                </a:lnTo>
                <a:lnTo>
                  <a:pt x="175565" y="185623"/>
                </a:lnTo>
                <a:lnTo>
                  <a:pt x="195682" y="96012"/>
                </a:lnTo>
                <a:lnTo>
                  <a:pt x="704088" y="0"/>
                </a:lnTo>
                <a:lnTo>
                  <a:pt x="715975" y="411480"/>
                </a:lnTo>
                <a:lnTo>
                  <a:pt x="734263" y="1289304"/>
                </a:lnTo>
                <a:lnTo>
                  <a:pt x="748894" y="1371600"/>
                </a:lnTo>
                <a:lnTo>
                  <a:pt x="1005840" y="1371600"/>
                </a:lnTo>
                <a:lnTo>
                  <a:pt x="1126541" y="1371600"/>
                </a:lnTo>
                <a:lnTo>
                  <a:pt x="1142086" y="1218895"/>
                </a:lnTo>
                <a:lnTo>
                  <a:pt x="1162202" y="580644"/>
                </a:lnTo>
                <a:lnTo>
                  <a:pt x="1181405" y="185623"/>
                </a:lnTo>
                <a:lnTo>
                  <a:pt x="1201522" y="96012"/>
                </a:lnTo>
                <a:lnTo>
                  <a:pt x="1709928" y="0"/>
                </a:lnTo>
                <a:lnTo>
                  <a:pt x="1721815" y="411480"/>
                </a:lnTo>
                <a:lnTo>
                  <a:pt x="1740103" y="1289304"/>
                </a:lnTo>
                <a:lnTo>
                  <a:pt x="1754734" y="1371600"/>
                </a:lnTo>
                <a:lnTo>
                  <a:pt x="2011680" y="1371600"/>
                </a:lnTo>
              </a:path>
            </a:pathLst>
          </a:custGeom>
          <a:noFill/>
          <a:ln w="44450">
            <a:solidFill>
              <a:srgbClr val="0072B2"/>
            </a:solidFill>
            <a:prstDash val="solid"/>
          </a:ln>
        </p:spPr>
      </p:sp>
      <p:sp>
        <p:nvSpPr>
          <p:cNvPr id="17" name="Shape 15"/>
          <p:cNvSpPr/>
          <p:nvPr/>
        </p:nvSpPr>
        <p:spPr>
          <a:xfrm>
            <a:off x="8604504" y="2131573"/>
            <a:ext cx="2615184" cy="1388867"/>
          </a:xfrm>
          <a:custGeom>
            <a:avLst/>
            <a:gdLst/>
            <a:ahLst/>
            <a:cxnLst/>
            <a:rect l="l" t="t" r="r" b="b"/>
            <a:pathLst>
              <a:path w="2615184" h="1388867">
                <a:moveTo>
                  <a:pt x="0" y="1388974"/>
                </a:moveTo>
                <a:lnTo>
                  <a:pt x="157277" y="1388974"/>
                </a:lnTo>
                <a:lnTo>
                  <a:pt x="176479" y="1235354"/>
                </a:lnTo>
                <a:lnTo>
                  <a:pt x="202997" y="598018"/>
                </a:lnTo>
                <a:lnTo>
                  <a:pt x="228600" y="202997"/>
                </a:lnTo>
                <a:lnTo>
                  <a:pt x="255118" y="113386"/>
                </a:lnTo>
                <a:lnTo>
                  <a:pt x="587959" y="64922"/>
                </a:lnTo>
                <a:lnTo>
                  <a:pt x="591617" y="56693"/>
                </a:lnTo>
                <a:lnTo>
                  <a:pt x="595274" y="49378"/>
                </a:lnTo>
                <a:lnTo>
                  <a:pt x="598932" y="44806"/>
                </a:lnTo>
                <a:lnTo>
                  <a:pt x="603504" y="42062"/>
                </a:lnTo>
                <a:lnTo>
                  <a:pt x="608076" y="42977"/>
                </a:lnTo>
                <a:lnTo>
                  <a:pt x="613562" y="46634"/>
                </a:lnTo>
                <a:lnTo>
                  <a:pt x="619049" y="52121"/>
                </a:lnTo>
                <a:lnTo>
                  <a:pt x="624535" y="59436"/>
                </a:lnTo>
                <a:lnTo>
                  <a:pt x="630022" y="66751"/>
                </a:lnTo>
                <a:lnTo>
                  <a:pt x="635508" y="72238"/>
                </a:lnTo>
                <a:lnTo>
                  <a:pt x="640994" y="75895"/>
                </a:lnTo>
                <a:lnTo>
                  <a:pt x="645566" y="76810"/>
                </a:lnTo>
                <a:lnTo>
                  <a:pt x="650138" y="74981"/>
                </a:lnTo>
                <a:lnTo>
                  <a:pt x="653796" y="69494"/>
                </a:lnTo>
                <a:lnTo>
                  <a:pt x="657454" y="62179"/>
                </a:lnTo>
                <a:lnTo>
                  <a:pt x="661111" y="53950"/>
                </a:lnTo>
                <a:lnTo>
                  <a:pt x="664769" y="45720"/>
                </a:lnTo>
                <a:lnTo>
                  <a:pt x="668426" y="38405"/>
                </a:lnTo>
                <a:lnTo>
                  <a:pt x="672084" y="33833"/>
                </a:lnTo>
                <a:lnTo>
                  <a:pt x="676656" y="32004"/>
                </a:lnTo>
                <a:lnTo>
                  <a:pt x="681228" y="32918"/>
                </a:lnTo>
                <a:lnTo>
                  <a:pt x="685800" y="36576"/>
                </a:lnTo>
                <a:lnTo>
                  <a:pt x="691286" y="42062"/>
                </a:lnTo>
                <a:lnTo>
                  <a:pt x="697687" y="49378"/>
                </a:lnTo>
                <a:lnTo>
                  <a:pt x="703174" y="55778"/>
                </a:lnTo>
                <a:lnTo>
                  <a:pt x="708660" y="61265"/>
                </a:lnTo>
                <a:lnTo>
                  <a:pt x="713232" y="64922"/>
                </a:lnTo>
                <a:lnTo>
                  <a:pt x="718718" y="65837"/>
                </a:lnTo>
                <a:lnTo>
                  <a:pt x="722376" y="64008"/>
                </a:lnTo>
                <a:lnTo>
                  <a:pt x="726948" y="59436"/>
                </a:lnTo>
                <a:lnTo>
                  <a:pt x="730606" y="52121"/>
                </a:lnTo>
                <a:lnTo>
                  <a:pt x="733349" y="43891"/>
                </a:lnTo>
                <a:lnTo>
                  <a:pt x="737006" y="35662"/>
                </a:lnTo>
                <a:lnTo>
                  <a:pt x="740664" y="28346"/>
                </a:lnTo>
                <a:lnTo>
                  <a:pt x="744322" y="22860"/>
                </a:lnTo>
                <a:lnTo>
                  <a:pt x="748894" y="21031"/>
                </a:lnTo>
                <a:lnTo>
                  <a:pt x="753466" y="21946"/>
                </a:lnTo>
                <a:lnTo>
                  <a:pt x="758952" y="25603"/>
                </a:lnTo>
                <a:lnTo>
                  <a:pt x="764438" y="31090"/>
                </a:lnTo>
                <a:lnTo>
                  <a:pt x="769925" y="38405"/>
                </a:lnTo>
                <a:lnTo>
                  <a:pt x="775411" y="45720"/>
                </a:lnTo>
                <a:lnTo>
                  <a:pt x="780898" y="51206"/>
                </a:lnTo>
                <a:lnTo>
                  <a:pt x="786384" y="54864"/>
                </a:lnTo>
                <a:lnTo>
                  <a:pt x="790956" y="55778"/>
                </a:lnTo>
                <a:lnTo>
                  <a:pt x="795528" y="53035"/>
                </a:lnTo>
                <a:lnTo>
                  <a:pt x="799186" y="48463"/>
                </a:lnTo>
                <a:lnTo>
                  <a:pt x="802843" y="41148"/>
                </a:lnTo>
                <a:lnTo>
                  <a:pt x="806501" y="32918"/>
                </a:lnTo>
                <a:lnTo>
                  <a:pt x="810158" y="24689"/>
                </a:lnTo>
                <a:lnTo>
                  <a:pt x="813816" y="17374"/>
                </a:lnTo>
                <a:lnTo>
                  <a:pt x="817474" y="12802"/>
                </a:lnTo>
                <a:lnTo>
                  <a:pt x="822046" y="10973"/>
                </a:lnTo>
                <a:lnTo>
                  <a:pt x="826618" y="10973"/>
                </a:lnTo>
                <a:lnTo>
                  <a:pt x="831190" y="14630"/>
                </a:lnTo>
                <a:lnTo>
                  <a:pt x="836676" y="21031"/>
                </a:lnTo>
                <a:lnTo>
                  <a:pt x="843077" y="27432"/>
                </a:lnTo>
                <a:lnTo>
                  <a:pt x="848563" y="34747"/>
                </a:lnTo>
                <a:lnTo>
                  <a:pt x="854050" y="40234"/>
                </a:lnTo>
                <a:lnTo>
                  <a:pt x="858622" y="43891"/>
                </a:lnTo>
                <a:lnTo>
                  <a:pt x="864108" y="44806"/>
                </a:lnTo>
                <a:lnTo>
                  <a:pt x="867766" y="42977"/>
                </a:lnTo>
                <a:lnTo>
                  <a:pt x="872338" y="37490"/>
                </a:lnTo>
                <a:lnTo>
                  <a:pt x="875995" y="31090"/>
                </a:lnTo>
                <a:lnTo>
                  <a:pt x="878738" y="22860"/>
                </a:lnTo>
                <a:lnTo>
                  <a:pt x="882396" y="14630"/>
                </a:lnTo>
                <a:lnTo>
                  <a:pt x="886054" y="7315"/>
                </a:lnTo>
                <a:lnTo>
                  <a:pt x="889711" y="1829"/>
                </a:lnTo>
                <a:lnTo>
                  <a:pt x="894283" y="0"/>
                </a:lnTo>
                <a:lnTo>
                  <a:pt x="898855" y="914"/>
                </a:lnTo>
                <a:lnTo>
                  <a:pt x="904342" y="4572"/>
                </a:lnTo>
                <a:lnTo>
                  <a:pt x="909828" y="10058"/>
                </a:lnTo>
                <a:lnTo>
                  <a:pt x="915314" y="17374"/>
                </a:lnTo>
                <a:lnTo>
                  <a:pt x="924458" y="19202"/>
                </a:lnTo>
                <a:lnTo>
                  <a:pt x="931774" y="21031"/>
                </a:lnTo>
                <a:lnTo>
                  <a:pt x="938174" y="23774"/>
                </a:lnTo>
                <a:lnTo>
                  <a:pt x="941832" y="27432"/>
                </a:lnTo>
                <a:lnTo>
                  <a:pt x="941832" y="32918"/>
                </a:lnTo>
                <a:lnTo>
                  <a:pt x="940003" y="38405"/>
                </a:lnTo>
                <a:lnTo>
                  <a:pt x="935431" y="45720"/>
                </a:lnTo>
                <a:lnTo>
                  <a:pt x="930859" y="53035"/>
                </a:lnTo>
                <a:lnTo>
                  <a:pt x="925373" y="61265"/>
                </a:lnTo>
                <a:lnTo>
                  <a:pt x="920801" y="67666"/>
                </a:lnTo>
                <a:lnTo>
                  <a:pt x="918972" y="74066"/>
                </a:lnTo>
                <a:lnTo>
                  <a:pt x="919886" y="79553"/>
                </a:lnTo>
                <a:lnTo>
                  <a:pt x="922630" y="83210"/>
                </a:lnTo>
                <a:lnTo>
                  <a:pt x="929030" y="85954"/>
                </a:lnTo>
                <a:lnTo>
                  <a:pt x="936346" y="87782"/>
                </a:lnTo>
                <a:lnTo>
                  <a:pt x="945490" y="89611"/>
                </a:lnTo>
                <a:lnTo>
                  <a:pt x="954634" y="91440"/>
                </a:lnTo>
                <a:lnTo>
                  <a:pt x="962863" y="93269"/>
                </a:lnTo>
                <a:lnTo>
                  <a:pt x="968350" y="96012"/>
                </a:lnTo>
                <a:lnTo>
                  <a:pt x="972007" y="99670"/>
                </a:lnTo>
                <a:lnTo>
                  <a:pt x="972007" y="105156"/>
                </a:lnTo>
                <a:lnTo>
                  <a:pt x="970178" y="110642"/>
                </a:lnTo>
                <a:lnTo>
                  <a:pt x="965606" y="117958"/>
                </a:lnTo>
                <a:lnTo>
                  <a:pt x="961034" y="125273"/>
                </a:lnTo>
                <a:lnTo>
                  <a:pt x="955548" y="132588"/>
                </a:lnTo>
                <a:lnTo>
                  <a:pt x="950976" y="139903"/>
                </a:lnTo>
                <a:lnTo>
                  <a:pt x="949147" y="146304"/>
                </a:lnTo>
                <a:lnTo>
                  <a:pt x="950062" y="151790"/>
                </a:lnTo>
                <a:lnTo>
                  <a:pt x="952805" y="155448"/>
                </a:lnTo>
                <a:lnTo>
                  <a:pt x="959206" y="158191"/>
                </a:lnTo>
                <a:lnTo>
                  <a:pt x="966521" y="160020"/>
                </a:lnTo>
                <a:lnTo>
                  <a:pt x="975665" y="161849"/>
                </a:lnTo>
                <a:lnTo>
                  <a:pt x="984809" y="162763"/>
                </a:lnTo>
                <a:lnTo>
                  <a:pt x="993038" y="165506"/>
                </a:lnTo>
                <a:lnTo>
                  <a:pt x="998525" y="168250"/>
                </a:lnTo>
                <a:lnTo>
                  <a:pt x="1002182" y="171907"/>
                </a:lnTo>
                <a:lnTo>
                  <a:pt x="1002182" y="177394"/>
                </a:lnTo>
                <a:lnTo>
                  <a:pt x="1000354" y="182880"/>
                </a:lnTo>
                <a:lnTo>
                  <a:pt x="995782" y="190195"/>
                </a:lnTo>
                <a:lnTo>
                  <a:pt x="991210" y="197510"/>
                </a:lnTo>
                <a:lnTo>
                  <a:pt x="985723" y="204826"/>
                </a:lnTo>
                <a:lnTo>
                  <a:pt x="982066" y="212141"/>
                </a:lnTo>
                <a:lnTo>
                  <a:pt x="979322" y="218542"/>
                </a:lnTo>
                <a:lnTo>
                  <a:pt x="980237" y="223114"/>
                </a:lnTo>
                <a:lnTo>
                  <a:pt x="982980" y="227686"/>
                </a:lnTo>
                <a:lnTo>
                  <a:pt x="989381" y="230429"/>
                </a:lnTo>
                <a:lnTo>
                  <a:pt x="997610" y="232258"/>
                </a:lnTo>
                <a:lnTo>
                  <a:pt x="1005840" y="234086"/>
                </a:lnTo>
                <a:lnTo>
                  <a:pt x="1014984" y="235001"/>
                </a:lnTo>
                <a:lnTo>
                  <a:pt x="1023214" y="237744"/>
                </a:lnTo>
                <a:lnTo>
                  <a:pt x="1028700" y="240487"/>
                </a:lnTo>
                <a:lnTo>
                  <a:pt x="1032358" y="244145"/>
                </a:lnTo>
                <a:lnTo>
                  <a:pt x="1032358" y="249631"/>
                </a:lnTo>
                <a:lnTo>
                  <a:pt x="1030529" y="255118"/>
                </a:lnTo>
                <a:lnTo>
                  <a:pt x="1026871" y="262433"/>
                </a:lnTo>
                <a:lnTo>
                  <a:pt x="1021385" y="269748"/>
                </a:lnTo>
                <a:lnTo>
                  <a:pt x="1015898" y="277063"/>
                </a:lnTo>
                <a:lnTo>
                  <a:pt x="1012241" y="284378"/>
                </a:lnTo>
                <a:lnTo>
                  <a:pt x="1009498" y="290779"/>
                </a:lnTo>
                <a:lnTo>
                  <a:pt x="1010412" y="295351"/>
                </a:lnTo>
                <a:lnTo>
                  <a:pt x="1014070" y="299923"/>
                </a:lnTo>
                <a:lnTo>
                  <a:pt x="1019556" y="302666"/>
                </a:lnTo>
                <a:lnTo>
                  <a:pt x="1027786" y="304495"/>
                </a:lnTo>
                <a:lnTo>
                  <a:pt x="1036015" y="306324"/>
                </a:lnTo>
                <a:lnTo>
                  <a:pt x="1045159" y="307238"/>
                </a:lnTo>
                <a:lnTo>
                  <a:pt x="1053389" y="309982"/>
                </a:lnTo>
                <a:lnTo>
                  <a:pt x="1058875" y="312725"/>
                </a:lnTo>
                <a:lnTo>
                  <a:pt x="1062533" y="316382"/>
                </a:lnTo>
                <a:lnTo>
                  <a:pt x="1063447" y="320954"/>
                </a:lnTo>
                <a:lnTo>
                  <a:pt x="1060704" y="327355"/>
                </a:lnTo>
                <a:lnTo>
                  <a:pt x="1057046" y="334670"/>
                </a:lnTo>
                <a:lnTo>
                  <a:pt x="1051560" y="341986"/>
                </a:lnTo>
                <a:lnTo>
                  <a:pt x="1046074" y="349301"/>
                </a:lnTo>
                <a:lnTo>
                  <a:pt x="1042416" y="356616"/>
                </a:lnTo>
                <a:lnTo>
                  <a:pt x="1039673" y="363017"/>
                </a:lnTo>
                <a:lnTo>
                  <a:pt x="1040587" y="367589"/>
                </a:lnTo>
                <a:lnTo>
                  <a:pt x="1044245" y="372161"/>
                </a:lnTo>
                <a:lnTo>
                  <a:pt x="1049731" y="374904"/>
                </a:lnTo>
                <a:lnTo>
                  <a:pt x="1057961" y="376733"/>
                </a:lnTo>
                <a:lnTo>
                  <a:pt x="1067105" y="378562"/>
                </a:lnTo>
                <a:lnTo>
                  <a:pt x="1075334" y="379476"/>
                </a:lnTo>
                <a:lnTo>
                  <a:pt x="1083564" y="381305"/>
                </a:lnTo>
                <a:lnTo>
                  <a:pt x="1089965" y="384962"/>
                </a:lnTo>
                <a:lnTo>
                  <a:pt x="1092708" y="388620"/>
                </a:lnTo>
                <a:lnTo>
                  <a:pt x="1093622" y="393192"/>
                </a:lnTo>
                <a:lnTo>
                  <a:pt x="1090879" y="399593"/>
                </a:lnTo>
                <a:lnTo>
                  <a:pt x="1087222" y="406908"/>
                </a:lnTo>
                <a:lnTo>
                  <a:pt x="1081735" y="414223"/>
                </a:lnTo>
                <a:lnTo>
                  <a:pt x="1076249" y="421538"/>
                </a:lnTo>
                <a:lnTo>
                  <a:pt x="1072591" y="428854"/>
                </a:lnTo>
                <a:lnTo>
                  <a:pt x="1070762" y="435254"/>
                </a:lnTo>
                <a:lnTo>
                  <a:pt x="1070762" y="439826"/>
                </a:lnTo>
                <a:lnTo>
                  <a:pt x="1074420" y="444398"/>
                </a:lnTo>
                <a:lnTo>
                  <a:pt x="1079906" y="447142"/>
                </a:lnTo>
                <a:lnTo>
                  <a:pt x="1088136" y="448970"/>
                </a:lnTo>
                <a:lnTo>
                  <a:pt x="1097280" y="450799"/>
                </a:lnTo>
                <a:lnTo>
                  <a:pt x="1106424" y="451714"/>
                </a:lnTo>
                <a:lnTo>
                  <a:pt x="1113739" y="453542"/>
                </a:lnTo>
                <a:lnTo>
                  <a:pt x="1120140" y="457200"/>
                </a:lnTo>
                <a:lnTo>
                  <a:pt x="1122883" y="460858"/>
                </a:lnTo>
                <a:lnTo>
                  <a:pt x="1123798" y="465430"/>
                </a:lnTo>
                <a:lnTo>
                  <a:pt x="1121054" y="471830"/>
                </a:lnTo>
                <a:lnTo>
                  <a:pt x="1117397" y="479146"/>
                </a:lnTo>
                <a:lnTo>
                  <a:pt x="1111910" y="486461"/>
                </a:lnTo>
                <a:lnTo>
                  <a:pt x="1107338" y="493776"/>
                </a:lnTo>
                <a:lnTo>
                  <a:pt x="1102766" y="501091"/>
                </a:lnTo>
                <a:lnTo>
                  <a:pt x="1100938" y="507492"/>
                </a:lnTo>
                <a:lnTo>
                  <a:pt x="1100938" y="512064"/>
                </a:lnTo>
                <a:lnTo>
                  <a:pt x="1104595" y="516636"/>
                </a:lnTo>
                <a:lnTo>
                  <a:pt x="1110082" y="519379"/>
                </a:lnTo>
                <a:lnTo>
                  <a:pt x="1118311" y="521208"/>
                </a:lnTo>
                <a:lnTo>
                  <a:pt x="1127455" y="523037"/>
                </a:lnTo>
                <a:lnTo>
                  <a:pt x="1136599" y="523951"/>
                </a:lnTo>
                <a:lnTo>
                  <a:pt x="1143914" y="525780"/>
                </a:lnTo>
                <a:lnTo>
                  <a:pt x="1150315" y="528523"/>
                </a:lnTo>
                <a:lnTo>
                  <a:pt x="1153058" y="533095"/>
                </a:lnTo>
                <a:lnTo>
                  <a:pt x="1153973" y="537667"/>
                </a:lnTo>
                <a:lnTo>
                  <a:pt x="1152144" y="544068"/>
                </a:lnTo>
                <a:lnTo>
                  <a:pt x="1147572" y="551383"/>
                </a:lnTo>
                <a:lnTo>
                  <a:pt x="1142086" y="558698"/>
                </a:lnTo>
                <a:lnTo>
                  <a:pt x="1137514" y="566014"/>
                </a:lnTo>
                <a:lnTo>
                  <a:pt x="1132942" y="573329"/>
                </a:lnTo>
                <a:lnTo>
                  <a:pt x="1131113" y="579730"/>
                </a:lnTo>
                <a:lnTo>
                  <a:pt x="1131113" y="584302"/>
                </a:lnTo>
                <a:lnTo>
                  <a:pt x="1134770" y="588874"/>
                </a:lnTo>
                <a:lnTo>
                  <a:pt x="1140257" y="591617"/>
                </a:lnTo>
                <a:lnTo>
                  <a:pt x="1148486" y="593446"/>
                </a:lnTo>
                <a:lnTo>
                  <a:pt x="1157630" y="594360"/>
                </a:lnTo>
                <a:lnTo>
                  <a:pt x="1166774" y="596189"/>
                </a:lnTo>
                <a:lnTo>
                  <a:pt x="1174090" y="598018"/>
                </a:lnTo>
                <a:lnTo>
                  <a:pt x="1180490" y="600761"/>
                </a:lnTo>
                <a:lnTo>
                  <a:pt x="1183234" y="605333"/>
                </a:lnTo>
                <a:lnTo>
                  <a:pt x="1184148" y="609905"/>
                </a:lnTo>
                <a:lnTo>
                  <a:pt x="1182319" y="616306"/>
                </a:lnTo>
                <a:lnTo>
                  <a:pt x="1177747" y="623621"/>
                </a:lnTo>
                <a:lnTo>
                  <a:pt x="1172261" y="630936"/>
                </a:lnTo>
                <a:lnTo>
                  <a:pt x="1167689" y="638251"/>
                </a:lnTo>
                <a:lnTo>
                  <a:pt x="1163117" y="645566"/>
                </a:lnTo>
                <a:lnTo>
                  <a:pt x="1161288" y="651967"/>
                </a:lnTo>
                <a:lnTo>
                  <a:pt x="1161288" y="656539"/>
                </a:lnTo>
                <a:lnTo>
                  <a:pt x="1164946" y="660197"/>
                </a:lnTo>
                <a:lnTo>
                  <a:pt x="1171346" y="663854"/>
                </a:lnTo>
                <a:lnTo>
                  <a:pt x="1178662" y="665683"/>
                </a:lnTo>
                <a:lnTo>
                  <a:pt x="1187806" y="666598"/>
                </a:lnTo>
                <a:lnTo>
                  <a:pt x="1196950" y="668426"/>
                </a:lnTo>
                <a:lnTo>
                  <a:pt x="1205179" y="670255"/>
                </a:lnTo>
                <a:lnTo>
                  <a:pt x="1210666" y="672998"/>
                </a:lnTo>
                <a:lnTo>
                  <a:pt x="1214323" y="677570"/>
                </a:lnTo>
                <a:lnTo>
                  <a:pt x="1214323" y="682142"/>
                </a:lnTo>
                <a:lnTo>
                  <a:pt x="1212494" y="688543"/>
                </a:lnTo>
                <a:lnTo>
                  <a:pt x="1207922" y="695858"/>
                </a:lnTo>
                <a:lnTo>
                  <a:pt x="1203350" y="703174"/>
                </a:lnTo>
                <a:lnTo>
                  <a:pt x="1228954" y="1279246"/>
                </a:lnTo>
                <a:lnTo>
                  <a:pt x="1249070" y="1388974"/>
                </a:lnTo>
                <a:lnTo>
                  <a:pt x="1307592" y="1388974"/>
                </a:lnTo>
                <a:lnTo>
                  <a:pt x="1464869" y="1388974"/>
                </a:lnTo>
                <a:lnTo>
                  <a:pt x="1484071" y="1235354"/>
                </a:lnTo>
                <a:lnTo>
                  <a:pt x="1510589" y="598018"/>
                </a:lnTo>
                <a:lnTo>
                  <a:pt x="1536192" y="202997"/>
                </a:lnTo>
                <a:lnTo>
                  <a:pt x="1562710" y="113386"/>
                </a:lnTo>
                <a:lnTo>
                  <a:pt x="1895551" y="64922"/>
                </a:lnTo>
                <a:lnTo>
                  <a:pt x="1899209" y="56693"/>
                </a:lnTo>
                <a:lnTo>
                  <a:pt x="1902866" y="49378"/>
                </a:lnTo>
                <a:lnTo>
                  <a:pt x="1906524" y="44806"/>
                </a:lnTo>
                <a:lnTo>
                  <a:pt x="1911096" y="42062"/>
                </a:lnTo>
                <a:lnTo>
                  <a:pt x="1915668" y="42977"/>
                </a:lnTo>
                <a:lnTo>
                  <a:pt x="1921154" y="46634"/>
                </a:lnTo>
                <a:lnTo>
                  <a:pt x="1926641" y="52121"/>
                </a:lnTo>
                <a:lnTo>
                  <a:pt x="1932127" y="59436"/>
                </a:lnTo>
                <a:lnTo>
                  <a:pt x="1937614" y="66751"/>
                </a:lnTo>
                <a:lnTo>
                  <a:pt x="1943100" y="72238"/>
                </a:lnTo>
                <a:lnTo>
                  <a:pt x="1948586" y="75895"/>
                </a:lnTo>
                <a:lnTo>
                  <a:pt x="1953158" y="76810"/>
                </a:lnTo>
                <a:lnTo>
                  <a:pt x="1957730" y="74981"/>
                </a:lnTo>
                <a:lnTo>
                  <a:pt x="1961388" y="69494"/>
                </a:lnTo>
                <a:lnTo>
                  <a:pt x="1965046" y="62179"/>
                </a:lnTo>
                <a:lnTo>
                  <a:pt x="1968703" y="53950"/>
                </a:lnTo>
                <a:lnTo>
                  <a:pt x="1972361" y="45720"/>
                </a:lnTo>
                <a:lnTo>
                  <a:pt x="1976018" y="38405"/>
                </a:lnTo>
                <a:lnTo>
                  <a:pt x="1979676" y="33833"/>
                </a:lnTo>
                <a:lnTo>
                  <a:pt x="1984248" y="32004"/>
                </a:lnTo>
                <a:lnTo>
                  <a:pt x="1988820" y="32918"/>
                </a:lnTo>
                <a:lnTo>
                  <a:pt x="1993392" y="36576"/>
                </a:lnTo>
                <a:lnTo>
                  <a:pt x="1998878" y="42062"/>
                </a:lnTo>
                <a:lnTo>
                  <a:pt x="2005279" y="49378"/>
                </a:lnTo>
                <a:lnTo>
                  <a:pt x="2010766" y="55778"/>
                </a:lnTo>
                <a:lnTo>
                  <a:pt x="2016252" y="61265"/>
                </a:lnTo>
                <a:lnTo>
                  <a:pt x="2020824" y="64922"/>
                </a:lnTo>
                <a:lnTo>
                  <a:pt x="2026310" y="65837"/>
                </a:lnTo>
                <a:lnTo>
                  <a:pt x="2029968" y="64008"/>
                </a:lnTo>
                <a:lnTo>
                  <a:pt x="2034540" y="59436"/>
                </a:lnTo>
                <a:lnTo>
                  <a:pt x="2038198" y="52121"/>
                </a:lnTo>
                <a:lnTo>
                  <a:pt x="2040941" y="43891"/>
                </a:lnTo>
                <a:lnTo>
                  <a:pt x="2044598" y="35662"/>
                </a:lnTo>
                <a:lnTo>
                  <a:pt x="2048256" y="28346"/>
                </a:lnTo>
                <a:lnTo>
                  <a:pt x="2051914" y="22860"/>
                </a:lnTo>
                <a:lnTo>
                  <a:pt x="2056486" y="21031"/>
                </a:lnTo>
                <a:lnTo>
                  <a:pt x="2061058" y="21946"/>
                </a:lnTo>
                <a:lnTo>
                  <a:pt x="2066544" y="25603"/>
                </a:lnTo>
                <a:lnTo>
                  <a:pt x="2072030" y="31090"/>
                </a:lnTo>
                <a:lnTo>
                  <a:pt x="2077517" y="38405"/>
                </a:lnTo>
                <a:lnTo>
                  <a:pt x="2083003" y="45720"/>
                </a:lnTo>
                <a:lnTo>
                  <a:pt x="2088490" y="51206"/>
                </a:lnTo>
                <a:lnTo>
                  <a:pt x="2093976" y="54864"/>
                </a:lnTo>
                <a:lnTo>
                  <a:pt x="2098548" y="55778"/>
                </a:lnTo>
                <a:lnTo>
                  <a:pt x="2103120" y="53035"/>
                </a:lnTo>
                <a:lnTo>
                  <a:pt x="2106778" y="48463"/>
                </a:lnTo>
                <a:lnTo>
                  <a:pt x="2110435" y="41148"/>
                </a:lnTo>
                <a:lnTo>
                  <a:pt x="2114093" y="32918"/>
                </a:lnTo>
                <a:lnTo>
                  <a:pt x="2117750" y="24689"/>
                </a:lnTo>
                <a:lnTo>
                  <a:pt x="2121408" y="17374"/>
                </a:lnTo>
                <a:lnTo>
                  <a:pt x="2125066" y="12802"/>
                </a:lnTo>
                <a:lnTo>
                  <a:pt x="2129638" y="10973"/>
                </a:lnTo>
                <a:lnTo>
                  <a:pt x="2134210" y="10973"/>
                </a:lnTo>
                <a:lnTo>
                  <a:pt x="2138782" y="14630"/>
                </a:lnTo>
                <a:lnTo>
                  <a:pt x="2144268" y="21031"/>
                </a:lnTo>
                <a:lnTo>
                  <a:pt x="2150669" y="27432"/>
                </a:lnTo>
                <a:lnTo>
                  <a:pt x="2156155" y="34747"/>
                </a:lnTo>
                <a:lnTo>
                  <a:pt x="2161642" y="40234"/>
                </a:lnTo>
                <a:lnTo>
                  <a:pt x="2166214" y="43891"/>
                </a:lnTo>
                <a:lnTo>
                  <a:pt x="2171700" y="44806"/>
                </a:lnTo>
                <a:lnTo>
                  <a:pt x="2175358" y="42977"/>
                </a:lnTo>
                <a:lnTo>
                  <a:pt x="2179930" y="37490"/>
                </a:lnTo>
                <a:lnTo>
                  <a:pt x="2183587" y="31090"/>
                </a:lnTo>
                <a:lnTo>
                  <a:pt x="2186330" y="22860"/>
                </a:lnTo>
                <a:lnTo>
                  <a:pt x="2189988" y="14630"/>
                </a:lnTo>
                <a:lnTo>
                  <a:pt x="2193646" y="7315"/>
                </a:lnTo>
                <a:lnTo>
                  <a:pt x="2197303" y="1829"/>
                </a:lnTo>
                <a:lnTo>
                  <a:pt x="2201875" y="0"/>
                </a:lnTo>
                <a:lnTo>
                  <a:pt x="2206447" y="914"/>
                </a:lnTo>
                <a:lnTo>
                  <a:pt x="2211934" y="4572"/>
                </a:lnTo>
                <a:lnTo>
                  <a:pt x="2217420" y="10058"/>
                </a:lnTo>
                <a:lnTo>
                  <a:pt x="2222906" y="17374"/>
                </a:lnTo>
                <a:lnTo>
                  <a:pt x="2232050" y="19202"/>
                </a:lnTo>
                <a:lnTo>
                  <a:pt x="2239366" y="21031"/>
                </a:lnTo>
                <a:lnTo>
                  <a:pt x="2245766" y="23774"/>
                </a:lnTo>
                <a:lnTo>
                  <a:pt x="2249424" y="27432"/>
                </a:lnTo>
                <a:lnTo>
                  <a:pt x="2249424" y="32918"/>
                </a:lnTo>
                <a:lnTo>
                  <a:pt x="2247595" y="38405"/>
                </a:lnTo>
                <a:lnTo>
                  <a:pt x="2243023" y="45720"/>
                </a:lnTo>
                <a:lnTo>
                  <a:pt x="2238451" y="53035"/>
                </a:lnTo>
                <a:lnTo>
                  <a:pt x="2232965" y="61265"/>
                </a:lnTo>
                <a:lnTo>
                  <a:pt x="2228393" y="67666"/>
                </a:lnTo>
                <a:lnTo>
                  <a:pt x="2226564" y="74066"/>
                </a:lnTo>
                <a:lnTo>
                  <a:pt x="2227478" y="79553"/>
                </a:lnTo>
                <a:lnTo>
                  <a:pt x="2230222" y="83210"/>
                </a:lnTo>
                <a:lnTo>
                  <a:pt x="2236622" y="85954"/>
                </a:lnTo>
                <a:lnTo>
                  <a:pt x="2243938" y="87782"/>
                </a:lnTo>
                <a:lnTo>
                  <a:pt x="2253082" y="89611"/>
                </a:lnTo>
                <a:lnTo>
                  <a:pt x="2262226" y="91440"/>
                </a:lnTo>
                <a:lnTo>
                  <a:pt x="2270455" y="93269"/>
                </a:lnTo>
                <a:lnTo>
                  <a:pt x="2275942" y="96012"/>
                </a:lnTo>
                <a:lnTo>
                  <a:pt x="2279599" y="99670"/>
                </a:lnTo>
                <a:lnTo>
                  <a:pt x="2279599" y="105156"/>
                </a:lnTo>
                <a:lnTo>
                  <a:pt x="2277770" y="110642"/>
                </a:lnTo>
                <a:lnTo>
                  <a:pt x="2273198" y="117958"/>
                </a:lnTo>
                <a:lnTo>
                  <a:pt x="2268626" y="125273"/>
                </a:lnTo>
                <a:lnTo>
                  <a:pt x="2263140" y="132588"/>
                </a:lnTo>
                <a:lnTo>
                  <a:pt x="2258568" y="139903"/>
                </a:lnTo>
                <a:lnTo>
                  <a:pt x="2256739" y="146304"/>
                </a:lnTo>
                <a:lnTo>
                  <a:pt x="2257654" y="151790"/>
                </a:lnTo>
                <a:lnTo>
                  <a:pt x="2260397" y="155448"/>
                </a:lnTo>
                <a:lnTo>
                  <a:pt x="2266798" y="158191"/>
                </a:lnTo>
                <a:lnTo>
                  <a:pt x="2274113" y="160020"/>
                </a:lnTo>
                <a:lnTo>
                  <a:pt x="2283257" y="161849"/>
                </a:lnTo>
                <a:lnTo>
                  <a:pt x="2292401" y="162763"/>
                </a:lnTo>
                <a:lnTo>
                  <a:pt x="2300630" y="165506"/>
                </a:lnTo>
                <a:lnTo>
                  <a:pt x="2306117" y="168250"/>
                </a:lnTo>
                <a:lnTo>
                  <a:pt x="2309774" y="171907"/>
                </a:lnTo>
                <a:lnTo>
                  <a:pt x="2309774" y="177394"/>
                </a:lnTo>
                <a:lnTo>
                  <a:pt x="2307946" y="182880"/>
                </a:lnTo>
                <a:lnTo>
                  <a:pt x="2303374" y="190195"/>
                </a:lnTo>
                <a:lnTo>
                  <a:pt x="2298802" y="197510"/>
                </a:lnTo>
                <a:lnTo>
                  <a:pt x="2293315" y="204826"/>
                </a:lnTo>
                <a:lnTo>
                  <a:pt x="2289658" y="212141"/>
                </a:lnTo>
                <a:lnTo>
                  <a:pt x="2286914" y="218542"/>
                </a:lnTo>
                <a:lnTo>
                  <a:pt x="2287829" y="223114"/>
                </a:lnTo>
                <a:lnTo>
                  <a:pt x="2290572" y="227686"/>
                </a:lnTo>
                <a:lnTo>
                  <a:pt x="2296973" y="230429"/>
                </a:lnTo>
                <a:lnTo>
                  <a:pt x="2305202" y="232258"/>
                </a:lnTo>
                <a:lnTo>
                  <a:pt x="2313432" y="234086"/>
                </a:lnTo>
                <a:lnTo>
                  <a:pt x="2322576" y="235001"/>
                </a:lnTo>
                <a:lnTo>
                  <a:pt x="2330806" y="237744"/>
                </a:lnTo>
                <a:lnTo>
                  <a:pt x="2336292" y="240487"/>
                </a:lnTo>
                <a:lnTo>
                  <a:pt x="2339950" y="244145"/>
                </a:lnTo>
                <a:lnTo>
                  <a:pt x="2339950" y="249631"/>
                </a:lnTo>
                <a:lnTo>
                  <a:pt x="2338121" y="255118"/>
                </a:lnTo>
                <a:lnTo>
                  <a:pt x="2334463" y="262433"/>
                </a:lnTo>
                <a:lnTo>
                  <a:pt x="2328977" y="269748"/>
                </a:lnTo>
                <a:lnTo>
                  <a:pt x="2323490" y="277063"/>
                </a:lnTo>
                <a:lnTo>
                  <a:pt x="2319833" y="284378"/>
                </a:lnTo>
                <a:lnTo>
                  <a:pt x="2317090" y="290779"/>
                </a:lnTo>
                <a:lnTo>
                  <a:pt x="2318004" y="295351"/>
                </a:lnTo>
                <a:lnTo>
                  <a:pt x="2321662" y="299923"/>
                </a:lnTo>
                <a:lnTo>
                  <a:pt x="2327148" y="302666"/>
                </a:lnTo>
                <a:lnTo>
                  <a:pt x="2335378" y="304495"/>
                </a:lnTo>
                <a:lnTo>
                  <a:pt x="2343607" y="306324"/>
                </a:lnTo>
                <a:lnTo>
                  <a:pt x="2352751" y="307238"/>
                </a:lnTo>
                <a:lnTo>
                  <a:pt x="2360981" y="309982"/>
                </a:lnTo>
                <a:lnTo>
                  <a:pt x="2366467" y="312725"/>
                </a:lnTo>
                <a:lnTo>
                  <a:pt x="2370125" y="316382"/>
                </a:lnTo>
                <a:lnTo>
                  <a:pt x="2371039" y="320954"/>
                </a:lnTo>
                <a:lnTo>
                  <a:pt x="2368296" y="327355"/>
                </a:lnTo>
                <a:lnTo>
                  <a:pt x="2364638" y="334670"/>
                </a:lnTo>
                <a:lnTo>
                  <a:pt x="2359152" y="341986"/>
                </a:lnTo>
                <a:lnTo>
                  <a:pt x="2353666" y="349301"/>
                </a:lnTo>
                <a:lnTo>
                  <a:pt x="2350008" y="356616"/>
                </a:lnTo>
                <a:lnTo>
                  <a:pt x="2347265" y="363017"/>
                </a:lnTo>
                <a:lnTo>
                  <a:pt x="2348179" y="367589"/>
                </a:lnTo>
                <a:lnTo>
                  <a:pt x="2351837" y="372161"/>
                </a:lnTo>
                <a:lnTo>
                  <a:pt x="2357323" y="374904"/>
                </a:lnTo>
                <a:lnTo>
                  <a:pt x="2365553" y="376733"/>
                </a:lnTo>
                <a:lnTo>
                  <a:pt x="2374697" y="378562"/>
                </a:lnTo>
                <a:lnTo>
                  <a:pt x="2382926" y="379476"/>
                </a:lnTo>
                <a:lnTo>
                  <a:pt x="2391156" y="381305"/>
                </a:lnTo>
                <a:lnTo>
                  <a:pt x="2397557" y="384962"/>
                </a:lnTo>
                <a:lnTo>
                  <a:pt x="2400300" y="388620"/>
                </a:lnTo>
                <a:lnTo>
                  <a:pt x="2401214" y="393192"/>
                </a:lnTo>
                <a:lnTo>
                  <a:pt x="2398471" y="399593"/>
                </a:lnTo>
                <a:lnTo>
                  <a:pt x="2394814" y="406908"/>
                </a:lnTo>
                <a:lnTo>
                  <a:pt x="2389327" y="414223"/>
                </a:lnTo>
                <a:lnTo>
                  <a:pt x="2383841" y="421538"/>
                </a:lnTo>
                <a:lnTo>
                  <a:pt x="2380183" y="428854"/>
                </a:lnTo>
                <a:lnTo>
                  <a:pt x="2378354" y="435254"/>
                </a:lnTo>
                <a:lnTo>
                  <a:pt x="2378354" y="439826"/>
                </a:lnTo>
                <a:lnTo>
                  <a:pt x="2382012" y="444398"/>
                </a:lnTo>
                <a:lnTo>
                  <a:pt x="2387498" y="447142"/>
                </a:lnTo>
                <a:lnTo>
                  <a:pt x="2395728" y="448970"/>
                </a:lnTo>
                <a:lnTo>
                  <a:pt x="2404872" y="450799"/>
                </a:lnTo>
                <a:lnTo>
                  <a:pt x="2414016" y="451714"/>
                </a:lnTo>
                <a:lnTo>
                  <a:pt x="2421331" y="453542"/>
                </a:lnTo>
                <a:lnTo>
                  <a:pt x="2427732" y="457200"/>
                </a:lnTo>
                <a:lnTo>
                  <a:pt x="2430475" y="460858"/>
                </a:lnTo>
                <a:lnTo>
                  <a:pt x="2431390" y="465430"/>
                </a:lnTo>
                <a:lnTo>
                  <a:pt x="2428646" y="471830"/>
                </a:lnTo>
                <a:lnTo>
                  <a:pt x="2424989" y="479146"/>
                </a:lnTo>
                <a:lnTo>
                  <a:pt x="2419502" y="486461"/>
                </a:lnTo>
                <a:lnTo>
                  <a:pt x="2414930" y="493776"/>
                </a:lnTo>
                <a:lnTo>
                  <a:pt x="2410358" y="501091"/>
                </a:lnTo>
                <a:lnTo>
                  <a:pt x="2408530" y="507492"/>
                </a:lnTo>
                <a:lnTo>
                  <a:pt x="2408530" y="512064"/>
                </a:lnTo>
                <a:lnTo>
                  <a:pt x="2412187" y="516636"/>
                </a:lnTo>
                <a:lnTo>
                  <a:pt x="2417674" y="519379"/>
                </a:lnTo>
                <a:lnTo>
                  <a:pt x="2425903" y="521208"/>
                </a:lnTo>
                <a:lnTo>
                  <a:pt x="2435047" y="523037"/>
                </a:lnTo>
                <a:lnTo>
                  <a:pt x="2444191" y="523951"/>
                </a:lnTo>
                <a:lnTo>
                  <a:pt x="2451506" y="525780"/>
                </a:lnTo>
                <a:lnTo>
                  <a:pt x="2457907" y="528523"/>
                </a:lnTo>
                <a:lnTo>
                  <a:pt x="2460650" y="533095"/>
                </a:lnTo>
                <a:lnTo>
                  <a:pt x="2461565" y="537667"/>
                </a:lnTo>
                <a:lnTo>
                  <a:pt x="2459736" y="544068"/>
                </a:lnTo>
                <a:lnTo>
                  <a:pt x="2455164" y="551383"/>
                </a:lnTo>
                <a:lnTo>
                  <a:pt x="2449678" y="558698"/>
                </a:lnTo>
                <a:lnTo>
                  <a:pt x="2445106" y="566014"/>
                </a:lnTo>
                <a:lnTo>
                  <a:pt x="2440534" y="573329"/>
                </a:lnTo>
                <a:lnTo>
                  <a:pt x="2438705" y="579730"/>
                </a:lnTo>
                <a:lnTo>
                  <a:pt x="2438705" y="584302"/>
                </a:lnTo>
                <a:lnTo>
                  <a:pt x="2442362" y="588874"/>
                </a:lnTo>
                <a:lnTo>
                  <a:pt x="2447849" y="591617"/>
                </a:lnTo>
                <a:lnTo>
                  <a:pt x="2456078" y="593446"/>
                </a:lnTo>
                <a:lnTo>
                  <a:pt x="2465222" y="594360"/>
                </a:lnTo>
                <a:lnTo>
                  <a:pt x="2474366" y="596189"/>
                </a:lnTo>
                <a:lnTo>
                  <a:pt x="2481682" y="598018"/>
                </a:lnTo>
                <a:lnTo>
                  <a:pt x="2488082" y="600761"/>
                </a:lnTo>
                <a:lnTo>
                  <a:pt x="2490826" y="605333"/>
                </a:lnTo>
                <a:lnTo>
                  <a:pt x="2491740" y="609905"/>
                </a:lnTo>
                <a:lnTo>
                  <a:pt x="2489911" y="616306"/>
                </a:lnTo>
                <a:lnTo>
                  <a:pt x="2485339" y="623621"/>
                </a:lnTo>
                <a:lnTo>
                  <a:pt x="2479853" y="630936"/>
                </a:lnTo>
                <a:lnTo>
                  <a:pt x="2475281" y="638251"/>
                </a:lnTo>
                <a:lnTo>
                  <a:pt x="2470709" y="645566"/>
                </a:lnTo>
                <a:lnTo>
                  <a:pt x="2468880" y="651967"/>
                </a:lnTo>
                <a:lnTo>
                  <a:pt x="2468880" y="656539"/>
                </a:lnTo>
                <a:lnTo>
                  <a:pt x="2472538" y="660197"/>
                </a:lnTo>
                <a:lnTo>
                  <a:pt x="2478938" y="663854"/>
                </a:lnTo>
                <a:lnTo>
                  <a:pt x="2486254" y="665683"/>
                </a:lnTo>
                <a:lnTo>
                  <a:pt x="2495398" y="666598"/>
                </a:lnTo>
                <a:lnTo>
                  <a:pt x="2504542" y="668426"/>
                </a:lnTo>
                <a:lnTo>
                  <a:pt x="2512771" y="670255"/>
                </a:lnTo>
                <a:lnTo>
                  <a:pt x="2518258" y="672998"/>
                </a:lnTo>
                <a:lnTo>
                  <a:pt x="2521915" y="677570"/>
                </a:lnTo>
                <a:lnTo>
                  <a:pt x="2521915" y="682142"/>
                </a:lnTo>
                <a:lnTo>
                  <a:pt x="2520086" y="688543"/>
                </a:lnTo>
                <a:lnTo>
                  <a:pt x="2515514" y="695858"/>
                </a:lnTo>
                <a:lnTo>
                  <a:pt x="2510942" y="703174"/>
                </a:lnTo>
                <a:lnTo>
                  <a:pt x="2536546" y="1279246"/>
                </a:lnTo>
                <a:lnTo>
                  <a:pt x="2556662" y="1388974"/>
                </a:lnTo>
                <a:lnTo>
                  <a:pt x="2615184" y="1388974"/>
                </a:lnTo>
              </a:path>
            </a:pathLst>
          </a:custGeom>
          <a:noFill/>
          <a:ln w="44450">
            <a:solidFill>
              <a:srgbClr val="D55E00"/>
            </a:solidFill>
            <a:prstDash val="solid"/>
          </a:ln>
        </p:spPr>
      </p:sp>
      <p:sp>
        <p:nvSpPr>
          <p:cNvPr id="18" name="Text 16"/>
          <p:cNvSpPr txBox="1"/>
          <p:nvPr/>
        </p:nvSpPr>
        <p:spPr>
          <a:xfrm>
            <a:off x="502920" y="3794760"/>
            <a:ext cx="5303520" cy="457200"/>
          </a:xfrm>
          <a:prstGeom prst="rect">
            <a:avLst/>
          </a:prstGeom>
          <a:noFill/>
          <a:ln/>
        </p:spPr>
        <p:txBody>
          <a:bodyPr wrap="square" lIns="0" tIns="0" rIns="0" bIns="0" rtlCol="0" anchor="t"/>
          <a:lstStyle/>
          <a:p>
            <a:pPr algn="ctr" indent="0" marL="0">
              <a:buNone/>
            </a:pPr>
            <a:r>
              <a:rPr lang="ja-JP" altLang="en-US" sz="2400" b="1" dirty="0">
                <a:solidFill>
                  <a:srgbClr val="D55E00"/>
                </a:solidFill>
                <a:latin typeface="メイリオ" pitchFamily="34" charset="0"/>
                <a:ea typeface="メイリオ" pitchFamily="34" charset="-122"/>
                <a:cs typeface="メイリオ" pitchFamily="34" charset="-120"/>
              </a:rPr>
              <a:t>プラトーのくぼみ</a:t>
            </a:r>
            <a:endParaRPr lang="ja-JP" sz="2400" dirty="0"/>
          </a:p>
        </p:txBody>
      </p:sp>
      <p:sp>
        <p:nvSpPr>
          <p:cNvPr id="19" name="Text 17"/>
          <p:cNvSpPr txBox="1"/>
          <p:nvPr/>
        </p:nvSpPr>
        <p:spPr>
          <a:xfrm>
            <a:off x="6382512" y="3794760"/>
            <a:ext cx="5303520" cy="457200"/>
          </a:xfrm>
          <a:prstGeom prst="rect">
            <a:avLst/>
          </a:prstGeom>
          <a:noFill/>
          <a:ln/>
        </p:spPr>
        <p:txBody>
          <a:bodyPr wrap="square" lIns="0" tIns="0" rIns="0" bIns="0" rtlCol="0" anchor="t"/>
          <a:lstStyle/>
          <a:p>
            <a:pPr algn="ctr" indent="0" marL="0">
              <a:buNone/>
            </a:pPr>
            <a:r>
              <a:rPr lang="ja-JP" altLang="en-US" sz="2400" b="1" dirty="0">
                <a:solidFill>
                  <a:srgbClr val="D55E00"/>
                </a:solidFill>
                <a:latin typeface="メイリオ" pitchFamily="34" charset="0"/>
                <a:ea typeface="メイリオ" pitchFamily="34" charset="-122"/>
                <a:cs typeface="メイリオ" pitchFamily="34" charset="-120"/>
              </a:rPr>
              <a:t>心拍に同期した揺れ</a:t>
            </a:r>
            <a:endParaRPr lang="ja-JP" sz="2400" dirty="0"/>
          </a:p>
        </p:txBody>
      </p:sp>
      <p:sp>
        <p:nvSpPr>
          <p:cNvPr id="20" name="Text 18"/>
          <p:cNvSpPr txBox="1"/>
          <p:nvPr/>
        </p:nvSpPr>
        <p:spPr>
          <a:xfrm>
            <a:off x="502920" y="4709160"/>
            <a:ext cx="11155680" cy="1170432"/>
          </a:xfrm>
          <a:prstGeom prst="rect">
            <a:avLst/>
          </a:prstGeom>
          <a:noFill/>
          <a:ln/>
        </p:spPr>
        <p:txBody>
          <a:bodyPr wrap="square" lIns="0" tIns="0" rIns="0" bIns="0" rtlCol="0" anchor="t"/>
          <a:lstStyle/>
          <a:p>
            <a:pPr algn="l" marL="355600" indent="-355600">
              <a:spcAft>
                <a:spcPts val="16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くぼみ ＝ 自発呼吸の努力 → 筋弛緩と麻酔深度を確認</a:t>
            </a:r>
            <a:endParaRPr lang="ja-JP" sz="2400" dirty="0"/>
          </a:p>
          <a:p>
            <a:pPr algn="l" marL="355600" indent="-355600">
              <a:spcAft>
                <a:spcPts val="16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揺れ ＝ 心拍で肺が動く。徐呼吸で目立ち、異常ではない</a:t>
            </a:r>
            <a:endParaRPr lang="ja-JP"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一覧：形から原因へ</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順番</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消える・</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下がる</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上がる</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形</a:t>
            </a:r>
            <a:endParaRPr lang="ja-JP" sz="1100" dirty="0"/>
          </a:p>
        </p:txBody>
      </p:sp>
      <p:sp>
        <p:nvSpPr>
          <p:cNvPr id="8" name="Text 6"/>
          <p:cNvSpPr/>
          <p:nvPr/>
        </p:nvSpPr>
        <p:spPr>
          <a:xfrm>
            <a:off x="11384280" y="54864"/>
            <a:ext cx="621792" cy="585216"/>
          </a:xfrm>
          <a:prstGeom prst="roundRect">
            <a:avLst>
              <a:gd name="adj" fmla="val 15625"/>
            </a:avLst>
          </a:prstGeom>
          <a:solidFill>
            <a:srgbClr val="00A8AA"/>
          </a:solidFill>
          <a:ln/>
        </p:spPr>
        <p:txBody>
          <a:bodyPr wrap="squar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まとめ</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9</a:t>
            </a:r>
            <a:endParaRPr lang="ja-JP"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1719072"/>
          <a:ext cx="11182198" cy="914400"/>
        </p:xfrm>
        <a:graphic>
          <a:graphicData uri="http://schemas.openxmlformats.org/drawingml/2006/table">
            <a:tbl>
              <a:tblPr/>
              <a:tblGrid>
                <a:gridCol w="2266798"/>
                <a:gridCol w="4770425"/>
                <a:gridCol w="4144975"/>
              </a:tblGrid>
              <a:tr h="502920">
                <a:tc>
                  <a:txBody>
                    <a:bodyPr/>
                    <a:lstStyle/>
                    <a:p>
                      <a:pPr algn="ctr" indent="0" marL="0">
                        <a:buNone/>
                      </a:pPr>
                      <a:r>
                        <a:rPr lang="ja-JP" altLang="en-US" sz="2200" b="1" dirty="0">
                          <a:solidFill>
                            <a:srgbClr val="262626"/>
                          </a:solidFill>
                          <a:latin typeface="メイリオ" pitchFamily="34" charset="0"/>
                          <a:ea typeface="メイリオ" pitchFamily="34" charset="-122"/>
                          <a:cs typeface="メイリオ" pitchFamily="34" charset="-120"/>
                        </a:rPr>
                        <a:t>所見</a:t>
                      </a:r>
                      <a:endParaRPr lang="en-US" sz="2200" dirty="0">
                        <a:latin typeface="メイリオ" charset="0"/>
                        <a:ea typeface="メイリオ" charset="0"/>
                        <a:cs typeface="メイリオ" charset="0"/>
                      </a:endParaRPr>
                    </a:p>
                  </a:txBody>
                  <a:tcPr marL="63500" marR="127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c>
                  <a:txBody>
                    <a:bodyPr/>
                    <a:lstStyle/>
                    <a:p>
                      <a:pPr algn="ctr" indent="0" marL="0">
                        <a:buNone/>
                      </a:pPr>
                      <a:r>
                        <a:rPr lang="ja-JP" altLang="en-US" sz="2200" b="1" dirty="0">
                          <a:solidFill>
                            <a:srgbClr val="262626"/>
                          </a:solidFill>
                          <a:latin typeface="メイリオ" pitchFamily="34" charset="0"/>
                          <a:ea typeface="メイリオ" pitchFamily="34" charset="-122"/>
                          <a:cs typeface="メイリオ" pitchFamily="34" charset="-120"/>
                        </a:rPr>
                        <a:t>考える原因</a:t>
                      </a:r>
                      <a:endParaRPr lang="en-US" sz="2200" dirty="0">
                        <a:latin typeface="メイリオ" charset="0"/>
                        <a:ea typeface="メイリオ" charset="0"/>
                        <a:cs typeface="メイリオ" charset="0"/>
                      </a:endParaRPr>
                    </a:p>
                  </a:txBody>
                  <a:tcPr marL="63500" marR="127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c>
                  <a:txBody>
                    <a:bodyPr/>
                    <a:lstStyle/>
                    <a:p>
                      <a:pPr algn="ctr" indent="0" marL="0">
                        <a:buNone/>
                      </a:pPr>
                      <a:r>
                        <a:rPr lang="ja-JP" altLang="en-US" sz="2200" b="1" dirty="0">
                          <a:solidFill>
                            <a:srgbClr val="262626"/>
                          </a:solidFill>
                          <a:latin typeface="メイリオ" pitchFamily="34" charset="0"/>
                          <a:ea typeface="メイリオ" pitchFamily="34" charset="-122"/>
                          <a:cs typeface="メイリオ" pitchFamily="34" charset="-120"/>
                        </a:rPr>
                        <a:t>最初にすること</a:t>
                      </a:r>
                      <a:endParaRPr lang="en-US" sz="2200" dirty="0">
                        <a:latin typeface="メイリオ" charset="0"/>
                        <a:ea typeface="メイリオ" charset="0"/>
                        <a:cs typeface="メイリオ" charset="0"/>
                      </a:endParaRPr>
                    </a:p>
                  </a:txBody>
                  <a:tcPr marL="63500" marR="127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r>
              <a:tr h="502920">
                <a:tc>
                  <a:txBody>
                    <a:bodyPr/>
                    <a:lstStyle/>
                    <a:p>
                      <a:pPr algn="l" indent="0" marL="0">
                        <a:buNone/>
                      </a:pPr>
                      <a:r>
                        <a:rPr lang="ja-JP" altLang="en-US" sz="2200" b="1" dirty="0">
                          <a:solidFill>
                            <a:srgbClr val="262626"/>
                          </a:solidFill>
                          <a:latin typeface="メイリオ" pitchFamily="34" charset="0"/>
                          <a:ea typeface="メイリオ" pitchFamily="34" charset="-122"/>
                          <a:cs typeface="メイリオ" pitchFamily="34" charset="-120"/>
                        </a:rPr>
                        <a:t>突然消える</a:t>
                      </a:r>
                      <a:endParaRPr lang="en-US" sz="2200" dirty="0">
                        <a:latin typeface="メイリオ" charset="0"/>
                        <a:ea typeface="メイリオ" charset="0"/>
                        <a:cs typeface="メイリオ" charset="0"/>
                      </a:endParaRPr>
                    </a:p>
                  </a:txBody>
                  <a:tcPr marL="63500" marR="127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回路外れ・閉塞・抜管・食道挿管</a:t>
                      </a:r>
                      <a:endParaRPr lang="en-US" sz="2200" dirty="0">
                        <a:latin typeface="メイリオ" charset="0"/>
                        <a:ea typeface="メイリオ" charset="0"/>
                        <a:cs typeface="メイリオ" charset="0"/>
                      </a:endParaRPr>
                    </a:p>
                  </a:txBody>
                  <a:tcPr marL="63500" marR="127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患者を見る、用手換気</a:t>
                      </a:r>
                      <a:endParaRPr lang="en-US" sz="2200" dirty="0">
                        <a:latin typeface="メイリオ" charset="0"/>
                        <a:ea typeface="メイリオ" charset="0"/>
                        <a:cs typeface="メイリオ" charset="0"/>
                      </a:endParaRPr>
                    </a:p>
                  </a:txBody>
                  <a:tcPr marL="63500" marR="127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502920">
                <a:tc>
                  <a:txBody>
                    <a:bodyPr/>
                    <a:lstStyle/>
                    <a:p>
                      <a:pPr algn="l" indent="0" marL="0">
                        <a:buNone/>
                      </a:pPr>
                      <a:r>
                        <a:rPr lang="ja-JP" altLang="en-US" sz="2200" b="1" dirty="0">
                          <a:solidFill>
                            <a:srgbClr val="262626"/>
                          </a:solidFill>
                          <a:latin typeface="メイリオ" pitchFamily="34" charset="0"/>
                          <a:ea typeface="メイリオ" pitchFamily="34" charset="-122"/>
                          <a:cs typeface="メイリオ" pitchFamily="34" charset="-120"/>
                        </a:rPr>
                        <a:t>急に下がる</a:t>
                      </a:r>
                      <a:endParaRPr lang="en-US" sz="2200" dirty="0">
                        <a:latin typeface="メイリオ" charset="0"/>
                        <a:ea typeface="メイリオ" charset="0"/>
                        <a:cs typeface="メイリオ" charset="0"/>
                      </a:endParaRPr>
                    </a:p>
                  </a:txBody>
                  <a:tcPr marL="63500" marR="127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肺血流低下（心停止含む）、漏れ</a:t>
                      </a:r>
                      <a:endParaRPr lang="en-US" sz="2200" dirty="0">
                        <a:latin typeface="メイリオ" charset="0"/>
                        <a:ea typeface="メイリオ" charset="0"/>
                        <a:cs typeface="メイリオ" charset="0"/>
                      </a:endParaRPr>
                    </a:p>
                  </a:txBody>
                  <a:tcPr marL="63500" marR="127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血圧・脈波を見る</a:t>
                      </a:r>
                      <a:endParaRPr lang="en-US" sz="2200" dirty="0">
                        <a:latin typeface="メイリオ" charset="0"/>
                        <a:ea typeface="メイリオ" charset="0"/>
                        <a:cs typeface="メイリオ" charset="0"/>
                      </a:endParaRPr>
                    </a:p>
                  </a:txBody>
                  <a:tcPr marL="63500" marR="127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502920">
                <a:tc>
                  <a:txBody>
                    <a:bodyPr/>
                    <a:lstStyle/>
                    <a:p>
                      <a:pPr algn="l" indent="0" marL="0">
                        <a:buNone/>
                      </a:pPr>
                      <a:r>
                        <a:rPr lang="ja-JP" altLang="en-US" sz="2200" b="1" dirty="0">
                          <a:solidFill>
                            <a:srgbClr val="262626"/>
                          </a:solidFill>
                          <a:latin typeface="メイリオ" pitchFamily="34" charset="0"/>
                          <a:ea typeface="メイリオ" pitchFamily="34" charset="-122"/>
                          <a:cs typeface="メイリオ" pitchFamily="34" charset="-120"/>
                        </a:rPr>
                        <a:t>じわじわ下がる</a:t>
                      </a:r>
                      <a:endParaRPr lang="en-US" sz="2200" dirty="0">
                        <a:latin typeface="メイリオ" charset="0"/>
                        <a:ea typeface="メイリオ" charset="0"/>
                        <a:cs typeface="メイリオ" charset="0"/>
                      </a:endParaRPr>
                    </a:p>
                  </a:txBody>
                  <a:tcPr marL="63500" marR="127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過換気、低体温、心拍出量↓</a:t>
                      </a:r>
                      <a:endParaRPr lang="en-US" sz="2200" dirty="0">
                        <a:latin typeface="メイリオ" charset="0"/>
                        <a:ea typeface="メイリオ" charset="0"/>
                        <a:cs typeface="メイリオ" charset="0"/>
                      </a:endParaRPr>
                    </a:p>
                  </a:txBody>
                  <a:tcPr marL="63500" marR="127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設定と体温を確認</a:t>
                      </a:r>
                      <a:endParaRPr lang="en-US" sz="2200" dirty="0">
                        <a:latin typeface="メイリオ" charset="0"/>
                        <a:ea typeface="メイリオ" charset="0"/>
                        <a:cs typeface="メイリオ" charset="0"/>
                      </a:endParaRPr>
                    </a:p>
                  </a:txBody>
                  <a:tcPr marL="63500" marR="127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502920">
                <a:tc>
                  <a:txBody>
                    <a:bodyPr/>
                    <a:lstStyle/>
                    <a:p>
                      <a:pPr algn="l" indent="0" marL="0">
                        <a:buNone/>
                      </a:pPr>
                      <a:r>
                        <a:rPr lang="ja-JP" altLang="en-US" sz="2200" b="1" dirty="0">
                          <a:solidFill>
                            <a:srgbClr val="262626"/>
                          </a:solidFill>
                          <a:latin typeface="メイリオ" pitchFamily="34" charset="0"/>
                          <a:ea typeface="メイリオ" pitchFamily="34" charset="-122"/>
                          <a:cs typeface="メイリオ" pitchFamily="34" charset="-120"/>
                        </a:rPr>
                        <a:t>上がる</a:t>
                      </a:r>
                      <a:endParaRPr lang="en-US" sz="2200" dirty="0">
                        <a:latin typeface="メイリオ" charset="0"/>
                        <a:ea typeface="メイリオ" charset="0"/>
                        <a:cs typeface="メイリオ" charset="0"/>
                      </a:endParaRPr>
                    </a:p>
                  </a:txBody>
                  <a:tcPr marL="63500" marR="127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低換気、発熱、気腹、駆血帯</a:t>
                      </a:r>
                      <a:endParaRPr lang="en-US" sz="2200" dirty="0">
                        <a:latin typeface="メイリオ" charset="0"/>
                        <a:ea typeface="メイリオ" charset="0"/>
                        <a:cs typeface="メイリオ" charset="0"/>
                      </a:endParaRPr>
                    </a:p>
                  </a:txBody>
                  <a:tcPr marL="63500" marR="127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換気量を確認、悪性高熱症？</a:t>
                      </a:r>
                      <a:endParaRPr lang="en-US" sz="2200" dirty="0">
                        <a:latin typeface="メイリオ" charset="0"/>
                        <a:ea typeface="メイリオ" charset="0"/>
                        <a:cs typeface="メイリオ" charset="0"/>
                      </a:endParaRPr>
                    </a:p>
                  </a:txBody>
                  <a:tcPr marL="63500" marR="127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502920">
                <a:tc>
                  <a:txBody>
                    <a:bodyPr/>
                    <a:lstStyle/>
                    <a:p>
                      <a:pPr algn="l" indent="0" marL="0">
                        <a:buNone/>
                      </a:pPr>
                      <a:r>
                        <a:rPr lang="ja-JP" altLang="en-US" sz="2200" b="1" dirty="0">
                          <a:solidFill>
                            <a:srgbClr val="262626"/>
                          </a:solidFill>
                          <a:latin typeface="メイリオ" pitchFamily="34" charset="0"/>
                          <a:ea typeface="メイリオ" pitchFamily="34" charset="-122"/>
                          <a:cs typeface="メイリオ" pitchFamily="34" charset="-120"/>
                        </a:rPr>
                        <a:t>基線が上がる</a:t>
                      </a:r>
                      <a:endParaRPr lang="en-US" sz="2200" dirty="0">
                        <a:latin typeface="メイリオ" charset="0"/>
                        <a:ea typeface="メイリオ" charset="0"/>
                        <a:cs typeface="メイリオ" charset="0"/>
                      </a:endParaRPr>
                    </a:p>
                  </a:txBody>
                  <a:tcPr marL="63500" marR="127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吸収剤の劣化、弁の故障</a:t>
                      </a:r>
                      <a:endParaRPr lang="en-US" sz="2200" dirty="0">
                        <a:latin typeface="メイリオ" charset="0"/>
                        <a:ea typeface="メイリオ" charset="0"/>
                        <a:cs typeface="メイリオ" charset="0"/>
                      </a:endParaRPr>
                    </a:p>
                  </a:txBody>
                  <a:tcPr marL="63500" marR="127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吸収剤交換、流量を上げる</a:t>
                      </a:r>
                      <a:endParaRPr lang="en-US" sz="2200" dirty="0">
                        <a:latin typeface="メイリオ" charset="0"/>
                        <a:ea typeface="メイリオ" charset="0"/>
                        <a:cs typeface="メイリオ" charset="0"/>
                      </a:endParaRPr>
                    </a:p>
                  </a:txBody>
                  <a:tcPr marL="63500" marR="127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502920">
                <a:tc>
                  <a:txBody>
                    <a:bodyPr/>
                    <a:lstStyle/>
                    <a:p>
                      <a:pPr algn="l" indent="0" marL="0">
                        <a:buNone/>
                      </a:pPr>
                      <a:r>
                        <a:rPr lang="ja-JP" altLang="en-US" sz="2200" b="1" dirty="0">
                          <a:solidFill>
                            <a:srgbClr val="262626"/>
                          </a:solidFill>
                          <a:latin typeface="メイリオ" pitchFamily="34" charset="0"/>
                          <a:ea typeface="メイリオ" pitchFamily="34" charset="-122"/>
                          <a:cs typeface="メイリオ" pitchFamily="34" charset="-120"/>
                        </a:rPr>
                        <a:t>プラトーが斜め</a:t>
                      </a:r>
                      <a:endParaRPr lang="en-US" sz="2200" dirty="0">
                        <a:latin typeface="メイリオ" charset="0"/>
                        <a:ea typeface="メイリオ" charset="0"/>
                        <a:cs typeface="メイリオ" charset="0"/>
                      </a:endParaRPr>
                    </a:p>
                  </a:txBody>
                  <a:tcPr marL="63500" marR="127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攣縮、部分閉塞</a:t>
                      </a:r>
                      <a:endParaRPr lang="en-US" sz="2200" dirty="0">
                        <a:latin typeface="メイリオ" charset="0"/>
                        <a:ea typeface="メイリオ" charset="0"/>
                        <a:cs typeface="メイリオ" charset="0"/>
                      </a:endParaRPr>
                    </a:p>
                  </a:txBody>
                  <a:tcPr marL="63500" marR="127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気道内圧、聴診、吸引</a:t>
                      </a:r>
                      <a:endParaRPr lang="en-US" sz="2200" dirty="0">
                        <a:latin typeface="メイリオ" charset="0"/>
                        <a:ea typeface="メイリオ" charset="0"/>
                        <a:cs typeface="メイリオ" charset="0"/>
                      </a:endParaRPr>
                    </a:p>
                  </a:txBody>
                  <a:tcPr marL="63500" marR="127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502920">
                <a:tc>
                  <a:txBody>
                    <a:bodyPr/>
                    <a:lstStyle/>
                    <a:p>
                      <a:pPr algn="l" indent="0" marL="0">
                        <a:buNone/>
                      </a:pPr>
                      <a:r>
                        <a:rPr lang="ja-JP" altLang="en-US" sz="2200" b="1" dirty="0">
                          <a:solidFill>
                            <a:srgbClr val="262626"/>
                          </a:solidFill>
                          <a:latin typeface="メイリオ" pitchFamily="34" charset="0"/>
                          <a:ea typeface="メイリオ" pitchFamily="34" charset="-122"/>
                          <a:cs typeface="メイリオ" pitchFamily="34" charset="-120"/>
                        </a:rPr>
                        <a:t>くぼみ</a:t>
                      </a:r>
                      <a:endParaRPr lang="en-US" sz="2200" dirty="0">
                        <a:latin typeface="メイリオ" charset="0"/>
                        <a:ea typeface="メイリオ" charset="0"/>
                        <a:cs typeface="メイリオ" charset="0"/>
                      </a:endParaRPr>
                    </a:p>
                  </a:txBody>
                  <a:tcPr marL="63500" marR="127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自発呼吸の努力</a:t>
                      </a:r>
                      <a:endParaRPr lang="en-US" sz="2200" dirty="0">
                        <a:latin typeface="メイリオ" charset="0"/>
                        <a:ea typeface="メイリオ" charset="0"/>
                        <a:cs typeface="メイリオ" charset="0"/>
                      </a:endParaRPr>
                    </a:p>
                  </a:txBody>
                  <a:tcPr marL="63500" marR="127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TOF・麻酔深度を確認</a:t>
                      </a:r>
                      <a:endParaRPr lang="en-US" sz="2200" dirty="0">
                        <a:latin typeface="メイリオ" charset="0"/>
                        <a:ea typeface="メイリオ" charset="0"/>
                        <a:cs typeface="メイリオ" charset="0"/>
                      </a:endParaRPr>
                    </a:p>
                  </a:txBody>
                  <a:tcPr marL="63500" marR="127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まとめ</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順番</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消える・</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下がる</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上がる</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形</a:t>
            </a:r>
            <a:endParaRPr lang="ja-JP" sz="1100" dirty="0"/>
          </a:p>
        </p:txBody>
      </p:sp>
      <p:sp>
        <p:nvSpPr>
          <p:cNvPr id="8" name="Text 6"/>
          <p:cNvSpPr/>
          <p:nvPr/>
        </p:nvSpPr>
        <p:spPr>
          <a:xfrm>
            <a:off x="11384280" y="54864"/>
            <a:ext cx="621792" cy="585216"/>
          </a:xfrm>
          <a:prstGeom prst="roundRect">
            <a:avLst>
              <a:gd name="adj" fmla="val 15625"/>
            </a:avLst>
          </a:prstGeom>
          <a:solidFill>
            <a:srgbClr val="00A8AA"/>
          </a:solidFill>
          <a:ln/>
        </p:spPr>
        <p:txBody>
          <a:bodyPr wrap="squar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まとめ</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10</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Kodali BS. Anesthesiology 2013;118:192-201 / Kerslake I, Kelly F.</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BJA Education 2017;17:178-183 / Chrimes N, et al. Anaesthesia 2022;77:1395-1415</a:t>
            </a:r>
            <a:endParaRPr lang="ja-JP" sz="1600" dirty="0"/>
          </a:p>
        </p:txBody>
      </p:sp>
      <p:sp>
        <p:nvSpPr>
          <p:cNvPr id="11" name="Text 9"/>
          <p:cNvSpPr txBox="1"/>
          <p:nvPr/>
        </p:nvSpPr>
        <p:spPr>
          <a:xfrm>
            <a:off x="502920" y="1783080"/>
            <a:ext cx="11155680" cy="3813048"/>
          </a:xfrm>
          <a:prstGeom prst="rect">
            <a:avLst/>
          </a:prstGeom>
          <a:noFill/>
          <a:ln/>
        </p:spPr>
        <p:txBody>
          <a:bodyPr wrap="square" lIns="0" tIns="0" rIns="0" bIns="0" rtlCol="0" anchor="t"/>
          <a:lstStyle/>
          <a:p>
            <a:pPr algn="l" marL="406400" indent="-406400">
              <a:spcAft>
                <a:spcPts val="2200"/>
              </a:spcAft>
              <a:buSzPct val="100000"/>
              <a:buChar char="•"/>
            </a:pPr>
            <a:r>
              <a:rPr lang="ja-JP" altLang="en-US" sz="2800" dirty="0">
                <a:solidFill>
                  <a:srgbClr val="262626"/>
                </a:solidFill>
                <a:latin typeface="メイリオ" pitchFamily="34" charset="0"/>
                <a:ea typeface="メイリオ" pitchFamily="34" charset="-122"/>
                <a:cs typeface="メイリオ" pitchFamily="34" charset="-120"/>
              </a:rPr>
              <a:t>波形があるか → 高さ → 形 → 傾向の順に見る</a:t>
            </a:r>
            <a:endParaRPr lang="ja-JP" sz="2800" dirty="0"/>
          </a:p>
          <a:p>
            <a:pPr algn="l" marL="406400" indent="-406400">
              <a:spcAft>
                <a:spcPts val="2200"/>
              </a:spcAft>
              <a:buSzPct val="100000"/>
              <a:buChar char="•"/>
            </a:pPr>
            <a:r>
              <a:rPr lang="ja-JP" altLang="en-US" sz="2800" dirty="0">
                <a:solidFill>
                  <a:srgbClr val="262626"/>
                </a:solidFill>
                <a:latin typeface="メイリオ" pitchFamily="34" charset="0"/>
                <a:ea typeface="メイリオ" pitchFamily="34" charset="-122"/>
                <a:cs typeface="メイリオ" pitchFamily="34" charset="-120"/>
              </a:rPr>
              <a:t>突然消えたら、</a:t>
            </a:r>
            <a:r>
              <a:rPr lang="ja-JP" altLang="en-US" sz="2800" b="1" dirty="0">
                <a:solidFill>
                  <a:srgbClr val="00A8AA"/>
                </a:solidFill>
                <a:latin typeface="メイリオ" pitchFamily="34" charset="0"/>
                <a:ea typeface="メイリオ" pitchFamily="34" charset="-122"/>
                <a:cs typeface="メイリオ" pitchFamily="34" charset="-120"/>
              </a:rPr>
              <a:t>まず患者を見て用手換気</a:t>
            </a:r>
            <a:endParaRPr lang="ja-JP" sz="2800" dirty="0"/>
          </a:p>
          <a:p>
            <a:pPr algn="l" marL="406400" indent="-406400">
              <a:spcAft>
                <a:spcPts val="2200"/>
              </a:spcAft>
              <a:buSzPct val="100000"/>
              <a:buChar char="•"/>
            </a:pPr>
            <a:r>
              <a:rPr lang="ja-JP" altLang="en-US" sz="2800" dirty="0">
                <a:solidFill>
                  <a:srgbClr val="262626"/>
                </a:solidFill>
                <a:latin typeface="メイリオ" pitchFamily="34" charset="0"/>
                <a:ea typeface="メイリオ" pitchFamily="34" charset="-122"/>
                <a:cs typeface="メイリオ" pitchFamily="34" charset="-120"/>
              </a:rPr>
              <a:t>形を保って急に下がる ＝ </a:t>
            </a:r>
            <a:r>
              <a:rPr lang="ja-JP" altLang="en-US" sz="2800" b="1" dirty="0">
                <a:solidFill>
                  <a:srgbClr val="00A8AA"/>
                </a:solidFill>
                <a:latin typeface="メイリオ" pitchFamily="34" charset="0"/>
                <a:ea typeface="メイリオ" pitchFamily="34" charset="-122"/>
                <a:cs typeface="メイリオ" pitchFamily="34" charset="-120"/>
              </a:rPr>
              <a:t>肺血流の低下</a:t>
            </a:r>
            <a:endParaRPr lang="ja-JP" sz="2800" dirty="0"/>
          </a:p>
          <a:p>
            <a:pPr algn="l" marL="406400" indent="-406400">
              <a:spcAft>
                <a:spcPts val="2200"/>
              </a:spcAft>
              <a:buSzPct val="100000"/>
              <a:buChar char="•"/>
            </a:pPr>
            <a:r>
              <a:rPr lang="ja-JP" altLang="en-US" sz="2800" dirty="0">
                <a:solidFill>
                  <a:srgbClr val="262626"/>
                </a:solidFill>
                <a:latin typeface="メイリオ" pitchFamily="34" charset="0"/>
                <a:ea typeface="メイリオ" pitchFamily="34" charset="-122"/>
                <a:cs typeface="メイリオ" pitchFamily="34" charset="-120"/>
              </a:rPr>
              <a:t>上がり続けて頻脈・筋強直 ＝ </a:t>
            </a:r>
            <a:r>
              <a:rPr lang="ja-JP" altLang="en-US" sz="2800" b="1" dirty="0">
                <a:solidFill>
                  <a:srgbClr val="C00000"/>
                </a:solidFill>
                <a:latin typeface="メイリオ" pitchFamily="34" charset="0"/>
                <a:ea typeface="メイリオ" pitchFamily="34" charset="-122"/>
                <a:cs typeface="メイリオ" pitchFamily="34" charset="-120"/>
              </a:rPr>
              <a:t>悪性高熱症を疑う</a:t>
            </a:r>
            <a:endParaRPr lang="ja-JP" sz="2800" dirty="0"/>
          </a:p>
          <a:p>
            <a:pPr algn="l" marL="406400" indent="-406400">
              <a:spcAft>
                <a:spcPts val="2200"/>
              </a:spcAft>
              <a:buSzPct val="100000"/>
              <a:buChar char="•"/>
            </a:pPr>
            <a:r>
              <a:rPr lang="ja-JP" altLang="en-US" sz="2800" dirty="0">
                <a:solidFill>
                  <a:srgbClr val="262626"/>
                </a:solidFill>
                <a:latin typeface="メイリオ" pitchFamily="34" charset="0"/>
                <a:ea typeface="メイリオ" pitchFamily="34" charset="-122"/>
                <a:cs typeface="メイリオ" pitchFamily="34" charset="-120"/>
              </a:rPr>
              <a:t>基線が浮く ＝ </a:t>
            </a:r>
            <a:r>
              <a:rPr lang="ja-JP" altLang="en-US" sz="2800" b="1" dirty="0">
                <a:solidFill>
                  <a:srgbClr val="00A8AA"/>
                </a:solidFill>
                <a:latin typeface="メイリオ" pitchFamily="34" charset="0"/>
                <a:ea typeface="メイリオ" pitchFamily="34" charset="-122"/>
                <a:cs typeface="メイリオ" pitchFamily="34" charset="-120"/>
              </a:rPr>
              <a:t>再呼吸</a:t>
            </a:r>
            <a:r>
              <a:rPr lang="ja-JP" altLang="en-US" sz="2800" dirty="0">
                <a:solidFill>
                  <a:srgbClr val="262626"/>
                </a:solidFill>
                <a:latin typeface="メイリオ" pitchFamily="34" charset="0"/>
                <a:ea typeface="メイリオ" pitchFamily="34" charset="-122"/>
                <a:cs typeface="メイリオ" pitchFamily="34" charset="-120"/>
              </a:rPr>
              <a:t>、吸収剤を交換</a:t>
            </a:r>
            <a:endParaRPr lang="ja-JP" sz="2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メイリオ"/>
        <a:ea typeface="メイリオ"/>
        <a:cs typeface=""/>
        <a:font script="Jpan" typeface="メイリオ"/>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メイリオ"/>
        <a:ea typeface="メイリオ"/>
        <a:cs typeface=""/>
        <a:font script="Jpan" typeface="メイリオ"/>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2-5b カプノグラフィ②：異常波形の読み方</dc:title>
  <dc:subject/>
  <dc:creator>Anes-lecture</dc:creator>
  <cp:lastModifiedBy>Anes-lecture</cp:lastModifiedBy>
  <cp:revision>1</cp:revision>
  <dcterms:created xsi:type="dcterms:W3CDTF">2026-10-13T18:28:34Z</dcterms:created>
  <dcterms:modified xsi:type="dcterms:W3CDTF">2026-10-13T18:28:34Z</dcterms:modified>
</cp:coreProperties>
</file>