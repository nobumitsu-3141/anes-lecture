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術後肺合併症は心合併症と同じくらい多く、起きると死亡率が大きく上がる。この講義では、術後肺合併症のリスク因子と ARISCAT スコア、禁煙（いつでも遅くない）、COPD と喘息の術前管理、閉塞性睡眠時無呼吸（STOP-Bang）、小児の上気道炎と延期の目安、肺機能検査の使いどころと相談先を扱う。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定義と頻度: 術後肺合併症（PPC: postoperative pulmonary complications）は、呼吸器感染、呼吸不全、気管支攣縮、無気肺、胸水、気胸、誤嚥性肺臓炎など。ARISCAT の開発研究（Canet 2010、スペイン 59 施設 2,464 例）では 5% に起き、PPC ありの 30 日死亡率は 19.5%、なしは 0.5% だった。</a:t>
            </a:r>
          </a:p>
          <a:p>
            <a:r>
              <a:rPr lang="ja-JP" altLang="en-US" dirty="0"/>
              <a:t>患者因子: 米国内科学会（ACP）の系統的レビュー（Smetana 2006）で良好なエビデンスがあるのは、高齢、ASA-PS 2 以上、機能的依存、COPD、うっ血性心不全。検査値では血清アルブミン 30 g/L（3.0 g/dL）未満だけ。ACP ガイドライン本体（Qaseem 2006）は 35 g/L 未満を挙げるとする二次資料があり、閾値は資料で違う。術前スパイロメトリーをリスク層別に使う根拠は不十分。ACP ガイドライン（Qaseem 2006）は、肥満と軽症〜中等症の喘息を有意なリスク因子とはしていない【要確認: Qaseem 2006（Ann Intern Med 2006;144:575-580）本文の推奨 1 の文言】。</a:t>
            </a:r>
          </a:p>
          <a:p>
            <a:r>
              <a:rPr lang="ja-JP" altLang="en-US" dirty="0"/>
              <a:t>年齢: ACP ガイドライン（Qaseem 2006）は 60 歳超を有意なリスク因子とし、60 歳以降は 10 歳ごとにリスクが上がる。ARISCAT は 51〜80 歳に 3 点、80 歳超に 16 点を与える（51〜80 歳の OR 1.4、95%CI 0.6–3.3 で有意差なし。80 歳超は OR 5.1）。</a:t>
            </a:r>
          </a:p>
          <a:p>
            <a:r>
              <a:rPr lang="ja-JP" altLang="en-US" dirty="0"/>
              <a:t>手術因子: 大動脈瘤修復、胸部手術、腹部（特に上腹部）手術、脳神経外科、頭頸部、血管手術、緊急手術、長時間手術、全身麻酔。長時間手術は、ARISCAT では 2 時間超から点がつき（2〜3 時間で 16 点、OR 4.9）、3 時間超でさらに高い（23 点、OR 9.7）。筋弛緩薬は、国内では長時間作用型（パンクロニウム）はほとんど使われないので、問題になるのは主に残存筋弛緩。</a:t>
            </a:r>
          </a:p>
          <a:p>
            <a:r>
              <a:rPr lang="ja-JP" altLang="en-US" dirty="0"/>
              <a:t>機序: 全身麻酔の導入直後から呼吸機能は変わり、筋弛緩薬を使った患者の 75% 超に無気肺ができる。大手術後、呼吸機能が術前に戻るまで 6 週間かかることがある（Miskovic &amp; Lumb 2017）。予防は、併存疾患の術前最適化、禁煙、貧血の是正、肺保護換気（理想体重で計算した低一回換気量）、筋弛緩の適切な管理（→ 3-6）、経鼻胃管を避ける、十分な鎮痛、早期離床、呼吸理学療法、口腔ケア。肺拡張療法（インセンティブスパイロメトリ、深呼吸、CPAP）には良好なエビデンスがある（Lawrence 2006）。</a:t>
            </a:r>
          </a:p>
          <a:p>
            <a:r>
              <a:rPr lang="ja-JP" altLang="en-US" dirty="0"/>
              <a:t>参考: Canet J, et al. Anesthesiology 2010;113:1338-1350（ARISCAT） / Smetana GW, et al. Ann Intern Med 2006;144:581-595 / Qaseem A, et al. Ann Intern Med 2006;144:575-580（ACP ガイドライン） / Miskovic A, Lumb AB. Br J Anaesth 2017;118:317-334 / Lawrence VA, et al. Ann Intern Med 2006;144:596-608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点数: ARISCAT（Assess Respiratory Risk in Surgical Patients in Catalonia）の 7 因子。年齢 50 歳以下 0、51〜80 歳 3、80 歳超 16。術前 SpO2（室内気・仰臥位）96% 以上 0、91〜95% 8、90% 以下 24。1 か月以内の呼吸器感染 17。術前貧血（Hb 10 g/dL 以下）11。切開部位は末梢 0、上腹部 15、胸腔内 24。手術時間 2 時間以下 0、2〜3 時間 16、3 時間超 23。緊急手術 8。</a:t>
            </a:r>
          </a:p>
          <a:p>
            <a:r>
              <a:rPr lang="ja-JP" altLang="en-US" dirty="0"/>
              <a:t>区分: 26 点未満が低リスク、26〜44 点が中等度、45 点以上が高リスク。区分ごとの PPC 率は、ARISCAT 原著で 1.6%、13.3%、42.1%（2 つのサブサンプルで 0.7〜1.6%、6.3〜13.3%、42.1〜44.9%）。欧州の外部検証（PERISCOPE、Mazo 2014、5,099 例、PPC 全体 7.9%）では実測が 3.39%、12.98%、38.01% で、c 統計量 0.80。</a:t>
            </a:r>
          </a:p>
          <a:p>
            <a:r>
              <a:rPr lang="ja-JP" altLang="en-US" dirty="0"/>
              <a:t>日本人での検証: 大腿骨近位部骨折 389 例の単施設後ろ向き研究だけ。PPC 4.4%、C 統計量 0.71、26 点以上で感度 52.9%・特異度 76.8%、45 点以上で感度 42.9%・特異度 96.5% と、感度は低かった（Ishimaru 2026）。高齢の骨折患者では、26 点未満でも安心とは言い切らない。</a:t>
            </a:r>
          </a:p>
          <a:p>
            <a:r>
              <a:rPr lang="ja-JP" altLang="en-US" dirty="0"/>
              <a:t>例（50 歳以下、術前 SpO2 96% 以上、貧血なし、予定手術の場合）: 上腹部手術 15 点＋3 時間超 23 点＝38 点で中等度。ここに 1 か月以内のかぜ 17 点が加わると 55 点で高リスクになる。かぜ症状の問診を飛ばすと見逃す。</a:t>
            </a:r>
          </a:p>
          <a:p>
            <a:r>
              <a:rPr lang="ja-JP" altLang="en-US" dirty="0"/>
              <a:t>落とし穴: SpO2 は室内気・仰臥位の値。酸素投与中の値を入れると低く見積もる（救急外来で酸素が流れている患者に注意）。</a:t>
            </a:r>
          </a:p>
          <a:p>
            <a:r>
              <a:rPr lang="ja-JP" altLang="en-US" dirty="0"/>
              <a:t>使い方: 中等度以上なら、禁煙、呼吸リハ、貧血の是正、区域麻酔・硬膜外鎮痛の併用、術後の呼吸理学療法と早期離床、必要なら術後の監視（HCU）を計画する。</a:t>
            </a:r>
          </a:p>
          <a:p>
            <a:r>
              <a:rPr lang="ja-JP" altLang="en-US" dirty="0"/>
              <a:t>参考: Canet J, et al. Anesthesiology 2010;113:1338-1350 / Mazo V, et al. Anesthesiology 2014;121:219-231（PERISCOPE） / Ishimaru N, et al. Musculoskelet Surg 2026（online ahead of print）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害: 喫煙者は非喫煙者より 30 日以内の死亡、肺炎、予定外の再挿管、人工呼吸、心停止、心筋梗塞、脳卒中のリスクが高い（日本麻酔科学会 周術期禁煙プラクティカルガイド 2021、英語版 Iida 2022）。</a:t>
            </a:r>
          </a:p>
          <a:p>
            <a:r>
              <a:rPr lang="ja-JP" altLang="en-US" dirty="0"/>
              <a:t>期間: 25 研究のメタ解析（Wong 2012）で、呼吸器合併症は 4 週超の禁煙で相対リスク 0.77、8 週超で 0.53 と下がり、4 週未満では増えも減りもしなかった。創傷治癒の合併症は 3〜4 週超の禁煙で 0.69。RCT 6 本の統合（Mills 2011）では術前の禁煙介入で合併症が 41% 減り、禁煙期間が 1 週長いごとに効果が 19% 大きくなった。国内の肺手術 288 例（Nakagawa 2001）でも、禁煙 4 週超で非喫煙者と同等になった（調整オッズ比 1.03。ただし信頼区間は広い）。</a:t>
            </a:r>
          </a:p>
          <a:p>
            <a:r>
              <a:rPr lang="ja-JP" altLang="en-US" dirty="0"/>
              <a:t>直前の禁煙: 手術 8 週以内の禁煙者と喫煙継続者を比べたメタ解析（Myers 2011、9 研究）で、直前の禁煙でも合併症は増えも減りもしなかった（相対リスク 0.78、95%CI 0.57–1.07）。「今さらやめても遅い」「痰が増えてかえって危ない」とは言わない。ただし 4 週未満では呼吸器合併症の減少は期待できないと正直に伝える。</a:t>
            </a:r>
          </a:p>
          <a:p>
            <a:r>
              <a:rPr lang="ja-JP" altLang="en-US" dirty="0"/>
              <a:t>国内の指針: 日本麻酔科学会は 2015 年に周術期禁煙ガイドライン（英語版 J Anesth 2017）、2021 年 9 月に周術期禁煙プラクティカルガイドを出した。手術前のどの時点でも禁煙に意義があるとし、4 週以上の禁煙を勧めている（二次資料で確認）。8 週以上で呼吸器合併症がさらに減るのは Wong 2012 のメタ解析（相対リスク 0.53）によるもので、学会の推奨文としては引用しない【要確認: プラクティカルガイド原文（anesth.or.jp の kinen-practical-guide_20210928.pdf）の推奨文と推奨度、8 週の記載の有無】。手術が決まった時点を禁煙の好機（teachable moment）とし、手術の延期とは切り離して勧める。</a:t>
            </a:r>
          </a:p>
          <a:p>
            <a:r>
              <a:rPr lang="ja-JP" altLang="en-US" dirty="0"/>
              <a:t>加熱式: 加熱式たばこにもニコチンが含まれる。新型たばこ製品の薬物動態のメタ解析（Cao 2025、30 研究）では、加熱式たばこの血中ニコチンの最高濃度は紙巻きと有意差がなかった（総曝露量 AUC は低い）。「加熱式に替えたから禁煙した」ではない。日本は加熱式の使用者が多いので、問診では「紙巻きを吸うか」ではなく「たばこ製品（加熱式を含む）を使うか」と聞く。周術期に紙巻きと同じく中止の対象とする記載は検索の要約で見ただけ【要確認: プラクティカルガイド原文の加熱式たばこ・電子たばこの項】。</a:t>
            </a:r>
          </a:p>
          <a:p>
            <a:r>
              <a:rPr lang="ja-JP" altLang="en-US" dirty="0"/>
              <a:t>参考: Wong J, et al. Can J Anaesth 2012;59:268-279 / Mills E, et al. Am J Med 2011;124:144-154.e8 / Myers K, et al. Arch Intern Med 2011;171:983-989 / Nakagawa M, et al. Chest 2001;120:705-710 / Iida H, et al. J Anesth 2022;36:583-605 / Safety Committee of JSA. J Anesth 2017;31:297-303（周術期禁煙ガイドライン英語版） / Cao Y, et al. Nicotine Tob Res 2025;27:783-793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COPD: 診断は気管支拡張薬投与後の FEV1/FVC 0.70 未満で、重症度は FEV1 で GOLD 1（80% 以上）〜4（30% 未満）。状態が安定していれば吸入薬を含む常用薬は手術当日も中断しない。増悪中は待機手術を延期し、症状が元の状態に戻るまで待つ（Lee 2025）。症状のある安定期 COPD や運動耐容能の低い患者は、手術がない場合と同じ確立した安定期の治療で、術前に十分治療する（GOLD 旧版の記載。総説による引用で、最新版は未確認）【要確認: GOLD 2025/2026 report（goldcopd.org）の手術の節と、日本呼吸器学会 COPD ガイドライン第 6 版（2022）の周術期の項】。国内データ（Numata 2018、東京慈恵会医科大学）では、COPD の術後肺合併症のリスク因子は年齢、上腹部手術、5 時間以上の手術で、COPD 治療の導入は予防的に働いた（オッズ比 0.09。ただし単施設の後ろ向き研究で、信頼区間は非常に広い）。過去 1 年にプレドニゾロン換算 20 mg/日超を 2 週超、または 30 日超使った患者は、術後副腎不全のリスクがあるとする総説がある（Lee 2025）。補充の対象は 4-14 の基準（5 mg/日以上を 1 か月以上など）で判断する。同じ総説は、高用量 ICS だけの患者にルーチンのストレス量は勧めないとしている。コントロール良好な COPD に術前の肺機能検査は不要で、肺切除以外で肺機能の値を禁忌とする基準はない。</a:t>
            </a:r>
          </a:p>
          <a:p>
            <a:r>
              <a:rPr lang="ja-JP" altLang="en-US" dirty="0"/>
              <a:t>喘息: 可能なら喘息がよくコントロールされている時期に手術し、吸入ステロイド（ICS）を含む治療は周術期も続ける（GINA、Lee 2025）。過去 6 か月に経口ステロイドを 2 週超使った患者には、周術期のステロイド補充を考える。長期高用量 ICS だけの場合は資料で扱いが分かれる（GINA は術中ヒドロコルチゾン、Lee 2025 の総説はルーチンのストレス量を勧めない）【要確認: GINA 2024/2025 本体（ginasthma.org）の手術の節の文言】。NSAIDs 過敏喘息では、補充にコハク酸エステル型のヒドロコルチゾン注を使わない（下記）。コントロール不良（最近の増悪、夜間症状、発作治療薬の使用増加）なら待機手術を延期して呼吸器内科と相談する。延期できなければ、ICS の増量または開始と、術前 5 日間の全身ステロイドを検討する。根拠の RCT（Silvanus 2004。未治療の部分可逆性気道閉塞 31 例で、喘息に限らない）では、サルブタモール単独では挿管後の喘鳴が多く（無作為化の外の、導入 10 分前に吸入しただけの群 8/10。5 日間吸入した群 7/9）、メチルプレドニゾロン 40 mg/日 経口 5 日間を併用した群では 1 例だけだった（P=0.0058）。国内データ（Numata 2018）では喫煙 20 pack-years 以上と GINA STEP 3 以上がリスク因子だった（単施設の後ろ向き研究で、信頼区間は非常に広い）。</a:t>
            </a:r>
          </a:p>
          <a:p>
            <a:r>
              <a:rPr lang="ja-JP" altLang="en-US" dirty="0"/>
              <a:t>コントロールの判定: GINA の過去 4 週間の 4 項目（日中症状が週 2 回超、喘息による夜間覚醒、発作治療薬（SABA）の使用が週 2 回超、喘息による活動制限）を聞き、1 つでもあれば良好とはいえない。喘息患者 706 例の周術期の気管支攣縮は 1.7% と少なく、最近の喘息症状、発作治療薬の使用、医療機関での喘息治療がある人と高齢者に多かった（Warner 1996）。</a:t>
            </a:r>
          </a:p>
          <a:p>
            <a:r>
              <a:rPr lang="ja-JP" altLang="en-US" dirty="0"/>
              <a:t>NSAIDs 過敏喘息: アスピリン喘息の既往や疑いがあれば、ほぼ全ての NSAIDs で発作が誘発されうる。問診で「鎮痛薬・解熱薬で喘息が出たことがあるか」「鼻茸・副鼻腔炎の手術歴」を必ず聞く。コハク酸エステル型（ヒドロコルチゾンコハク酸エステル＝ソル・コーテフ、メチルプレドニゾロンコハク酸エステル＝ソル・メドロールなど）の急速静注は発作を誘発しやすい。N-ERD 11 例の誘発試験では陽性率がヒドロコルチゾンコハク酸エステル 82%、メチルプレドニゾロンコハク酸エステル 50%、ヒドロコルチゾンリン酸エステル 9% だった（Taniguchi 2023）。静注ステロイドでアナフィラキシー反応を起こした成人喘息 7 例は、全例がコハク酸エステル製剤だった（Nakamura 2002）。リン酸エステル型でも急速静注で悪化した例がある（Enomoto 1995：ステロイド過敏 6 例中 2 例）。ステロイドが要るときはリン酸エステル型（デキサメタゾンなど）を急速静注せず、1〜2 時間かけて点滴する。リン酸エステル製剤にもパラベン・亜硫酸塩を含むもの（水溶性ハイドロコートン）があるので添加物にも注意する。ステロイドカバーの定番「ヒドロコルチゾン 100 mg 静注」（コハク酸エステル製剤）をそのまま使わない。院内の採用ステロイドの剤形を前もって薬剤部に確認しておく【要確認: PMDA 電子添文（ソル・コーテフ、ソル・メドロール、水溶性ハイドロコートン、デキサメタゾン注射液）の NSAIDs 過敏喘息・急速静注・添加物の記載と、厚生労働省 重篤副作用疾患別対応マニュアル「非ステロイド性抗炎症薬による喘息発作」の文言】。</a:t>
            </a:r>
          </a:p>
          <a:p>
            <a:r>
              <a:rPr lang="ja-JP" altLang="en-US" dirty="0"/>
              <a:t>気道: 可能なら気管挿管を避け、区域麻酔や声門上器具を考える。気管挿管では可逆性の気管支収縮が起き、ラリンジアルマスクでは起きなかった（成人 52 例の RCT、喘息に限らない：Kim &amp; Bishop 1999）。小児ではフェイスマスクの方が呼吸器有害事象が少ない（von Ungern-Sternberg 2010）。</a:t>
            </a:r>
          </a:p>
          <a:p>
            <a:r>
              <a:rPr lang="ja-JP" altLang="en-US" dirty="0"/>
              <a:t>参考: Numata T, et al. BMC Pulm Med 2018;18:4 / Silvanus MT, et al. Anesthesiology 2004;100:1052-1057 / GINA Summary Guide 2024 / Lee HJ, Lee HW. Tuberc Respir Dis (Seoul) 2025;88:90-108 / Taniguchi M, et al. Front Allergy 2023;4:1145809 / Nakamura H, et al. Respiration 2002;69:309-313 / Enomoto T, et al. Arerugi 1995;44:534-539 / Kim ES, Bishop MJ. Anesthesiology 1999;90:391-394 / Warner DO, et al. Anesthesiology 1996;85:460-467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STOP-Bang: Chung（2008、2012）の 8 項目（各 1 点）。S 大きないびき、T 日中の疲労・眠気、O 睡眠中の無呼吸を指摘された、P 高血圧（治療中を含む）、B BMI 35 kg/m² 超、A 50 歳超、N 首回り 40 cm 超、G 男性。0〜2 点は中等症〜重症 OSA の低リスク、3〜4 点は中間、5〜8 点は高リスク（Chung 2016）。手術患者 746 例の終夜睡眠ポリグラフでは OSA が 68.4%（中等症〜重症 38.5%）。0〜2 点と比べた中等症〜重症 OSA のオッズ比は 5 点で 4.8、6 点で 6.3、7〜8 点で 6.9（重症 OSA では 10.4、11.6、14.9）（Chung 2012）。3 点は感度重視のスクリーニング、5 点は特異度重視。</a:t>
            </a:r>
          </a:p>
          <a:p>
            <a:r>
              <a:rPr lang="ja-JP" altLang="en-US" dirty="0"/>
              <a:t>日本人での限界: 日本人で BMI 35 超はまれ。睡眠外来の地域別メタ解析（Pivetta 2021、47 研究）では、3 点以上で中等症〜重症 OSA を見つける診断精度が東アジアだけ 0.52 と低かった（他の地域は 0.80 超）。アジアでは BMI の基準を 30 超に下げた版が使われる（国内では Oshita 2020、睡眠検査を受けた 107 例）。点が低くても、小顎など顎顔面の特徴や、いびき・無呼吸の指摘があれば OSA を疑う。</a:t>
            </a:r>
          </a:p>
          <a:p>
            <a:r>
              <a:rPr lang="ja-JP" altLang="en-US" dirty="0"/>
              <a:t>転帰: OSA は術後の急性呼吸不全（オッズ比 2.43）、心イベント（2.07）、酸素飽和度低下（2.27）、ICU 転床（2.81）と関連する（Kaw 2012、13 研究のメタ解析）。</a:t>
            </a:r>
          </a:p>
          <a:p>
            <a:r>
              <a:rPr lang="ja-JP" altLang="en-US" dirty="0"/>
              <a:t>延期の基準: 睡眠麻酔学会（SASM 2016）は、OSA 高リスクと判明しても、睡眠ポリグラフや CPAP 導入のために手術を中止・延期する根拠は不十分とし、例外はコントロールされていない全身疾患がある場合と、低換気、重症肺高血圧、ほかで説明できない安静時低酸素血症がある場合とした。この場合も推奨は「術前の心肺最適化のための追加評価を考慮する」（推奨 2.3.1・3.3.2、いずれも弱い推奨）で、延期を義務づけてはいない。</a:t>
            </a:r>
          </a:p>
          <a:p>
            <a:r>
              <a:rPr lang="ja-JP" altLang="en-US" dirty="0"/>
              <a:t>術前の指示: CPAP を使っている患者には、機器（マスクを含む）を持参させ、入院中も睡眠時に処方どおり使うよう勧める（SASM 2016、強い推奨）。急にやめると 1〜3 日で OSA が再燃する。睡眠ポリグラフの結果と CPAP の設定を術前に確認・記録する（弱い推奨）。</a:t>
            </a:r>
          </a:p>
          <a:p>
            <a:r>
              <a:rPr lang="ja-JP" altLang="en-US" dirty="0"/>
              <a:t>麻酔の計画: 既知または疑いの OSA は挿管困難・マスク換気困難の独立した因子とみなして困難気道に備える（SASM 2018、強い推奨 → 4-2）。区域麻酔が使えるなら全身麻酔より望ましい（強い推奨）。オピオイドによる呼吸器有害事象のリスクが高い可能性があり、反復する低酸素でオピオイド感受性が高まる（小児の扁桃摘出で SaO2 最低値が低いほどモルヒネ必要量が少なかった：Brown 2004）。ベンゾジアゼピン静注の鎮静は慎重に。禁忌がなければ完全覚醒で抜管し、抜管前に筋弛緩の完全回復を確認する。可能なら抜管と回復は側臥位・半座位など仰臥位以外で行う。呼吸器合併症のリスクが高い間は持続パルスオキシメトリで監視する（ASA 2014）【要確認: ASA 2014 OSA ガイドライン本文（Anesthesiology 2014;120:268-286）の抜管・回復期の体位・術後モニタリングの推奨文。いまは二次資料 2 本で確認】。術後は CPAP を再開し、入院中も睡眠時に処方どおりの設定で使う（SASM 2016、強い推奨）。OSA 患者は残存筋弛緩による術後呼吸器合併症のリスクが高い可能性がある（SASM 2018、弱い推奨）。</a:t>
            </a:r>
          </a:p>
          <a:p>
            <a:r>
              <a:rPr lang="ja-JP" altLang="en-US" dirty="0"/>
              <a:t>酸素と CO2: CPAP を使えない OSA 患者には酸素投与が望ましいが、酸素で SpO2 が保たれたまま CO2 が上がることがあり、特に術後 1 日目の夜に注意する。夜間の経皮 CO2 モニタリングを考える（睡眠時無呼吸症候群（SAS）の診療ガイドライン 2020）。PCA やオピオイドの持続投与をするなら、持続パルスオキシメトリで監視できる病床かを先に確かめる（運用上の提案）。</a:t>
            </a:r>
          </a:p>
          <a:p>
            <a:r>
              <a:rPr lang="ja-JP" altLang="en-US" dirty="0"/>
              <a:t>参考: Chung F, et al. Anesthesiology 2008;108:812-821 / Chung F, et al. Br J Anaesth 2012;108:768-775 / Chung F, et al. Chest 2016;149:631-638 / Kaw R, et al. Br J Anaesth 2012;109:897-906 / Chung F, et al. Anesth Analg 2016;123:452-473（SASM） / Memtsoudis SG, et al. Anesth Analg 2018;127:967-987（SASM） / Brown KA, et al. Anesthesiology 2004;100:806-810 / Pivetta B, et al. JAMA Netw Open 2021;4:e211009 / Oshita H, et al. JMA J 2020;3:347-352 / 日本呼吸器学会ほか「睡眠時無呼吸症候群（SAS）の診療ガイドライン 2020」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リスク: 小児 9,297 例の前向きコホート（von Ungern-Sternberg 2010、パース）では、上気道炎の症状があるとき（相対リスク 2.05）と症状が 2 週未満前にあったとき（2.34）に周術期呼吸器有害事象が増え、2〜4 週前ならむしろ低かった（0.66）。呼吸器の既往（夜間の乾性咳嗽、運動時の喘鳴、過去 12 か月に 3 回超の喘鳴、湿疹）があると気管支攣縮 8.46 倍、喉頭痙攣 4.13 倍。Tait（2001、1,078 例）では、活動中と 4 週以内の上気道炎で息こらえ、高度の酸素飽和度低下、呼吸器有害事象が増えたが長期の後遺症はなく、多くの小児は予定手術を受けられた。2〜4 週前の上気道炎の扱いは、この 2 つの研究で食い違う。活動性上気道炎のリスク因子は 5 歳未満の気管チューブ、早産、気道過敏性疾患、父親の喫煙、気道の手術、多量の分泌物、鼻閉。上気道炎があって気管挿管すると、呼吸器合併症が 11 倍だった（Cohen 1991）。問診では、家族の 2 人以上に喘息・アトピー・喫煙があるかも聞く（von Ungern-Sternberg 2010 のリスク因子）。</a:t>
            </a:r>
          </a:p>
          <a:p>
            <a:r>
              <a:rPr lang="ja-JP" altLang="en-US" dirty="0"/>
              <a:t>延期の目安: 発熱（38℃ 超）、膿性鼻汁、湿性咳嗽、下気道の所見（喘鳴・ラ音）、ぐったりしている、のどれかがあれば延期を考える。これは総説の専門家意見で、国内外に学会の基準はない【要確認: 38℃ という閾値の出典（Egbuta 2020 の本文）】。透明な鼻汁だけなら施行できることが多い。延期する期間は、症状が消えてから 2〜3 週が小児麻酔科医の大方の合意（Egbuta 2020 の総説）。合併症のない上気道炎なら 2 週、重い上気道炎（40℃ 超の発熱など）なら 4 週という提案もある（Rosada-Kurasińska 2025 の総説）。ウイルス感染後の気道過敏性は数週間（最長 6 週程度）続くとする総説がある。</a:t>
            </a:r>
          </a:p>
          <a:p>
            <a:r>
              <a:rPr lang="ja-JP" altLang="en-US" dirty="0"/>
              <a:t>COLDS スコア: C 現在の症状、O 発症時期、L 肺疾患、D 気道器具、S 手術の 5 項目を 1・2・5 点で採点（合計 5〜25 点）。5 点の項目（2 週未満の発症、気管チューブ、大きな気道手術など）をレッドフラッグとして扱い、合計点の絶対的なカットオフはない（検証研究の AUC 0.69）。</a:t>
            </a:r>
          </a:p>
          <a:p>
            <a:r>
              <a:rPr lang="ja-JP" altLang="en-US" dirty="0"/>
              <a:t>工夫: 進めるなら、可能な限り気管挿管を避けてフェイスマスクや声門上器具を使い、プロポフォールで静脈導入する（吸入導入より有害事象が少ない）。国内の小児多施設レジストリ（J-PEDIA。上気道炎が今ある・14 日以内、喘息増悪、家庭内の喫煙曝露のある 18 歳未満の 4,878 件）でも、声門上器具は気管挿管より呼吸器有害事象が少なかった（調整 RR 0.41：Uchinami 2026）。</a:t>
            </a:r>
          </a:p>
          <a:p>
            <a:r>
              <a:rPr lang="ja-JP" altLang="en-US" dirty="0"/>
              <a:t>サルブタモール: 最近上気道炎があった小児 600 例の観察研究（von Ungern-Sternberg 2009）では、導入 10〜30 分前のサルブタモール吸入で気管支攣縮が 5.5% 対 11%、強い咳が 5.5% 対 11.5% と少なかった。扁桃摘出を受ける 0〜8 歳 484 例の RCT（REACT、von Ungern-Sternberg 2019）では、定量噴霧式 200 μg（2 噴霧）で周術期呼吸器有害事象が 47.9% から 27.8% に減った。国内添付文書の用量は、サルタノールインヘラーが小児 1 回 100 μg（1 吸入）・成人 200 μg、ベネトリン吸入液が小児 1 回 0.5〜1.5 mg・成人 1.5〜2.5 mg。サルタノールインヘラーは「発作発現時に限る」とされ、予防投与は適応外になる【要確認: PMDA 電子添文（サルタノールインヘラー、ベネトリン吸入液 0.5%）の 4. 効能又は効果と 6. 用法及び用量】。</a:t>
            </a:r>
          </a:p>
          <a:p>
            <a:r>
              <a:rPr lang="ja-JP" altLang="en-US" dirty="0"/>
              <a:t>離島: パースの研究では小児麻酔専門医による気道管理がリスクを下げていた。一人麻酔科医の体制ではその保護因子に頼れないので、レッドフラッグがあれば延期を選び、主治医の小児科医・術者・保護者と共有して決める。</a:t>
            </a:r>
          </a:p>
          <a:p>
            <a:r>
              <a:rPr lang="ja-JP" altLang="en-US" dirty="0"/>
              <a:t>参考: von Ungern-Sternberg BS, et al. Lancet 2010;376:773-783 / Tait AR, et al. Anesthesiology 2001;95:299-306 / Lee BJ, August DA. Paediatr Anaesth 2014;24:349-350（COLDS） / Lee LK, et al. Paediatr Anaesth 2018;28:1007-1014 / Regli A, et al. Curr Opin Anaesthesiol 2017;30:362-367 / Cohen MM, Cameron CB. Anesth Analg 1991;72:282-288 / Uchinami Y, et al. Br J Anaesth 2026（online ahead of print、J-PEDIA） / von Ungern-Sternberg BS, et al. Paediatr Anaesth 2009;19:1064-1069 / von Ungern-Sternberg BS, et al. JAMA Pediatr 2019;173:527-533（REACT） / Egbuta C, Mason KP. J Clin Med 2020;9:1942 / Rosada-Kurasińska J, et al. Pediatr Rep 2025;17:106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肺機能検査: 米国内科学会（ACP 2006）の対象は心臓・胸部以外の手術で、術前スパイロメトリーと胸部 X 線を術後肺合併症のリスク予測にルーチンで使うべきでないとした（病歴・身体所見より一貫して優れてはいない）。国内の中〜高リスク非肺手術 5,562 例（Mizota 2024、京都大学）でも、FEV1 は 30 日以内の呼吸不全・死亡と関連せず（FEV1 10% 低下あたりの調整オッズ比 1.01）、既存のリスク指数に加えても予測能は変わらなかった。一方、この研究の対象の 90% 超に術前の肺機能検査が行われており、国内では大手術の前にルーチンで行う施設が多い。院内規定で検査するのはよいが、FEV1 の値だけで手術を断ったり延期したりしない。原因のわからない呼吸困難など、病歴や所見で疑いがあるときは呼吸器内科に相談する。</a:t>
            </a:r>
          </a:p>
          <a:p>
            <a:r>
              <a:rPr lang="ja-JP" altLang="en-US" dirty="0"/>
              <a:t>肺切除: 米国胸部医学会（ACCP 2013）の手順では、まず心血管評価と FEV1・DLCO の測定を行い、予測術後値（ppo）がともに 60% 超なら低リスクで追加検査不要、どちらかが 30〜60% なら簡便な運動負荷（階段昇降 22 m 超、シャトルウォーク 400 m 超で低リスク）、30% 未満または負荷不十分なら心肺運動負荷試験（VO2peak 10 mL/kg/分未満または予測値の 35% 未満で高リスク、20 mL/kg/分超または 75% 超で低リスク）。</a:t>
            </a:r>
          </a:p>
          <a:p>
            <a:r>
              <a:rPr lang="ja-JP" altLang="en-US" dirty="0"/>
              <a:t>成人の感染後: 成人向けの総説（Lee 2025）は呼吸器感染後およそ 6 週の延期を勧めている。COVID-19 では、ワクチン普及前の国際コホート（COVIDSurg 2021、術前感染 3,127 例）で、感染から 6 週以内の手術は 30 日死亡が増え（オッズ比 3.6〜4.1）、7 週以上あけると非感染者並み（オッズ比 1.5、95%CI 0.9–2.1）だった。7 週以上たっても症状が残る人の死亡率は 6.0% だった。ワクチン接種完了者では、感染後早期の手術でも周術期合併症の有意な増加はなかった（Le 2022）。ARISCAT の「1 か月以内の呼吸器感染」の問診で COVID-19 も聞き、院内の現行ルールも確認する。小児の目安は S7。</a:t>
            </a:r>
          </a:p>
          <a:p>
            <a:r>
              <a:rPr lang="ja-JP" altLang="en-US" dirty="0"/>
              <a:t>相談先: コントロール不良の喘息や COPD の増悪は呼吸器内科。OSA に低換気・重症肺高血圧・原因不明の安静時低酸素を疑えば呼吸器・睡眠の専門医（術前の追加評価。延期は必要なときだけ）。肺切除の可否は呼吸器外科と呼吸器内科。離島では遠隔での相談と、精査のための本土への紹介を前もって手配する。</a:t>
            </a:r>
          </a:p>
          <a:p>
            <a:r>
              <a:rPr lang="ja-JP" altLang="en-US" dirty="0"/>
              <a:t>参考: Qaseem A, et al. Ann Intern Med 2006;144:575-580（ACP） / Mizota T, et al. JA Clin Rep 2024;10:44 / Brunelli A, et al. Chest 2013;143(5 Suppl):e166S-e190S（ACCP） / Lee HJ, Lee HW. Tuberc Respir Dis (Seoul) 2025;88:90-108 / COVIDSurg Collaborative, GlobalSurg Collaborative. Anaesthesia 2021;76:748-758 / Le ST, et al. Ann Surg 2022;276:e265-e272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分）。術後肺合併症は約 5% に起き、起きると 30 日死亡率が 19.5% に上がる（起きなければ 0.5%）。ARISCAT の 7 因子（年齢、室内気 SpO2、1 か月以内の呼吸器感染、貧血、切開部位、手術時間、緊急）で層別化し、中等度以上なら予防策を計画する。禁煙はいつ始めても意義があり、4 週以上で呼吸器合併症、3〜4 週以上で創の合併症が減り、直前の禁煙でも害はない。COPD・喘息の吸入薬は当日も続け、増悪やコントロール不良なら延期して呼吸器内科に相談し、延期できない喘息には術前 5 日の全身ステロイドを考える。NSAIDs 過敏喘息ではコハク酸エステル型ステロイドの急速静注を避ける。STOP-Bang 3 点以上で OSA を疑い、CPAP を持参させ、困難気道として備え、区域麻酔を優先し、抜管は完全覚醒後に行う。OSA の疑いだけでは手術を延期しない。小児の上気道炎は発熱・膿性鼻汁・湿性咳嗽・下気道所見があれば延期を考え（今あるか 2 週以内の上気道炎はリスク約 2 倍）、進めるならマスクか声門上器具と静脈導入で。次は 4-10（腎不全・透析と肝疾患）。</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呼吸器リスク評価</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4-9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術後肺合併症のリスク</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Canet J, et al. Anesthesiology 2010;113:1338-1350（ARISCAT） / Smetana GW,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Ann Intern Med 2006;144:581-595 / Qaseem A, et al. Ann Intern Med 2006;144:575-580（ACP）</a:t>
            </a:r>
            <a:endParaRPr lang="ja-JP" sz="1600" dirty="0"/>
          </a:p>
        </p:txBody>
      </p:sp>
      <p:sp>
        <p:nvSpPr>
          <p:cNvPr id="11" name="Shape 9"/>
          <p:cNvSpPr/>
          <p:nvPr/>
        </p:nvSpPr>
        <p:spPr>
          <a:xfrm>
            <a:off x="502920" y="1691640"/>
            <a:ext cx="5477256" cy="3063240"/>
          </a:xfrm>
          <a:prstGeom prst="roundRect">
            <a:avLst>
              <a:gd name="adj" fmla="val 2388"/>
            </a:avLst>
          </a:prstGeom>
          <a:solidFill>
            <a:srgbClr val="F2F2F2"/>
          </a:solidFill>
          <a:ln/>
        </p:spPr>
      </p:sp>
      <p:sp>
        <p:nvSpPr>
          <p:cNvPr id="12" name="Text 10"/>
          <p:cNvSpPr txBox="1"/>
          <p:nvPr/>
        </p:nvSpPr>
        <p:spPr>
          <a:xfrm>
            <a:off x="630936" y="1801368"/>
            <a:ext cx="5221224"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患者因子</a:t>
            </a:r>
            <a:endParaRPr lang="ja-JP"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 y="2249424"/>
          <a:ext cx="5221224" cy="914400"/>
        </p:xfrm>
        <a:graphic>
          <a:graphicData uri="http://schemas.openxmlformats.org/drawingml/2006/table">
            <a:tbl>
              <a:tblPr/>
              <a:tblGrid>
                <a:gridCol w="256032"/>
                <a:gridCol w="4965192"/>
              </a:tblGrid>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高齢（60 歳超で上がる）</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ASA-PS 2 以上、介助が必要</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COPD、うっ血性心不全</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 か月以内の呼吸器感染</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33558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アルブミン 3.0 g/dL 未満、貧血</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1"/>
          <p:cNvSpPr/>
          <p:nvPr/>
        </p:nvSpPr>
        <p:spPr>
          <a:xfrm>
            <a:off x="6208776" y="1691640"/>
            <a:ext cx="5477256" cy="3063240"/>
          </a:xfrm>
          <a:prstGeom prst="roundRect">
            <a:avLst>
              <a:gd name="adj" fmla="val 2388"/>
            </a:avLst>
          </a:prstGeom>
          <a:solidFill>
            <a:srgbClr val="F2F2F2"/>
          </a:solidFill>
          <a:ln/>
        </p:spPr>
      </p:sp>
      <p:sp>
        <p:nvSpPr>
          <p:cNvPr id="15" name="Text 12"/>
          <p:cNvSpPr txBox="1"/>
          <p:nvPr/>
        </p:nvSpPr>
        <p:spPr>
          <a:xfrm>
            <a:off x="6336792" y="1801368"/>
            <a:ext cx="5221224"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手術・麻酔因子</a:t>
            </a:r>
            <a:endParaRPr lang="ja-JP" sz="2400" dirty="0"/>
          </a:p>
        </p:txBody>
      </p:sp>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6336792" y="2249424"/>
          <a:ext cx="5221224" cy="914400"/>
        </p:xfrm>
        <a:graphic>
          <a:graphicData uri="http://schemas.openxmlformats.org/drawingml/2006/table">
            <a:tbl>
              <a:tblPr/>
              <a:tblGrid>
                <a:gridCol w="256032"/>
                <a:gridCol w="4965192"/>
              </a:tblGrid>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上腹部・胸腔内の切開</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長時間手術（2 時間超から）</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緊急手術</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51297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全身麻酔（区域麻酔より）</a:t>
                      </a:r>
                      <a:endParaRPr lang="en-US" sz="2200" dirty="0">
                        <a:latin typeface="メイリオ" charset="0"/>
                        <a:ea typeface="メイリオ" charset="0"/>
                        <a:cs typeface="メイリオ" charset="0"/>
                      </a:endParaRPr>
                    </a:p>
                  </a:txBody>
                  <a:tcPr marL="0" marR="0" marT="0" marB="177394" anchor="t">
                    <a:lnL w="0" cap="flat" cmpd="sng" algn="ctr">
                      <a:noFill/>
                    </a:lnL>
                    <a:lnR w="0" cap="flat" cmpd="sng" algn="ctr">
                      <a:noFill/>
                    </a:lnR>
                    <a:lnT w="0" cap="flat" cmpd="sng" algn="ctr">
                      <a:noFill/>
                    </a:lnT>
                    <a:lnB w="0" cap="flat" cmpd="sng" algn="ctr">
                      <a:noFill/>
                    </a:lnB>
                  </a:tcPr>
                </a:tc>
              </a:tr>
              <a:tr h="33558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残存筋弛緩（長時間作用型の薬）</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3"/>
          <p:cNvSpPr/>
          <p:nvPr/>
        </p:nvSpPr>
        <p:spPr>
          <a:xfrm>
            <a:off x="502920" y="5029200"/>
            <a:ext cx="11183112" cy="676656"/>
          </a:xfrm>
          <a:prstGeom prst="roundRect">
            <a:avLst>
              <a:gd name="adj" fmla="val 10811"/>
            </a:avLst>
          </a:prstGeom>
          <a:solidFill>
            <a:srgbClr val="FFFFFF"/>
          </a:solidFill>
          <a:ln w="31750">
            <a:solidFill>
              <a:srgbClr val="00A8AA"/>
            </a:solidFill>
            <a:prstDash val="solid"/>
          </a:ln>
        </p:spPr>
      </p:sp>
      <p:sp>
        <p:nvSpPr>
          <p:cNvPr id="18" name="Text 14"/>
          <p:cNvSpPr txBox="1"/>
          <p:nvPr/>
        </p:nvSpPr>
        <p:spPr>
          <a:xfrm>
            <a:off x="576072" y="5102352"/>
            <a:ext cx="11036808" cy="530352"/>
          </a:xfrm>
          <a:prstGeom prst="rect">
            <a:avLst/>
          </a:prstGeom>
          <a:noFill/>
          <a:ln/>
        </p:spPr>
        <p:txBody>
          <a:bodyPr wrap="square" lIns="0" tIns="0" rIns="0" bIns="0"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PPC が起きると 30 日死亡率は </a:t>
            </a:r>
            <a:r>
              <a:rPr lang="ja-JP" altLang="en-US" sz="2600" b="1" dirty="0">
                <a:solidFill>
                  <a:srgbClr val="C00000"/>
                </a:solidFill>
                <a:latin typeface="メイリオ" pitchFamily="34" charset="0"/>
                <a:ea typeface="メイリオ" pitchFamily="34" charset="-122"/>
                <a:cs typeface="メイリオ" pitchFamily="34" charset="-120"/>
              </a:rPr>
              <a:t>19.5%</a:t>
            </a:r>
            <a:r>
              <a:rPr lang="ja-JP" altLang="en-US" sz="2600" b="1" dirty="0">
                <a:solidFill>
                  <a:srgbClr val="262626"/>
                </a:solidFill>
                <a:latin typeface="メイリオ" pitchFamily="34" charset="0"/>
                <a:ea typeface="メイリオ" pitchFamily="34" charset="-122"/>
                <a:cs typeface="メイリオ" pitchFamily="34" charset="-120"/>
              </a:rPr>
              <a:t>（起きなければ 0.5%）</a:t>
            </a:r>
            <a:endParaRPr lang="ja-JP"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ARISCAT スコア</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Canet J, et al. Anesthesiology 2010;113:1338-1350（ARISCAT）</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Mazo V, et al. Anesthesiology 2014;121:219-231</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4434840"/>
                <a:gridCol w="4343400"/>
                <a:gridCol w="2377440"/>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因子</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区分</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点数</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年齢</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51〜80 歳 / 80 歳超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 / 16</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術前 SpO2（室内気・仰臥位）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91〜95% / 90% 以下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8 / 24</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 か月以内の呼吸器感染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あり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17</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術前貧血</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Hb 10 g/dL 以下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11</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切開部位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上腹部 / 胸腔内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15 / 24</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手術時間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2〜3 時間 / 3 時間超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16 / 23</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緊急手術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あり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8</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txBox="1"/>
          <p:nvPr/>
        </p:nvSpPr>
        <p:spPr>
          <a:xfrm>
            <a:off x="502920" y="5257800"/>
            <a:ext cx="1118311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PPC：低 26 点未満 </a:t>
            </a:r>
            <a:r>
              <a:rPr lang="ja-JP" altLang="en-US" sz="2200" b="1" dirty="0">
                <a:solidFill>
                  <a:srgbClr val="0072B2"/>
                </a:solidFill>
                <a:latin typeface="メイリオ" pitchFamily="34" charset="0"/>
                <a:ea typeface="メイリオ" pitchFamily="34" charset="-122"/>
                <a:cs typeface="メイリオ" pitchFamily="34" charset="-120"/>
              </a:rPr>
              <a:t>1.6%</a:t>
            </a:r>
            <a:r>
              <a:rPr lang="ja-JP" altLang="en-US" sz="2200" dirty="0">
                <a:solidFill>
                  <a:srgbClr val="262626"/>
                </a:solidFill>
                <a:latin typeface="メイリオ" pitchFamily="34" charset="0"/>
                <a:ea typeface="メイリオ" pitchFamily="34" charset="-122"/>
                <a:cs typeface="メイリオ" pitchFamily="34" charset="-120"/>
              </a:rPr>
              <a:t>、中 26〜44 点 </a:t>
            </a:r>
            <a:r>
              <a:rPr lang="ja-JP" altLang="en-US" sz="2200" b="1" dirty="0">
                <a:solidFill>
                  <a:srgbClr val="D55E00"/>
                </a:solidFill>
                <a:latin typeface="メイリオ" pitchFamily="34" charset="0"/>
                <a:ea typeface="メイリオ" pitchFamily="34" charset="-122"/>
                <a:cs typeface="メイリオ" pitchFamily="34" charset="-120"/>
              </a:rPr>
              <a:t>13.3%</a:t>
            </a:r>
            <a:r>
              <a:rPr lang="ja-JP" altLang="en-US" sz="2200" dirty="0">
                <a:solidFill>
                  <a:srgbClr val="262626"/>
                </a:solidFill>
                <a:latin typeface="メイリオ" pitchFamily="34" charset="0"/>
                <a:ea typeface="メイリオ" pitchFamily="34" charset="-122"/>
                <a:cs typeface="メイリオ" pitchFamily="34" charset="-120"/>
              </a:rPr>
              <a:t>、高 45 点以上 </a:t>
            </a:r>
            <a:r>
              <a:rPr lang="ja-JP" altLang="en-US" sz="2200" b="1" dirty="0">
                <a:solidFill>
                  <a:srgbClr val="C00000"/>
                </a:solidFill>
                <a:latin typeface="メイリオ" pitchFamily="34" charset="0"/>
                <a:ea typeface="メイリオ" pitchFamily="34" charset="-122"/>
                <a:cs typeface="メイリオ" pitchFamily="34" charset="-120"/>
              </a:rPr>
              <a:t>42.1%</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禁煙は遅すぎない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日本麻酔科学会「周術期禁煙プラクティカルガイド」（2021） / Wong J,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Can J Anaesth 2012;59:268-279 / Myers K, et al. Arch Intern Med 2011;171:983-989</a:t>
            </a:r>
            <a:endParaRPr lang="ja-JP" sz="1600" dirty="0"/>
          </a:p>
        </p:txBody>
      </p:sp>
      <p:sp>
        <p:nvSpPr>
          <p:cNvPr id="11" name="Text 9"/>
          <p:cNvSpPr txBox="1"/>
          <p:nvPr/>
        </p:nvSpPr>
        <p:spPr>
          <a:xfrm>
            <a:off x="502920" y="1691640"/>
            <a:ext cx="11155680" cy="2999232"/>
          </a:xfrm>
          <a:prstGeom prst="rect">
            <a:avLst/>
          </a:prstGeom>
          <a:noFill/>
          <a:ln/>
        </p:spPr>
        <p:txBody>
          <a:bodyPr wrap="square" lIns="0" tIns="0" rIns="0" bIns="0" rtlCol="0" anchor="t"/>
          <a:lstStyle/>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喫煙者は術後の肺炎、再挿管、心筋梗塞、死亡が多い</a:t>
            </a:r>
            <a:endParaRPr lang="ja-JP" sz="2400" dirty="0"/>
          </a:p>
          <a:p>
            <a:pPr algn="l" marL="355600" indent="-355600">
              <a:spcAft>
                <a:spcPts val="14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4 週以上</a:t>
            </a:r>
            <a:r>
              <a:rPr lang="ja-JP" altLang="en-US" sz="2400" dirty="0">
                <a:solidFill>
                  <a:srgbClr val="262626"/>
                </a:solidFill>
                <a:latin typeface="メイリオ" pitchFamily="34" charset="0"/>
                <a:ea typeface="メイリオ" pitchFamily="34" charset="-122"/>
                <a:cs typeface="メイリオ" pitchFamily="34" charset="-120"/>
              </a:rPr>
              <a:t>の禁煙で呼吸器合併症が減る（8 週以上でさらに）</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3〜4 週以上で創の合併症も減る</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直前の禁煙でも合併症は増えない（『痰が増えて危ない』は誤り）</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加熱式たばこもニコチンを含む。周術期は中止の対象</a:t>
            </a:r>
            <a:endParaRPr lang="ja-JP" sz="2400" dirty="0"/>
          </a:p>
        </p:txBody>
      </p:sp>
      <p:sp>
        <p:nvSpPr>
          <p:cNvPr id="12" name="Shape 10"/>
          <p:cNvSpPr/>
          <p:nvPr/>
        </p:nvSpPr>
        <p:spPr>
          <a:xfrm>
            <a:off x="502920" y="4937760"/>
            <a:ext cx="11183112" cy="731520"/>
          </a:xfrm>
          <a:prstGeom prst="roundRect">
            <a:avLst>
              <a:gd name="adj" fmla="val 10000"/>
            </a:avLst>
          </a:prstGeom>
          <a:solidFill>
            <a:srgbClr val="FFFFFF"/>
          </a:solidFill>
          <a:ln w="31750">
            <a:solidFill>
              <a:srgbClr val="00A8AA"/>
            </a:solidFill>
            <a:prstDash val="solid"/>
          </a:ln>
        </p:spPr>
      </p:sp>
      <p:sp>
        <p:nvSpPr>
          <p:cNvPr id="13" name="Text 11"/>
          <p:cNvSpPr txBox="1"/>
          <p:nvPr/>
        </p:nvSpPr>
        <p:spPr>
          <a:xfrm>
            <a:off x="576072" y="5010912"/>
            <a:ext cx="11036808" cy="585216"/>
          </a:xfrm>
          <a:prstGeom prst="rect">
            <a:avLst/>
          </a:prstGeom>
          <a:noFill/>
          <a:ln/>
        </p:spPr>
        <p:txBody>
          <a:bodyPr wrap="square" lIns="0" tIns="0" rIns="0" bIns="0"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JSA：禁煙はいつ始めても意義がある。できれば </a:t>
            </a:r>
            <a:r>
              <a:rPr lang="ja-JP" altLang="en-US" sz="2800" b="1" dirty="0">
                <a:solidFill>
                  <a:srgbClr val="D55E00"/>
                </a:solidFill>
                <a:latin typeface="メイリオ" pitchFamily="34" charset="0"/>
                <a:ea typeface="メイリオ" pitchFamily="34" charset="-122"/>
                <a:cs typeface="メイリオ" pitchFamily="34" charset="-120"/>
              </a:rPr>
              <a:t>4 週以上</a:t>
            </a:r>
            <a:endParaRPr lang="ja-JP"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COPD と喘息</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GINA 2024 / Silvanus MT, et al. Anesthesiology 2004;100:1052-1057</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Numata T, et al. BMC Pulm Med 2018;18:4 / Taniguchi M, et al. Front Allergy 2023;4:1145809</a:t>
            </a:r>
            <a:endParaRPr lang="ja-JP" sz="1600" dirty="0"/>
          </a:p>
        </p:txBody>
      </p:sp>
      <p:sp>
        <p:nvSpPr>
          <p:cNvPr id="11" name="Shape 9"/>
          <p:cNvSpPr/>
          <p:nvPr/>
        </p:nvSpPr>
        <p:spPr>
          <a:xfrm>
            <a:off x="502920" y="1691640"/>
            <a:ext cx="5522976" cy="4215384"/>
          </a:xfrm>
          <a:prstGeom prst="roundRect">
            <a:avLst>
              <a:gd name="adj" fmla="val 1735"/>
            </a:avLst>
          </a:prstGeom>
          <a:solidFill>
            <a:srgbClr val="F2F2F2"/>
          </a:solidFill>
          <a:ln/>
        </p:spPr>
      </p:sp>
      <p:sp>
        <p:nvSpPr>
          <p:cNvPr id="12" name="Text 10"/>
          <p:cNvSpPr txBox="1"/>
          <p:nvPr/>
        </p:nvSpPr>
        <p:spPr>
          <a:xfrm>
            <a:off x="630936" y="1783080"/>
            <a:ext cx="5266944"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COPD</a:t>
            </a:r>
            <a:endParaRPr lang="ja-JP"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 y="2231136"/>
          <a:ext cx="5266944" cy="914400"/>
        </p:xfrm>
        <a:graphic>
          <a:graphicData uri="http://schemas.openxmlformats.org/drawingml/2006/table">
            <a:tbl>
              <a:tblPr/>
              <a:tblGrid>
                <a:gridCol w="256032"/>
                <a:gridCol w="5010912"/>
              </a:tblGrid>
              <a:tr h="82296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吸入薬は当日も続ける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（持参させる）</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r>
              <a:tr h="48829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増悪中は延期。症状が元に戻るまで</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r>
              <a:tr h="82296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未治療の COPD 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術前に治療を始める</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r>
              <a:tr h="48829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肺機能検査はルーチンには不要</a:t>
                      </a:r>
                      <a:endParaRPr lang="en-US" sz="2200" dirty="0">
                        <a:latin typeface="メイリオ" charset="0"/>
                        <a:ea typeface="メイリオ" charset="0"/>
                        <a:cs typeface="メイリオ" charset="0"/>
                      </a:endParaRPr>
                    </a:p>
                  </a:txBody>
                  <a:tcPr marL="0" marR="0" marT="0" marB="152705" anchor="t">
                    <a:lnL w="0" cap="flat" cmpd="sng" algn="ctr">
                      <a:noFill/>
                    </a:lnL>
                    <a:lnR w="0" cap="flat" cmpd="sng" algn="ctr">
                      <a:noFill/>
                    </a:lnR>
                    <a:lnT w="0" cap="flat" cmpd="sng" algn="ctr">
                      <a:noFill/>
                    </a:lnT>
                    <a:lnB w="0" cap="flat" cmpd="sng" algn="ctr">
                      <a:noFill/>
                    </a:lnB>
                  </a:tcPr>
                </a:tc>
              </a:tr>
              <a:tr h="33558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上腹部・長時間手術でリスクが高い</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1"/>
          <p:cNvSpPr/>
          <p:nvPr/>
        </p:nvSpPr>
        <p:spPr>
          <a:xfrm>
            <a:off x="6254496" y="1691640"/>
            <a:ext cx="5431536" cy="4215384"/>
          </a:xfrm>
          <a:prstGeom prst="roundRect">
            <a:avLst>
              <a:gd name="adj" fmla="val 1735"/>
            </a:avLst>
          </a:prstGeom>
          <a:solidFill>
            <a:srgbClr val="F2F2F2"/>
          </a:solidFill>
          <a:ln/>
        </p:spPr>
      </p:sp>
      <p:sp>
        <p:nvSpPr>
          <p:cNvPr id="15" name="Text 12"/>
          <p:cNvSpPr txBox="1"/>
          <p:nvPr/>
        </p:nvSpPr>
        <p:spPr>
          <a:xfrm>
            <a:off x="6382512" y="1783080"/>
            <a:ext cx="5175504"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喘息</a:t>
            </a:r>
            <a:endParaRPr lang="ja-JP" sz="2400" dirty="0"/>
          </a:p>
        </p:txBody>
      </p:sp>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6382512" y="2231136"/>
          <a:ext cx="5175504" cy="914400"/>
        </p:xfrm>
        <a:graphic>
          <a:graphicData uri="http://schemas.openxmlformats.org/drawingml/2006/table">
            <a:tbl>
              <a:tblPr/>
              <a:tblGrid>
                <a:gridCol w="256032"/>
                <a:gridCol w="4919472"/>
              </a:tblGrid>
              <a:tr h="72146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コントロール良好な時期に手術。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ICS は続ける</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386791">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不良なら延期して呼吸器内科へ</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72146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延期できなければ術前 5 日の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全身ステロイド＋β2 刺激薬</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105704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b="1" dirty="0">
                          <a:solidFill>
                            <a:srgbClr val="C00000"/>
                          </a:solidFill>
                          <a:latin typeface="メイリオ" pitchFamily="34" charset="0"/>
                          <a:ea typeface="メイリオ" pitchFamily="34" charset="-122"/>
                          <a:cs typeface="メイリオ" pitchFamily="34" charset="-120"/>
                        </a:rPr>
                        <a:t>NSAIDs 過敏喘息：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NSAIDs とコハク酸エステル型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ステロイドの急速静注を避ける</a:t>
                      </a:r>
                      <a:endParaRPr lang="en-US" sz="2200" dirty="0">
                        <a:latin typeface="メイリオ" charset="0"/>
                        <a:ea typeface="メイリオ" charset="0"/>
                        <a:cs typeface="メイリオ" charset="0"/>
                      </a:endParaRPr>
                    </a:p>
                  </a:txBody>
                  <a:tcPr marL="0" marR="0" marT="0" marB="51206"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できれば挿管を避ける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（区域麻酔、声門上器具）</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OSA と STOP-Bang</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Chung F, et al. Br J Anaesth 2012;108:768-775 / Chung F, et al. Anesth Analg</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2016;123:452-473 / ASA Practice Guidelines for OSA. Anesthesiology 2014;120:268-286</a:t>
            </a:r>
            <a:endParaRPr lang="ja-JP" sz="1600" dirty="0"/>
          </a:p>
        </p:txBody>
      </p:sp>
      <p:sp>
        <p:nvSpPr>
          <p:cNvPr id="11" name="Shape 9"/>
          <p:cNvSpPr/>
          <p:nvPr/>
        </p:nvSpPr>
        <p:spPr>
          <a:xfrm>
            <a:off x="502920" y="1691640"/>
            <a:ext cx="5184648" cy="4215384"/>
          </a:xfrm>
          <a:prstGeom prst="roundRect">
            <a:avLst>
              <a:gd name="adj" fmla="val 1735"/>
            </a:avLst>
          </a:prstGeom>
          <a:solidFill>
            <a:srgbClr val="F2F2F2"/>
          </a:solidFill>
          <a:ln/>
        </p:spPr>
      </p:sp>
      <p:sp>
        <p:nvSpPr>
          <p:cNvPr id="12" name="Text 10"/>
          <p:cNvSpPr txBox="1"/>
          <p:nvPr/>
        </p:nvSpPr>
        <p:spPr>
          <a:xfrm>
            <a:off x="667512" y="1822399"/>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S</a:t>
            </a:r>
            <a:endParaRPr lang="ja-JP" sz="2400" dirty="0"/>
          </a:p>
        </p:txBody>
      </p:sp>
      <p:sp>
        <p:nvSpPr>
          <p:cNvPr id="13" name="Text 11"/>
          <p:cNvSpPr txBox="1"/>
          <p:nvPr/>
        </p:nvSpPr>
        <p:spPr>
          <a:xfrm>
            <a:off x="1143000" y="1822399"/>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いびき（ドア越しに聞こえる）</a:t>
            </a:r>
            <a:endParaRPr lang="ja-JP" sz="2200" dirty="0"/>
          </a:p>
        </p:txBody>
      </p:sp>
      <p:sp>
        <p:nvSpPr>
          <p:cNvPr id="14" name="Text 12"/>
          <p:cNvSpPr txBox="1"/>
          <p:nvPr/>
        </p:nvSpPr>
        <p:spPr>
          <a:xfrm>
            <a:off x="667512" y="2321662"/>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T</a:t>
            </a:r>
            <a:endParaRPr lang="ja-JP" sz="2400" dirty="0"/>
          </a:p>
        </p:txBody>
      </p:sp>
      <p:sp>
        <p:nvSpPr>
          <p:cNvPr id="15" name="Text 13"/>
          <p:cNvSpPr txBox="1"/>
          <p:nvPr/>
        </p:nvSpPr>
        <p:spPr>
          <a:xfrm>
            <a:off x="1143000" y="2321662"/>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日中の眠気・疲労</a:t>
            </a:r>
            <a:endParaRPr lang="ja-JP" sz="2200" dirty="0"/>
          </a:p>
        </p:txBody>
      </p:sp>
      <p:sp>
        <p:nvSpPr>
          <p:cNvPr id="16" name="Text 14"/>
          <p:cNvSpPr txBox="1"/>
          <p:nvPr/>
        </p:nvSpPr>
        <p:spPr>
          <a:xfrm>
            <a:off x="667512" y="2821838"/>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O</a:t>
            </a:r>
            <a:endParaRPr lang="ja-JP" sz="2400" dirty="0"/>
          </a:p>
        </p:txBody>
      </p:sp>
      <p:sp>
        <p:nvSpPr>
          <p:cNvPr id="17" name="Text 15"/>
          <p:cNvSpPr txBox="1"/>
          <p:nvPr/>
        </p:nvSpPr>
        <p:spPr>
          <a:xfrm>
            <a:off x="1143000" y="2821838"/>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無呼吸を指摘された</a:t>
            </a:r>
            <a:endParaRPr lang="ja-JP" sz="2200" dirty="0"/>
          </a:p>
        </p:txBody>
      </p:sp>
      <p:sp>
        <p:nvSpPr>
          <p:cNvPr id="18" name="Text 16"/>
          <p:cNvSpPr txBox="1"/>
          <p:nvPr/>
        </p:nvSpPr>
        <p:spPr>
          <a:xfrm>
            <a:off x="667512" y="3321101"/>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P</a:t>
            </a:r>
            <a:endParaRPr lang="ja-JP" sz="2400" dirty="0"/>
          </a:p>
        </p:txBody>
      </p:sp>
      <p:sp>
        <p:nvSpPr>
          <p:cNvPr id="19" name="Text 17"/>
          <p:cNvSpPr txBox="1"/>
          <p:nvPr/>
        </p:nvSpPr>
        <p:spPr>
          <a:xfrm>
            <a:off x="1143000" y="3321101"/>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高血圧</a:t>
            </a:r>
            <a:endParaRPr lang="ja-JP" sz="2200" dirty="0"/>
          </a:p>
        </p:txBody>
      </p:sp>
      <p:sp>
        <p:nvSpPr>
          <p:cNvPr id="20" name="Text 18"/>
          <p:cNvSpPr txBox="1"/>
          <p:nvPr/>
        </p:nvSpPr>
        <p:spPr>
          <a:xfrm>
            <a:off x="667512" y="3820363"/>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B</a:t>
            </a:r>
            <a:endParaRPr lang="ja-JP" sz="2400" dirty="0"/>
          </a:p>
        </p:txBody>
      </p:sp>
      <p:sp>
        <p:nvSpPr>
          <p:cNvPr id="21" name="Text 19"/>
          <p:cNvSpPr txBox="1"/>
          <p:nvPr/>
        </p:nvSpPr>
        <p:spPr>
          <a:xfrm>
            <a:off x="1143000" y="3820363"/>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BMI 35 超</a:t>
            </a:r>
            <a:endParaRPr lang="ja-JP" sz="2200" dirty="0"/>
          </a:p>
        </p:txBody>
      </p:sp>
      <p:sp>
        <p:nvSpPr>
          <p:cNvPr id="22" name="Text 20"/>
          <p:cNvSpPr txBox="1"/>
          <p:nvPr/>
        </p:nvSpPr>
        <p:spPr>
          <a:xfrm>
            <a:off x="667512" y="4319626"/>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A</a:t>
            </a:r>
            <a:endParaRPr lang="ja-JP" sz="2400" dirty="0"/>
          </a:p>
        </p:txBody>
      </p:sp>
      <p:sp>
        <p:nvSpPr>
          <p:cNvPr id="23" name="Text 21"/>
          <p:cNvSpPr txBox="1"/>
          <p:nvPr/>
        </p:nvSpPr>
        <p:spPr>
          <a:xfrm>
            <a:off x="1143000" y="4319626"/>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50 歳超</a:t>
            </a:r>
            <a:endParaRPr lang="ja-JP" sz="2200" dirty="0"/>
          </a:p>
        </p:txBody>
      </p:sp>
      <p:sp>
        <p:nvSpPr>
          <p:cNvPr id="24" name="Text 22"/>
          <p:cNvSpPr txBox="1"/>
          <p:nvPr/>
        </p:nvSpPr>
        <p:spPr>
          <a:xfrm>
            <a:off x="667512" y="4819802"/>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N</a:t>
            </a:r>
            <a:endParaRPr lang="ja-JP" sz="2400" dirty="0"/>
          </a:p>
        </p:txBody>
      </p:sp>
      <p:sp>
        <p:nvSpPr>
          <p:cNvPr id="25" name="Text 23"/>
          <p:cNvSpPr txBox="1"/>
          <p:nvPr/>
        </p:nvSpPr>
        <p:spPr>
          <a:xfrm>
            <a:off x="1143000" y="4819802"/>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首回り 40 cm 超</a:t>
            </a:r>
            <a:endParaRPr lang="ja-JP" sz="2200" dirty="0"/>
          </a:p>
        </p:txBody>
      </p:sp>
      <p:sp>
        <p:nvSpPr>
          <p:cNvPr id="26" name="Text 24"/>
          <p:cNvSpPr txBox="1"/>
          <p:nvPr/>
        </p:nvSpPr>
        <p:spPr>
          <a:xfrm>
            <a:off x="667512" y="5319065"/>
            <a:ext cx="384048" cy="457200"/>
          </a:xfrm>
          <a:prstGeom prst="rect">
            <a:avLst/>
          </a:prstGeom>
          <a:noFill/>
          <a:ln/>
        </p:spPr>
        <p:txBody>
          <a:bodyPr wrap="square" lIns="0" tIns="0" rIns="0" bIns="0" rtlCol="0" anchor="ct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G</a:t>
            </a:r>
            <a:endParaRPr lang="ja-JP" sz="2400" dirty="0"/>
          </a:p>
        </p:txBody>
      </p:sp>
      <p:sp>
        <p:nvSpPr>
          <p:cNvPr id="27" name="Text 25"/>
          <p:cNvSpPr txBox="1"/>
          <p:nvPr/>
        </p:nvSpPr>
        <p:spPr>
          <a:xfrm>
            <a:off x="1143000" y="5319065"/>
            <a:ext cx="4398264" cy="45720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男性</a:t>
            </a:r>
            <a:endParaRPr lang="ja-JP"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80176" y="1947672"/>
          <a:ext cx="5705856" cy="914400"/>
        </p:xfrm>
        <a:graphic>
          <a:graphicData uri="http://schemas.openxmlformats.org/drawingml/2006/table">
            <a:tbl>
              <a:tblPr/>
              <a:tblGrid>
                <a:gridCol w="256032"/>
                <a:gridCol w="5449824"/>
              </a:tblGrid>
              <a:tr h="8988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2860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b="1" dirty="0">
                          <a:solidFill>
                            <a:srgbClr val="0072B2"/>
                          </a:solidFill>
                          <a:latin typeface="メイリオ" pitchFamily="34" charset="0"/>
                          <a:ea typeface="メイリオ" pitchFamily="34" charset="-122"/>
                          <a:cs typeface="メイリオ" pitchFamily="34" charset="-120"/>
                        </a:rPr>
                        <a:t>3 点以上</a:t>
                      </a:r>
                      <a:r>
                        <a:rPr lang="ja-JP" altLang="en-US" sz="2200" dirty="0">
                          <a:solidFill>
                            <a:srgbClr val="262626"/>
                          </a:solidFill>
                          <a:latin typeface="メイリオ" pitchFamily="34" charset="0"/>
                          <a:ea typeface="メイリオ" pitchFamily="34" charset="-122"/>
                          <a:cs typeface="メイリオ" pitchFamily="34" charset="-120"/>
                        </a:rPr>
                        <a:t>で OSA の可能性、</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5 点以上で高リスク</a:t>
                      </a:r>
                      <a:endParaRPr lang="en-US" sz="2200" dirty="0">
                        <a:latin typeface="メイリオ" charset="0"/>
                        <a:ea typeface="メイリオ" charset="0"/>
                        <a:cs typeface="メイリオ" charset="0"/>
                      </a:endParaRPr>
                    </a:p>
                  </a:txBody>
                  <a:tcPr marL="0" marR="0" marT="0" marB="228600" anchor="t">
                    <a:lnL w="0" cap="flat" cmpd="sng" algn="ctr">
                      <a:noFill/>
                    </a:lnL>
                    <a:lnR w="0" cap="flat" cmpd="sng" algn="ctr">
                      <a:noFill/>
                    </a:lnR>
                    <a:lnT w="0" cap="flat" cmpd="sng" algn="ctr">
                      <a:noFill/>
                    </a:lnT>
                    <a:lnB w="0" cap="flat" cmpd="sng" algn="ctr">
                      <a:noFill/>
                    </a:lnB>
                  </a:tcPr>
                </a:tc>
              </a:tr>
              <a:tr h="8988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2860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OSA で呼吸不全（オッズ比 2.4）、</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ICU 転床（2.8）</a:t>
                      </a:r>
                      <a:endParaRPr lang="en-US" sz="2200" dirty="0">
                        <a:latin typeface="メイリオ" charset="0"/>
                        <a:ea typeface="メイリオ" charset="0"/>
                        <a:cs typeface="メイリオ" charset="0"/>
                      </a:endParaRPr>
                    </a:p>
                  </a:txBody>
                  <a:tcPr marL="0" marR="0" marT="0" marB="228600" anchor="t">
                    <a:lnL w="0" cap="flat" cmpd="sng" algn="ctr">
                      <a:noFill/>
                    </a:lnL>
                    <a:lnR w="0" cap="flat" cmpd="sng" algn="ctr">
                      <a:noFill/>
                    </a:lnR>
                    <a:lnT w="0" cap="flat" cmpd="sng" algn="ctr">
                      <a:noFill/>
                    </a:lnT>
                    <a:lnB w="0" cap="flat" cmpd="sng" algn="ctr">
                      <a:noFill/>
                    </a:lnB>
                  </a:tcPr>
                </a:tc>
              </a:tr>
              <a:tr h="123444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22860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疑いだけでは延期しない。</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低換気・重症肺高血圧・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原因不明の安静時低酸素なら追加評価</a:t>
                      </a:r>
                      <a:endParaRPr lang="en-US" sz="2200" dirty="0">
                        <a:latin typeface="メイリオ" charset="0"/>
                        <a:ea typeface="メイリオ" charset="0"/>
                        <a:cs typeface="メイリオ" charset="0"/>
                      </a:endParaRPr>
                    </a:p>
                  </a:txBody>
                  <a:tcPr marL="0" marR="0" marT="0" marB="228600"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CPAP は持参。</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困難気道として備え、区域麻酔を優先</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小児の上気道炎</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von Ungern-Sternberg BS, et al. Lancet 2010;376:773-783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Tait AR, et al. Anesthesiology 2001;95:299-306</a:t>
            </a:r>
            <a:endParaRPr lang="ja-JP" sz="1600" dirty="0"/>
          </a:p>
        </p:txBody>
      </p:sp>
      <p:sp>
        <p:nvSpPr>
          <p:cNvPr id="11" name="Shape 9"/>
          <p:cNvSpPr/>
          <p:nvPr/>
        </p:nvSpPr>
        <p:spPr>
          <a:xfrm>
            <a:off x="502920" y="1691640"/>
            <a:ext cx="5422392" cy="3182112"/>
          </a:xfrm>
          <a:prstGeom prst="roundRect">
            <a:avLst>
              <a:gd name="adj" fmla="val 2299"/>
            </a:avLst>
          </a:prstGeom>
          <a:solidFill>
            <a:srgbClr val="F2F2F2"/>
          </a:solidFill>
          <a:ln/>
        </p:spPr>
      </p:sp>
      <p:sp>
        <p:nvSpPr>
          <p:cNvPr id="12" name="Text 10"/>
          <p:cNvSpPr txBox="1"/>
          <p:nvPr/>
        </p:nvSpPr>
        <p:spPr>
          <a:xfrm>
            <a:off x="630936" y="1764792"/>
            <a:ext cx="5166360" cy="41148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延期を考える</a:t>
            </a:r>
            <a:endParaRPr lang="ja-JP"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 y="2212848"/>
          <a:ext cx="5166360" cy="914400"/>
        </p:xfrm>
        <a:graphic>
          <a:graphicData uri="http://schemas.openxmlformats.org/drawingml/2006/table">
            <a:tbl>
              <a:tblPr/>
              <a:tblGrid>
                <a:gridCol w="256032"/>
                <a:gridCol w="4910328"/>
              </a:tblGrid>
              <a:tr h="437083">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38℃ 超の発熱、ぐったりしている</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r>
              <a:tr h="437083">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膿性鼻汁、湿性咳嗽</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r>
              <a:tr h="437083">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喘鳴・ラ音（下気道の所見）</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r>
              <a:tr h="771754">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上気道炎が今ある、または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 週以内ならリスク約 2 倍</a:t>
                      </a:r>
                      <a:endParaRPr lang="en-US" sz="2200" dirty="0">
                        <a:latin typeface="メイリオ" charset="0"/>
                        <a:ea typeface="メイリオ" charset="0"/>
                        <a:cs typeface="メイリオ" charset="0"/>
                      </a:endParaRPr>
                    </a:p>
                  </a:txBody>
                  <a:tcPr marL="0" marR="0" marT="0" marB="101498" anchor="t">
                    <a:lnL w="0" cap="flat" cmpd="sng" algn="ctr">
                      <a:noFill/>
                    </a:lnL>
                    <a:lnR w="0" cap="flat" cmpd="sng" algn="ctr">
                      <a:noFill/>
                    </a:lnR>
                    <a:lnT w="0" cap="flat" cmpd="sng" algn="ctr">
                      <a:noFill/>
                    </a:lnT>
                    <a:lnB w="0" cap="flat" cmpd="sng" algn="ctr">
                      <a:noFill/>
                    </a:lnB>
                  </a:tcPr>
                </a:tc>
              </a:tr>
              <a:tr h="33558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気管挿管が要る、気道の手術</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4" name="Shape 11"/>
          <p:cNvSpPr/>
          <p:nvPr/>
        </p:nvSpPr>
        <p:spPr>
          <a:xfrm>
            <a:off x="6153912" y="1691640"/>
            <a:ext cx="5532120" cy="3182112"/>
          </a:xfrm>
          <a:prstGeom prst="roundRect">
            <a:avLst>
              <a:gd name="adj" fmla="val 2299"/>
            </a:avLst>
          </a:prstGeom>
          <a:solidFill>
            <a:srgbClr val="F2F2F2"/>
          </a:solidFill>
          <a:ln/>
        </p:spPr>
      </p:sp>
      <p:sp>
        <p:nvSpPr>
          <p:cNvPr id="15" name="Text 12"/>
          <p:cNvSpPr txBox="1"/>
          <p:nvPr/>
        </p:nvSpPr>
        <p:spPr>
          <a:xfrm>
            <a:off x="6281928" y="1764792"/>
            <a:ext cx="5276088" cy="41148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進める・工夫する</a:t>
            </a:r>
            <a:endParaRPr lang="ja-JP" sz="2400" dirty="0"/>
          </a:p>
        </p:txBody>
      </p:sp>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6281928" y="2212848"/>
          <a:ext cx="5276088" cy="914400"/>
        </p:xfrm>
        <a:graphic>
          <a:graphicData uri="http://schemas.openxmlformats.org/drawingml/2006/table">
            <a:tbl>
              <a:tblPr/>
              <a:tblGrid>
                <a:gridCol w="256032"/>
                <a:gridCol w="5020056"/>
              </a:tblGrid>
              <a:tr h="39319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透明な鼻汁だけなら多くは可</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r>
              <a:tr h="72786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上気道炎から 2〜4 週たてば</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リスクは下がる</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r>
              <a:tr h="39319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フェイスマスクか声門上器具で</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r>
              <a:tr h="39319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プロポフォールで静脈導入</a:t>
                      </a:r>
                      <a:endParaRPr lang="en-US" sz="2200" dirty="0">
                        <a:latin typeface="メイリオ" charset="0"/>
                        <a:ea typeface="メイリオ" charset="0"/>
                        <a:cs typeface="メイリオ" charset="0"/>
                      </a:endParaRPr>
                    </a:p>
                  </a:txBody>
                  <a:tcPr marL="0" marR="0" marT="0" marB="57607" anchor="t">
                    <a:lnL w="0" cap="flat" cmpd="sng" algn="ctr">
                      <a:noFill/>
                    </a:lnL>
                    <a:lnR w="0" cap="flat" cmpd="sng" algn="ctr">
                      <a:noFill/>
                    </a:lnR>
                    <a:lnT w="0" cap="flat" cmpd="sng" algn="ctr">
                      <a:noFill/>
                    </a:lnT>
                    <a:lnB w="0" cap="flat" cmpd="sng" algn="ctr">
                      <a:noFill/>
                    </a:lnB>
                  </a:tcPr>
                </a:tc>
              </a:tr>
              <a:tr h="670255">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術前にサルブタモール吸入を考える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（導入 10〜30 分前）</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
        <p:nvSpPr>
          <p:cNvPr id="17" name="Shape 13"/>
          <p:cNvSpPr/>
          <p:nvPr/>
        </p:nvSpPr>
        <p:spPr>
          <a:xfrm>
            <a:off x="502920" y="5093208"/>
            <a:ext cx="11183112" cy="813816"/>
          </a:xfrm>
          <a:prstGeom prst="roundRect">
            <a:avLst>
              <a:gd name="adj" fmla="val 8989"/>
            </a:avLst>
          </a:prstGeom>
          <a:solidFill>
            <a:srgbClr val="FFFFFF"/>
          </a:solidFill>
          <a:ln w="31750">
            <a:solidFill>
              <a:srgbClr val="00A8AA"/>
            </a:solidFill>
            <a:prstDash val="solid"/>
          </a:ln>
        </p:spPr>
      </p:sp>
      <p:graphicFrame>
        <p:nvGraphicFramePr>
          <p:cNvPr id="18" name="Table 2"/>
          <p:cNvGraphicFramePr>
            <a:graphicFrameLocks noGrp="1"/>
          </p:cNvGraphicFramePr>
          <p:nvPr>
            <p:extLst>
              <p:ext uri="{D42A27DB-BD31-4B8C-83A1-F6EECF244321}">
                <p14:modId xmlns:p14="http://schemas.microsoft.com/office/powerpoint/2010/main" val="1579011935"/>
              </p:ext>
            </p:extLst>
          </p:nvPr>
        </p:nvGraphicFramePr>
        <p:xfrm>
          <a:off x="566928" y="5164531"/>
          <a:ext cx="11055096" cy="914400"/>
        </p:xfrm>
        <a:graphic>
          <a:graphicData uri="http://schemas.openxmlformats.org/drawingml/2006/table">
            <a:tbl>
              <a:tblPr/>
              <a:tblGrid>
                <a:gridCol w="11055096"/>
              </a:tblGrid>
              <a:tr h="335585">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喉頭痙攣・気管支攣縮・低酸素に備える。</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r h="335585">
                <a:tc>
                  <a:txBody>
                    <a:bodyPr/>
                    <a:lstStyle/>
                    <a:p>
                      <a:pPr algn="ctr" indent="0" marL="0">
                        <a:lnSpc>
                          <a:spcPts val="2640"/>
                        </a:lnSpc>
                        <a:buNone/>
                      </a:pPr>
                      <a:r>
                        <a:rPr lang="ja-JP" altLang="en-US" sz="2200" b="1" dirty="0">
                          <a:solidFill>
                            <a:srgbClr val="C00000"/>
                          </a:solidFill>
                          <a:latin typeface="メイリオ" pitchFamily="34" charset="0"/>
                          <a:ea typeface="メイリオ" pitchFamily="34" charset="-122"/>
                          <a:cs typeface="メイリオ" pitchFamily="34" charset="-120"/>
                        </a:rPr>
                        <a:t>迷えば延期し</a:t>
                      </a:r>
                      <a:r>
                        <a:rPr lang="ja-JP" altLang="en-US" sz="2200" b="1" dirty="0">
                          <a:solidFill>
                            <a:srgbClr val="262626"/>
                          </a:solidFill>
                          <a:latin typeface="メイリオ" pitchFamily="34" charset="0"/>
                          <a:ea typeface="メイリオ" pitchFamily="34" charset="-122"/>
                          <a:cs typeface="メイリオ" pitchFamily="34" charset="-120"/>
                        </a:rPr>
                        <a:t>、保護者と主治医に共有</a:t>
                      </a:r>
                      <a:endParaRPr lang="en-US" sz="2200" dirty="0">
                        <a:latin typeface="メイリオ" charset="0"/>
                        <a:ea typeface="メイリオ" charset="0"/>
                        <a:cs typeface="メイリオ" charset="0"/>
                      </a:endParaRPr>
                    </a:p>
                  </a:txBody>
                  <a:tcPr marL="0" marR="0" marT="0" marB="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肺機能検査と相談先</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Qaseem A, et al. Ann Intern Med 2006;144:575-580（ACP） / Mizota T,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JA Clin Rep 2024;10:44 / Brunelli A, et al. Chest 2013;143(5 Suppl):e166S-e190S</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3282696"/>
                <a:gridCol w="4901184"/>
                <a:gridCol w="2971800"/>
              </a:tblGrid>
              <a:tr h="36576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状況</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どうする</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相談先</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03327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心臓・胸部以外の手術</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肺機能検査・胸部 X 線の値だけで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可否を決めない（ACP）</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原因不明の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呼吸困難なら</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呼吸器内科</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0408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肺切除</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FEV1・DLCO の予測術後値が</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60% 超なら低リスク</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呼吸器外科・</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呼吸器内科</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0408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コントロール不良の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喘息、COPD 増悪</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延期して治療。</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症状が元に戻るまで</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呼吸器内科</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33272">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OSA に低換気・</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重症肺高血圧・</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安静時低酸素</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術前に追加評価（必要なら延期）</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呼吸器・睡眠の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専門医</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6576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成人の呼吸器感染後</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約 6 週の延期を勧める総説がある</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主科と相談</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リスク</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禁煙</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COPD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喘息</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OSA・</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小児</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日本麻酔科学会「周術期禁煙プラクティカルガイド」（2021） / Chung F, et al. Anesth Analg</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2016;123:452-473（SASM 2016） / von Ungern-Sternberg BS, et al. Lancet 2010;376:773-783</a:t>
            </a:r>
            <a:endParaRPr lang="ja-JP" sz="1600" dirty="0"/>
          </a:p>
        </p:txBody>
      </p:sp>
      <p:sp>
        <p:nvSpPr>
          <p:cNvPr id="11" name="Text 9"/>
          <p:cNvSpPr txBox="1"/>
          <p:nvPr/>
        </p:nvSpPr>
        <p:spPr>
          <a:xfrm>
            <a:off x="502920" y="1691640"/>
            <a:ext cx="11155680" cy="4197096"/>
          </a:xfrm>
          <a:prstGeom prst="rect">
            <a:avLst/>
          </a:prstGeom>
          <a:noFill/>
          <a:ln/>
        </p:spPr>
        <p:txBody>
          <a:bodyPr wrap="square" lIns="0" tIns="0" rIns="0" bIns="0" rtlCol="0" anchor="ctr"/>
          <a:lstStyle/>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PPC 5%、起きると 30 日死亡 </a:t>
            </a:r>
            <a:r>
              <a:rPr lang="ja-JP" altLang="en-US" sz="2400" b="1" dirty="0">
                <a:solidFill>
                  <a:srgbClr val="C00000"/>
                </a:solidFill>
                <a:latin typeface="メイリオ" pitchFamily="34" charset="0"/>
                <a:ea typeface="メイリオ" pitchFamily="34" charset="-122"/>
                <a:cs typeface="メイリオ" pitchFamily="34" charset="-120"/>
              </a:rPr>
              <a:t>19.5%</a:t>
            </a:r>
            <a:r>
              <a:rPr lang="ja-JP" altLang="en-US" sz="2400" dirty="0">
                <a:solidFill>
                  <a:srgbClr val="262626"/>
                </a:solidFill>
                <a:latin typeface="メイリオ" pitchFamily="34" charset="0"/>
                <a:ea typeface="メイリオ" pitchFamily="34" charset="-122"/>
                <a:cs typeface="メイリオ" pitchFamily="34" charset="-120"/>
              </a:rPr>
              <a:t>（なし 0.5%）。ARISCAT で評価</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禁煙は</a:t>
            </a:r>
            <a:r>
              <a:rPr lang="ja-JP" altLang="en-US" sz="2400" b="1" dirty="0">
                <a:solidFill>
                  <a:srgbClr val="D55E00"/>
                </a:solidFill>
                <a:latin typeface="メイリオ" pitchFamily="34" charset="0"/>
                <a:ea typeface="メイリオ" pitchFamily="34" charset="-122"/>
                <a:cs typeface="メイリオ" pitchFamily="34" charset="-120"/>
              </a:rPr>
              <a:t>いつでも遅くない</a:t>
            </a:r>
            <a:r>
              <a:rPr lang="ja-JP" altLang="en-US" sz="2400" dirty="0">
                <a:solidFill>
                  <a:srgbClr val="262626"/>
                </a:solidFill>
                <a:latin typeface="メイリオ" pitchFamily="34" charset="0"/>
                <a:ea typeface="メイリオ" pitchFamily="34" charset="-122"/>
                <a:cs typeface="メイリオ" pitchFamily="34" charset="-120"/>
              </a:rPr>
              <a:t>。4 週以上で呼吸器、3〜4 週で創</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吸入薬は続ける。増悪・コントロール不良なら</a:t>
            </a:r>
            <a:r>
              <a:rPr lang="ja-JP" altLang="en-US" sz="2400" b="1" dirty="0">
                <a:solidFill>
                  <a:srgbClr val="D55E00"/>
                </a:solidFill>
                <a:latin typeface="メイリオ" pitchFamily="34" charset="0"/>
                <a:ea typeface="メイリオ" pitchFamily="34" charset="-122"/>
                <a:cs typeface="メイリオ" pitchFamily="34" charset="-120"/>
              </a:rPr>
              <a:t>延期して相談</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STOP-Bang </a:t>
            </a:r>
            <a:r>
              <a:rPr lang="ja-JP" altLang="en-US" sz="2400" b="1" dirty="0">
                <a:solidFill>
                  <a:srgbClr val="0072B2"/>
                </a:solidFill>
                <a:latin typeface="メイリオ" pitchFamily="34" charset="0"/>
                <a:ea typeface="メイリオ" pitchFamily="34" charset="-122"/>
                <a:cs typeface="メイリオ" pitchFamily="34" charset="-120"/>
              </a:rPr>
              <a:t>3 点以上</a:t>
            </a:r>
            <a:r>
              <a:rPr lang="ja-JP" altLang="en-US" sz="2400" dirty="0">
                <a:solidFill>
                  <a:srgbClr val="262626"/>
                </a:solidFill>
                <a:latin typeface="メイリオ" pitchFamily="34" charset="0"/>
                <a:ea typeface="メイリオ" pitchFamily="34" charset="-122"/>
                <a:cs typeface="メイリオ" pitchFamily="34" charset="-120"/>
              </a:rPr>
              <a:t>で OSA を疑う。CPAP 持参、挿管に備える</a:t>
            </a:r>
            <a:endParaRPr lang="ja-JP" sz="2400" dirty="0"/>
          </a:p>
          <a:p>
            <a:pPr algn="l" marL="355600" indent="-355600">
              <a:spcAft>
                <a:spcPts val="2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小児の上気道炎：発熱・膿性鼻汁・湿性咳嗽なら</a:t>
            </a:r>
            <a:r>
              <a:rPr lang="ja-JP" altLang="en-US" sz="2400" b="1" dirty="0">
                <a:solidFill>
                  <a:srgbClr val="D55E00"/>
                </a:solidFill>
                <a:latin typeface="メイリオ" pitchFamily="34" charset="0"/>
                <a:ea typeface="メイリオ" pitchFamily="34" charset="-122"/>
                <a:cs typeface="メイリオ" pitchFamily="34" charset="-120"/>
              </a:rPr>
              <a:t>延期を考える</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4-9 呼吸器リスク評価</dc:title>
  <dc:subject/>
  <dc:creator>Anes-lecture</dc:creator>
  <cp:lastModifiedBy>Anes-lecture</cp:lastModifiedBy>
  <cp:revision>1</cp:revision>
  <dcterms:created xsi:type="dcterms:W3CDTF">2026-10-15T17:20:21Z</dcterms:created>
  <dcterms:modified xsi:type="dcterms:W3CDTF">2026-10-15T17:20:21Z</dcterms:modified>
</cp:coreProperties>
</file>