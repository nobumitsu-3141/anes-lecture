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透析患者と肝硬変患者は、麻酔薬の効き方、出血、循環、電解質のすべてで「普通の患者」と違う。この講義では、透析患者で術前に確かめること（透析の日、ドライウェイト、カリウム、シャント）、腎機能で変わる薬と造影剤、肝疾患の重症度（Child-Pugh、MELD）と死亡率、肝疾患の凝固と薬、延期と相談の目安を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透析の日: 米国メディケアの維持透析患者 1,147,846 手術（Fielding-Singh 2022）で、最終透析から手術までの間隔が長いほど 90 日死亡が用量依存的に増えた（1 日前 4.2%、2 日前 4.7%、3 日前 5.2%）。手術当日の透析は当日透析なしより死亡が低かった（4.0% 対 4.5%）が、絶対差は小さい。2025 年の Anesthesiology のレビュー（Fielding-Singh 2025）は「可能なら手術前日の透析」を提案し、全身麻酔前 7 時間以内の透析で術後低血圧が多いという小規模なパイロット研究（Deng 2014）を挙げている。前日透析の提案は観察研究（Fielding-Singh 2022）にもとづく。国内の OPCAB の単施設報告（Doi 2026、維持透析 64 例）は、月水金の透析を保ったまま手術当日の朝に透析して午後に手術し、術後 2 日目に透析を再開する固定スケジュールで実施できたとしている（予定外の透析 10.9%、院内死亡 3.1%）。ただし術中の出血と輸血は多い傾向があった。同報告は、心臓手術では前日透析のほうが安全とする研究があることにも触れ、至適なタイミングの標準はないとしている。</a:t>
            </a:r>
          </a:p>
          <a:p>
            <a:r>
              <a:rPr lang="ja-JP" altLang="en-US" dirty="0"/>
              <a:t>当日透析の問題: 除水による循環血液量の減少（導入時の低血圧）と、回路のヘパリン（未分画または低分子）が残ること。出血リスクがあれば、抗凝固薬なし（生食）で透析でき、国内ではナファモスタットも使う。ナファモスタットの添付文書には効能として「出血性病変又は出血傾向を有する患者の血液体外循環時の灌流血液の凝固防止（血液透析及びプラスマフェレーシス）」がある。国内 AKI 診療ガイドライン 2016 CQ7-5 も、出血リスクの高い患者の血液浄化では考慮してよいとしている（推奨の強さはつけず、エビデンスの質 C。AKI の血液浄化についての推奨）。ナファモスタットはアナフィラキシーと高 K 血症に注意する（国内の副作用報告データベースの解析、Yin 2026）。透析直後に手術するなら抗凝固の方法を透析チームと事前に相談する。</a:t>
            </a:r>
          </a:p>
          <a:p>
            <a:r>
              <a:rPr lang="ja-JP" altLang="en-US" dirty="0"/>
              <a:t>ドライウェイト: 透析後の目標体重。術前は呼吸困難、ラ音、起座呼吸、頸静脈怒張、ドライウェイトを大きく上回る体重などの溢水所見を評価し、最近ドライウェイトに届かない・透析中に低血圧になるといった経過を腎臓内科に確認する。透析間の体重増加が大きいことは死亡と関連する。</a:t>
            </a:r>
          </a:p>
          <a:p>
            <a:r>
              <a:rPr lang="ja-JP" altLang="en-US" dirty="0"/>
              <a:t>残腎機能: 尿量が残っていれば、腎毒性薬（NSAIDs、造影剤、アミノグリコシド）を避けて残腎機能を守る。</a:t>
            </a:r>
          </a:p>
          <a:p>
            <a:r>
              <a:rPr lang="ja-JP" altLang="en-US" dirty="0"/>
              <a:t>心血管: 維持透析患者の 77.3% に心血管疾患があり（心不全、冠動脈疾患、末梢動脈疾患がそれぞれ 40〜45%）、症状からは冠動脈疾患を見分けにくい。術前に心電図と心エコーの結果を確認する（Fielding-Singh 2025）。RCRI でも Cr 2.0 mg/dL 超が 1 因子になる（→ 4-7）。</a:t>
            </a:r>
          </a:p>
          <a:p>
            <a:r>
              <a:rPr lang="ja-JP" altLang="en-US" dirty="0"/>
              <a:t>出血傾向: 透析患者は血小板数が正常でも血小板の機能が落ちていて（尿毒症性の血小板機能障害）、貧血もあるので出血しやすい。区域麻酔を判断するときの材料にもなる。出血にはデスモプレシンを考慮できるが、透析患者での効果の根拠はまちまちで、低血圧を起こしうるので約 30 分かけて投与する。腎移植の候補者には、感作を避けるため輸血を控える（Fielding-Singh 2025）。</a:t>
            </a:r>
          </a:p>
          <a:p>
            <a:r>
              <a:rPr lang="ja-JP" altLang="en-US" dirty="0"/>
              <a:t>参考: Fielding-Singh V, et al. JAMA 2022;328:1837-1848 / Fielding-Singh V, et al. Anesthesiology 2025;143:1030-1048 / Doi T, et al. Ann Thorac Cardiovasc Surg 2026;32:25-00220 / Yin Y, et al. Medicine (Baltimore) 2026;105:e49803 / AKI（急性腎障害）診療ガイドライン 2016（日本腎臓学会ほか）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高カリウム血症: 血清 K 5.5 mEq/L 超が定義。透析患者では 100 患者月あたり約 16.5 件と多く、週末など透析間隔が長く空いた翌日は 2〜2.4 倍多い。術前 24 時間以内に透析しても少なくとも 5% は術前検査で高 K を示す。透析患者で術前 K がいくつまで安全かを示すデータはなく、「5.5 超で延期を考慮」は慣用的な目安で、延期して透析するか内科的に補正して進めるかは、緊急度、K の値、不整脈や心電図変化で個別に判断する（Fielding-Singh 2025）。非心臓手術 5,959 例（Arora 2017。透析患者に限らない米国退役軍人病院の集団）では術前 K 5.5 超で 30 日 MACE が 21.9%（正常 4.9%）だった。</a:t>
            </a:r>
          </a:p>
          <a:p>
            <a:r>
              <a:rPr lang="ja-JP" altLang="en-US" dirty="0"/>
              <a:t>透析直後: 血清 K は平衡に達した値より数時間低く出るので、透析後の低 K を必ずしも補充しない。</a:t>
            </a:r>
          </a:p>
          <a:p>
            <a:r>
              <a:rPr lang="ja-JP" altLang="en-US" dirty="0"/>
              <a:t>スキサメトニウム: K が正常範囲でほかの禁忌がなければ、腎不全でも一般に安全と考えられている（Fielding-Singh 2025）。通常でも K は 0.5 mEq/L 前後上がる（→ 3-5）が、腎不全でも上がり方は腎機能正常と変わらない（腎不全 11 例に 1 mg/kg を反復投与して最大 0.6 mEq/L：Powell 1975）。</a:t>
            </a:r>
          </a:p>
          <a:p>
            <a:r>
              <a:rPr lang="ja-JP" altLang="en-US" dirty="0"/>
              <a:t>シャント: 術前と術後に AV シャントを診察する（見る・聴く・触る）。体位による圧迫や周術期の低血圧で血栓閉塞しやすい。シャント肢では、マンシェットによる血圧測定、採血、点滴、動脈穿刺を行わない（国内で一般的な慣行。日本透析医学会ガイドラインの文言は確認できていない）。2025 年のレビュー（Fielding-Singh 2025 の本文と Table 2）は、シャントを術前・術後に診察し、体位で圧迫せず、スリルを定期的に確認すること、末梢静脈路は将来のシャント予定部位を避けて手背に取ること、可能なら動脈ラインを避けて非観血的に血圧を測ることを勧めている。鎖骨下静脈への中心静脈カテーテルは、将来のシャントを損なう狭窄の原因になるので避ける。</a:t>
            </a:r>
          </a:p>
          <a:p>
            <a:r>
              <a:rPr lang="ja-JP" altLang="en-US" dirty="0"/>
              <a:t>透析用カテーテル: 留置済みの透析用カテーテルは、感染（感染による入院はシャントの 2〜3 倍）を避けるため、透析以外にはできるだけ触らない。やむを得ず使うときは、クロルヘキシジンでハブを拭く清潔操作で、まず内腔のロック液（ヘパリンなど）を吸引して捨ててから使い、使用後は抗凝固液でロックし直す。ロック液をそのまま押し流すと、ヘパリンを急速に静注することになる。透析室と相談する（Fielding-Singh 2025 Table 2）。</a:t>
            </a:r>
          </a:p>
          <a:p>
            <a:r>
              <a:rPr lang="ja-JP" altLang="en-US" dirty="0"/>
              <a:t>輸液: 低張液（5% ブドウ糖液、0.45% 食塩液）を漫然と入れると低 Na を悪化させる（Fielding-Singh 2025）。K を含まない生食だけを大量に使うと、高 Cl 性アシドーシスで K が上がりうる（腎移植の RCT で、K 6 mEq/L 超の治療が生食群 19%、乳酸リンゲル群 0%：O'Malley 2005）。</a:t>
            </a:r>
          </a:p>
          <a:p>
            <a:r>
              <a:rPr lang="ja-JP" altLang="en-US" dirty="0"/>
              <a:t>参考: Fielding-Singh V, et al. Anesthesiology 2025;143:1030-1048 / Arora P, et al. Clin Chem Lab Med 2017;55:145-153 / Powell DR, Miller R. Anesth Analg 1975;54:746-748 / O'Malley CMN, et al. Anesth Analg 2005;100:1518-1524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単位: 添付文書の腎機能区分はクレアチニンクリアランス（CLcr、Cockcroft-Gault、mL/min）、CKD 分類は eGFR（mL/min/1.73 m²）で、単位が違う。透析患者や AKI のように腎機能が定常でない状態ではどちらも当てにならない。</a:t>
            </a:r>
          </a:p>
          <a:p>
            <a:r>
              <a:rPr lang="ja-JP" altLang="en-US" dirty="0"/>
              <a:t>CKD の定義（日本腎臓学会 2023）: 蛋白尿 0.15 g/gCr 以上などの腎障害の所見、または GFR 60 未満が 3 か月を超えて持続。GFR 区分は G1 90 以上、G2 60〜89、G3a 45〜59、G3b 30〜44、G4 15〜29、G5 15 未満。AKI の診断（KDIGO）は、48 時間以内に SCr が 0.3 mg/dL 以上上昇、7 日以内に 1.5 倍、尿量 0.5 mL/kg/h 未満が 6 時間。重い AKI（SCr が 2 mg/dL 以上上昇するか透析が必要）は、一般外科（NSQIP 75,952 例）で 1.0% に起こり、起こすと 30 日死亡が 8 倍になる（Kheterpal 2009）。KDIGO の基準で数えればもっと多い。危険因子は 56 歳以上、男性、緊急手術、腹腔内手術、糖尿病（経口薬またはインスリン）、活動性心不全、腹水、高血圧、術前の軽度・中等度の腎機能低下。</a:t>
            </a:r>
          </a:p>
          <a:p>
            <a:r>
              <a:rPr lang="ja-JP" altLang="en-US" dirty="0"/>
              <a:t>AKI の予防: 国内の AKI 診療ガイドライン 2016 は、AKI の予防にループ利尿薬を使わないこと（1B）、低用量ドパミンを使わないこと（1A）を推奨している。利尿薬は溢水の補正に使い、術中に「尿が出ないからフロセミド」とはしない（術中の利尿薬投与は術後急性腎不全の独立した予測因子でもあった：Kheterpal 2007）。</a:t>
            </a:r>
          </a:p>
          <a:p>
            <a:r>
              <a:rPr lang="ja-JP" altLang="en-US" dirty="0"/>
              <a:t>モルヒネ: 透析を要する腎不全では M6G が貯留し、モルヒネ 30 mg 経口投与の 24 時間後の髄液中 M6G は腎機能正常の 15 倍だった（透析患者 6 例。D'Honneur 1994）。遅れて出る呼吸抑制に注意。</a:t>
            </a:r>
          </a:p>
          <a:p>
            <a:r>
              <a:rPr lang="ja-JP" altLang="en-US" dirty="0"/>
              <a:t>ほかの鎮痛薬: 術後鎮痛はフェンタニルを主体にする。Dean 2004 は、モルヒネとコデインは避け、ヒドロモルフォンとオキシコドンは注意して慎重に観察しながら使い、メサドンとフェンタニル／スフェンタニルは安全とみられるとした（安全とされる薬ほど透析では除去されにくい）。2025 年のレビューは、フェンタニルとヒドロモルフォンを一般に安全としつつ、ヒドロモルフォンは減量を勧める資料もあるとしている。オキシコドンとトラマドールは腎排泄で、作用が予想より長引く（トラマドールは痙攣にも注意）。ガバペンチノイドは腎排泄で、意識障害と転倒に関連する。オピオイド以外ではアセトアミノフェンが第一選択で、NSAIDs は残腎機能と消化管出血のため一般に避ける（Fielding-Singh 2025）。</a:t>
            </a:r>
          </a:p>
          <a:p>
            <a:r>
              <a:rPr lang="ja-JP" altLang="en-US" dirty="0"/>
              <a:t>ロクロニウム: 維持透析患者でクリアランスが低く（2.5 対 3.7 mL/kg/分）、作用が遷延しうる（Cooper 1993）。ばらつきが大きいので筋弛緩モニターで定量し、追加投与を控えめに、拮抗後も TOF 比 0.9 以上を確認する。</a:t>
            </a:r>
          </a:p>
          <a:p>
            <a:r>
              <a:rPr lang="ja-JP" altLang="en-US" dirty="0"/>
              <a:t>スガマデクス: CLcr 30 mL/min 未満では、スガマデクス 4 mg/kg で TOF 比 0.9 に回復するまでが 3.1 分対 1.9 分と遅く（同等性は示せず）、腎障害群のうち 6 例で 7 日目にも、スガマデクスに包接されたロクロニウムが血漿中に検出された（Panhuizen 2015）。国内のブリディオン添付文書は、9.2 腎機能障害患者で「本剤は腎排泄されるため、排泄が遅延するおそれがある」とし、16.6.1 に重度腎機能障害（CLcr 30 mL/min 未満、透析患者を含む）のデータを載せている。使用は禁じていない。米国の添付文書は CLcr 30 未満（透析を含む）での使用を推奨していない。使ったら、術後の呼吸器合併症で筋弛緩の残存・再発を疑う。複合体は高流量透析で除去できる（ICU の重度急性腎障害 6 例で、平均 6 時間の high-flux 透析により血漿中のスガマデクスが 69%、ロクロニウムが 75% 低下：Cammu 2012）。海外の「腎不全ならシスアトラクリウム」は、シスアトラクリウムが国内未承認なのでそのまま使えない（国内で使える非脱分極性筋弛緩薬はロクロニウムとベクロニウム）。</a:t>
            </a:r>
          </a:p>
          <a:p>
            <a:r>
              <a:rPr lang="ja-JP" altLang="en-US" dirty="0"/>
              <a:t>エノキサパリン: 国内添付文書は禁忌 2.4 に重度の腎障害（CLcr 30 mL/min 未満）を挙げている。30〜50 mL/min では、国内臨床試験の成績も踏まえ、症例ごとに血栓リスクと出血リスクを勘案して適用を慎重に判断し、出血の危険性が高いと考えられる場合は投与間隔を延ばすことが望ましい（減量ではなく投与間隔の延長）。海外の CLcr 30 未満で減量して使う用法は国内では使えない。低分子ヘパリンはプロタミンで完全には中和できず、区域麻酔とカテーテル抜去のタイミングにも関わる（→ 4-12）。</a:t>
            </a:r>
          </a:p>
          <a:p>
            <a:r>
              <a:rPr lang="ja-JP" altLang="en-US" dirty="0"/>
              <a:t>造影剤: 国内 3 学会のガイドライン（2018）は、造影 CT（静注）では eGFR 30 未満、冠動脈造影（動脈内投与）では eGFR 60 未満で造影剤腎症のリスクを説明し、生理食塩液の補液（等張液。時間がなければ炭酸水素 Na 液）で予防する。予防目的の利尿薬、NSAIDs、NAC、スタチンは推奨せず、造影後の臨時透析も推奨しない（維持透析患者は溢水がなければ造影でき、直後に透析する必要はない）。ビグアナイド（メトホルミン）は一時休薬を考慮（→ 4-13）。</a:t>
            </a:r>
          </a:p>
          <a:p>
            <a:r>
              <a:rPr lang="ja-JP" altLang="en-US" dirty="0"/>
              <a:t>参考: D'Honneur G, et al. Anesthesiology 1994;81:87-93 / Dean M. J Pain Symptom Manage 2004;28:497-504 / Fielding-Singh V, et al. Anesthesiology 2025;143:1030-1048 / Cooper RA, et al. Br J Anaesth 1993;71:222-226 / Panhuizen IF, et al. Br J Anaesth 2015;114:777-784 / Cammu G, et al. Br J Anaesth 2012;109:382-390 / Kheterpal S, et al. Anesthesiology 2009;110:505-515 / Kheterpal S, et al. Anesthesiology 2007;107:892-902 / 腎障害患者におけるヨード造影剤使用に関するガイドライン 2018（日本腎臓学会・日本医学放射線学会・日本循環器学会） / 日本腎臓学会 CKD 診療ガイドライン 2023 / AKI（急性腎障害）診療ガイドライン 2016（日本腎臓学会ほか） / クレキサン皮下注キット 添付文書</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Child-Pugh: Pugh（1973）の 5 項目。PT は国内では活性値（%）、国際的には INR で採点するので、どちらで計算したかを明記する。両者の閾値は厳密には対応せず、PT% の閾値を 60%／40% とする海外の表もある。肝癌取扱い規約の「肝障害度」（PT 活性 80% 超／50〜80%／50% 未満、ICG R15 を含む）は別の分類なので混同しない。腹水と脳症の程度は主観的で、評価者によって点数がずれやすい。合計 5〜6 点が A、7〜9 点が B、10〜15 点が C。</a:t>
            </a:r>
          </a:p>
          <a:p>
            <a:r>
              <a:rPr lang="ja-JP" altLang="en-US" dirty="0"/>
              <a:t>MELD: 血清ビリルビン、クレアチニン、PT-INR から計算する（Kamath 2001。原法は肝疾患の病因の項も含み、現在使う式はそれを除いた臓器配分用のもの）。式は 3.78×ln[Bil (mg/dL)] ＋ 11.2×ln[INR] ＋ 9.57×ln[Cr (mg/dL)] ＋ 6.43。1.0 未満の値は 1.0 とし、Cr の上限は 4.0、過去 1 週間に 2 回以上透析していれば Cr＝4.0。臓器配分では 6〜40 の範囲にする。MELD-Na、MELD 3.0 もある。計算はオンラインの計算機で行う。</a:t>
            </a:r>
          </a:p>
          <a:p>
            <a:r>
              <a:rPr lang="ja-JP" altLang="en-US" dirty="0"/>
              <a:t>死亡率: 肝硬変患者の大手術 772 例（Teh 2007）では 30 日死亡が MELD 8 未満の 5.7% から 20 超の 50% 超まで上がり、MELD、ASA 分類、年齢が独立した予測因子だった。腹部手術では Child A 10%、B 30%、C 82%（Mansour 1997）、A 10%、B 17%、C 63%（Neeff 2011。待機 9% 対 緊急 47%）。肝移植専門施設の近年の報告では A 2%、B 12%、C 12%、MELD 15 以上で 29%、MELD 15 以上かつアルブミン 2.5 g/dL 以下で 60%（Telem 2010）。Child C の死亡は報告により 12〜82%（Mansour 1997 82%、Neeff 2011 63%、Telem 2010 12%。古い報告ほど高い）、緊急手術は待機手術の約 3〜5 倍（50% 対 18%、47% 対 9%）。時代と施設で大きく違う。</a:t>
            </a:r>
          </a:p>
          <a:p>
            <a:r>
              <a:rPr lang="ja-JP" altLang="en-US" dirty="0"/>
              <a:t>AGA 2019: 米国消化器病学会の臨床診療アップデート（Northup 2019）は、ほぼすべての手術の前に、Child-Pugh・MELD・Mayo リスクスコアなど複数の方法でリスクを評価して説明するとしている。Child-Pugh C または MELD 20 超では術後の非代償化と死亡のリスクが高く、最も緊急性の高い救命手術以外は避けるか、可能なら肝移植後まで延期する。待機手術の前に移植評価を必須とする MELD の値に合意はないが、MELD 15 以上または術後 3 か月死亡 15% 超を目安に移植施設へ相談する【要確認: Northup 2019 原文の Best Practice Advice。今は BSG 2023（Mansour 2023）の原文と AGA の要約＝二次資料で確認】。VOCAL-Penn スコア（Mahmud 2021）は年齢、アルブミン、血小板、ビリルビン、手術の種類、緊急、脂肪性肝疾患、ASA、肥満から 30 日死亡を予測し、MELD や Child-Pugh より優れていた（c 統計量 0.859。オンライン計算機あり。日本人での検証はない）。</a:t>
            </a:r>
          </a:p>
          <a:p>
            <a:r>
              <a:rPr lang="ja-JP" altLang="en-US" dirty="0"/>
              <a:t>参考: Pugh RN, et al. Br J Surg 1973;60:646-649 / Kamath PS, et al. Hepatology 2001;33:464-470 / Teh SH, et al. Gastroenterology 2007;132:1261-1269 / Mansour A, et al. Surgery 1997;122:730-736 / Neeff H, et al. J Gastrointest Surg 2011;15:1-11 / Telem DA, et al. Clin Gastroenterol Hepatol 2010;8:451-457 / Northup PG, et al. Clin Gastroenterol Hepatol 2019;17:595-606 / Mansour D, et al. Frontline Gastroenterol 2023;14:474-482（BSG） / Mahmud N, et al. Hepatology 2021;73:204-218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凝固: 肝硬変は凝固因子と抗凝固因子がともに減った「再均衡」の状態で、PT-INR は出血リスクを反映しない（AGA 2019、O'Leary）。目標 INR のための大量 FFP は門脈圧を上げ、効果も小さい。出血中や高リスク手技の輸血目標は Hct 25% 以上、血小板 5 万/µL 超、フィブリノゲン 120 mg/dL 超。腹水穿刺・胸水穿刺・静脈瘤結紮のような低リスク手技の前に血小板減少や凝固異常をルーチンに補正しない。トロンボポエチン受容体作動薬は効果が出るまで約 10 日。国内の肝硬変診療ガイドライン 2020（CQ4-21）は、待機的な観血的手技の前の血小板減少にトロンボポエチン受容体作動薬（ルストロンボパグ）を強く推奨している（エビデンスレベル B）。手術日から逆算して、術前外来で血小板数を確認する。脊髄くも膜下麻酔・硬膜外麻酔の血小板閾値は区域麻酔のガイドライン（→ 4-12）で別に確認する。</a:t>
            </a:r>
          </a:p>
          <a:p>
            <a:r>
              <a:rPr lang="ja-JP" altLang="en-US" dirty="0"/>
              <a:t>プロポフォール: 合併症のない肝硬変では単回投与の薬物動態はほとんど変わらない（Servin 1988）。持続投与でも、中等度の肝硬変 10 例でクリアランス（1.56 対 1.75 L/min）と消失半減期は変わらず、定常状態の分布容積は大きかった（202 対 121 L）。覚醒までの時間は肝硬変で有意に長かったが、開眼時の血中濃度は同じ（1 µg/mL）だった（Servin 1990）。低アルブミン、循環血液量の変化、脳症があれば感受性は上がる。</a:t>
            </a:r>
          </a:p>
          <a:p>
            <a:r>
              <a:rPr lang="ja-JP" altLang="en-US" dirty="0"/>
              <a:t>レミマゾラム: 重度肝障害では曝露量が 38.1% 多く、回復が健常 8.0 分、中等度 12.1 分、重度 16.7 分と遅れる（Stöhr 2021）。これは単回ボーラス（0.1 mg/kg）の試験で、国内の全身麻酔での持続投与では影響がより大きくなりうる。国内添付文書は 9.3.1 で、重度の肝機能障害（Child-Pugh C）では投与速度の減速・投与量の減量を考慮するなど慎重に投与するよう求めている（代謝が遅延し、作用が強く又は長くあらわれるおそれ）【要確認: 最新のアネレム静注用電子添文で 9.3.1 の文言、製品名、改訂年月】。</a:t>
            </a:r>
          </a:p>
          <a:p>
            <a:r>
              <a:rPr lang="ja-JP" altLang="en-US" dirty="0"/>
              <a:t>ロクロニウム: 肝硬変では作用発現が遅く（158 対 108 秒）、分布容積が大きく、90% 回復が 88 対 64 分と遷延する（Khalil 1994）。効きが遅いと思って追加すると遷延する。モニターで定量し、拮抗はスガマデクス（腎機能が保たれていれば）。</a:t>
            </a:r>
          </a:p>
          <a:p>
            <a:r>
              <a:rPr lang="ja-JP" altLang="en-US" dirty="0"/>
              <a:t>オピオイド: レミフェンタニルは重度肝疾患でも薬物動態が変わらないが、換気抑制への感受性は上がる（Dershwitz 1996）。モルヒネは半減期が延び、経口のバイオアベイラビリティが約 100% に上がる（Hasselström 1990）。国内のモルヒネ注射液の添付文書には、重篤な肝障害を禁忌（昏睡に陥ることがある）とするものがある【要確認: 製品ごとの電子添文 2. 禁忌】。肝硬変でも透析でもモルヒネは避け、フェンタニルを主体にする。</a:t>
            </a:r>
          </a:p>
          <a:p>
            <a:r>
              <a:rPr lang="ja-JP" altLang="en-US" dirty="0"/>
              <a:t>肝性脳症: 肝硬変ではベンゾジアゼピン（使い始めて 3〜10 日目に初発の肝性脳症が約 5 倍：Grønbæk 2018）とオピオイド（調整 HR 1.24。ベンゾジアゼピンも 1.24：Tapper 2019）が肝性脳症と関連する（観察研究）。どちらも少量から滴定する。</a:t>
            </a:r>
          </a:p>
          <a:p>
            <a:r>
              <a:rPr lang="ja-JP" altLang="en-US" dirty="0"/>
              <a:t>腎: 肝疾患と腹水は周術期 AKI の危険因子でもある（Kheterpal 2007、2009）。術中の低血圧と利尿薬に注意し、肝腎症候群を見逃さない。</a:t>
            </a:r>
          </a:p>
          <a:p>
            <a:r>
              <a:rPr lang="ja-JP" altLang="en-US" dirty="0"/>
              <a:t>参考: O'Leary JG, et al. Gastroenterology 2019;157:34-43（AGA） / Servin F, et al. Anesthesiology 1988;69:887-891 / Servin F, et al. Br J Anaesth 1990;65:177-183 / Stöhr T, et al. Br J Anaesth 2021;127:415-423 / Khalil M, et al. Anesthesiology 1994;80:1241-1247 / Dershwitz M, et al. Anesthesiology 1996;84:812-820 / Hasselström J, et al. Br J Clin Pharmacol 1990;29:289-297 / Grønbæk L, et al. United European Gastroenterol J 2018;6:407-412 / Tapper EB, et al. Hepatol Commun 2019;3:1510-1519 / 肝硬変診療ガイドライン 2020（日本消化器病学会・日本肝臓学会）</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腎: 待機手術では、K 5.5 超や心電図変化があれば透析または補正してから、溢水があれば透析してから。前日透析を手配し、当日透析なら抗凝固と時刻を透析室と決める。緊急手術では、カルシウム・インスリン＋ブドウ糖・β2 刺激薬・重炭酸（アシドーシスがあれば）で K を下げながら進み、術後に透析する。</a:t>
            </a:r>
          </a:p>
          <a:p>
            <a:r>
              <a:rPr lang="ja-JP" altLang="en-US" dirty="0"/>
              <a:t>肝: Child-Pugh C や MELD 20 超では術後の非代償化と死亡のリスクが非常に高く、最も緊急性の高い手術に限る。MELD 15 以上は待機手術の前に肝臓専門医・移植施設に相談する（AGA 2019）。腹水（呼吸、創の離開）、脳症（覚醒遅延）、低ナトリウム、栄養は整えてから。術前の Na 130 未満は死亡の独立した危険因子だが（Neeff 2011）、関連を示しただけで、補正すれば転帰がよくなるという根拠ではない。補正するなら急がない（浸透圧性脱髄症候群。透析患者についての 2025 年レビューでは 1 日 6〜10 mEq/L 以内）。待機手術なら肝臓専門医と相談して整える。緊急手術の死亡は待機手術の約 3〜5 倍（Mansour: 50% 対 18%、Neeff: 47% 対 9%）で、輸血を要する症例（43% 対 5%）と腹腔内手術（35% 対 腹壁 8%）でも高い（Neeff 2011）。急性ウイルス性肝炎、アルコール性肝炎、急性肝不全では待機手術を延期するのが教科書的な目安（Friedman 1999 の総説など）【要確認: Friedman 1999 の本文（PubMed に抄録なし）】。術前に肝酵素の上昇や黄疸を見つけたら、手術の前に消化器内科に相談する（講義者の運用提案）。</a:t>
            </a:r>
          </a:p>
          <a:p>
            <a:r>
              <a:rPr lang="ja-JP" altLang="en-US" dirty="0"/>
              <a:t>離島: 透析患者の手術は透析室との連携が要り、肝硬変の中等度以上の手術は専門施設のほうが安全なことが多い。搬送には時間がかかるので、迷ったら早めに本土の専門医に電話し、搬送の判断を先にする。</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分）。透析患者は手術の前日に透析し、ドライウェイトと溢水の所見、カリウム、透析の抗凝固、シャントを術前に確かめる。K 5.5 mEq/L 超や心電図変化があれば延期して透析か補正し、シャント肢では血圧測定・採血・点滴をしない。腎不全でも肝硬変でもモルヒネを避けてフェンタニル主体にし、ロクロニウムはモニターで追加を控えめに、スガマデクスは CLcr 30 未満では排泄が遅れることを踏まえて使う（米国は非推奨）。造影剤は静注で eGFR 30 未満、動注で 60 未満のときに説明して生食で補液し、臨時透析は不要。肝疾患は Child-Pugh と MELD で評価し、Child C や MELD 20 超は緊急性の高い手術に限り、MELD 15 以上は専門施設に相談する。INR は出血リスクを反映せず、FFP で下げようとしない。薬はレミマゾラム・ロクロニウム・モルヒネの遷延に注意し、少量から滴定する。次は 4-11（高齢者とフレイル・認知機能）。</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腎不全・透析と肝疾患の評価</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4-10 術前評価</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透析患者で確かめること</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透析</a:t>
            </a:r>
            <a:endParaRPr lang="ja-JP" sz="1100" dirty="0"/>
          </a:p>
        </p:txBody>
      </p:sp>
      <p:sp>
        <p:nvSpPr>
          <p:cNvPr id="5" name="Text 3"/>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CKD</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と薬</a:t>
            </a:r>
            <a:endParaRPr lang="ja-JP" sz="1100" dirty="0"/>
          </a:p>
        </p:txBody>
      </p:sp>
      <p:sp>
        <p:nvSpPr>
          <p:cNvPr id="6" name="Text 4"/>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肝疾患</a:t>
            </a:r>
            <a:endParaRPr lang="ja-JP" sz="1100" dirty="0"/>
          </a:p>
        </p:txBody>
      </p:sp>
      <p:sp>
        <p:nvSpPr>
          <p:cNvPr id="7" name="Text 5"/>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Fielding-Singh V, et al. JAMA 2022;328:1837-1848</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Fielding-Singh V, et al. Anesthesiology 2025;143:1030-1048</a:t>
            </a:r>
            <a:endParaRPr lang="ja-JP" sz="1600" dirty="0"/>
          </a:p>
        </p:txBody>
      </p:sp>
      <p:sp>
        <p:nvSpPr>
          <p:cNvPr id="10" name="Text 8"/>
          <p:cNvSpPr txBox="1"/>
          <p:nvPr/>
        </p:nvSpPr>
        <p:spPr>
          <a:xfrm>
            <a:off x="502920" y="1691640"/>
            <a:ext cx="11155680" cy="3200400"/>
          </a:xfrm>
          <a:prstGeom prst="rect">
            <a:avLst/>
          </a:prstGeom>
          <a:noFill/>
          <a:ln/>
        </p:spPr>
        <p:txBody>
          <a:bodyPr wrap="square" lIns="0" tIns="0" rIns="0" bIns="0" rtlCol="0" anchor="t"/>
          <a:lstStyle/>
          <a:p>
            <a:pPr algn="l" marL="355600" indent="-355600">
              <a:spcAft>
                <a:spcPts val="1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透析は</a:t>
            </a:r>
            <a:r>
              <a:rPr lang="ja-JP" altLang="en-US" sz="2400" b="1" dirty="0">
                <a:solidFill>
                  <a:srgbClr val="D55E00"/>
                </a:solidFill>
                <a:latin typeface="メイリオ" pitchFamily="34" charset="0"/>
                <a:ea typeface="メイリオ" pitchFamily="34" charset="-122"/>
                <a:cs typeface="メイリオ" pitchFamily="34" charset="-120"/>
              </a:rPr>
              <a:t>手術の前日</a:t>
            </a:r>
            <a:r>
              <a:rPr lang="ja-JP" altLang="en-US" sz="2400" dirty="0">
                <a:solidFill>
                  <a:srgbClr val="262626"/>
                </a:solidFill>
                <a:latin typeface="メイリオ" pitchFamily="34" charset="0"/>
                <a:ea typeface="メイリオ" pitchFamily="34" charset="-122"/>
                <a:cs typeface="メイリオ" pitchFamily="34" charset="-120"/>
              </a:rPr>
              <a:t>に。間隔が長いほど術後 90 日死亡が増える</a:t>
            </a:r>
            <a:endParaRPr lang="ja-JP" sz="2400" dirty="0"/>
          </a:p>
          <a:p>
            <a:pPr algn="l" marL="355600" indent="-355600">
              <a:spcAft>
                <a:spcPts val="1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当日の透析直後は、除水による低血圧と回路のヘパリンに注意</a:t>
            </a:r>
            <a:endParaRPr lang="ja-JP" sz="2400" dirty="0"/>
          </a:p>
          <a:p>
            <a:pPr algn="l" marL="355600" indent="-355600">
              <a:spcAft>
                <a:spcPts val="1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ドライウェイトと溢水の所見（浮腫、ラ音、起座呼吸、頸静脈怒張）</a:t>
            </a:r>
            <a:endParaRPr lang="ja-JP" sz="2400" dirty="0"/>
          </a:p>
          <a:p>
            <a:pPr algn="l" marL="355600" indent="-355600">
              <a:spcAft>
                <a:spcPts val="1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透析の抗凝固（ヘパリンかナファモスタットか）と量を聞く</a:t>
            </a:r>
            <a:endParaRPr lang="ja-JP" sz="2400" dirty="0"/>
          </a:p>
          <a:p>
            <a:pPr algn="l" marL="355600" indent="-355600">
              <a:spcAft>
                <a:spcPts val="18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残っている尿量、最近の透析中の低血圧、体重増加</a:t>
            </a:r>
            <a:endParaRPr lang="ja-JP" sz="2400" dirty="0"/>
          </a:p>
        </p:txBody>
      </p:sp>
      <p:sp>
        <p:nvSpPr>
          <p:cNvPr id="11" name="Text 9"/>
          <p:cNvSpPr/>
          <p:nvPr/>
        </p:nvSpPr>
        <p:spPr>
          <a:xfrm>
            <a:off x="502920" y="5173675"/>
            <a:ext cx="11183112" cy="715061"/>
          </a:xfrm>
          <a:prstGeom prst="roundRect">
            <a:avLst>
              <a:gd name="adj" fmla="val 10230"/>
            </a:avLst>
          </a:prstGeom>
          <a:solidFill>
            <a:srgbClr val="FFFFFF"/>
          </a:solidFill>
          <a:ln w="31750">
            <a:solidFill>
              <a:srgbClr val="00A8AA"/>
            </a:solidFill>
          </a:ln>
        </p:spPr>
        <p:txBody>
          <a:bodyPr wrap="square" lIns="73152" tIns="73152" rIns="73152" bIns="73152" rtlCol="0" anchor="ctr"/>
          <a:lstStyle/>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腎臓内科・透析室と、透析の日と抗凝固を</a:t>
            </a:r>
            <a:r>
              <a:rPr lang="ja-JP" altLang="en-US" sz="2600" b="1" dirty="0">
                <a:solidFill>
                  <a:srgbClr val="D55E00"/>
                </a:solidFill>
                <a:latin typeface="メイリオ" pitchFamily="34" charset="0"/>
                <a:ea typeface="メイリオ" pitchFamily="34" charset="-122"/>
                <a:cs typeface="メイリオ" pitchFamily="34" charset="-120"/>
              </a:rPr>
              <a:t>前もって決める</a:t>
            </a:r>
            <a:endParaRPr lang="ja-JP"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カリウムとシャント</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透析</a:t>
            </a:r>
            <a:endParaRPr lang="ja-JP" sz="1100" dirty="0"/>
          </a:p>
        </p:txBody>
      </p:sp>
      <p:sp>
        <p:nvSpPr>
          <p:cNvPr id="5" name="Text 3"/>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CKD</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と薬</a:t>
            </a:r>
            <a:endParaRPr lang="ja-JP" sz="1100" dirty="0"/>
          </a:p>
        </p:txBody>
      </p:sp>
      <p:sp>
        <p:nvSpPr>
          <p:cNvPr id="6" name="Text 4"/>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肝疾患</a:t>
            </a:r>
            <a:endParaRPr lang="ja-JP" sz="1100" dirty="0"/>
          </a:p>
        </p:txBody>
      </p:sp>
      <p:sp>
        <p:nvSpPr>
          <p:cNvPr id="7" name="Text 5"/>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Fielding-Singh V, et al. Anesthesiology 2025;143:1030-1048</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Arora P, et al. Clin Chem Lab Med 2017;55:145-153</a:t>
            </a:r>
            <a:endParaRPr lang="ja-JP" sz="1600" dirty="0"/>
          </a:p>
        </p:txBody>
      </p:sp>
      <p:sp>
        <p:nvSpPr>
          <p:cNvPr id="10" name="Shape 8"/>
          <p:cNvSpPr/>
          <p:nvPr/>
        </p:nvSpPr>
        <p:spPr>
          <a:xfrm>
            <a:off x="502920" y="1691640"/>
            <a:ext cx="5472684" cy="3161081"/>
          </a:xfrm>
          <a:prstGeom prst="roundRect">
            <a:avLst>
              <a:gd name="adj" fmla="val 2314"/>
            </a:avLst>
          </a:prstGeom>
          <a:solidFill>
            <a:srgbClr val="F2F2F2"/>
          </a:solidFill>
          <a:ln/>
        </p:spPr>
      </p:sp>
      <p:sp>
        <p:nvSpPr>
          <p:cNvPr id="11" name="Text 9"/>
          <p:cNvSpPr txBox="1"/>
          <p:nvPr/>
        </p:nvSpPr>
        <p:spPr>
          <a:xfrm>
            <a:off x="594360" y="1783080"/>
            <a:ext cx="5289804" cy="420624"/>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カリウム</a:t>
            </a:r>
            <a:endParaRPr lang="ja-JP" sz="2400" dirty="0"/>
          </a:p>
        </p:txBody>
      </p:sp>
      <p:sp>
        <p:nvSpPr>
          <p:cNvPr id="12" name="Text 10"/>
          <p:cNvSpPr txBox="1"/>
          <p:nvPr/>
        </p:nvSpPr>
        <p:spPr>
          <a:xfrm>
            <a:off x="594360" y="2221992"/>
            <a:ext cx="329184" cy="374904"/>
          </a:xfrm>
          <a:prstGeom prst="rect">
            <a:avLst/>
          </a:prstGeom>
          <a:noFill/>
          <a:ln/>
        </p:spPr>
        <p:txBody>
          <a:bodyPr wrap="square" lIns="0" tIns="0" rIns="0" bIns="0" rtlCol="0" anchor="t"/>
          <a:lstStyle/>
          <a:p>
            <a:pPr algn="l" indent="0" marL="0">
              <a:buNone/>
            </a:pPr>
            <a:r>
              <a:rPr lang="ja-JP" altLang="en-US" sz="2200" dirty="0">
                <a:solidFill>
                  <a:srgbClr val="0072B2"/>
                </a:solidFill>
                <a:latin typeface="メイリオ" pitchFamily="34" charset="0"/>
                <a:ea typeface="メイリオ" pitchFamily="34" charset="-122"/>
                <a:cs typeface="メイリオ" pitchFamily="34" charset="-120"/>
              </a:rPr>
              <a:t>•</a:t>
            </a:r>
            <a:endParaRPr lang="ja-JP" sz="2200" dirty="0"/>
          </a:p>
        </p:txBody>
      </p:sp>
      <p:sp>
        <p:nvSpPr>
          <p:cNvPr id="13" name="Text 11"/>
          <p:cNvSpPr txBox="1"/>
          <p:nvPr/>
        </p:nvSpPr>
        <p:spPr>
          <a:xfrm>
            <a:off x="841248" y="2221992"/>
            <a:ext cx="5042916" cy="37490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5.5 mEq/L 超</a:t>
            </a:r>
            <a:r>
              <a:rPr lang="ja-JP" altLang="en-US" sz="2200" dirty="0">
                <a:solidFill>
                  <a:srgbClr val="262626"/>
                </a:solidFill>
                <a:latin typeface="メイリオ" pitchFamily="34" charset="0"/>
                <a:ea typeface="メイリオ" pitchFamily="34" charset="-122"/>
                <a:cs typeface="メイリオ" pitchFamily="34" charset="-120"/>
              </a:rPr>
              <a:t>は延期して</a:t>
            </a:r>
            <a:endParaRPr lang="ja-JP" sz="2200" dirty="0"/>
          </a:p>
        </p:txBody>
      </p:sp>
      <p:sp>
        <p:nvSpPr>
          <p:cNvPr id="14" name="Text 12"/>
          <p:cNvSpPr txBox="1"/>
          <p:nvPr/>
        </p:nvSpPr>
        <p:spPr>
          <a:xfrm>
            <a:off x="841248" y="2557577"/>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透析か補正を考える（慣用の目安）</a:t>
            </a:r>
            <a:endParaRPr lang="ja-JP" sz="2200" dirty="0"/>
          </a:p>
        </p:txBody>
      </p:sp>
      <p:sp>
        <p:nvSpPr>
          <p:cNvPr id="15" name="Text 13"/>
          <p:cNvSpPr txBox="1"/>
          <p:nvPr/>
        </p:nvSpPr>
        <p:spPr>
          <a:xfrm>
            <a:off x="594360" y="2956255"/>
            <a:ext cx="329184" cy="374904"/>
          </a:xfrm>
          <a:prstGeom prst="rect">
            <a:avLst/>
          </a:prstGeom>
          <a:noFill/>
          <a:ln/>
        </p:spPr>
        <p:txBody>
          <a:bodyPr wrap="square" lIns="0" tIns="0" rIns="0" bIns="0" rtlCol="0" anchor="t"/>
          <a:lstStyle/>
          <a:p>
            <a:pPr algn="l" indent="0" marL="0">
              <a:buNone/>
            </a:pPr>
            <a:r>
              <a:rPr lang="ja-JP" altLang="en-US" sz="2200" dirty="0">
                <a:solidFill>
                  <a:srgbClr val="0072B2"/>
                </a:solidFill>
                <a:latin typeface="メイリオ" pitchFamily="34" charset="0"/>
                <a:ea typeface="メイリオ" pitchFamily="34" charset="-122"/>
                <a:cs typeface="メイリオ" pitchFamily="34" charset="-120"/>
              </a:rPr>
              <a:t>•</a:t>
            </a:r>
            <a:endParaRPr lang="ja-JP" sz="2200" dirty="0"/>
          </a:p>
        </p:txBody>
      </p:sp>
      <p:sp>
        <p:nvSpPr>
          <p:cNvPr id="16" name="Text 14"/>
          <p:cNvSpPr txBox="1"/>
          <p:nvPr/>
        </p:nvSpPr>
        <p:spPr>
          <a:xfrm>
            <a:off x="841248" y="2956255"/>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透析直後の低値はすぐに補充しない</a:t>
            </a:r>
            <a:endParaRPr lang="ja-JP" sz="2200" dirty="0"/>
          </a:p>
        </p:txBody>
      </p:sp>
      <p:sp>
        <p:nvSpPr>
          <p:cNvPr id="17" name="Text 15"/>
          <p:cNvSpPr txBox="1"/>
          <p:nvPr/>
        </p:nvSpPr>
        <p:spPr>
          <a:xfrm>
            <a:off x="594360" y="3355848"/>
            <a:ext cx="329184" cy="374904"/>
          </a:xfrm>
          <a:prstGeom prst="rect">
            <a:avLst/>
          </a:prstGeom>
          <a:noFill/>
          <a:ln/>
        </p:spPr>
        <p:txBody>
          <a:bodyPr wrap="square" lIns="0" tIns="0" rIns="0" bIns="0" rtlCol="0" anchor="t"/>
          <a:lstStyle/>
          <a:p>
            <a:pPr algn="l" indent="0" marL="0">
              <a:buNone/>
            </a:pPr>
            <a:r>
              <a:rPr lang="ja-JP" altLang="en-US" sz="2200" dirty="0">
                <a:solidFill>
                  <a:srgbClr val="0072B2"/>
                </a:solidFill>
                <a:latin typeface="メイリオ" pitchFamily="34" charset="0"/>
                <a:ea typeface="メイリオ" pitchFamily="34" charset="-122"/>
                <a:cs typeface="メイリオ" pitchFamily="34" charset="-120"/>
              </a:rPr>
              <a:t>•</a:t>
            </a:r>
            <a:endParaRPr lang="ja-JP" sz="2200" dirty="0"/>
          </a:p>
        </p:txBody>
      </p:sp>
      <p:sp>
        <p:nvSpPr>
          <p:cNvPr id="18" name="Text 16"/>
          <p:cNvSpPr txBox="1"/>
          <p:nvPr/>
        </p:nvSpPr>
        <p:spPr>
          <a:xfrm>
            <a:off x="841248" y="3355848"/>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週末明けは高 K が 2 倍以上</a:t>
            </a:r>
            <a:endParaRPr lang="ja-JP" sz="2200" dirty="0"/>
          </a:p>
        </p:txBody>
      </p:sp>
      <p:sp>
        <p:nvSpPr>
          <p:cNvPr id="19" name="Text 17"/>
          <p:cNvSpPr txBox="1"/>
          <p:nvPr/>
        </p:nvSpPr>
        <p:spPr>
          <a:xfrm>
            <a:off x="594360" y="3755441"/>
            <a:ext cx="329184" cy="374904"/>
          </a:xfrm>
          <a:prstGeom prst="rect">
            <a:avLst/>
          </a:prstGeom>
          <a:noFill/>
          <a:ln/>
        </p:spPr>
        <p:txBody>
          <a:bodyPr wrap="square" lIns="0" tIns="0" rIns="0" bIns="0" rtlCol="0" anchor="t"/>
          <a:lstStyle/>
          <a:p>
            <a:pPr algn="l" indent="0" marL="0">
              <a:buNone/>
            </a:pPr>
            <a:r>
              <a:rPr lang="ja-JP" altLang="en-US" sz="2200" dirty="0">
                <a:solidFill>
                  <a:srgbClr val="0072B2"/>
                </a:solidFill>
                <a:latin typeface="メイリオ" pitchFamily="34" charset="0"/>
                <a:ea typeface="メイリオ" pitchFamily="34" charset="-122"/>
                <a:cs typeface="メイリオ" pitchFamily="34" charset="-120"/>
              </a:rPr>
              <a:t>•</a:t>
            </a:r>
            <a:endParaRPr lang="ja-JP" sz="2200" dirty="0"/>
          </a:p>
        </p:txBody>
      </p:sp>
      <p:sp>
        <p:nvSpPr>
          <p:cNvPr id="20" name="Text 18"/>
          <p:cNvSpPr txBox="1"/>
          <p:nvPr/>
        </p:nvSpPr>
        <p:spPr>
          <a:xfrm>
            <a:off x="841248" y="3755441"/>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心電図（T 波、QRS 幅）を必ず見る</a:t>
            </a:r>
            <a:endParaRPr lang="ja-JP" sz="2200" dirty="0"/>
          </a:p>
        </p:txBody>
      </p:sp>
      <p:sp>
        <p:nvSpPr>
          <p:cNvPr id="21" name="Shape 19"/>
          <p:cNvSpPr/>
          <p:nvPr/>
        </p:nvSpPr>
        <p:spPr>
          <a:xfrm>
            <a:off x="6213348" y="1691640"/>
            <a:ext cx="5472684" cy="3161081"/>
          </a:xfrm>
          <a:prstGeom prst="roundRect">
            <a:avLst>
              <a:gd name="adj" fmla="val 2314"/>
            </a:avLst>
          </a:prstGeom>
          <a:solidFill>
            <a:srgbClr val="F2F2F2"/>
          </a:solidFill>
          <a:ln/>
        </p:spPr>
      </p:sp>
      <p:sp>
        <p:nvSpPr>
          <p:cNvPr id="22" name="Text 20"/>
          <p:cNvSpPr txBox="1"/>
          <p:nvPr/>
        </p:nvSpPr>
        <p:spPr>
          <a:xfrm>
            <a:off x="6304788" y="1783080"/>
            <a:ext cx="5289804" cy="420624"/>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シャント肢</a:t>
            </a:r>
            <a:endParaRPr lang="ja-JP" sz="2400" dirty="0"/>
          </a:p>
        </p:txBody>
      </p:sp>
      <p:sp>
        <p:nvSpPr>
          <p:cNvPr id="23" name="Text 21"/>
          <p:cNvSpPr txBox="1"/>
          <p:nvPr/>
        </p:nvSpPr>
        <p:spPr>
          <a:xfrm>
            <a:off x="6304788" y="2221992"/>
            <a:ext cx="329184" cy="374904"/>
          </a:xfrm>
          <a:prstGeom prst="rect">
            <a:avLst/>
          </a:prstGeom>
          <a:noFill/>
          <a:ln/>
        </p:spPr>
        <p:txBody>
          <a:bodyPr wrap="square" lIns="0" tIns="0" rIns="0" bIns="0" rtlCol="0" anchor="t"/>
          <a:lstStyle/>
          <a:p>
            <a:pPr algn="l" indent="0" marL="0">
              <a:buNone/>
            </a:pPr>
            <a:r>
              <a:rPr lang="ja-JP" altLang="en-US" sz="2200" dirty="0">
                <a:solidFill>
                  <a:srgbClr val="D55E00"/>
                </a:solidFill>
                <a:latin typeface="メイリオ" pitchFamily="34" charset="0"/>
                <a:ea typeface="メイリオ" pitchFamily="34" charset="-122"/>
                <a:cs typeface="メイリオ" pitchFamily="34" charset="-120"/>
              </a:rPr>
              <a:t>•</a:t>
            </a:r>
            <a:endParaRPr lang="ja-JP" sz="2200" dirty="0"/>
          </a:p>
        </p:txBody>
      </p:sp>
      <p:sp>
        <p:nvSpPr>
          <p:cNvPr id="24" name="Text 22"/>
          <p:cNvSpPr txBox="1"/>
          <p:nvPr/>
        </p:nvSpPr>
        <p:spPr>
          <a:xfrm>
            <a:off x="6551676" y="2221992"/>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血圧測定・採血・点滴・</a:t>
            </a:r>
            <a:endParaRPr lang="ja-JP" sz="2200" dirty="0"/>
          </a:p>
        </p:txBody>
      </p:sp>
      <p:sp>
        <p:nvSpPr>
          <p:cNvPr id="25" name="Text 23"/>
          <p:cNvSpPr txBox="1"/>
          <p:nvPr/>
        </p:nvSpPr>
        <p:spPr>
          <a:xfrm>
            <a:off x="6551676" y="2557577"/>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動脈ラインをしない</a:t>
            </a:r>
            <a:endParaRPr lang="ja-JP" sz="2200" dirty="0"/>
          </a:p>
        </p:txBody>
      </p:sp>
      <p:sp>
        <p:nvSpPr>
          <p:cNvPr id="26" name="Text 24"/>
          <p:cNvSpPr txBox="1"/>
          <p:nvPr/>
        </p:nvSpPr>
        <p:spPr>
          <a:xfrm>
            <a:off x="6304788" y="2956255"/>
            <a:ext cx="329184" cy="374904"/>
          </a:xfrm>
          <a:prstGeom prst="rect">
            <a:avLst/>
          </a:prstGeom>
          <a:noFill/>
          <a:ln/>
        </p:spPr>
        <p:txBody>
          <a:bodyPr wrap="square" lIns="0" tIns="0" rIns="0" bIns="0" rtlCol="0" anchor="t"/>
          <a:lstStyle/>
          <a:p>
            <a:pPr algn="l" indent="0" marL="0">
              <a:buNone/>
            </a:pPr>
            <a:r>
              <a:rPr lang="ja-JP" altLang="en-US" sz="2200" dirty="0">
                <a:solidFill>
                  <a:srgbClr val="D55E00"/>
                </a:solidFill>
                <a:latin typeface="メイリオ" pitchFamily="34" charset="0"/>
                <a:ea typeface="メイリオ" pitchFamily="34" charset="-122"/>
                <a:cs typeface="メイリオ" pitchFamily="34" charset="-120"/>
              </a:rPr>
              <a:t>•</a:t>
            </a:r>
            <a:endParaRPr lang="ja-JP" sz="2200" dirty="0"/>
          </a:p>
        </p:txBody>
      </p:sp>
      <p:sp>
        <p:nvSpPr>
          <p:cNvPr id="27" name="Text 25"/>
          <p:cNvSpPr txBox="1"/>
          <p:nvPr/>
        </p:nvSpPr>
        <p:spPr>
          <a:xfrm>
            <a:off x="6551676" y="2956255"/>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体位で圧迫しない。</a:t>
            </a:r>
            <a:endParaRPr lang="ja-JP" sz="2200" dirty="0"/>
          </a:p>
        </p:txBody>
      </p:sp>
      <p:sp>
        <p:nvSpPr>
          <p:cNvPr id="28" name="Text 26"/>
          <p:cNvSpPr txBox="1"/>
          <p:nvPr/>
        </p:nvSpPr>
        <p:spPr>
          <a:xfrm>
            <a:off x="6551676" y="3291840"/>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術中・術後にスリルを確認</a:t>
            </a:r>
            <a:endParaRPr lang="ja-JP" sz="2200" dirty="0"/>
          </a:p>
        </p:txBody>
      </p:sp>
      <p:sp>
        <p:nvSpPr>
          <p:cNvPr id="29" name="Text 27"/>
          <p:cNvSpPr txBox="1"/>
          <p:nvPr/>
        </p:nvSpPr>
        <p:spPr>
          <a:xfrm>
            <a:off x="6304788" y="3691433"/>
            <a:ext cx="329184" cy="374904"/>
          </a:xfrm>
          <a:prstGeom prst="rect">
            <a:avLst/>
          </a:prstGeom>
          <a:noFill/>
          <a:ln/>
        </p:spPr>
        <p:txBody>
          <a:bodyPr wrap="square" lIns="0" tIns="0" rIns="0" bIns="0" rtlCol="0" anchor="t"/>
          <a:lstStyle/>
          <a:p>
            <a:pPr algn="l" indent="0" marL="0">
              <a:buNone/>
            </a:pPr>
            <a:r>
              <a:rPr lang="ja-JP" altLang="en-US" sz="2200" dirty="0">
                <a:solidFill>
                  <a:srgbClr val="D55E00"/>
                </a:solidFill>
                <a:latin typeface="メイリオ" pitchFamily="34" charset="0"/>
                <a:ea typeface="メイリオ" pitchFamily="34" charset="-122"/>
                <a:cs typeface="メイリオ" pitchFamily="34" charset="-120"/>
              </a:rPr>
              <a:t>•</a:t>
            </a:r>
            <a:endParaRPr lang="ja-JP" sz="2200" dirty="0"/>
          </a:p>
        </p:txBody>
      </p:sp>
      <p:sp>
        <p:nvSpPr>
          <p:cNvPr id="30" name="Text 28"/>
          <p:cNvSpPr txBox="1"/>
          <p:nvPr/>
        </p:nvSpPr>
        <p:spPr>
          <a:xfrm>
            <a:off x="6551676" y="3691433"/>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鎖骨下静脈の</a:t>
            </a:r>
            <a:endParaRPr lang="ja-JP" sz="2200" dirty="0"/>
          </a:p>
        </p:txBody>
      </p:sp>
      <p:sp>
        <p:nvSpPr>
          <p:cNvPr id="31" name="Text 29"/>
          <p:cNvSpPr txBox="1"/>
          <p:nvPr/>
        </p:nvSpPr>
        <p:spPr>
          <a:xfrm>
            <a:off x="6551676" y="4027018"/>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中心静脈カテーテルは避ける</a:t>
            </a:r>
            <a:endParaRPr lang="ja-JP" sz="2200" dirty="0"/>
          </a:p>
        </p:txBody>
      </p:sp>
      <p:sp>
        <p:nvSpPr>
          <p:cNvPr id="32" name="Text 30"/>
          <p:cNvSpPr txBox="1"/>
          <p:nvPr/>
        </p:nvSpPr>
        <p:spPr>
          <a:xfrm>
            <a:off x="6304788" y="4425696"/>
            <a:ext cx="329184" cy="374904"/>
          </a:xfrm>
          <a:prstGeom prst="rect">
            <a:avLst/>
          </a:prstGeom>
          <a:noFill/>
          <a:ln/>
        </p:spPr>
        <p:txBody>
          <a:bodyPr wrap="square" lIns="0" tIns="0" rIns="0" bIns="0" rtlCol="0" anchor="t"/>
          <a:lstStyle/>
          <a:p>
            <a:pPr algn="l" indent="0" marL="0">
              <a:buNone/>
            </a:pPr>
            <a:r>
              <a:rPr lang="ja-JP" altLang="en-US" sz="2200" dirty="0">
                <a:solidFill>
                  <a:srgbClr val="D55E00"/>
                </a:solidFill>
                <a:latin typeface="メイリオ" pitchFamily="34" charset="0"/>
                <a:ea typeface="メイリオ" pitchFamily="34" charset="-122"/>
                <a:cs typeface="メイリオ" pitchFamily="34" charset="-120"/>
              </a:rPr>
              <a:t>•</a:t>
            </a:r>
            <a:endParaRPr lang="ja-JP" sz="2200" dirty="0"/>
          </a:p>
        </p:txBody>
      </p:sp>
      <p:sp>
        <p:nvSpPr>
          <p:cNvPr id="33" name="Text 31"/>
          <p:cNvSpPr txBox="1"/>
          <p:nvPr/>
        </p:nvSpPr>
        <p:spPr>
          <a:xfrm>
            <a:off x="6551676" y="4425696"/>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透析用カテーテルは原則使わない</a:t>
            </a:r>
            <a:endParaRPr lang="ja-JP" sz="2200" dirty="0"/>
          </a:p>
        </p:txBody>
      </p:sp>
      <p:sp>
        <p:nvSpPr>
          <p:cNvPr id="34" name="Shape 32"/>
          <p:cNvSpPr/>
          <p:nvPr/>
        </p:nvSpPr>
        <p:spPr>
          <a:xfrm>
            <a:off x="502920" y="5072177"/>
            <a:ext cx="11183112" cy="816559"/>
          </a:xfrm>
          <a:prstGeom prst="roundRect">
            <a:avLst>
              <a:gd name="adj" fmla="val 8959"/>
            </a:avLst>
          </a:prstGeom>
          <a:solidFill>
            <a:srgbClr val="FFFFFF"/>
          </a:solidFill>
          <a:ln w="31750">
            <a:solidFill>
              <a:srgbClr val="00A8AA"/>
            </a:solidFill>
            <a:prstDash val="solid"/>
          </a:ln>
        </p:spPr>
      </p:sp>
      <p:sp>
        <p:nvSpPr>
          <p:cNvPr id="35" name="Text 33"/>
          <p:cNvSpPr txBox="1"/>
          <p:nvPr/>
        </p:nvSpPr>
        <p:spPr>
          <a:xfrm>
            <a:off x="685800" y="5145329"/>
            <a:ext cx="10817352" cy="374904"/>
          </a:xfrm>
          <a:prstGeom prst="rect">
            <a:avLst/>
          </a:prstGeom>
          <a:noFill/>
          <a:ln/>
        </p:spPr>
        <p:txBody>
          <a:bodyPr wrap="square" lIns="0" tIns="0" rIns="0" bIns="0" rtlCol="0" anchor="t"/>
          <a:lstStyle/>
          <a:p>
            <a:pPr algn="ctr" indent="0" marL="0">
              <a:buNone/>
            </a:pPr>
            <a:r>
              <a:rPr lang="ja-JP" altLang="en-US" sz="2200" b="1" dirty="0">
                <a:solidFill>
                  <a:srgbClr val="D55E00"/>
                </a:solidFill>
                <a:latin typeface="メイリオ" pitchFamily="34" charset="0"/>
                <a:ea typeface="メイリオ" pitchFamily="34" charset="-122"/>
                <a:cs typeface="メイリオ" pitchFamily="34" charset="-120"/>
              </a:rPr>
              <a:t>K 5.5 超でも緊急なら進む：</a:t>
            </a:r>
            <a:endParaRPr lang="ja-JP" sz="2200" dirty="0"/>
          </a:p>
        </p:txBody>
      </p:sp>
      <p:sp>
        <p:nvSpPr>
          <p:cNvPr id="36" name="Text 34"/>
          <p:cNvSpPr txBox="1"/>
          <p:nvPr/>
        </p:nvSpPr>
        <p:spPr>
          <a:xfrm>
            <a:off x="685800" y="5479999"/>
            <a:ext cx="10817352" cy="374904"/>
          </a:xfrm>
          <a:prstGeom prst="rect">
            <a:avLst/>
          </a:prstGeom>
          <a:noFill/>
          <a:ln/>
        </p:spPr>
        <p:txBody>
          <a:bodyPr wrap="square" lIns="0" tIns="0" rIns="0" bIns="0" rtlCol="0" anchor="t"/>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心電図・緊急度・補正の手段で個別に判断し、相談する</a:t>
            </a:r>
            <a:endParaRPr lang="ja-JP"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腎機能で変わる薬と造影剤</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透析</a:t>
            </a:r>
            <a:endParaRPr lang="ja-JP" sz="1100" dirty="0"/>
          </a:p>
        </p:txBody>
      </p:sp>
      <p:sp>
        <p:nvSpPr>
          <p:cNvPr id="5" name="Text 3"/>
          <p:cNvSpPr/>
          <p:nvPr/>
        </p:nvSpPr>
        <p:spPr>
          <a:xfrm>
            <a:off x="10030968"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CKD</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と薬</a:t>
            </a:r>
            <a:endParaRPr lang="ja-JP" sz="1100" dirty="0"/>
          </a:p>
        </p:txBody>
      </p:sp>
      <p:sp>
        <p:nvSpPr>
          <p:cNvPr id="6" name="Text 4"/>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肝疾患</a:t>
            </a:r>
            <a:endParaRPr lang="ja-JP" sz="1100" dirty="0"/>
          </a:p>
        </p:txBody>
      </p:sp>
      <p:sp>
        <p:nvSpPr>
          <p:cNvPr id="7" name="Text 5"/>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Panhuizen IF, et al. Br J Anaesth 2015;114:777-784 / ブリディオン静注 添付文書</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腎障害患者におけるヨード造影剤使用に関するガイドライン 2018</a:t>
            </a:r>
            <a:endParaRPr lang="ja-JP"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55680" cy="914400"/>
        </p:xfrm>
        <a:graphic>
          <a:graphicData uri="http://schemas.openxmlformats.org/drawingml/2006/table">
            <a:tbl>
              <a:tblPr/>
              <a:tblGrid>
                <a:gridCol w="2971800"/>
                <a:gridCol w="3959352"/>
                <a:gridCol w="4224528"/>
              </a:tblGrid>
              <a:tr h="338328">
                <a:tc>
                  <a:txBody>
                    <a:bodyPr/>
                    <a:lstStyle/>
                    <a:p>
                      <a:pPr algn="l" indent="0" marL="0">
                        <a:lnSpc>
                          <a:spcPts val="2400"/>
                        </a:lnSpc>
                        <a:buNone/>
                      </a:pPr>
                      <a:r>
                        <a:rPr lang="ja-JP" altLang="en-US" sz="2200" b="1" dirty="0">
                          <a:solidFill>
                            <a:srgbClr val="262626"/>
                          </a:solidFill>
                          <a:latin typeface="メイリオ" pitchFamily="34" charset="0"/>
                          <a:ea typeface="メイリオ" pitchFamily="34" charset="-122"/>
                          <a:cs typeface="メイリオ" pitchFamily="34" charset="-120"/>
                        </a:rPr>
                        <a:t>薬</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400"/>
                        </a:lnSpc>
                        <a:buNone/>
                      </a:pPr>
                      <a:r>
                        <a:rPr lang="ja-JP" altLang="en-US" sz="2200" b="1" dirty="0">
                          <a:solidFill>
                            <a:srgbClr val="262626"/>
                          </a:solidFill>
                          <a:latin typeface="メイリオ" pitchFamily="34" charset="0"/>
                          <a:ea typeface="メイリオ" pitchFamily="34" charset="-122"/>
                          <a:cs typeface="メイリオ" pitchFamily="34" charset="-120"/>
                        </a:rPr>
                        <a:t>何が起きるか</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400"/>
                        </a:lnSpc>
                        <a:buNone/>
                      </a:pPr>
                      <a:r>
                        <a:rPr lang="ja-JP" altLang="en-US" sz="2200" b="1" dirty="0">
                          <a:solidFill>
                            <a:srgbClr val="262626"/>
                          </a:solidFill>
                          <a:latin typeface="メイリオ" pitchFamily="34" charset="0"/>
                          <a:ea typeface="メイリオ" pitchFamily="34" charset="-122"/>
                          <a:cs typeface="メイリオ" pitchFamily="34" charset="-120"/>
                        </a:rPr>
                        <a:t>どうする</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640080">
                <a:tc>
                  <a:txBody>
                    <a:bodyPr/>
                    <a:lstStyle/>
                    <a:p>
                      <a:pPr algn="l" indent="0" marL="0">
                        <a:lnSpc>
                          <a:spcPts val="2400"/>
                        </a:lnSpc>
                        <a:buNone/>
                      </a:pPr>
                      <a:r>
                        <a:rPr lang="ja-JP" altLang="en-US" sz="2200" b="1" dirty="0">
                          <a:solidFill>
                            <a:srgbClr val="262626"/>
                          </a:solidFill>
                          <a:latin typeface="メイリオ" pitchFamily="34" charset="0"/>
                          <a:ea typeface="メイリオ" pitchFamily="34" charset="-122"/>
                          <a:cs typeface="メイリオ" pitchFamily="34" charset="-120"/>
                        </a:rPr>
                        <a:t>モルヒネ</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活性代謝物 M6G が貯留。</a:t>
                      </a:r>
                      <a:endParaRPr lang="en-US" sz="2200" dirty="0">
                        <a:latin typeface="メイリオ" charset="0"/>
                        <a:ea typeface="メイリオ" charset="0"/>
                        <a:cs typeface="メイリオ" charset="0"/>
                      </a:endParaRPr>
                    </a:p>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遅れて呼吸抑制</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避ける。フェンタニル主体に</a:t>
                      </a:r>
                      <a:endParaRPr lang="en-US" sz="2200" dirty="0">
                        <a:latin typeface="メイリオ" charset="0"/>
                        <a:ea typeface="メイリオ" charset="0"/>
                        <a:cs typeface="メイリオ" charset="0"/>
                      </a:endParaRPr>
                    </a:p>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 3-4）</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40080">
                <a:tc>
                  <a:txBody>
                    <a:bodyPr/>
                    <a:lstStyle/>
                    <a:p>
                      <a:pPr algn="l" indent="0" marL="0">
                        <a:lnSpc>
                          <a:spcPts val="2400"/>
                        </a:lnSpc>
                        <a:buNone/>
                      </a:pPr>
                      <a:r>
                        <a:rPr lang="ja-JP" altLang="en-US" sz="2200" b="1" dirty="0">
                          <a:solidFill>
                            <a:srgbClr val="262626"/>
                          </a:solidFill>
                          <a:latin typeface="メイリオ" pitchFamily="34" charset="0"/>
                          <a:ea typeface="メイリオ" pitchFamily="34" charset="-122"/>
                          <a:cs typeface="メイリオ" pitchFamily="34" charset="-120"/>
                        </a:rPr>
                        <a:t>ロクロニウム</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クリアランス低下で</a:t>
                      </a:r>
                      <a:endParaRPr lang="en-US" sz="2200" dirty="0">
                        <a:latin typeface="メイリオ" charset="0"/>
                        <a:ea typeface="メイリオ" charset="0"/>
                        <a:cs typeface="メイリオ" charset="0"/>
                      </a:endParaRPr>
                    </a:p>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遷延しうる</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モニターで追加を控えめに</a:t>
                      </a:r>
                      <a:endParaRPr lang="en-US" sz="2200" dirty="0">
                        <a:latin typeface="メイリオ" charset="0"/>
                        <a:ea typeface="メイリオ" charset="0"/>
                        <a:cs typeface="メイリオ" charset="0"/>
                      </a:endParaRPr>
                    </a:p>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 3-5）</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40080">
                <a:tc>
                  <a:txBody>
                    <a:bodyPr/>
                    <a:lstStyle/>
                    <a:p>
                      <a:pPr algn="l" indent="0" marL="0">
                        <a:lnSpc>
                          <a:spcPts val="2400"/>
                        </a:lnSpc>
                        <a:buNone/>
                      </a:pPr>
                      <a:r>
                        <a:rPr lang="ja-JP" altLang="en-US" sz="2200" b="1" dirty="0">
                          <a:solidFill>
                            <a:srgbClr val="262626"/>
                          </a:solidFill>
                          <a:latin typeface="メイリオ" pitchFamily="34" charset="0"/>
                          <a:ea typeface="メイリオ" pitchFamily="34" charset="-122"/>
                          <a:cs typeface="メイリオ" pitchFamily="34" charset="-120"/>
                        </a:rPr>
                        <a:t>スガマデクス</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CLcr 30 未満で排泄遅延。</a:t>
                      </a:r>
                      <a:endParaRPr lang="en-US" sz="2200" dirty="0">
                        <a:latin typeface="メイリオ" charset="0"/>
                        <a:ea typeface="メイリオ" charset="0"/>
                        <a:cs typeface="メイリオ" charset="0"/>
                      </a:endParaRPr>
                    </a:p>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7 日後も複合体を検出</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国内は注意、米国非推奨。</a:t>
                      </a:r>
                      <a:endParaRPr lang="en-US" sz="2200" dirty="0">
                        <a:latin typeface="メイリオ" charset="0"/>
                        <a:ea typeface="メイリオ" charset="0"/>
                        <a:cs typeface="メイリオ" charset="0"/>
                      </a:endParaRPr>
                    </a:p>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高流量透析で除去可</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40080">
                <a:tc>
                  <a:txBody>
                    <a:bodyPr/>
                    <a:lstStyle/>
                    <a:p>
                      <a:pPr algn="l" indent="0" marL="0">
                        <a:lnSpc>
                          <a:spcPts val="2400"/>
                        </a:lnSpc>
                        <a:buNone/>
                      </a:pPr>
                      <a:r>
                        <a:rPr lang="ja-JP" altLang="en-US" sz="2200" b="1" dirty="0">
                          <a:solidFill>
                            <a:srgbClr val="262626"/>
                          </a:solidFill>
                          <a:latin typeface="メイリオ" pitchFamily="34" charset="0"/>
                          <a:ea typeface="メイリオ" pitchFamily="34" charset="-122"/>
                          <a:cs typeface="メイリオ" pitchFamily="34" charset="-120"/>
                        </a:rPr>
                        <a:t>エノキサパリン</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蓄積。プロタミンで</a:t>
                      </a:r>
                      <a:endParaRPr lang="en-US" sz="2200" dirty="0">
                        <a:latin typeface="メイリオ" charset="0"/>
                        <a:ea typeface="メイリオ" charset="0"/>
                        <a:cs typeface="メイリオ" charset="0"/>
                      </a:endParaRPr>
                    </a:p>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完全には中和できない</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400"/>
                        </a:lnSpc>
                        <a:buNone/>
                      </a:pPr>
                      <a:r>
                        <a:rPr lang="ja-JP" altLang="en-US" sz="2200" b="1" dirty="0">
                          <a:solidFill>
                            <a:srgbClr val="C00000"/>
                          </a:solidFill>
                          <a:latin typeface="メイリオ" pitchFamily="34" charset="0"/>
                          <a:ea typeface="メイリオ" pitchFamily="34" charset="-122"/>
                          <a:cs typeface="メイリオ" pitchFamily="34" charset="-120"/>
                        </a:rPr>
                        <a:t>CLcr 30 未満は禁忌（国内）</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40080">
                <a:tc>
                  <a:txBody>
                    <a:bodyPr/>
                    <a:lstStyle/>
                    <a:p>
                      <a:pPr algn="l" indent="0" marL="0">
                        <a:lnSpc>
                          <a:spcPts val="2400"/>
                        </a:lnSpc>
                        <a:buNone/>
                      </a:pPr>
                      <a:r>
                        <a:rPr lang="ja-JP" altLang="en-US" sz="2200" b="1" dirty="0">
                          <a:solidFill>
                            <a:srgbClr val="262626"/>
                          </a:solidFill>
                          <a:latin typeface="メイリオ" pitchFamily="34" charset="0"/>
                          <a:ea typeface="メイリオ" pitchFamily="34" charset="-122"/>
                          <a:cs typeface="メイリオ" pitchFamily="34" charset="-120"/>
                        </a:rPr>
                        <a:t>ガバペンチノイド、</a:t>
                      </a:r>
                      <a:endParaRPr lang="en-US" sz="2200" dirty="0">
                        <a:latin typeface="メイリオ" charset="0"/>
                        <a:ea typeface="メイリオ" charset="0"/>
                        <a:cs typeface="メイリオ" charset="0"/>
                      </a:endParaRPr>
                    </a:p>
                    <a:p>
                      <a:pPr algn="l" indent="0" marL="0">
                        <a:lnSpc>
                          <a:spcPts val="2400"/>
                        </a:lnSpc>
                        <a:buNone/>
                      </a:pPr>
                      <a:r>
                        <a:rPr lang="ja-JP" altLang="en-US" sz="2200" b="1" dirty="0">
                          <a:solidFill>
                            <a:srgbClr val="262626"/>
                          </a:solidFill>
                          <a:latin typeface="メイリオ" pitchFamily="34" charset="0"/>
                          <a:ea typeface="メイリオ" pitchFamily="34" charset="-122"/>
                          <a:cs typeface="メイリオ" pitchFamily="34" charset="-120"/>
                        </a:rPr>
                        <a:t>トラマドール</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腎排泄で蓄積</a:t>
                      </a:r>
                      <a:endParaRPr lang="en-US" sz="2200" dirty="0">
                        <a:latin typeface="メイリオ" charset="0"/>
                        <a:ea typeface="メイリオ" charset="0"/>
                        <a:cs typeface="メイリオ" charset="0"/>
                      </a:endParaRPr>
                    </a:p>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（鎮静、ふらつき）</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減量か避ける</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40080">
                <a:tc>
                  <a:txBody>
                    <a:bodyPr/>
                    <a:lstStyle/>
                    <a:p>
                      <a:pPr algn="l" indent="0" marL="0">
                        <a:lnSpc>
                          <a:spcPts val="2400"/>
                        </a:lnSpc>
                        <a:buNone/>
                      </a:pPr>
                      <a:r>
                        <a:rPr lang="ja-JP" altLang="en-US" sz="2200" b="1" dirty="0">
                          <a:solidFill>
                            <a:srgbClr val="262626"/>
                          </a:solidFill>
                          <a:latin typeface="メイリオ" pitchFamily="34" charset="0"/>
                          <a:ea typeface="メイリオ" pitchFamily="34" charset="-122"/>
                          <a:cs typeface="メイリオ" pitchFamily="34" charset="-120"/>
                        </a:rPr>
                        <a:t>ヨード造影剤</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静注は eGFR 30 未満、</a:t>
                      </a:r>
                      <a:endParaRPr lang="en-US" sz="2200" dirty="0">
                        <a:latin typeface="メイリオ" charset="0"/>
                        <a:ea typeface="メイリオ" charset="0"/>
                        <a:cs typeface="メイリオ" charset="0"/>
                      </a:endParaRPr>
                    </a:p>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動注は 60 未満でリスク</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説明と生食の補液。</a:t>
                      </a:r>
                      <a:endParaRPr lang="en-US" sz="2200" dirty="0">
                        <a:latin typeface="メイリオ" charset="0"/>
                        <a:ea typeface="メイリオ" charset="0"/>
                        <a:cs typeface="メイリオ" charset="0"/>
                      </a:endParaRPr>
                    </a:p>
                    <a:p>
                      <a:pPr algn="l" indent="0" marL="0">
                        <a:lnSpc>
                          <a:spcPts val="2400"/>
                        </a:lnSpc>
                        <a:buNone/>
                      </a:pPr>
                      <a:r>
                        <a:rPr lang="ja-JP" altLang="en-US" sz="2200" dirty="0">
                          <a:solidFill>
                            <a:srgbClr val="262626"/>
                          </a:solidFill>
                          <a:latin typeface="メイリオ" pitchFamily="34" charset="0"/>
                          <a:ea typeface="メイリオ" pitchFamily="34" charset="-122"/>
                          <a:cs typeface="メイリオ" pitchFamily="34" charset="-120"/>
                        </a:rPr>
                        <a:t>臨時透析は不要</a:t>
                      </a:r>
                      <a:endParaRPr lang="en-US" sz="2200" dirty="0">
                        <a:latin typeface="メイリオ" charset="0"/>
                        <a:ea typeface="メイリオ" charset="0"/>
                        <a:cs typeface="メイリオ" charset="0"/>
                      </a:endParaRPr>
                    </a:p>
                  </a:txBody>
                  <a:tcPr marL="76200" marR="76200" marT="12700" marB="127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Child-Pugh と MELD</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透析</a:t>
            </a:r>
            <a:endParaRPr lang="ja-JP" sz="1100" dirty="0"/>
          </a:p>
        </p:txBody>
      </p:sp>
      <p:sp>
        <p:nvSpPr>
          <p:cNvPr id="5" name="Text 3"/>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CKD</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と薬</a:t>
            </a:r>
            <a:endParaRPr lang="ja-JP" sz="1100" dirty="0"/>
          </a:p>
        </p:txBody>
      </p:sp>
      <p:sp>
        <p:nvSpPr>
          <p:cNvPr id="6" name="Text 4"/>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肝疾患</a:t>
            </a:r>
            <a:endParaRPr lang="ja-JP" sz="1100" dirty="0"/>
          </a:p>
        </p:txBody>
      </p:sp>
      <p:sp>
        <p:nvSpPr>
          <p:cNvPr id="7" name="Text 5"/>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Teh SH, et al. Gastroenterology 2007;132:1261-1269/Northup PG,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Clin Gastroenterol Hepatol 2019;17:595-606/Mahmud N, et al. Hepatology 2021;73:204-218</a:t>
            </a:r>
            <a:endParaRPr lang="ja-JP"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55680" cy="914400"/>
        </p:xfrm>
        <a:graphic>
          <a:graphicData uri="http://schemas.openxmlformats.org/drawingml/2006/table">
            <a:tbl>
              <a:tblPr/>
              <a:tblGrid>
                <a:gridCol w="3538728"/>
                <a:gridCol w="2331720"/>
                <a:gridCol w="2697480"/>
                <a:gridCol w="2587752"/>
              </a:tblGrid>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項目</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1 点</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2 点</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3 点</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41148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肝性脳症</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なし</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軽度（I〜II 度）</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III 度以上</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腹水</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なし</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軽度</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中等度以上</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総ビリルビン（mg/dL）</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2.0 未満</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2.0〜3.0</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3.0 超</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アルブミン（g/dL）</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3.5 超</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2.8〜3.5</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2.8 未満</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PT 活性（INR）</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70% 超</a:t>
                      </a:r>
                      <a:endParaRPr lang="en-US" sz="2200" dirty="0">
                        <a:latin typeface="メイリオ" charset="0"/>
                        <a:ea typeface="メイリオ" charset="0"/>
                        <a:cs typeface="メイリオ" charset="0"/>
                      </a:endParaRPr>
                    </a:p>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（1.7 未満）</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40〜70%</a:t>
                      </a:r>
                      <a:endParaRPr lang="en-US" sz="2200" dirty="0">
                        <a:latin typeface="メイリオ" charset="0"/>
                        <a:ea typeface="メイリオ" charset="0"/>
                        <a:cs typeface="メイリオ" charset="0"/>
                      </a:endParaRPr>
                    </a:p>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（1.7〜2.3）</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40% 未満</a:t>
                      </a:r>
                      <a:endParaRPr lang="en-US" sz="2200" dirty="0">
                        <a:latin typeface="メイリオ" charset="0"/>
                        <a:ea typeface="メイリオ" charset="0"/>
                        <a:cs typeface="メイリオ" charset="0"/>
                      </a:endParaRPr>
                    </a:p>
                    <a:p>
                      <a:pPr algn="ctr"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（2.3 超）</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1" name="Text 8"/>
          <p:cNvSpPr txBox="1"/>
          <p:nvPr/>
        </p:nvSpPr>
        <p:spPr>
          <a:xfrm>
            <a:off x="502920" y="4809744"/>
            <a:ext cx="11183112" cy="996696"/>
          </a:xfrm>
          <a:prstGeom prst="rect">
            <a:avLst/>
          </a:prstGeom>
          <a:noFill/>
          <a:ln/>
        </p:spPr>
        <p:txBody>
          <a:bodyPr wrap="square" lIns="0" tIns="0" rIns="0" bIns="0" rtlCol="0" anchor="t"/>
          <a:lstStyle/>
          <a:p>
            <a:pPr algn="l" indent="0" marL="0">
              <a:spcAft>
                <a:spcPts val="600"/>
              </a:spcAft>
              <a:buNone/>
            </a:pPr>
            <a:r>
              <a:rPr lang="ja-JP" altLang="en-US" sz="2400" b="1" dirty="0">
                <a:solidFill>
                  <a:srgbClr val="0072B2"/>
                </a:solidFill>
                <a:latin typeface="メイリオ" pitchFamily="34" charset="0"/>
                <a:ea typeface="メイリオ" pitchFamily="34" charset="-122"/>
                <a:cs typeface="メイリオ" pitchFamily="34" charset="-120"/>
              </a:rPr>
              <a:t>A</a:t>
            </a:r>
            <a:r>
              <a:rPr lang="ja-JP" altLang="en-US" sz="2400" dirty="0">
                <a:solidFill>
                  <a:srgbClr val="262626"/>
                </a:solidFill>
                <a:latin typeface="メイリオ" pitchFamily="34" charset="0"/>
                <a:ea typeface="メイリオ" pitchFamily="34" charset="-122"/>
                <a:cs typeface="メイリオ" pitchFamily="34" charset="-120"/>
              </a:rPr>
              <a:t>：5〜6 点、</a:t>
            </a:r>
            <a:r>
              <a:rPr lang="ja-JP" altLang="en-US" sz="2400" b="1" dirty="0">
                <a:solidFill>
                  <a:srgbClr val="0072B2"/>
                </a:solidFill>
                <a:latin typeface="メイリオ" pitchFamily="34" charset="0"/>
                <a:ea typeface="メイリオ" pitchFamily="34" charset="-122"/>
                <a:cs typeface="メイリオ" pitchFamily="34" charset="-120"/>
              </a:rPr>
              <a:t>B</a:t>
            </a:r>
            <a:r>
              <a:rPr lang="ja-JP" altLang="en-US" sz="2400" dirty="0">
                <a:solidFill>
                  <a:srgbClr val="262626"/>
                </a:solidFill>
                <a:latin typeface="メイリオ" pitchFamily="34" charset="0"/>
                <a:ea typeface="メイリオ" pitchFamily="34" charset="-122"/>
                <a:cs typeface="メイリオ" pitchFamily="34" charset="-120"/>
              </a:rPr>
              <a:t>：7〜9 点、</a:t>
            </a:r>
            <a:r>
              <a:rPr lang="ja-JP" altLang="en-US" sz="2400" b="1" dirty="0">
                <a:solidFill>
                  <a:srgbClr val="0072B2"/>
                </a:solidFill>
                <a:latin typeface="メイリオ" pitchFamily="34" charset="0"/>
                <a:ea typeface="メイリオ" pitchFamily="34" charset="-122"/>
                <a:cs typeface="メイリオ" pitchFamily="34" charset="-120"/>
              </a:rPr>
              <a:t>C</a:t>
            </a:r>
            <a:r>
              <a:rPr lang="ja-JP" altLang="en-US" sz="2400" dirty="0">
                <a:solidFill>
                  <a:srgbClr val="262626"/>
                </a:solidFill>
                <a:latin typeface="メイリオ" pitchFamily="34" charset="0"/>
                <a:ea typeface="メイリオ" pitchFamily="34" charset="-122"/>
                <a:cs typeface="メイリオ" pitchFamily="34" charset="-120"/>
              </a:rPr>
              <a:t>：10〜15 点。</a:t>
            </a:r>
            <a:endParaRPr lang="ja-JP" sz="2400" dirty="0"/>
          </a:p>
          <a:p>
            <a:pPr algn="l" indent="0" marL="0">
              <a:spcAft>
                <a:spcPts val="600"/>
              </a:spcAft>
              <a:buNone/>
            </a:pPr>
            <a:r>
              <a:rPr lang="ja-JP" altLang="en-US" sz="2400" b="1" dirty="0">
                <a:solidFill>
                  <a:srgbClr val="0072B2"/>
                </a:solidFill>
                <a:latin typeface="メイリオ" pitchFamily="34" charset="0"/>
                <a:ea typeface="メイリオ" pitchFamily="34" charset="-122"/>
                <a:cs typeface="メイリオ" pitchFamily="34" charset="-120"/>
              </a:rPr>
              <a:t>MELD</a:t>
            </a:r>
            <a:r>
              <a:rPr lang="ja-JP" altLang="en-US" sz="2400" dirty="0">
                <a:solidFill>
                  <a:srgbClr val="262626"/>
                </a:solidFill>
                <a:latin typeface="メイリオ" pitchFamily="34" charset="0"/>
                <a:ea typeface="メイリオ" pitchFamily="34" charset="-122"/>
                <a:cs typeface="メイリオ" pitchFamily="34" charset="-120"/>
              </a:rPr>
              <a:t> はビリルビン・クレアチニン・INR から計算</a:t>
            </a:r>
            <a:endParaRPr lang="ja-JP"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肝疾患：凝固と薬</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透析</a:t>
            </a:r>
            <a:endParaRPr lang="ja-JP" sz="1100" dirty="0"/>
          </a:p>
        </p:txBody>
      </p:sp>
      <p:sp>
        <p:nvSpPr>
          <p:cNvPr id="5" name="Text 3"/>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CKD</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と薬</a:t>
            </a:r>
            <a:endParaRPr lang="ja-JP" sz="1100" dirty="0"/>
          </a:p>
        </p:txBody>
      </p:sp>
      <p:sp>
        <p:nvSpPr>
          <p:cNvPr id="6" name="Text 4"/>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肝疾患</a:t>
            </a:r>
            <a:endParaRPr lang="ja-JP" sz="1100" dirty="0"/>
          </a:p>
        </p:txBody>
      </p:sp>
      <p:sp>
        <p:nvSpPr>
          <p:cNvPr id="7" name="Text 5"/>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O'Leary JG, et al. Gastroenterology 2019;157:34-43（AGA） / Stöhr T, et al. Br J Anaesth</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2021;127:415-423 / Khalil M, et al. Anesthesiology 1994;80:1241-1247</a:t>
            </a:r>
            <a:endParaRPr lang="ja-JP" sz="1600" dirty="0"/>
          </a:p>
        </p:txBody>
      </p:sp>
      <p:sp>
        <p:nvSpPr>
          <p:cNvPr id="10" name="Shape 8"/>
          <p:cNvSpPr/>
          <p:nvPr/>
        </p:nvSpPr>
        <p:spPr>
          <a:xfrm>
            <a:off x="502920" y="1691640"/>
            <a:ext cx="5472684" cy="4197096"/>
          </a:xfrm>
          <a:prstGeom prst="roundRect">
            <a:avLst>
              <a:gd name="adj" fmla="val 1743"/>
            </a:avLst>
          </a:prstGeom>
          <a:solidFill>
            <a:srgbClr val="F2F2F2"/>
          </a:solidFill>
          <a:ln/>
        </p:spPr>
      </p:sp>
      <p:sp>
        <p:nvSpPr>
          <p:cNvPr id="11" name="Text 9"/>
          <p:cNvSpPr txBox="1"/>
          <p:nvPr/>
        </p:nvSpPr>
        <p:spPr>
          <a:xfrm>
            <a:off x="594360" y="1783080"/>
            <a:ext cx="5289804" cy="420624"/>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凝固</a:t>
            </a:r>
            <a:endParaRPr lang="ja-JP" sz="2400" dirty="0"/>
          </a:p>
        </p:txBody>
      </p:sp>
      <p:sp>
        <p:nvSpPr>
          <p:cNvPr id="12" name="Text 10"/>
          <p:cNvSpPr txBox="1"/>
          <p:nvPr/>
        </p:nvSpPr>
        <p:spPr>
          <a:xfrm>
            <a:off x="594360" y="2221992"/>
            <a:ext cx="329184" cy="374904"/>
          </a:xfrm>
          <a:prstGeom prst="rect">
            <a:avLst/>
          </a:prstGeom>
          <a:noFill/>
          <a:ln/>
        </p:spPr>
        <p:txBody>
          <a:bodyPr wrap="square" lIns="0" tIns="0" rIns="0" bIns="0" rtlCol="0" anchor="t"/>
          <a:lstStyle/>
          <a:p>
            <a:pPr algn="l" indent="0" marL="0">
              <a:buNone/>
            </a:pPr>
            <a:r>
              <a:rPr lang="ja-JP" altLang="en-US" sz="2200" dirty="0">
                <a:solidFill>
                  <a:srgbClr val="0072B2"/>
                </a:solidFill>
                <a:latin typeface="メイリオ" pitchFamily="34" charset="0"/>
                <a:ea typeface="メイリオ" pitchFamily="34" charset="-122"/>
                <a:cs typeface="メイリオ" pitchFamily="34" charset="-120"/>
              </a:rPr>
              <a:t>•</a:t>
            </a:r>
            <a:endParaRPr lang="ja-JP" sz="2200" dirty="0"/>
          </a:p>
        </p:txBody>
      </p:sp>
      <p:sp>
        <p:nvSpPr>
          <p:cNvPr id="13" name="Text 11"/>
          <p:cNvSpPr txBox="1"/>
          <p:nvPr/>
        </p:nvSpPr>
        <p:spPr>
          <a:xfrm>
            <a:off x="841248" y="2221992"/>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PT-INR の延長は</a:t>
            </a:r>
            <a:endParaRPr lang="ja-JP" sz="2200" dirty="0"/>
          </a:p>
        </p:txBody>
      </p:sp>
      <p:sp>
        <p:nvSpPr>
          <p:cNvPr id="14" name="Text 12"/>
          <p:cNvSpPr txBox="1"/>
          <p:nvPr/>
        </p:nvSpPr>
        <p:spPr>
          <a:xfrm>
            <a:off x="841248" y="2557577"/>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出血リスクを反映しない（再均衡）</a:t>
            </a:r>
            <a:endParaRPr lang="ja-JP" sz="2200" dirty="0"/>
          </a:p>
        </p:txBody>
      </p:sp>
      <p:sp>
        <p:nvSpPr>
          <p:cNvPr id="15" name="Text 13"/>
          <p:cNvSpPr txBox="1"/>
          <p:nvPr/>
        </p:nvSpPr>
        <p:spPr>
          <a:xfrm>
            <a:off x="594360" y="2966314"/>
            <a:ext cx="329184" cy="374904"/>
          </a:xfrm>
          <a:prstGeom prst="rect">
            <a:avLst/>
          </a:prstGeom>
          <a:noFill/>
          <a:ln/>
        </p:spPr>
        <p:txBody>
          <a:bodyPr wrap="square" lIns="0" tIns="0" rIns="0" bIns="0" rtlCol="0" anchor="t"/>
          <a:lstStyle/>
          <a:p>
            <a:pPr algn="l" indent="0" marL="0">
              <a:buNone/>
            </a:pPr>
            <a:r>
              <a:rPr lang="ja-JP" altLang="en-US" sz="2200" dirty="0">
                <a:solidFill>
                  <a:srgbClr val="0072B2"/>
                </a:solidFill>
                <a:latin typeface="メイリオ" pitchFamily="34" charset="0"/>
                <a:ea typeface="メイリオ" pitchFamily="34" charset="-122"/>
                <a:cs typeface="メイリオ" pitchFamily="34" charset="-120"/>
              </a:rPr>
              <a:t>•</a:t>
            </a:r>
            <a:endParaRPr lang="ja-JP" sz="2200" dirty="0"/>
          </a:p>
        </p:txBody>
      </p:sp>
      <p:sp>
        <p:nvSpPr>
          <p:cNvPr id="16" name="Text 14"/>
          <p:cNvSpPr txBox="1"/>
          <p:nvPr/>
        </p:nvSpPr>
        <p:spPr>
          <a:xfrm>
            <a:off x="841248" y="2966314"/>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INR を下げるための</a:t>
            </a:r>
            <a:endParaRPr lang="ja-JP" sz="2200" dirty="0"/>
          </a:p>
        </p:txBody>
      </p:sp>
      <p:sp>
        <p:nvSpPr>
          <p:cNvPr id="17" name="Text 15"/>
          <p:cNvSpPr txBox="1"/>
          <p:nvPr/>
        </p:nvSpPr>
        <p:spPr>
          <a:xfrm>
            <a:off x="841248" y="3301898"/>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FFP 大量投与はしない</a:t>
            </a:r>
            <a:endParaRPr lang="ja-JP" sz="2200" dirty="0"/>
          </a:p>
        </p:txBody>
      </p:sp>
      <p:sp>
        <p:nvSpPr>
          <p:cNvPr id="18" name="Text 16"/>
          <p:cNvSpPr txBox="1"/>
          <p:nvPr/>
        </p:nvSpPr>
        <p:spPr>
          <a:xfrm>
            <a:off x="594360" y="3711550"/>
            <a:ext cx="329184" cy="374904"/>
          </a:xfrm>
          <a:prstGeom prst="rect">
            <a:avLst/>
          </a:prstGeom>
          <a:noFill/>
          <a:ln/>
        </p:spPr>
        <p:txBody>
          <a:bodyPr wrap="square" lIns="0" tIns="0" rIns="0" bIns="0" rtlCol="0" anchor="t"/>
          <a:lstStyle/>
          <a:p>
            <a:pPr algn="l" indent="0" marL="0">
              <a:buNone/>
            </a:pPr>
            <a:r>
              <a:rPr lang="ja-JP" altLang="en-US" sz="2200" dirty="0">
                <a:solidFill>
                  <a:srgbClr val="0072B2"/>
                </a:solidFill>
                <a:latin typeface="メイリオ" pitchFamily="34" charset="0"/>
                <a:ea typeface="メイリオ" pitchFamily="34" charset="-122"/>
                <a:cs typeface="メイリオ" pitchFamily="34" charset="-120"/>
              </a:rPr>
              <a:t>•</a:t>
            </a:r>
            <a:endParaRPr lang="ja-JP" sz="2200" dirty="0"/>
          </a:p>
        </p:txBody>
      </p:sp>
      <p:sp>
        <p:nvSpPr>
          <p:cNvPr id="19" name="Text 17"/>
          <p:cNvSpPr txBox="1"/>
          <p:nvPr/>
        </p:nvSpPr>
        <p:spPr>
          <a:xfrm>
            <a:off x="841248" y="3711550"/>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高リスク手技の目安：</a:t>
            </a:r>
            <a:endParaRPr lang="ja-JP" sz="2200" dirty="0"/>
          </a:p>
        </p:txBody>
      </p:sp>
      <p:sp>
        <p:nvSpPr>
          <p:cNvPr id="20" name="Text 18"/>
          <p:cNvSpPr txBox="1"/>
          <p:nvPr/>
        </p:nvSpPr>
        <p:spPr>
          <a:xfrm>
            <a:off x="841248" y="4047134"/>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血小板 5 万超、</a:t>
            </a:r>
            <a:endParaRPr lang="ja-JP" sz="2200" dirty="0"/>
          </a:p>
        </p:txBody>
      </p:sp>
      <p:sp>
        <p:nvSpPr>
          <p:cNvPr id="21" name="Text 19"/>
          <p:cNvSpPr txBox="1"/>
          <p:nvPr/>
        </p:nvSpPr>
        <p:spPr>
          <a:xfrm>
            <a:off x="841248" y="4381805"/>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フィブリノゲン 120 超、</a:t>
            </a:r>
            <a:endParaRPr lang="ja-JP" sz="2200" dirty="0"/>
          </a:p>
        </p:txBody>
      </p:sp>
      <p:sp>
        <p:nvSpPr>
          <p:cNvPr id="22" name="Text 20"/>
          <p:cNvSpPr txBox="1"/>
          <p:nvPr/>
        </p:nvSpPr>
        <p:spPr>
          <a:xfrm>
            <a:off x="841248" y="4717390"/>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Hct 25% 以上</a:t>
            </a:r>
            <a:endParaRPr lang="ja-JP" sz="2200" dirty="0"/>
          </a:p>
        </p:txBody>
      </p:sp>
      <p:sp>
        <p:nvSpPr>
          <p:cNvPr id="23" name="Text 21"/>
          <p:cNvSpPr txBox="1"/>
          <p:nvPr/>
        </p:nvSpPr>
        <p:spPr>
          <a:xfrm>
            <a:off x="594360" y="5127041"/>
            <a:ext cx="329184" cy="374904"/>
          </a:xfrm>
          <a:prstGeom prst="rect">
            <a:avLst/>
          </a:prstGeom>
          <a:noFill/>
          <a:ln/>
        </p:spPr>
        <p:txBody>
          <a:bodyPr wrap="square" lIns="0" tIns="0" rIns="0" bIns="0" rtlCol="0" anchor="t"/>
          <a:lstStyle/>
          <a:p>
            <a:pPr algn="l" indent="0" marL="0">
              <a:buNone/>
            </a:pPr>
            <a:r>
              <a:rPr lang="ja-JP" altLang="en-US" sz="2200" dirty="0">
                <a:solidFill>
                  <a:srgbClr val="0072B2"/>
                </a:solidFill>
                <a:latin typeface="メイリオ" pitchFamily="34" charset="0"/>
                <a:ea typeface="メイリオ" pitchFamily="34" charset="-122"/>
                <a:cs typeface="メイリオ" pitchFamily="34" charset="-120"/>
              </a:rPr>
              <a:t>•</a:t>
            </a:r>
            <a:endParaRPr lang="ja-JP" sz="2200" dirty="0"/>
          </a:p>
        </p:txBody>
      </p:sp>
      <p:sp>
        <p:nvSpPr>
          <p:cNvPr id="24" name="Text 22"/>
          <p:cNvSpPr txBox="1"/>
          <p:nvPr/>
        </p:nvSpPr>
        <p:spPr>
          <a:xfrm>
            <a:off x="841248" y="5127041"/>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低リスク手技の前に</a:t>
            </a:r>
            <a:endParaRPr lang="ja-JP" sz="2200" dirty="0"/>
          </a:p>
        </p:txBody>
      </p:sp>
      <p:sp>
        <p:nvSpPr>
          <p:cNvPr id="25" name="Text 23"/>
          <p:cNvSpPr txBox="1"/>
          <p:nvPr/>
        </p:nvSpPr>
        <p:spPr>
          <a:xfrm>
            <a:off x="841248" y="5461711"/>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ルーチンで補正しない</a:t>
            </a:r>
            <a:endParaRPr lang="ja-JP" sz="2200" dirty="0"/>
          </a:p>
        </p:txBody>
      </p:sp>
      <p:sp>
        <p:nvSpPr>
          <p:cNvPr id="26" name="Shape 24"/>
          <p:cNvSpPr/>
          <p:nvPr/>
        </p:nvSpPr>
        <p:spPr>
          <a:xfrm>
            <a:off x="6213348" y="1691640"/>
            <a:ext cx="5472684" cy="4197096"/>
          </a:xfrm>
          <a:prstGeom prst="roundRect">
            <a:avLst>
              <a:gd name="adj" fmla="val 1743"/>
            </a:avLst>
          </a:prstGeom>
          <a:solidFill>
            <a:srgbClr val="F2F2F2"/>
          </a:solidFill>
          <a:ln/>
        </p:spPr>
      </p:sp>
      <p:sp>
        <p:nvSpPr>
          <p:cNvPr id="27" name="Text 25"/>
          <p:cNvSpPr txBox="1"/>
          <p:nvPr/>
        </p:nvSpPr>
        <p:spPr>
          <a:xfrm>
            <a:off x="6304788" y="1783080"/>
            <a:ext cx="5289804" cy="420624"/>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薬</a:t>
            </a:r>
            <a:endParaRPr lang="ja-JP" sz="2400" dirty="0"/>
          </a:p>
        </p:txBody>
      </p:sp>
      <p:sp>
        <p:nvSpPr>
          <p:cNvPr id="28" name="Text 26"/>
          <p:cNvSpPr txBox="1"/>
          <p:nvPr/>
        </p:nvSpPr>
        <p:spPr>
          <a:xfrm>
            <a:off x="6304788" y="2221992"/>
            <a:ext cx="329184" cy="374904"/>
          </a:xfrm>
          <a:prstGeom prst="rect">
            <a:avLst/>
          </a:prstGeom>
          <a:noFill/>
          <a:ln/>
        </p:spPr>
        <p:txBody>
          <a:bodyPr wrap="square" lIns="0" tIns="0" rIns="0" bIns="0" rtlCol="0" anchor="t"/>
          <a:lstStyle/>
          <a:p>
            <a:pPr algn="l" indent="0" marL="0">
              <a:buNone/>
            </a:pPr>
            <a:r>
              <a:rPr lang="ja-JP" altLang="en-US" sz="2200" dirty="0">
                <a:solidFill>
                  <a:srgbClr val="D55E00"/>
                </a:solidFill>
                <a:latin typeface="メイリオ" pitchFamily="34" charset="0"/>
                <a:ea typeface="メイリオ" pitchFamily="34" charset="-122"/>
                <a:cs typeface="メイリオ" pitchFamily="34" charset="-120"/>
              </a:rPr>
              <a:t>•</a:t>
            </a:r>
            <a:endParaRPr lang="ja-JP" sz="2200" dirty="0"/>
          </a:p>
        </p:txBody>
      </p:sp>
      <p:sp>
        <p:nvSpPr>
          <p:cNvPr id="29" name="Text 27"/>
          <p:cNvSpPr txBox="1"/>
          <p:nvPr/>
        </p:nvSpPr>
        <p:spPr>
          <a:xfrm>
            <a:off x="6551676" y="2221992"/>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プロポフォールは単回も持続も</a:t>
            </a:r>
            <a:endParaRPr lang="ja-JP" sz="2200" dirty="0"/>
          </a:p>
        </p:txBody>
      </p:sp>
      <p:sp>
        <p:nvSpPr>
          <p:cNvPr id="30" name="Text 28"/>
          <p:cNvSpPr txBox="1"/>
          <p:nvPr/>
        </p:nvSpPr>
        <p:spPr>
          <a:xfrm>
            <a:off x="6551676" y="2557577"/>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動態はほぼ同じ。覚醒はやや遅れる</a:t>
            </a:r>
            <a:endParaRPr lang="ja-JP" sz="2200" dirty="0"/>
          </a:p>
        </p:txBody>
      </p:sp>
      <p:sp>
        <p:nvSpPr>
          <p:cNvPr id="31" name="Text 29"/>
          <p:cNvSpPr txBox="1"/>
          <p:nvPr/>
        </p:nvSpPr>
        <p:spPr>
          <a:xfrm>
            <a:off x="6304788" y="2966314"/>
            <a:ext cx="329184" cy="374904"/>
          </a:xfrm>
          <a:prstGeom prst="rect">
            <a:avLst/>
          </a:prstGeom>
          <a:noFill/>
          <a:ln/>
        </p:spPr>
        <p:txBody>
          <a:bodyPr wrap="square" lIns="0" tIns="0" rIns="0" bIns="0" rtlCol="0" anchor="t"/>
          <a:lstStyle/>
          <a:p>
            <a:pPr algn="l" indent="0" marL="0">
              <a:buNone/>
            </a:pPr>
            <a:r>
              <a:rPr lang="ja-JP" altLang="en-US" sz="2200" dirty="0">
                <a:solidFill>
                  <a:srgbClr val="D55E00"/>
                </a:solidFill>
                <a:latin typeface="メイリオ" pitchFamily="34" charset="0"/>
                <a:ea typeface="メイリオ" pitchFamily="34" charset="-122"/>
                <a:cs typeface="メイリオ" pitchFamily="34" charset="-120"/>
              </a:rPr>
              <a:t>•</a:t>
            </a:r>
            <a:endParaRPr lang="ja-JP" sz="2200" dirty="0"/>
          </a:p>
        </p:txBody>
      </p:sp>
      <p:sp>
        <p:nvSpPr>
          <p:cNvPr id="32" name="Text 30"/>
          <p:cNvSpPr txBox="1"/>
          <p:nvPr/>
        </p:nvSpPr>
        <p:spPr>
          <a:xfrm>
            <a:off x="6551676" y="2966314"/>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レミマゾラム・ミダゾラム：</a:t>
            </a:r>
            <a:endParaRPr lang="ja-JP" sz="2200" dirty="0"/>
          </a:p>
        </p:txBody>
      </p:sp>
      <p:sp>
        <p:nvSpPr>
          <p:cNvPr id="33" name="Text 31"/>
          <p:cNvSpPr txBox="1"/>
          <p:nvPr/>
        </p:nvSpPr>
        <p:spPr>
          <a:xfrm>
            <a:off x="6551676" y="3301898"/>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Child C で遷延、脳症</a:t>
            </a:r>
            <a:endParaRPr lang="ja-JP" sz="2200" dirty="0"/>
          </a:p>
        </p:txBody>
      </p:sp>
      <p:sp>
        <p:nvSpPr>
          <p:cNvPr id="34" name="Text 32"/>
          <p:cNvSpPr txBox="1"/>
          <p:nvPr/>
        </p:nvSpPr>
        <p:spPr>
          <a:xfrm>
            <a:off x="6304788" y="3711550"/>
            <a:ext cx="329184" cy="374904"/>
          </a:xfrm>
          <a:prstGeom prst="rect">
            <a:avLst/>
          </a:prstGeom>
          <a:noFill/>
          <a:ln/>
        </p:spPr>
        <p:txBody>
          <a:bodyPr wrap="square" lIns="0" tIns="0" rIns="0" bIns="0" rtlCol="0" anchor="t"/>
          <a:lstStyle/>
          <a:p>
            <a:pPr algn="l" indent="0" marL="0">
              <a:buNone/>
            </a:pPr>
            <a:r>
              <a:rPr lang="ja-JP" altLang="en-US" sz="2200" dirty="0">
                <a:solidFill>
                  <a:srgbClr val="D55E00"/>
                </a:solidFill>
                <a:latin typeface="メイリオ" pitchFamily="34" charset="0"/>
                <a:ea typeface="メイリオ" pitchFamily="34" charset="-122"/>
                <a:cs typeface="メイリオ" pitchFamily="34" charset="-120"/>
              </a:rPr>
              <a:t>•</a:t>
            </a:r>
            <a:endParaRPr lang="ja-JP" sz="2200" dirty="0"/>
          </a:p>
        </p:txBody>
      </p:sp>
      <p:sp>
        <p:nvSpPr>
          <p:cNvPr id="35" name="Text 33"/>
          <p:cNvSpPr txBox="1"/>
          <p:nvPr/>
        </p:nvSpPr>
        <p:spPr>
          <a:xfrm>
            <a:off x="6551676" y="3711550"/>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ロクロニウム：</a:t>
            </a:r>
            <a:endParaRPr lang="ja-JP" sz="2200" dirty="0"/>
          </a:p>
        </p:txBody>
      </p:sp>
      <p:sp>
        <p:nvSpPr>
          <p:cNvPr id="36" name="Text 34"/>
          <p:cNvSpPr txBox="1"/>
          <p:nvPr/>
        </p:nvSpPr>
        <p:spPr>
          <a:xfrm>
            <a:off x="6551676" y="4047134"/>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効き始めが遅く、回復が遷延</a:t>
            </a:r>
            <a:endParaRPr lang="ja-JP" sz="2200" dirty="0"/>
          </a:p>
        </p:txBody>
      </p:sp>
      <p:sp>
        <p:nvSpPr>
          <p:cNvPr id="37" name="Text 35"/>
          <p:cNvSpPr txBox="1"/>
          <p:nvPr/>
        </p:nvSpPr>
        <p:spPr>
          <a:xfrm>
            <a:off x="6304788" y="4455871"/>
            <a:ext cx="329184" cy="374904"/>
          </a:xfrm>
          <a:prstGeom prst="rect">
            <a:avLst/>
          </a:prstGeom>
          <a:noFill/>
          <a:ln/>
        </p:spPr>
        <p:txBody>
          <a:bodyPr wrap="square" lIns="0" tIns="0" rIns="0" bIns="0" rtlCol="0" anchor="t"/>
          <a:lstStyle/>
          <a:p>
            <a:pPr algn="l" indent="0" marL="0">
              <a:buNone/>
            </a:pPr>
            <a:r>
              <a:rPr lang="ja-JP" altLang="en-US" sz="2200" dirty="0">
                <a:solidFill>
                  <a:srgbClr val="D55E00"/>
                </a:solidFill>
                <a:latin typeface="メイリオ" pitchFamily="34" charset="0"/>
                <a:ea typeface="メイリオ" pitchFamily="34" charset="-122"/>
                <a:cs typeface="メイリオ" pitchFamily="34" charset="-120"/>
              </a:rPr>
              <a:t>•</a:t>
            </a:r>
            <a:endParaRPr lang="ja-JP" sz="2200" dirty="0"/>
          </a:p>
        </p:txBody>
      </p:sp>
      <p:sp>
        <p:nvSpPr>
          <p:cNvPr id="38" name="Text 36"/>
          <p:cNvSpPr txBox="1"/>
          <p:nvPr/>
        </p:nvSpPr>
        <p:spPr>
          <a:xfrm>
            <a:off x="6551676" y="4455871"/>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レミフェンタニルは動態不変</a:t>
            </a:r>
            <a:endParaRPr lang="ja-JP" sz="2200" dirty="0"/>
          </a:p>
        </p:txBody>
      </p:sp>
      <p:sp>
        <p:nvSpPr>
          <p:cNvPr id="39" name="Text 37"/>
          <p:cNvSpPr txBox="1"/>
          <p:nvPr/>
        </p:nvSpPr>
        <p:spPr>
          <a:xfrm>
            <a:off x="6551676" y="4791456"/>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（換気抑制には敏感）</a:t>
            </a:r>
            <a:endParaRPr lang="ja-JP" sz="2200" dirty="0"/>
          </a:p>
        </p:txBody>
      </p:sp>
      <p:sp>
        <p:nvSpPr>
          <p:cNvPr id="40" name="Text 38"/>
          <p:cNvSpPr txBox="1"/>
          <p:nvPr/>
        </p:nvSpPr>
        <p:spPr>
          <a:xfrm>
            <a:off x="6304788" y="5201107"/>
            <a:ext cx="329184" cy="374904"/>
          </a:xfrm>
          <a:prstGeom prst="rect">
            <a:avLst/>
          </a:prstGeom>
          <a:noFill/>
          <a:ln/>
        </p:spPr>
        <p:txBody>
          <a:bodyPr wrap="square" lIns="0" tIns="0" rIns="0" bIns="0" rtlCol="0" anchor="t"/>
          <a:lstStyle/>
          <a:p>
            <a:pPr algn="l" indent="0" marL="0">
              <a:buNone/>
            </a:pPr>
            <a:r>
              <a:rPr lang="ja-JP" altLang="en-US" sz="2200" dirty="0">
                <a:solidFill>
                  <a:srgbClr val="D55E00"/>
                </a:solidFill>
                <a:latin typeface="メイリオ" pitchFamily="34" charset="0"/>
                <a:ea typeface="メイリオ" pitchFamily="34" charset="-122"/>
                <a:cs typeface="メイリオ" pitchFamily="34" charset="-120"/>
              </a:rPr>
              <a:t>•</a:t>
            </a:r>
            <a:endParaRPr lang="ja-JP" sz="2200" dirty="0"/>
          </a:p>
        </p:txBody>
      </p:sp>
      <p:sp>
        <p:nvSpPr>
          <p:cNvPr id="41" name="Text 39"/>
          <p:cNvSpPr txBox="1"/>
          <p:nvPr/>
        </p:nvSpPr>
        <p:spPr>
          <a:xfrm>
            <a:off x="6551676" y="5201107"/>
            <a:ext cx="504291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オピオイド・ベンゾは脳症の誘因</a:t>
            </a:r>
            <a:endParaRPr lang="ja-JP"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延期と相談の目安</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透析</a:t>
            </a:r>
            <a:endParaRPr lang="ja-JP" sz="1100" dirty="0"/>
          </a:p>
        </p:txBody>
      </p:sp>
      <p:sp>
        <p:nvSpPr>
          <p:cNvPr id="5" name="Text 3"/>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CKD</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と薬</a:t>
            </a:r>
            <a:endParaRPr lang="ja-JP" sz="1100" dirty="0"/>
          </a:p>
        </p:txBody>
      </p:sp>
      <p:sp>
        <p:nvSpPr>
          <p:cNvPr id="6" name="Text 4"/>
          <p:cNvSpPr/>
          <p:nvPr/>
        </p:nvSpPr>
        <p:spPr>
          <a:xfrm>
            <a:off x="10707624"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肝疾患</a:t>
            </a:r>
            <a:endParaRPr lang="ja-JP" sz="1100" dirty="0"/>
          </a:p>
        </p:txBody>
      </p:sp>
      <p:sp>
        <p:nvSpPr>
          <p:cNvPr id="7" name="Text 5"/>
          <p:cNvSpPr/>
          <p:nvPr/>
        </p:nvSpPr>
        <p:spPr>
          <a:xfrm>
            <a:off x="11384280"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まとめ</a:t>
            </a:r>
            <a:endParaRPr lang="ja-JP" sz="110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Northup PG, et al. Clin Gastroenterol Hepatol 2019;17:595-606/Fielding-Singh V,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Anesthesiology 2025;143:1030-1048/Neeff H, et al. J Gastrointest Surg 2011;15:1-11</a:t>
            </a:r>
            <a:endParaRPr lang="ja-JP" sz="1600" dirty="0"/>
          </a:p>
        </p:txBody>
      </p:sp>
      <p:sp>
        <p:nvSpPr>
          <p:cNvPr id="10" name="Shape 8"/>
          <p:cNvSpPr/>
          <p:nvPr/>
        </p:nvSpPr>
        <p:spPr>
          <a:xfrm>
            <a:off x="502920" y="1691640"/>
            <a:ext cx="5065776" cy="3244291"/>
          </a:xfrm>
          <a:prstGeom prst="roundRect">
            <a:avLst>
              <a:gd name="adj" fmla="val 2255"/>
            </a:avLst>
          </a:prstGeom>
          <a:solidFill>
            <a:srgbClr val="F2F2F2"/>
          </a:solidFill>
          <a:ln/>
        </p:spPr>
      </p:sp>
      <p:sp>
        <p:nvSpPr>
          <p:cNvPr id="11" name="Text 9"/>
          <p:cNvSpPr txBox="1"/>
          <p:nvPr/>
        </p:nvSpPr>
        <p:spPr>
          <a:xfrm>
            <a:off x="594360" y="1783080"/>
            <a:ext cx="4882896" cy="420624"/>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腎・透析</a:t>
            </a:r>
            <a:endParaRPr lang="ja-JP" sz="2400" dirty="0"/>
          </a:p>
        </p:txBody>
      </p:sp>
      <p:sp>
        <p:nvSpPr>
          <p:cNvPr id="12" name="Text 10"/>
          <p:cNvSpPr txBox="1"/>
          <p:nvPr/>
        </p:nvSpPr>
        <p:spPr>
          <a:xfrm>
            <a:off x="594360" y="2221992"/>
            <a:ext cx="329184" cy="374904"/>
          </a:xfrm>
          <a:prstGeom prst="rect">
            <a:avLst/>
          </a:prstGeom>
          <a:noFill/>
          <a:ln/>
        </p:spPr>
        <p:txBody>
          <a:bodyPr wrap="square" lIns="0" tIns="0" rIns="0" bIns="0" rtlCol="0" anchor="t"/>
          <a:lstStyle/>
          <a:p>
            <a:pPr algn="l" indent="0" marL="0">
              <a:buNone/>
            </a:pPr>
            <a:r>
              <a:rPr lang="ja-JP" altLang="en-US" sz="2200" dirty="0">
                <a:solidFill>
                  <a:srgbClr val="0072B2"/>
                </a:solidFill>
                <a:latin typeface="メイリオ" pitchFamily="34" charset="0"/>
                <a:ea typeface="メイリオ" pitchFamily="34" charset="-122"/>
                <a:cs typeface="メイリオ" pitchFamily="34" charset="-120"/>
              </a:rPr>
              <a:t>•</a:t>
            </a:r>
            <a:endParaRPr lang="ja-JP" sz="2200" dirty="0"/>
          </a:p>
        </p:txBody>
      </p:sp>
      <p:sp>
        <p:nvSpPr>
          <p:cNvPr id="13" name="Text 11"/>
          <p:cNvSpPr txBox="1"/>
          <p:nvPr/>
        </p:nvSpPr>
        <p:spPr>
          <a:xfrm>
            <a:off x="841248" y="2221992"/>
            <a:ext cx="4636008" cy="37490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K 5.5 超</a:t>
            </a:r>
            <a:r>
              <a:rPr lang="ja-JP" altLang="en-US" sz="2200" dirty="0">
                <a:solidFill>
                  <a:srgbClr val="262626"/>
                </a:solidFill>
                <a:latin typeface="メイリオ" pitchFamily="34" charset="0"/>
                <a:ea typeface="メイリオ" pitchFamily="34" charset="-122"/>
                <a:cs typeface="メイリオ" pitchFamily="34" charset="-120"/>
              </a:rPr>
              <a:t>や心電図変化：</a:t>
            </a:r>
            <a:endParaRPr lang="ja-JP" sz="2200" dirty="0"/>
          </a:p>
        </p:txBody>
      </p:sp>
      <p:sp>
        <p:nvSpPr>
          <p:cNvPr id="14" name="Text 12"/>
          <p:cNvSpPr txBox="1"/>
          <p:nvPr/>
        </p:nvSpPr>
        <p:spPr>
          <a:xfrm>
            <a:off x="841248" y="2557577"/>
            <a:ext cx="463600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透析か補正してから</a:t>
            </a:r>
            <a:endParaRPr lang="ja-JP" sz="2200" dirty="0"/>
          </a:p>
        </p:txBody>
      </p:sp>
      <p:sp>
        <p:nvSpPr>
          <p:cNvPr id="15" name="Text 13"/>
          <p:cNvSpPr txBox="1"/>
          <p:nvPr/>
        </p:nvSpPr>
        <p:spPr>
          <a:xfrm>
            <a:off x="594360" y="2984602"/>
            <a:ext cx="329184" cy="374904"/>
          </a:xfrm>
          <a:prstGeom prst="rect">
            <a:avLst/>
          </a:prstGeom>
          <a:noFill/>
          <a:ln/>
        </p:spPr>
        <p:txBody>
          <a:bodyPr wrap="square" lIns="0" tIns="0" rIns="0" bIns="0" rtlCol="0" anchor="t"/>
          <a:lstStyle/>
          <a:p>
            <a:pPr algn="l" indent="0" marL="0">
              <a:buNone/>
            </a:pPr>
            <a:r>
              <a:rPr lang="ja-JP" altLang="en-US" sz="2200" dirty="0">
                <a:solidFill>
                  <a:srgbClr val="0072B2"/>
                </a:solidFill>
                <a:latin typeface="メイリオ" pitchFamily="34" charset="0"/>
                <a:ea typeface="メイリオ" pitchFamily="34" charset="-122"/>
                <a:cs typeface="メイリオ" pitchFamily="34" charset="-120"/>
              </a:rPr>
              <a:t>•</a:t>
            </a:r>
            <a:endParaRPr lang="ja-JP" sz="2200" dirty="0"/>
          </a:p>
        </p:txBody>
      </p:sp>
      <p:sp>
        <p:nvSpPr>
          <p:cNvPr id="16" name="Text 14"/>
          <p:cNvSpPr txBox="1"/>
          <p:nvPr/>
        </p:nvSpPr>
        <p:spPr>
          <a:xfrm>
            <a:off x="841248" y="2984602"/>
            <a:ext cx="463600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溢水：透析してから。</a:t>
            </a:r>
            <a:endParaRPr lang="ja-JP" sz="2200" dirty="0"/>
          </a:p>
        </p:txBody>
      </p:sp>
      <p:sp>
        <p:nvSpPr>
          <p:cNvPr id="17" name="Text 15"/>
          <p:cNvSpPr txBox="1"/>
          <p:nvPr/>
        </p:nvSpPr>
        <p:spPr>
          <a:xfrm>
            <a:off x="841248" y="3319272"/>
            <a:ext cx="463600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前日透析を手配</a:t>
            </a:r>
            <a:endParaRPr lang="ja-JP" sz="2200" dirty="0"/>
          </a:p>
        </p:txBody>
      </p:sp>
      <p:sp>
        <p:nvSpPr>
          <p:cNvPr id="18" name="Text 16"/>
          <p:cNvSpPr txBox="1"/>
          <p:nvPr/>
        </p:nvSpPr>
        <p:spPr>
          <a:xfrm>
            <a:off x="594360" y="3747211"/>
            <a:ext cx="329184" cy="374904"/>
          </a:xfrm>
          <a:prstGeom prst="rect">
            <a:avLst/>
          </a:prstGeom>
          <a:noFill/>
          <a:ln/>
        </p:spPr>
        <p:txBody>
          <a:bodyPr wrap="square" lIns="0" tIns="0" rIns="0" bIns="0" rtlCol="0" anchor="t"/>
          <a:lstStyle/>
          <a:p>
            <a:pPr algn="l" indent="0" marL="0">
              <a:buNone/>
            </a:pPr>
            <a:r>
              <a:rPr lang="ja-JP" altLang="en-US" sz="2200" dirty="0">
                <a:solidFill>
                  <a:srgbClr val="0072B2"/>
                </a:solidFill>
                <a:latin typeface="メイリオ" pitchFamily="34" charset="0"/>
                <a:ea typeface="メイリオ" pitchFamily="34" charset="-122"/>
                <a:cs typeface="メイリオ" pitchFamily="34" charset="-120"/>
              </a:rPr>
              <a:t>•</a:t>
            </a:r>
            <a:endParaRPr lang="ja-JP" sz="2200" dirty="0"/>
          </a:p>
        </p:txBody>
      </p:sp>
      <p:sp>
        <p:nvSpPr>
          <p:cNvPr id="19" name="Text 17"/>
          <p:cNvSpPr txBox="1"/>
          <p:nvPr/>
        </p:nvSpPr>
        <p:spPr>
          <a:xfrm>
            <a:off x="841248" y="3747211"/>
            <a:ext cx="463600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透析の抗凝固と</a:t>
            </a:r>
            <a:endParaRPr lang="ja-JP" sz="2200" dirty="0"/>
          </a:p>
        </p:txBody>
      </p:sp>
      <p:sp>
        <p:nvSpPr>
          <p:cNvPr id="20" name="Text 18"/>
          <p:cNvSpPr txBox="1"/>
          <p:nvPr/>
        </p:nvSpPr>
        <p:spPr>
          <a:xfrm>
            <a:off x="841248" y="4081882"/>
            <a:ext cx="463600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当日の時刻を決める</a:t>
            </a:r>
            <a:endParaRPr lang="ja-JP" sz="2200" dirty="0"/>
          </a:p>
        </p:txBody>
      </p:sp>
      <p:sp>
        <p:nvSpPr>
          <p:cNvPr id="21" name="Text 19"/>
          <p:cNvSpPr txBox="1"/>
          <p:nvPr/>
        </p:nvSpPr>
        <p:spPr>
          <a:xfrm>
            <a:off x="594360" y="4508906"/>
            <a:ext cx="329184" cy="374904"/>
          </a:xfrm>
          <a:prstGeom prst="rect">
            <a:avLst/>
          </a:prstGeom>
          <a:noFill/>
          <a:ln/>
        </p:spPr>
        <p:txBody>
          <a:bodyPr wrap="square" lIns="0" tIns="0" rIns="0" bIns="0" rtlCol="0" anchor="t"/>
          <a:lstStyle/>
          <a:p>
            <a:pPr algn="l" indent="0" marL="0">
              <a:buNone/>
            </a:pPr>
            <a:r>
              <a:rPr lang="ja-JP" altLang="en-US" sz="2200" dirty="0">
                <a:solidFill>
                  <a:srgbClr val="0072B2"/>
                </a:solidFill>
                <a:latin typeface="メイリオ" pitchFamily="34" charset="0"/>
                <a:ea typeface="メイリオ" pitchFamily="34" charset="-122"/>
                <a:cs typeface="メイリオ" pitchFamily="34" charset="-120"/>
              </a:rPr>
              <a:t>•</a:t>
            </a:r>
            <a:endParaRPr lang="ja-JP" sz="2200" dirty="0"/>
          </a:p>
        </p:txBody>
      </p:sp>
      <p:sp>
        <p:nvSpPr>
          <p:cNvPr id="22" name="Text 20"/>
          <p:cNvSpPr txBox="1"/>
          <p:nvPr/>
        </p:nvSpPr>
        <p:spPr>
          <a:xfrm>
            <a:off x="841248" y="4508906"/>
            <a:ext cx="463600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相談：腎臓内科・透析室</a:t>
            </a:r>
            <a:endParaRPr lang="ja-JP" sz="2200" dirty="0"/>
          </a:p>
        </p:txBody>
      </p:sp>
      <p:sp>
        <p:nvSpPr>
          <p:cNvPr id="23" name="Shape 21"/>
          <p:cNvSpPr/>
          <p:nvPr/>
        </p:nvSpPr>
        <p:spPr>
          <a:xfrm>
            <a:off x="5806440" y="1691640"/>
            <a:ext cx="5879592" cy="3244291"/>
          </a:xfrm>
          <a:prstGeom prst="roundRect">
            <a:avLst>
              <a:gd name="adj" fmla="val 2255"/>
            </a:avLst>
          </a:prstGeom>
          <a:solidFill>
            <a:srgbClr val="F2F2F2"/>
          </a:solidFill>
          <a:ln/>
        </p:spPr>
      </p:sp>
      <p:sp>
        <p:nvSpPr>
          <p:cNvPr id="24" name="Text 22"/>
          <p:cNvSpPr txBox="1"/>
          <p:nvPr/>
        </p:nvSpPr>
        <p:spPr>
          <a:xfrm>
            <a:off x="5897880" y="1783080"/>
            <a:ext cx="5696712" cy="420624"/>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肝</a:t>
            </a:r>
            <a:endParaRPr lang="ja-JP" sz="2400" dirty="0"/>
          </a:p>
        </p:txBody>
      </p:sp>
      <p:sp>
        <p:nvSpPr>
          <p:cNvPr id="25" name="Text 23"/>
          <p:cNvSpPr txBox="1"/>
          <p:nvPr/>
        </p:nvSpPr>
        <p:spPr>
          <a:xfrm>
            <a:off x="5897880" y="2221992"/>
            <a:ext cx="329184" cy="374904"/>
          </a:xfrm>
          <a:prstGeom prst="rect">
            <a:avLst/>
          </a:prstGeom>
          <a:noFill/>
          <a:ln/>
        </p:spPr>
        <p:txBody>
          <a:bodyPr wrap="square" lIns="0" tIns="0" rIns="0" bIns="0" rtlCol="0" anchor="t"/>
          <a:lstStyle/>
          <a:p>
            <a:pPr algn="l" indent="0" marL="0">
              <a:buNone/>
            </a:pPr>
            <a:r>
              <a:rPr lang="ja-JP" altLang="en-US" sz="2200" dirty="0">
                <a:solidFill>
                  <a:srgbClr val="D55E00"/>
                </a:solidFill>
                <a:latin typeface="メイリオ" pitchFamily="34" charset="0"/>
                <a:ea typeface="メイリオ" pitchFamily="34" charset="-122"/>
                <a:cs typeface="メイリオ" pitchFamily="34" charset="-120"/>
              </a:rPr>
              <a:t>•</a:t>
            </a:r>
            <a:endParaRPr lang="ja-JP" sz="2200" dirty="0"/>
          </a:p>
        </p:txBody>
      </p:sp>
      <p:sp>
        <p:nvSpPr>
          <p:cNvPr id="26" name="Text 24"/>
          <p:cNvSpPr txBox="1"/>
          <p:nvPr/>
        </p:nvSpPr>
        <p:spPr>
          <a:xfrm>
            <a:off x="6144768" y="2221992"/>
            <a:ext cx="5449824" cy="37490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Child C、MELD 20 超</a:t>
            </a: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7" name="Text 25"/>
          <p:cNvSpPr txBox="1"/>
          <p:nvPr/>
        </p:nvSpPr>
        <p:spPr>
          <a:xfrm>
            <a:off x="6144768" y="2557577"/>
            <a:ext cx="544982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緊急性の高い手術だけ</a:t>
            </a:r>
            <a:endParaRPr lang="ja-JP" sz="2200" dirty="0"/>
          </a:p>
        </p:txBody>
      </p:sp>
      <p:sp>
        <p:nvSpPr>
          <p:cNvPr id="28" name="Text 26"/>
          <p:cNvSpPr txBox="1"/>
          <p:nvPr/>
        </p:nvSpPr>
        <p:spPr>
          <a:xfrm>
            <a:off x="5897880" y="2984602"/>
            <a:ext cx="329184" cy="374904"/>
          </a:xfrm>
          <a:prstGeom prst="rect">
            <a:avLst/>
          </a:prstGeom>
          <a:noFill/>
          <a:ln/>
        </p:spPr>
        <p:txBody>
          <a:bodyPr wrap="square" lIns="0" tIns="0" rIns="0" bIns="0" rtlCol="0" anchor="t"/>
          <a:lstStyle/>
          <a:p>
            <a:pPr algn="l" indent="0" marL="0">
              <a:buNone/>
            </a:pPr>
            <a:r>
              <a:rPr lang="ja-JP" altLang="en-US" sz="2200" dirty="0">
                <a:solidFill>
                  <a:srgbClr val="D55E00"/>
                </a:solidFill>
                <a:latin typeface="メイリオ" pitchFamily="34" charset="0"/>
                <a:ea typeface="メイリオ" pitchFamily="34" charset="-122"/>
                <a:cs typeface="メイリオ" pitchFamily="34" charset="-120"/>
              </a:rPr>
              <a:t>•</a:t>
            </a:r>
            <a:endParaRPr lang="ja-JP" sz="2200" dirty="0"/>
          </a:p>
        </p:txBody>
      </p:sp>
      <p:sp>
        <p:nvSpPr>
          <p:cNvPr id="29" name="Text 27"/>
          <p:cNvSpPr txBox="1"/>
          <p:nvPr/>
        </p:nvSpPr>
        <p:spPr>
          <a:xfrm>
            <a:off x="6144768" y="2984602"/>
            <a:ext cx="5449824" cy="37490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MELD 15 以上</a:t>
            </a:r>
            <a:r>
              <a:rPr lang="ja-JP" altLang="en-US" sz="2200" dirty="0">
                <a:solidFill>
                  <a:srgbClr val="262626"/>
                </a:solidFill>
                <a:latin typeface="メイリオ" pitchFamily="34" charset="0"/>
                <a:ea typeface="メイリオ" pitchFamily="34" charset="-122"/>
                <a:cs typeface="メイリオ" pitchFamily="34" charset="-120"/>
              </a:rPr>
              <a:t>：待機手術の前に</a:t>
            </a:r>
            <a:endParaRPr lang="ja-JP" sz="2200" dirty="0"/>
          </a:p>
        </p:txBody>
      </p:sp>
      <p:sp>
        <p:nvSpPr>
          <p:cNvPr id="30" name="Text 28"/>
          <p:cNvSpPr txBox="1"/>
          <p:nvPr/>
        </p:nvSpPr>
        <p:spPr>
          <a:xfrm>
            <a:off x="6144768" y="3319272"/>
            <a:ext cx="544982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肝臓専門医・移植施設へ</a:t>
            </a:r>
            <a:endParaRPr lang="ja-JP" sz="2200" dirty="0"/>
          </a:p>
        </p:txBody>
      </p:sp>
      <p:sp>
        <p:nvSpPr>
          <p:cNvPr id="31" name="Text 29"/>
          <p:cNvSpPr txBox="1"/>
          <p:nvPr/>
        </p:nvSpPr>
        <p:spPr>
          <a:xfrm>
            <a:off x="5897880" y="3747211"/>
            <a:ext cx="329184" cy="374904"/>
          </a:xfrm>
          <a:prstGeom prst="rect">
            <a:avLst/>
          </a:prstGeom>
          <a:noFill/>
          <a:ln/>
        </p:spPr>
        <p:txBody>
          <a:bodyPr wrap="square" lIns="0" tIns="0" rIns="0" bIns="0" rtlCol="0" anchor="t"/>
          <a:lstStyle/>
          <a:p>
            <a:pPr algn="l" indent="0" marL="0">
              <a:buNone/>
            </a:pPr>
            <a:r>
              <a:rPr lang="ja-JP" altLang="en-US" sz="2200" dirty="0">
                <a:solidFill>
                  <a:srgbClr val="D55E00"/>
                </a:solidFill>
                <a:latin typeface="メイリオ" pitchFamily="34" charset="0"/>
                <a:ea typeface="メイリオ" pitchFamily="34" charset="-122"/>
                <a:cs typeface="メイリオ" pitchFamily="34" charset="-120"/>
              </a:rPr>
              <a:t>•</a:t>
            </a:r>
            <a:endParaRPr lang="ja-JP" sz="2200" dirty="0"/>
          </a:p>
        </p:txBody>
      </p:sp>
      <p:sp>
        <p:nvSpPr>
          <p:cNvPr id="32" name="Text 30"/>
          <p:cNvSpPr txBox="1"/>
          <p:nvPr/>
        </p:nvSpPr>
        <p:spPr>
          <a:xfrm>
            <a:off x="6144768" y="3747211"/>
            <a:ext cx="544982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腹水・脳症・Na 130 未満は整えてから</a:t>
            </a:r>
            <a:endParaRPr lang="ja-JP" sz="2200" dirty="0"/>
          </a:p>
        </p:txBody>
      </p:sp>
      <p:sp>
        <p:nvSpPr>
          <p:cNvPr id="33" name="Text 31"/>
          <p:cNvSpPr txBox="1"/>
          <p:nvPr/>
        </p:nvSpPr>
        <p:spPr>
          <a:xfrm>
            <a:off x="5897880" y="4174236"/>
            <a:ext cx="329184" cy="374904"/>
          </a:xfrm>
          <a:prstGeom prst="rect">
            <a:avLst/>
          </a:prstGeom>
          <a:noFill/>
          <a:ln/>
        </p:spPr>
        <p:txBody>
          <a:bodyPr wrap="square" lIns="0" tIns="0" rIns="0" bIns="0" rtlCol="0" anchor="t"/>
          <a:lstStyle/>
          <a:p>
            <a:pPr algn="l" indent="0" marL="0">
              <a:buNone/>
            </a:pPr>
            <a:r>
              <a:rPr lang="ja-JP" altLang="en-US" sz="2200" dirty="0">
                <a:solidFill>
                  <a:srgbClr val="D55E00"/>
                </a:solidFill>
                <a:latin typeface="メイリオ" pitchFamily="34" charset="0"/>
                <a:ea typeface="メイリオ" pitchFamily="34" charset="-122"/>
                <a:cs typeface="メイリオ" pitchFamily="34" charset="-120"/>
              </a:rPr>
              <a:t>•</a:t>
            </a:r>
            <a:endParaRPr lang="ja-JP" sz="2200" dirty="0"/>
          </a:p>
        </p:txBody>
      </p:sp>
      <p:sp>
        <p:nvSpPr>
          <p:cNvPr id="34" name="Text 32"/>
          <p:cNvSpPr txBox="1"/>
          <p:nvPr/>
        </p:nvSpPr>
        <p:spPr>
          <a:xfrm>
            <a:off x="6144768" y="4174236"/>
            <a:ext cx="544982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緊急手術は死亡が待機の約 3〜5 倍。</a:t>
            </a:r>
            <a:endParaRPr lang="ja-JP" sz="2200" dirty="0"/>
          </a:p>
        </p:txBody>
      </p:sp>
      <p:sp>
        <p:nvSpPr>
          <p:cNvPr id="35" name="Text 33"/>
          <p:cNvSpPr txBox="1"/>
          <p:nvPr/>
        </p:nvSpPr>
        <p:spPr>
          <a:xfrm>
            <a:off x="6144768" y="4508906"/>
            <a:ext cx="5449824"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搬送は早めに</a:t>
            </a:r>
            <a:endParaRPr lang="ja-JP" sz="2200" dirty="0"/>
          </a:p>
        </p:txBody>
      </p:sp>
      <p:sp>
        <p:nvSpPr>
          <p:cNvPr id="36" name="Text 34"/>
          <p:cNvSpPr/>
          <p:nvPr/>
        </p:nvSpPr>
        <p:spPr>
          <a:xfrm>
            <a:off x="502920" y="5173675"/>
            <a:ext cx="11183112" cy="715061"/>
          </a:xfrm>
          <a:prstGeom prst="roundRect">
            <a:avLst>
              <a:gd name="adj" fmla="val 10230"/>
            </a:avLst>
          </a:prstGeom>
          <a:solidFill>
            <a:srgbClr val="FFFFFF"/>
          </a:solidFill>
          <a:ln w="31750">
            <a:solidFill>
              <a:srgbClr val="00A8AA"/>
            </a:solidFill>
          </a:ln>
        </p:spPr>
        <p:txBody>
          <a:bodyPr wrap="square" lIns="73152" tIns="73152" rIns="73152" bIns="73152" rtlCol="0" anchor="ctr"/>
          <a:lstStyle/>
          <a:p>
            <a:pPr algn="ctr" indent="0" marL="0">
              <a:buNone/>
            </a:pPr>
            <a:r>
              <a:rPr lang="ja-JP" altLang="en-US" sz="2600" b="1" dirty="0">
                <a:solidFill>
                  <a:srgbClr val="D55E00"/>
                </a:solidFill>
                <a:latin typeface="メイリオ" pitchFamily="34" charset="0"/>
                <a:ea typeface="メイリオ" pitchFamily="34" charset="-122"/>
                <a:cs typeface="メイリオ" pitchFamily="34" charset="-120"/>
              </a:rPr>
              <a:t>一人で抱えない。</a:t>
            </a:r>
            <a:r>
              <a:rPr lang="ja-JP" altLang="en-US" sz="2600" b="1" dirty="0">
                <a:solidFill>
                  <a:srgbClr val="262626"/>
                </a:solidFill>
                <a:latin typeface="メイリオ" pitchFamily="34" charset="0"/>
                <a:ea typeface="メイリオ" pitchFamily="34" charset="-122"/>
                <a:cs typeface="メイリオ" pitchFamily="34" charset="-120"/>
              </a:rPr>
              <a:t>本土の専門医に電話し、搬送の判断を早く</a:t>
            </a:r>
            <a:endParaRPr lang="ja-JP"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9354312"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透析</a:t>
            </a:r>
            <a:endParaRPr lang="ja-JP" sz="1100" dirty="0"/>
          </a:p>
        </p:txBody>
      </p:sp>
      <p:sp>
        <p:nvSpPr>
          <p:cNvPr id="5" name="Text 3"/>
          <p:cNvSpPr/>
          <p:nvPr/>
        </p:nvSpPr>
        <p:spPr>
          <a:xfrm>
            <a:off x="10030968"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CKD</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と薬</a:t>
            </a:r>
            <a:endParaRPr lang="ja-JP" sz="1100" dirty="0"/>
          </a:p>
        </p:txBody>
      </p:sp>
      <p:sp>
        <p:nvSpPr>
          <p:cNvPr id="6" name="Text 4"/>
          <p:cNvSpPr/>
          <p:nvPr/>
        </p:nvSpPr>
        <p:spPr>
          <a:xfrm>
            <a:off x="10707624" y="54864"/>
            <a:ext cx="621792" cy="585216"/>
          </a:xfrm>
          <a:prstGeom prst="roundRect">
            <a:avLst>
              <a:gd name="adj" fmla="val 15625"/>
            </a:avLst>
          </a:prstGeom>
          <a:solidFill>
            <a:srgbClr val="D9D9D9"/>
          </a:solidFill>
          <a:ln/>
        </p:spPr>
        <p:txBody>
          <a:bodyPr wrap="non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肝疾患</a:t>
            </a:r>
            <a:endParaRPr lang="ja-JP" sz="1100" dirty="0"/>
          </a:p>
        </p:txBody>
      </p:sp>
      <p:sp>
        <p:nvSpPr>
          <p:cNvPr id="7" name="Text 5"/>
          <p:cNvSpPr/>
          <p:nvPr/>
        </p:nvSpPr>
        <p:spPr>
          <a:xfrm>
            <a:off x="11384280" y="54864"/>
            <a:ext cx="621792" cy="585216"/>
          </a:xfrm>
          <a:prstGeom prst="roundRect">
            <a:avLst>
              <a:gd name="adj" fmla="val 15625"/>
            </a:avLst>
          </a:prstGeom>
          <a:solidFill>
            <a:srgbClr val="00A8AA"/>
          </a:solidFill>
          <a:ln/>
        </p:spPr>
        <p:txBody>
          <a:bodyPr wrap="non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まとめ</a:t>
            </a:r>
            <a:endParaRPr lang="ja-JP" sz="1100" dirty="0"/>
          </a:p>
        </p:txBody>
      </p:sp>
      <p:sp>
        <p:nvSpPr>
          <p:cNvPr id="8" name="Text 6"/>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9" name="Text 7"/>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Northup PG, et al. Clin Gastroenterol Hepatol 2019;17:595-606（AGA）</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腎障害患者におけるヨード造影剤使用に関するガイドライン 2018</a:t>
            </a:r>
            <a:endParaRPr lang="ja-JP" sz="1600" dirty="0"/>
          </a:p>
        </p:txBody>
      </p:sp>
      <p:sp>
        <p:nvSpPr>
          <p:cNvPr id="10" name="Text 8"/>
          <p:cNvSpPr txBox="1"/>
          <p:nvPr/>
        </p:nvSpPr>
        <p:spPr>
          <a:xfrm>
            <a:off x="502920" y="1691640"/>
            <a:ext cx="11155680" cy="4197096"/>
          </a:xfrm>
          <a:prstGeom prst="rect">
            <a:avLst/>
          </a:prstGeom>
          <a:noFill/>
          <a:ln/>
        </p:spPr>
        <p:txBody>
          <a:bodyPr wrap="square" lIns="0" tIns="0" rIns="0" bIns="0" rtlCol="0" anchor="ctr"/>
          <a:lstStyle/>
          <a:p>
            <a:pPr algn="l" marL="355600" indent="-355600">
              <a:spcAft>
                <a:spcPts val="2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透析は</a:t>
            </a:r>
            <a:r>
              <a:rPr lang="ja-JP" altLang="en-US" sz="2400" b="1" dirty="0">
                <a:solidFill>
                  <a:srgbClr val="D55E00"/>
                </a:solidFill>
                <a:latin typeface="メイリオ" pitchFamily="34" charset="0"/>
                <a:ea typeface="メイリオ" pitchFamily="34" charset="-122"/>
                <a:cs typeface="メイリオ" pitchFamily="34" charset="-120"/>
              </a:rPr>
              <a:t>前日</a:t>
            </a:r>
            <a:r>
              <a:rPr lang="ja-JP" altLang="en-US" sz="2400" dirty="0">
                <a:solidFill>
                  <a:srgbClr val="262626"/>
                </a:solidFill>
                <a:latin typeface="メイリオ" pitchFamily="34" charset="0"/>
                <a:ea typeface="メイリオ" pitchFamily="34" charset="-122"/>
                <a:cs typeface="メイリオ" pitchFamily="34" charset="-120"/>
              </a:rPr>
              <a:t>に。ドライウェイト、K、抗凝固、シャントを確かめる</a:t>
            </a:r>
            <a:endParaRPr lang="ja-JP" sz="2400" dirty="0"/>
          </a:p>
          <a:p>
            <a:pPr algn="l" marL="355600" indent="-355600">
              <a:spcAft>
                <a:spcPts val="2600"/>
              </a:spcAft>
              <a:buSzPct val="100000"/>
              <a:buChar char="•"/>
            </a:pPr>
            <a:r>
              <a:rPr lang="ja-JP" altLang="en-US" sz="2400" b="1" dirty="0">
                <a:solidFill>
                  <a:srgbClr val="D55E00"/>
                </a:solidFill>
                <a:latin typeface="メイリオ" pitchFamily="34" charset="0"/>
                <a:ea typeface="メイリオ" pitchFamily="34" charset="-122"/>
                <a:cs typeface="メイリオ" pitchFamily="34" charset="-120"/>
              </a:rPr>
              <a:t>K 5.5 超</a:t>
            </a:r>
            <a:r>
              <a:rPr lang="ja-JP" altLang="en-US" sz="2400" dirty="0">
                <a:solidFill>
                  <a:srgbClr val="262626"/>
                </a:solidFill>
                <a:latin typeface="メイリオ" pitchFamily="34" charset="0"/>
                <a:ea typeface="メイリオ" pitchFamily="34" charset="-122"/>
                <a:cs typeface="メイリオ" pitchFamily="34" charset="-120"/>
              </a:rPr>
              <a:t>は延期か補正。シャント肢には何もしない</a:t>
            </a:r>
            <a:endParaRPr lang="ja-JP" sz="2400" dirty="0"/>
          </a:p>
          <a:p>
            <a:pPr algn="l" marL="355600" indent="-355600">
              <a:spcAft>
                <a:spcPts val="2600"/>
              </a:spcAft>
              <a:buSzPct val="100000"/>
              <a:buChar char="•"/>
            </a:pPr>
            <a:r>
              <a:rPr lang="ja-JP" altLang="en-US" sz="2400" b="1" dirty="0">
                <a:solidFill>
                  <a:srgbClr val="D55E00"/>
                </a:solidFill>
                <a:latin typeface="メイリオ" pitchFamily="34" charset="0"/>
                <a:ea typeface="メイリオ" pitchFamily="34" charset="-122"/>
                <a:cs typeface="メイリオ" pitchFamily="34" charset="-120"/>
              </a:rPr>
              <a:t>モルヒネを避け</a:t>
            </a:r>
            <a:r>
              <a:rPr lang="ja-JP" altLang="en-US" sz="2400" dirty="0">
                <a:solidFill>
                  <a:srgbClr val="262626"/>
                </a:solidFill>
                <a:latin typeface="メイリオ" pitchFamily="34" charset="0"/>
                <a:ea typeface="メイリオ" pitchFamily="34" charset="-122"/>
                <a:cs typeface="メイリオ" pitchFamily="34" charset="-120"/>
              </a:rPr>
              <a:t>、ロクロニウムはモニター、スガマデクスは慎重に</a:t>
            </a:r>
            <a:endParaRPr lang="ja-JP" sz="2400" dirty="0"/>
          </a:p>
          <a:p>
            <a:pPr algn="l" marL="355600" indent="-355600">
              <a:spcAft>
                <a:spcPts val="26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造影剤は </a:t>
            </a:r>
            <a:r>
              <a:rPr lang="ja-JP" altLang="en-US" sz="2400" b="1" dirty="0">
                <a:solidFill>
                  <a:srgbClr val="D55E00"/>
                </a:solidFill>
                <a:latin typeface="メイリオ" pitchFamily="34" charset="0"/>
                <a:ea typeface="メイリオ" pitchFamily="34" charset="-122"/>
                <a:cs typeface="メイリオ" pitchFamily="34" charset="-120"/>
              </a:rPr>
              <a:t>eGFR 30（静注）・60（動注）</a:t>
            </a:r>
            <a:r>
              <a:rPr lang="ja-JP" altLang="en-US" sz="2400" dirty="0">
                <a:solidFill>
                  <a:srgbClr val="262626"/>
                </a:solidFill>
                <a:latin typeface="メイリオ" pitchFamily="34" charset="0"/>
                <a:ea typeface="メイリオ" pitchFamily="34" charset="-122"/>
                <a:cs typeface="メイリオ" pitchFamily="34" charset="-120"/>
              </a:rPr>
              <a:t>未満で説明と生食補液</a:t>
            </a:r>
            <a:endParaRPr lang="ja-JP" sz="2400" dirty="0"/>
          </a:p>
          <a:p>
            <a:pPr algn="l" marL="355600" indent="-355600">
              <a:spcAft>
                <a:spcPts val="2600"/>
              </a:spcAft>
              <a:buSzPct val="100000"/>
              <a:buChar char="•"/>
            </a:pPr>
            <a:r>
              <a:rPr lang="ja-JP" altLang="en-US" sz="2400" b="1" dirty="0">
                <a:solidFill>
                  <a:srgbClr val="D55E00"/>
                </a:solidFill>
                <a:latin typeface="メイリオ" pitchFamily="34" charset="0"/>
                <a:ea typeface="メイリオ" pitchFamily="34" charset="-122"/>
                <a:cs typeface="メイリオ" pitchFamily="34" charset="-120"/>
              </a:rPr>
              <a:t>Child C・MELD 20 超</a:t>
            </a:r>
            <a:r>
              <a:rPr lang="ja-JP" altLang="en-US" sz="2400" dirty="0">
                <a:solidFill>
                  <a:srgbClr val="262626"/>
                </a:solidFill>
                <a:latin typeface="メイリオ" pitchFamily="34" charset="0"/>
                <a:ea typeface="メイリオ" pitchFamily="34" charset="-122"/>
                <a:cs typeface="メイリオ" pitchFamily="34" charset="-120"/>
              </a:rPr>
              <a:t>は緊急以外しない。INR は出血を反映しない</a:t>
            </a:r>
            <a:endParaRPr lang="ja-JP"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4-10 腎不全・透析と肝疾患の評価</dc:title>
  <dc:subject/>
  <dc:creator>Anes-lecture</dc:creator>
  <cp:lastModifiedBy>Anes-lecture</cp:lastModifiedBy>
  <cp:revision>1</cp:revision>
  <dcterms:created xsi:type="dcterms:W3CDTF">2026-10-15T17:14:23Z</dcterms:created>
  <dcterms:modified xsi:type="dcterms:W3CDTF">2026-10-15T17:14:23Z</dcterms:modified>
</cp:coreProperties>
</file>