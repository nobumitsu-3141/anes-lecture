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術中覚醒（全身麻酔中に意識があり、あとで記憶が残ること）は、まれだが患者に長く影響する合併症である。この回では、その頻度と危険因子、麻酔で脳波がどう変わるか、処理脳波モニター（BIS など）の読み方と限界、そして予防の実務を扱う。</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NAP5（英国・アイルランドの第 5 回全国監査プロジェクト、2014 年）は、患者が自分から申告した術中覚醒を集めた。全体で約 1/19,000（患者の自己申告による推定）。確実・ほぼ確実（certain/probable）と可能性あり（possible）を合わせた推定は約 1/19,600（95% 信頼区間 1/16,700〜1/23,450）。筋弛緩薬を使った麻酔で約 1/8,200（1/7,030〜1/9,700）、使わない麻酔で約 1/135,900（1/78,600〜1/299,000。信頼区間がとても広い）、帝王切開の全身麻酔で約 1/670（1/380〜1/1,300）だった。</a:t>
            </a:r>
          </a:p>
          <a:p>
            <a:r>
              <a:rPr lang="ja-JP" altLang="en-US" dirty="0"/>
              <a:t>面接法: 術後に決まった質問（改変 Brice 質問票: 眠る前に最後に覚えていること、目が覚めて最初に覚えていること、その間に何か覚えているか、夢を見たか、など）で聞き出すと、頻度は 1〜2/1,000 と報告されている。米国の 7 施設の前向き研究（Sebel 2004）では、19,575 例中 25 例（0.13%）に記憶を伴う覚醒があり、各施設で 1,000 例あたり 1〜2 例だった。ほかに可能性のある覚醒が 46 例（0.24%）あった。自己申告より 10 倍以上多い。</a:t>
            </a:r>
          </a:p>
          <a:p>
            <a:r>
              <a:rPr lang="ja-JP" altLang="en-US" dirty="0"/>
              <a:t>いつ起きるか: NAP5 では、術中覚醒の約 3 分の 2（82 例、66%）が麻酔の導入時と、麻酔から覚める時期（覚醒期）に起き、約 3 分の 1（43 例、33%）が維持中に起きていた。覚醒期の例は、筋弛緩の残存（動けないまま意識が戻る）と結びついていた。</a:t>
            </a:r>
          </a:p>
          <a:p>
            <a:r>
              <a:rPr lang="ja-JP" altLang="en-US" dirty="0"/>
              <a:t>患者の体験: 音が聞こえる、動けない、痛い、息ができない、という体験が多く、心的外傷後ストレス障害（PTSD）につながることがある。</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NAP5 が挙げた危険因子: 女性、若年の成人（小児は含まない）、肥満、術中覚醒の既往、麻酔担当医が若手、時間外の手術、緊急手術、手術の種類（産科・心臓・胸部）、筋弛緩薬の使用。ASA 全身状態分類、人種、亜酸化窒素の使用の有無は危険因子ではなかった。薬物やアルコールの常用は一般に挙げられる因子だが、NAP5 の主な因子には入っていない【要確認: ASA Practice Advisory 2006 の記載】。</a:t>
            </a:r>
          </a:p>
          <a:p>
            <a:r>
              <a:rPr lang="ja-JP" altLang="en-US" dirty="0"/>
              <a:t>麻酔側: 筋弛緩薬（動けないので気づかれない。NAP5 で特に重要な因子）、全静脈麻酔（TIVA: Total Intravenous Anesthesia。吸入麻酔薬と違って薬の濃度をモニターできないので、ラインの外れや注入の失敗に気づきにくい【要確認: NAP5 報告書本体での TIVA の扱い】）、導入薬の効果が切れる空白（NAP5 では、導入時の覚醒にチオペンタール、迅速導入、肥満、気道確保の困難、筋弛緩薬、搬送中の投与中断が関わっていた）、覚醒時に筋弛緩が残ったまま麻酔を浅くする。</a:t>
            </a:r>
          </a:p>
          <a:p>
            <a:r>
              <a:rPr lang="ja-JP" altLang="en-US" dirty="0"/>
              <a:t>聴講者自身に当てはまる因子: 若手の麻酔担当医、時間外、緊急手術。慣れない状況では薬が足りていないことに気づきにくい。</a:t>
            </a:r>
          </a:p>
          <a:p>
            <a:r>
              <a:rPr lang="ja-JP" altLang="en-US" dirty="0"/>
              <a:t>手術側: 帝王切開の全身麻酔（薬を少なくしがち、導入から執刀までが速い）、心臓・胸部手術、外傷や大量出血で循環が不安定なため麻酔を浅くせざるを得ないとき。</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覚醒時は、速くて振幅の小さい β 波が主体。鎮静が始まると、規則的な β 波が増え（α〜β 帯、8〜22 Hz 前後）、ゆっくりした波も混ざる。量によっては、体が動いたり多幸感や不快感が出たりする逆説的興奮が起こり、このときにも β 波が見られる。意識がなくなると、前頭部に途切れずに続く α 波（8〜12 Hz）の律動が現れ（目を閉じて起きているときは後頭部にある α が、前に移る）、全体にゆっくりした振幅の大きい徐波〜δ 波（0.1〜4 Hz）と重なる。プロポフォールでもセボフルランでも、これが「十分に眠っている」典型の形である。</a:t>
            </a:r>
          </a:p>
          <a:p>
            <a:r>
              <a:rPr lang="ja-JP" altLang="en-US" dirty="0"/>
              <a:t>さらに深くなると、脳波が平坦になる区間（サプレッション）と、ときどき出る大きな波（バースト）が交互に現れる（バーストサプレッション）。麻酔が深すぎるサインで、高齢者に起こりやすい。成人を対象にした観察研究では、サプレッションの時間が長いほど術後せん妄が多かった（Fritz 2016）。ただし、因果関係は示されていない（→ S6 ENGAGES）。強い低体温や脳の病気・障害でも起こる。</a:t>
            </a:r>
          </a:p>
          <a:p>
            <a:r>
              <a:rPr lang="ja-JP" altLang="en-US" dirty="0"/>
              <a:t>薬による違い: ケタミン（低用量）は速い波（およそ 25〜32 Hz、高い β〜低い γ）が増える。デクスメデトミジンは自然な睡眠に近い紡錘波（スピンドル: 9〜15 Hz、1〜2 秒の短い波）と徐波を示す。「スピンドル」という語は、このデクスメデトミジンと睡眠の短い波に使い、プロポフォールの持続する前頭部 α には使わない。薬ごとに脳波の形が違うので、1 つの数字（指標）にまとめるときには薬の種類を考える必要がある。</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BIS（Bispectral Index）は、額に貼ったセンサーから前頭部の脳波を取り、周波数の成分、位相の関係（バイスペクトル解析）、平坦な区間の割合（抑制比: SR）などを組み合わせて 0〜100 の指標にしたもの（組み合わせ方の詳しい計算法は公開されていない）。100 が覚醒、0 が平坦な脳波。全身麻酔の維持では 40〜60 が目安とされ、臨床試験でもこの範囲が目標に使われてきた（B-Unaware の目標は 40〜60）。ただし保証ではなく、B-Unaware では BIS が目標範囲内でも術中覚醒が起きた。</a:t>
            </a:r>
          </a:p>
          <a:p>
            <a:r>
              <a:rPr lang="ja-JP" altLang="en-US" dirty="0"/>
              <a:t>遅れ: 指標は一定時間の脳波を処理して出すので、実際の変化から遅れる。手術中に記録した脳波で調べると、状態が変わってから新しい値が出るまでに 24〜122 秒かかった（Zanner 2009。人工的に作った信号では 14〜155 秒: Pilge 2006）。遅れは一定ではなく、値が下がるときと上がるときで違う。急な変化（挿管、執刀）を評価するときは、この遅れを考える。</a:t>
            </a:r>
          </a:p>
          <a:p>
            <a:r>
              <a:rPr lang="ja-JP" altLang="en-US" dirty="0"/>
              <a:t>一緒に見る数値: SQI（信号の質。低いと値は信用できない）、EMG（筋電図の混入。高いと BIS は高く出る。逆に、筋弛緩薬で額の筋の活動が消えると、起きている人でも BIS が下がることがある: Messner 2003。だから筋弛緩薬を使っているときに BIS が低いだけで「眠っている」とは言い切れない）、SR（抑制比。直前 63 秒のうち脳波が平坦だった割合。0 より大きければ平坦な区間がある。多くは深すぎ）。SR が 40% になるまでは BIS はほとんど変わらず、40% を超えると SR とともに下がる（Bruhn 2000）。BIS が 20 より上でも平坦な区間はありうるので、SR を一緒に見る。</a:t>
            </a:r>
          </a:p>
          <a:p>
            <a:r>
              <a:rPr lang="ja-JP" altLang="en-US" dirty="0"/>
              <a:t>他の装置: Entropy（GE）、Narcotrend、SedLine の PSI（Masimo）など。英国 NICE の評価（DG6、2012 年）で対象になったのは BIS、E-Entropy、Narcotrend-Compact M の 3 機種で、SedLine の PSI は評価されていない。</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数値と傾向: 指標は変動する。一点の値で薬を増減せず、数分の傾向と刺激（執刀、体位変換）の関係で判断する。</a:t>
            </a:r>
          </a:p>
          <a:p>
            <a:r>
              <a:rPr lang="ja-JP" altLang="en-US" dirty="0"/>
              <a:t>生波形と DSA（density spectral array: 周波数の成分を色で時間軸に並べた表示）: プロポフォールや吸入麻酔薬（セボフルランなど）では、前頭部の α 帯（8〜12 Hz）と徐波（0.1〜4 Hz）の帯がそろって続いていれば、十分に眠っている形。プロポフォールでは、α と β が混ざった広い帯（8〜22 Hz）は、声かけに応じる鎮静の段階でも見られる。ケタミンと亜酸化窒素は速い波（β・γ）が主になる。デクスメデトミジンの紡錘波は α に似ているが弱く、鎮静の状態である。この 3 つの薬では、この読み方をそのまま使えない。</a:t>
            </a:r>
          </a:p>
          <a:p>
            <a:r>
              <a:rPr lang="ja-JP" altLang="en-US" dirty="0"/>
              <a:t>SR と EMG: SR（抑制比）は、直前 63 秒のうち脳波が平坦だった時間の割合。0 より大きければ平坦な区間がある。多くは麻酔が深すぎるためだが、強い低体温や脳の病的な状態でも起こる。薬を減らすだけでなく、体温と全身状態も確かめる。EMG が高いときは、額の筋の活動が混ざって BIS が高く出ているだけのことがある（筋弛緩薬が切れてきた、浅い、のどちらもあり得る）。</a:t>
            </a:r>
          </a:p>
          <a:p>
            <a:r>
              <a:rPr lang="ja-JP" altLang="en-US" dirty="0"/>
              <a:t>高齢者とせん妄: 深すぎる麻酔（バーストサプレッション）は術後せん妄と関連するが、脳波で麻酔を調節してもせん妄が減らなかった大規模試験がある（ENGAGES、2019 年。60 歳以上の大手術 1,232 例。脳波ガイド群では平坦な時間が短くなった〔中央値 7 分 対 13 分〕が、術後 1〜5 日のせん妄は 26.0% 対 23.0% で減らなかった）。深すぎを避けることは合理的だが、それだけでせん妄を防げるとは言えない。</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薬による限界: ケタミンと亜酸化窒素は脳波を速くするので、ふつうの臨床量でも指標が高めに出やすい。デクスメデトミジンは脳波がゆっくりになり指標も低く出るが、深い麻酔ではなく鎮静の状態で、刺激で簡単に起きることがある。薬ごとに脳波の形が違うので、1 つの指標にまとめる方法には限界がある。</a:t>
            </a:r>
          </a:p>
          <a:p>
            <a:r>
              <a:rPr lang="ja-JP" altLang="en-US" dirty="0"/>
              <a:t>ノイズ: 額の筋電図が混ざると BIS は高く出る。逆に、筋弛緩薬で筋電図が消えると、起きていても BIS が下がることがある（Messner 2003）。電気メス、ペースメーカ、温風式加温装置などによる干渉も起こりうる【要確認: 取扱説明書】。SQI を見る。</a:t>
            </a:r>
          </a:p>
          <a:p>
            <a:r>
              <a:rPr lang="ja-JP" altLang="en-US" dirty="0"/>
              <a:t>体温・年齢: 強い低体温（人工心肺での超低体温など）では脳波が抑制され、平坦にもなるので、BIS は低く出る。小児（特に乳児）では成人と同じ範囲をそのまま使えない。高齢者では、麻酔中の脳波の振幅が若い人の 1/2〜1/3 と小さく、特に α 波が弱く、その周波数も低い。バーストサプレッションにも入りやすい。指標は年齢を考えていないので、値が実際の深さとずれやすい（Purdon 2015 BJA）。生波形と SR も一緒に見る。</a:t>
            </a:r>
          </a:p>
          <a:p>
            <a:r>
              <a:rPr lang="ja-JP" altLang="en-US" dirty="0"/>
              <a:t>臨床試験: 術中覚醒の危険が高い患者を対象にした B-Unaware（2008 年、2,000 例）と BAG-RECALL（2011 年、6,041 例）では、BIS を 40〜60 に保つ方法は、呼気麻酔薬濃度を 0.7〜1.3 MAC に保つ方法（ETAC 法）より術中覚醒を減らさなかった。確実な覚醒は、B-Unaware で両群 2 例ずつ、BAG-RECALL で BIS 群 7/2,861 例（0.24%）、ETAC 群 2/2,852 例（0.07%）で、むしろ呼気濃度の群のほうが少なかった。両試験は BIS が優れているかを調べた試験で、同等であることを示したものではない。吸入麻酔では、呼気濃度の下限アラームが現実的な予防策になる。</a:t>
            </a:r>
          </a:p>
          <a:p>
            <a:r>
              <a:rPr lang="ja-JP" altLang="en-US" dirty="0"/>
              <a:t>TIVA: B-Unaware と BAG-RECALL は呼気濃度と比べた試験なので、呼気濃度が測れない TIVA にはそのまま当てはまらない。通常の管理と比べた B-Aware（2004 年、高リスクで筋弛緩薬を使う全身麻酔、2,463 例）では、BIS ガイドで覚醒が減った（2 例 対 11 例）。だから TIVA では脳波モニターの意味が大きい。</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付ける場面: TIVA で筋弛緩薬を使うとき（薬の濃度が見えず、動けない）。術中覚醒の危険因子がある患者（既往、帝王切開の全身麻酔、心臓・胸部手術、循環不安定）。高齢者やフレイルで深すぎる麻酔を避けたいとき。</a:t>
            </a:r>
          </a:p>
          <a:p>
            <a:r>
              <a:rPr lang="ja-JP" altLang="en-US" dirty="0"/>
              <a:t>吸入麻酔: 呼気麻酔薬濃度（ETAC: end-tidal anesthetic concentration）の下限アラームを設定する。B-Unaware では呼気濃度の目標を 0.7〜1.3 MAC とし、BAG-RECALL では 0.7 MAC 未満または 1.3 MAC 超でアラームが鳴るように設定した。B-Unaware の確実な覚醒 4 例のうち 3 例では、呼気濃度が 0.7 MAC 未満だった。0.7 MAC は試験の設定値で、ガイドラインが定めた閾値ではない。</a:t>
            </a:r>
          </a:p>
          <a:p>
            <a:r>
              <a:rPr lang="ja-JP" altLang="en-US" dirty="0"/>
              <a:t>根拠: 英国 NICE の DG6（2012 年）は、脳波モニターを、覚醒や深すぎる麻酔の危険が高い患者と、TIVA を受けるすべての患者で選択肢として推奨している【要確認: 推奨 1.1・1.2 の原文】。NAP5 は TIVA と筋弛緩薬を併用するときの使用を推奨している【要確認: NAP5 報告書本体の推奨の原文】。日本麻酔科学会のモニター指針では「脳波モニターは必要に応じて装着すること」【要確認: 2025年版の文言】。</a:t>
            </a:r>
          </a:p>
          <a:p>
            <a:r>
              <a:rPr lang="ja-JP" altLang="en-US" dirty="0"/>
              <a:t>当院での実装: 装置の有無、センサーの保管場所、どの症例に使うかは施設で決める（講義のあとに確認する）。</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① 薬が届いているか: TIVA では、静脈路の刺入部が見えること、ポンプが動いていて残量があること、三方活栓が開いていること、ラインが外れていないことを定期的に確認する。吸入麻酔では呼気濃度の下限アラーム。薬剤のラベルと投与順（鎮静薬より先に筋弛緩薬を入れない）も確認する。</a:t>
            </a:r>
          </a:p>
          <a:p>
            <a:r>
              <a:rPr lang="ja-JP" altLang="en-US" dirty="0"/>
              <a:t>② 導入〜挿管の空白: 導入薬（プロポフォールなど）を 1 回だけ入れた効果は、薬が体内にすばやく広がるので短時間で切れる。量・年齢・薬の種類で長さは変わる。迅速導入で挿管に手間取ったとき、搬送や体位変換のときは、麻酔薬の追加を忘れない（NAP5 では、導入時の覚醒にチオペンタール、迅速導入、肥満、気道確保の困難、筋弛緩薬、搬送中の投与中断が関わっていた）。</a:t>
            </a:r>
          </a:p>
          <a:p>
            <a:r>
              <a:rPr lang="ja-JP" altLang="en-US" dirty="0"/>
              <a:t>③ 筋弛緩: 必要なときだけ使い、深さをモニターする（→ 2-6）。「深い筋弛緩と浅い麻酔」の組み合わせが最も危険。</a:t>
            </a:r>
          </a:p>
          <a:p>
            <a:r>
              <a:rPr lang="ja-JP" altLang="en-US" dirty="0"/>
              <a:t>④ 覚醒時: 筋弛緩が回復（定量モニターで TOF比 0.9 以上）してから麻酔を浅くする。動けない状態で意識が戻る時間を作らない（NAP5 では、覚醒期の残存筋弛緩が術中覚醒として体験されていた）。</a:t>
            </a:r>
          </a:p>
          <a:p>
            <a:r>
              <a:rPr lang="ja-JP" altLang="en-US" dirty="0"/>
              <a:t>⑤ 疑ったら: 患者が覚醒を訴えたら、否定せずに話を聞き、起きたことを説明し、記録に残し、精神的なフォロー（必要なら専門家）につなぐ。決まった質問（改変 Brice 質問票）で術後に聞く施設もある。高リスク症例（帝王切開の全身麻酔など）では、術前に覚醒の可能性を説明しておく。</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まとめ（約 1 分。1 項目 10〜15 秒）。</a:t>
            </a:r>
          </a:p>
          <a:p>
            <a:r>
              <a:rPr lang="ja-JP" altLang="en-US" dirty="0"/>
              <a:t>1 つ目、頻度: 術中覚醒は、患者の自己申告で約 1/19,000、筋弛緩薬を使った麻酔では約 1/8,200 と多くなる。面接で聞き出すと 1〜2/1,000 の報告もある。まれだが、PTSD につながることがある。</a:t>
            </a:r>
          </a:p>
          <a:p>
            <a:r>
              <a:rPr lang="ja-JP" altLang="en-US" dirty="0"/>
              <a:t>2 つ目、脳波: 十分に眠っているときの脳波は、前頭部の α 波（8〜12 Hz）と、ゆっくり大きい δ 波の組み合わせ。平坦な区間（バーストサプレッション）が出たら、麻酔が深すぎるサイン。</a:t>
            </a:r>
          </a:p>
          <a:p>
            <a:r>
              <a:rPr lang="ja-JP" altLang="en-US" dirty="0"/>
              <a:t>3 つ目、BIS: 40〜60 は目安で、保証ではない。表示は遅れるので、一点の値ではなく傾向を見て、生波形・SQI・EMG・SR も一緒に確かめる。</a:t>
            </a:r>
          </a:p>
          <a:p>
            <a:r>
              <a:rPr lang="ja-JP" altLang="en-US" dirty="0"/>
              <a:t>4 つ目、誰に付けるか: TIVA で筋弛緩薬を使うときは、薬の濃度が見えず、患者も動けないので、脳波モニターを付ける。吸入麻酔では、呼気麻酔薬濃度の下限アラームが現実的な予防策になる。</a:t>
            </a:r>
          </a:p>
          <a:p>
            <a:r>
              <a:rPr lang="ja-JP" altLang="en-US" dirty="0"/>
              <a:t>5 つ目、予防: 静脈路・ポンプ・ライン、吸入麻酔なら呼気濃度で、薬が患者に届いているかを確かめることが、いちばんの予防。患者が覚醒を訴えたら、否定せずに聞き、記録し、フォローにつなぐ。</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AWAZOE">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502920" y="320040"/>
            <a:ext cx="8503920" cy="868680"/>
          </a:xfrm>
          <a:prstGeom prst="rect">
            <a:avLst/>
          </a:prstGeom>
          <a:noFill/>
          <a:ln/>
        </p:spPr>
        <p:txBody>
          <a:bodyPr wrap="square" lIns="0" tIns="0" rIns="0" bIns="0" rtlCol="0" anchor="ctr"/>
          <a:lstStyle>
            <a:lvl1pPr algn="l" indent="0" marL="0">
              <a:buNone/>
              <a:defRPr lang="en-US" sz="4400" b="1" dirty="0">
                <a:ln w="28575">
                  <a:solidFill>
                    <a:srgbClr val="000000"/>
                  </a:solidFill>
                </a:ln>
                <a:solidFill>
                  <a:srgbClr val="BF9000"/>
                </a:solidFill>
                <a:latin typeface="メイリオ" pitchFamily="34" charset="0"/>
                <a:ea typeface="メイリオ" pitchFamily="34" charset="-122"/>
                <a:cs typeface="メイリオ" pitchFamily="34" charset="-120"/>
              </a:defRPr>
            </a:lvl1pPr>
          </a:lstStyle>
          <a:p>
            <a:pPr algn="l" indent="0" marL="0">
              <a:buNone/>
            </a:pPr>
            <a:endParaRPr lang="en-US" sz="4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AWAZOE_COVER">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502920" y="1508760"/>
            <a:ext cx="11183112" cy="1737360"/>
          </a:xfrm>
          <a:prstGeom prst="rect">
            <a:avLst/>
          </a:prstGeom>
          <a:noFill/>
          <a:ln/>
        </p:spPr>
        <p:txBody>
          <a:bodyPr wrap="square" lIns="0" tIns="0" rIns="0" bIns="0" rtlCol="0" anchor="b"/>
          <a:lstStyle>
            <a:lvl1pPr algn="ctr" indent="0" marL="0">
              <a:buNone/>
              <a:defRPr lang="en-US" sz="4400" b="1" dirty="0">
                <a:ln w="28575">
                  <a:solidFill>
                    <a:srgbClr val="000000"/>
                  </a:solidFill>
                </a:ln>
                <a:solidFill>
                  <a:srgbClr val="BF9000"/>
                </a:solidFill>
                <a:latin typeface="メイリオ" pitchFamily="34" charset="0"/>
                <a:ea typeface="メイリオ" pitchFamily="34" charset="-122"/>
                <a:cs typeface="メイリオ" pitchFamily="34" charset="-120"/>
              </a:defRPr>
            </a:lvl1pPr>
          </a:lstStyle>
          <a:p>
            <a:pPr algn="ctr" indent="0" marL="0">
              <a:buNone/>
            </a:pPr>
            <a:endParaRPr lang="en-US" sz="4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p:cNvSpPr>
            <a:spLocks noGrp="1"/>
          </p:cNvSpPr>
          <p:nvPr>
            <p:ph type="title"/>
          </p:nvPr>
        </p:nvSpPr>
        <p:spPr>
          <a:xfrm>
            <a:off x="502920" y="1508760"/>
            <a:ext cx="11183112" cy="1737360"/>
          </a:xfrm>
          <a:prstGeom prst="rect">
            <a:avLst/>
          </a:prstGeom>
          <a:noFill/>
          <a:ln/>
        </p:spPr>
        <p:txBody>
          <a:bodyPr wrap="square" lIns="0" tIns="0" rIns="0" bIns="0" rtlCol="0" anchor="b"/>
          <a:lstStyle/>
          <a:p>
            <a:pPr algn="ctr"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脳波モニターと術中覚醒</a:t>
            </a:r>
            <a:endParaRPr lang="ja-JP" sz="4400" dirty="0"/>
          </a:p>
        </p:txBody>
      </p:sp>
      <p:sp>
        <p:nvSpPr>
          <p:cNvPr id="3" name="Shape 1"/>
          <p:cNvSpPr/>
          <p:nvPr/>
        </p:nvSpPr>
        <p:spPr>
          <a:xfrm>
            <a:off x="0" y="3474720"/>
            <a:ext cx="12191970" cy="0"/>
          </a:xfrm>
          <a:prstGeom prst="line">
            <a:avLst/>
          </a:prstGeom>
          <a:noFill/>
          <a:ln w="101600">
            <a:solidFill>
              <a:srgbClr val="BF9000"/>
            </a:solidFill>
            <a:prstDash val="solid"/>
          </a:ln>
        </p:spPr>
      </p:sp>
      <p:sp>
        <p:nvSpPr>
          <p:cNvPr id="4" name="Text 2"/>
          <p:cNvSpPr txBox="1"/>
          <p:nvPr/>
        </p:nvSpPr>
        <p:spPr>
          <a:xfrm>
            <a:off x="502920" y="3749040"/>
            <a:ext cx="11183112" cy="539496"/>
          </a:xfrm>
          <a:prstGeom prst="rect">
            <a:avLst/>
          </a:prstGeom>
          <a:noFill/>
          <a:ln/>
        </p:spPr>
        <p:txBody>
          <a:bodyPr wrap="square" lIns="0" tIns="0" rIns="0" bIns="0" rtlCol="0" anchor="t"/>
          <a:lstStyle/>
          <a:p>
            <a:pPr algn="ctr" indent="0" marL="0">
              <a:buNone/>
            </a:pPr>
            <a:r>
              <a:rPr lang="ja-JP" altLang="en-US" sz="2800" dirty="0">
                <a:solidFill>
                  <a:srgbClr val="262626"/>
                </a:solidFill>
                <a:latin typeface="メイリオ" pitchFamily="34" charset="0"/>
                <a:ea typeface="メイリオ" pitchFamily="34" charset="-122"/>
                <a:cs typeface="メイリオ" pitchFamily="34" charset="-120"/>
              </a:rPr>
              <a:t>2-8 モニタリング（発展）</a:t>
            </a:r>
            <a:endParaRPr lang="ja-JP" sz="2800" dirty="0"/>
          </a:p>
        </p:txBody>
      </p:sp>
      <p:sp>
        <p:nvSpPr>
          <p:cNvPr id="5" name="Text 3"/>
          <p:cNvSpPr txBox="1"/>
          <p:nvPr/>
        </p:nvSpPr>
        <p:spPr>
          <a:xfrm>
            <a:off x="502920" y="4693920"/>
            <a:ext cx="11183112" cy="420624"/>
          </a:xfrm>
          <a:prstGeom prst="rect">
            <a:avLst/>
          </a:prstGeom>
          <a:noFill/>
          <a:ln/>
        </p:spPr>
        <p:txBody>
          <a:bodyPr wrap="square" lIns="0" tIns="0" rIns="0" bIns="0" rtlCol="0" anchor="t"/>
          <a:lstStyle/>
          <a:p>
            <a:pPr algn="ctr" indent="0" marL="0">
              <a:buNone/>
            </a:pPr>
            <a:r>
              <a:rPr lang="ja-JP" altLang="en-US" sz="2200" dirty="0">
                <a:solidFill>
                  <a:srgbClr val="595959"/>
                </a:solidFill>
                <a:latin typeface="メイリオ" pitchFamily="34" charset="0"/>
                <a:ea typeface="メイリオ" pitchFamily="34" charset="-122"/>
                <a:cs typeface="メイリオ" pitchFamily="34" charset="-120"/>
              </a:rPr>
              <a:t>初期研修医向け麻酔講義</a:t>
            </a:r>
            <a:endParaRPr lang="ja-JP"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術中覚醒の頻度</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00A8AA"/>
          </a:solidFill>
          <a:ln/>
        </p:spPr>
        <p:txBody>
          <a:bodyPr wrap="squar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覚醒</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脳波</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BIS</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限界</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予防</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1</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Pandit JJ, et al. 5th National Audit Project (NAP5). Br J Anaesth 2014;113:549-559</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Sebel PS, et al. Anesth Analg 2004;99:833-839</a:t>
            </a:r>
            <a:endParaRPr lang="ja-JP" sz="1600" dirty="0"/>
          </a:p>
        </p:txBody>
      </p:sp>
      <p:sp>
        <p:nvSpPr>
          <p:cNvPr id="11" name="Shape 9"/>
          <p:cNvSpPr/>
          <p:nvPr/>
        </p:nvSpPr>
        <p:spPr>
          <a:xfrm>
            <a:off x="502920" y="1691640"/>
            <a:ext cx="5440680" cy="1508760"/>
          </a:xfrm>
          <a:prstGeom prst="roundRect">
            <a:avLst>
              <a:gd name="adj" fmla="val 4848"/>
            </a:avLst>
          </a:prstGeom>
          <a:solidFill>
            <a:srgbClr val="F2F2F2"/>
          </a:solidFill>
          <a:ln/>
        </p:spPr>
      </p:sp>
      <p:sp>
        <p:nvSpPr>
          <p:cNvPr id="12" name="Text 10"/>
          <p:cNvSpPr txBox="1"/>
          <p:nvPr/>
        </p:nvSpPr>
        <p:spPr>
          <a:xfrm>
            <a:off x="640080" y="1783080"/>
            <a:ext cx="5166360" cy="841248"/>
          </a:xfrm>
          <a:prstGeom prst="rect">
            <a:avLst/>
          </a:prstGeom>
          <a:noFill/>
          <a:ln/>
        </p:spPr>
        <p:txBody>
          <a:bodyPr wrap="square" lIns="0" tIns="0" rIns="0" bIns="0" rtlCol="0" anchor="ctr"/>
          <a:lstStyle/>
          <a:p>
            <a:pPr algn="ctr" indent="0" marL="0">
              <a:buNone/>
            </a:pPr>
            <a:r>
              <a:rPr lang="ja-JP" altLang="en-US" sz="2800" dirty="0">
                <a:solidFill>
                  <a:srgbClr val="262626"/>
                </a:solidFill>
                <a:latin typeface="メイリオ" pitchFamily="34" charset="0"/>
                <a:ea typeface="メイリオ" pitchFamily="34" charset="-122"/>
                <a:cs typeface="メイリオ" pitchFamily="34" charset="-120"/>
              </a:rPr>
              <a:t>約 </a:t>
            </a:r>
            <a:r>
              <a:rPr lang="ja-JP" altLang="en-US" sz="4400" b="1" dirty="0">
                <a:solidFill>
                  <a:srgbClr val="0072B2"/>
                </a:solidFill>
                <a:latin typeface="メイリオ" pitchFamily="34" charset="0"/>
                <a:ea typeface="メイリオ" pitchFamily="34" charset="-122"/>
                <a:cs typeface="メイリオ" pitchFamily="34" charset="-120"/>
              </a:rPr>
              <a:t>1/19,000</a:t>
            </a:r>
            <a:endParaRPr lang="ja-JP" sz="4400" dirty="0"/>
          </a:p>
        </p:txBody>
      </p:sp>
      <p:sp>
        <p:nvSpPr>
          <p:cNvPr id="13" name="Text 11"/>
          <p:cNvSpPr txBox="1"/>
          <p:nvPr/>
        </p:nvSpPr>
        <p:spPr>
          <a:xfrm>
            <a:off x="640080" y="2660904"/>
            <a:ext cx="5166360" cy="420624"/>
          </a:xfrm>
          <a:prstGeom prst="rect">
            <a:avLst/>
          </a:prstGeom>
          <a:noFill/>
          <a:ln/>
        </p:spPr>
        <p:txBody>
          <a:bodyPr wrap="square" lIns="0" tIns="0" rIns="0" bIns="0" rtlCol="0" anchor="t"/>
          <a:lstStyle/>
          <a:p>
            <a:pPr algn="ctr" indent="0" marL="0">
              <a:buNone/>
            </a:pPr>
            <a:r>
              <a:rPr lang="ja-JP" altLang="en-US" sz="2200" dirty="0">
                <a:solidFill>
                  <a:srgbClr val="262626"/>
                </a:solidFill>
                <a:latin typeface="メイリオ" pitchFamily="34" charset="0"/>
                <a:ea typeface="メイリオ" pitchFamily="34" charset="-122"/>
                <a:cs typeface="メイリオ" pitchFamily="34" charset="-120"/>
              </a:rPr>
              <a:t>自己申告（NAP5、全体）</a:t>
            </a:r>
            <a:endParaRPr lang="ja-JP" sz="2200" dirty="0"/>
          </a:p>
        </p:txBody>
      </p:sp>
      <p:sp>
        <p:nvSpPr>
          <p:cNvPr id="14" name="Shape 12"/>
          <p:cNvSpPr/>
          <p:nvPr/>
        </p:nvSpPr>
        <p:spPr>
          <a:xfrm>
            <a:off x="6245352" y="1691640"/>
            <a:ext cx="5440680" cy="1508760"/>
          </a:xfrm>
          <a:prstGeom prst="roundRect">
            <a:avLst>
              <a:gd name="adj" fmla="val 4848"/>
            </a:avLst>
          </a:prstGeom>
          <a:solidFill>
            <a:srgbClr val="F2F2F2"/>
          </a:solidFill>
          <a:ln/>
        </p:spPr>
      </p:sp>
      <p:sp>
        <p:nvSpPr>
          <p:cNvPr id="15" name="Text 13"/>
          <p:cNvSpPr txBox="1"/>
          <p:nvPr/>
        </p:nvSpPr>
        <p:spPr>
          <a:xfrm>
            <a:off x="6382512" y="1783080"/>
            <a:ext cx="5166360" cy="841248"/>
          </a:xfrm>
          <a:prstGeom prst="rect">
            <a:avLst/>
          </a:prstGeom>
          <a:noFill/>
          <a:ln/>
        </p:spPr>
        <p:txBody>
          <a:bodyPr wrap="square" lIns="0" tIns="0" rIns="0" bIns="0" rtlCol="0" anchor="ctr"/>
          <a:lstStyle/>
          <a:p>
            <a:pPr algn="ctr" indent="0" marL="0">
              <a:buNone/>
            </a:pPr>
            <a:r>
              <a:rPr lang="ja-JP" altLang="en-US" sz="2800" dirty="0">
                <a:solidFill>
                  <a:srgbClr val="262626"/>
                </a:solidFill>
                <a:latin typeface="メイリオ" pitchFamily="34" charset="0"/>
                <a:ea typeface="メイリオ" pitchFamily="34" charset="-122"/>
                <a:cs typeface="メイリオ" pitchFamily="34" charset="-120"/>
              </a:rPr>
              <a:t>約 </a:t>
            </a:r>
            <a:r>
              <a:rPr lang="ja-JP" altLang="en-US" sz="4400" b="1" dirty="0">
                <a:solidFill>
                  <a:srgbClr val="D55E00"/>
                </a:solidFill>
                <a:latin typeface="メイリオ" pitchFamily="34" charset="0"/>
                <a:ea typeface="メイリオ" pitchFamily="34" charset="-122"/>
                <a:cs typeface="メイリオ" pitchFamily="34" charset="-120"/>
              </a:rPr>
              <a:t>1/8,200</a:t>
            </a:r>
            <a:endParaRPr lang="ja-JP" sz="4400" dirty="0"/>
          </a:p>
        </p:txBody>
      </p:sp>
      <p:sp>
        <p:nvSpPr>
          <p:cNvPr id="16" name="Text 14"/>
          <p:cNvSpPr txBox="1"/>
          <p:nvPr/>
        </p:nvSpPr>
        <p:spPr>
          <a:xfrm>
            <a:off x="6382512" y="2660904"/>
            <a:ext cx="5166360" cy="420624"/>
          </a:xfrm>
          <a:prstGeom prst="rect">
            <a:avLst/>
          </a:prstGeom>
          <a:noFill/>
          <a:ln/>
        </p:spPr>
        <p:txBody>
          <a:bodyPr wrap="square" lIns="0" tIns="0" rIns="0" bIns="0" rtlCol="0" anchor="t"/>
          <a:lstStyle/>
          <a:p>
            <a:pPr algn="ctr" indent="0" marL="0">
              <a:buNone/>
            </a:pPr>
            <a:r>
              <a:rPr lang="ja-JP" altLang="en-US" sz="2200" dirty="0">
                <a:solidFill>
                  <a:srgbClr val="262626"/>
                </a:solidFill>
                <a:latin typeface="メイリオ" pitchFamily="34" charset="0"/>
                <a:ea typeface="メイリオ" pitchFamily="34" charset="-122"/>
                <a:cs typeface="メイリオ" pitchFamily="34" charset="-120"/>
              </a:rPr>
              <a:t>筋弛緩薬を使った麻酔</a:t>
            </a:r>
            <a:endParaRPr lang="ja-JP" sz="2200" dirty="0"/>
          </a:p>
        </p:txBody>
      </p:sp>
      <p:sp>
        <p:nvSpPr>
          <p:cNvPr id="17" name="Shape 15"/>
          <p:cNvSpPr/>
          <p:nvPr/>
        </p:nvSpPr>
        <p:spPr>
          <a:xfrm>
            <a:off x="502920" y="3456432"/>
            <a:ext cx="5440680" cy="1508760"/>
          </a:xfrm>
          <a:prstGeom prst="roundRect">
            <a:avLst>
              <a:gd name="adj" fmla="val 4848"/>
            </a:avLst>
          </a:prstGeom>
          <a:solidFill>
            <a:srgbClr val="F2F2F2"/>
          </a:solidFill>
          <a:ln/>
        </p:spPr>
      </p:sp>
      <p:sp>
        <p:nvSpPr>
          <p:cNvPr id="18" name="Text 16"/>
          <p:cNvSpPr txBox="1"/>
          <p:nvPr/>
        </p:nvSpPr>
        <p:spPr>
          <a:xfrm>
            <a:off x="640080" y="3547872"/>
            <a:ext cx="5166360" cy="841248"/>
          </a:xfrm>
          <a:prstGeom prst="rect">
            <a:avLst/>
          </a:prstGeom>
          <a:noFill/>
          <a:ln/>
        </p:spPr>
        <p:txBody>
          <a:bodyPr wrap="square" lIns="0" tIns="0" rIns="0" bIns="0" rtlCol="0" anchor="ctr"/>
          <a:lstStyle/>
          <a:p>
            <a:pPr algn="ctr" indent="0" marL="0">
              <a:buNone/>
            </a:pPr>
            <a:r>
              <a:rPr lang="ja-JP" altLang="en-US" sz="2800" dirty="0">
                <a:solidFill>
                  <a:srgbClr val="262626"/>
                </a:solidFill>
                <a:latin typeface="メイリオ" pitchFamily="34" charset="0"/>
                <a:ea typeface="メイリオ" pitchFamily="34" charset="-122"/>
                <a:cs typeface="メイリオ" pitchFamily="34" charset="-120"/>
              </a:rPr>
              <a:t>約 </a:t>
            </a:r>
            <a:r>
              <a:rPr lang="ja-JP" altLang="en-US" sz="4400" b="1" dirty="0">
                <a:solidFill>
                  <a:srgbClr val="0072B2"/>
                </a:solidFill>
                <a:latin typeface="メイリオ" pitchFamily="34" charset="0"/>
                <a:ea typeface="メイリオ" pitchFamily="34" charset="-122"/>
                <a:cs typeface="メイリオ" pitchFamily="34" charset="-120"/>
              </a:rPr>
              <a:t>1/135,900</a:t>
            </a:r>
            <a:endParaRPr lang="ja-JP" sz="4400" dirty="0"/>
          </a:p>
        </p:txBody>
      </p:sp>
      <p:sp>
        <p:nvSpPr>
          <p:cNvPr id="19" name="Text 17"/>
          <p:cNvSpPr txBox="1"/>
          <p:nvPr/>
        </p:nvSpPr>
        <p:spPr>
          <a:xfrm>
            <a:off x="640080" y="4425696"/>
            <a:ext cx="5166360" cy="420624"/>
          </a:xfrm>
          <a:prstGeom prst="rect">
            <a:avLst/>
          </a:prstGeom>
          <a:noFill/>
          <a:ln/>
        </p:spPr>
        <p:txBody>
          <a:bodyPr wrap="square" lIns="0" tIns="0" rIns="0" bIns="0" rtlCol="0" anchor="t"/>
          <a:lstStyle/>
          <a:p>
            <a:pPr algn="ctr" indent="0" marL="0">
              <a:buNone/>
            </a:pPr>
            <a:r>
              <a:rPr lang="ja-JP" altLang="en-US" sz="2200" dirty="0">
                <a:solidFill>
                  <a:srgbClr val="262626"/>
                </a:solidFill>
                <a:latin typeface="メイリオ" pitchFamily="34" charset="0"/>
                <a:ea typeface="メイリオ" pitchFamily="34" charset="-122"/>
                <a:cs typeface="メイリオ" pitchFamily="34" charset="-120"/>
              </a:rPr>
              <a:t>筋弛緩薬を使わない麻酔</a:t>
            </a:r>
            <a:endParaRPr lang="ja-JP" sz="2200" dirty="0"/>
          </a:p>
        </p:txBody>
      </p:sp>
      <p:sp>
        <p:nvSpPr>
          <p:cNvPr id="20" name="Shape 18"/>
          <p:cNvSpPr/>
          <p:nvPr/>
        </p:nvSpPr>
        <p:spPr>
          <a:xfrm>
            <a:off x="6245352" y="3456432"/>
            <a:ext cx="5440680" cy="1508760"/>
          </a:xfrm>
          <a:prstGeom prst="roundRect">
            <a:avLst>
              <a:gd name="adj" fmla="val 4848"/>
            </a:avLst>
          </a:prstGeom>
          <a:solidFill>
            <a:srgbClr val="F2F2F2"/>
          </a:solidFill>
          <a:ln/>
        </p:spPr>
      </p:sp>
      <p:sp>
        <p:nvSpPr>
          <p:cNvPr id="21" name="Text 19"/>
          <p:cNvSpPr txBox="1"/>
          <p:nvPr/>
        </p:nvSpPr>
        <p:spPr>
          <a:xfrm>
            <a:off x="6382512" y="3547872"/>
            <a:ext cx="5166360" cy="841248"/>
          </a:xfrm>
          <a:prstGeom prst="rect">
            <a:avLst/>
          </a:prstGeom>
          <a:noFill/>
          <a:ln/>
        </p:spPr>
        <p:txBody>
          <a:bodyPr wrap="square" lIns="0" tIns="0" rIns="0" bIns="0" rtlCol="0" anchor="ctr"/>
          <a:lstStyle/>
          <a:p>
            <a:pPr algn="ctr" indent="0" marL="0">
              <a:buNone/>
            </a:pPr>
            <a:r>
              <a:rPr lang="ja-JP" altLang="en-US" sz="2800" dirty="0">
                <a:solidFill>
                  <a:srgbClr val="262626"/>
                </a:solidFill>
                <a:latin typeface="メイリオ" pitchFamily="34" charset="0"/>
                <a:ea typeface="メイリオ" pitchFamily="34" charset="-122"/>
                <a:cs typeface="メイリオ" pitchFamily="34" charset="-120"/>
              </a:rPr>
              <a:t>約 </a:t>
            </a:r>
            <a:r>
              <a:rPr lang="ja-JP" altLang="en-US" sz="4400" b="1" dirty="0">
                <a:solidFill>
                  <a:srgbClr val="D55E00"/>
                </a:solidFill>
                <a:latin typeface="メイリオ" pitchFamily="34" charset="0"/>
                <a:ea typeface="メイリオ" pitchFamily="34" charset="-122"/>
                <a:cs typeface="メイリオ" pitchFamily="34" charset="-120"/>
              </a:rPr>
              <a:t>1/670</a:t>
            </a:r>
            <a:endParaRPr lang="ja-JP" sz="4400" dirty="0"/>
          </a:p>
        </p:txBody>
      </p:sp>
      <p:sp>
        <p:nvSpPr>
          <p:cNvPr id="22" name="Text 20"/>
          <p:cNvSpPr txBox="1"/>
          <p:nvPr/>
        </p:nvSpPr>
        <p:spPr>
          <a:xfrm>
            <a:off x="6382512" y="4425696"/>
            <a:ext cx="5166360" cy="420624"/>
          </a:xfrm>
          <a:prstGeom prst="rect">
            <a:avLst/>
          </a:prstGeom>
          <a:noFill/>
          <a:ln/>
        </p:spPr>
        <p:txBody>
          <a:bodyPr wrap="square" lIns="0" tIns="0" rIns="0" bIns="0" rtlCol="0" anchor="t"/>
          <a:lstStyle/>
          <a:p>
            <a:pPr algn="ctr" indent="0" marL="0">
              <a:buNone/>
            </a:pPr>
            <a:r>
              <a:rPr lang="ja-JP" altLang="en-US" sz="2200" dirty="0">
                <a:solidFill>
                  <a:srgbClr val="262626"/>
                </a:solidFill>
                <a:latin typeface="メイリオ" pitchFamily="34" charset="0"/>
                <a:ea typeface="メイリオ" pitchFamily="34" charset="-122"/>
                <a:cs typeface="メイリオ" pitchFamily="34" charset="-120"/>
              </a:rPr>
              <a:t>帝王切開（全身麻酔）</a:t>
            </a:r>
            <a:endParaRPr lang="ja-JP" sz="2200" dirty="0"/>
          </a:p>
        </p:txBody>
      </p:sp>
      <p:sp>
        <p:nvSpPr>
          <p:cNvPr id="23" name="Text 21"/>
          <p:cNvSpPr txBox="1"/>
          <p:nvPr/>
        </p:nvSpPr>
        <p:spPr>
          <a:xfrm>
            <a:off x="502920" y="5212080"/>
            <a:ext cx="11183112" cy="457200"/>
          </a:xfrm>
          <a:prstGeom prst="rect">
            <a:avLst/>
          </a:prstGeom>
          <a:noFill/>
          <a:ln/>
        </p:spPr>
        <p:txBody>
          <a:bodyPr wrap="square" lIns="0" tIns="0" rIns="0" bIns="0" rtlCol="0" anchor="t"/>
          <a:lstStyle/>
          <a:p>
            <a:pPr algn="ctr" indent="0" marL="0">
              <a:buNone/>
            </a:pPr>
            <a:r>
              <a:rPr lang="ja-JP" altLang="en-US" sz="2400" dirty="0">
                <a:solidFill>
                  <a:srgbClr val="262626"/>
                </a:solidFill>
                <a:latin typeface="メイリオ" pitchFamily="34" charset="0"/>
                <a:ea typeface="メイリオ" pitchFamily="34" charset="-122"/>
                <a:cs typeface="メイリオ" pitchFamily="34" charset="-120"/>
              </a:rPr>
              <a:t>面接で聞き出すと </a:t>
            </a:r>
            <a:r>
              <a:rPr lang="ja-JP" altLang="en-US" sz="2400" b="1" dirty="0">
                <a:solidFill>
                  <a:srgbClr val="00A8AA"/>
                </a:solidFill>
                <a:latin typeface="メイリオ" pitchFamily="34" charset="0"/>
                <a:ea typeface="メイリオ" pitchFamily="34" charset="-122"/>
                <a:cs typeface="メイリオ" pitchFamily="34" charset="-120"/>
              </a:rPr>
              <a:t>1–2 / 1,000</a:t>
            </a:r>
            <a:r>
              <a:rPr lang="ja-JP" altLang="en-US" sz="2400" dirty="0">
                <a:solidFill>
                  <a:srgbClr val="262626"/>
                </a:solidFill>
                <a:latin typeface="メイリオ" pitchFamily="34" charset="0"/>
                <a:ea typeface="メイリオ" pitchFamily="34" charset="-122"/>
                <a:cs typeface="メイリオ" pitchFamily="34" charset="-120"/>
              </a:rPr>
              <a:t> の報告もある（Brice 法）</a:t>
            </a:r>
            <a:endParaRPr lang="ja-JP"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危険因子</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00A8AA"/>
          </a:solidFill>
          <a:ln/>
        </p:spPr>
        <p:txBody>
          <a:bodyPr wrap="squar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覚醒</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脳波</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BIS</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限界</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予防</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2</a:t>
            </a:r>
            <a:endParaRPr lang="ja-JP" sz="1200" dirty="0"/>
          </a:p>
        </p:txBody>
      </p:sp>
      <p:sp>
        <p:nvSpPr>
          <p:cNvPr id="10" name="Text 8"/>
          <p:cNvSpPr txBox="1"/>
          <p:nvPr/>
        </p:nvSpPr>
        <p:spPr>
          <a:xfrm>
            <a:off x="502920" y="6263640"/>
            <a:ext cx="10607040" cy="45720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Pandit JJ, et al. Br J Anaesth 2014;113:549-559</a:t>
            </a:r>
            <a:endParaRPr lang="ja-JP" sz="1600" dirty="0"/>
          </a:p>
        </p:txBody>
      </p:sp>
      <p:sp>
        <p:nvSpPr>
          <p:cNvPr id="11" name="Shape 9"/>
          <p:cNvSpPr/>
          <p:nvPr/>
        </p:nvSpPr>
        <p:spPr>
          <a:xfrm>
            <a:off x="502920" y="1783080"/>
            <a:ext cx="3421888" cy="4014216"/>
          </a:xfrm>
          <a:prstGeom prst="roundRect">
            <a:avLst>
              <a:gd name="adj" fmla="val 2138"/>
            </a:avLst>
          </a:prstGeom>
          <a:solidFill>
            <a:srgbClr val="F2F2F2"/>
          </a:solidFill>
          <a:ln/>
        </p:spPr>
      </p:sp>
      <p:sp>
        <p:nvSpPr>
          <p:cNvPr id="12" name="Text 10"/>
          <p:cNvSpPr txBox="1"/>
          <p:nvPr/>
        </p:nvSpPr>
        <p:spPr>
          <a:xfrm>
            <a:off x="640080" y="2011680"/>
            <a:ext cx="3147568" cy="502920"/>
          </a:xfrm>
          <a:prstGeom prst="rect">
            <a:avLst/>
          </a:prstGeom>
          <a:noFill/>
          <a:ln/>
        </p:spPr>
        <p:txBody>
          <a:bodyPr wrap="square" lIns="0" tIns="0" rIns="0" bIns="0" rtlCol="0" anchor="t"/>
          <a:lstStyle/>
          <a:p>
            <a:pPr algn="l" indent="0" marL="0">
              <a:buNone/>
            </a:pPr>
            <a:r>
              <a:rPr lang="ja-JP" altLang="en-US" sz="2600" b="1" dirty="0">
                <a:solidFill>
                  <a:srgbClr val="0072B2"/>
                </a:solidFill>
                <a:latin typeface="メイリオ" pitchFamily="34" charset="0"/>
                <a:ea typeface="メイリオ" pitchFamily="34" charset="-122"/>
                <a:cs typeface="メイリオ" pitchFamily="34" charset="-120"/>
              </a:rPr>
              <a:t>患者</a:t>
            </a:r>
            <a:endParaRPr lang="ja-JP" sz="2600" dirty="0"/>
          </a:p>
        </p:txBody>
      </p:sp>
      <p:sp>
        <p:nvSpPr>
          <p:cNvPr id="13" name="Text 11"/>
          <p:cNvSpPr txBox="1"/>
          <p:nvPr/>
        </p:nvSpPr>
        <p:spPr>
          <a:xfrm>
            <a:off x="640080" y="2752344"/>
            <a:ext cx="3147568"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術中覚醒の既往</a:t>
            </a:r>
            <a:endParaRPr lang="ja-JP" sz="2200" dirty="0"/>
          </a:p>
        </p:txBody>
      </p:sp>
      <p:sp>
        <p:nvSpPr>
          <p:cNvPr id="14" name="Text 12"/>
          <p:cNvSpPr txBox="1"/>
          <p:nvPr/>
        </p:nvSpPr>
        <p:spPr>
          <a:xfrm>
            <a:off x="640080" y="3410712"/>
            <a:ext cx="3147568"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若年成人・女性・肥満</a:t>
            </a:r>
            <a:endParaRPr lang="ja-JP" sz="2200" dirty="0"/>
          </a:p>
        </p:txBody>
      </p:sp>
      <p:sp>
        <p:nvSpPr>
          <p:cNvPr id="15" name="Shape 13"/>
          <p:cNvSpPr/>
          <p:nvPr/>
        </p:nvSpPr>
        <p:spPr>
          <a:xfrm>
            <a:off x="4199128" y="1783080"/>
            <a:ext cx="3809919" cy="4014216"/>
          </a:xfrm>
          <a:prstGeom prst="roundRect">
            <a:avLst>
              <a:gd name="adj" fmla="val 1920"/>
            </a:avLst>
          </a:prstGeom>
          <a:solidFill>
            <a:srgbClr val="F2F2F2"/>
          </a:solidFill>
          <a:ln/>
        </p:spPr>
      </p:sp>
      <p:sp>
        <p:nvSpPr>
          <p:cNvPr id="16" name="Text 14"/>
          <p:cNvSpPr txBox="1"/>
          <p:nvPr/>
        </p:nvSpPr>
        <p:spPr>
          <a:xfrm>
            <a:off x="4336288" y="2011680"/>
            <a:ext cx="3535599" cy="502920"/>
          </a:xfrm>
          <a:prstGeom prst="rect">
            <a:avLst/>
          </a:prstGeom>
          <a:noFill/>
          <a:ln/>
        </p:spPr>
        <p:txBody>
          <a:bodyPr wrap="square" lIns="0" tIns="0" rIns="0" bIns="0" rtlCol="0" anchor="t"/>
          <a:lstStyle/>
          <a:p>
            <a:pPr algn="l" indent="0" marL="0">
              <a:buNone/>
            </a:pPr>
            <a:r>
              <a:rPr lang="ja-JP" altLang="en-US" sz="2600" b="1" dirty="0">
                <a:solidFill>
                  <a:srgbClr val="D55E00"/>
                </a:solidFill>
                <a:latin typeface="メイリオ" pitchFamily="34" charset="0"/>
                <a:ea typeface="メイリオ" pitchFamily="34" charset="-122"/>
                <a:cs typeface="メイリオ" pitchFamily="34" charset="-120"/>
              </a:rPr>
              <a:t>麻酔</a:t>
            </a:r>
            <a:endParaRPr lang="ja-JP" sz="2600" dirty="0"/>
          </a:p>
        </p:txBody>
      </p:sp>
      <p:sp>
        <p:nvSpPr>
          <p:cNvPr id="17" name="Text 15"/>
          <p:cNvSpPr txBox="1"/>
          <p:nvPr/>
        </p:nvSpPr>
        <p:spPr>
          <a:xfrm>
            <a:off x="4336288" y="2752344"/>
            <a:ext cx="3535599" cy="420624"/>
          </a:xfrm>
          <a:prstGeom prst="rect">
            <a:avLst/>
          </a:prstGeom>
          <a:noFill/>
          <a:ln/>
        </p:spPr>
        <p:txBody>
          <a:bodyPr wrap="square" lIns="0" tIns="0" rIns="0" bIns="0" rtlCol="0" anchor="t"/>
          <a:lstStyle/>
          <a:p>
            <a:pPr algn="l" indent="0" marL="0">
              <a:buNone/>
            </a:pPr>
            <a:r>
              <a:rPr lang="ja-JP" altLang="en-US" sz="2200" b="1" dirty="0">
                <a:solidFill>
                  <a:srgbClr val="D55E00"/>
                </a:solidFill>
                <a:latin typeface="メイリオ" pitchFamily="34" charset="0"/>
                <a:ea typeface="メイリオ" pitchFamily="34" charset="-122"/>
                <a:cs typeface="メイリオ" pitchFamily="34" charset="-120"/>
              </a:rPr>
              <a:t>筋弛緩薬</a:t>
            </a:r>
            <a:endParaRPr lang="ja-JP" sz="2200" dirty="0"/>
          </a:p>
        </p:txBody>
      </p:sp>
      <p:sp>
        <p:nvSpPr>
          <p:cNvPr id="18" name="Text 16"/>
          <p:cNvSpPr txBox="1"/>
          <p:nvPr/>
        </p:nvSpPr>
        <p:spPr>
          <a:xfrm>
            <a:off x="4336288" y="3410712"/>
            <a:ext cx="3535599"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TIVA（濃度が見えない）</a:t>
            </a:r>
            <a:endParaRPr lang="ja-JP" sz="2200" dirty="0"/>
          </a:p>
        </p:txBody>
      </p:sp>
      <p:sp>
        <p:nvSpPr>
          <p:cNvPr id="19" name="Text 17"/>
          <p:cNvSpPr txBox="1"/>
          <p:nvPr/>
        </p:nvSpPr>
        <p:spPr>
          <a:xfrm>
            <a:off x="4336288" y="4069080"/>
            <a:ext cx="3535599"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導入薬が切れる空白</a:t>
            </a:r>
            <a:endParaRPr lang="ja-JP" sz="2200" dirty="0"/>
          </a:p>
        </p:txBody>
      </p:sp>
      <p:sp>
        <p:nvSpPr>
          <p:cNvPr id="20" name="Text 18"/>
          <p:cNvSpPr txBox="1"/>
          <p:nvPr/>
        </p:nvSpPr>
        <p:spPr>
          <a:xfrm>
            <a:off x="4336288" y="4727448"/>
            <a:ext cx="3535599" cy="841248"/>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若手の担当・</a:t>
            </a:r>
            <a:endParaRPr lang="ja-JP" sz="2200" dirty="0"/>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時間外・緊急</a:t>
            </a:r>
            <a:endParaRPr lang="ja-JP" sz="2200" dirty="0"/>
          </a:p>
        </p:txBody>
      </p:sp>
      <p:sp>
        <p:nvSpPr>
          <p:cNvPr id="21" name="Shape 19"/>
          <p:cNvSpPr/>
          <p:nvPr/>
        </p:nvSpPr>
        <p:spPr>
          <a:xfrm>
            <a:off x="8283367" y="1783080"/>
            <a:ext cx="3402665" cy="4014216"/>
          </a:xfrm>
          <a:prstGeom prst="roundRect">
            <a:avLst>
              <a:gd name="adj" fmla="val 2150"/>
            </a:avLst>
          </a:prstGeom>
          <a:solidFill>
            <a:srgbClr val="F2F2F2"/>
          </a:solidFill>
          <a:ln/>
        </p:spPr>
      </p:sp>
      <p:sp>
        <p:nvSpPr>
          <p:cNvPr id="22" name="Text 20"/>
          <p:cNvSpPr txBox="1"/>
          <p:nvPr/>
        </p:nvSpPr>
        <p:spPr>
          <a:xfrm>
            <a:off x="8420527" y="2011680"/>
            <a:ext cx="3128345" cy="502920"/>
          </a:xfrm>
          <a:prstGeom prst="rect">
            <a:avLst/>
          </a:prstGeom>
          <a:noFill/>
          <a:ln/>
        </p:spPr>
        <p:txBody>
          <a:bodyPr wrap="square" lIns="0" tIns="0" rIns="0" bIns="0" rtlCol="0" anchor="t"/>
          <a:lstStyle/>
          <a:p>
            <a:pPr algn="l" indent="0" marL="0">
              <a:buNone/>
            </a:pPr>
            <a:r>
              <a:rPr lang="ja-JP" altLang="en-US" sz="2600" b="1" dirty="0">
                <a:solidFill>
                  <a:srgbClr val="00A8AA"/>
                </a:solidFill>
                <a:latin typeface="メイリオ" pitchFamily="34" charset="0"/>
                <a:ea typeface="メイリオ" pitchFamily="34" charset="-122"/>
                <a:cs typeface="メイリオ" pitchFamily="34" charset="-120"/>
              </a:rPr>
              <a:t>手術</a:t>
            </a:r>
            <a:endParaRPr lang="ja-JP" sz="2600" dirty="0"/>
          </a:p>
        </p:txBody>
      </p:sp>
      <p:sp>
        <p:nvSpPr>
          <p:cNvPr id="23" name="Text 21"/>
          <p:cNvSpPr txBox="1"/>
          <p:nvPr/>
        </p:nvSpPr>
        <p:spPr>
          <a:xfrm>
            <a:off x="8420527" y="2752344"/>
            <a:ext cx="3128345"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帝王切開</a:t>
            </a:r>
            <a:endParaRPr lang="ja-JP" sz="2200" dirty="0"/>
          </a:p>
        </p:txBody>
      </p:sp>
      <p:sp>
        <p:nvSpPr>
          <p:cNvPr id="24" name="Text 22"/>
          <p:cNvSpPr txBox="1"/>
          <p:nvPr/>
        </p:nvSpPr>
        <p:spPr>
          <a:xfrm>
            <a:off x="8420527" y="3410712"/>
            <a:ext cx="3128345"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心臓・胸部手術</a:t>
            </a:r>
            <a:endParaRPr lang="ja-JP" sz="2200" dirty="0"/>
          </a:p>
        </p:txBody>
      </p:sp>
      <p:sp>
        <p:nvSpPr>
          <p:cNvPr id="25" name="Text 23"/>
          <p:cNvSpPr txBox="1"/>
          <p:nvPr/>
        </p:nvSpPr>
        <p:spPr>
          <a:xfrm>
            <a:off x="8420527" y="4069080"/>
            <a:ext cx="3128345" cy="841248"/>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循環が不安定で</a:t>
            </a:r>
            <a:endParaRPr lang="ja-JP" sz="2200" dirty="0"/>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浅くする</a:t>
            </a:r>
            <a:endParaRPr lang="ja-JP"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脳波は麻酔で変わる</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覚醒</a:t>
            </a:r>
            <a:endParaRPr lang="ja-JP" sz="1100" dirty="0"/>
          </a:p>
        </p:txBody>
      </p:sp>
      <p:sp>
        <p:nvSpPr>
          <p:cNvPr id="5" name="Text 3"/>
          <p:cNvSpPr/>
          <p:nvPr/>
        </p:nvSpPr>
        <p:spPr>
          <a:xfrm>
            <a:off x="9354312" y="54864"/>
            <a:ext cx="621792" cy="585216"/>
          </a:xfrm>
          <a:prstGeom prst="roundRect">
            <a:avLst>
              <a:gd name="adj" fmla="val 15625"/>
            </a:avLst>
          </a:prstGeom>
          <a:solidFill>
            <a:srgbClr val="00A8AA"/>
          </a:solidFill>
          <a:ln/>
        </p:spPr>
        <p:txBody>
          <a:bodyPr wrap="squar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脳波</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BIS</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限界</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予防</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3</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Purdon PL, Sampson A, Pavone KJ, Brown EN. Anesthesiology 2015;123:937-960</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Fritz BA, et al. Anesth Analg 2016;122:234-242</a:t>
            </a:r>
            <a:endParaRPr lang="ja-JP" sz="1600" dirty="0"/>
          </a:p>
        </p:txBody>
      </p:sp>
      <p:sp>
        <p:nvSpPr>
          <p:cNvPr id="11" name="Shape 9"/>
          <p:cNvSpPr/>
          <p:nvPr/>
        </p:nvSpPr>
        <p:spPr>
          <a:xfrm>
            <a:off x="685800" y="1986077"/>
            <a:ext cx="5025542" cy="149962"/>
          </a:xfrm>
          <a:custGeom>
            <a:avLst/>
            <a:gdLst/>
            <a:ahLst/>
            <a:cxnLst/>
            <a:rect l="l" t="t" r="r" b="b"/>
            <a:pathLst>
              <a:path w="5025542" h="149962">
                <a:moveTo>
                  <a:pt x="0" y="85954"/>
                </a:moveTo>
                <a:lnTo>
                  <a:pt x="10973" y="73152"/>
                </a:lnTo>
                <a:lnTo>
                  <a:pt x="21946" y="66751"/>
                </a:lnTo>
                <a:lnTo>
                  <a:pt x="32918" y="70409"/>
                </a:lnTo>
                <a:lnTo>
                  <a:pt x="43891" y="84125"/>
                </a:lnTo>
                <a:lnTo>
                  <a:pt x="54864" y="99670"/>
                </a:lnTo>
                <a:lnTo>
                  <a:pt x="65837" y="112471"/>
                </a:lnTo>
                <a:lnTo>
                  <a:pt x="76810" y="115214"/>
                </a:lnTo>
                <a:lnTo>
                  <a:pt x="87782" y="107899"/>
                </a:lnTo>
                <a:lnTo>
                  <a:pt x="98755" y="94183"/>
                </a:lnTo>
                <a:lnTo>
                  <a:pt x="109728" y="81382"/>
                </a:lnTo>
                <a:lnTo>
                  <a:pt x="120701" y="74981"/>
                </a:lnTo>
                <a:lnTo>
                  <a:pt x="131674" y="76810"/>
                </a:lnTo>
                <a:lnTo>
                  <a:pt x="142646" y="85954"/>
                </a:lnTo>
                <a:lnTo>
                  <a:pt x="153619" y="96926"/>
                </a:lnTo>
                <a:lnTo>
                  <a:pt x="164592" y="100584"/>
                </a:lnTo>
                <a:lnTo>
                  <a:pt x="175565" y="95098"/>
                </a:lnTo>
                <a:lnTo>
                  <a:pt x="186538" y="80467"/>
                </a:lnTo>
                <a:lnTo>
                  <a:pt x="197510" y="62179"/>
                </a:lnTo>
                <a:lnTo>
                  <a:pt x="208483" y="46634"/>
                </a:lnTo>
                <a:lnTo>
                  <a:pt x="219456" y="39319"/>
                </a:lnTo>
                <a:lnTo>
                  <a:pt x="230429" y="42977"/>
                </a:lnTo>
                <a:lnTo>
                  <a:pt x="241402" y="53035"/>
                </a:lnTo>
                <a:lnTo>
                  <a:pt x="252374" y="60350"/>
                </a:lnTo>
                <a:lnTo>
                  <a:pt x="263347" y="60350"/>
                </a:lnTo>
                <a:lnTo>
                  <a:pt x="274320" y="50292"/>
                </a:lnTo>
                <a:lnTo>
                  <a:pt x="285293" y="32918"/>
                </a:lnTo>
                <a:lnTo>
                  <a:pt x="296266" y="13716"/>
                </a:lnTo>
                <a:lnTo>
                  <a:pt x="307238" y="914"/>
                </a:lnTo>
                <a:lnTo>
                  <a:pt x="318211" y="0"/>
                </a:lnTo>
                <a:lnTo>
                  <a:pt x="329184" y="11887"/>
                </a:lnTo>
                <a:lnTo>
                  <a:pt x="340157" y="29261"/>
                </a:lnTo>
                <a:lnTo>
                  <a:pt x="351130" y="45720"/>
                </a:lnTo>
                <a:lnTo>
                  <a:pt x="362102" y="54864"/>
                </a:lnTo>
                <a:lnTo>
                  <a:pt x="373075" y="53950"/>
                </a:lnTo>
                <a:lnTo>
                  <a:pt x="384048" y="49378"/>
                </a:lnTo>
                <a:lnTo>
                  <a:pt x="395021" y="48463"/>
                </a:lnTo>
                <a:lnTo>
                  <a:pt x="405994" y="55778"/>
                </a:lnTo>
                <a:lnTo>
                  <a:pt x="416966" y="73152"/>
                </a:lnTo>
                <a:lnTo>
                  <a:pt x="427939" y="97841"/>
                </a:lnTo>
                <a:lnTo>
                  <a:pt x="438912" y="124358"/>
                </a:lnTo>
                <a:lnTo>
                  <a:pt x="449885" y="142646"/>
                </a:lnTo>
                <a:lnTo>
                  <a:pt x="460858" y="146304"/>
                </a:lnTo>
                <a:lnTo>
                  <a:pt x="471830" y="135331"/>
                </a:lnTo>
                <a:lnTo>
                  <a:pt x="482803" y="114300"/>
                </a:lnTo>
                <a:lnTo>
                  <a:pt x="493776" y="92354"/>
                </a:lnTo>
                <a:lnTo>
                  <a:pt x="504749" y="78638"/>
                </a:lnTo>
                <a:lnTo>
                  <a:pt x="515722" y="78638"/>
                </a:lnTo>
                <a:lnTo>
                  <a:pt x="526694" y="90526"/>
                </a:lnTo>
                <a:lnTo>
                  <a:pt x="537667" y="105156"/>
                </a:lnTo>
                <a:lnTo>
                  <a:pt x="548640" y="116129"/>
                </a:lnTo>
                <a:lnTo>
                  <a:pt x="559613" y="117958"/>
                </a:lnTo>
                <a:lnTo>
                  <a:pt x="570586" y="109728"/>
                </a:lnTo>
                <a:lnTo>
                  <a:pt x="581558" y="96012"/>
                </a:lnTo>
                <a:lnTo>
                  <a:pt x="592531" y="83210"/>
                </a:lnTo>
                <a:lnTo>
                  <a:pt x="603504" y="77724"/>
                </a:lnTo>
                <a:lnTo>
                  <a:pt x="614477" y="82296"/>
                </a:lnTo>
                <a:lnTo>
                  <a:pt x="625450" y="93269"/>
                </a:lnTo>
                <a:lnTo>
                  <a:pt x="636422" y="105156"/>
                </a:lnTo>
                <a:lnTo>
                  <a:pt x="647395" y="110642"/>
                </a:lnTo>
                <a:lnTo>
                  <a:pt x="658368" y="105156"/>
                </a:lnTo>
                <a:lnTo>
                  <a:pt x="669341" y="89611"/>
                </a:lnTo>
                <a:lnTo>
                  <a:pt x="680314" y="68580"/>
                </a:lnTo>
                <a:lnTo>
                  <a:pt x="691286" y="50292"/>
                </a:lnTo>
                <a:lnTo>
                  <a:pt x="702259" y="42062"/>
                </a:lnTo>
                <a:lnTo>
                  <a:pt x="713232" y="44806"/>
                </a:lnTo>
                <a:lnTo>
                  <a:pt x="724205" y="57607"/>
                </a:lnTo>
                <a:lnTo>
                  <a:pt x="735178" y="71323"/>
                </a:lnTo>
                <a:lnTo>
                  <a:pt x="746150" y="78638"/>
                </a:lnTo>
                <a:lnTo>
                  <a:pt x="757123" y="73152"/>
                </a:lnTo>
                <a:lnTo>
                  <a:pt x="768096" y="56693"/>
                </a:lnTo>
                <a:lnTo>
                  <a:pt x="779069" y="35662"/>
                </a:lnTo>
                <a:lnTo>
                  <a:pt x="790042" y="18288"/>
                </a:lnTo>
                <a:lnTo>
                  <a:pt x="801014" y="10973"/>
                </a:lnTo>
                <a:lnTo>
                  <a:pt x="811987" y="16459"/>
                </a:lnTo>
                <a:lnTo>
                  <a:pt x="822960" y="32918"/>
                </a:lnTo>
                <a:lnTo>
                  <a:pt x="833933" y="51206"/>
                </a:lnTo>
                <a:lnTo>
                  <a:pt x="844906" y="64922"/>
                </a:lnTo>
                <a:lnTo>
                  <a:pt x="855878" y="70409"/>
                </a:lnTo>
                <a:lnTo>
                  <a:pt x="866851" y="66751"/>
                </a:lnTo>
                <a:lnTo>
                  <a:pt x="877824" y="58522"/>
                </a:lnTo>
                <a:lnTo>
                  <a:pt x="888797" y="51206"/>
                </a:lnTo>
                <a:lnTo>
                  <a:pt x="899770" y="50292"/>
                </a:lnTo>
                <a:lnTo>
                  <a:pt x="910742" y="56693"/>
                </a:lnTo>
                <a:lnTo>
                  <a:pt x="921715" y="66751"/>
                </a:lnTo>
                <a:lnTo>
                  <a:pt x="932688" y="74981"/>
                </a:lnTo>
                <a:lnTo>
                  <a:pt x="943661" y="75895"/>
                </a:lnTo>
                <a:lnTo>
                  <a:pt x="954634" y="67666"/>
                </a:lnTo>
                <a:lnTo>
                  <a:pt x="965606" y="53950"/>
                </a:lnTo>
                <a:lnTo>
                  <a:pt x="976579" y="39319"/>
                </a:lnTo>
                <a:lnTo>
                  <a:pt x="987552" y="29261"/>
                </a:lnTo>
                <a:lnTo>
                  <a:pt x="998525" y="29261"/>
                </a:lnTo>
                <a:lnTo>
                  <a:pt x="1009498" y="38405"/>
                </a:lnTo>
                <a:lnTo>
                  <a:pt x="1020470" y="50292"/>
                </a:lnTo>
                <a:lnTo>
                  <a:pt x="1031443" y="59436"/>
                </a:lnTo>
                <a:lnTo>
                  <a:pt x="1042416" y="61265"/>
                </a:lnTo>
                <a:lnTo>
                  <a:pt x="1053389" y="58522"/>
                </a:lnTo>
                <a:lnTo>
                  <a:pt x="1064362" y="53035"/>
                </a:lnTo>
                <a:lnTo>
                  <a:pt x="1075334" y="49378"/>
                </a:lnTo>
                <a:lnTo>
                  <a:pt x="1086307" y="53950"/>
                </a:lnTo>
                <a:lnTo>
                  <a:pt x="1097280" y="67666"/>
                </a:lnTo>
                <a:lnTo>
                  <a:pt x="1108253" y="87782"/>
                </a:lnTo>
                <a:lnTo>
                  <a:pt x="1119226" y="107899"/>
                </a:lnTo>
                <a:lnTo>
                  <a:pt x="1130198" y="124358"/>
                </a:lnTo>
                <a:lnTo>
                  <a:pt x="1141171" y="131674"/>
                </a:lnTo>
                <a:lnTo>
                  <a:pt x="1152144" y="129845"/>
                </a:lnTo>
                <a:lnTo>
                  <a:pt x="1163117" y="121615"/>
                </a:lnTo>
                <a:lnTo>
                  <a:pt x="1174090" y="114300"/>
                </a:lnTo>
                <a:lnTo>
                  <a:pt x="1185062" y="113386"/>
                </a:lnTo>
                <a:lnTo>
                  <a:pt x="1196035" y="118872"/>
                </a:lnTo>
                <a:lnTo>
                  <a:pt x="1207008" y="128930"/>
                </a:lnTo>
                <a:lnTo>
                  <a:pt x="1217981" y="137160"/>
                </a:lnTo>
                <a:lnTo>
                  <a:pt x="1228954" y="138074"/>
                </a:lnTo>
                <a:lnTo>
                  <a:pt x="1239926" y="127102"/>
                </a:lnTo>
                <a:lnTo>
                  <a:pt x="1250899" y="106985"/>
                </a:lnTo>
                <a:lnTo>
                  <a:pt x="1261872" y="83210"/>
                </a:lnTo>
                <a:lnTo>
                  <a:pt x="1272845" y="62179"/>
                </a:lnTo>
                <a:lnTo>
                  <a:pt x="1283818" y="49378"/>
                </a:lnTo>
                <a:lnTo>
                  <a:pt x="1294790" y="47549"/>
                </a:lnTo>
                <a:lnTo>
                  <a:pt x="1305763" y="53950"/>
                </a:lnTo>
                <a:lnTo>
                  <a:pt x="1316736" y="64008"/>
                </a:lnTo>
                <a:lnTo>
                  <a:pt x="1327709" y="70409"/>
                </a:lnTo>
                <a:lnTo>
                  <a:pt x="1338682" y="70409"/>
                </a:lnTo>
                <a:lnTo>
                  <a:pt x="1349654" y="63094"/>
                </a:lnTo>
                <a:lnTo>
                  <a:pt x="1360627" y="54864"/>
                </a:lnTo>
                <a:lnTo>
                  <a:pt x="1371600" y="50292"/>
                </a:lnTo>
                <a:lnTo>
                  <a:pt x="1382573" y="55778"/>
                </a:lnTo>
                <a:lnTo>
                  <a:pt x="1393546" y="70409"/>
                </a:lnTo>
                <a:lnTo>
                  <a:pt x="1404518" y="90526"/>
                </a:lnTo>
                <a:lnTo>
                  <a:pt x="1415491" y="106070"/>
                </a:lnTo>
                <a:lnTo>
                  <a:pt x="1426464" y="111557"/>
                </a:lnTo>
                <a:lnTo>
                  <a:pt x="1437437" y="103327"/>
                </a:lnTo>
                <a:lnTo>
                  <a:pt x="1448410" y="86868"/>
                </a:lnTo>
                <a:lnTo>
                  <a:pt x="1459382" y="67666"/>
                </a:lnTo>
                <a:lnTo>
                  <a:pt x="1470355" y="54864"/>
                </a:lnTo>
                <a:lnTo>
                  <a:pt x="1481328" y="53950"/>
                </a:lnTo>
                <a:lnTo>
                  <a:pt x="1492301" y="64922"/>
                </a:lnTo>
                <a:lnTo>
                  <a:pt x="1503274" y="84125"/>
                </a:lnTo>
                <a:lnTo>
                  <a:pt x="1514246" y="103327"/>
                </a:lnTo>
                <a:lnTo>
                  <a:pt x="1525219" y="113386"/>
                </a:lnTo>
                <a:lnTo>
                  <a:pt x="1536192" y="113386"/>
                </a:lnTo>
                <a:lnTo>
                  <a:pt x="1547165" y="103327"/>
                </a:lnTo>
                <a:lnTo>
                  <a:pt x="1558138" y="90526"/>
                </a:lnTo>
                <a:lnTo>
                  <a:pt x="1569110" y="77724"/>
                </a:lnTo>
                <a:lnTo>
                  <a:pt x="1580083" y="72238"/>
                </a:lnTo>
                <a:lnTo>
                  <a:pt x="1591056" y="72238"/>
                </a:lnTo>
                <a:lnTo>
                  <a:pt x="1602029" y="74981"/>
                </a:lnTo>
                <a:lnTo>
                  <a:pt x="1613002" y="75895"/>
                </a:lnTo>
                <a:lnTo>
                  <a:pt x="1623974" y="71323"/>
                </a:lnTo>
                <a:lnTo>
                  <a:pt x="1634947" y="60350"/>
                </a:lnTo>
                <a:lnTo>
                  <a:pt x="1645920" y="44806"/>
                </a:lnTo>
                <a:lnTo>
                  <a:pt x="1656893" y="31090"/>
                </a:lnTo>
                <a:lnTo>
                  <a:pt x="1667866" y="24689"/>
                </a:lnTo>
                <a:lnTo>
                  <a:pt x="1678838" y="29261"/>
                </a:lnTo>
                <a:lnTo>
                  <a:pt x="1689811" y="42062"/>
                </a:lnTo>
                <a:lnTo>
                  <a:pt x="1700784" y="57607"/>
                </a:lnTo>
                <a:lnTo>
                  <a:pt x="1711757" y="67666"/>
                </a:lnTo>
                <a:lnTo>
                  <a:pt x="1722730" y="70409"/>
                </a:lnTo>
                <a:lnTo>
                  <a:pt x="1733702" y="64008"/>
                </a:lnTo>
                <a:lnTo>
                  <a:pt x="1744675" y="53950"/>
                </a:lnTo>
                <a:lnTo>
                  <a:pt x="1755648" y="46634"/>
                </a:lnTo>
                <a:lnTo>
                  <a:pt x="1766621" y="45720"/>
                </a:lnTo>
                <a:lnTo>
                  <a:pt x="1777594" y="53035"/>
                </a:lnTo>
                <a:lnTo>
                  <a:pt x="1788566" y="63094"/>
                </a:lnTo>
                <a:lnTo>
                  <a:pt x="1799539" y="70409"/>
                </a:lnTo>
                <a:lnTo>
                  <a:pt x="1810512" y="69494"/>
                </a:lnTo>
                <a:lnTo>
                  <a:pt x="1821485" y="59436"/>
                </a:lnTo>
                <a:lnTo>
                  <a:pt x="1832458" y="42062"/>
                </a:lnTo>
                <a:lnTo>
                  <a:pt x="1843430" y="24689"/>
                </a:lnTo>
                <a:lnTo>
                  <a:pt x="1854403" y="14630"/>
                </a:lnTo>
                <a:lnTo>
                  <a:pt x="1865376" y="14630"/>
                </a:lnTo>
                <a:lnTo>
                  <a:pt x="1876349" y="24689"/>
                </a:lnTo>
                <a:lnTo>
                  <a:pt x="1887322" y="40234"/>
                </a:lnTo>
                <a:lnTo>
                  <a:pt x="1898294" y="54864"/>
                </a:lnTo>
                <a:lnTo>
                  <a:pt x="1909267" y="61265"/>
                </a:lnTo>
                <a:lnTo>
                  <a:pt x="1920240" y="57607"/>
                </a:lnTo>
                <a:lnTo>
                  <a:pt x="1931213" y="44806"/>
                </a:lnTo>
                <a:lnTo>
                  <a:pt x="1942186" y="29261"/>
                </a:lnTo>
                <a:lnTo>
                  <a:pt x="1953158" y="18288"/>
                </a:lnTo>
                <a:lnTo>
                  <a:pt x="1964131" y="17374"/>
                </a:lnTo>
                <a:lnTo>
                  <a:pt x="1975104" y="24689"/>
                </a:lnTo>
                <a:lnTo>
                  <a:pt x="1986077" y="36576"/>
                </a:lnTo>
                <a:lnTo>
                  <a:pt x="1997050" y="46634"/>
                </a:lnTo>
                <a:lnTo>
                  <a:pt x="2008022" y="50292"/>
                </a:lnTo>
                <a:lnTo>
                  <a:pt x="2018995" y="49378"/>
                </a:lnTo>
                <a:lnTo>
                  <a:pt x="2029968" y="43891"/>
                </a:lnTo>
                <a:lnTo>
                  <a:pt x="2040941" y="38405"/>
                </a:lnTo>
                <a:lnTo>
                  <a:pt x="2051914" y="38405"/>
                </a:lnTo>
                <a:lnTo>
                  <a:pt x="2062886" y="44806"/>
                </a:lnTo>
                <a:lnTo>
                  <a:pt x="2073859" y="54864"/>
                </a:lnTo>
                <a:lnTo>
                  <a:pt x="2084832" y="64922"/>
                </a:lnTo>
                <a:lnTo>
                  <a:pt x="2095805" y="68580"/>
                </a:lnTo>
                <a:lnTo>
                  <a:pt x="2106778" y="63094"/>
                </a:lnTo>
                <a:lnTo>
                  <a:pt x="2117750" y="47549"/>
                </a:lnTo>
                <a:lnTo>
                  <a:pt x="2128723" y="27432"/>
                </a:lnTo>
                <a:lnTo>
                  <a:pt x="2139696" y="10058"/>
                </a:lnTo>
                <a:lnTo>
                  <a:pt x="2150669" y="3658"/>
                </a:lnTo>
                <a:lnTo>
                  <a:pt x="2161642" y="11887"/>
                </a:lnTo>
                <a:lnTo>
                  <a:pt x="2172614" y="32918"/>
                </a:lnTo>
                <a:lnTo>
                  <a:pt x="2183587" y="58522"/>
                </a:lnTo>
                <a:lnTo>
                  <a:pt x="2194560" y="81382"/>
                </a:lnTo>
                <a:lnTo>
                  <a:pt x="2205533" y="95098"/>
                </a:lnTo>
                <a:lnTo>
                  <a:pt x="2216506" y="96012"/>
                </a:lnTo>
                <a:lnTo>
                  <a:pt x="2227478" y="90526"/>
                </a:lnTo>
                <a:lnTo>
                  <a:pt x="2238451" y="86868"/>
                </a:lnTo>
                <a:lnTo>
                  <a:pt x="2249424" y="92354"/>
                </a:lnTo>
                <a:lnTo>
                  <a:pt x="2260397" y="106070"/>
                </a:lnTo>
                <a:lnTo>
                  <a:pt x="2271370" y="125273"/>
                </a:lnTo>
                <a:lnTo>
                  <a:pt x="2282342" y="141732"/>
                </a:lnTo>
                <a:lnTo>
                  <a:pt x="2293315" y="149962"/>
                </a:lnTo>
                <a:lnTo>
                  <a:pt x="2304288" y="144475"/>
                </a:lnTo>
                <a:lnTo>
                  <a:pt x="2315261" y="123444"/>
                </a:lnTo>
                <a:lnTo>
                  <a:pt x="2326234" y="95098"/>
                </a:lnTo>
                <a:lnTo>
                  <a:pt x="2337206" y="70409"/>
                </a:lnTo>
                <a:lnTo>
                  <a:pt x="2348179" y="54864"/>
                </a:lnTo>
                <a:lnTo>
                  <a:pt x="2359152" y="53950"/>
                </a:lnTo>
                <a:lnTo>
                  <a:pt x="2370125" y="64922"/>
                </a:lnTo>
                <a:lnTo>
                  <a:pt x="2381098" y="75895"/>
                </a:lnTo>
                <a:lnTo>
                  <a:pt x="2392070" y="78638"/>
                </a:lnTo>
                <a:lnTo>
                  <a:pt x="2403043" y="69494"/>
                </a:lnTo>
                <a:lnTo>
                  <a:pt x="2414016" y="51206"/>
                </a:lnTo>
                <a:lnTo>
                  <a:pt x="2424989" y="29261"/>
                </a:lnTo>
                <a:lnTo>
                  <a:pt x="2435962" y="11887"/>
                </a:lnTo>
                <a:lnTo>
                  <a:pt x="2446934" y="6401"/>
                </a:lnTo>
                <a:lnTo>
                  <a:pt x="2457907" y="17374"/>
                </a:lnTo>
                <a:lnTo>
                  <a:pt x="2468880" y="36576"/>
                </a:lnTo>
                <a:lnTo>
                  <a:pt x="2479853" y="57607"/>
                </a:lnTo>
                <a:lnTo>
                  <a:pt x="2490826" y="70409"/>
                </a:lnTo>
                <a:lnTo>
                  <a:pt x="2501798" y="72238"/>
                </a:lnTo>
                <a:lnTo>
                  <a:pt x="2512771" y="63094"/>
                </a:lnTo>
                <a:lnTo>
                  <a:pt x="2523744" y="50292"/>
                </a:lnTo>
                <a:lnTo>
                  <a:pt x="2534717" y="45720"/>
                </a:lnTo>
                <a:lnTo>
                  <a:pt x="2545690" y="53950"/>
                </a:lnTo>
                <a:lnTo>
                  <a:pt x="2556662" y="71323"/>
                </a:lnTo>
                <a:lnTo>
                  <a:pt x="2567635" y="93269"/>
                </a:lnTo>
                <a:lnTo>
                  <a:pt x="2578608" y="111557"/>
                </a:lnTo>
                <a:lnTo>
                  <a:pt x="2589581" y="119786"/>
                </a:lnTo>
                <a:lnTo>
                  <a:pt x="2600554" y="113386"/>
                </a:lnTo>
                <a:lnTo>
                  <a:pt x="2611526" y="95098"/>
                </a:lnTo>
                <a:lnTo>
                  <a:pt x="2622499" y="73152"/>
                </a:lnTo>
                <a:lnTo>
                  <a:pt x="2633472" y="55778"/>
                </a:lnTo>
                <a:lnTo>
                  <a:pt x="2644445" y="48463"/>
                </a:lnTo>
                <a:lnTo>
                  <a:pt x="2655418" y="53035"/>
                </a:lnTo>
                <a:lnTo>
                  <a:pt x="2666390" y="65837"/>
                </a:lnTo>
                <a:lnTo>
                  <a:pt x="2677363" y="79553"/>
                </a:lnTo>
                <a:lnTo>
                  <a:pt x="2688336" y="85954"/>
                </a:lnTo>
                <a:lnTo>
                  <a:pt x="2699309" y="85039"/>
                </a:lnTo>
                <a:lnTo>
                  <a:pt x="2710282" y="77724"/>
                </a:lnTo>
                <a:lnTo>
                  <a:pt x="2721254" y="71323"/>
                </a:lnTo>
                <a:lnTo>
                  <a:pt x="2732227" y="69494"/>
                </a:lnTo>
                <a:lnTo>
                  <a:pt x="2743200" y="74066"/>
                </a:lnTo>
                <a:lnTo>
                  <a:pt x="2754173" y="85039"/>
                </a:lnTo>
                <a:lnTo>
                  <a:pt x="2765146" y="96012"/>
                </a:lnTo>
                <a:lnTo>
                  <a:pt x="2776118" y="101498"/>
                </a:lnTo>
                <a:lnTo>
                  <a:pt x="2787091" y="97841"/>
                </a:lnTo>
                <a:lnTo>
                  <a:pt x="2798064" y="85954"/>
                </a:lnTo>
                <a:lnTo>
                  <a:pt x="2809037" y="72238"/>
                </a:lnTo>
                <a:lnTo>
                  <a:pt x="2820010" y="63094"/>
                </a:lnTo>
                <a:lnTo>
                  <a:pt x="2830982" y="61265"/>
                </a:lnTo>
                <a:lnTo>
                  <a:pt x="2841955" y="69494"/>
                </a:lnTo>
                <a:lnTo>
                  <a:pt x="2852928" y="83210"/>
                </a:lnTo>
                <a:lnTo>
                  <a:pt x="2863901" y="96926"/>
                </a:lnTo>
                <a:lnTo>
                  <a:pt x="2874874" y="104242"/>
                </a:lnTo>
                <a:lnTo>
                  <a:pt x="2885846" y="101498"/>
                </a:lnTo>
                <a:lnTo>
                  <a:pt x="2896819" y="88697"/>
                </a:lnTo>
                <a:lnTo>
                  <a:pt x="2907792" y="71323"/>
                </a:lnTo>
                <a:lnTo>
                  <a:pt x="2918765" y="56693"/>
                </a:lnTo>
                <a:lnTo>
                  <a:pt x="2929738" y="51206"/>
                </a:lnTo>
                <a:lnTo>
                  <a:pt x="2940710" y="55778"/>
                </a:lnTo>
                <a:lnTo>
                  <a:pt x="2951683" y="68580"/>
                </a:lnTo>
                <a:lnTo>
                  <a:pt x="2962656" y="82296"/>
                </a:lnTo>
                <a:lnTo>
                  <a:pt x="2973629" y="94183"/>
                </a:lnTo>
                <a:lnTo>
                  <a:pt x="2984602" y="101498"/>
                </a:lnTo>
                <a:lnTo>
                  <a:pt x="2995574" y="102413"/>
                </a:lnTo>
                <a:lnTo>
                  <a:pt x="3006547" y="101498"/>
                </a:lnTo>
                <a:lnTo>
                  <a:pt x="3017520" y="102413"/>
                </a:lnTo>
                <a:lnTo>
                  <a:pt x="3028493" y="106985"/>
                </a:lnTo>
                <a:lnTo>
                  <a:pt x="3039466" y="113386"/>
                </a:lnTo>
                <a:lnTo>
                  <a:pt x="3050438" y="117043"/>
                </a:lnTo>
                <a:lnTo>
                  <a:pt x="3061411" y="114300"/>
                </a:lnTo>
                <a:lnTo>
                  <a:pt x="3072384" y="100584"/>
                </a:lnTo>
                <a:lnTo>
                  <a:pt x="3083357" y="78638"/>
                </a:lnTo>
                <a:lnTo>
                  <a:pt x="3094330" y="53950"/>
                </a:lnTo>
                <a:lnTo>
                  <a:pt x="3105302" y="34747"/>
                </a:lnTo>
                <a:lnTo>
                  <a:pt x="3116275" y="27432"/>
                </a:lnTo>
                <a:lnTo>
                  <a:pt x="3127248" y="31090"/>
                </a:lnTo>
                <a:lnTo>
                  <a:pt x="3138221" y="44806"/>
                </a:lnTo>
                <a:lnTo>
                  <a:pt x="3149194" y="62179"/>
                </a:lnTo>
                <a:lnTo>
                  <a:pt x="3160166" y="75895"/>
                </a:lnTo>
                <a:lnTo>
                  <a:pt x="3171139" y="81382"/>
                </a:lnTo>
                <a:lnTo>
                  <a:pt x="3182112" y="77724"/>
                </a:lnTo>
                <a:lnTo>
                  <a:pt x="3193085" y="69494"/>
                </a:lnTo>
                <a:lnTo>
                  <a:pt x="3204058" y="66751"/>
                </a:lnTo>
                <a:lnTo>
                  <a:pt x="3215030" y="71323"/>
                </a:lnTo>
                <a:lnTo>
                  <a:pt x="3226003" y="85954"/>
                </a:lnTo>
                <a:lnTo>
                  <a:pt x="3236976" y="105156"/>
                </a:lnTo>
                <a:lnTo>
                  <a:pt x="3247949" y="123444"/>
                </a:lnTo>
                <a:lnTo>
                  <a:pt x="3258922" y="132588"/>
                </a:lnTo>
                <a:lnTo>
                  <a:pt x="3269894" y="134417"/>
                </a:lnTo>
                <a:lnTo>
                  <a:pt x="3280867" y="128016"/>
                </a:lnTo>
                <a:lnTo>
                  <a:pt x="3291840" y="118872"/>
                </a:lnTo>
                <a:lnTo>
                  <a:pt x="3302813" y="111557"/>
                </a:lnTo>
                <a:lnTo>
                  <a:pt x="3313786" y="111557"/>
                </a:lnTo>
                <a:lnTo>
                  <a:pt x="3324758" y="118872"/>
                </a:lnTo>
                <a:lnTo>
                  <a:pt x="3335731" y="130759"/>
                </a:lnTo>
                <a:lnTo>
                  <a:pt x="3346704" y="142646"/>
                </a:lnTo>
                <a:lnTo>
                  <a:pt x="3357677" y="149962"/>
                </a:lnTo>
                <a:lnTo>
                  <a:pt x="3368650" y="146304"/>
                </a:lnTo>
                <a:lnTo>
                  <a:pt x="3379622" y="134417"/>
                </a:lnTo>
                <a:lnTo>
                  <a:pt x="3390595" y="118872"/>
                </a:lnTo>
                <a:lnTo>
                  <a:pt x="3401568" y="107899"/>
                </a:lnTo>
                <a:lnTo>
                  <a:pt x="3412541" y="101498"/>
                </a:lnTo>
                <a:lnTo>
                  <a:pt x="3423514" y="98755"/>
                </a:lnTo>
                <a:lnTo>
                  <a:pt x="3434486" y="98755"/>
                </a:lnTo>
                <a:lnTo>
                  <a:pt x="3445459" y="96012"/>
                </a:lnTo>
                <a:lnTo>
                  <a:pt x="3456432" y="87782"/>
                </a:lnTo>
                <a:lnTo>
                  <a:pt x="3467405" y="74981"/>
                </a:lnTo>
                <a:lnTo>
                  <a:pt x="3478378" y="60350"/>
                </a:lnTo>
                <a:lnTo>
                  <a:pt x="3489350" y="48463"/>
                </a:lnTo>
                <a:lnTo>
                  <a:pt x="3500323" y="43891"/>
                </a:lnTo>
                <a:lnTo>
                  <a:pt x="3511296" y="50292"/>
                </a:lnTo>
                <a:lnTo>
                  <a:pt x="3522269" y="65837"/>
                </a:lnTo>
                <a:lnTo>
                  <a:pt x="3533242" y="85954"/>
                </a:lnTo>
                <a:lnTo>
                  <a:pt x="3544214" y="101498"/>
                </a:lnTo>
                <a:lnTo>
                  <a:pt x="3555187" y="105156"/>
                </a:lnTo>
                <a:lnTo>
                  <a:pt x="3566160" y="99670"/>
                </a:lnTo>
                <a:lnTo>
                  <a:pt x="3577133" y="85954"/>
                </a:lnTo>
                <a:lnTo>
                  <a:pt x="3588106" y="71323"/>
                </a:lnTo>
                <a:lnTo>
                  <a:pt x="3599078" y="63094"/>
                </a:lnTo>
                <a:lnTo>
                  <a:pt x="3610051" y="64922"/>
                </a:lnTo>
                <a:lnTo>
                  <a:pt x="3621024" y="75895"/>
                </a:lnTo>
                <a:lnTo>
                  <a:pt x="3631997" y="92354"/>
                </a:lnTo>
                <a:lnTo>
                  <a:pt x="3642970" y="107899"/>
                </a:lnTo>
                <a:lnTo>
                  <a:pt x="3653942" y="116129"/>
                </a:lnTo>
                <a:lnTo>
                  <a:pt x="3664915" y="115214"/>
                </a:lnTo>
                <a:lnTo>
                  <a:pt x="3675888" y="107899"/>
                </a:lnTo>
                <a:lnTo>
                  <a:pt x="3686861" y="99670"/>
                </a:lnTo>
                <a:lnTo>
                  <a:pt x="3697834" y="96012"/>
                </a:lnTo>
                <a:lnTo>
                  <a:pt x="3708806" y="98755"/>
                </a:lnTo>
                <a:lnTo>
                  <a:pt x="3719779" y="106985"/>
                </a:lnTo>
                <a:lnTo>
                  <a:pt x="3730752" y="115214"/>
                </a:lnTo>
                <a:lnTo>
                  <a:pt x="3741725" y="117043"/>
                </a:lnTo>
                <a:lnTo>
                  <a:pt x="3752698" y="109728"/>
                </a:lnTo>
                <a:lnTo>
                  <a:pt x="3763670" y="94183"/>
                </a:lnTo>
                <a:lnTo>
                  <a:pt x="3774643" y="74981"/>
                </a:lnTo>
                <a:lnTo>
                  <a:pt x="3785616" y="55778"/>
                </a:lnTo>
                <a:lnTo>
                  <a:pt x="3796589" y="43891"/>
                </a:lnTo>
                <a:lnTo>
                  <a:pt x="3807562" y="41148"/>
                </a:lnTo>
                <a:lnTo>
                  <a:pt x="3818534" y="47549"/>
                </a:lnTo>
                <a:lnTo>
                  <a:pt x="3829507" y="56693"/>
                </a:lnTo>
                <a:lnTo>
                  <a:pt x="3840480" y="62179"/>
                </a:lnTo>
                <a:lnTo>
                  <a:pt x="3851453" y="61265"/>
                </a:lnTo>
                <a:lnTo>
                  <a:pt x="3862426" y="57607"/>
                </a:lnTo>
                <a:lnTo>
                  <a:pt x="3873398" y="53950"/>
                </a:lnTo>
                <a:lnTo>
                  <a:pt x="3884371" y="54864"/>
                </a:lnTo>
                <a:lnTo>
                  <a:pt x="3895344" y="64922"/>
                </a:lnTo>
                <a:lnTo>
                  <a:pt x="3906317" y="81382"/>
                </a:lnTo>
                <a:lnTo>
                  <a:pt x="3917290" y="100584"/>
                </a:lnTo>
                <a:lnTo>
                  <a:pt x="3928262" y="111557"/>
                </a:lnTo>
                <a:lnTo>
                  <a:pt x="3939235" y="111557"/>
                </a:lnTo>
                <a:lnTo>
                  <a:pt x="3950208" y="98755"/>
                </a:lnTo>
                <a:lnTo>
                  <a:pt x="3961181" y="75895"/>
                </a:lnTo>
                <a:lnTo>
                  <a:pt x="3972154" y="53035"/>
                </a:lnTo>
                <a:lnTo>
                  <a:pt x="3983126" y="37490"/>
                </a:lnTo>
                <a:lnTo>
                  <a:pt x="3994099" y="37490"/>
                </a:lnTo>
                <a:lnTo>
                  <a:pt x="4005072" y="52121"/>
                </a:lnTo>
                <a:lnTo>
                  <a:pt x="4016045" y="78638"/>
                </a:lnTo>
                <a:lnTo>
                  <a:pt x="4027018" y="105156"/>
                </a:lnTo>
                <a:lnTo>
                  <a:pt x="4037990" y="125273"/>
                </a:lnTo>
                <a:lnTo>
                  <a:pt x="4048963" y="133502"/>
                </a:lnTo>
                <a:lnTo>
                  <a:pt x="4059936" y="128930"/>
                </a:lnTo>
                <a:lnTo>
                  <a:pt x="4070909" y="117043"/>
                </a:lnTo>
                <a:lnTo>
                  <a:pt x="4081882" y="105156"/>
                </a:lnTo>
                <a:lnTo>
                  <a:pt x="4092854" y="98755"/>
                </a:lnTo>
                <a:lnTo>
                  <a:pt x="4103827" y="99670"/>
                </a:lnTo>
                <a:lnTo>
                  <a:pt x="4114800" y="103327"/>
                </a:lnTo>
                <a:lnTo>
                  <a:pt x="4125773" y="106070"/>
                </a:lnTo>
                <a:lnTo>
                  <a:pt x="4136746" y="102413"/>
                </a:lnTo>
                <a:lnTo>
                  <a:pt x="4147718" y="92354"/>
                </a:lnTo>
                <a:lnTo>
                  <a:pt x="4158691" y="74981"/>
                </a:lnTo>
                <a:lnTo>
                  <a:pt x="4169664" y="56693"/>
                </a:lnTo>
                <a:lnTo>
                  <a:pt x="4180637" y="44806"/>
                </a:lnTo>
                <a:lnTo>
                  <a:pt x="4191610" y="43891"/>
                </a:lnTo>
                <a:lnTo>
                  <a:pt x="4202582" y="53035"/>
                </a:lnTo>
                <a:lnTo>
                  <a:pt x="4213555" y="66751"/>
                </a:lnTo>
                <a:lnTo>
                  <a:pt x="4224528" y="76810"/>
                </a:lnTo>
                <a:lnTo>
                  <a:pt x="4235501" y="74981"/>
                </a:lnTo>
                <a:lnTo>
                  <a:pt x="4246474" y="62179"/>
                </a:lnTo>
                <a:lnTo>
                  <a:pt x="4257446" y="42977"/>
                </a:lnTo>
                <a:lnTo>
                  <a:pt x="4268419" y="25603"/>
                </a:lnTo>
                <a:lnTo>
                  <a:pt x="4279392" y="17374"/>
                </a:lnTo>
                <a:lnTo>
                  <a:pt x="4290365" y="21946"/>
                </a:lnTo>
                <a:lnTo>
                  <a:pt x="4301338" y="38405"/>
                </a:lnTo>
                <a:lnTo>
                  <a:pt x="4312310" y="61265"/>
                </a:lnTo>
                <a:lnTo>
                  <a:pt x="4323283" y="80467"/>
                </a:lnTo>
                <a:lnTo>
                  <a:pt x="4334256" y="91440"/>
                </a:lnTo>
                <a:lnTo>
                  <a:pt x="4345229" y="92354"/>
                </a:lnTo>
                <a:lnTo>
                  <a:pt x="4356202" y="85039"/>
                </a:lnTo>
                <a:lnTo>
                  <a:pt x="4367174" y="75895"/>
                </a:lnTo>
                <a:lnTo>
                  <a:pt x="4378147" y="73152"/>
                </a:lnTo>
                <a:lnTo>
                  <a:pt x="4389120" y="79553"/>
                </a:lnTo>
                <a:lnTo>
                  <a:pt x="4400093" y="93269"/>
                </a:lnTo>
                <a:lnTo>
                  <a:pt x="4411066" y="106985"/>
                </a:lnTo>
                <a:lnTo>
                  <a:pt x="4422038" y="113386"/>
                </a:lnTo>
                <a:lnTo>
                  <a:pt x="4433011" y="110642"/>
                </a:lnTo>
                <a:lnTo>
                  <a:pt x="4443984" y="99670"/>
                </a:lnTo>
                <a:lnTo>
                  <a:pt x="4454957" y="85954"/>
                </a:lnTo>
                <a:lnTo>
                  <a:pt x="4465930" y="75895"/>
                </a:lnTo>
                <a:lnTo>
                  <a:pt x="4476902" y="74981"/>
                </a:lnTo>
                <a:lnTo>
                  <a:pt x="4487875" y="84125"/>
                </a:lnTo>
                <a:lnTo>
                  <a:pt x="4498848" y="97841"/>
                </a:lnTo>
                <a:lnTo>
                  <a:pt x="4509821" y="109728"/>
                </a:lnTo>
                <a:lnTo>
                  <a:pt x="4520794" y="115214"/>
                </a:lnTo>
                <a:lnTo>
                  <a:pt x="4531766" y="114300"/>
                </a:lnTo>
                <a:lnTo>
                  <a:pt x="4542739" y="106985"/>
                </a:lnTo>
                <a:lnTo>
                  <a:pt x="4553712" y="98755"/>
                </a:lnTo>
                <a:lnTo>
                  <a:pt x="4564685" y="94183"/>
                </a:lnTo>
                <a:lnTo>
                  <a:pt x="4575658" y="96012"/>
                </a:lnTo>
                <a:lnTo>
                  <a:pt x="4586630" y="104242"/>
                </a:lnTo>
                <a:lnTo>
                  <a:pt x="4597603" y="110642"/>
                </a:lnTo>
                <a:lnTo>
                  <a:pt x="4608576" y="109728"/>
                </a:lnTo>
                <a:lnTo>
                  <a:pt x="4619549" y="96926"/>
                </a:lnTo>
                <a:lnTo>
                  <a:pt x="4630522" y="73152"/>
                </a:lnTo>
                <a:lnTo>
                  <a:pt x="4641494" y="45720"/>
                </a:lnTo>
                <a:lnTo>
                  <a:pt x="4652467" y="21946"/>
                </a:lnTo>
                <a:lnTo>
                  <a:pt x="4663440" y="11887"/>
                </a:lnTo>
                <a:lnTo>
                  <a:pt x="4674413" y="16459"/>
                </a:lnTo>
                <a:lnTo>
                  <a:pt x="4685386" y="34747"/>
                </a:lnTo>
                <a:lnTo>
                  <a:pt x="4696358" y="58522"/>
                </a:lnTo>
                <a:lnTo>
                  <a:pt x="4707331" y="79553"/>
                </a:lnTo>
                <a:lnTo>
                  <a:pt x="4718304" y="92354"/>
                </a:lnTo>
                <a:lnTo>
                  <a:pt x="4729277" y="93269"/>
                </a:lnTo>
                <a:lnTo>
                  <a:pt x="4740250" y="85039"/>
                </a:lnTo>
                <a:lnTo>
                  <a:pt x="4751222" y="73152"/>
                </a:lnTo>
                <a:lnTo>
                  <a:pt x="4762195" y="65837"/>
                </a:lnTo>
                <a:lnTo>
                  <a:pt x="4773168" y="66751"/>
                </a:lnTo>
                <a:lnTo>
                  <a:pt x="4784141" y="74981"/>
                </a:lnTo>
                <a:lnTo>
                  <a:pt x="4795114" y="84125"/>
                </a:lnTo>
                <a:lnTo>
                  <a:pt x="4806086" y="92354"/>
                </a:lnTo>
                <a:lnTo>
                  <a:pt x="4817059" y="95098"/>
                </a:lnTo>
                <a:lnTo>
                  <a:pt x="4828032" y="93269"/>
                </a:lnTo>
                <a:lnTo>
                  <a:pt x="4839005" y="88697"/>
                </a:lnTo>
                <a:lnTo>
                  <a:pt x="4849978" y="86868"/>
                </a:lnTo>
                <a:lnTo>
                  <a:pt x="4860950" y="93269"/>
                </a:lnTo>
                <a:lnTo>
                  <a:pt x="4871923" y="106070"/>
                </a:lnTo>
                <a:lnTo>
                  <a:pt x="4882896" y="122530"/>
                </a:lnTo>
                <a:lnTo>
                  <a:pt x="4893869" y="135331"/>
                </a:lnTo>
                <a:lnTo>
                  <a:pt x="4904842" y="139903"/>
                </a:lnTo>
                <a:lnTo>
                  <a:pt x="4915814" y="132588"/>
                </a:lnTo>
                <a:lnTo>
                  <a:pt x="4926787" y="115214"/>
                </a:lnTo>
                <a:lnTo>
                  <a:pt x="4937760" y="92354"/>
                </a:lnTo>
                <a:lnTo>
                  <a:pt x="4948733" y="74066"/>
                </a:lnTo>
                <a:lnTo>
                  <a:pt x="4959706" y="66751"/>
                </a:lnTo>
                <a:lnTo>
                  <a:pt x="4970678" y="70409"/>
                </a:lnTo>
                <a:lnTo>
                  <a:pt x="4981651" y="81382"/>
                </a:lnTo>
                <a:lnTo>
                  <a:pt x="4992624" y="94183"/>
                </a:lnTo>
                <a:lnTo>
                  <a:pt x="5003597" y="99670"/>
                </a:lnTo>
                <a:lnTo>
                  <a:pt x="5014570" y="96012"/>
                </a:lnTo>
                <a:lnTo>
                  <a:pt x="5025542" y="84125"/>
                </a:lnTo>
              </a:path>
            </a:pathLst>
          </a:custGeom>
          <a:noFill/>
          <a:ln w="34925">
            <a:solidFill>
              <a:srgbClr val="595959"/>
            </a:solidFill>
            <a:prstDash val="solid"/>
          </a:ln>
        </p:spPr>
      </p:sp>
      <p:sp>
        <p:nvSpPr>
          <p:cNvPr id="12" name="Text 10"/>
          <p:cNvSpPr txBox="1"/>
          <p:nvPr/>
        </p:nvSpPr>
        <p:spPr>
          <a:xfrm>
            <a:off x="6126480" y="1828800"/>
            <a:ext cx="5559552" cy="457200"/>
          </a:xfrm>
          <a:prstGeom prst="rect">
            <a:avLst/>
          </a:prstGeom>
          <a:noFill/>
          <a:ln/>
        </p:spPr>
        <p:txBody>
          <a:bodyPr wrap="square" lIns="0" tIns="0" rIns="0" bIns="0" rtlCol="0" anchor="ctr"/>
          <a:lstStyle/>
          <a:p>
            <a:pPr algn="l" indent="0" marL="0">
              <a:buNone/>
            </a:pPr>
            <a:r>
              <a:rPr lang="ja-JP" altLang="en-US" sz="2400" b="1" dirty="0">
                <a:solidFill>
                  <a:srgbClr val="595959"/>
                </a:solidFill>
                <a:latin typeface="メイリオ" pitchFamily="34" charset="0"/>
                <a:ea typeface="メイリオ" pitchFamily="34" charset="-122"/>
                <a:cs typeface="メイリオ" pitchFamily="34" charset="-120"/>
              </a:rPr>
              <a:t>覚醒：</a:t>
            </a:r>
            <a:r>
              <a:rPr lang="ja-JP" altLang="en-US" sz="2400" dirty="0">
                <a:solidFill>
                  <a:srgbClr val="262626"/>
                </a:solidFill>
                <a:latin typeface="メイリオ" pitchFamily="34" charset="0"/>
                <a:ea typeface="メイリオ" pitchFamily="34" charset="-122"/>
                <a:cs typeface="メイリオ" pitchFamily="34" charset="-120"/>
              </a:rPr>
              <a:t>速く小さい波（β）</a:t>
            </a:r>
            <a:endParaRPr lang="ja-JP" sz="2400" dirty="0"/>
          </a:p>
        </p:txBody>
      </p:sp>
      <p:sp>
        <p:nvSpPr>
          <p:cNvPr id="13" name="Shape 11"/>
          <p:cNvSpPr/>
          <p:nvPr/>
        </p:nvSpPr>
        <p:spPr>
          <a:xfrm>
            <a:off x="685800" y="2811780"/>
            <a:ext cx="5025542" cy="519379"/>
          </a:xfrm>
          <a:custGeom>
            <a:avLst/>
            <a:gdLst/>
            <a:ahLst/>
            <a:cxnLst/>
            <a:rect l="l" t="t" r="r" b="b"/>
            <a:pathLst>
              <a:path w="5025542" h="519379">
                <a:moveTo>
                  <a:pt x="0" y="188366"/>
                </a:moveTo>
                <a:lnTo>
                  <a:pt x="10973" y="135331"/>
                </a:lnTo>
                <a:lnTo>
                  <a:pt x="21946" y="105156"/>
                </a:lnTo>
                <a:lnTo>
                  <a:pt x="32918" y="97841"/>
                </a:lnTo>
                <a:lnTo>
                  <a:pt x="43891" y="112471"/>
                </a:lnTo>
                <a:lnTo>
                  <a:pt x="54864" y="143561"/>
                </a:lnTo>
                <a:lnTo>
                  <a:pt x="65837" y="183794"/>
                </a:lnTo>
                <a:lnTo>
                  <a:pt x="76810" y="224028"/>
                </a:lnTo>
                <a:lnTo>
                  <a:pt x="87782" y="259690"/>
                </a:lnTo>
                <a:lnTo>
                  <a:pt x="98755" y="286207"/>
                </a:lnTo>
                <a:lnTo>
                  <a:pt x="109728" y="303581"/>
                </a:lnTo>
                <a:lnTo>
                  <a:pt x="120701" y="312725"/>
                </a:lnTo>
                <a:lnTo>
                  <a:pt x="131674" y="318211"/>
                </a:lnTo>
                <a:lnTo>
                  <a:pt x="142646" y="321869"/>
                </a:lnTo>
                <a:lnTo>
                  <a:pt x="153619" y="328270"/>
                </a:lnTo>
                <a:lnTo>
                  <a:pt x="164592" y="339242"/>
                </a:lnTo>
                <a:lnTo>
                  <a:pt x="175565" y="353873"/>
                </a:lnTo>
                <a:lnTo>
                  <a:pt x="186538" y="368503"/>
                </a:lnTo>
                <a:lnTo>
                  <a:pt x="197510" y="380390"/>
                </a:lnTo>
                <a:lnTo>
                  <a:pt x="208483" y="383134"/>
                </a:lnTo>
                <a:lnTo>
                  <a:pt x="219456" y="372161"/>
                </a:lnTo>
                <a:lnTo>
                  <a:pt x="230429" y="345643"/>
                </a:lnTo>
                <a:lnTo>
                  <a:pt x="241402" y="303581"/>
                </a:lnTo>
                <a:lnTo>
                  <a:pt x="252374" y="249631"/>
                </a:lnTo>
                <a:lnTo>
                  <a:pt x="263347" y="191110"/>
                </a:lnTo>
                <a:lnTo>
                  <a:pt x="274320" y="135331"/>
                </a:lnTo>
                <a:lnTo>
                  <a:pt x="285293" y="93269"/>
                </a:lnTo>
                <a:lnTo>
                  <a:pt x="296266" y="72238"/>
                </a:lnTo>
                <a:lnTo>
                  <a:pt x="307238" y="76810"/>
                </a:lnTo>
                <a:lnTo>
                  <a:pt x="318211" y="108814"/>
                </a:lnTo>
                <a:lnTo>
                  <a:pt x="329184" y="165506"/>
                </a:lnTo>
                <a:lnTo>
                  <a:pt x="340157" y="236830"/>
                </a:lnTo>
                <a:lnTo>
                  <a:pt x="351130" y="311810"/>
                </a:lnTo>
                <a:lnTo>
                  <a:pt x="362102" y="378562"/>
                </a:lnTo>
                <a:lnTo>
                  <a:pt x="373075" y="427025"/>
                </a:lnTo>
                <a:lnTo>
                  <a:pt x="384048" y="451714"/>
                </a:lnTo>
                <a:lnTo>
                  <a:pt x="395021" y="448056"/>
                </a:lnTo>
                <a:lnTo>
                  <a:pt x="405994" y="419710"/>
                </a:lnTo>
                <a:lnTo>
                  <a:pt x="416966" y="371246"/>
                </a:lnTo>
                <a:lnTo>
                  <a:pt x="427939" y="312725"/>
                </a:lnTo>
                <a:lnTo>
                  <a:pt x="438912" y="251460"/>
                </a:lnTo>
                <a:lnTo>
                  <a:pt x="449885" y="198425"/>
                </a:lnTo>
                <a:lnTo>
                  <a:pt x="460858" y="158191"/>
                </a:lnTo>
                <a:lnTo>
                  <a:pt x="471830" y="136246"/>
                </a:lnTo>
                <a:lnTo>
                  <a:pt x="482803" y="131674"/>
                </a:lnTo>
                <a:lnTo>
                  <a:pt x="493776" y="140818"/>
                </a:lnTo>
                <a:lnTo>
                  <a:pt x="504749" y="160020"/>
                </a:lnTo>
                <a:lnTo>
                  <a:pt x="515722" y="181966"/>
                </a:lnTo>
                <a:lnTo>
                  <a:pt x="526694" y="202082"/>
                </a:lnTo>
                <a:lnTo>
                  <a:pt x="537667" y="217627"/>
                </a:lnTo>
                <a:lnTo>
                  <a:pt x="548640" y="227686"/>
                </a:lnTo>
                <a:lnTo>
                  <a:pt x="559613" y="233172"/>
                </a:lnTo>
                <a:lnTo>
                  <a:pt x="570586" y="237744"/>
                </a:lnTo>
                <a:lnTo>
                  <a:pt x="581558" y="245059"/>
                </a:lnTo>
                <a:lnTo>
                  <a:pt x="592531" y="258775"/>
                </a:lnTo>
                <a:lnTo>
                  <a:pt x="603504" y="279806"/>
                </a:lnTo>
                <a:lnTo>
                  <a:pt x="614477" y="306324"/>
                </a:lnTo>
                <a:lnTo>
                  <a:pt x="625450" y="336499"/>
                </a:lnTo>
                <a:lnTo>
                  <a:pt x="636422" y="363931"/>
                </a:lnTo>
                <a:lnTo>
                  <a:pt x="647395" y="384048"/>
                </a:lnTo>
                <a:lnTo>
                  <a:pt x="658368" y="388620"/>
                </a:lnTo>
                <a:lnTo>
                  <a:pt x="669341" y="374904"/>
                </a:lnTo>
                <a:lnTo>
                  <a:pt x="680314" y="342900"/>
                </a:lnTo>
                <a:lnTo>
                  <a:pt x="691286" y="295351"/>
                </a:lnTo>
                <a:lnTo>
                  <a:pt x="702259" y="238658"/>
                </a:lnTo>
                <a:lnTo>
                  <a:pt x="713232" y="179222"/>
                </a:lnTo>
                <a:lnTo>
                  <a:pt x="724205" y="126187"/>
                </a:lnTo>
                <a:lnTo>
                  <a:pt x="735178" y="88697"/>
                </a:lnTo>
                <a:lnTo>
                  <a:pt x="746150" y="73152"/>
                </a:lnTo>
                <a:lnTo>
                  <a:pt x="757123" y="82296"/>
                </a:lnTo>
                <a:lnTo>
                  <a:pt x="768096" y="117043"/>
                </a:lnTo>
                <a:lnTo>
                  <a:pt x="779069" y="175565"/>
                </a:lnTo>
                <a:lnTo>
                  <a:pt x="790042" y="247802"/>
                </a:lnTo>
                <a:lnTo>
                  <a:pt x="801014" y="322783"/>
                </a:lnTo>
                <a:lnTo>
                  <a:pt x="811987" y="390449"/>
                </a:lnTo>
                <a:lnTo>
                  <a:pt x="822960" y="441655"/>
                </a:lnTo>
                <a:lnTo>
                  <a:pt x="833933" y="469087"/>
                </a:lnTo>
                <a:lnTo>
                  <a:pt x="844906" y="470916"/>
                </a:lnTo>
                <a:lnTo>
                  <a:pt x="855878" y="448970"/>
                </a:lnTo>
                <a:lnTo>
                  <a:pt x="866851" y="408737"/>
                </a:lnTo>
                <a:lnTo>
                  <a:pt x="877824" y="357530"/>
                </a:lnTo>
                <a:lnTo>
                  <a:pt x="888797" y="305410"/>
                </a:lnTo>
                <a:lnTo>
                  <a:pt x="899770" y="259690"/>
                </a:lnTo>
                <a:lnTo>
                  <a:pt x="910742" y="224942"/>
                </a:lnTo>
                <a:lnTo>
                  <a:pt x="921715" y="203911"/>
                </a:lnTo>
                <a:lnTo>
                  <a:pt x="932688" y="196596"/>
                </a:lnTo>
                <a:lnTo>
                  <a:pt x="943661" y="198425"/>
                </a:lnTo>
                <a:lnTo>
                  <a:pt x="954634" y="204826"/>
                </a:lnTo>
                <a:lnTo>
                  <a:pt x="965606" y="212141"/>
                </a:lnTo>
                <a:lnTo>
                  <a:pt x="976579" y="217627"/>
                </a:lnTo>
                <a:lnTo>
                  <a:pt x="987552" y="218542"/>
                </a:lnTo>
                <a:lnTo>
                  <a:pt x="998525" y="217627"/>
                </a:lnTo>
                <a:lnTo>
                  <a:pt x="1009498" y="216713"/>
                </a:lnTo>
                <a:lnTo>
                  <a:pt x="1020470" y="219456"/>
                </a:lnTo>
                <a:lnTo>
                  <a:pt x="1031443" y="230429"/>
                </a:lnTo>
                <a:lnTo>
                  <a:pt x="1042416" y="250546"/>
                </a:lnTo>
                <a:lnTo>
                  <a:pt x="1053389" y="282550"/>
                </a:lnTo>
                <a:lnTo>
                  <a:pt x="1064362" y="322783"/>
                </a:lnTo>
                <a:lnTo>
                  <a:pt x="1075334" y="365760"/>
                </a:lnTo>
                <a:lnTo>
                  <a:pt x="1086307" y="405079"/>
                </a:lnTo>
                <a:lnTo>
                  <a:pt x="1097280" y="433426"/>
                </a:lnTo>
                <a:lnTo>
                  <a:pt x="1108253" y="443484"/>
                </a:lnTo>
                <a:lnTo>
                  <a:pt x="1119226" y="431597"/>
                </a:lnTo>
                <a:lnTo>
                  <a:pt x="1130198" y="395935"/>
                </a:lnTo>
                <a:lnTo>
                  <a:pt x="1141171" y="340157"/>
                </a:lnTo>
                <a:lnTo>
                  <a:pt x="1152144" y="272491"/>
                </a:lnTo>
                <a:lnTo>
                  <a:pt x="1163117" y="201168"/>
                </a:lnTo>
                <a:lnTo>
                  <a:pt x="1174090" y="137160"/>
                </a:lnTo>
                <a:lnTo>
                  <a:pt x="1185062" y="89611"/>
                </a:lnTo>
                <a:lnTo>
                  <a:pt x="1196035" y="66751"/>
                </a:lnTo>
                <a:lnTo>
                  <a:pt x="1207008" y="71323"/>
                </a:lnTo>
                <a:lnTo>
                  <a:pt x="1217981" y="103327"/>
                </a:lnTo>
                <a:lnTo>
                  <a:pt x="1228954" y="156362"/>
                </a:lnTo>
                <a:lnTo>
                  <a:pt x="1239926" y="223114"/>
                </a:lnTo>
                <a:lnTo>
                  <a:pt x="1250899" y="292608"/>
                </a:lnTo>
                <a:lnTo>
                  <a:pt x="1261872" y="354787"/>
                </a:lnTo>
                <a:lnTo>
                  <a:pt x="1272845" y="402336"/>
                </a:lnTo>
                <a:lnTo>
                  <a:pt x="1283818" y="430682"/>
                </a:lnTo>
                <a:lnTo>
                  <a:pt x="1294790" y="436169"/>
                </a:lnTo>
                <a:lnTo>
                  <a:pt x="1305763" y="423367"/>
                </a:lnTo>
                <a:lnTo>
                  <a:pt x="1316736" y="395935"/>
                </a:lnTo>
                <a:lnTo>
                  <a:pt x="1327709" y="361188"/>
                </a:lnTo>
                <a:lnTo>
                  <a:pt x="1338682" y="324612"/>
                </a:lnTo>
                <a:lnTo>
                  <a:pt x="1349654" y="293522"/>
                </a:lnTo>
                <a:lnTo>
                  <a:pt x="1360627" y="268834"/>
                </a:lnTo>
                <a:lnTo>
                  <a:pt x="1371600" y="251460"/>
                </a:lnTo>
                <a:lnTo>
                  <a:pt x="1382573" y="241402"/>
                </a:lnTo>
                <a:lnTo>
                  <a:pt x="1393546" y="233172"/>
                </a:lnTo>
                <a:lnTo>
                  <a:pt x="1404518" y="225857"/>
                </a:lnTo>
                <a:lnTo>
                  <a:pt x="1415491" y="215798"/>
                </a:lnTo>
                <a:lnTo>
                  <a:pt x="1426464" y="202997"/>
                </a:lnTo>
                <a:lnTo>
                  <a:pt x="1437437" y="187452"/>
                </a:lnTo>
                <a:lnTo>
                  <a:pt x="1448410" y="170993"/>
                </a:lnTo>
                <a:lnTo>
                  <a:pt x="1459382" y="160934"/>
                </a:lnTo>
                <a:lnTo>
                  <a:pt x="1470355" y="160934"/>
                </a:lnTo>
                <a:lnTo>
                  <a:pt x="1481328" y="176479"/>
                </a:lnTo>
                <a:lnTo>
                  <a:pt x="1492301" y="208483"/>
                </a:lnTo>
                <a:lnTo>
                  <a:pt x="1503274" y="255118"/>
                </a:lnTo>
                <a:lnTo>
                  <a:pt x="1514246" y="312725"/>
                </a:lnTo>
                <a:lnTo>
                  <a:pt x="1525219" y="371246"/>
                </a:lnTo>
                <a:lnTo>
                  <a:pt x="1536192" y="421538"/>
                </a:lnTo>
                <a:lnTo>
                  <a:pt x="1547165" y="455371"/>
                </a:lnTo>
                <a:lnTo>
                  <a:pt x="1558138" y="466344"/>
                </a:lnTo>
                <a:lnTo>
                  <a:pt x="1569110" y="448970"/>
                </a:lnTo>
                <a:lnTo>
                  <a:pt x="1580083" y="405994"/>
                </a:lnTo>
                <a:lnTo>
                  <a:pt x="1591056" y="341986"/>
                </a:lnTo>
                <a:lnTo>
                  <a:pt x="1602029" y="266090"/>
                </a:lnTo>
                <a:lnTo>
                  <a:pt x="1613002" y="189281"/>
                </a:lnTo>
                <a:lnTo>
                  <a:pt x="1623974" y="122530"/>
                </a:lnTo>
                <a:lnTo>
                  <a:pt x="1634947" y="75895"/>
                </a:lnTo>
                <a:lnTo>
                  <a:pt x="1645920" y="55778"/>
                </a:lnTo>
                <a:lnTo>
                  <a:pt x="1656893" y="63094"/>
                </a:lnTo>
                <a:lnTo>
                  <a:pt x="1667866" y="96926"/>
                </a:lnTo>
                <a:lnTo>
                  <a:pt x="1678838" y="149962"/>
                </a:lnTo>
                <a:lnTo>
                  <a:pt x="1689811" y="214884"/>
                </a:lnTo>
                <a:lnTo>
                  <a:pt x="1700784" y="283464"/>
                </a:lnTo>
                <a:lnTo>
                  <a:pt x="1711757" y="343814"/>
                </a:lnTo>
                <a:lnTo>
                  <a:pt x="1722730" y="389534"/>
                </a:lnTo>
                <a:lnTo>
                  <a:pt x="1733702" y="416966"/>
                </a:lnTo>
                <a:lnTo>
                  <a:pt x="1744675" y="425196"/>
                </a:lnTo>
                <a:lnTo>
                  <a:pt x="1755648" y="416966"/>
                </a:lnTo>
                <a:lnTo>
                  <a:pt x="1766621" y="395935"/>
                </a:lnTo>
                <a:lnTo>
                  <a:pt x="1777594" y="369418"/>
                </a:lnTo>
                <a:lnTo>
                  <a:pt x="1788566" y="342900"/>
                </a:lnTo>
                <a:lnTo>
                  <a:pt x="1799539" y="320040"/>
                </a:lnTo>
                <a:lnTo>
                  <a:pt x="1810512" y="302666"/>
                </a:lnTo>
                <a:lnTo>
                  <a:pt x="1821485" y="289865"/>
                </a:lnTo>
                <a:lnTo>
                  <a:pt x="1832458" y="277978"/>
                </a:lnTo>
                <a:lnTo>
                  <a:pt x="1843430" y="266090"/>
                </a:lnTo>
                <a:lnTo>
                  <a:pt x="1854403" y="249631"/>
                </a:lnTo>
                <a:lnTo>
                  <a:pt x="1865376" y="226771"/>
                </a:lnTo>
                <a:lnTo>
                  <a:pt x="1876349" y="200254"/>
                </a:lnTo>
                <a:lnTo>
                  <a:pt x="1887322" y="171907"/>
                </a:lnTo>
                <a:lnTo>
                  <a:pt x="1898294" y="148133"/>
                </a:lnTo>
                <a:lnTo>
                  <a:pt x="1909267" y="135331"/>
                </a:lnTo>
                <a:lnTo>
                  <a:pt x="1920240" y="138989"/>
                </a:lnTo>
                <a:lnTo>
                  <a:pt x="1931213" y="160934"/>
                </a:lnTo>
                <a:lnTo>
                  <a:pt x="1942186" y="204826"/>
                </a:lnTo>
                <a:lnTo>
                  <a:pt x="1953158" y="267005"/>
                </a:lnTo>
                <a:lnTo>
                  <a:pt x="1964131" y="338328"/>
                </a:lnTo>
                <a:lnTo>
                  <a:pt x="1975104" y="409651"/>
                </a:lnTo>
                <a:lnTo>
                  <a:pt x="1986077" y="470002"/>
                </a:lnTo>
                <a:lnTo>
                  <a:pt x="1997050" y="508406"/>
                </a:lnTo>
                <a:lnTo>
                  <a:pt x="2008022" y="519379"/>
                </a:lnTo>
                <a:lnTo>
                  <a:pt x="2018995" y="499262"/>
                </a:lnTo>
                <a:lnTo>
                  <a:pt x="2029968" y="452628"/>
                </a:lnTo>
                <a:lnTo>
                  <a:pt x="2040941" y="385877"/>
                </a:lnTo>
                <a:lnTo>
                  <a:pt x="2051914" y="309067"/>
                </a:lnTo>
                <a:lnTo>
                  <a:pt x="2062886" y="234086"/>
                </a:lnTo>
                <a:lnTo>
                  <a:pt x="2073859" y="170993"/>
                </a:lnTo>
                <a:lnTo>
                  <a:pt x="2084832" y="128016"/>
                </a:lnTo>
                <a:lnTo>
                  <a:pt x="2095805" y="110642"/>
                </a:lnTo>
                <a:lnTo>
                  <a:pt x="2106778" y="117043"/>
                </a:lnTo>
                <a:lnTo>
                  <a:pt x="2117750" y="142646"/>
                </a:lnTo>
                <a:lnTo>
                  <a:pt x="2128723" y="181051"/>
                </a:lnTo>
                <a:lnTo>
                  <a:pt x="2139696" y="225857"/>
                </a:lnTo>
                <a:lnTo>
                  <a:pt x="2150669" y="268834"/>
                </a:lnTo>
                <a:lnTo>
                  <a:pt x="2161642" y="305410"/>
                </a:lnTo>
                <a:lnTo>
                  <a:pt x="2172614" y="330098"/>
                </a:lnTo>
                <a:lnTo>
                  <a:pt x="2183587" y="344729"/>
                </a:lnTo>
                <a:lnTo>
                  <a:pt x="2194560" y="348386"/>
                </a:lnTo>
                <a:lnTo>
                  <a:pt x="2205533" y="344729"/>
                </a:lnTo>
                <a:lnTo>
                  <a:pt x="2216506" y="339242"/>
                </a:lnTo>
                <a:lnTo>
                  <a:pt x="2227478" y="333756"/>
                </a:lnTo>
                <a:lnTo>
                  <a:pt x="2238451" y="331927"/>
                </a:lnTo>
                <a:lnTo>
                  <a:pt x="2249424" y="332842"/>
                </a:lnTo>
                <a:lnTo>
                  <a:pt x="2260397" y="334670"/>
                </a:lnTo>
                <a:lnTo>
                  <a:pt x="2271370" y="333756"/>
                </a:lnTo>
                <a:lnTo>
                  <a:pt x="2282342" y="328270"/>
                </a:lnTo>
                <a:lnTo>
                  <a:pt x="2293315" y="313639"/>
                </a:lnTo>
                <a:lnTo>
                  <a:pt x="2304288" y="288036"/>
                </a:lnTo>
                <a:lnTo>
                  <a:pt x="2315261" y="252374"/>
                </a:lnTo>
                <a:lnTo>
                  <a:pt x="2326234" y="210312"/>
                </a:lnTo>
                <a:lnTo>
                  <a:pt x="2337206" y="167335"/>
                </a:lnTo>
                <a:lnTo>
                  <a:pt x="2348179" y="132588"/>
                </a:lnTo>
                <a:lnTo>
                  <a:pt x="2359152" y="111557"/>
                </a:lnTo>
                <a:lnTo>
                  <a:pt x="2370125" y="112471"/>
                </a:lnTo>
                <a:lnTo>
                  <a:pt x="2381098" y="138074"/>
                </a:lnTo>
                <a:lnTo>
                  <a:pt x="2392070" y="185623"/>
                </a:lnTo>
                <a:lnTo>
                  <a:pt x="2403043" y="250546"/>
                </a:lnTo>
                <a:lnTo>
                  <a:pt x="2414016" y="323698"/>
                </a:lnTo>
                <a:lnTo>
                  <a:pt x="2424989" y="395021"/>
                </a:lnTo>
                <a:lnTo>
                  <a:pt x="2435962" y="453542"/>
                </a:lnTo>
                <a:lnTo>
                  <a:pt x="2446934" y="486461"/>
                </a:lnTo>
                <a:lnTo>
                  <a:pt x="2457907" y="489204"/>
                </a:lnTo>
                <a:lnTo>
                  <a:pt x="2468880" y="462686"/>
                </a:lnTo>
                <a:lnTo>
                  <a:pt x="2479853" y="409651"/>
                </a:lnTo>
                <a:lnTo>
                  <a:pt x="2490826" y="340157"/>
                </a:lnTo>
                <a:lnTo>
                  <a:pt x="2501798" y="264262"/>
                </a:lnTo>
                <a:lnTo>
                  <a:pt x="2512771" y="192938"/>
                </a:lnTo>
                <a:lnTo>
                  <a:pt x="2523744" y="138074"/>
                </a:lnTo>
                <a:lnTo>
                  <a:pt x="2534717" y="106070"/>
                </a:lnTo>
                <a:lnTo>
                  <a:pt x="2545690" y="97841"/>
                </a:lnTo>
                <a:lnTo>
                  <a:pt x="2556662" y="113386"/>
                </a:lnTo>
                <a:lnTo>
                  <a:pt x="2567635" y="145390"/>
                </a:lnTo>
                <a:lnTo>
                  <a:pt x="2578608" y="187452"/>
                </a:lnTo>
                <a:lnTo>
                  <a:pt x="2589581" y="231343"/>
                </a:lnTo>
                <a:lnTo>
                  <a:pt x="2600554" y="267919"/>
                </a:lnTo>
                <a:lnTo>
                  <a:pt x="2611526" y="295351"/>
                </a:lnTo>
                <a:lnTo>
                  <a:pt x="2622499" y="312725"/>
                </a:lnTo>
                <a:lnTo>
                  <a:pt x="2633472" y="320954"/>
                </a:lnTo>
                <a:lnTo>
                  <a:pt x="2644445" y="323698"/>
                </a:lnTo>
                <a:lnTo>
                  <a:pt x="2655418" y="325526"/>
                </a:lnTo>
                <a:lnTo>
                  <a:pt x="2666390" y="329184"/>
                </a:lnTo>
                <a:lnTo>
                  <a:pt x="2677363" y="338328"/>
                </a:lnTo>
                <a:lnTo>
                  <a:pt x="2688336" y="352044"/>
                </a:lnTo>
                <a:lnTo>
                  <a:pt x="2699309" y="368503"/>
                </a:lnTo>
                <a:lnTo>
                  <a:pt x="2710282" y="383134"/>
                </a:lnTo>
                <a:lnTo>
                  <a:pt x="2721254" y="390449"/>
                </a:lnTo>
                <a:lnTo>
                  <a:pt x="2732227" y="384962"/>
                </a:lnTo>
                <a:lnTo>
                  <a:pt x="2743200" y="363017"/>
                </a:lnTo>
                <a:lnTo>
                  <a:pt x="2754173" y="324612"/>
                </a:lnTo>
                <a:lnTo>
                  <a:pt x="2765146" y="273406"/>
                </a:lnTo>
                <a:lnTo>
                  <a:pt x="2776118" y="213970"/>
                </a:lnTo>
                <a:lnTo>
                  <a:pt x="2787091" y="157277"/>
                </a:lnTo>
                <a:lnTo>
                  <a:pt x="2798064" y="110642"/>
                </a:lnTo>
                <a:lnTo>
                  <a:pt x="2809037" y="84125"/>
                </a:lnTo>
                <a:lnTo>
                  <a:pt x="2820010" y="83210"/>
                </a:lnTo>
                <a:lnTo>
                  <a:pt x="2830982" y="110642"/>
                </a:lnTo>
                <a:lnTo>
                  <a:pt x="2841955" y="161849"/>
                </a:lnTo>
                <a:lnTo>
                  <a:pt x="2852928" y="232258"/>
                </a:lnTo>
                <a:lnTo>
                  <a:pt x="2863901" y="309067"/>
                </a:lnTo>
                <a:lnTo>
                  <a:pt x="2874874" y="382219"/>
                </a:lnTo>
                <a:lnTo>
                  <a:pt x="2885846" y="439826"/>
                </a:lnTo>
                <a:lnTo>
                  <a:pt x="2896819" y="474574"/>
                </a:lnTo>
                <a:lnTo>
                  <a:pt x="2907792" y="481889"/>
                </a:lnTo>
                <a:lnTo>
                  <a:pt x="2918765" y="461772"/>
                </a:lnTo>
                <a:lnTo>
                  <a:pt x="2929738" y="418795"/>
                </a:lnTo>
                <a:lnTo>
                  <a:pt x="2940710" y="360274"/>
                </a:lnTo>
                <a:lnTo>
                  <a:pt x="2951683" y="297180"/>
                </a:lnTo>
                <a:lnTo>
                  <a:pt x="2962656" y="239573"/>
                </a:lnTo>
                <a:lnTo>
                  <a:pt x="2973629" y="192938"/>
                </a:lnTo>
                <a:lnTo>
                  <a:pt x="2984602" y="164592"/>
                </a:lnTo>
                <a:lnTo>
                  <a:pt x="2995574" y="153619"/>
                </a:lnTo>
                <a:lnTo>
                  <a:pt x="3006547" y="159106"/>
                </a:lnTo>
                <a:lnTo>
                  <a:pt x="3017520" y="175565"/>
                </a:lnTo>
                <a:lnTo>
                  <a:pt x="3028493" y="196596"/>
                </a:lnTo>
                <a:lnTo>
                  <a:pt x="3039466" y="218542"/>
                </a:lnTo>
                <a:lnTo>
                  <a:pt x="3050438" y="235001"/>
                </a:lnTo>
                <a:lnTo>
                  <a:pt x="3061411" y="245974"/>
                </a:lnTo>
                <a:lnTo>
                  <a:pt x="3072384" y="252374"/>
                </a:lnTo>
                <a:lnTo>
                  <a:pt x="3083357" y="256946"/>
                </a:lnTo>
                <a:lnTo>
                  <a:pt x="3094330" y="263347"/>
                </a:lnTo>
                <a:lnTo>
                  <a:pt x="3105302" y="276149"/>
                </a:lnTo>
                <a:lnTo>
                  <a:pt x="3116275" y="295351"/>
                </a:lnTo>
                <a:lnTo>
                  <a:pt x="3127248" y="320954"/>
                </a:lnTo>
                <a:lnTo>
                  <a:pt x="3138221" y="351130"/>
                </a:lnTo>
                <a:lnTo>
                  <a:pt x="3149194" y="380390"/>
                </a:lnTo>
                <a:lnTo>
                  <a:pt x="3160166" y="401422"/>
                </a:lnTo>
                <a:lnTo>
                  <a:pt x="3171139" y="409651"/>
                </a:lnTo>
                <a:lnTo>
                  <a:pt x="3182112" y="398678"/>
                </a:lnTo>
                <a:lnTo>
                  <a:pt x="3193085" y="368503"/>
                </a:lnTo>
                <a:lnTo>
                  <a:pt x="3204058" y="320040"/>
                </a:lnTo>
                <a:lnTo>
                  <a:pt x="3215030" y="259690"/>
                </a:lnTo>
                <a:lnTo>
                  <a:pt x="3226003" y="193853"/>
                </a:lnTo>
                <a:lnTo>
                  <a:pt x="3236976" y="133502"/>
                </a:lnTo>
                <a:lnTo>
                  <a:pt x="3247949" y="88697"/>
                </a:lnTo>
                <a:lnTo>
                  <a:pt x="3258922" y="64922"/>
                </a:lnTo>
                <a:lnTo>
                  <a:pt x="3269894" y="68580"/>
                </a:lnTo>
                <a:lnTo>
                  <a:pt x="3280867" y="100584"/>
                </a:lnTo>
                <a:lnTo>
                  <a:pt x="3291840" y="156362"/>
                </a:lnTo>
                <a:lnTo>
                  <a:pt x="3302813" y="229514"/>
                </a:lnTo>
                <a:lnTo>
                  <a:pt x="3313786" y="307238"/>
                </a:lnTo>
                <a:lnTo>
                  <a:pt x="3324758" y="379476"/>
                </a:lnTo>
                <a:lnTo>
                  <a:pt x="3335731" y="435254"/>
                </a:lnTo>
                <a:lnTo>
                  <a:pt x="3346704" y="468173"/>
                </a:lnTo>
                <a:lnTo>
                  <a:pt x="3357677" y="474574"/>
                </a:lnTo>
                <a:lnTo>
                  <a:pt x="3368650" y="454457"/>
                </a:lnTo>
                <a:lnTo>
                  <a:pt x="3379622" y="412394"/>
                </a:lnTo>
                <a:lnTo>
                  <a:pt x="3390595" y="358445"/>
                </a:lnTo>
                <a:lnTo>
                  <a:pt x="3401568" y="300838"/>
                </a:lnTo>
                <a:lnTo>
                  <a:pt x="3412541" y="248717"/>
                </a:lnTo>
                <a:lnTo>
                  <a:pt x="3423514" y="207569"/>
                </a:lnTo>
                <a:lnTo>
                  <a:pt x="3434486" y="182880"/>
                </a:lnTo>
                <a:lnTo>
                  <a:pt x="3445459" y="173736"/>
                </a:lnTo>
                <a:lnTo>
                  <a:pt x="3456432" y="175565"/>
                </a:lnTo>
                <a:lnTo>
                  <a:pt x="3467405" y="185623"/>
                </a:lnTo>
                <a:lnTo>
                  <a:pt x="3478378" y="197510"/>
                </a:lnTo>
                <a:lnTo>
                  <a:pt x="3489350" y="207569"/>
                </a:lnTo>
                <a:lnTo>
                  <a:pt x="3500323" y="213055"/>
                </a:lnTo>
                <a:lnTo>
                  <a:pt x="3511296" y="213970"/>
                </a:lnTo>
                <a:lnTo>
                  <a:pt x="3522269" y="213055"/>
                </a:lnTo>
                <a:lnTo>
                  <a:pt x="3533242" y="212141"/>
                </a:lnTo>
                <a:lnTo>
                  <a:pt x="3544214" y="216713"/>
                </a:lnTo>
                <a:lnTo>
                  <a:pt x="3555187" y="230429"/>
                </a:lnTo>
                <a:lnTo>
                  <a:pt x="3566160" y="254203"/>
                </a:lnTo>
                <a:lnTo>
                  <a:pt x="3577133" y="287122"/>
                </a:lnTo>
                <a:lnTo>
                  <a:pt x="3588106" y="324612"/>
                </a:lnTo>
                <a:lnTo>
                  <a:pt x="3599078" y="362102"/>
                </a:lnTo>
                <a:lnTo>
                  <a:pt x="3610051" y="390449"/>
                </a:lnTo>
                <a:lnTo>
                  <a:pt x="3621024" y="402336"/>
                </a:lnTo>
                <a:lnTo>
                  <a:pt x="3631997" y="391363"/>
                </a:lnTo>
                <a:lnTo>
                  <a:pt x="3642970" y="355702"/>
                </a:lnTo>
                <a:lnTo>
                  <a:pt x="3653942" y="299923"/>
                </a:lnTo>
                <a:lnTo>
                  <a:pt x="3664915" y="230429"/>
                </a:lnTo>
                <a:lnTo>
                  <a:pt x="3675888" y="156362"/>
                </a:lnTo>
                <a:lnTo>
                  <a:pt x="3686861" y="88697"/>
                </a:lnTo>
                <a:lnTo>
                  <a:pt x="3697834" y="38405"/>
                </a:lnTo>
                <a:lnTo>
                  <a:pt x="3708806" y="16459"/>
                </a:lnTo>
                <a:lnTo>
                  <a:pt x="3719779" y="25603"/>
                </a:lnTo>
                <a:lnTo>
                  <a:pt x="3730752" y="63094"/>
                </a:lnTo>
                <a:lnTo>
                  <a:pt x="3741725" y="123444"/>
                </a:lnTo>
                <a:lnTo>
                  <a:pt x="3752698" y="196596"/>
                </a:lnTo>
                <a:lnTo>
                  <a:pt x="3763670" y="270662"/>
                </a:lnTo>
                <a:lnTo>
                  <a:pt x="3774643" y="335585"/>
                </a:lnTo>
                <a:lnTo>
                  <a:pt x="3785616" y="383134"/>
                </a:lnTo>
                <a:lnTo>
                  <a:pt x="3796589" y="409651"/>
                </a:lnTo>
                <a:lnTo>
                  <a:pt x="3807562" y="413309"/>
                </a:lnTo>
                <a:lnTo>
                  <a:pt x="3818534" y="395935"/>
                </a:lnTo>
                <a:lnTo>
                  <a:pt x="3829507" y="364846"/>
                </a:lnTo>
                <a:lnTo>
                  <a:pt x="3840480" y="325526"/>
                </a:lnTo>
                <a:lnTo>
                  <a:pt x="3851453" y="286207"/>
                </a:lnTo>
                <a:lnTo>
                  <a:pt x="3862426" y="251460"/>
                </a:lnTo>
                <a:lnTo>
                  <a:pt x="3873398" y="224028"/>
                </a:lnTo>
                <a:lnTo>
                  <a:pt x="3884371" y="203911"/>
                </a:lnTo>
                <a:lnTo>
                  <a:pt x="3895344" y="190195"/>
                </a:lnTo>
                <a:lnTo>
                  <a:pt x="3906317" y="180137"/>
                </a:lnTo>
                <a:lnTo>
                  <a:pt x="3917290" y="170993"/>
                </a:lnTo>
                <a:lnTo>
                  <a:pt x="3928262" y="159106"/>
                </a:lnTo>
                <a:lnTo>
                  <a:pt x="3939235" y="145390"/>
                </a:lnTo>
                <a:lnTo>
                  <a:pt x="3950208" y="130759"/>
                </a:lnTo>
                <a:lnTo>
                  <a:pt x="3961181" y="117043"/>
                </a:lnTo>
                <a:lnTo>
                  <a:pt x="3972154" y="108814"/>
                </a:lnTo>
                <a:lnTo>
                  <a:pt x="3983126" y="111557"/>
                </a:lnTo>
                <a:lnTo>
                  <a:pt x="3994099" y="128930"/>
                </a:lnTo>
                <a:lnTo>
                  <a:pt x="4005072" y="161849"/>
                </a:lnTo>
                <a:lnTo>
                  <a:pt x="4016045" y="208483"/>
                </a:lnTo>
                <a:lnTo>
                  <a:pt x="4027018" y="263347"/>
                </a:lnTo>
                <a:lnTo>
                  <a:pt x="4037990" y="318211"/>
                </a:lnTo>
                <a:lnTo>
                  <a:pt x="4048963" y="364846"/>
                </a:lnTo>
                <a:lnTo>
                  <a:pt x="4059936" y="393192"/>
                </a:lnTo>
                <a:lnTo>
                  <a:pt x="4070909" y="399593"/>
                </a:lnTo>
                <a:lnTo>
                  <a:pt x="4081882" y="378562"/>
                </a:lnTo>
                <a:lnTo>
                  <a:pt x="4092854" y="333756"/>
                </a:lnTo>
                <a:lnTo>
                  <a:pt x="4103827" y="268834"/>
                </a:lnTo>
                <a:lnTo>
                  <a:pt x="4114800" y="193853"/>
                </a:lnTo>
                <a:lnTo>
                  <a:pt x="4125773" y="120701"/>
                </a:lnTo>
                <a:lnTo>
                  <a:pt x="4136746" y="58522"/>
                </a:lnTo>
                <a:lnTo>
                  <a:pt x="4147718" y="16459"/>
                </a:lnTo>
                <a:lnTo>
                  <a:pt x="4158691" y="0"/>
                </a:lnTo>
                <a:lnTo>
                  <a:pt x="4169664" y="10058"/>
                </a:lnTo>
                <a:lnTo>
                  <a:pt x="4180637" y="45720"/>
                </a:lnTo>
                <a:lnTo>
                  <a:pt x="4191610" y="96926"/>
                </a:lnTo>
                <a:lnTo>
                  <a:pt x="4202582" y="158191"/>
                </a:lnTo>
                <a:lnTo>
                  <a:pt x="4213555" y="219456"/>
                </a:lnTo>
                <a:lnTo>
                  <a:pt x="4224528" y="272491"/>
                </a:lnTo>
                <a:lnTo>
                  <a:pt x="4235501" y="310896"/>
                </a:lnTo>
                <a:lnTo>
                  <a:pt x="4246474" y="331927"/>
                </a:lnTo>
                <a:lnTo>
                  <a:pt x="4257446" y="334670"/>
                </a:lnTo>
                <a:lnTo>
                  <a:pt x="4268419" y="323698"/>
                </a:lnTo>
                <a:lnTo>
                  <a:pt x="4279392" y="303581"/>
                </a:lnTo>
                <a:lnTo>
                  <a:pt x="4290365" y="278892"/>
                </a:lnTo>
                <a:lnTo>
                  <a:pt x="4301338" y="255118"/>
                </a:lnTo>
                <a:lnTo>
                  <a:pt x="4312310" y="235001"/>
                </a:lnTo>
                <a:lnTo>
                  <a:pt x="4323283" y="220370"/>
                </a:lnTo>
                <a:lnTo>
                  <a:pt x="4334256" y="210312"/>
                </a:lnTo>
                <a:lnTo>
                  <a:pt x="4345229" y="202082"/>
                </a:lnTo>
                <a:lnTo>
                  <a:pt x="4356202" y="191110"/>
                </a:lnTo>
                <a:lnTo>
                  <a:pt x="4367174" y="176479"/>
                </a:lnTo>
                <a:lnTo>
                  <a:pt x="4378147" y="154534"/>
                </a:lnTo>
                <a:lnTo>
                  <a:pt x="4389120" y="128016"/>
                </a:lnTo>
                <a:lnTo>
                  <a:pt x="4400093" y="99670"/>
                </a:lnTo>
                <a:lnTo>
                  <a:pt x="4411066" y="74981"/>
                </a:lnTo>
                <a:lnTo>
                  <a:pt x="4422038" y="59436"/>
                </a:lnTo>
                <a:lnTo>
                  <a:pt x="4433011" y="60350"/>
                </a:lnTo>
                <a:lnTo>
                  <a:pt x="4443984" y="79553"/>
                </a:lnTo>
                <a:lnTo>
                  <a:pt x="4454957" y="117043"/>
                </a:lnTo>
                <a:lnTo>
                  <a:pt x="4465930" y="169164"/>
                </a:lnTo>
                <a:lnTo>
                  <a:pt x="4476902" y="231343"/>
                </a:lnTo>
                <a:lnTo>
                  <a:pt x="4487875" y="293522"/>
                </a:lnTo>
                <a:lnTo>
                  <a:pt x="4498848" y="346558"/>
                </a:lnTo>
                <a:lnTo>
                  <a:pt x="4509821" y="381305"/>
                </a:lnTo>
                <a:lnTo>
                  <a:pt x="4520794" y="392278"/>
                </a:lnTo>
                <a:lnTo>
                  <a:pt x="4531766" y="377647"/>
                </a:lnTo>
                <a:lnTo>
                  <a:pt x="4542739" y="338328"/>
                </a:lnTo>
                <a:lnTo>
                  <a:pt x="4553712" y="279806"/>
                </a:lnTo>
                <a:lnTo>
                  <a:pt x="4564685" y="210312"/>
                </a:lnTo>
                <a:lnTo>
                  <a:pt x="4575658" y="139903"/>
                </a:lnTo>
                <a:lnTo>
                  <a:pt x="4586630" y="80467"/>
                </a:lnTo>
                <a:lnTo>
                  <a:pt x="4597603" y="38405"/>
                </a:lnTo>
                <a:lnTo>
                  <a:pt x="4608576" y="18288"/>
                </a:lnTo>
                <a:lnTo>
                  <a:pt x="4619549" y="22860"/>
                </a:lnTo>
                <a:lnTo>
                  <a:pt x="4630522" y="52121"/>
                </a:lnTo>
                <a:lnTo>
                  <a:pt x="4641494" y="97841"/>
                </a:lnTo>
                <a:lnTo>
                  <a:pt x="4652467" y="151790"/>
                </a:lnTo>
                <a:lnTo>
                  <a:pt x="4663440" y="205740"/>
                </a:lnTo>
                <a:lnTo>
                  <a:pt x="4674413" y="251460"/>
                </a:lnTo>
                <a:lnTo>
                  <a:pt x="4685386" y="284378"/>
                </a:lnTo>
                <a:lnTo>
                  <a:pt x="4696358" y="301752"/>
                </a:lnTo>
                <a:lnTo>
                  <a:pt x="4707331" y="306324"/>
                </a:lnTo>
                <a:lnTo>
                  <a:pt x="4718304" y="302666"/>
                </a:lnTo>
                <a:lnTo>
                  <a:pt x="4729277" y="293522"/>
                </a:lnTo>
                <a:lnTo>
                  <a:pt x="4740250" y="285293"/>
                </a:lnTo>
                <a:lnTo>
                  <a:pt x="4751222" y="280721"/>
                </a:lnTo>
                <a:lnTo>
                  <a:pt x="4762195" y="278892"/>
                </a:lnTo>
                <a:lnTo>
                  <a:pt x="4773168" y="280721"/>
                </a:lnTo>
                <a:lnTo>
                  <a:pt x="4784141" y="279806"/>
                </a:lnTo>
                <a:lnTo>
                  <a:pt x="4795114" y="273406"/>
                </a:lnTo>
                <a:lnTo>
                  <a:pt x="4806086" y="256032"/>
                </a:lnTo>
                <a:lnTo>
                  <a:pt x="4817059" y="227686"/>
                </a:lnTo>
                <a:lnTo>
                  <a:pt x="4828032" y="188366"/>
                </a:lnTo>
                <a:lnTo>
                  <a:pt x="4839005" y="141732"/>
                </a:lnTo>
                <a:lnTo>
                  <a:pt x="4849978" y="96012"/>
                </a:lnTo>
                <a:lnTo>
                  <a:pt x="4860950" y="57607"/>
                </a:lnTo>
                <a:lnTo>
                  <a:pt x="4871923" y="33833"/>
                </a:lnTo>
                <a:lnTo>
                  <a:pt x="4882896" y="29261"/>
                </a:lnTo>
                <a:lnTo>
                  <a:pt x="4893869" y="48463"/>
                </a:lnTo>
                <a:lnTo>
                  <a:pt x="4904842" y="90526"/>
                </a:lnTo>
                <a:lnTo>
                  <a:pt x="4915814" y="150876"/>
                </a:lnTo>
                <a:lnTo>
                  <a:pt x="4926787" y="222199"/>
                </a:lnTo>
                <a:lnTo>
                  <a:pt x="4937760" y="293522"/>
                </a:lnTo>
                <a:lnTo>
                  <a:pt x="4948733" y="353873"/>
                </a:lnTo>
                <a:lnTo>
                  <a:pt x="4959706" y="395935"/>
                </a:lnTo>
                <a:lnTo>
                  <a:pt x="4970678" y="410566"/>
                </a:lnTo>
                <a:lnTo>
                  <a:pt x="4981651" y="396850"/>
                </a:lnTo>
                <a:lnTo>
                  <a:pt x="4992624" y="356616"/>
                </a:lnTo>
                <a:lnTo>
                  <a:pt x="5003597" y="298094"/>
                </a:lnTo>
                <a:lnTo>
                  <a:pt x="5014570" y="228600"/>
                </a:lnTo>
                <a:lnTo>
                  <a:pt x="5025542" y="159106"/>
                </a:lnTo>
              </a:path>
            </a:pathLst>
          </a:custGeom>
          <a:noFill/>
          <a:ln w="34925">
            <a:solidFill>
              <a:srgbClr val="0072B2"/>
            </a:solidFill>
            <a:prstDash val="solid"/>
          </a:ln>
        </p:spPr>
      </p:sp>
      <p:sp>
        <p:nvSpPr>
          <p:cNvPr id="14" name="Text 12"/>
          <p:cNvSpPr txBox="1"/>
          <p:nvPr/>
        </p:nvSpPr>
        <p:spPr>
          <a:xfrm>
            <a:off x="6126480" y="2834640"/>
            <a:ext cx="5559552" cy="457200"/>
          </a:xfrm>
          <a:prstGeom prst="rect">
            <a:avLst/>
          </a:prstGeom>
          <a:noFill/>
          <a:ln/>
        </p:spPr>
        <p:txBody>
          <a:bodyPr wrap="square" lIns="0" tIns="0" rIns="0" bIns="0" rtlCol="0" anchor="ctr"/>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浅い鎮静：</a:t>
            </a:r>
            <a:r>
              <a:rPr lang="ja-JP" altLang="en-US" sz="2400" dirty="0">
                <a:solidFill>
                  <a:srgbClr val="262626"/>
                </a:solidFill>
                <a:latin typeface="メイリオ" pitchFamily="34" charset="0"/>
                <a:ea typeface="メイリオ" pitchFamily="34" charset="-122"/>
                <a:cs typeface="メイリオ" pitchFamily="34" charset="-120"/>
              </a:rPr>
              <a:t>α と β</a:t>
            </a:r>
            <a:endParaRPr lang="ja-JP" sz="2400" dirty="0"/>
          </a:p>
        </p:txBody>
      </p:sp>
      <p:sp>
        <p:nvSpPr>
          <p:cNvPr id="15" name="Shape 13"/>
          <p:cNvSpPr/>
          <p:nvPr/>
        </p:nvSpPr>
        <p:spPr>
          <a:xfrm>
            <a:off x="685800" y="3717036"/>
            <a:ext cx="5025542" cy="733349"/>
          </a:xfrm>
          <a:custGeom>
            <a:avLst/>
            <a:gdLst/>
            <a:ahLst/>
            <a:cxnLst/>
            <a:rect l="l" t="t" r="r" b="b"/>
            <a:pathLst>
              <a:path w="5025542" h="733349">
                <a:moveTo>
                  <a:pt x="0" y="230429"/>
                </a:moveTo>
                <a:lnTo>
                  <a:pt x="10973" y="202997"/>
                </a:lnTo>
                <a:lnTo>
                  <a:pt x="21946" y="177394"/>
                </a:lnTo>
                <a:lnTo>
                  <a:pt x="32918" y="154534"/>
                </a:lnTo>
                <a:lnTo>
                  <a:pt x="43891" y="135331"/>
                </a:lnTo>
                <a:lnTo>
                  <a:pt x="54864" y="121615"/>
                </a:lnTo>
                <a:lnTo>
                  <a:pt x="65837" y="113386"/>
                </a:lnTo>
                <a:lnTo>
                  <a:pt x="76810" y="110642"/>
                </a:lnTo>
                <a:lnTo>
                  <a:pt x="87782" y="112471"/>
                </a:lnTo>
                <a:lnTo>
                  <a:pt x="98755" y="119786"/>
                </a:lnTo>
                <a:lnTo>
                  <a:pt x="109728" y="130759"/>
                </a:lnTo>
                <a:lnTo>
                  <a:pt x="120701" y="143561"/>
                </a:lnTo>
                <a:lnTo>
                  <a:pt x="131674" y="158191"/>
                </a:lnTo>
                <a:lnTo>
                  <a:pt x="142646" y="170993"/>
                </a:lnTo>
                <a:lnTo>
                  <a:pt x="153619" y="181966"/>
                </a:lnTo>
                <a:lnTo>
                  <a:pt x="164592" y="190195"/>
                </a:lnTo>
                <a:lnTo>
                  <a:pt x="175565" y="193853"/>
                </a:lnTo>
                <a:lnTo>
                  <a:pt x="186538" y="192938"/>
                </a:lnTo>
                <a:lnTo>
                  <a:pt x="197510" y="186538"/>
                </a:lnTo>
                <a:lnTo>
                  <a:pt x="208483" y="174650"/>
                </a:lnTo>
                <a:lnTo>
                  <a:pt x="219456" y="158191"/>
                </a:lnTo>
                <a:lnTo>
                  <a:pt x="230429" y="138989"/>
                </a:lnTo>
                <a:lnTo>
                  <a:pt x="241402" y="116129"/>
                </a:lnTo>
                <a:lnTo>
                  <a:pt x="252374" y="93269"/>
                </a:lnTo>
                <a:lnTo>
                  <a:pt x="263347" y="70409"/>
                </a:lnTo>
                <a:lnTo>
                  <a:pt x="274320" y="49378"/>
                </a:lnTo>
                <a:lnTo>
                  <a:pt x="285293" y="31090"/>
                </a:lnTo>
                <a:lnTo>
                  <a:pt x="296266" y="17374"/>
                </a:lnTo>
                <a:lnTo>
                  <a:pt x="307238" y="9144"/>
                </a:lnTo>
                <a:lnTo>
                  <a:pt x="318211" y="6401"/>
                </a:lnTo>
                <a:lnTo>
                  <a:pt x="329184" y="9144"/>
                </a:lnTo>
                <a:lnTo>
                  <a:pt x="340157" y="18288"/>
                </a:lnTo>
                <a:lnTo>
                  <a:pt x="351130" y="31090"/>
                </a:lnTo>
                <a:lnTo>
                  <a:pt x="362102" y="47549"/>
                </a:lnTo>
                <a:lnTo>
                  <a:pt x="373075" y="66751"/>
                </a:lnTo>
                <a:lnTo>
                  <a:pt x="384048" y="85954"/>
                </a:lnTo>
                <a:lnTo>
                  <a:pt x="395021" y="105156"/>
                </a:lnTo>
                <a:lnTo>
                  <a:pt x="405994" y="122530"/>
                </a:lnTo>
                <a:lnTo>
                  <a:pt x="416966" y="136246"/>
                </a:lnTo>
                <a:lnTo>
                  <a:pt x="427939" y="145390"/>
                </a:lnTo>
                <a:lnTo>
                  <a:pt x="438912" y="149962"/>
                </a:lnTo>
                <a:lnTo>
                  <a:pt x="449885" y="149047"/>
                </a:lnTo>
                <a:lnTo>
                  <a:pt x="460858" y="143561"/>
                </a:lnTo>
                <a:lnTo>
                  <a:pt x="471830" y="133502"/>
                </a:lnTo>
                <a:lnTo>
                  <a:pt x="482803" y="119786"/>
                </a:lnTo>
                <a:lnTo>
                  <a:pt x="493776" y="104242"/>
                </a:lnTo>
                <a:lnTo>
                  <a:pt x="504749" y="86868"/>
                </a:lnTo>
                <a:lnTo>
                  <a:pt x="515722" y="70409"/>
                </a:lnTo>
                <a:lnTo>
                  <a:pt x="526694" y="55778"/>
                </a:lnTo>
                <a:lnTo>
                  <a:pt x="537667" y="44806"/>
                </a:lnTo>
                <a:lnTo>
                  <a:pt x="548640" y="37490"/>
                </a:lnTo>
                <a:lnTo>
                  <a:pt x="559613" y="35662"/>
                </a:lnTo>
                <a:lnTo>
                  <a:pt x="570586" y="40234"/>
                </a:lnTo>
                <a:lnTo>
                  <a:pt x="581558" y="49378"/>
                </a:lnTo>
                <a:lnTo>
                  <a:pt x="592531" y="64922"/>
                </a:lnTo>
                <a:lnTo>
                  <a:pt x="603504" y="84125"/>
                </a:lnTo>
                <a:lnTo>
                  <a:pt x="614477" y="106985"/>
                </a:lnTo>
                <a:lnTo>
                  <a:pt x="625450" y="132588"/>
                </a:lnTo>
                <a:lnTo>
                  <a:pt x="636422" y="158191"/>
                </a:lnTo>
                <a:lnTo>
                  <a:pt x="647395" y="182880"/>
                </a:lnTo>
                <a:lnTo>
                  <a:pt x="658368" y="205740"/>
                </a:lnTo>
                <a:lnTo>
                  <a:pt x="669341" y="224028"/>
                </a:lnTo>
                <a:lnTo>
                  <a:pt x="680314" y="238658"/>
                </a:lnTo>
                <a:lnTo>
                  <a:pt x="691286" y="248717"/>
                </a:lnTo>
                <a:lnTo>
                  <a:pt x="702259" y="252374"/>
                </a:lnTo>
                <a:lnTo>
                  <a:pt x="713232" y="251460"/>
                </a:lnTo>
                <a:lnTo>
                  <a:pt x="724205" y="245974"/>
                </a:lnTo>
                <a:lnTo>
                  <a:pt x="735178" y="236830"/>
                </a:lnTo>
                <a:lnTo>
                  <a:pt x="746150" y="225857"/>
                </a:lnTo>
                <a:lnTo>
                  <a:pt x="757123" y="213055"/>
                </a:lnTo>
                <a:lnTo>
                  <a:pt x="768096" y="201168"/>
                </a:lnTo>
                <a:lnTo>
                  <a:pt x="779069" y="191110"/>
                </a:lnTo>
                <a:lnTo>
                  <a:pt x="790042" y="184709"/>
                </a:lnTo>
                <a:lnTo>
                  <a:pt x="801014" y="181966"/>
                </a:lnTo>
                <a:lnTo>
                  <a:pt x="811987" y="184709"/>
                </a:lnTo>
                <a:lnTo>
                  <a:pt x="822960" y="192938"/>
                </a:lnTo>
                <a:lnTo>
                  <a:pt x="833933" y="206654"/>
                </a:lnTo>
                <a:lnTo>
                  <a:pt x="844906" y="224942"/>
                </a:lnTo>
                <a:lnTo>
                  <a:pt x="855878" y="247802"/>
                </a:lnTo>
                <a:lnTo>
                  <a:pt x="866851" y="274320"/>
                </a:lnTo>
                <a:lnTo>
                  <a:pt x="877824" y="301752"/>
                </a:lnTo>
                <a:lnTo>
                  <a:pt x="888797" y="330098"/>
                </a:lnTo>
                <a:lnTo>
                  <a:pt x="899770" y="357530"/>
                </a:lnTo>
                <a:lnTo>
                  <a:pt x="910742" y="381305"/>
                </a:lnTo>
                <a:lnTo>
                  <a:pt x="921715" y="402336"/>
                </a:lnTo>
                <a:lnTo>
                  <a:pt x="932688" y="417881"/>
                </a:lnTo>
                <a:lnTo>
                  <a:pt x="943661" y="428854"/>
                </a:lnTo>
                <a:lnTo>
                  <a:pt x="954634" y="433426"/>
                </a:lnTo>
                <a:lnTo>
                  <a:pt x="965606" y="433426"/>
                </a:lnTo>
                <a:lnTo>
                  <a:pt x="976579" y="427939"/>
                </a:lnTo>
                <a:lnTo>
                  <a:pt x="987552" y="419710"/>
                </a:lnTo>
                <a:lnTo>
                  <a:pt x="998525" y="407822"/>
                </a:lnTo>
                <a:lnTo>
                  <a:pt x="1009498" y="395935"/>
                </a:lnTo>
                <a:lnTo>
                  <a:pt x="1020470" y="384048"/>
                </a:lnTo>
                <a:lnTo>
                  <a:pt x="1031443" y="373990"/>
                </a:lnTo>
                <a:lnTo>
                  <a:pt x="1042416" y="366674"/>
                </a:lnTo>
                <a:lnTo>
                  <a:pt x="1053389" y="363931"/>
                </a:lnTo>
                <a:lnTo>
                  <a:pt x="1064362" y="366674"/>
                </a:lnTo>
                <a:lnTo>
                  <a:pt x="1075334" y="373990"/>
                </a:lnTo>
                <a:lnTo>
                  <a:pt x="1086307" y="386791"/>
                </a:lnTo>
                <a:lnTo>
                  <a:pt x="1097280" y="404165"/>
                </a:lnTo>
                <a:lnTo>
                  <a:pt x="1108253" y="425196"/>
                </a:lnTo>
                <a:lnTo>
                  <a:pt x="1119226" y="449885"/>
                </a:lnTo>
                <a:lnTo>
                  <a:pt x="1130198" y="475488"/>
                </a:lnTo>
                <a:lnTo>
                  <a:pt x="1141171" y="501091"/>
                </a:lnTo>
                <a:lnTo>
                  <a:pt x="1152144" y="525780"/>
                </a:lnTo>
                <a:lnTo>
                  <a:pt x="1163117" y="546811"/>
                </a:lnTo>
                <a:lnTo>
                  <a:pt x="1174090" y="564185"/>
                </a:lnTo>
                <a:lnTo>
                  <a:pt x="1185062" y="576072"/>
                </a:lnTo>
                <a:lnTo>
                  <a:pt x="1196035" y="583387"/>
                </a:lnTo>
                <a:lnTo>
                  <a:pt x="1207008" y="584302"/>
                </a:lnTo>
                <a:lnTo>
                  <a:pt x="1217981" y="579730"/>
                </a:lnTo>
                <a:lnTo>
                  <a:pt x="1228954" y="570586"/>
                </a:lnTo>
                <a:lnTo>
                  <a:pt x="1239926" y="556870"/>
                </a:lnTo>
                <a:lnTo>
                  <a:pt x="1250899" y="541325"/>
                </a:lnTo>
                <a:lnTo>
                  <a:pt x="1261872" y="524866"/>
                </a:lnTo>
                <a:lnTo>
                  <a:pt x="1272845" y="508406"/>
                </a:lnTo>
                <a:lnTo>
                  <a:pt x="1283818" y="493776"/>
                </a:lnTo>
                <a:lnTo>
                  <a:pt x="1294790" y="482803"/>
                </a:lnTo>
                <a:lnTo>
                  <a:pt x="1305763" y="475488"/>
                </a:lnTo>
                <a:lnTo>
                  <a:pt x="1316736" y="472745"/>
                </a:lnTo>
                <a:lnTo>
                  <a:pt x="1327709" y="475488"/>
                </a:lnTo>
                <a:lnTo>
                  <a:pt x="1338682" y="482803"/>
                </a:lnTo>
                <a:lnTo>
                  <a:pt x="1349654" y="495605"/>
                </a:lnTo>
                <a:lnTo>
                  <a:pt x="1360627" y="512064"/>
                </a:lnTo>
                <a:lnTo>
                  <a:pt x="1371600" y="530352"/>
                </a:lnTo>
                <a:lnTo>
                  <a:pt x="1382573" y="550469"/>
                </a:lnTo>
                <a:lnTo>
                  <a:pt x="1393546" y="570586"/>
                </a:lnTo>
                <a:lnTo>
                  <a:pt x="1404518" y="587959"/>
                </a:lnTo>
                <a:lnTo>
                  <a:pt x="1415491" y="603504"/>
                </a:lnTo>
                <a:lnTo>
                  <a:pt x="1426464" y="613562"/>
                </a:lnTo>
                <a:lnTo>
                  <a:pt x="1437437" y="619963"/>
                </a:lnTo>
                <a:lnTo>
                  <a:pt x="1448410" y="619963"/>
                </a:lnTo>
                <a:lnTo>
                  <a:pt x="1459382" y="613562"/>
                </a:lnTo>
                <a:lnTo>
                  <a:pt x="1470355" y="602590"/>
                </a:lnTo>
                <a:lnTo>
                  <a:pt x="1481328" y="587045"/>
                </a:lnTo>
                <a:lnTo>
                  <a:pt x="1492301" y="566928"/>
                </a:lnTo>
                <a:lnTo>
                  <a:pt x="1503274" y="544982"/>
                </a:lnTo>
                <a:lnTo>
                  <a:pt x="1514246" y="522122"/>
                </a:lnTo>
                <a:lnTo>
                  <a:pt x="1525219" y="499262"/>
                </a:lnTo>
                <a:lnTo>
                  <a:pt x="1536192" y="478231"/>
                </a:lnTo>
                <a:lnTo>
                  <a:pt x="1547165" y="460858"/>
                </a:lnTo>
                <a:lnTo>
                  <a:pt x="1558138" y="447142"/>
                </a:lnTo>
                <a:lnTo>
                  <a:pt x="1569110" y="438912"/>
                </a:lnTo>
                <a:lnTo>
                  <a:pt x="1580083" y="436169"/>
                </a:lnTo>
                <a:lnTo>
                  <a:pt x="1591056" y="437998"/>
                </a:lnTo>
                <a:lnTo>
                  <a:pt x="1602029" y="444398"/>
                </a:lnTo>
                <a:lnTo>
                  <a:pt x="1613002" y="454457"/>
                </a:lnTo>
                <a:lnTo>
                  <a:pt x="1623974" y="467258"/>
                </a:lnTo>
                <a:lnTo>
                  <a:pt x="1634947" y="481889"/>
                </a:lnTo>
                <a:lnTo>
                  <a:pt x="1645920" y="495605"/>
                </a:lnTo>
                <a:lnTo>
                  <a:pt x="1656893" y="507492"/>
                </a:lnTo>
                <a:lnTo>
                  <a:pt x="1667866" y="516636"/>
                </a:lnTo>
                <a:lnTo>
                  <a:pt x="1678838" y="521208"/>
                </a:lnTo>
                <a:lnTo>
                  <a:pt x="1689811" y="521208"/>
                </a:lnTo>
                <a:lnTo>
                  <a:pt x="1700784" y="515722"/>
                </a:lnTo>
                <a:lnTo>
                  <a:pt x="1711757" y="503834"/>
                </a:lnTo>
                <a:lnTo>
                  <a:pt x="1722730" y="487375"/>
                </a:lnTo>
                <a:lnTo>
                  <a:pt x="1733702" y="466344"/>
                </a:lnTo>
                <a:lnTo>
                  <a:pt x="1744675" y="441655"/>
                </a:lnTo>
                <a:lnTo>
                  <a:pt x="1755648" y="414223"/>
                </a:lnTo>
                <a:lnTo>
                  <a:pt x="1766621" y="386791"/>
                </a:lnTo>
                <a:lnTo>
                  <a:pt x="1777594" y="359359"/>
                </a:lnTo>
                <a:lnTo>
                  <a:pt x="1788566" y="334670"/>
                </a:lnTo>
                <a:lnTo>
                  <a:pt x="1799539" y="313639"/>
                </a:lnTo>
                <a:lnTo>
                  <a:pt x="1810512" y="297180"/>
                </a:lnTo>
                <a:lnTo>
                  <a:pt x="1821485" y="285293"/>
                </a:lnTo>
                <a:lnTo>
                  <a:pt x="1832458" y="278892"/>
                </a:lnTo>
                <a:lnTo>
                  <a:pt x="1843430" y="277978"/>
                </a:lnTo>
                <a:lnTo>
                  <a:pt x="1854403" y="282550"/>
                </a:lnTo>
                <a:lnTo>
                  <a:pt x="1865376" y="289865"/>
                </a:lnTo>
                <a:lnTo>
                  <a:pt x="1876349" y="299923"/>
                </a:lnTo>
                <a:lnTo>
                  <a:pt x="1887322" y="311810"/>
                </a:lnTo>
                <a:lnTo>
                  <a:pt x="1898294" y="322783"/>
                </a:lnTo>
                <a:lnTo>
                  <a:pt x="1909267" y="332842"/>
                </a:lnTo>
                <a:lnTo>
                  <a:pt x="1920240" y="339242"/>
                </a:lnTo>
                <a:lnTo>
                  <a:pt x="1931213" y="341986"/>
                </a:lnTo>
                <a:lnTo>
                  <a:pt x="1942186" y="340157"/>
                </a:lnTo>
                <a:lnTo>
                  <a:pt x="1953158" y="332842"/>
                </a:lnTo>
                <a:lnTo>
                  <a:pt x="1964131" y="319126"/>
                </a:lnTo>
                <a:lnTo>
                  <a:pt x="1975104" y="301752"/>
                </a:lnTo>
                <a:lnTo>
                  <a:pt x="1986077" y="279806"/>
                </a:lnTo>
                <a:lnTo>
                  <a:pt x="1997050" y="254203"/>
                </a:lnTo>
                <a:lnTo>
                  <a:pt x="2008022" y="226771"/>
                </a:lnTo>
                <a:lnTo>
                  <a:pt x="2018995" y="199339"/>
                </a:lnTo>
                <a:lnTo>
                  <a:pt x="2029968" y="172822"/>
                </a:lnTo>
                <a:lnTo>
                  <a:pt x="2040941" y="149047"/>
                </a:lnTo>
                <a:lnTo>
                  <a:pt x="2051914" y="128930"/>
                </a:lnTo>
                <a:lnTo>
                  <a:pt x="2062886" y="113386"/>
                </a:lnTo>
                <a:lnTo>
                  <a:pt x="2073859" y="103327"/>
                </a:lnTo>
                <a:lnTo>
                  <a:pt x="2084832" y="98755"/>
                </a:lnTo>
                <a:lnTo>
                  <a:pt x="2095805" y="99670"/>
                </a:lnTo>
                <a:lnTo>
                  <a:pt x="2106778" y="105156"/>
                </a:lnTo>
                <a:lnTo>
                  <a:pt x="2117750" y="115214"/>
                </a:lnTo>
                <a:lnTo>
                  <a:pt x="2128723" y="128016"/>
                </a:lnTo>
                <a:lnTo>
                  <a:pt x="2139696" y="141732"/>
                </a:lnTo>
                <a:lnTo>
                  <a:pt x="2150669" y="156362"/>
                </a:lnTo>
                <a:lnTo>
                  <a:pt x="2161642" y="168250"/>
                </a:lnTo>
                <a:lnTo>
                  <a:pt x="2172614" y="177394"/>
                </a:lnTo>
                <a:lnTo>
                  <a:pt x="2183587" y="182880"/>
                </a:lnTo>
                <a:lnTo>
                  <a:pt x="2194560" y="183794"/>
                </a:lnTo>
                <a:lnTo>
                  <a:pt x="2205533" y="179222"/>
                </a:lnTo>
                <a:lnTo>
                  <a:pt x="2216506" y="170078"/>
                </a:lnTo>
                <a:lnTo>
                  <a:pt x="2227478" y="155448"/>
                </a:lnTo>
                <a:lnTo>
                  <a:pt x="2238451" y="137160"/>
                </a:lnTo>
                <a:lnTo>
                  <a:pt x="2249424" y="115214"/>
                </a:lnTo>
                <a:lnTo>
                  <a:pt x="2260397" y="92354"/>
                </a:lnTo>
                <a:lnTo>
                  <a:pt x="2271370" y="69494"/>
                </a:lnTo>
                <a:lnTo>
                  <a:pt x="2282342" y="47549"/>
                </a:lnTo>
                <a:lnTo>
                  <a:pt x="2293315" y="29261"/>
                </a:lnTo>
                <a:lnTo>
                  <a:pt x="2304288" y="13716"/>
                </a:lnTo>
                <a:lnTo>
                  <a:pt x="2315261" y="4572"/>
                </a:lnTo>
                <a:lnTo>
                  <a:pt x="2326234" y="0"/>
                </a:lnTo>
                <a:lnTo>
                  <a:pt x="2337206" y="1829"/>
                </a:lnTo>
                <a:lnTo>
                  <a:pt x="2348179" y="9144"/>
                </a:lnTo>
                <a:lnTo>
                  <a:pt x="2359152" y="21031"/>
                </a:lnTo>
                <a:lnTo>
                  <a:pt x="2370125" y="37490"/>
                </a:lnTo>
                <a:lnTo>
                  <a:pt x="2381098" y="56693"/>
                </a:lnTo>
                <a:lnTo>
                  <a:pt x="2392070" y="76810"/>
                </a:lnTo>
                <a:lnTo>
                  <a:pt x="2403043" y="96926"/>
                </a:lnTo>
                <a:lnTo>
                  <a:pt x="2414016" y="116129"/>
                </a:lnTo>
                <a:lnTo>
                  <a:pt x="2424989" y="131674"/>
                </a:lnTo>
                <a:lnTo>
                  <a:pt x="2435962" y="143561"/>
                </a:lnTo>
                <a:lnTo>
                  <a:pt x="2446934" y="150876"/>
                </a:lnTo>
                <a:lnTo>
                  <a:pt x="2457907" y="153619"/>
                </a:lnTo>
                <a:lnTo>
                  <a:pt x="2468880" y="149962"/>
                </a:lnTo>
                <a:lnTo>
                  <a:pt x="2479853" y="142646"/>
                </a:lnTo>
                <a:lnTo>
                  <a:pt x="2490826" y="131674"/>
                </a:lnTo>
                <a:lnTo>
                  <a:pt x="2501798" y="117043"/>
                </a:lnTo>
                <a:lnTo>
                  <a:pt x="2512771" y="101498"/>
                </a:lnTo>
                <a:lnTo>
                  <a:pt x="2523744" y="85954"/>
                </a:lnTo>
                <a:lnTo>
                  <a:pt x="2534717" y="72238"/>
                </a:lnTo>
                <a:lnTo>
                  <a:pt x="2545690" y="60350"/>
                </a:lnTo>
                <a:lnTo>
                  <a:pt x="2556662" y="53950"/>
                </a:lnTo>
                <a:lnTo>
                  <a:pt x="2567635" y="52121"/>
                </a:lnTo>
                <a:lnTo>
                  <a:pt x="2578608" y="55778"/>
                </a:lnTo>
                <a:lnTo>
                  <a:pt x="2589581" y="64922"/>
                </a:lnTo>
                <a:lnTo>
                  <a:pt x="2600554" y="79553"/>
                </a:lnTo>
                <a:lnTo>
                  <a:pt x="2611526" y="98755"/>
                </a:lnTo>
                <a:lnTo>
                  <a:pt x="2622499" y="122530"/>
                </a:lnTo>
                <a:lnTo>
                  <a:pt x="2633472" y="149047"/>
                </a:lnTo>
                <a:lnTo>
                  <a:pt x="2644445" y="175565"/>
                </a:lnTo>
                <a:lnTo>
                  <a:pt x="2655418" y="202997"/>
                </a:lnTo>
                <a:lnTo>
                  <a:pt x="2666390" y="227686"/>
                </a:lnTo>
                <a:lnTo>
                  <a:pt x="2677363" y="249631"/>
                </a:lnTo>
                <a:lnTo>
                  <a:pt x="2688336" y="267919"/>
                </a:lnTo>
                <a:lnTo>
                  <a:pt x="2699309" y="280721"/>
                </a:lnTo>
                <a:lnTo>
                  <a:pt x="2710282" y="288036"/>
                </a:lnTo>
                <a:lnTo>
                  <a:pt x="2721254" y="290779"/>
                </a:lnTo>
                <a:lnTo>
                  <a:pt x="2732227" y="288950"/>
                </a:lnTo>
                <a:lnTo>
                  <a:pt x="2743200" y="282550"/>
                </a:lnTo>
                <a:lnTo>
                  <a:pt x="2754173" y="273406"/>
                </a:lnTo>
                <a:lnTo>
                  <a:pt x="2765146" y="262433"/>
                </a:lnTo>
                <a:lnTo>
                  <a:pt x="2776118" y="252374"/>
                </a:lnTo>
                <a:lnTo>
                  <a:pt x="2787091" y="243230"/>
                </a:lnTo>
                <a:lnTo>
                  <a:pt x="2798064" y="236830"/>
                </a:lnTo>
                <a:lnTo>
                  <a:pt x="2809037" y="235001"/>
                </a:lnTo>
                <a:lnTo>
                  <a:pt x="2820010" y="236830"/>
                </a:lnTo>
                <a:lnTo>
                  <a:pt x="2830982" y="245059"/>
                </a:lnTo>
                <a:lnTo>
                  <a:pt x="2841955" y="258775"/>
                </a:lnTo>
                <a:lnTo>
                  <a:pt x="2852928" y="277978"/>
                </a:lnTo>
                <a:lnTo>
                  <a:pt x="2863901" y="300838"/>
                </a:lnTo>
                <a:lnTo>
                  <a:pt x="2874874" y="328270"/>
                </a:lnTo>
                <a:lnTo>
                  <a:pt x="2885846" y="356616"/>
                </a:lnTo>
                <a:lnTo>
                  <a:pt x="2896819" y="386791"/>
                </a:lnTo>
                <a:lnTo>
                  <a:pt x="2907792" y="416052"/>
                </a:lnTo>
                <a:lnTo>
                  <a:pt x="2918765" y="443484"/>
                </a:lnTo>
                <a:lnTo>
                  <a:pt x="2929738" y="467258"/>
                </a:lnTo>
                <a:lnTo>
                  <a:pt x="2940710" y="486461"/>
                </a:lnTo>
                <a:lnTo>
                  <a:pt x="2951683" y="500177"/>
                </a:lnTo>
                <a:lnTo>
                  <a:pt x="2962656" y="508406"/>
                </a:lnTo>
                <a:lnTo>
                  <a:pt x="2973629" y="511150"/>
                </a:lnTo>
                <a:lnTo>
                  <a:pt x="2984602" y="509321"/>
                </a:lnTo>
                <a:lnTo>
                  <a:pt x="2995574" y="503834"/>
                </a:lnTo>
                <a:lnTo>
                  <a:pt x="3006547" y="494690"/>
                </a:lnTo>
                <a:lnTo>
                  <a:pt x="3017520" y="483718"/>
                </a:lnTo>
                <a:lnTo>
                  <a:pt x="3028493" y="472745"/>
                </a:lnTo>
                <a:lnTo>
                  <a:pt x="3039466" y="463601"/>
                </a:lnTo>
                <a:lnTo>
                  <a:pt x="3050438" y="457200"/>
                </a:lnTo>
                <a:lnTo>
                  <a:pt x="3061411" y="454457"/>
                </a:lnTo>
                <a:lnTo>
                  <a:pt x="3072384" y="456286"/>
                </a:lnTo>
                <a:lnTo>
                  <a:pt x="3083357" y="463601"/>
                </a:lnTo>
                <a:lnTo>
                  <a:pt x="3094330" y="475488"/>
                </a:lnTo>
                <a:lnTo>
                  <a:pt x="3105302" y="492862"/>
                </a:lnTo>
                <a:lnTo>
                  <a:pt x="3116275" y="513893"/>
                </a:lnTo>
                <a:lnTo>
                  <a:pt x="3127248" y="538582"/>
                </a:lnTo>
                <a:lnTo>
                  <a:pt x="3138221" y="565099"/>
                </a:lnTo>
                <a:lnTo>
                  <a:pt x="3149194" y="592531"/>
                </a:lnTo>
                <a:lnTo>
                  <a:pt x="3160166" y="618134"/>
                </a:lnTo>
                <a:lnTo>
                  <a:pt x="3171139" y="641909"/>
                </a:lnTo>
                <a:lnTo>
                  <a:pt x="3182112" y="662026"/>
                </a:lnTo>
                <a:lnTo>
                  <a:pt x="3193085" y="676656"/>
                </a:lnTo>
                <a:lnTo>
                  <a:pt x="3204058" y="685800"/>
                </a:lnTo>
                <a:lnTo>
                  <a:pt x="3215030" y="690372"/>
                </a:lnTo>
                <a:lnTo>
                  <a:pt x="3226003" y="688543"/>
                </a:lnTo>
                <a:lnTo>
                  <a:pt x="3236976" y="681228"/>
                </a:lnTo>
                <a:lnTo>
                  <a:pt x="3247949" y="670255"/>
                </a:lnTo>
                <a:lnTo>
                  <a:pt x="3258922" y="655625"/>
                </a:lnTo>
                <a:lnTo>
                  <a:pt x="3269894" y="640080"/>
                </a:lnTo>
                <a:lnTo>
                  <a:pt x="3280867" y="623621"/>
                </a:lnTo>
                <a:lnTo>
                  <a:pt x="3291840" y="608990"/>
                </a:lnTo>
                <a:lnTo>
                  <a:pt x="3302813" y="597103"/>
                </a:lnTo>
                <a:lnTo>
                  <a:pt x="3313786" y="588874"/>
                </a:lnTo>
                <a:lnTo>
                  <a:pt x="3324758" y="585216"/>
                </a:lnTo>
                <a:lnTo>
                  <a:pt x="3335731" y="586130"/>
                </a:lnTo>
                <a:lnTo>
                  <a:pt x="3346704" y="592531"/>
                </a:lnTo>
                <a:lnTo>
                  <a:pt x="3357677" y="603504"/>
                </a:lnTo>
                <a:lnTo>
                  <a:pt x="3368650" y="619049"/>
                </a:lnTo>
                <a:lnTo>
                  <a:pt x="3379622" y="637337"/>
                </a:lnTo>
                <a:lnTo>
                  <a:pt x="3390595" y="657454"/>
                </a:lnTo>
                <a:lnTo>
                  <a:pt x="3401568" y="677570"/>
                </a:lnTo>
                <a:lnTo>
                  <a:pt x="3412541" y="695858"/>
                </a:lnTo>
                <a:lnTo>
                  <a:pt x="3423514" y="712318"/>
                </a:lnTo>
                <a:lnTo>
                  <a:pt x="3434486" y="724205"/>
                </a:lnTo>
                <a:lnTo>
                  <a:pt x="3445459" y="731520"/>
                </a:lnTo>
                <a:lnTo>
                  <a:pt x="3456432" y="733349"/>
                </a:lnTo>
                <a:lnTo>
                  <a:pt x="3467405" y="728777"/>
                </a:lnTo>
                <a:lnTo>
                  <a:pt x="3478378" y="719633"/>
                </a:lnTo>
                <a:lnTo>
                  <a:pt x="3489350" y="704088"/>
                </a:lnTo>
                <a:lnTo>
                  <a:pt x="3500323" y="685800"/>
                </a:lnTo>
                <a:lnTo>
                  <a:pt x="3511296" y="663854"/>
                </a:lnTo>
                <a:lnTo>
                  <a:pt x="3522269" y="640080"/>
                </a:lnTo>
                <a:lnTo>
                  <a:pt x="3533242" y="617220"/>
                </a:lnTo>
                <a:lnTo>
                  <a:pt x="3544214" y="595274"/>
                </a:lnTo>
                <a:lnTo>
                  <a:pt x="3555187" y="576072"/>
                </a:lnTo>
                <a:lnTo>
                  <a:pt x="3566160" y="560527"/>
                </a:lnTo>
                <a:lnTo>
                  <a:pt x="3577133" y="550469"/>
                </a:lnTo>
                <a:lnTo>
                  <a:pt x="3588106" y="544982"/>
                </a:lnTo>
                <a:lnTo>
                  <a:pt x="3599078" y="544068"/>
                </a:lnTo>
                <a:lnTo>
                  <a:pt x="3610051" y="548640"/>
                </a:lnTo>
                <a:lnTo>
                  <a:pt x="3621024" y="557784"/>
                </a:lnTo>
                <a:lnTo>
                  <a:pt x="3631997" y="568757"/>
                </a:lnTo>
                <a:lnTo>
                  <a:pt x="3642970" y="582473"/>
                </a:lnTo>
                <a:lnTo>
                  <a:pt x="3653942" y="595274"/>
                </a:lnTo>
                <a:lnTo>
                  <a:pt x="3664915" y="608076"/>
                </a:lnTo>
                <a:lnTo>
                  <a:pt x="3675888" y="617220"/>
                </a:lnTo>
                <a:lnTo>
                  <a:pt x="3686861" y="622706"/>
                </a:lnTo>
                <a:lnTo>
                  <a:pt x="3697834" y="623621"/>
                </a:lnTo>
                <a:lnTo>
                  <a:pt x="3708806" y="619049"/>
                </a:lnTo>
                <a:lnTo>
                  <a:pt x="3719779" y="608990"/>
                </a:lnTo>
                <a:lnTo>
                  <a:pt x="3730752" y="592531"/>
                </a:lnTo>
                <a:lnTo>
                  <a:pt x="3741725" y="572414"/>
                </a:lnTo>
                <a:lnTo>
                  <a:pt x="3752698" y="547726"/>
                </a:lnTo>
                <a:lnTo>
                  <a:pt x="3763670" y="520294"/>
                </a:lnTo>
                <a:lnTo>
                  <a:pt x="3774643" y="491947"/>
                </a:lnTo>
                <a:lnTo>
                  <a:pt x="3785616" y="463601"/>
                </a:lnTo>
                <a:lnTo>
                  <a:pt x="3796589" y="437083"/>
                </a:lnTo>
                <a:lnTo>
                  <a:pt x="3807562" y="414223"/>
                </a:lnTo>
                <a:lnTo>
                  <a:pt x="3818534" y="395021"/>
                </a:lnTo>
                <a:lnTo>
                  <a:pt x="3829507" y="380390"/>
                </a:lnTo>
                <a:lnTo>
                  <a:pt x="3840480" y="372161"/>
                </a:lnTo>
                <a:lnTo>
                  <a:pt x="3851453" y="368503"/>
                </a:lnTo>
                <a:lnTo>
                  <a:pt x="3862426" y="369418"/>
                </a:lnTo>
                <a:lnTo>
                  <a:pt x="3873398" y="374904"/>
                </a:lnTo>
                <a:lnTo>
                  <a:pt x="3884371" y="384048"/>
                </a:lnTo>
                <a:lnTo>
                  <a:pt x="3895344" y="394106"/>
                </a:lnTo>
                <a:lnTo>
                  <a:pt x="3906317" y="405079"/>
                </a:lnTo>
                <a:lnTo>
                  <a:pt x="3917290" y="414223"/>
                </a:lnTo>
                <a:lnTo>
                  <a:pt x="3928262" y="421538"/>
                </a:lnTo>
                <a:lnTo>
                  <a:pt x="3939235" y="424282"/>
                </a:lnTo>
                <a:lnTo>
                  <a:pt x="3950208" y="423367"/>
                </a:lnTo>
                <a:lnTo>
                  <a:pt x="3961181" y="416966"/>
                </a:lnTo>
                <a:lnTo>
                  <a:pt x="3972154" y="404165"/>
                </a:lnTo>
                <a:lnTo>
                  <a:pt x="3983126" y="386791"/>
                </a:lnTo>
                <a:lnTo>
                  <a:pt x="3994099" y="365760"/>
                </a:lnTo>
                <a:lnTo>
                  <a:pt x="4005072" y="340157"/>
                </a:lnTo>
                <a:lnTo>
                  <a:pt x="4016045" y="312725"/>
                </a:lnTo>
                <a:lnTo>
                  <a:pt x="4027018" y="283464"/>
                </a:lnTo>
                <a:lnTo>
                  <a:pt x="4037990" y="256032"/>
                </a:lnTo>
                <a:lnTo>
                  <a:pt x="4048963" y="230429"/>
                </a:lnTo>
                <a:lnTo>
                  <a:pt x="4059936" y="207569"/>
                </a:lnTo>
                <a:lnTo>
                  <a:pt x="4070909" y="189281"/>
                </a:lnTo>
                <a:lnTo>
                  <a:pt x="4081882" y="176479"/>
                </a:lnTo>
                <a:lnTo>
                  <a:pt x="4092854" y="170078"/>
                </a:lnTo>
                <a:lnTo>
                  <a:pt x="4103827" y="168250"/>
                </a:lnTo>
                <a:lnTo>
                  <a:pt x="4114800" y="171907"/>
                </a:lnTo>
                <a:lnTo>
                  <a:pt x="4125773" y="179222"/>
                </a:lnTo>
                <a:lnTo>
                  <a:pt x="4136746" y="190195"/>
                </a:lnTo>
                <a:lnTo>
                  <a:pt x="4147718" y="202997"/>
                </a:lnTo>
                <a:lnTo>
                  <a:pt x="4158691" y="216713"/>
                </a:lnTo>
                <a:lnTo>
                  <a:pt x="4169664" y="228600"/>
                </a:lnTo>
                <a:lnTo>
                  <a:pt x="4180637" y="238658"/>
                </a:lnTo>
                <a:lnTo>
                  <a:pt x="4191610" y="245059"/>
                </a:lnTo>
                <a:lnTo>
                  <a:pt x="4202582" y="245974"/>
                </a:lnTo>
                <a:lnTo>
                  <a:pt x="4213555" y="243230"/>
                </a:lnTo>
                <a:lnTo>
                  <a:pt x="4224528" y="234086"/>
                </a:lnTo>
                <a:lnTo>
                  <a:pt x="4235501" y="220370"/>
                </a:lnTo>
                <a:lnTo>
                  <a:pt x="4246474" y="202997"/>
                </a:lnTo>
                <a:lnTo>
                  <a:pt x="4257446" y="181966"/>
                </a:lnTo>
                <a:lnTo>
                  <a:pt x="4268419" y="158191"/>
                </a:lnTo>
                <a:lnTo>
                  <a:pt x="4279392" y="134417"/>
                </a:lnTo>
                <a:lnTo>
                  <a:pt x="4290365" y="111557"/>
                </a:lnTo>
                <a:lnTo>
                  <a:pt x="4301338" y="91440"/>
                </a:lnTo>
                <a:lnTo>
                  <a:pt x="4312310" y="74066"/>
                </a:lnTo>
                <a:lnTo>
                  <a:pt x="4323283" y="62179"/>
                </a:lnTo>
                <a:lnTo>
                  <a:pt x="4334256" y="55778"/>
                </a:lnTo>
                <a:lnTo>
                  <a:pt x="4345229" y="53950"/>
                </a:lnTo>
                <a:lnTo>
                  <a:pt x="4356202" y="59436"/>
                </a:lnTo>
                <a:lnTo>
                  <a:pt x="4367174" y="68580"/>
                </a:lnTo>
                <a:lnTo>
                  <a:pt x="4378147" y="83210"/>
                </a:lnTo>
                <a:lnTo>
                  <a:pt x="4389120" y="100584"/>
                </a:lnTo>
                <a:lnTo>
                  <a:pt x="4400093" y="119786"/>
                </a:lnTo>
                <a:lnTo>
                  <a:pt x="4411066" y="138989"/>
                </a:lnTo>
                <a:lnTo>
                  <a:pt x="4422038" y="158191"/>
                </a:lnTo>
                <a:lnTo>
                  <a:pt x="4433011" y="173736"/>
                </a:lnTo>
                <a:lnTo>
                  <a:pt x="4443984" y="186538"/>
                </a:lnTo>
                <a:lnTo>
                  <a:pt x="4454957" y="193853"/>
                </a:lnTo>
                <a:lnTo>
                  <a:pt x="4465930" y="197510"/>
                </a:lnTo>
                <a:lnTo>
                  <a:pt x="4476902" y="194767"/>
                </a:lnTo>
                <a:lnTo>
                  <a:pt x="4487875" y="187452"/>
                </a:lnTo>
                <a:lnTo>
                  <a:pt x="4498848" y="176479"/>
                </a:lnTo>
                <a:lnTo>
                  <a:pt x="4509821" y="161849"/>
                </a:lnTo>
                <a:lnTo>
                  <a:pt x="4520794" y="145390"/>
                </a:lnTo>
                <a:lnTo>
                  <a:pt x="4531766" y="128930"/>
                </a:lnTo>
                <a:lnTo>
                  <a:pt x="4542739" y="112471"/>
                </a:lnTo>
                <a:lnTo>
                  <a:pt x="4553712" y="99670"/>
                </a:lnTo>
                <a:lnTo>
                  <a:pt x="4564685" y="89611"/>
                </a:lnTo>
                <a:lnTo>
                  <a:pt x="4575658" y="85039"/>
                </a:lnTo>
                <a:lnTo>
                  <a:pt x="4586630" y="85954"/>
                </a:lnTo>
                <a:lnTo>
                  <a:pt x="4597603" y="92354"/>
                </a:lnTo>
                <a:lnTo>
                  <a:pt x="4608576" y="104242"/>
                </a:lnTo>
                <a:lnTo>
                  <a:pt x="4619549" y="120701"/>
                </a:lnTo>
                <a:lnTo>
                  <a:pt x="4630522" y="141732"/>
                </a:lnTo>
                <a:lnTo>
                  <a:pt x="4641494" y="166421"/>
                </a:lnTo>
                <a:lnTo>
                  <a:pt x="4652467" y="192024"/>
                </a:lnTo>
                <a:lnTo>
                  <a:pt x="4663440" y="218542"/>
                </a:lnTo>
                <a:lnTo>
                  <a:pt x="4674413" y="242316"/>
                </a:lnTo>
                <a:lnTo>
                  <a:pt x="4685386" y="264262"/>
                </a:lnTo>
                <a:lnTo>
                  <a:pt x="4696358" y="282550"/>
                </a:lnTo>
                <a:lnTo>
                  <a:pt x="4707331" y="296266"/>
                </a:lnTo>
                <a:lnTo>
                  <a:pt x="4718304" y="304495"/>
                </a:lnTo>
                <a:lnTo>
                  <a:pt x="4729277" y="307238"/>
                </a:lnTo>
                <a:lnTo>
                  <a:pt x="4740250" y="304495"/>
                </a:lnTo>
                <a:lnTo>
                  <a:pt x="4751222" y="298094"/>
                </a:lnTo>
                <a:lnTo>
                  <a:pt x="4762195" y="288950"/>
                </a:lnTo>
                <a:lnTo>
                  <a:pt x="4773168" y="277063"/>
                </a:lnTo>
                <a:lnTo>
                  <a:pt x="4784141" y="265176"/>
                </a:lnTo>
                <a:lnTo>
                  <a:pt x="4795114" y="254203"/>
                </a:lnTo>
                <a:lnTo>
                  <a:pt x="4806086" y="245974"/>
                </a:lnTo>
                <a:lnTo>
                  <a:pt x="4817059" y="240487"/>
                </a:lnTo>
                <a:lnTo>
                  <a:pt x="4828032" y="240487"/>
                </a:lnTo>
                <a:lnTo>
                  <a:pt x="4839005" y="245059"/>
                </a:lnTo>
                <a:lnTo>
                  <a:pt x="4849978" y="255118"/>
                </a:lnTo>
                <a:lnTo>
                  <a:pt x="4860950" y="270662"/>
                </a:lnTo>
                <a:lnTo>
                  <a:pt x="4871923" y="291694"/>
                </a:lnTo>
                <a:lnTo>
                  <a:pt x="4882896" y="316382"/>
                </a:lnTo>
                <a:lnTo>
                  <a:pt x="4893869" y="342900"/>
                </a:lnTo>
                <a:lnTo>
                  <a:pt x="4904842" y="372161"/>
                </a:lnTo>
                <a:lnTo>
                  <a:pt x="4915814" y="399593"/>
                </a:lnTo>
                <a:lnTo>
                  <a:pt x="4926787" y="427025"/>
                </a:lnTo>
                <a:lnTo>
                  <a:pt x="4937760" y="449885"/>
                </a:lnTo>
                <a:lnTo>
                  <a:pt x="4948733" y="470002"/>
                </a:lnTo>
                <a:lnTo>
                  <a:pt x="4959706" y="483718"/>
                </a:lnTo>
                <a:lnTo>
                  <a:pt x="4970678" y="492862"/>
                </a:lnTo>
                <a:lnTo>
                  <a:pt x="4981651" y="496519"/>
                </a:lnTo>
                <a:lnTo>
                  <a:pt x="4992624" y="494690"/>
                </a:lnTo>
                <a:lnTo>
                  <a:pt x="5003597" y="489204"/>
                </a:lnTo>
                <a:lnTo>
                  <a:pt x="5014570" y="479146"/>
                </a:lnTo>
                <a:lnTo>
                  <a:pt x="5025542" y="468173"/>
                </a:lnTo>
              </a:path>
            </a:pathLst>
          </a:custGeom>
          <a:noFill/>
          <a:ln w="34925">
            <a:solidFill>
              <a:srgbClr val="00A8AA"/>
            </a:solidFill>
            <a:prstDash val="solid"/>
          </a:ln>
        </p:spPr>
      </p:sp>
      <p:sp>
        <p:nvSpPr>
          <p:cNvPr id="16" name="Text 14"/>
          <p:cNvSpPr txBox="1"/>
          <p:nvPr/>
        </p:nvSpPr>
        <p:spPr>
          <a:xfrm>
            <a:off x="6126480" y="3611880"/>
            <a:ext cx="5559552" cy="914400"/>
          </a:xfrm>
          <a:prstGeom prst="rect">
            <a:avLst/>
          </a:prstGeom>
          <a:noFill/>
          <a:ln/>
        </p:spPr>
        <p:txBody>
          <a:bodyPr wrap="square" lIns="0" tIns="0" rIns="0" bIns="0" rtlCol="0" anchor="ctr"/>
          <a:lstStyle/>
          <a:p>
            <a:pPr algn="l" indent="0" marL="0">
              <a:buNone/>
            </a:pPr>
            <a:r>
              <a:rPr lang="ja-JP" altLang="en-US" sz="2400" b="1" dirty="0">
                <a:solidFill>
                  <a:srgbClr val="00A8AA"/>
                </a:solidFill>
                <a:latin typeface="メイリオ" pitchFamily="34" charset="0"/>
                <a:ea typeface="メイリオ" pitchFamily="34" charset="-122"/>
                <a:cs typeface="メイリオ" pitchFamily="34" charset="-120"/>
              </a:rPr>
              <a:t>全身麻酔：</a:t>
            </a:r>
            <a:r>
              <a:rPr lang="ja-JP" altLang="en-US" sz="2400" dirty="0">
                <a:solidFill>
                  <a:srgbClr val="262626"/>
                </a:solidFill>
                <a:latin typeface="メイリオ" pitchFamily="34" charset="0"/>
                <a:ea typeface="メイリオ" pitchFamily="34" charset="-122"/>
                <a:cs typeface="メイリオ" pitchFamily="34" charset="-120"/>
              </a:rPr>
              <a:t>前頭部の α</a:t>
            </a:r>
            <a:endParaRPr lang="ja-JP" sz="2400" dirty="0"/>
          </a:p>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 ゆっくり大きい δ</a:t>
            </a:r>
            <a:endParaRPr lang="ja-JP" sz="2400" dirty="0"/>
          </a:p>
        </p:txBody>
      </p:sp>
      <p:sp>
        <p:nvSpPr>
          <p:cNvPr id="17" name="Shape 15"/>
          <p:cNvSpPr/>
          <p:nvPr/>
        </p:nvSpPr>
        <p:spPr>
          <a:xfrm>
            <a:off x="685800" y="4823460"/>
            <a:ext cx="5025542" cy="515722"/>
          </a:xfrm>
          <a:custGeom>
            <a:avLst/>
            <a:gdLst/>
            <a:ahLst/>
            <a:cxnLst/>
            <a:rect l="l" t="t" r="r" b="b"/>
            <a:pathLst>
              <a:path w="5025542" h="515722">
                <a:moveTo>
                  <a:pt x="0" y="244145"/>
                </a:moveTo>
                <a:lnTo>
                  <a:pt x="10973" y="244145"/>
                </a:lnTo>
                <a:lnTo>
                  <a:pt x="21946" y="245974"/>
                </a:lnTo>
                <a:lnTo>
                  <a:pt x="32918" y="247802"/>
                </a:lnTo>
                <a:lnTo>
                  <a:pt x="43891" y="249631"/>
                </a:lnTo>
                <a:lnTo>
                  <a:pt x="54864" y="250546"/>
                </a:lnTo>
                <a:lnTo>
                  <a:pt x="65837" y="251460"/>
                </a:lnTo>
                <a:lnTo>
                  <a:pt x="76810" y="250546"/>
                </a:lnTo>
                <a:lnTo>
                  <a:pt x="87782" y="250546"/>
                </a:lnTo>
                <a:lnTo>
                  <a:pt x="98755" y="249631"/>
                </a:lnTo>
                <a:lnTo>
                  <a:pt x="109728" y="248717"/>
                </a:lnTo>
                <a:lnTo>
                  <a:pt x="120701" y="248717"/>
                </a:lnTo>
                <a:lnTo>
                  <a:pt x="131674" y="248717"/>
                </a:lnTo>
                <a:lnTo>
                  <a:pt x="142646" y="248717"/>
                </a:lnTo>
                <a:lnTo>
                  <a:pt x="153619" y="249631"/>
                </a:lnTo>
                <a:lnTo>
                  <a:pt x="164592" y="249631"/>
                </a:lnTo>
                <a:lnTo>
                  <a:pt x="175565" y="250546"/>
                </a:lnTo>
                <a:lnTo>
                  <a:pt x="186538" y="250546"/>
                </a:lnTo>
                <a:lnTo>
                  <a:pt x="197510" y="250546"/>
                </a:lnTo>
                <a:lnTo>
                  <a:pt x="208483" y="248717"/>
                </a:lnTo>
                <a:lnTo>
                  <a:pt x="219456" y="246888"/>
                </a:lnTo>
                <a:lnTo>
                  <a:pt x="230429" y="245059"/>
                </a:lnTo>
                <a:lnTo>
                  <a:pt x="241402" y="244145"/>
                </a:lnTo>
                <a:lnTo>
                  <a:pt x="252374" y="244145"/>
                </a:lnTo>
                <a:lnTo>
                  <a:pt x="263347" y="244145"/>
                </a:lnTo>
                <a:lnTo>
                  <a:pt x="274320" y="245974"/>
                </a:lnTo>
                <a:lnTo>
                  <a:pt x="285293" y="247802"/>
                </a:lnTo>
                <a:lnTo>
                  <a:pt x="296266" y="249631"/>
                </a:lnTo>
                <a:lnTo>
                  <a:pt x="307238" y="251460"/>
                </a:lnTo>
                <a:lnTo>
                  <a:pt x="318211" y="251460"/>
                </a:lnTo>
                <a:lnTo>
                  <a:pt x="329184" y="250546"/>
                </a:lnTo>
                <a:lnTo>
                  <a:pt x="340157" y="247802"/>
                </a:lnTo>
                <a:lnTo>
                  <a:pt x="351130" y="245974"/>
                </a:lnTo>
                <a:lnTo>
                  <a:pt x="362102" y="244145"/>
                </a:lnTo>
                <a:lnTo>
                  <a:pt x="373075" y="242316"/>
                </a:lnTo>
                <a:lnTo>
                  <a:pt x="384048" y="242316"/>
                </a:lnTo>
                <a:lnTo>
                  <a:pt x="395021" y="244145"/>
                </a:lnTo>
                <a:lnTo>
                  <a:pt x="405994" y="246888"/>
                </a:lnTo>
                <a:lnTo>
                  <a:pt x="416966" y="249631"/>
                </a:lnTo>
                <a:lnTo>
                  <a:pt x="427939" y="251460"/>
                </a:lnTo>
                <a:lnTo>
                  <a:pt x="438912" y="252374"/>
                </a:lnTo>
                <a:lnTo>
                  <a:pt x="449885" y="253289"/>
                </a:lnTo>
                <a:lnTo>
                  <a:pt x="460858" y="255118"/>
                </a:lnTo>
                <a:lnTo>
                  <a:pt x="471830" y="256946"/>
                </a:lnTo>
                <a:lnTo>
                  <a:pt x="482803" y="258775"/>
                </a:lnTo>
                <a:lnTo>
                  <a:pt x="493776" y="260604"/>
                </a:lnTo>
                <a:lnTo>
                  <a:pt x="504749" y="260604"/>
                </a:lnTo>
                <a:lnTo>
                  <a:pt x="515722" y="256946"/>
                </a:lnTo>
                <a:lnTo>
                  <a:pt x="526694" y="246888"/>
                </a:lnTo>
                <a:lnTo>
                  <a:pt x="537667" y="234086"/>
                </a:lnTo>
                <a:lnTo>
                  <a:pt x="548640" y="219456"/>
                </a:lnTo>
                <a:lnTo>
                  <a:pt x="559613" y="204826"/>
                </a:lnTo>
                <a:lnTo>
                  <a:pt x="570586" y="192938"/>
                </a:lnTo>
                <a:lnTo>
                  <a:pt x="581558" y="181966"/>
                </a:lnTo>
                <a:lnTo>
                  <a:pt x="592531" y="172822"/>
                </a:lnTo>
                <a:lnTo>
                  <a:pt x="603504" y="166421"/>
                </a:lnTo>
                <a:lnTo>
                  <a:pt x="614477" y="164592"/>
                </a:lnTo>
                <a:lnTo>
                  <a:pt x="625450" y="166421"/>
                </a:lnTo>
                <a:lnTo>
                  <a:pt x="636422" y="172822"/>
                </a:lnTo>
                <a:lnTo>
                  <a:pt x="647395" y="183794"/>
                </a:lnTo>
                <a:lnTo>
                  <a:pt x="658368" y="197510"/>
                </a:lnTo>
                <a:lnTo>
                  <a:pt x="669341" y="213055"/>
                </a:lnTo>
                <a:lnTo>
                  <a:pt x="680314" y="226771"/>
                </a:lnTo>
                <a:lnTo>
                  <a:pt x="691286" y="236830"/>
                </a:lnTo>
                <a:lnTo>
                  <a:pt x="702259" y="243230"/>
                </a:lnTo>
                <a:lnTo>
                  <a:pt x="713232" y="245059"/>
                </a:lnTo>
                <a:lnTo>
                  <a:pt x="724205" y="240487"/>
                </a:lnTo>
                <a:lnTo>
                  <a:pt x="735178" y="231343"/>
                </a:lnTo>
                <a:lnTo>
                  <a:pt x="746150" y="214884"/>
                </a:lnTo>
                <a:lnTo>
                  <a:pt x="757123" y="193853"/>
                </a:lnTo>
                <a:lnTo>
                  <a:pt x="768096" y="166421"/>
                </a:lnTo>
                <a:lnTo>
                  <a:pt x="779069" y="133502"/>
                </a:lnTo>
                <a:lnTo>
                  <a:pt x="790042" y="99670"/>
                </a:lnTo>
                <a:lnTo>
                  <a:pt x="801014" y="66751"/>
                </a:lnTo>
                <a:lnTo>
                  <a:pt x="811987" y="38405"/>
                </a:lnTo>
                <a:lnTo>
                  <a:pt x="822960" y="16459"/>
                </a:lnTo>
                <a:lnTo>
                  <a:pt x="833933" y="3658"/>
                </a:lnTo>
                <a:lnTo>
                  <a:pt x="844906" y="0"/>
                </a:lnTo>
                <a:lnTo>
                  <a:pt x="855878" y="6401"/>
                </a:lnTo>
                <a:lnTo>
                  <a:pt x="866851" y="22860"/>
                </a:lnTo>
                <a:lnTo>
                  <a:pt x="877824" y="48463"/>
                </a:lnTo>
                <a:lnTo>
                  <a:pt x="888797" y="82296"/>
                </a:lnTo>
                <a:lnTo>
                  <a:pt x="899770" y="124358"/>
                </a:lnTo>
                <a:lnTo>
                  <a:pt x="910742" y="172822"/>
                </a:lnTo>
                <a:lnTo>
                  <a:pt x="921715" y="225857"/>
                </a:lnTo>
                <a:lnTo>
                  <a:pt x="932688" y="279806"/>
                </a:lnTo>
                <a:lnTo>
                  <a:pt x="943661" y="331013"/>
                </a:lnTo>
                <a:lnTo>
                  <a:pt x="954634" y="378562"/>
                </a:lnTo>
                <a:lnTo>
                  <a:pt x="965606" y="418795"/>
                </a:lnTo>
                <a:lnTo>
                  <a:pt x="976579" y="449885"/>
                </a:lnTo>
                <a:lnTo>
                  <a:pt x="987552" y="471830"/>
                </a:lnTo>
                <a:lnTo>
                  <a:pt x="998525" y="481889"/>
                </a:lnTo>
                <a:lnTo>
                  <a:pt x="1009498" y="481889"/>
                </a:lnTo>
                <a:lnTo>
                  <a:pt x="1020470" y="469087"/>
                </a:lnTo>
                <a:lnTo>
                  <a:pt x="1031443" y="446227"/>
                </a:lnTo>
                <a:lnTo>
                  <a:pt x="1042416" y="416052"/>
                </a:lnTo>
                <a:lnTo>
                  <a:pt x="1053389" y="380390"/>
                </a:lnTo>
                <a:lnTo>
                  <a:pt x="1064362" y="341986"/>
                </a:lnTo>
                <a:lnTo>
                  <a:pt x="1075334" y="305410"/>
                </a:lnTo>
                <a:lnTo>
                  <a:pt x="1086307" y="271577"/>
                </a:lnTo>
                <a:lnTo>
                  <a:pt x="1097280" y="241402"/>
                </a:lnTo>
                <a:lnTo>
                  <a:pt x="1108253" y="219456"/>
                </a:lnTo>
                <a:lnTo>
                  <a:pt x="1119226" y="205740"/>
                </a:lnTo>
                <a:lnTo>
                  <a:pt x="1130198" y="201168"/>
                </a:lnTo>
                <a:lnTo>
                  <a:pt x="1141171" y="207569"/>
                </a:lnTo>
                <a:lnTo>
                  <a:pt x="1152144" y="223114"/>
                </a:lnTo>
                <a:lnTo>
                  <a:pt x="1163117" y="247802"/>
                </a:lnTo>
                <a:lnTo>
                  <a:pt x="1174090" y="278892"/>
                </a:lnTo>
                <a:lnTo>
                  <a:pt x="1185062" y="312725"/>
                </a:lnTo>
                <a:lnTo>
                  <a:pt x="1196035" y="346558"/>
                </a:lnTo>
                <a:lnTo>
                  <a:pt x="1207008" y="378562"/>
                </a:lnTo>
                <a:lnTo>
                  <a:pt x="1217981" y="408737"/>
                </a:lnTo>
                <a:lnTo>
                  <a:pt x="1228954" y="432511"/>
                </a:lnTo>
                <a:lnTo>
                  <a:pt x="1239926" y="449885"/>
                </a:lnTo>
                <a:lnTo>
                  <a:pt x="1250899" y="459029"/>
                </a:lnTo>
                <a:lnTo>
                  <a:pt x="1261872" y="459943"/>
                </a:lnTo>
                <a:lnTo>
                  <a:pt x="1272845" y="450799"/>
                </a:lnTo>
                <a:lnTo>
                  <a:pt x="1283818" y="433426"/>
                </a:lnTo>
                <a:lnTo>
                  <a:pt x="1294790" y="407822"/>
                </a:lnTo>
                <a:lnTo>
                  <a:pt x="1305763" y="377647"/>
                </a:lnTo>
                <a:lnTo>
                  <a:pt x="1316736" y="344729"/>
                </a:lnTo>
                <a:lnTo>
                  <a:pt x="1327709" y="310896"/>
                </a:lnTo>
                <a:lnTo>
                  <a:pt x="1338682" y="277978"/>
                </a:lnTo>
                <a:lnTo>
                  <a:pt x="1349654" y="247802"/>
                </a:lnTo>
                <a:lnTo>
                  <a:pt x="1360627" y="222199"/>
                </a:lnTo>
                <a:lnTo>
                  <a:pt x="1371600" y="200254"/>
                </a:lnTo>
                <a:lnTo>
                  <a:pt x="1382573" y="184709"/>
                </a:lnTo>
                <a:lnTo>
                  <a:pt x="1393546" y="173736"/>
                </a:lnTo>
                <a:lnTo>
                  <a:pt x="1404518" y="168250"/>
                </a:lnTo>
                <a:lnTo>
                  <a:pt x="1415491" y="169164"/>
                </a:lnTo>
                <a:lnTo>
                  <a:pt x="1426464" y="174650"/>
                </a:lnTo>
                <a:lnTo>
                  <a:pt x="1437437" y="183794"/>
                </a:lnTo>
                <a:lnTo>
                  <a:pt x="1448410" y="195682"/>
                </a:lnTo>
                <a:lnTo>
                  <a:pt x="1459382" y="210312"/>
                </a:lnTo>
                <a:lnTo>
                  <a:pt x="1470355" y="224028"/>
                </a:lnTo>
                <a:lnTo>
                  <a:pt x="1481328" y="237744"/>
                </a:lnTo>
                <a:lnTo>
                  <a:pt x="1492301" y="248717"/>
                </a:lnTo>
                <a:lnTo>
                  <a:pt x="1503274" y="256032"/>
                </a:lnTo>
                <a:lnTo>
                  <a:pt x="1514246" y="260604"/>
                </a:lnTo>
                <a:lnTo>
                  <a:pt x="1525219" y="261518"/>
                </a:lnTo>
                <a:lnTo>
                  <a:pt x="1536192" y="259690"/>
                </a:lnTo>
                <a:lnTo>
                  <a:pt x="1547165" y="256032"/>
                </a:lnTo>
                <a:lnTo>
                  <a:pt x="1558138" y="253289"/>
                </a:lnTo>
                <a:lnTo>
                  <a:pt x="1569110" y="252374"/>
                </a:lnTo>
                <a:lnTo>
                  <a:pt x="1580083" y="252374"/>
                </a:lnTo>
                <a:lnTo>
                  <a:pt x="1591056" y="252374"/>
                </a:lnTo>
                <a:lnTo>
                  <a:pt x="1602029" y="254203"/>
                </a:lnTo>
                <a:lnTo>
                  <a:pt x="1613002" y="255118"/>
                </a:lnTo>
                <a:lnTo>
                  <a:pt x="1623974" y="255118"/>
                </a:lnTo>
                <a:lnTo>
                  <a:pt x="1634947" y="256032"/>
                </a:lnTo>
                <a:lnTo>
                  <a:pt x="1645920" y="256032"/>
                </a:lnTo>
                <a:lnTo>
                  <a:pt x="1656893" y="257861"/>
                </a:lnTo>
                <a:lnTo>
                  <a:pt x="1667866" y="258775"/>
                </a:lnTo>
                <a:lnTo>
                  <a:pt x="1678838" y="260604"/>
                </a:lnTo>
                <a:lnTo>
                  <a:pt x="1689811" y="261518"/>
                </a:lnTo>
                <a:lnTo>
                  <a:pt x="1700784" y="261518"/>
                </a:lnTo>
                <a:lnTo>
                  <a:pt x="1711757" y="258775"/>
                </a:lnTo>
                <a:lnTo>
                  <a:pt x="1722730" y="255118"/>
                </a:lnTo>
                <a:lnTo>
                  <a:pt x="1733702" y="250546"/>
                </a:lnTo>
                <a:lnTo>
                  <a:pt x="1744675" y="246888"/>
                </a:lnTo>
                <a:lnTo>
                  <a:pt x="1755648" y="244145"/>
                </a:lnTo>
                <a:lnTo>
                  <a:pt x="1766621" y="244145"/>
                </a:lnTo>
                <a:lnTo>
                  <a:pt x="1777594" y="246888"/>
                </a:lnTo>
                <a:lnTo>
                  <a:pt x="1788566" y="249631"/>
                </a:lnTo>
                <a:lnTo>
                  <a:pt x="1799539" y="254203"/>
                </a:lnTo>
                <a:lnTo>
                  <a:pt x="1810512" y="256946"/>
                </a:lnTo>
                <a:lnTo>
                  <a:pt x="1821485" y="258775"/>
                </a:lnTo>
                <a:lnTo>
                  <a:pt x="1832458" y="258775"/>
                </a:lnTo>
                <a:lnTo>
                  <a:pt x="1843430" y="259690"/>
                </a:lnTo>
                <a:lnTo>
                  <a:pt x="1854403" y="259690"/>
                </a:lnTo>
                <a:lnTo>
                  <a:pt x="1865376" y="260604"/>
                </a:lnTo>
                <a:lnTo>
                  <a:pt x="1876349" y="261518"/>
                </a:lnTo>
                <a:lnTo>
                  <a:pt x="1887322" y="261518"/>
                </a:lnTo>
                <a:lnTo>
                  <a:pt x="1898294" y="260604"/>
                </a:lnTo>
                <a:lnTo>
                  <a:pt x="1909267" y="257861"/>
                </a:lnTo>
                <a:lnTo>
                  <a:pt x="1920240" y="254203"/>
                </a:lnTo>
                <a:lnTo>
                  <a:pt x="1931213" y="250546"/>
                </a:lnTo>
                <a:lnTo>
                  <a:pt x="1942186" y="248717"/>
                </a:lnTo>
                <a:lnTo>
                  <a:pt x="1953158" y="247802"/>
                </a:lnTo>
                <a:lnTo>
                  <a:pt x="1964131" y="248717"/>
                </a:lnTo>
                <a:lnTo>
                  <a:pt x="1975104" y="249631"/>
                </a:lnTo>
                <a:lnTo>
                  <a:pt x="1986077" y="250546"/>
                </a:lnTo>
                <a:lnTo>
                  <a:pt x="1997050" y="251460"/>
                </a:lnTo>
                <a:lnTo>
                  <a:pt x="2008022" y="251460"/>
                </a:lnTo>
                <a:lnTo>
                  <a:pt x="2018995" y="251460"/>
                </a:lnTo>
                <a:lnTo>
                  <a:pt x="2029968" y="251460"/>
                </a:lnTo>
                <a:lnTo>
                  <a:pt x="2040941" y="251460"/>
                </a:lnTo>
                <a:lnTo>
                  <a:pt x="2051914" y="251460"/>
                </a:lnTo>
                <a:lnTo>
                  <a:pt x="2062886" y="251460"/>
                </a:lnTo>
                <a:lnTo>
                  <a:pt x="2073859" y="251460"/>
                </a:lnTo>
                <a:lnTo>
                  <a:pt x="2084832" y="251460"/>
                </a:lnTo>
                <a:lnTo>
                  <a:pt x="2095805" y="249631"/>
                </a:lnTo>
                <a:lnTo>
                  <a:pt x="2106778" y="248717"/>
                </a:lnTo>
                <a:lnTo>
                  <a:pt x="2117750" y="246888"/>
                </a:lnTo>
                <a:lnTo>
                  <a:pt x="2128723" y="245974"/>
                </a:lnTo>
                <a:lnTo>
                  <a:pt x="2139696" y="245974"/>
                </a:lnTo>
                <a:lnTo>
                  <a:pt x="2150669" y="246888"/>
                </a:lnTo>
                <a:lnTo>
                  <a:pt x="2161642" y="249631"/>
                </a:lnTo>
                <a:lnTo>
                  <a:pt x="2172614" y="252374"/>
                </a:lnTo>
                <a:lnTo>
                  <a:pt x="2183587" y="256032"/>
                </a:lnTo>
                <a:lnTo>
                  <a:pt x="2194560" y="256946"/>
                </a:lnTo>
                <a:lnTo>
                  <a:pt x="2205533" y="257861"/>
                </a:lnTo>
                <a:lnTo>
                  <a:pt x="2216506" y="256032"/>
                </a:lnTo>
                <a:lnTo>
                  <a:pt x="2227478" y="253289"/>
                </a:lnTo>
                <a:lnTo>
                  <a:pt x="2238451" y="250546"/>
                </a:lnTo>
                <a:lnTo>
                  <a:pt x="2249424" y="247802"/>
                </a:lnTo>
                <a:lnTo>
                  <a:pt x="2260397" y="246888"/>
                </a:lnTo>
                <a:lnTo>
                  <a:pt x="2271370" y="246888"/>
                </a:lnTo>
                <a:lnTo>
                  <a:pt x="2282342" y="247802"/>
                </a:lnTo>
                <a:lnTo>
                  <a:pt x="2293315" y="249631"/>
                </a:lnTo>
                <a:lnTo>
                  <a:pt x="2304288" y="250546"/>
                </a:lnTo>
                <a:lnTo>
                  <a:pt x="2315261" y="252374"/>
                </a:lnTo>
                <a:lnTo>
                  <a:pt x="2326234" y="252374"/>
                </a:lnTo>
                <a:lnTo>
                  <a:pt x="2337206" y="252374"/>
                </a:lnTo>
                <a:lnTo>
                  <a:pt x="2348179" y="251460"/>
                </a:lnTo>
                <a:lnTo>
                  <a:pt x="2359152" y="251460"/>
                </a:lnTo>
                <a:lnTo>
                  <a:pt x="2370125" y="250546"/>
                </a:lnTo>
                <a:lnTo>
                  <a:pt x="2381098" y="250546"/>
                </a:lnTo>
                <a:lnTo>
                  <a:pt x="2392070" y="250546"/>
                </a:lnTo>
                <a:lnTo>
                  <a:pt x="2403043" y="251460"/>
                </a:lnTo>
                <a:lnTo>
                  <a:pt x="2414016" y="253289"/>
                </a:lnTo>
                <a:lnTo>
                  <a:pt x="2424989" y="255118"/>
                </a:lnTo>
                <a:lnTo>
                  <a:pt x="2435962" y="256946"/>
                </a:lnTo>
                <a:lnTo>
                  <a:pt x="2446934" y="258775"/>
                </a:lnTo>
                <a:lnTo>
                  <a:pt x="2457907" y="258775"/>
                </a:lnTo>
                <a:lnTo>
                  <a:pt x="2468880" y="258775"/>
                </a:lnTo>
                <a:lnTo>
                  <a:pt x="2479853" y="258775"/>
                </a:lnTo>
                <a:lnTo>
                  <a:pt x="2490826" y="257861"/>
                </a:lnTo>
                <a:lnTo>
                  <a:pt x="2501798" y="257861"/>
                </a:lnTo>
                <a:lnTo>
                  <a:pt x="2512771" y="257861"/>
                </a:lnTo>
                <a:lnTo>
                  <a:pt x="2523744" y="257861"/>
                </a:lnTo>
                <a:lnTo>
                  <a:pt x="2534717" y="255118"/>
                </a:lnTo>
                <a:lnTo>
                  <a:pt x="2545690" y="252374"/>
                </a:lnTo>
                <a:lnTo>
                  <a:pt x="2556662" y="249631"/>
                </a:lnTo>
                <a:lnTo>
                  <a:pt x="2567635" y="247802"/>
                </a:lnTo>
                <a:lnTo>
                  <a:pt x="2578608" y="246888"/>
                </a:lnTo>
                <a:lnTo>
                  <a:pt x="2589581" y="246888"/>
                </a:lnTo>
                <a:lnTo>
                  <a:pt x="2600554" y="247802"/>
                </a:lnTo>
                <a:lnTo>
                  <a:pt x="2611526" y="248717"/>
                </a:lnTo>
                <a:lnTo>
                  <a:pt x="2622499" y="249631"/>
                </a:lnTo>
                <a:lnTo>
                  <a:pt x="2633472" y="250546"/>
                </a:lnTo>
                <a:lnTo>
                  <a:pt x="2644445" y="250546"/>
                </a:lnTo>
                <a:lnTo>
                  <a:pt x="2655418" y="251460"/>
                </a:lnTo>
                <a:lnTo>
                  <a:pt x="2666390" y="252374"/>
                </a:lnTo>
                <a:lnTo>
                  <a:pt x="2677363" y="254203"/>
                </a:lnTo>
                <a:lnTo>
                  <a:pt x="2688336" y="256032"/>
                </a:lnTo>
                <a:lnTo>
                  <a:pt x="2699309" y="256946"/>
                </a:lnTo>
                <a:lnTo>
                  <a:pt x="2710282" y="256032"/>
                </a:lnTo>
                <a:lnTo>
                  <a:pt x="2721254" y="254203"/>
                </a:lnTo>
                <a:lnTo>
                  <a:pt x="2732227" y="250546"/>
                </a:lnTo>
                <a:lnTo>
                  <a:pt x="2743200" y="246888"/>
                </a:lnTo>
                <a:lnTo>
                  <a:pt x="2754173" y="244145"/>
                </a:lnTo>
                <a:lnTo>
                  <a:pt x="2765146" y="243230"/>
                </a:lnTo>
                <a:lnTo>
                  <a:pt x="2776118" y="243230"/>
                </a:lnTo>
                <a:lnTo>
                  <a:pt x="2787091" y="244145"/>
                </a:lnTo>
                <a:lnTo>
                  <a:pt x="2798064" y="245059"/>
                </a:lnTo>
                <a:lnTo>
                  <a:pt x="2809037" y="245974"/>
                </a:lnTo>
                <a:lnTo>
                  <a:pt x="2820010" y="246888"/>
                </a:lnTo>
                <a:lnTo>
                  <a:pt x="2830982" y="246888"/>
                </a:lnTo>
                <a:lnTo>
                  <a:pt x="2841955" y="247802"/>
                </a:lnTo>
                <a:lnTo>
                  <a:pt x="2852928" y="250546"/>
                </a:lnTo>
                <a:lnTo>
                  <a:pt x="2863901" y="253289"/>
                </a:lnTo>
                <a:lnTo>
                  <a:pt x="2874874" y="255118"/>
                </a:lnTo>
                <a:lnTo>
                  <a:pt x="2885846" y="256946"/>
                </a:lnTo>
                <a:lnTo>
                  <a:pt x="2896819" y="257861"/>
                </a:lnTo>
                <a:lnTo>
                  <a:pt x="2907792" y="257861"/>
                </a:lnTo>
                <a:lnTo>
                  <a:pt x="2918765" y="258775"/>
                </a:lnTo>
                <a:lnTo>
                  <a:pt x="2929738" y="259690"/>
                </a:lnTo>
                <a:lnTo>
                  <a:pt x="2940710" y="261518"/>
                </a:lnTo>
                <a:lnTo>
                  <a:pt x="2951683" y="261518"/>
                </a:lnTo>
                <a:lnTo>
                  <a:pt x="2962656" y="261518"/>
                </a:lnTo>
                <a:lnTo>
                  <a:pt x="2973629" y="259690"/>
                </a:lnTo>
                <a:lnTo>
                  <a:pt x="2984602" y="253289"/>
                </a:lnTo>
                <a:lnTo>
                  <a:pt x="2995574" y="245059"/>
                </a:lnTo>
                <a:lnTo>
                  <a:pt x="3006547" y="234086"/>
                </a:lnTo>
                <a:lnTo>
                  <a:pt x="3017520" y="223114"/>
                </a:lnTo>
                <a:lnTo>
                  <a:pt x="3028493" y="212141"/>
                </a:lnTo>
                <a:lnTo>
                  <a:pt x="3039466" y="202997"/>
                </a:lnTo>
                <a:lnTo>
                  <a:pt x="3050438" y="195682"/>
                </a:lnTo>
                <a:lnTo>
                  <a:pt x="3061411" y="192024"/>
                </a:lnTo>
                <a:lnTo>
                  <a:pt x="3072384" y="190195"/>
                </a:lnTo>
                <a:lnTo>
                  <a:pt x="3083357" y="192938"/>
                </a:lnTo>
                <a:lnTo>
                  <a:pt x="3094330" y="197510"/>
                </a:lnTo>
                <a:lnTo>
                  <a:pt x="3105302" y="203911"/>
                </a:lnTo>
                <a:lnTo>
                  <a:pt x="3116275" y="213055"/>
                </a:lnTo>
                <a:lnTo>
                  <a:pt x="3127248" y="224028"/>
                </a:lnTo>
                <a:lnTo>
                  <a:pt x="3138221" y="236830"/>
                </a:lnTo>
                <a:lnTo>
                  <a:pt x="3149194" y="249631"/>
                </a:lnTo>
                <a:lnTo>
                  <a:pt x="3160166" y="260604"/>
                </a:lnTo>
                <a:lnTo>
                  <a:pt x="3171139" y="268834"/>
                </a:lnTo>
                <a:lnTo>
                  <a:pt x="3182112" y="271577"/>
                </a:lnTo>
                <a:lnTo>
                  <a:pt x="3193085" y="268834"/>
                </a:lnTo>
                <a:lnTo>
                  <a:pt x="3204058" y="259690"/>
                </a:lnTo>
                <a:lnTo>
                  <a:pt x="3215030" y="242316"/>
                </a:lnTo>
                <a:lnTo>
                  <a:pt x="3226003" y="219456"/>
                </a:lnTo>
                <a:lnTo>
                  <a:pt x="3236976" y="191110"/>
                </a:lnTo>
                <a:lnTo>
                  <a:pt x="3247949" y="160934"/>
                </a:lnTo>
                <a:lnTo>
                  <a:pt x="3258922" y="130759"/>
                </a:lnTo>
                <a:lnTo>
                  <a:pt x="3269894" y="102413"/>
                </a:lnTo>
                <a:lnTo>
                  <a:pt x="3280867" y="79553"/>
                </a:lnTo>
                <a:lnTo>
                  <a:pt x="3291840" y="64008"/>
                </a:lnTo>
                <a:lnTo>
                  <a:pt x="3302813" y="55778"/>
                </a:lnTo>
                <a:lnTo>
                  <a:pt x="3313786" y="56693"/>
                </a:lnTo>
                <a:lnTo>
                  <a:pt x="3324758" y="65837"/>
                </a:lnTo>
                <a:lnTo>
                  <a:pt x="3335731" y="84125"/>
                </a:lnTo>
                <a:lnTo>
                  <a:pt x="3346704" y="111557"/>
                </a:lnTo>
                <a:lnTo>
                  <a:pt x="3357677" y="146304"/>
                </a:lnTo>
                <a:lnTo>
                  <a:pt x="3368650" y="188366"/>
                </a:lnTo>
                <a:lnTo>
                  <a:pt x="3379622" y="236830"/>
                </a:lnTo>
                <a:lnTo>
                  <a:pt x="3390595" y="288036"/>
                </a:lnTo>
                <a:lnTo>
                  <a:pt x="3401568" y="340157"/>
                </a:lnTo>
                <a:lnTo>
                  <a:pt x="3412541" y="387706"/>
                </a:lnTo>
                <a:lnTo>
                  <a:pt x="3423514" y="430682"/>
                </a:lnTo>
                <a:lnTo>
                  <a:pt x="3434486" y="465430"/>
                </a:lnTo>
                <a:lnTo>
                  <a:pt x="3445459" y="491947"/>
                </a:lnTo>
                <a:lnTo>
                  <a:pt x="3456432" y="508406"/>
                </a:lnTo>
                <a:lnTo>
                  <a:pt x="3467405" y="515722"/>
                </a:lnTo>
                <a:lnTo>
                  <a:pt x="3478378" y="512978"/>
                </a:lnTo>
                <a:lnTo>
                  <a:pt x="3489350" y="499262"/>
                </a:lnTo>
                <a:lnTo>
                  <a:pt x="3500323" y="477317"/>
                </a:lnTo>
                <a:lnTo>
                  <a:pt x="3511296" y="448056"/>
                </a:lnTo>
                <a:lnTo>
                  <a:pt x="3522269" y="414223"/>
                </a:lnTo>
                <a:lnTo>
                  <a:pt x="3533242" y="378562"/>
                </a:lnTo>
                <a:lnTo>
                  <a:pt x="3544214" y="344729"/>
                </a:lnTo>
                <a:lnTo>
                  <a:pt x="3555187" y="314554"/>
                </a:lnTo>
                <a:lnTo>
                  <a:pt x="3566160" y="289865"/>
                </a:lnTo>
                <a:lnTo>
                  <a:pt x="3577133" y="271577"/>
                </a:lnTo>
                <a:lnTo>
                  <a:pt x="3588106" y="260604"/>
                </a:lnTo>
                <a:lnTo>
                  <a:pt x="3599078" y="256946"/>
                </a:lnTo>
                <a:lnTo>
                  <a:pt x="3610051" y="261518"/>
                </a:lnTo>
                <a:lnTo>
                  <a:pt x="3621024" y="274320"/>
                </a:lnTo>
                <a:lnTo>
                  <a:pt x="3631997" y="293522"/>
                </a:lnTo>
                <a:lnTo>
                  <a:pt x="3642970" y="319126"/>
                </a:lnTo>
                <a:lnTo>
                  <a:pt x="3653942" y="349301"/>
                </a:lnTo>
                <a:lnTo>
                  <a:pt x="3664915" y="383134"/>
                </a:lnTo>
                <a:lnTo>
                  <a:pt x="3675888" y="415138"/>
                </a:lnTo>
                <a:lnTo>
                  <a:pt x="3686861" y="443484"/>
                </a:lnTo>
                <a:lnTo>
                  <a:pt x="3697834" y="465430"/>
                </a:lnTo>
                <a:lnTo>
                  <a:pt x="3708806" y="477317"/>
                </a:lnTo>
                <a:lnTo>
                  <a:pt x="3719779" y="479146"/>
                </a:lnTo>
                <a:lnTo>
                  <a:pt x="3730752" y="470916"/>
                </a:lnTo>
                <a:lnTo>
                  <a:pt x="3741725" y="454457"/>
                </a:lnTo>
                <a:lnTo>
                  <a:pt x="3752698" y="428854"/>
                </a:lnTo>
                <a:lnTo>
                  <a:pt x="3763670" y="396850"/>
                </a:lnTo>
                <a:lnTo>
                  <a:pt x="3774643" y="359359"/>
                </a:lnTo>
                <a:lnTo>
                  <a:pt x="3785616" y="318211"/>
                </a:lnTo>
                <a:lnTo>
                  <a:pt x="3796589" y="274320"/>
                </a:lnTo>
                <a:lnTo>
                  <a:pt x="3807562" y="232258"/>
                </a:lnTo>
                <a:lnTo>
                  <a:pt x="3818534" y="192938"/>
                </a:lnTo>
                <a:lnTo>
                  <a:pt x="3829507" y="159106"/>
                </a:lnTo>
                <a:lnTo>
                  <a:pt x="3840480" y="131674"/>
                </a:lnTo>
                <a:lnTo>
                  <a:pt x="3851453" y="111557"/>
                </a:lnTo>
                <a:lnTo>
                  <a:pt x="3862426" y="97841"/>
                </a:lnTo>
                <a:lnTo>
                  <a:pt x="3873398" y="92354"/>
                </a:lnTo>
                <a:lnTo>
                  <a:pt x="3884371" y="93269"/>
                </a:lnTo>
                <a:lnTo>
                  <a:pt x="3895344" y="101498"/>
                </a:lnTo>
                <a:lnTo>
                  <a:pt x="3906317" y="115214"/>
                </a:lnTo>
                <a:lnTo>
                  <a:pt x="3917290" y="131674"/>
                </a:lnTo>
                <a:lnTo>
                  <a:pt x="3928262" y="150876"/>
                </a:lnTo>
                <a:lnTo>
                  <a:pt x="3939235" y="170078"/>
                </a:lnTo>
                <a:lnTo>
                  <a:pt x="3950208" y="188366"/>
                </a:lnTo>
                <a:lnTo>
                  <a:pt x="3961181" y="203911"/>
                </a:lnTo>
                <a:lnTo>
                  <a:pt x="3972154" y="217627"/>
                </a:lnTo>
                <a:lnTo>
                  <a:pt x="3983126" y="229514"/>
                </a:lnTo>
                <a:lnTo>
                  <a:pt x="3994099" y="237744"/>
                </a:lnTo>
                <a:lnTo>
                  <a:pt x="4005072" y="243230"/>
                </a:lnTo>
                <a:lnTo>
                  <a:pt x="4016045" y="245974"/>
                </a:lnTo>
                <a:lnTo>
                  <a:pt x="4027018" y="245974"/>
                </a:lnTo>
                <a:lnTo>
                  <a:pt x="4037990" y="244145"/>
                </a:lnTo>
                <a:lnTo>
                  <a:pt x="4048963" y="242316"/>
                </a:lnTo>
                <a:lnTo>
                  <a:pt x="4059936" y="240487"/>
                </a:lnTo>
                <a:lnTo>
                  <a:pt x="4070909" y="241402"/>
                </a:lnTo>
                <a:lnTo>
                  <a:pt x="4081882" y="241402"/>
                </a:lnTo>
                <a:lnTo>
                  <a:pt x="4092854" y="241402"/>
                </a:lnTo>
                <a:lnTo>
                  <a:pt x="4103827" y="244145"/>
                </a:lnTo>
                <a:lnTo>
                  <a:pt x="4114800" y="247802"/>
                </a:lnTo>
                <a:lnTo>
                  <a:pt x="4125773" y="251460"/>
                </a:lnTo>
                <a:lnTo>
                  <a:pt x="4136746" y="255118"/>
                </a:lnTo>
                <a:lnTo>
                  <a:pt x="4147718" y="256032"/>
                </a:lnTo>
                <a:lnTo>
                  <a:pt x="4158691" y="256032"/>
                </a:lnTo>
                <a:lnTo>
                  <a:pt x="4169664" y="254203"/>
                </a:lnTo>
                <a:lnTo>
                  <a:pt x="4180637" y="252374"/>
                </a:lnTo>
                <a:lnTo>
                  <a:pt x="4191610" y="250546"/>
                </a:lnTo>
                <a:lnTo>
                  <a:pt x="4202582" y="249631"/>
                </a:lnTo>
                <a:lnTo>
                  <a:pt x="4213555" y="249631"/>
                </a:lnTo>
                <a:lnTo>
                  <a:pt x="4224528" y="249631"/>
                </a:lnTo>
                <a:lnTo>
                  <a:pt x="4235501" y="251460"/>
                </a:lnTo>
                <a:lnTo>
                  <a:pt x="4246474" y="253289"/>
                </a:lnTo>
                <a:lnTo>
                  <a:pt x="4257446" y="255118"/>
                </a:lnTo>
                <a:lnTo>
                  <a:pt x="4268419" y="256032"/>
                </a:lnTo>
                <a:lnTo>
                  <a:pt x="4279392" y="256032"/>
                </a:lnTo>
                <a:lnTo>
                  <a:pt x="4290365" y="255118"/>
                </a:lnTo>
                <a:lnTo>
                  <a:pt x="4301338" y="253289"/>
                </a:lnTo>
                <a:lnTo>
                  <a:pt x="4312310" y="251460"/>
                </a:lnTo>
                <a:lnTo>
                  <a:pt x="4323283" y="249631"/>
                </a:lnTo>
                <a:lnTo>
                  <a:pt x="4334256" y="248717"/>
                </a:lnTo>
                <a:lnTo>
                  <a:pt x="4345229" y="249631"/>
                </a:lnTo>
                <a:lnTo>
                  <a:pt x="4356202" y="250546"/>
                </a:lnTo>
                <a:lnTo>
                  <a:pt x="4367174" y="252374"/>
                </a:lnTo>
                <a:lnTo>
                  <a:pt x="4378147" y="254203"/>
                </a:lnTo>
                <a:lnTo>
                  <a:pt x="4389120" y="255118"/>
                </a:lnTo>
                <a:lnTo>
                  <a:pt x="4400093" y="256032"/>
                </a:lnTo>
                <a:lnTo>
                  <a:pt x="4411066" y="256032"/>
                </a:lnTo>
                <a:lnTo>
                  <a:pt x="4422038" y="256032"/>
                </a:lnTo>
                <a:lnTo>
                  <a:pt x="4433011" y="256032"/>
                </a:lnTo>
                <a:lnTo>
                  <a:pt x="4443984" y="256946"/>
                </a:lnTo>
                <a:lnTo>
                  <a:pt x="4454957" y="256946"/>
                </a:lnTo>
                <a:lnTo>
                  <a:pt x="4465930" y="256946"/>
                </a:lnTo>
                <a:lnTo>
                  <a:pt x="4476902" y="255118"/>
                </a:lnTo>
                <a:lnTo>
                  <a:pt x="4487875" y="251460"/>
                </a:lnTo>
                <a:lnTo>
                  <a:pt x="4498848" y="247802"/>
                </a:lnTo>
                <a:lnTo>
                  <a:pt x="4509821" y="245059"/>
                </a:lnTo>
                <a:lnTo>
                  <a:pt x="4520794" y="242316"/>
                </a:lnTo>
                <a:lnTo>
                  <a:pt x="4531766" y="242316"/>
                </a:lnTo>
                <a:lnTo>
                  <a:pt x="4542739" y="243230"/>
                </a:lnTo>
                <a:lnTo>
                  <a:pt x="4553712" y="245059"/>
                </a:lnTo>
                <a:lnTo>
                  <a:pt x="4564685" y="246888"/>
                </a:lnTo>
                <a:lnTo>
                  <a:pt x="4575658" y="247802"/>
                </a:lnTo>
                <a:lnTo>
                  <a:pt x="4586630" y="248717"/>
                </a:lnTo>
                <a:lnTo>
                  <a:pt x="4597603" y="248717"/>
                </a:lnTo>
                <a:lnTo>
                  <a:pt x="4608576" y="250546"/>
                </a:lnTo>
                <a:lnTo>
                  <a:pt x="4619549" y="252374"/>
                </a:lnTo>
                <a:lnTo>
                  <a:pt x="4630522" y="254203"/>
                </a:lnTo>
                <a:lnTo>
                  <a:pt x="4641494" y="256032"/>
                </a:lnTo>
                <a:lnTo>
                  <a:pt x="4652467" y="256032"/>
                </a:lnTo>
                <a:lnTo>
                  <a:pt x="4663440" y="256946"/>
                </a:lnTo>
                <a:lnTo>
                  <a:pt x="4674413" y="256946"/>
                </a:lnTo>
                <a:lnTo>
                  <a:pt x="4685386" y="256946"/>
                </a:lnTo>
                <a:lnTo>
                  <a:pt x="4696358" y="257861"/>
                </a:lnTo>
                <a:lnTo>
                  <a:pt x="4707331" y="257861"/>
                </a:lnTo>
                <a:lnTo>
                  <a:pt x="4718304" y="257861"/>
                </a:lnTo>
                <a:lnTo>
                  <a:pt x="4729277" y="256032"/>
                </a:lnTo>
                <a:lnTo>
                  <a:pt x="4740250" y="252374"/>
                </a:lnTo>
                <a:lnTo>
                  <a:pt x="4751222" y="247802"/>
                </a:lnTo>
                <a:lnTo>
                  <a:pt x="4762195" y="244145"/>
                </a:lnTo>
                <a:lnTo>
                  <a:pt x="4773168" y="241402"/>
                </a:lnTo>
                <a:lnTo>
                  <a:pt x="4784141" y="241402"/>
                </a:lnTo>
                <a:lnTo>
                  <a:pt x="4795114" y="244145"/>
                </a:lnTo>
                <a:lnTo>
                  <a:pt x="4806086" y="246888"/>
                </a:lnTo>
                <a:lnTo>
                  <a:pt x="4817059" y="250546"/>
                </a:lnTo>
                <a:lnTo>
                  <a:pt x="4828032" y="253289"/>
                </a:lnTo>
                <a:lnTo>
                  <a:pt x="4839005" y="254203"/>
                </a:lnTo>
                <a:lnTo>
                  <a:pt x="4849978" y="254203"/>
                </a:lnTo>
                <a:lnTo>
                  <a:pt x="4860950" y="252374"/>
                </a:lnTo>
                <a:lnTo>
                  <a:pt x="4871923" y="250546"/>
                </a:lnTo>
                <a:lnTo>
                  <a:pt x="4882896" y="248717"/>
                </a:lnTo>
                <a:lnTo>
                  <a:pt x="4893869" y="246888"/>
                </a:lnTo>
                <a:lnTo>
                  <a:pt x="4904842" y="246888"/>
                </a:lnTo>
                <a:lnTo>
                  <a:pt x="4915814" y="247802"/>
                </a:lnTo>
                <a:lnTo>
                  <a:pt x="4926787" y="250546"/>
                </a:lnTo>
                <a:lnTo>
                  <a:pt x="4937760" y="253289"/>
                </a:lnTo>
                <a:lnTo>
                  <a:pt x="4948733" y="256946"/>
                </a:lnTo>
                <a:lnTo>
                  <a:pt x="4959706" y="258775"/>
                </a:lnTo>
                <a:lnTo>
                  <a:pt x="4970678" y="258775"/>
                </a:lnTo>
                <a:lnTo>
                  <a:pt x="4981651" y="258775"/>
                </a:lnTo>
                <a:lnTo>
                  <a:pt x="4992624" y="256946"/>
                </a:lnTo>
                <a:lnTo>
                  <a:pt x="5003597" y="256032"/>
                </a:lnTo>
                <a:lnTo>
                  <a:pt x="5014570" y="255118"/>
                </a:lnTo>
                <a:lnTo>
                  <a:pt x="5025542" y="254203"/>
                </a:lnTo>
              </a:path>
            </a:pathLst>
          </a:custGeom>
          <a:noFill/>
          <a:ln w="34925">
            <a:solidFill>
              <a:srgbClr val="D55E00"/>
            </a:solidFill>
            <a:prstDash val="solid"/>
          </a:ln>
        </p:spPr>
      </p:sp>
      <p:sp>
        <p:nvSpPr>
          <p:cNvPr id="18" name="Text 16"/>
          <p:cNvSpPr txBox="1"/>
          <p:nvPr/>
        </p:nvSpPr>
        <p:spPr>
          <a:xfrm>
            <a:off x="6126480" y="4846320"/>
            <a:ext cx="5559552" cy="457200"/>
          </a:xfrm>
          <a:prstGeom prst="rect">
            <a:avLst/>
          </a:prstGeom>
          <a:noFill/>
          <a:ln/>
        </p:spPr>
        <p:txBody>
          <a:bodyPr wrap="square" lIns="0" tIns="0" rIns="0" bIns="0" rtlCol="0" anchor="ctr"/>
          <a:lstStyle/>
          <a:p>
            <a:pPr algn="l" indent="0" marL="0">
              <a:buNone/>
            </a:pPr>
            <a:r>
              <a:rPr lang="ja-JP" altLang="en-US" sz="2400" b="1" dirty="0">
                <a:solidFill>
                  <a:srgbClr val="D55E00"/>
                </a:solidFill>
                <a:latin typeface="メイリオ" pitchFamily="34" charset="0"/>
                <a:ea typeface="メイリオ" pitchFamily="34" charset="-122"/>
                <a:cs typeface="メイリオ" pitchFamily="34" charset="-120"/>
              </a:rPr>
              <a:t>深すぎ：</a:t>
            </a:r>
            <a:r>
              <a:rPr lang="ja-JP" altLang="en-US" sz="2400" dirty="0">
                <a:solidFill>
                  <a:srgbClr val="262626"/>
                </a:solidFill>
                <a:latin typeface="メイリオ" pitchFamily="34" charset="0"/>
                <a:ea typeface="メイリオ" pitchFamily="34" charset="-122"/>
                <a:cs typeface="メイリオ" pitchFamily="34" charset="-120"/>
              </a:rPr>
              <a:t>バーストサプレッション</a:t>
            </a:r>
            <a:endParaRPr lang="ja-JP"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BIS の仕組みと数字</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覚醒</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脳波</a:t>
            </a:r>
            <a:endParaRPr lang="ja-JP" sz="1100" dirty="0"/>
          </a:p>
        </p:txBody>
      </p:sp>
      <p:sp>
        <p:nvSpPr>
          <p:cNvPr id="6" name="Text 4"/>
          <p:cNvSpPr/>
          <p:nvPr/>
        </p:nvSpPr>
        <p:spPr>
          <a:xfrm>
            <a:off x="10030968" y="54864"/>
            <a:ext cx="621792" cy="585216"/>
          </a:xfrm>
          <a:prstGeom prst="roundRect">
            <a:avLst>
              <a:gd name="adj" fmla="val 15625"/>
            </a:avLst>
          </a:prstGeom>
          <a:solidFill>
            <a:srgbClr val="00A8AA"/>
          </a:solidFill>
          <a:ln/>
        </p:spPr>
        <p:txBody>
          <a:bodyPr wrap="squar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BIS</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限界</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予防</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4</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Avidan, N Engl J Med 2008 / Pilge, Anesthesiology 2006 / Zanner, Br J Anaesth 2009</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Messner, Anesth Analg 2003 / Bruhn, J Clin Monit Comput 2000</a:t>
            </a:r>
            <a:endParaRPr lang="ja-JP" sz="1600" dirty="0"/>
          </a:p>
        </p:txBody>
      </p:sp>
      <p:sp>
        <p:nvSpPr>
          <p:cNvPr id="11" name="Shape 9"/>
          <p:cNvSpPr/>
          <p:nvPr/>
        </p:nvSpPr>
        <p:spPr>
          <a:xfrm>
            <a:off x="7114032" y="1783080"/>
            <a:ext cx="502920" cy="777240"/>
          </a:xfrm>
          <a:prstGeom prst="rect">
            <a:avLst/>
          </a:prstGeom>
          <a:solidFill>
            <a:srgbClr val="D9D9D9"/>
          </a:solidFill>
          <a:ln w="19050">
            <a:solidFill>
              <a:srgbClr val="FFFFFF"/>
            </a:solidFill>
            <a:prstDash val="solid"/>
          </a:ln>
        </p:spPr>
      </p:sp>
      <p:sp>
        <p:nvSpPr>
          <p:cNvPr id="12" name="Text 10"/>
          <p:cNvSpPr txBox="1"/>
          <p:nvPr/>
        </p:nvSpPr>
        <p:spPr>
          <a:xfrm>
            <a:off x="7845552" y="1961388"/>
            <a:ext cx="3840480" cy="420624"/>
          </a:xfrm>
          <a:prstGeom prst="rect">
            <a:avLst/>
          </a:prstGeom>
          <a:noFill/>
          <a:ln/>
        </p:spPr>
        <p:txBody>
          <a:bodyPr wrap="square" lIns="0" tIns="0" rIns="0" bIns="0" rtlCol="0" anchor="t"/>
          <a:lstStyle/>
          <a:p>
            <a:pPr algn="l" indent="0" marL="0">
              <a:buNone/>
            </a:pPr>
            <a:r>
              <a:rPr lang="ja-JP" altLang="en-US" sz="2200" b="1" dirty="0">
                <a:solidFill>
                  <a:srgbClr val="262626"/>
                </a:solidFill>
                <a:latin typeface="メイリオ" pitchFamily="34" charset="0"/>
                <a:ea typeface="メイリオ" pitchFamily="34" charset="-122"/>
                <a:cs typeface="メイリオ" pitchFamily="34" charset="-120"/>
              </a:rPr>
              <a:t>100–80</a:t>
            </a:r>
            <a:r>
              <a:rPr lang="ja-JP" altLang="en-US" sz="2200" dirty="0">
                <a:solidFill>
                  <a:srgbClr val="262626"/>
                </a:solidFill>
                <a:latin typeface="メイリオ" pitchFamily="34" charset="0"/>
                <a:ea typeface="メイリオ" pitchFamily="34" charset="-122"/>
                <a:cs typeface="メイリオ" pitchFamily="34" charset="-120"/>
              </a:rPr>
              <a:t> 覚醒</a:t>
            </a:r>
            <a:endParaRPr lang="ja-JP" sz="2200" dirty="0"/>
          </a:p>
        </p:txBody>
      </p:sp>
      <p:sp>
        <p:nvSpPr>
          <p:cNvPr id="13" name="Shape 11"/>
          <p:cNvSpPr/>
          <p:nvPr/>
        </p:nvSpPr>
        <p:spPr>
          <a:xfrm>
            <a:off x="7114032" y="2560320"/>
            <a:ext cx="502920" cy="777240"/>
          </a:xfrm>
          <a:prstGeom prst="rect">
            <a:avLst/>
          </a:prstGeom>
          <a:solidFill>
            <a:srgbClr val="9DC3E6"/>
          </a:solidFill>
          <a:ln w="19050">
            <a:solidFill>
              <a:srgbClr val="FFFFFF"/>
            </a:solidFill>
            <a:prstDash val="solid"/>
          </a:ln>
        </p:spPr>
      </p:sp>
      <p:sp>
        <p:nvSpPr>
          <p:cNvPr id="14" name="Text 12"/>
          <p:cNvSpPr txBox="1"/>
          <p:nvPr/>
        </p:nvSpPr>
        <p:spPr>
          <a:xfrm>
            <a:off x="7845552" y="2738628"/>
            <a:ext cx="3840480" cy="420624"/>
          </a:xfrm>
          <a:prstGeom prst="rect">
            <a:avLst/>
          </a:prstGeom>
          <a:noFill/>
          <a:ln/>
        </p:spPr>
        <p:txBody>
          <a:bodyPr wrap="square" lIns="0" tIns="0" rIns="0" bIns="0" rtlCol="0" anchor="t"/>
          <a:lstStyle/>
          <a:p>
            <a:pPr algn="l" indent="0" marL="0">
              <a:buNone/>
            </a:pPr>
            <a:r>
              <a:rPr lang="ja-JP" altLang="en-US" sz="2200" b="1" dirty="0">
                <a:solidFill>
                  <a:srgbClr val="262626"/>
                </a:solidFill>
                <a:latin typeface="メイリオ" pitchFamily="34" charset="0"/>
                <a:ea typeface="メイリオ" pitchFamily="34" charset="-122"/>
                <a:cs typeface="メイリオ" pitchFamily="34" charset="-120"/>
              </a:rPr>
              <a:t>80–60</a:t>
            </a:r>
            <a:r>
              <a:rPr lang="ja-JP" altLang="en-US" sz="2200" dirty="0">
                <a:solidFill>
                  <a:srgbClr val="262626"/>
                </a:solidFill>
                <a:latin typeface="メイリオ" pitchFamily="34" charset="0"/>
                <a:ea typeface="メイリオ" pitchFamily="34" charset="-122"/>
                <a:cs typeface="メイリオ" pitchFamily="34" charset="-120"/>
              </a:rPr>
              <a:t> 鎮静</a:t>
            </a:r>
            <a:endParaRPr lang="ja-JP" sz="2200" dirty="0"/>
          </a:p>
        </p:txBody>
      </p:sp>
      <p:sp>
        <p:nvSpPr>
          <p:cNvPr id="15" name="Shape 13"/>
          <p:cNvSpPr/>
          <p:nvPr/>
        </p:nvSpPr>
        <p:spPr>
          <a:xfrm>
            <a:off x="7114032" y="3337560"/>
            <a:ext cx="502920" cy="777240"/>
          </a:xfrm>
          <a:prstGeom prst="rect">
            <a:avLst/>
          </a:prstGeom>
          <a:solidFill>
            <a:srgbClr val="00A8AA"/>
          </a:solidFill>
          <a:ln w="19050">
            <a:solidFill>
              <a:srgbClr val="FFFFFF"/>
            </a:solidFill>
            <a:prstDash val="solid"/>
          </a:ln>
        </p:spPr>
      </p:sp>
      <p:sp>
        <p:nvSpPr>
          <p:cNvPr id="16" name="Text 14"/>
          <p:cNvSpPr txBox="1"/>
          <p:nvPr/>
        </p:nvSpPr>
        <p:spPr>
          <a:xfrm>
            <a:off x="7845552" y="3515868"/>
            <a:ext cx="3840480" cy="420624"/>
          </a:xfrm>
          <a:prstGeom prst="rect">
            <a:avLst/>
          </a:prstGeom>
          <a:noFill/>
          <a:ln/>
        </p:spPr>
        <p:txBody>
          <a:bodyPr wrap="square" lIns="0" tIns="0" rIns="0" bIns="0" rtlCol="0" anchor="t"/>
          <a:lstStyle/>
          <a:p>
            <a:pPr algn="l" indent="0" marL="0">
              <a:buNone/>
            </a:pPr>
            <a:r>
              <a:rPr lang="ja-JP" altLang="en-US" sz="2200" b="1" dirty="0">
                <a:solidFill>
                  <a:srgbClr val="00A8AA"/>
                </a:solidFill>
                <a:latin typeface="メイリオ" pitchFamily="34" charset="0"/>
                <a:ea typeface="メイリオ" pitchFamily="34" charset="-122"/>
                <a:cs typeface="メイリオ" pitchFamily="34" charset="-120"/>
              </a:rPr>
              <a:t>60–40 全身麻酔の目安</a:t>
            </a:r>
            <a:endParaRPr lang="ja-JP" sz="2200" dirty="0"/>
          </a:p>
        </p:txBody>
      </p:sp>
      <p:sp>
        <p:nvSpPr>
          <p:cNvPr id="17" name="Shape 15"/>
          <p:cNvSpPr/>
          <p:nvPr/>
        </p:nvSpPr>
        <p:spPr>
          <a:xfrm>
            <a:off x="7114032" y="4114800"/>
            <a:ext cx="502920" cy="777240"/>
          </a:xfrm>
          <a:prstGeom prst="rect">
            <a:avLst/>
          </a:prstGeom>
          <a:solidFill>
            <a:srgbClr val="F4B183"/>
          </a:solidFill>
          <a:ln w="19050">
            <a:solidFill>
              <a:srgbClr val="FFFFFF"/>
            </a:solidFill>
            <a:prstDash val="solid"/>
          </a:ln>
        </p:spPr>
      </p:sp>
      <p:sp>
        <p:nvSpPr>
          <p:cNvPr id="18" name="Text 16"/>
          <p:cNvSpPr txBox="1"/>
          <p:nvPr/>
        </p:nvSpPr>
        <p:spPr>
          <a:xfrm>
            <a:off x="7845552" y="4293108"/>
            <a:ext cx="3840480" cy="420624"/>
          </a:xfrm>
          <a:prstGeom prst="rect">
            <a:avLst/>
          </a:prstGeom>
          <a:noFill/>
          <a:ln/>
        </p:spPr>
        <p:txBody>
          <a:bodyPr wrap="square" lIns="0" tIns="0" rIns="0" bIns="0" rtlCol="0" anchor="t"/>
          <a:lstStyle/>
          <a:p>
            <a:pPr algn="l" indent="0" marL="0">
              <a:buNone/>
            </a:pPr>
            <a:r>
              <a:rPr lang="ja-JP" altLang="en-US" sz="2200" b="1" dirty="0">
                <a:solidFill>
                  <a:srgbClr val="262626"/>
                </a:solidFill>
                <a:latin typeface="メイリオ" pitchFamily="34" charset="0"/>
                <a:ea typeface="メイリオ" pitchFamily="34" charset="-122"/>
                <a:cs typeface="メイリオ" pitchFamily="34" charset="-120"/>
              </a:rPr>
              <a:t>40–20</a:t>
            </a:r>
            <a:r>
              <a:rPr lang="ja-JP" altLang="en-US" sz="2200" dirty="0">
                <a:solidFill>
                  <a:srgbClr val="262626"/>
                </a:solidFill>
                <a:latin typeface="メイリオ" pitchFamily="34" charset="0"/>
                <a:ea typeface="メイリオ" pitchFamily="34" charset="-122"/>
                <a:cs typeface="メイリオ" pitchFamily="34" charset="-120"/>
              </a:rPr>
              <a:t> 深い（SR を見る）</a:t>
            </a:r>
            <a:endParaRPr lang="ja-JP" sz="2200" dirty="0"/>
          </a:p>
        </p:txBody>
      </p:sp>
      <p:sp>
        <p:nvSpPr>
          <p:cNvPr id="19" name="Shape 17"/>
          <p:cNvSpPr/>
          <p:nvPr/>
        </p:nvSpPr>
        <p:spPr>
          <a:xfrm>
            <a:off x="7114032" y="4892040"/>
            <a:ext cx="502920" cy="777240"/>
          </a:xfrm>
          <a:prstGeom prst="rect">
            <a:avLst/>
          </a:prstGeom>
          <a:solidFill>
            <a:srgbClr val="D55E00"/>
          </a:solidFill>
          <a:ln w="19050">
            <a:solidFill>
              <a:srgbClr val="FFFFFF"/>
            </a:solidFill>
            <a:prstDash val="solid"/>
          </a:ln>
        </p:spPr>
      </p:sp>
      <p:sp>
        <p:nvSpPr>
          <p:cNvPr id="20" name="Text 18"/>
          <p:cNvSpPr txBox="1"/>
          <p:nvPr/>
        </p:nvSpPr>
        <p:spPr>
          <a:xfrm>
            <a:off x="7845552" y="5070348"/>
            <a:ext cx="3840480" cy="420624"/>
          </a:xfrm>
          <a:prstGeom prst="rect">
            <a:avLst/>
          </a:prstGeom>
          <a:noFill/>
          <a:ln/>
        </p:spPr>
        <p:txBody>
          <a:bodyPr wrap="square" lIns="0" tIns="0" rIns="0" bIns="0" rtlCol="0" anchor="t"/>
          <a:lstStyle/>
          <a:p>
            <a:pPr algn="l" indent="0" marL="0">
              <a:buNone/>
            </a:pPr>
            <a:r>
              <a:rPr lang="ja-JP" altLang="en-US" sz="2200" b="1" dirty="0">
                <a:solidFill>
                  <a:srgbClr val="262626"/>
                </a:solidFill>
                <a:latin typeface="メイリオ" pitchFamily="34" charset="0"/>
                <a:ea typeface="メイリオ" pitchFamily="34" charset="-122"/>
                <a:cs typeface="メイリオ" pitchFamily="34" charset="-120"/>
              </a:rPr>
              <a:t>20 未満</a:t>
            </a:r>
            <a:r>
              <a:rPr lang="ja-JP" altLang="en-US" sz="2200" dirty="0">
                <a:solidFill>
                  <a:srgbClr val="262626"/>
                </a:solidFill>
                <a:latin typeface="メイリオ" pitchFamily="34" charset="0"/>
                <a:ea typeface="メイリオ" pitchFamily="34" charset="-122"/>
                <a:cs typeface="メイリオ" pitchFamily="34" charset="-120"/>
              </a:rPr>
              <a:t> 平坦が多い</a:t>
            </a:r>
            <a:endParaRPr lang="ja-JP" sz="2200" dirty="0"/>
          </a:p>
        </p:txBody>
      </p:sp>
      <p:sp>
        <p:nvSpPr>
          <p:cNvPr id="21" name="Shape 19"/>
          <p:cNvSpPr/>
          <p:nvPr/>
        </p:nvSpPr>
        <p:spPr>
          <a:xfrm>
            <a:off x="2491740" y="1783080"/>
            <a:ext cx="2468880" cy="2011680"/>
          </a:xfrm>
          <a:prstGeom prst="roundRect">
            <a:avLst>
              <a:gd name="adj" fmla="val 34091"/>
            </a:avLst>
          </a:prstGeom>
          <a:solidFill>
            <a:srgbClr val="F2F2F2"/>
          </a:solidFill>
          <a:ln w="25400">
            <a:solidFill>
              <a:srgbClr val="7F7F7F"/>
            </a:solidFill>
            <a:prstDash val="solid"/>
          </a:ln>
        </p:spPr>
      </p:sp>
      <p:sp>
        <p:nvSpPr>
          <p:cNvPr id="22" name="Shape 20"/>
          <p:cNvSpPr/>
          <p:nvPr/>
        </p:nvSpPr>
        <p:spPr>
          <a:xfrm>
            <a:off x="2766060" y="2075688"/>
            <a:ext cx="1920240" cy="329184"/>
          </a:xfrm>
          <a:prstGeom prst="roundRect">
            <a:avLst>
              <a:gd name="adj" fmla="val 33333"/>
            </a:avLst>
          </a:prstGeom>
          <a:solidFill>
            <a:srgbClr val="0072B2"/>
          </a:solidFill>
          <a:ln/>
        </p:spPr>
      </p:sp>
      <p:sp>
        <p:nvSpPr>
          <p:cNvPr id="23" name="Shape 21"/>
          <p:cNvSpPr/>
          <p:nvPr/>
        </p:nvSpPr>
        <p:spPr>
          <a:xfrm>
            <a:off x="3097073" y="2148840"/>
            <a:ext cx="182880" cy="182880"/>
          </a:xfrm>
          <a:prstGeom prst="ellipse">
            <a:avLst/>
          </a:prstGeom>
          <a:solidFill>
            <a:srgbClr val="FFFFFF"/>
          </a:solidFill>
          <a:ln/>
        </p:spPr>
      </p:sp>
      <p:sp>
        <p:nvSpPr>
          <p:cNvPr id="24" name="Shape 22"/>
          <p:cNvSpPr/>
          <p:nvPr/>
        </p:nvSpPr>
        <p:spPr>
          <a:xfrm>
            <a:off x="3634740" y="2148840"/>
            <a:ext cx="182880" cy="182880"/>
          </a:xfrm>
          <a:prstGeom prst="ellipse">
            <a:avLst/>
          </a:prstGeom>
          <a:solidFill>
            <a:srgbClr val="FFFFFF"/>
          </a:solidFill>
          <a:ln/>
        </p:spPr>
      </p:sp>
      <p:sp>
        <p:nvSpPr>
          <p:cNvPr id="25" name="Shape 23"/>
          <p:cNvSpPr/>
          <p:nvPr/>
        </p:nvSpPr>
        <p:spPr>
          <a:xfrm>
            <a:off x="4172407" y="2148840"/>
            <a:ext cx="182880" cy="182880"/>
          </a:xfrm>
          <a:prstGeom prst="ellipse">
            <a:avLst/>
          </a:prstGeom>
          <a:solidFill>
            <a:srgbClr val="FFFFFF"/>
          </a:solidFill>
          <a:ln/>
        </p:spPr>
      </p:sp>
      <p:sp>
        <p:nvSpPr>
          <p:cNvPr id="26" name="Shape 24"/>
          <p:cNvSpPr/>
          <p:nvPr/>
        </p:nvSpPr>
        <p:spPr>
          <a:xfrm>
            <a:off x="3224174" y="2752344"/>
            <a:ext cx="164592" cy="164592"/>
          </a:xfrm>
          <a:prstGeom prst="ellipse">
            <a:avLst/>
          </a:prstGeom>
          <a:solidFill>
            <a:srgbClr val="7F7F7F"/>
          </a:solidFill>
          <a:ln/>
        </p:spPr>
      </p:sp>
      <p:sp>
        <p:nvSpPr>
          <p:cNvPr id="27" name="Shape 25"/>
          <p:cNvSpPr/>
          <p:nvPr/>
        </p:nvSpPr>
        <p:spPr>
          <a:xfrm>
            <a:off x="4063594" y="2752344"/>
            <a:ext cx="164592" cy="164592"/>
          </a:xfrm>
          <a:prstGeom prst="ellipse">
            <a:avLst/>
          </a:prstGeom>
          <a:solidFill>
            <a:srgbClr val="7F7F7F"/>
          </a:solidFill>
          <a:ln/>
        </p:spPr>
      </p:sp>
      <p:sp>
        <p:nvSpPr>
          <p:cNvPr id="28" name="Shape 26"/>
          <p:cNvSpPr/>
          <p:nvPr/>
        </p:nvSpPr>
        <p:spPr>
          <a:xfrm>
            <a:off x="3429914" y="3337560"/>
            <a:ext cx="592531" cy="0"/>
          </a:xfrm>
          <a:prstGeom prst="line">
            <a:avLst/>
          </a:prstGeom>
          <a:noFill/>
          <a:ln w="25400">
            <a:solidFill>
              <a:srgbClr val="7F7F7F"/>
            </a:solidFill>
            <a:prstDash val="solid"/>
          </a:ln>
        </p:spPr>
      </p:sp>
      <p:sp>
        <p:nvSpPr>
          <p:cNvPr id="29" name="Text 27"/>
          <p:cNvSpPr txBox="1"/>
          <p:nvPr/>
        </p:nvSpPr>
        <p:spPr>
          <a:xfrm>
            <a:off x="502920" y="4114800"/>
            <a:ext cx="6400800" cy="1563624"/>
          </a:xfrm>
          <a:prstGeom prst="rect">
            <a:avLst/>
          </a:prstGeom>
          <a:noFill/>
          <a:ln/>
        </p:spPr>
        <p:txBody>
          <a:bodyPr wrap="square" lIns="0" tIns="0" rIns="0" bIns="0" rtlCol="0" anchor="t"/>
          <a:lstStyle/>
          <a:p>
            <a:pPr algn="l" marL="317500" indent="-317500">
              <a:spcAft>
                <a:spcPts val="1200"/>
              </a:spcAft>
              <a:buSzPct val="100000"/>
              <a:buChar char="•"/>
            </a:pPr>
            <a:r>
              <a:rPr lang="ja-JP" altLang="en-US" sz="2200" dirty="0">
                <a:solidFill>
                  <a:srgbClr val="262626"/>
                </a:solidFill>
                <a:latin typeface="メイリオ" pitchFamily="34" charset="0"/>
                <a:ea typeface="メイリオ" pitchFamily="34" charset="-122"/>
                <a:cs typeface="メイリオ" pitchFamily="34" charset="-120"/>
              </a:rPr>
              <a:t>0–100 の指標、全身麻酔の目安は </a:t>
            </a:r>
            <a:r>
              <a:rPr lang="ja-JP" altLang="en-US" sz="2200" b="1" dirty="0">
                <a:solidFill>
                  <a:srgbClr val="00A8AA"/>
                </a:solidFill>
                <a:latin typeface="メイリオ" pitchFamily="34" charset="0"/>
                <a:ea typeface="メイリオ" pitchFamily="34" charset="-122"/>
                <a:cs typeface="メイリオ" pitchFamily="34" charset="-120"/>
              </a:rPr>
              <a:t>40–60</a:t>
            </a:r>
            <a:endParaRPr lang="ja-JP" sz="2200" dirty="0"/>
          </a:p>
          <a:p>
            <a:pPr algn="l" marL="317500" indent="-317500">
              <a:spcAft>
                <a:spcPts val="1200"/>
              </a:spcAft>
              <a:buSzPct val="100000"/>
              <a:buChar char="•"/>
            </a:pPr>
            <a:r>
              <a:rPr lang="ja-JP" altLang="en-US" sz="2200" dirty="0">
                <a:solidFill>
                  <a:srgbClr val="262626"/>
                </a:solidFill>
                <a:latin typeface="メイリオ" pitchFamily="34" charset="0"/>
                <a:ea typeface="メイリオ" pitchFamily="34" charset="-122"/>
                <a:cs typeface="メイリオ" pitchFamily="34" charset="-120"/>
              </a:rPr>
              <a:t>表示は数十秒〜2 分遅れる</a:t>
            </a:r>
            <a:endParaRPr lang="ja-JP" sz="2200" dirty="0"/>
          </a:p>
          <a:p>
            <a:pPr algn="l" marL="317500" indent="-317500">
              <a:spcAft>
                <a:spcPts val="1200"/>
              </a:spcAft>
              <a:buSzPct val="100000"/>
              <a:buChar char="•"/>
            </a:pPr>
            <a:r>
              <a:rPr lang="ja-JP" altLang="en-US" sz="2200" dirty="0">
                <a:solidFill>
                  <a:srgbClr val="262626"/>
                </a:solidFill>
                <a:latin typeface="メイリオ" pitchFamily="34" charset="0"/>
                <a:ea typeface="メイリオ" pitchFamily="34" charset="-122"/>
                <a:cs typeface="メイリオ" pitchFamily="34" charset="-120"/>
              </a:rPr>
              <a:t>同時に見る：SQI・EMG・SR（抑制比）</a:t>
            </a:r>
            <a:endParaRPr lang="ja-JP"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読むときの3点セット</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覚醒</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脳波</a:t>
            </a:r>
            <a:endParaRPr lang="ja-JP" sz="1100" dirty="0"/>
          </a:p>
        </p:txBody>
      </p:sp>
      <p:sp>
        <p:nvSpPr>
          <p:cNvPr id="6" name="Text 4"/>
          <p:cNvSpPr/>
          <p:nvPr/>
        </p:nvSpPr>
        <p:spPr>
          <a:xfrm>
            <a:off x="10030968" y="54864"/>
            <a:ext cx="621792" cy="585216"/>
          </a:xfrm>
          <a:prstGeom prst="roundRect">
            <a:avLst>
              <a:gd name="adj" fmla="val 15625"/>
            </a:avLst>
          </a:prstGeom>
          <a:solidFill>
            <a:srgbClr val="00A8AA"/>
          </a:solidFill>
          <a:ln/>
        </p:spPr>
        <p:txBody>
          <a:bodyPr wrap="squar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BIS</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限界</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予防</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5</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Purdon PL, et al. Anesthesiology 2015;123:937-960</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Wildes TS, et al. ENGAGES. JAMA 2019;321:473-483</a:t>
            </a:r>
            <a:endParaRPr lang="ja-JP" sz="1600" dirty="0"/>
          </a:p>
        </p:txBody>
      </p:sp>
      <p:sp>
        <p:nvSpPr>
          <p:cNvPr id="11" name="Shape 9"/>
          <p:cNvSpPr/>
          <p:nvPr/>
        </p:nvSpPr>
        <p:spPr>
          <a:xfrm>
            <a:off x="502920" y="1783080"/>
            <a:ext cx="3515543" cy="3127248"/>
          </a:xfrm>
          <a:prstGeom prst="roundRect">
            <a:avLst>
              <a:gd name="adj" fmla="val 2339"/>
            </a:avLst>
          </a:prstGeom>
          <a:solidFill>
            <a:srgbClr val="F2F2F2"/>
          </a:solidFill>
          <a:ln/>
        </p:spPr>
      </p:sp>
      <p:sp>
        <p:nvSpPr>
          <p:cNvPr id="12" name="Text 10"/>
          <p:cNvSpPr txBox="1"/>
          <p:nvPr/>
        </p:nvSpPr>
        <p:spPr>
          <a:xfrm>
            <a:off x="640080" y="2057400"/>
            <a:ext cx="3241223" cy="539496"/>
          </a:xfrm>
          <a:prstGeom prst="rect">
            <a:avLst/>
          </a:prstGeom>
          <a:noFill/>
          <a:ln/>
        </p:spPr>
        <p:txBody>
          <a:bodyPr wrap="square" lIns="0" tIns="0" rIns="0" bIns="0" rtlCol="0" anchor="t"/>
          <a:lstStyle/>
          <a:p>
            <a:pPr algn="l" indent="0" marL="0">
              <a:buNone/>
            </a:pPr>
            <a:r>
              <a:rPr lang="ja-JP" altLang="en-US" sz="2800" b="1" dirty="0">
                <a:solidFill>
                  <a:srgbClr val="0072B2"/>
                </a:solidFill>
                <a:latin typeface="メイリオ" pitchFamily="34" charset="0"/>
                <a:ea typeface="メイリオ" pitchFamily="34" charset="-122"/>
                <a:cs typeface="メイリオ" pitchFamily="34" charset="-120"/>
              </a:rPr>
              <a:t>数値と傾向</a:t>
            </a:r>
            <a:endParaRPr lang="ja-JP" sz="2800" dirty="0"/>
          </a:p>
        </p:txBody>
      </p:sp>
      <p:sp>
        <p:nvSpPr>
          <p:cNvPr id="13" name="Text 11"/>
          <p:cNvSpPr txBox="1"/>
          <p:nvPr/>
        </p:nvSpPr>
        <p:spPr>
          <a:xfrm>
            <a:off x="640080" y="2962656"/>
            <a:ext cx="3241223"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一点の値で動かない</a:t>
            </a:r>
            <a:endParaRPr lang="ja-JP" sz="2200" dirty="0"/>
          </a:p>
        </p:txBody>
      </p:sp>
      <p:sp>
        <p:nvSpPr>
          <p:cNvPr id="14" name="Text 12"/>
          <p:cNvSpPr txBox="1"/>
          <p:nvPr/>
        </p:nvSpPr>
        <p:spPr>
          <a:xfrm>
            <a:off x="640080" y="3794760"/>
            <a:ext cx="3241223"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トレンドの向きを見る</a:t>
            </a:r>
            <a:endParaRPr lang="ja-JP" sz="2200" dirty="0"/>
          </a:p>
        </p:txBody>
      </p:sp>
      <p:sp>
        <p:nvSpPr>
          <p:cNvPr id="15" name="Shape 13"/>
          <p:cNvSpPr/>
          <p:nvPr/>
        </p:nvSpPr>
        <p:spPr>
          <a:xfrm>
            <a:off x="4292783" y="1783080"/>
            <a:ext cx="3515543" cy="3127248"/>
          </a:xfrm>
          <a:prstGeom prst="roundRect">
            <a:avLst>
              <a:gd name="adj" fmla="val 2339"/>
            </a:avLst>
          </a:prstGeom>
          <a:solidFill>
            <a:srgbClr val="F2F2F2"/>
          </a:solidFill>
          <a:ln/>
        </p:spPr>
      </p:sp>
      <p:sp>
        <p:nvSpPr>
          <p:cNvPr id="16" name="Text 14"/>
          <p:cNvSpPr txBox="1"/>
          <p:nvPr/>
        </p:nvSpPr>
        <p:spPr>
          <a:xfrm>
            <a:off x="4429943" y="2057400"/>
            <a:ext cx="3241223" cy="539496"/>
          </a:xfrm>
          <a:prstGeom prst="rect">
            <a:avLst/>
          </a:prstGeom>
          <a:noFill/>
          <a:ln/>
        </p:spPr>
        <p:txBody>
          <a:bodyPr wrap="square" lIns="0" tIns="0" rIns="0" bIns="0" rtlCol="0" anchor="t"/>
          <a:lstStyle/>
          <a:p>
            <a:pPr algn="l" indent="0" marL="0">
              <a:buNone/>
            </a:pPr>
            <a:r>
              <a:rPr lang="ja-JP" altLang="en-US" sz="2800" b="1" dirty="0">
                <a:solidFill>
                  <a:srgbClr val="00A8AA"/>
                </a:solidFill>
                <a:latin typeface="メイリオ" pitchFamily="34" charset="0"/>
                <a:ea typeface="メイリオ" pitchFamily="34" charset="-122"/>
                <a:cs typeface="メイリオ" pitchFamily="34" charset="-120"/>
              </a:rPr>
              <a:t>生波形・DSA</a:t>
            </a:r>
            <a:endParaRPr lang="ja-JP" sz="2800" dirty="0"/>
          </a:p>
        </p:txBody>
      </p:sp>
      <p:sp>
        <p:nvSpPr>
          <p:cNvPr id="17" name="Text 15"/>
          <p:cNvSpPr txBox="1"/>
          <p:nvPr/>
        </p:nvSpPr>
        <p:spPr>
          <a:xfrm>
            <a:off x="4429943" y="2962656"/>
            <a:ext cx="3241223"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α 帯 ＋ 徐波があるか</a:t>
            </a:r>
            <a:endParaRPr lang="ja-JP" sz="2200" dirty="0"/>
          </a:p>
        </p:txBody>
      </p:sp>
      <p:sp>
        <p:nvSpPr>
          <p:cNvPr id="18" name="Text 16"/>
          <p:cNvSpPr txBox="1"/>
          <p:nvPr/>
        </p:nvSpPr>
        <p:spPr>
          <a:xfrm>
            <a:off x="4429943" y="3794760"/>
            <a:ext cx="3241223"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平坦な区間がないか</a:t>
            </a:r>
            <a:endParaRPr lang="ja-JP" sz="2200" dirty="0"/>
          </a:p>
        </p:txBody>
      </p:sp>
      <p:sp>
        <p:nvSpPr>
          <p:cNvPr id="19" name="Shape 17"/>
          <p:cNvSpPr/>
          <p:nvPr/>
        </p:nvSpPr>
        <p:spPr>
          <a:xfrm>
            <a:off x="8082646" y="1783080"/>
            <a:ext cx="3603386" cy="3127248"/>
          </a:xfrm>
          <a:prstGeom prst="roundRect">
            <a:avLst>
              <a:gd name="adj" fmla="val 2339"/>
            </a:avLst>
          </a:prstGeom>
          <a:solidFill>
            <a:srgbClr val="F2F2F2"/>
          </a:solidFill>
          <a:ln/>
        </p:spPr>
      </p:sp>
      <p:sp>
        <p:nvSpPr>
          <p:cNvPr id="20" name="Text 18"/>
          <p:cNvSpPr txBox="1"/>
          <p:nvPr/>
        </p:nvSpPr>
        <p:spPr>
          <a:xfrm>
            <a:off x="8219806" y="2057400"/>
            <a:ext cx="3329066" cy="539496"/>
          </a:xfrm>
          <a:prstGeom prst="rect">
            <a:avLst/>
          </a:prstGeom>
          <a:noFill/>
          <a:ln/>
        </p:spPr>
        <p:txBody>
          <a:bodyPr wrap="square" lIns="0" tIns="0" rIns="0" bIns="0" rtlCol="0" anchor="t"/>
          <a:lstStyle/>
          <a:p>
            <a:pPr algn="l" indent="0" marL="0">
              <a:buNone/>
            </a:pPr>
            <a:r>
              <a:rPr lang="ja-JP" altLang="en-US" sz="2800" b="1" dirty="0">
                <a:solidFill>
                  <a:srgbClr val="D55E00"/>
                </a:solidFill>
                <a:latin typeface="メイリオ" pitchFamily="34" charset="0"/>
                <a:ea typeface="メイリオ" pitchFamily="34" charset="-122"/>
                <a:cs typeface="メイリオ" pitchFamily="34" charset="-120"/>
              </a:rPr>
              <a:t>SR と EMG</a:t>
            </a:r>
            <a:endParaRPr lang="ja-JP" sz="2800" dirty="0"/>
          </a:p>
        </p:txBody>
      </p:sp>
      <p:sp>
        <p:nvSpPr>
          <p:cNvPr id="21" name="Text 19"/>
          <p:cNvSpPr txBox="1"/>
          <p:nvPr/>
        </p:nvSpPr>
        <p:spPr>
          <a:xfrm>
            <a:off x="8219806" y="2962656"/>
            <a:ext cx="3329066" cy="841248"/>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SR &gt; 0 ＝ 平坦あり</a:t>
            </a:r>
            <a:endParaRPr lang="ja-JP" sz="2200" dirty="0"/>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（多くは深すぎ）</a:t>
            </a:r>
            <a:endParaRPr lang="ja-JP" sz="2200" dirty="0"/>
          </a:p>
        </p:txBody>
      </p:sp>
      <p:sp>
        <p:nvSpPr>
          <p:cNvPr id="22" name="Text 20"/>
          <p:cNvSpPr txBox="1"/>
          <p:nvPr/>
        </p:nvSpPr>
        <p:spPr>
          <a:xfrm>
            <a:off x="8219806" y="4215384"/>
            <a:ext cx="3329066"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EMG ↑ ＝ 値が高く出る</a:t>
            </a:r>
            <a:endParaRPr lang="ja-JP"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限界</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覚醒</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脳波</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BIS</a:t>
            </a:r>
            <a:endParaRPr lang="ja-JP" sz="1100" dirty="0"/>
          </a:p>
        </p:txBody>
      </p:sp>
      <p:sp>
        <p:nvSpPr>
          <p:cNvPr id="7" name="Text 5"/>
          <p:cNvSpPr/>
          <p:nvPr/>
        </p:nvSpPr>
        <p:spPr>
          <a:xfrm>
            <a:off x="10707624" y="54864"/>
            <a:ext cx="621792" cy="585216"/>
          </a:xfrm>
          <a:prstGeom prst="roundRect">
            <a:avLst>
              <a:gd name="adj" fmla="val 15625"/>
            </a:avLst>
          </a:prstGeom>
          <a:solidFill>
            <a:srgbClr val="00A8AA"/>
          </a:solidFill>
          <a:ln/>
        </p:spPr>
        <p:txBody>
          <a:bodyPr wrap="squar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限界</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予防</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6</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Avidan MS, et al. N Engl J Med 2008, 2011 / Myles PS, et al. B-Aware. Lancet 2004</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Purdon PL, et al. The Ageing Brain. Br J Anaesth 2015;115 Suppl 1:i46-i57</a:t>
            </a:r>
            <a:endParaRPr lang="ja-JP" sz="1600" dirty="0"/>
          </a:p>
        </p:txBody>
      </p:sp>
      <p:sp>
        <p:nvSpPr>
          <p:cNvPr id="11" name="Text 9"/>
          <p:cNvSpPr txBox="1"/>
          <p:nvPr/>
        </p:nvSpPr>
        <p:spPr>
          <a:xfrm>
            <a:off x="502920" y="1828800"/>
            <a:ext cx="6858000" cy="3447288"/>
          </a:xfrm>
          <a:prstGeom prst="rect">
            <a:avLst/>
          </a:prstGeom>
          <a:noFill/>
          <a:ln/>
        </p:spPr>
        <p:txBody>
          <a:bodyPr wrap="square" lIns="0" tIns="0" rIns="0" bIns="0" rtlCol="0" anchor="t"/>
          <a:lstStyle/>
          <a:p>
            <a:pPr algn="l" marL="355600" indent="-355600">
              <a:spcAft>
                <a:spcPts val="22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ケタミン・亜酸化窒素では高めに出る</a:t>
            </a:r>
            <a:endParaRPr lang="ja-JP" sz="2400" dirty="0"/>
          </a:p>
          <a:p>
            <a:pPr algn="l" marL="355600" indent="-355600">
              <a:spcAft>
                <a:spcPts val="22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筋電図などの雑音で乱れる（SQI を見る）</a:t>
            </a:r>
            <a:endParaRPr lang="ja-JP" sz="2400" dirty="0"/>
          </a:p>
          <a:p>
            <a:pPr algn="l" marL="355600" indent="-355600">
              <a:spcAft>
                <a:spcPts val="22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薬ごとに脳波の形が違う</a:t>
            </a:r>
            <a:endParaRPr lang="ja-JP" sz="2400" dirty="0"/>
          </a:p>
          <a:p>
            <a:pPr algn="l" marL="355600" indent="-355600">
              <a:spcAft>
                <a:spcPts val="22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強い低体温で低く出る</a:t>
            </a:r>
            <a:endParaRPr lang="ja-JP" sz="2400" dirty="0"/>
          </a:p>
          <a:p>
            <a:pPr algn="l" marL="355600" indent="-355600">
              <a:spcAft>
                <a:spcPts val="22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小児・高齢者では解釈が変わる</a:t>
            </a:r>
            <a:endParaRPr lang="ja-JP" sz="2400" dirty="0"/>
          </a:p>
        </p:txBody>
      </p:sp>
      <p:sp>
        <p:nvSpPr>
          <p:cNvPr id="12" name="Shape 10"/>
          <p:cNvSpPr/>
          <p:nvPr/>
        </p:nvSpPr>
        <p:spPr>
          <a:xfrm>
            <a:off x="7635240" y="1783080"/>
            <a:ext cx="4050792" cy="3474720"/>
          </a:xfrm>
          <a:prstGeom prst="roundRect">
            <a:avLst>
              <a:gd name="adj" fmla="val 2105"/>
            </a:avLst>
          </a:prstGeom>
          <a:solidFill>
            <a:srgbClr val="F2F2F2"/>
          </a:solidFill>
          <a:ln/>
        </p:spPr>
      </p:sp>
      <p:sp>
        <p:nvSpPr>
          <p:cNvPr id="13" name="Text 11"/>
          <p:cNvSpPr txBox="1"/>
          <p:nvPr/>
        </p:nvSpPr>
        <p:spPr>
          <a:xfrm>
            <a:off x="7772400" y="2217420"/>
            <a:ext cx="3776472" cy="914400"/>
          </a:xfrm>
          <a:prstGeom prst="rect">
            <a:avLst/>
          </a:prstGeom>
          <a:noFill/>
          <a:ln/>
        </p:spPr>
        <p:txBody>
          <a:bodyPr wrap="square" lIns="0" tIns="0" rIns="0" bIns="0" rtlCol="0" anchor="t"/>
          <a:lstStyle/>
          <a:p>
            <a:pPr algn="l" indent="0" marL="0">
              <a:buNone/>
            </a:pPr>
            <a:r>
              <a:rPr lang="ja-JP" altLang="en-US" sz="2400" b="1" dirty="0">
                <a:solidFill>
                  <a:srgbClr val="00A8AA"/>
                </a:solidFill>
                <a:latin typeface="メイリオ" pitchFamily="34" charset="0"/>
                <a:ea typeface="メイリオ" pitchFamily="34" charset="-122"/>
                <a:cs typeface="メイリオ" pitchFamily="34" charset="-120"/>
              </a:rPr>
              <a:t>B-Unaware／</a:t>
            </a:r>
            <a:endParaRPr lang="ja-JP" sz="2400" dirty="0"/>
          </a:p>
          <a:p>
            <a:pPr algn="l" indent="0" marL="0">
              <a:buNone/>
            </a:pPr>
            <a:r>
              <a:rPr lang="ja-JP" altLang="en-US" sz="2400" b="1" dirty="0">
                <a:solidFill>
                  <a:srgbClr val="00A8AA"/>
                </a:solidFill>
                <a:latin typeface="メイリオ" pitchFamily="34" charset="0"/>
                <a:ea typeface="メイリオ" pitchFamily="34" charset="-122"/>
                <a:cs typeface="メイリオ" pitchFamily="34" charset="-120"/>
              </a:rPr>
              <a:t>BAG-RECALL</a:t>
            </a:r>
            <a:endParaRPr lang="ja-JP" sz="2400" dirty="0"/>
          </a:p>
        </p:txBody>
      </p:sp>
      <p:sp>
        <p:nvSpPr>
          <p:cNvPr id="14" name="Text 12"/>
          <p:cNvSpPr txBox="1"/>
          <p:nvPr/>
        </p:nvSpPr>
        <p:spPr>
          <a:xfrm>
            <a:off x="7772400" y="3406140"/>
            <a:ext cx="3776472" cy="141732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吸入麻酔では BIS は</a:t>
            </a:r>
            <a:endParaRPr lang="ja-JP" sz="2400" dirty="0"/>
          </a:p>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呼気麻酔薬濃度の</a:t>
            </a:r>
            <a:endParaRPr lang="ja-JP" sz="2400" dirty="0"/>
          </a:p>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アラームに</a:t>
            </a:r>
            <a:r>
              <a:rPr lang="ja-JP" altLang="en-US" sz="2400" b="1" dirty="0">
                <a:solidFill>
                  <a:srgbClr val="D55E00"/>
                </a:solidFill>
                <a:latin typeface="メイリオ" pitchFamily="34" charset="0"/>
                <a:ea typeface="メイリオ" pitchFamily="34" charset="-122"/>
                <a:cs typeface="メイリオ" pitchFamily="34" charset="-120"/>
              </a:rPr>
              <a:t>勝らなかった</a:t>
            </a:r>
            <a:endParaRPr lang="ja-JP"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誰に付けるか</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覚醒</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脳波</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BIS</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限界</a:t>
            </a:r>
            <a:endParaRPr lang="ja-JP" sz="1100" dirty="0"/>
          </a:p>
        </p:txBody>
      </p:sp>
      <p:sp>
        <p:nvSpPr>
          <p:cNvPr id="8" name="Text 6"/>
          <p:cNvSpPr/>
          <p:nvPr/>
        </p:nvSpPr>
        <p:spPr>
          <a:xfrm>
            <a:off x="11384280" y="54864"/>
            <a:ext cx="621792" cy="585216"/>
          </a:xfrm>
          <a:prstGeom prst="roundRect">
            <a:avLst>
              <a:gd name="adj" fmla="val 15625"/>
            </a:avLst>
          </a:prstGeom>
          <a:solidFill>
            <a:srgbClr val="00A8AA"/>
          </a:solidFill>
          <a:ln/>
        </p:spPr>
        <p:txBody>
          <a:bodyPr wrap="squar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予防</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7</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NICE Diagnostics guidance DG6. Depth of anaesthesia monitors (2012)</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Pandit JJ, et al. Br J Anaesth 2014;113:549-559</a:t>
            </a:r>
            <a:endParaRPr lang="ja-JP" sz="1600" dirty="0"/>
          </a:p>
        </p:txBody>
      </p:sp>
      <p:sp>
        <p:nvSpPr>
          <p:cNvPr id="11" name="Shape 9"/>
          <p:cNvSpPr/>
          <p:nvPr/>
        </p:nvSpPr>
        <p:spPr>
          <a:xfrm>
            <a:off x="502920" y="1691640"/>
            <a:ext cx="4956048" cy="4023360"/>
          </a:xfrm>
          <a:prstGeom prst="roundRect">
            <a:avLst>
              <a:gd name="adj" fmla="val 1818"/>
            </a:avLst>
          </a:prstGeom>
          <a:solidFill>
            <a:srgbClr val="F2F2F2"/>
          </a:solidFill>
          <a:ln/>
        </p:spPr>
      </p:sp>
      <p:sp>
        <p:nvSpPr>
          <p:cNvPr id="12" name="Text 10"/>
          <p:cNvSpPr txBox="1"/>
          <p:nvPr/>
        </p:nvSpPr>
        <p:spPr>
          <a:xfrm>
            <a:off x="640080" y="1920240"/>
            <a:ext cx="4681728" cy="539496"/>
          </a:xfrm>
          <a:prstGeom prst="rect">
            <a:avLst/>
          </a:prstGeom>
          <a:noFill/>
          <a:ln/>
        </p:spPr>
        <p:txBody>
          <a:bodyPr wrap="square" lIns="0" tIns="0" rIns="0" bIns="0" rtlCol="0" anchor="t"/>
          <a:lstStyle/>
          <a:p>
            <a:pPr algn="l" indent="0" marL="0">
              <a:buNone/>
            </a:pPr>
            <a:r>
              <a:rPr lang="ja-JP" altLang="en-US" sz="2800" b="1" dirty="0">
                <a:solidFill>
                  <a:srgbClr val="00A8AA"/>
                </a:solidFill>
                <a:latin typeface="メイリオ" pitchFamily="34" charset="0"/>
                <a:ea typeface="メイリオ" pitchFamily="34" charset="-122"/>
                <a:cs typeface="メイリオ" pitchFamily="34" charset="-120"/>
              </a:rPr>
              <a:t>付ける場面</a:t>
            </a:r>
            <a:endParaRPr lang="ja-JP" sz="2800" dirty="0"/>
          </a:p>
        </p:txBody>
      </p:sp>
      <p:sp>
        <p:nvSpPr>
          <p:cNvPr id="13" name="Text 11"/>
          <p:cNvSpPr txBox="1"/>
          <p:nvPr/>
        </p:nvSpPr>
        <p:spPr>
          <a:xfrm>
            <a:off x="640080" y="2779776"/>
            <a:ext cx="4681728" cy="457200"/>
          </a:xfrm>
          <a:prstGeom prst="rect">
            <a:avLst/>
          </a:prstGeom>
          <a:noFill/>
          <a:ln/>
        </p:spPr>
        <p:txBody>
          <a:bodyPr wrap="square" lIns="0" tIns="0" rIns="0" bIns="0" rtlCol="0" anchor="t"/>
          <a:lstStyle/>
          <a:p>
            <a:pPr algn="l" indent="0" marL="0">
              <a:buNone/>
            </a:pPr>
            <a:r>
              <a:rPr lang="ja-JP" altLang="en-US" sz="2400" b="1" dirty="0">
                <a:solidFill>
                  <a:srgbClr val="00A8AA"/>
                </a:solidFill>
                <a:latin typeface="メイリオ" pitchFamily="34" charset="0"/>
                <a:ea typeface="メイリオ" pitchFamily="34" charset="-122"/>
                <a:cs typeface="メイリオ" pitchFamily="34" charset="-120"/>
              </a:rPr>
              <a:t>TIVA ＋ 筋弛緩薬</a:t>
            </a:r>
            <a:endParaRPr lang="ja-JP" sz="2400" dirty="0"/>
          </a:p>
        </p:txBody>
      </p:sp>
      <p:sp>
        <p:nvSpPr>
          <p:cNvPr id="14" name="Text 12"/>
          <p:cNvSpPr txBox="1"/>
          <p:nvPr/>
        </p:nvSpPr>
        <p:spPr>
          <a:xfrm>
            <a:off x="640080" y="3621024"/>
            <a:ext cx="4681728"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覚醒の危険因子がある</a:t>
            </a:r>
            <a:endParaRPr lang="ja-JP" sz="2400" dirty="0"/>
          </a:p>
        </p:txBody>
      </p:sp>
      <p:sp>
        <p:nvSpPr>
          <p:cNvPr id="15" name="Text 13"/>
          <p:cNvSpPr txBox="1"/>
          <p:nvPr/>
        </p:nvSpPr>
        <p:spPr>
          <a:xfrm>
            <a:off x="640080" y="4462272"/>
            <a:ext cx="4681728" cy="9144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深すぎを避けたい</a:t>
            </a:r>
            <a:endParaRPr lang="ja-JP" sz="2400" dirty="0"/>
          </a:p>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高齢者・フレイル</a:t>
            </a:r>
            <a:endParaRPr lang="ja-JP" sz="2400" dirty="0"/>
          </a:p>
        </p:txBody>
      </p:sp>
      <p:sp>
        <p:nvSpPr>
          <p:cNvPr id="16" name="Shape 14"/>
          <p:cNvSpPr/>
          <p:nvPr/>
        </p:nvSpPr>
        <p:spPr>
          <a:xfrm>
            <a:off x="5733288" y="1691640"/>
            <a:ext cx="5952744" cy="1892808"/>
          </a:xfrm>
          <a:prstGeom prst="roundRect">
            <a:avLst>
              <a:gd name="adj" fmla="val 3865"/>
            </a:avLst>
          </a:prstGeom>
          <a:solidFill>
            <a:srgbClr val="F2F2F2"/>
          </a:solidFill>
          <a:ln/>
        </p:spPr>
      </p:sp>
      <p:sp>
        <p:nvSpPr>
          <p:cNvPr id="17" name="Text 15"/>
          <p:cNvSpPr txBox="1"/>
          <p:nvPr/>
        </p:nvSpPr>
        <p:spPr>
          <a:xfrm>
            <a:off x="5870448" y="1888236"/>
            <a:ext cx="5678424" cy="457200"/>
          </a:xfrm>
          <a:prstGeom prst="rect">
            <a:avLst/>
          </a:prstGeom>
          <a:noFill/>
          <a:ln/>
        </p:spPr>
        <p:txBody>
          <a:bodyPr wrap="square" lIns="0" tIns="0" rIns="0" bIns="0" rtlCol="0" anchor="t"/>
          <a:lstStyle/>
          <a:p>
            <a:pPr algn="l" indent="0" marL="0">
              <a:buNone/>
            </a:pPr>
            <a:r>
              <a:rPr lang="ja-JP" altLang="en-US" sz="2400" b="1" dirty="0">
                <a:solidFill>
                  <a:srgbClr val="262626"/>
                </a:solidFill>
                <a:latin typeface="メイリオ" pitchFamily="34" charset="0"/>
                <a:ea typeface="メイリオ" pitchFamily="34" charset="-122"/>
                <a:cs typeface="メイリオ" pitchFamily="34" charset="-120"/>
              </a:rPr>
              <a:t>吸入麻酔なら</a:t>
            </a:r>
            <a:endParaRPr lang="ja-JP" sz="2400" dirty="0"/>
          </a:p>
        </p:txBody>
      </p:sp>
      <p:sp>
        <p:nvSpPr>
          <p:cNvPr id="18" name="Text 16"/>
          <p:cNvSpPr txBox="1"/>
          <p:nvPr/>
        </p:nvSpPr>
        <p:spPr>
          <a:xfrm>
            <a:off x="5870448" y="2455164"/>
            <a:ext cx="5678424"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呼気麻酔薬濃度のアラーム</a:t>
            </a:r>
            <a:endParaRPr lang="ja-JP" sz="2200" dirty="0"/>
          </a:p>
        </p:txBody>
      </p:sp>
      <p:sp>
        <p:nvSpPr>
          <p:cNvPr id="19" name="Text 17"/>
          <p:cNvSpPr txBox="1"/>
          <p:nvPr/>
        </p:nvSpPr>
        <p:spPr>
          <a:xfrm>
            <a:off x="5870448" y="2967228"/>
            <a:ext cx="5678424"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下限 0.7 MAC（試験での設定）</a:t>
            </a:r>
            <a:endParaRPr lang="ja-JP" sz="2200" dirty="0"/>
          </a:p>
        </p:txBody>
      </p:sp>
      <p:sp>
        <p:nvSpPr>
          <p:cNvPr id="20" name="Shape 18"/>
          <p:cNvSpPr/>
          <p:nvPr/>
        </p:nvSpPr>
        <p:spPr>
          <a:xfrm>
            <a:off x="5733288" y="3822192"/>
            <a:ext cx="5952744" cy="1892808"/>
          </a:xfrm>
          <a:prstGeom prst="roundRect">
            <a:avLst>
              <a:gd name="adj" fmla="val 3865"/>
            </a:avLst>
          </a:prstGeom>
          <a:solidFill>
            <a:srgbClr val="F2F2F2"/>
          </a:solidFill>
          <a:ln/>
        </p:spPr>
      </p:sp>
      <p:sp>
        <p:nvSpPr>
          <p:cNvPr id="21" name="Text 19"/>
          <p:cNvSpPr txBox="1"/>
          <p:nvPr/>
        </p:nvSpPr>
        <p:spPr>
          <a:xfrm>
            <a:off x="5870448" y="4018788"/>
            <a:ext cx="5678424" cy="457200"/>
          </a:xfrm>
          <a:prstGeom prst="rect">
            <a:avLst/>
          </a:prstGeom>
          <a:noFill/>
          <a:ln/>
        </p:spPr>
        <p:txBody>
          <a:bodyPr wrap="square" lIns="0" tIns="0" rIns="0" bIns="0" rtlCol="0" anchor="t"/>
          <a:lstStyle/>
          <a:p>
            <a:pPr algn="l" indent="0" marL="0">
              <a:buNone/>
            </a:pPr>
            <a:r>
              <a:rPr lang="ja-JP" altLang="en-US" sz="2400" b="1" dirty="0">
                <a:solidFill>
                  <a:srgbClr val="262626"/>
                </a:solidFill>
                <a:latin typeface="メイリオ" pitchFamily="34" charset="0"/>
                <a:ea typeface="メイリオ" pitchFamily="34" charset="-122"/>
                <a:cs typeface="メイリオ" pitchFamily="34" charset="-120"/>
              </a:rPr>
              <a:t>根拠</a:t>
            </a:r>
            <a:endParaRPr lang="ja-JP" sz="2400" dirty="0"/>
          </a:p>
        </p:txBody>
      </p:sp>
      <p:sp>
        <p:nvSpPr>
          <p:cNvPr id="22" name="Text 20"/>
          <p:cNvSpPr txBox="1"/>
          <p:nvPr/>
        </p:nvSpPr>
        <p:spPr>
          <a:xfrm>
            <a:off x="5870448" y="4585716"/>
            <a:ext cx="5678424"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NICE DG6：高リスク例と TIVA で選択肢</a:t>
            </a:r>
            <a:endParaRPr lang="ja-JP" sz="2200" dirty="0"/>
          </a:p>
        </p:txBody>
      </p:sp>
      <p:sp>
        <p:nvSpPr>
          <p:cNvPr id="23" name="Text 21"/>
          <p:cNvSpPr txBox="1"/>
          <p:nvPr/>
        </p:nvSpPr>
        <p:spPr>
          <a:xfrm>
            <a:off x="5870448" y="5097780"/>
            <a:ext cx="5678424"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NAP5：TIVA＋筋弛緩薬で推奨</a:t>
            </a:r>
            <a:endParaRPr lang="ja-JP" sz="2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予防の実務</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覚醒</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脳波</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BIS</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限界</a:t>
            </a:r>
            <a:endParaRPr lang="ja-JP" sz="1100" dirty="0"/>
          </a:p>
        </p:txBody>
      </p:sp>
      <p:sp>
        <p:nvSpPr>
          <p:cNvPr id="8" name="Text 6"/>
          <p:cNvSpPr/>
          <p:nvPr/>
        </p:nvSpPr>
        <p:spPr>
          <a:xfrm>
            <a:off x="11384280" y="54864"/>
            <a:ext cx="621792" cy="585216"/>
          </a:xfrm>
          <a:prstGeom prst="roundRect">
            <a:avLst>
              <a:gd name="adj" fmla="val 15625"/>
            </a:avLst>
          </a:prstGeom>
          <a:solidFill>
            <a:srgbClr val="00A8AA"/>
          </a:solidFill>
          <a:ln/>
        </p:spPr>
        <p:txBody>
          <a:bodyPr wrap="squar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予防</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8</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Pandit JJ, et al. Br J Anaesth 2014;113:549-559</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Thilen SR, et al. Anesthesiology 2023;138:13-41</a:t>
            </a:r>
            <a:endParaRPr lang="ja-JP" sz="1600" dirty="0"/>
          </a:p>
        </p:txBody>
      </p:sp>
      <p:sp>
        <p:nvSpPr>
          <p:cNvPr id="11" name="Text 9"/>
          <p:cNvSpPr/>
          <p:nvPr/>
        </p:nvSpPr>
        <p:spPr>
          <a:xfrm>
            <a:off x="502920" y="1691640"/>
            <a:ext cx="3246120" cy="1005840"/>
          </a:xfrm>
          <a:prstGeom prst="roundRect">
            <a:avLst>
              <a:gd name="adj" fmla="val 9091"/>
            </a:avLst>
          </a:prstGeom>
          <a:solidFill>
            <a:srgbClr val="00A8AA"/>
          </a:solidFill>
          <a:ln/>
        </p:spPr>
        <p:txBody>
          <a:bodyPr wrap="square" lIns="45720" tIns="45720" rIns="45720" bIns="45720" rtlCol="0" anchor="ctr"/>
          <a:lstStyle/>
          <a:p>
            <a:pPr algn="ctr" indent="0" marL="0">
              <a:buNone/>
            </a:pPr>
            <a:r>
              <a:rPr lang="ja-JP" altLang="en-US" sz="2400" b="1" dirty="0">
                <a:solidFill>
                  <a:srgbClr val="FFFFFF"/>
                </a:solidFill>
                <a:latin typeface="メイリオ" pitchFamily="34" charset="0"/>
                <a:ea typeface="メイリオ" pitchFamily="34" charset="-122"/>
                <a:cs typeface="メイリオ" pitchFamily="34" charset="-120"/>
              </a:rPr>
              <a:t>① 薬が</a:t>
            </a:r>
            <a:endParaRPr lang="ja-JP" sz="2400" dirty="0"/>
          </a:p>
          <a:p>
            <a:pPr algn="ctr" indent="0" marL="0">
              <a:buNone/>
            </a:pPr>
            <a:r>
              <a:rPr lang="ja-JP" altLang="en-US" sz="2400" b="1" dirty="0">
                <a:solidFill>
                  <a:srgbClr val="FFFFFF"/>
                </a:solidFill>
                <a:latin typeface="メイリオ" pitchFamily="34" charset="0"/>
                <a:ea typeface="メイリオ" pitchFamily="34" charset="-122"/>
                <a:cs typeface="メイリオ" pitchFamily="34" charset="-120"/>
              </a:rPr>
              <a:t>届いているか</a:t>
            </a:r>
            <a:endParaRPr lang="ja-JP" sz="2400" dirty="0"/>
          </a:p>
        </p:txBody>
      </p:sp>
      <p:sp>
        <p:nvSpPr>
          <p:cNvPr id="12" name="Text 10"/>
          <p:cNvSpPr/>
          <p:nvPr/>
        </p:nvSpPr>
        <p:spPr>
          <a:xfrm>
            <a:off x="4471416" y="1691640"/>
            <a:ext cx="3246120" cy="1005840"/>
          </a:xfrm>
          <a:prstGeom prst="roundRect">
            <a:avLst>
              <a:gd name="adj" fmla="val 9091"/>
            </a:avLst>
          </a:prstGeom>
          <a:solidFill>
            <a:srgbClr val="F2F2F2"/>
          </a:solidFill>
          <a:ln/>
        </p:spPr>
        <p:txBody>
          <a:bodyPr wrap="square" lIns="45720" tIns="45720" rIns="45720" bIns="45720" rtlCol="0" anchor="ctr"/>
          <a:lstStyle/>
          <a:p>
            <a:pPr algn="ctr" indent="0" marL="0">
              <a:buNone/>
            </a:pPr>
            <a:r>
              <a:rPr lang="ja-JP" altLang="en-US" sz="2400" dirty="0">
                <a:solidFill>
                  <a:srgbClr val="262626"/>
                </a:solidFill>
                <a:latin typeface="メイリオ" pitchFamily="34" charset="0"/>
                <a:ea typeface="メイリオ" pitchFamily="34" charset="-122"/>
                <a:cs typeface="メイリオ" pitchFamily="34" charset="-120"/>
              </a:rPr>
              <a:t>② 導入〜挿管の</a:t>
            </a:r>
            <a:endParaRPr lang="ja-JP" sz="2400" dirty="0"/>
          </a:p>
          <a:p>
            <a:pPr algn="ctr" indent="0" marL="0">
              <a:buNone/>
            </a:pPr>
            <a:r>
              <a:rPr lang="ja-JP" altLang="en-US" sz="2400" dirty="0">
                <a:solidFill>
                  <a:srgbClr val="262626"/>
                </a:solidFill>
                <a:latin typeface="メイリオ" pitchFamily="34" charset="0"/>
                <a:ea typeface="メイリオ" pitchFamily="34" charset="-122"/>
                <a:cs typeface="メイリオ" pitchFamily="34" charset="-120"/>
              </a:rPr>
              <a:t>空白をなくす</a:t>
            </a:r>
            <a:endParaRPr lang="ja-JP" sz="2400" dirty="0"/>
          </a:p>
        </p:txBody>
      </p:sp>
      <p:sp>
        <p:nvSpPr>
          <p:cNvPr id="13" name="Text 11"/>
          <p:cNvSpPr/>
          <p:nvPr/>
        </p:nvSpPr>
        <p:spPr>
          <a:xfrm>
            <a:off x="8439912" y="1691640"/>
            <a:ext cx="3246120" cy="1005840"/>
          </a:xfrm>
          <a:prstGeom prst="roundRect">
            <a:avLst>
              <a:gd name="adj" fmla="val 9091"/>
            </a:avLst>
          </a:prstGeom>
          <a:solidFill>
            <a:srgbClr val="F2F2F2"/>
          </a:solidFill>
          <a:ln/>
        </p:spPr>
        <p:txBody>
          <a:bodyPr wrap="square" lIns="45720" tIns="45720" rIns="45720" bIns="45720" rtlCol="0" anchor="ctr"/>
          <a:lstStyle/>
          <a:p>
            <a:pPr algn="ctr" indent="0" marL="0">
              <a:buNone/>
            </a:pPr>
            <a:r>
              <a:rPr lang="ja-JP" altLang="en-US" sz="2400" dirty="0">
                <a:solidFill>
                  <a:srgbClr val="262626"/>
                </a:solidFill>
                <a:latin typeface="メイリオ" pitchFamily="34" charset="0"/>
                <a:ea typeface="メイリオ" pitchFamily="34" charset="-122"/>
                <a:cs typeface="メイリオ" pitchFamily="34" charset="-120"/>
              </a:rPr>
              <a:t>③ 筋弛緩は</a:t>
            </a:r>
            <a:endParaRPr lang="ja-JP" sz="2400" dirty="0"/>
          </a:p>
          <a:p>
            <a:pPr algn="ctr" indent="0" marL="0">
              <a:buNone/>
            </a:pPr>
            <a:r>
              <a:rPr lang="ja-JP" altLang="en-US" sz="2400" dirty="0">
                <a:solidFill>
                  <a:srgbClr val="262626"/>
                </a:solidFill>
                <a:latin typeface="メイリオ" pitchFamily="34" charset="0"/>
                <a:ea typeface="メイリオ" pitchFamily="34" charset="-122"/>
                <a:cs typeface="メイリオ" pitchFamily="34" charset="-120"/>
              </a:rPr>
              <a:t>必要なときだけ</a:t>
            </a:r>
            <a:endParaRPr lang="ja-JP" sz="2400" dirty="0"/>
          </a:p>
        </p:txBody>
      </p:sp>
      <p:sp>
        <p:nvSpPr>
          <p:cNvPr id="14" name="Text 12"/>
          <p:cNvSpPr/>
          <p:nvPr/>
        </p:nvSpPr>
        <p:spPr>
          <a:xfrm>
            <a:off x="2487168" y="3410712"/>
            <a:ext cx="3246120" cy="1005840"/>
          </a:xfrm>
          <a:prstGeom prst="roundRect">
            <a:avLst>
              <a:gd name="adj" fmla="val 9091"/>
            </a:avLst>
          </a:prstGeom>
          <a:solidFill>
            <a:srgbClr val="F2F2F2"/>
          </a:solidFill>
          <a:ln/>
        </p:spPr>
        <p:txBody>
          <a:bodyPr wrap="square" lIns="45720" tIns="45720" rIns="45720" bIns="45720" rtlCol="0" anchor="ctr"/>
          <a:lstStyle/>
          <a:p>
            <a:pPr algn="ctr" indent="0" marL="0">
              <a:buNone/>
            </a:pPr>
            <a:r>
              <a:rPr lang="ja-JP" altLang="en-US" sz="2400" dirty="0">
                <a:solidFill>
                  <a:srgbClr val="262626"/>
                </a:solidFill>
                <a:latin typeface="メイリオ" pitchFamily="34" charset="0"/>
                <a:ea typeface="メイリオ" pitchFamily="34" charset="-122"/>
                <a:cs typeface="メイリオ" pitchFamily="34" charset="-120"/>
              </a:rPr>
              <a:t>④ 覚醒は</a:t>
            </a:r>
            <a:endParaRPr lang="ja-JP" sz="2400" dirty="0"/>
          </a:p>
          <a:p>
            <a:pPr algn="ctr" indent="0" marL="0">
              <a:buNone/>
            </a:pPr>
            <a:r>
              <a:rPr lang="ja-JP" altLang="en-US" sz="2400" dirty="0">
                <a:solidFill>
                  <a:srgbClr val="262626"/>
                </a:solidFill>
                <a:latin typeface="メイリオ" pitchFamily="34" charset="0"/>
                <a:ea typeface="メイリオ" pitchFamily="34" charset="-122"/>
                <a:cs typeface="メイリオ" pitchFamily="34" charset="-120"/>
              </a:rPr>
              <a:t>筋弛緩が戻ってから</a:t>
            </a:r>
            <a:endParaRPr lang="ja-JP" sz="2400" dirty="0"/>
          </a:p>
        </p:txBody>
      </p:sp>
      <p:sp>
        <p:nvSpPr>
          <p:cNvPr id="15" name="Text 13"/>
          <p:cNvSpPr/>
          <p:nvPr/>
        </p:nvSpPr>
        <p:spPr>
          <a:xfrm>
            <a:off x="6455664" y="3410712"/>
            <a:ext cx="3246120" cy="1005840"/>
          </a:xfrm>
          <a:prstGeom prst="roundRect">
            <a:avLst>
              <a:gd name="adj" fmla="val 9091"/>
            </a:avLst>
          </a:prstGeom>
          <a:solidFill>
            <a:srgbClr val="F2F2F2"/>
          </a:solidFill>
          <a:ln/>
        </p:spPr>
        <p:txBody>
          <a:bodyPr wrap="square" lIns="45720" tIns="45720" rIns="45720" bIns="45720" rtlCol="0" anchor="ctr"/>
          <a:lstStyle/>
          <a:p>
            <a:pPr algn="ctr" indent="0" marL="0">
              <a:buNone/>
            </a:pPr>
            <a:r>
              <a:rPr lang="ja-JP" altLang="en-US" sz="2400" dirty="0">
                <a:solidFill>
                  <a:srgbClr val="262626"/>
                </a:solidFill>
                <a:latin typeface="メイリオ" pitchFamily="34" charset="0"/>
                <a:ea typeface="メイリオ" pitchFamily="34" charset="-122"/>
                <a:cs typeface="メイリオ" pitchFamily="34" charset="-120"/>
              </a:rPr>
              <a:t>⑤ 疑ったら</a:t>
            </a:r>
            <a:endParaRPr lang="ja-JP" sz="2400" dirty="0"/>
          </a:p>
          <a:p>
            <a:pPr algn="ctr" indent="0" marL="0">
              <a:buNone/>
            </a:pPr>
            <a:r>
              <a:rPr lang="ja-JP" altLang="en-US" sz="2400" dirty="0">
                <a:solidFill>
                  <a:srgbClr val="262626"/>
                </a:solidFill>
                <a:latin typeface="メイリオ" pitchFamily="34" charset="0"/>
                <a:ea typeface="メイリオ" pitchFamily="34" charset="-122"/>
                <a:cs typeface="メイリオ" pitchFamily="34" charset="-120"/>
              </a:rPr>
              <a:t>認めて説明</a:t>
            </a:r>
            <a:endParaRPr lang="ja-JP" sz="2400" dirty="0"/>
          </a:p>
        </p:txBody>
      </p:sp>
      <p:sp>
        <p:nvSpPr>
          <p:cNvPr id="16" name="Shape 14"/>
          <p:cNvSpPr/>
          <p:nvPr/>
        </p:nvSpPr>
        <p:spPr>
          <a:xfrm>
            <a:off x="3886200" y="2194560"/>
            <a:ext cx="448056" cy="0"/>
          </a:xfrm>
          <a:prstGeom prst="line">
            <a:avLst/>
          </a:prstGeom>
          <a:noFill/>
          <a:ln w="38100">
            <a:solidFill>
              <a:srgbClr val="404040"/>
            </a:solidFill>
            <a:prstDash val="solid"/>
            <a:tailEnd type="triangle"/>
          </a:ln>
        </p:spPr>
      </p:sp>
      <p:sp>
        <p:nvSpPr>
          <p:cNvPr id="17" name="Shape 15"/>
          <p:cNvSpPr/>
          <p:nvPr/>
        </p:nvSpPr>
        <p:spPr>
          <a:xfrm>
            <a:off x="7854696" y="2194560"/>
            <a:ext cx="448056" cy="0"/>
          </a:xfrm>
          <a:prstGeom prst="line">
            <a:avLst/>
          </a:prstGeom>
          <a:noFill/>
          <a:ln w="38100">
            <a:solidFill>
              <a:srgbClr val="404040"/>
            </a:solidFill>
            <a:prstDash val="solid"/>
            <a:tailEnd type="triangle"/>
          </a:ln>
        </p:spPr>
      </p:sp>
      <p:sp>
        <p:nvSpPr>
          <p:cNvPr id="18" name="Shape 16"/>
          <p:cNvSpPr/>
          <p:nvPr/>
        </p:nvSpPr>
        <p:spPr>
          <a:xfrm>
            <a:off x="5870448" y="3913632"/>
            <a:ext cx="448056" cy="0"/>
          </a:xfrm>
          <a:prstGeom prst="line">
            <a:avLst/>
          </a:prstGeom>
          <a:noFill/>
          <a:ln w="38100">
            <a:solidFill>
              <a:srgbClr val="404040"/>
            </a:solidFill>
            <a:prstDash val="solid"/>
            <a:tailEnd type="triangle"/>
          </a:ln>
        </p:spPr>
      </p:sp>
      <p:sp>
        <p:nvSpPr>
          <p:cNvPr id="19" name="Shape 17"/>
          <p:cNvSpPr/>
          <p:nvPr/>
        </p:nvSpPr>
        <p:spPr>
          <a:xfrm>
            <a:off x="10062972" y="2761488"/>
            <a:ext cx="0" cy="310896"/>
          </a:xfrm>
          <a:prstGeom prst="line">
            <a:avLst/>
          </a:prstGeom>
          <a:noFill/>
          <a:ln w="38100">
            <a:solidFill>
              <a:srgbClr val="404040"/>
            </a:solidFill>
            <a:prstDash val="solid"/>
          </a:ln>
        </p:spPr>
      </p:sp>
      <p:sp>
        <p:nvSpPr>
          <p:cNvPr id="20" name="Shape 18"/>
          <p:cNvSpPr/>
          <p:nvPr/>
        </p:nvSpPr>
        <p:spPr>
          <a:xfrm>
            <a:off x="4091940" y="3054096"/>
            <a:ext cx="5989320" cy="0"/>
          </a:xfrm>
          <a:prstGeom prst="line">
            <a:avLst/>
          </a:prstGeom>
          <a:noFill/>
          <a:ln w="38100">
            <a:solidFill>
              <a:srgbClr val="404040"/>
            </a:solidFill>
            <a:prstDash val="solid"/>
          </a:ln>
        </p:spPr>
      </p:sp>
      <p:sp>
        <p:nvSpPr>
          <p:cNvPr id="21" name="Shape 19"/>
          <p:cNvSpPr/>
          <p:nvPr/>
        </p:nvSpPr>
        <p:spPr>
          <a:xfrm>
            <a:off x="4110228" y="3035808"/>
            <a:ext cx="0" cy="310896"/>
          </a:xfrm>
          <a:prstGeom prst="line">
            <a:avLst/>
          </a:prstGeom>
          <a:noFill/>
          <a:ln w="38100">
            <a:solidFill>
              <a:srgbClr val="404040"/>
            </a:solidFill>
            <a:prstDash val="solid"/>
            <a:tailEnd type="triangle"/>
          </a:ln>
        </p:spPr>
      </p:sp>
      <p:sp>
        <p:nvSpPr>
          <p:cNvPr id="22" name="Text 20"/>
          <p:cNvSpPr txBox="1"/>
          <p:nvPr/>
        </p:nvSpPr>
        <p:spPr>
          <a:xfrm>
            <a:off x="502920" y="4672584"/>
            <a:ext cx="11155680" cy="1042416"/>
          </a:xfrm>
          <a:prstGeom prst="rect">
            <a:avLst/>
          </a:prstGeom>
          <a:noFill/>
          <a:ln/>
        </p:spPr>
        <p:txBody>
          <a:bodyPr wrap="square" lIns="0" tIns="0" rIns="0" bIns="0" rtlCol="0" anchor="t"/>
          <a:lstStyle/>
          <a:p>
            <a:pPr algn="l" marL="355600" indent="-355600">
              <a:spcAft>
                <a:spcPts val="1000"/>
              </a:spcAft>
              <a:buSzPct val="100000"/>
              <a:buChar char="•"/>
            </a:pPr>
            <a:r>
              <a:rPr lang="ja-JP" altLang="en-US" sz="2400" b="1" dirty="0">
                <a:solidFill>
                  <a:srgbClr val="262626"/>
                </a:solidFill>
                <a:latin typeface="メイリオ" pitchFamily="34" charset="0"/>
                <a:ea typeface="メイリオ" pitchFamily="34" charset="-122"/>
                <a:cs typeface="メイリオ" pitchFamily="34" charset="-120"/>
              </a:rPr>
              <a:t>TIVA：</a:t>
            </a:r>
            <a:r>
              <a:rPr lang="ja-JP" altLang="en-US" sz="2400" dirty="0">
                <a:solidFill>
                  <a:srgbClr val="262626"/>
                </a:solidFill>
                <a:latin typeface="メイリオ" pitchFamily="34" charset="0"/>
                <a:ea typeface="メイリオ" pitchFamily="34" charset="-122"/>
                <a:cs typeface="メイリオ" pitchFamily="34" charset="-120"/>
              </a:rPr>
              <a:t>静脈路を目で確認、ポンプの動作と残量、ラインの外れ</a:t>
            </a:r>
            <a:endParaRPr lang="ja-JP" sz="2400" dirty="0"/>
          </a:p>
          <a:p>
            <a:pPr algn="l" marL="355600" indent="-355600">
              <a:spcAft>
                <a:spcPts val="1000"/>
              </a:spcAft>
              <a:buSzPct val="100000"/>
              <a:buChar char="•"/>
            </a:pPr>
            <a:r>
              <a:rPr lang="ja-JP" altLang="en-US" sz="2400" b="1" dirty="0">
                <a:solidFill>
                  <a:srgbClr val="262626"/>
                </a:solidFill>
                <a:latin typeface="メイリオ" pitchFamily="34" charset="0"/>
                <a:ea typeface="メイリオ" pitchFamily="34" charset="-122"/>
                <a:cs typeface="メイリオ" pitchFamily="34" charset="-120"/>
              </a:rPr>
              <a:t>覚醒を訴えたら：</a:t>
            </a:r>
            <a:r>
              <a:rPr lang="ja-JP" altLang="en-US" sz="2400" dirty="0">
                <a:solidFill>
                  <a:srgbClr val="262626"/>
                </a:solidFill>
                <a:latin typeface="メイリオ" pitchFamily="34" charset="0"/>
                <a:ea typeface="メイリオ" pitchFamily="34" charset="-122"/>
                <a:cs typeface="メイリオ" pitchFamily="34" charset="-120"/>
              </a:rPr>
              <a:t>否定せず聞く、記録し、フォローにつなぐ</a:t>
            </a:r>
            <a:endParaRPr lang="ja-JP"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まとめ</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覚醒</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脳波</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BIS</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限界</a:t>
            </a:r>
            <a:endParaRPr lang="ja-JP" sz="1100" dirty="0"/>
          </a:p>
        </p:txBody>
      </p:sp>
      <p:sp>
        <p:nvSpPr>
          <p:cNvPr id="8" name="Text 6"/>
          <p:cNvSpPr/>
          <p:nvPr/>
        </p:nvSpPr>
        <p:spPr>
          <a:xfrm>
            <a:off x="11384280" y="54864"/>
            <a:ext cx="621792" cy="585216"/>
          </a:xfrm>
          <a:prstGeom prst="roundRect">
            <a:avLst>
              <a:gd name="adj" fmla="val 15625"/>
            </a:avLst>
          </a:prstGeom>
          <a:solidFill>
            <a:srgbClr val="00A8AA"/>
          </a:solidFill>
          <a:ln/>
        </p:spPr>
        <p:txBody>
          <a:bodyPr wrap="squar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予防</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9</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Pandit JJ, et al. Br J Anaesth 2014 / Purdon PL, et al. Anesthesiology 2015</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NICE DG6 (2012) / Avidan MS, et al. N Engl J Med 2008, 2011</a:t>
            </a:r>
            <a:endParaRPr lang="ja-JP" sz="1600" dirty="0"/>
          </a:p>
        </p:txBody>
      </p:sp>
      <p:sp>
        <p:nvSpPr>
          <p:cNvPr id="11" name="Text 9"/>
          <p:cNvSpPr txBox="1"/>
          <p:nvPr/>
        </p:nvSpPr>
        <p:spPr>
          <a:xfrm>
            <a:off x="502920" y="1783080"/>
            <a:ext cx="11155680" cy="3941064"/>
          </a:xfrm>
          <a:prstGeom prst="rect">
            <a:avLst/>
          </a:prstGeom>
          <a:noFill/>
          <a:ln/>
        </p:spPr>
        <p:txBody>
          <a:bodyPr wrap="square" lIns="0" tIns="0" rIns="0" bIns="0" rtlCol="0" anchor="t"/>
          <a:lstStyle/>
          <a:p>
            <a:pPr algn="l" marL="406400" indent="-406400">
              <a:spcAft>
                <a:spcPts val="2400"/>
              </a:spcAft>
              <a:buSzPct val="100000"/>
              <a:buChar char="•"/>
            </a:pPr>
            <a:r>
              <a:rPr lang="ja-JP" altLang="en-US" sz="2800" dirty="0">
                <a:solidFill>
                  <a:srgbClr val="262626"/>
                </a:solidFill>
                <a:latin typeface="メイリオ" pitchFamily="34" charset="0"/>
                <a:ea typeface="メイリオ" pitchFamily="34" charset="-122"/>
                <a:cs typeface="メイリオ" pitchFamily="34" charset="-120"/>
              </a:rPr>
              <a:t>術中覚醒は約 1/19,000、筋弛緩薬で約 1/8,200</a:t>
            </a:r>
            <a:endParaRPr lang="ja-JP" sz="2800" dirty="0"/>
          </a:p>
          <a:p>
            <a:pPr algn="l" marL="406400" indent="-406400">
              <a:spcAft>
                <a:spcPts val="2400"/>
              </a:spcAft>
              <a:buSzPct val="100000"/>
              <a:buChar char="•"/>
            </a:pPr>
            <a:r>
              <a:rPr lang="ja-JP" altLang="en-US" sz="2800" dirty="0">
                <a:solidFill>
                  <a:srgbClr val="262626"/>
                </a:solidFill>
                <a:latin typeface="メイリオ" pitchFamily="34" charset="0"/>
                <a:ea typeface="メイリオ" pitchFamily="34" charset="-122"/>
                <a:cs typeface="メイリオ" pitchFamily="34" charset="-120"/>
              </a:rPr>
              <a:t>全身麻酔の脳波は前頭部の α ＋ δ、平坦は深すぎ</a:t>
            </a:r>
            <a:endParaRPr lang="ja-JP" sz="2800" dirty="0"/>
          </a:p>
          <a:p>
            <a:pPr algn="l" marL="406400" indent="-406400">
              <a:spcAft>
                <a:spcPts val="2400"/>
              </a:spcAft>
              <a:buSzPct val="100000"/>
              <a:buChar char="•"/>
            </a:pPr>
            <a:r>
              <a:rPr lang="ja-JP" altLang="en-US" sz="2800" dirty="0">
                <a:solidFill>
                  <a:srgbClr val="262626"/>
                </a:solidFill>
                <a:latin typeface="メイリオ" pitchFamily="34" charset="0"/>
                <a:ea typeface="メイリオ" pitchFamily="34" charset="-122"/>
                <a:cs typeface="メイリオ" pitchFamily="34" charset="-120"/>
              </a:rPr>
              <a:t>BIS 40–60 は目安。値と傾向と生波形を一緒に見る</a:t>
            </a:r>
            <a:endParaRPr lang="ja-JP" sz="2800" dirty="0"/>
          </a:p>
          <a:p>
            <a:pPr algn="l" marL="406400" indent="-406400">
              <a:spcAft>
                <a:spcPts val="2400"/>
              </a:spcAft>
              <a:buSzPct val="100000"/>
              <a:buChar char="•"/>
            </a:pPr>
            <a:r>
              <a:rPr lang="ja-JP" altLang="en-US" sz="2800" dirty="0">
                <a:solidFill>
                  <a:srgbClr val="262626"/>
                </a:solidFill>
                <a:latin typeface="メイリオ" pitchFamily="34" charset="0"/>
                <a:ea typeface="メイリオ" pitchFamily="34" charset="-122"/>
                <a:cs typeface="メイリオ" pitchFamily="34" charset="-120"/>
              </a:rPr>
              <a:t>TIVA ＋ 筋弛緩薬では</a:t>
            </a:r>
            <a:r>
              <a:rPr lang="ja-JP" altLang="en-US" sz="2800" b="1" dirty="0">
                <a:solidFill>
                  <a:srgbClr val="00A8AA"/>
                </a:solidFill>
                <a:latin typeface="メイリオ" pitchFamily="34" charset="0"/>
                <a:ea typeface="メイリオ" pitchFamily="34" charset="-122"/>
                <a:cs typeface="メイリオ" pitchFamily="34" charset="-120"/>
              </a:rPr>
              <a:t>脳波モニターを付ける</a:t>
            </a:r>
            <a:endParaRPr lang="ja-JP" sz="2800" dirty="0"/>
          </a:p>
          <a:p>
            <a:pPr algn="l" marL="406400" indent="-406400">
              <a:spcAft>
                <a:spcPts val="2400"/>
              </a:spcAft>
              <a:buSzPct val="100000"/>
              <a:buChar char="•"/>
            </a:pPr>
            <a:r>
              <a:rPr lang="ja-JP" altLang="en-US" sz="2800" dirty="0">
                <a:solidFill>
                  <a:srgbClr val="262626"/>
                </a:solidFill>
                <a:latin typeface="メイリオ" pitchFamily="34" charset="0"/>
                <a:ea typeface="メイリオ" pitchFamily="34" charset="-122"/>
                <a:cs typeface="メイリオ" pitchFamily="34" charset="-120"/>
              </a:rPr>
              <a:t>薬が届いているかの確認が、</a:t>
            </a:r>
            <a:r>
              <a:rPr lang="ja-JP" altLang="en-US" sz="2800" b="1" dirty="0">
                <a:solidFill>
                  <a:srgbClr val="00A8AA"/>
                </a:solidFill>
                <a:latin typeface="メイリオ" pitchFamily="34" charset="0"/>
                <a:ea typeface="メイリオ" pitchFamily="34" charset="-122"/>
                <a:cs typeface="メイリオ" pitchFamily="34" charset="-120"/>
              </a:rPr>
              <a:t>いちばんの予防</a:t>
            </a:r>
            <a:endParaRPr lang="ja-JP" sz="2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メイリオ"/>
        <a:ea typeface="メイリオ"/>
        <a:cs typeface=""/>
        <a:font script="Jpan" typeface="メイリオ"/>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メイリオ"/>
        <a:ea typeface="メイリオ"/>
        <a:cs typeface=""/>
        <a:font script="Jpan" typeface="メイリオ"/>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2-8 脳波モニターと術中覚醒</dc:title>
  <dc:subject/>
  <dc:creator>Anes-lecture</dc:creator>
  <cp:lastModifiedBy>Anes-lecture</cp:lastModifiedBy>
  <cp:revision>1</cp:revision>
  <dcterms:created xsi:type="dcterms:W3CDTF">2026-10-13T06:53:01Z</dcterms:created>
  <dcterms:modified xsi:type="dcterms:W3CDTF">2026-10-13T06:53:01Z</dcterms:modified>
</cp:coreProperties>
</file>