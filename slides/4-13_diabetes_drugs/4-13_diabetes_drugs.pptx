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糖尿病薬の術前調整で、命に関わるのは 2 つ。SGLT2 阻害薬による正常血糖ケトアシドーシスと、インスリン・SU 薬による低血糖（1 型糖尿病では基礎インスリンを抜くことによるケトアシドーシス）。この講義では、SGLT2 阻害薬の休薬（国内は手術 3 日前から）、正常血糖ケトアシドーシスの機序・診断・治療、経口薬と GLP-1 受容体作動薬の当日の扱い、インスリンの調整、HbA1c と周術期の血糖目標、当日の指示の例を扱う。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国内の推奨: 日本糖尿病学会の「SGLT2 阻害薬の適正使用に関する Recommendation」（2014 年 6 月策定。2020 年 12 月 25 日の改訂で周術期の休薬を追加）は、手術のストレスや絶食でケトアシドーシスが起こりうるため、予定手術では術前 3 日前から休薬し、食事が十分摂取できるようになってから再開する、としている（再開の文言は病院資料と二次資料による。2019 年 8 月版の英訳 J Diabetes Investig 2020 には周術期の日数がなく、2020 年の追加と矛盾しない）【要確認: 確認できた最新の改訂は 2022 年 7 月 26 日（1 型糖尿病の血中ケトン体自己測定の追記）。それより後の改訂の有無と、術前休薬・再開の逐語を日本糖尿病学会ウェブサイトの Recommendation PDF で確かめる】。発熱・下痢・嘔吐や食欲不振で十分に食べられないとき（シックデイ）は中止し、倦怠感・悪心嘔吐・腹痛があれば血糖が正常でもケトアシドーシスを疑って血中ケトン体（すぐ測れなければ尿中ケトン体）を測り、専門医に相談する（2019 年版英訳、J Diabetes Investig 2020）。</a:t>
            </a:r>
          </a:p>
          <a:p>
            <a:r>
              <a:rPr lang="ja-JP" altLang="en-US" dirty="0"/>
              <a:t>海外: 米国 FDA は 2020 年の添付文書改訂で、予定手術の少なくとも 3 日前にカナグリフロジン・ダパグリフロジン・エンパグリフロジンを、4 日前にエルツグリフロジン（半減期約 17 時間）を中止するとした。2024 年 AHA/ACC 周術期ガイドラインも 3〜4 日前の中止（推奨クラス 1、エビデンスレベル C-LD。二次資料で確認）で、心不全の標準治療薬（GDMT）のうち術前に休薬の対象とするのは SGLT2 阻害薬だけである。英国（CPOC 2021、英国麻酔科学会ほかの 2025 年合意と 2026 年合意）は手術前日と当日の休薬（約 48〜54 時間）で、服用者では血糖が正常でも飲食が戻るまで毎日ケトン体を測る。オーストラリア（ADS-ANZCA 2022）は 2 日前から。9 つの国際ガイドラインの比較では「3 日（エルツグリフロジン 4 日）」が最も多い（Arthroplasty Today 2025）。国内製剤（イプラグリフロジン、ダパグリフロジン、ルセオグリフロジン、トホグリフロジン、カナグリフロジン、エンパグリフロジン）はまとめて 3 日に従う。</a:t>
            </a:r>
          </a:p>
          <a:p>
            <a:r>
              <a:rPr lang="ja-JP" altLang="en-US" dirty="0"/>
              <a:t>心不全・CKD: ダパグリフロジン（フォシーガ）とエンパグリフロジン（ジャディアンス）は糖尿病のない心不全・CKD にも処方されている。処方目的を確かめずに「糖尿病薬ではないから続ける」と判断しない。糖尿病のない心不全・CKD 患者の扱いは資料で違う。米国 AHA/ACC 2024 は心不全の項で、待機手術の 3〜4 日前に休薬するよう勧めている（Class 1、LOE C-LD）。英国の 2025 年合意（El-Boghdadly 2025）は、糖尿病のない心不全・CKD での処方にも触れたうえで、服用者は手術前日と当日に休薬するとし、心不全目的の服用者では中止で心不全が悪化しうるとも書いている。豪州 ADS-ANZCA 2022 は、2 型糖尿病のない患者では中止しないとしている。国内では、日本循環器学会・日本心不全学会（2023）と日本腎臓学会の Recommendation が、糖尿病のない心不全・CKD 患者について「絶食日に休薬し、食事がとれるようになったら再開」としていると紹介されている【要確認: 日本循環器学会・日本心不全学会（2023）と日本腎臓学会の Recommendation の原文で、周術期の休薬の記載を確かめる】。日本糖尿病学会の「3 日前から」は糖尿病患者向けである。糖尿病のない心不全患者がダパグリフロジンを手術当日まで続け、術後に低血糖を伴うケトアシドーシスを起こした報告がある（Seki 2023）。処方医（循環器・腎臓内科）と相談して決め、術後に再開し忘れない。</a:t>
            </a:r>
          </a:p>
          <a:p>
            <a:r>
              <a:rPr lang="ja-JP" altLang="en-US" dirty="0"/>
              <a:t>中止の害: 非心臓の大手術で SGLT2 阻害薬を常用していた 451 例（糖尿病 89.6%、慢性心不全 36.9%）の二次解析（Haziri 2026、2 つの前向きコホートの観察研究）では、術前の中止日数が長いほど 90 日以内の急性心不全入院・心血管死の複合が多かった（継続 1.7%、1 日中止 5.7%、2 日 8.4%、3 日以上 11.5%。中止 1 日ごとの調整 OR 1.58）。正常血糖ケトアシドーシスは 451 例中 1 例。著者は RCT での確認が必要としている。強調ボックスの「止めっぱなしでは心不全・腎を守れない」は、この研究と英国 2025 年合意の記載による（周術期の中止で腎に害が出るという直接のデータは見つかっていない）。</a:t>
            </a:r>
          </a:p>
          <a:p>
            <a:r>
              <a:rPr lang="ja-JP" altLang="en-US" dirty="0"/>
              <a:t>添付文書: フォシーガの添付文書は「重症感染症、手術前後、重篤な外傷のある患者」を禁忌に挙げ（理由は、糖尿病のある患者ではインスリンによる血糖管理が望まれるため）、術前の休薬日数は書いていない【要確認: PMDA 電子添文「2. 禁忌」での項番号と、この禁忌が心不全・CKD の効能にも及ぶか】。</a:t>
            </a:r>
          </a:p>
          <a:p>
            <a:r>
              <a:rPr lang="ja-JP" altLang="en-US" dirty="0"/>
              <a:t>緊急手術: 緊急手術に触れた 3 つの指針は、どれもただちに中止するとしている（Selbie 2025）。ケトン体の測定は、豪州が術中 1 時間ごと・術後 2 時間ごと（経口摂取が戻るまで）、英国 CPOC が毎日。豪州は、術後は正常血糖ケトアシドーシスを管理できる病棟に入れ、内分泌・集中治療に相談するとしている。術前に血液ガス（pH、HCO3−、アニオンギャップ）とケトン体を確かめ、上がればブドウ糖＋インスリンで治療する（→ S3）。ブドウ糖入りの輸液と早めのインスリンを全例に予防として使う推奨は見つからなかった。周術期の症例報告 99 例の約 4 分の 1（19 例）が緊急手術だった（Seki 2023）。</a:t>
            </a:r>
          </a:p>
          <a:p>
            <a:r>
              <a:rPr lang="ja-JP" altLang="en-US" dirty="0"/>
              <a:t>参考: 日本糖尿病学会 SGLT2 阻害薬の適正使用に関する Recommendation / Committee on the Proper Use of SGLT2 Inhibitors. J Diabetes Investig 2020;11:257-261 / Levy NA, et al. Anaesthesia 2026;81:1116-1131 / El-Boghdadly K, et al. Anaesthesia 2025;80:412-424 / Haziri F, et al. Br J Anaesth 2026;137:440-449 / Selbie JHJ, et al. Arthroplast Today 2025;35:101840（国際ガイドラインの比較） / Seki H, et al. J Anesth 2023;37:465-473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機序: SGLT2 阻害薬は尿糖排泄で血糖を下げるため、インスリン分泌が減ってグルカゴンが増え、脂肪分解とケトン体産生が進む。尿糖として糖が失われるので、門脈インスリンがかなり低くても血糖は正常近くに保たれ、ケトーシスと高血糖が切り離される。ナトリウムと水の喪失で脱水になり、手術ストレス（カテコラミン、コルチゾール）と絶食が重なると起きやすい（Peters 2015）。</a:t>
            </a:r>
          </a:p>
          <a:p>
            <a:r>
              <a:rPr lang="ja-JP" altLang="en-US" dirty="0"/>
              <a:t>症状: 倦怠感、食欲低下、悪心・嘔吐、腹痛、意識の変化、呼吸困難（Kussmaul 呼吸）、頻脈。高血糖がないので多尿・口渇が目立たず、患者も医療者も緊急性に気づくのが遅れる。術後の悪心嘔吐（PONV）、腹痛、頻呼吸と紛らわしい。</a:t>
            </a:r>
          </a:p>
          <a:p>
            <a:r>
              <a:rPr lang="ja-JP" altLang="en-US" dirty="0"/>
              <a:t>診断（2024 年 ADA/EASD/JBDS/AACE/DTS コンセンサス、Umpierrez）: D＝血糖 200 mg/dL 以上または糖尿病の既往（血糖値は問わない）、K＝β-ヒドロキシ酪酸 3.0 mmol/L 以上（または尿ケトン 2＋以上）、A＝pH 7.3 未満かつ／または HCO3− 18 mmol/L 未満、の 3 つすべて。正常血糖 DKA の定義は血糖 200 mg/dL 未満（2024 年国際コンセンサス）。従来の DKA の基準は 250 mg/dL 超だった。周術期の症例報告の集積では、診断時血糖の中央値は 179 mg/dL（範囲 52〜498、80 例）で、高血糖があった例の 85.5% が 250 mg/dL 以下だった（Seki 2023）。尿のニトロプルシド法はアセト酢酸しか測らず、早期の重症度を過小評価し、後期には過大評価する。診断には血中 β-OHB と血液ガスを使う。術後は尿ケトン陽性がありふれていて（国内の前向き研究で 41.5%）、陽性だけでは診断できない。アニオンギャップ ＝ Na −（Cl ＋ HCO3−）が 12 超なら開大性アシドーシスだが、DKA の約 1/3 は混合性の酸塩基異常なので、ケトン体を測れない環境での代用と考える。SGLT2 阻害薬の服用者は血糖に関係なく尿糖が強陽性になるので、尿糖は指標にならない。</a:t>
            </a:r>
          </a:p>
          <a:p>
            <a:r>
              <a:rPr lang="ja-JP" altLang="en-US" dirty="0"/>
              <a:t>治療: 通常の DKA と同じく輸液とインスリンで治療するが、最初から（または生理食塩液と同時に）5〜10% ブドウ糖を加える。血糖が正常だからとインスリンを止めない。インスリンを始める前に血清 K を測り、3.5 mmol/L 未満（DKA の 5〜10%）なら 10 mmol/h で補充して、3.5 mmol/L を超えるまでインスリンを始めない（致死的不整脈や呼吸筋麻痺を避けるため。Umpierrez 2024）。入院時に SGLT2 阻害薬を中止し、2 型糖尿病で DKA のあとの再開はルーチンには勧めない（日本糖尿病学会も「初期から十分なブドウ糖補給」）。</a:t>
            </a:r>
          </a:p>
          <a:p>
            <a:r>
              <a:rPr lang="ja-JP" altLang="en-US" dirty="0"/>
              <a:t>頻度: 2 型糖尿病での発生は 1,000 人年あたり 0.6〜4.9 件、RCT のメタ解析で相対リスク 2.46。国内の予定手術後 ICU 入室患者では、正常血糖でアニオンギャップ開大の代謝性アシドーシスが SGLT2 阻害薬群 22.6%、対照 8.1%（Iwasaki 2022、小規模）。周術期ケトアシドーシスの症例報告 99 例の集積（Seki 2023、国内の麻酔科医ら）では、休薬期間がわかった 59 例はすべて術前 3 日未満の中止だった。同じ集積では 27.2% が術後 4 日目以降（最長 28 日）に発症し、約 1/4 は緊急手術だった。食事の再開期や退院後も、症状があれば疑う。国内 16 施設の前向き研究（SAPKA、Seki 2024、服用中の糖尿病患者 759 例）では、術後 3 日目までの周術期ケトアシドーシスは 0 例（推定 0%、95% CI 0〜0.4%）だった。ただし緊急手術はほとんど含まれず、著者も過小評価の可能性を認めている。同じ研究で尿ケトン陽性は 41.5% にみられ、pH 7.30 未満の 3 例はすべて呼吸性アシドーシスだった。尿ケトン陽性だけで診断せず、血液ガスで判断する。</a:t>
            </a:r>
          </a:p>
          <a:p>
            <a:r>
              <a:rPr lang="ja-JP" altLang="en-US" dirty="0"/>
              <a:t>参考: Umpierrez GE, et al. Diabetes Care 2024;47:1257-1275 / Peters AL, et al. Diabetes Care 2015;38:1687-1693 / Iwasaki Y, et al. BMC Endocr Disord 2022;22:209 / Seki H, et al. J Anesth 2023;37:465-473 / Seki H, et al. J Anesth 2024;38:464-474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国内の基本: 日本糖尿病学会の糖尿病診療ガイドライン 2019 は、全身管理を要する手術をインスリン療法の適応としている（Araki 2020、英文版）。日本糖尿病学会が加わった合同声明（Sasaki 2022）も、消化器手術の前は多くの糖尿病薬を中止してインスリンに切り替えるのが望ましいとしている。国内の添付文書は、メトホルミン、ダパグリフロジン、シタグリプチンなどで「手術前後」を禁忌にしている【要確認: PMDA 電子添文の「2. 禁忌」で、表に挙げた薬効群の各製剤の記載を確かめる】。海外指針の「継続してよい」をそのまま当てはめず、院内の休薬一覧と処方医・薬剤部との取り決めを確かめる。</a:t>
            </a:r>
          </a:p>
          <a:p>
            <a:r>
              <a:rPr lang="ja-JP" altLang="en-US" dirty="0"/>
              <a:t>メトホルミン: 国内添付文書（メトグルコ）は「重症感染症、手術前後、重篤な外傷のある患者」を禁忌（2.3）とし、インスリンによる血糖管理が望まれること、乳酸アシドーシスを起こしやすいことを理由に挙げる【要確認: PMDA の最新の電子添文（メトグルコ錠）で、版と「2. 禁忌」の項番号・括弧書きを確かめる】。国内の目安は手術 2 日前から休薬（日本糖尿病学会「糖尿病専門医研修ガイドブック」第 8 版 2020 を、日本肥満症治療学会・日本糖尿病学会・日本肥満学会の合同声明 Sasaki 2022 が引用。肥満外科・消化器外科の文脈の記載）【要確認: 日本糖尿病学会 編「糖尿病専門医研修ガイドブック」の原本（第 8 版 2020、第 9 版 2023）で、メトホルミンを手術 2 日前から休薬する記載と、その対象（全手術か消化器手術か）を確かめる】。院内ルールがあればそれに従う。海外は当日休薬（ADA、豪州、カナダ）と継続（英国 CPOC、SAMBA 2024。AHA/ACC 2024 は継続を推奨クラス 2a とする。二次資料で確認）に分かれる。英国の製品情報は、手術時に中止して 48 時間以降に再開するとしている（Tinsley 2025）。乳酸アシドーシスの危険因子は腎機能障害、肝機能障害、低酸素、脱水、過度の飲酒、感染症、高齢。</a:t>
            </a:r>
          </a:p>
          <a:p>
            <a:r>
              <a:rPr lang="ja-JP" altLang="en-US" dirty="0"/>
              <a:t>造影剤: 国内のビグアナイドの添付文書（重要な基本的注意）は、ヨード造影剤の検査前に一時中止し（緊急時を除く）、投与後 48 時間は再開しないとしている（腎障害患者のヨード造影剤ガイドライン 2018 の英文版 Isaka 2020 による引用）。日本糖尿病学会の「メトホルミンの適正使用に関する Recommendation」（2020 年改訂）は eGFR 30 未満を禁忌、30〜45 を慎重投与とし、eGFR 30〜60 ではヨード造影剤の前または造影時に中止して 48 時間後に eGFR を再評価して再開する【要確認: 日本糖尿病学会ウェブサイトの Recommendation PDF で、eGFR の閾値と造影時の扱いの逐語を確かめる】。</a:t>
            </a:r>
          </a:p>
          <a:p>
            <a:r>
              <a:rPr lang="ja-JP" altLang="en-US" dirty="0"/>
              <a:t>SU 薬・グリニド: 血糖値に関係なくインスリン分泌を促すので、絶食中は低血糖の危険がある。当日の朝は休薬（午後の手術ならその日の分をすべて）。長時間作用型（グリベンクラミド）は低血糖が遷延しやすい。低血糖の治療薬（ブドウ糖）を準備する。</a:t>
            </a:r>
          </a:p>
          <a:p>
            <a:r>
              <a:rPr lang="ja-JP" altLang="en-US" dirty="0"/>
              <a:t>DPP-4 阻害薬: 低血糖をほとんど起こさない。英国（CPOC・JBDS）は通常どおり内服、米国・豪州・カナダは当日休薬だが継続しても安全でありうると認めている（Tinsley 2025）。国内の添付文書（ジャヌビアなど）は「重症感染症、手術前後、重篤な外傷のある患者」を禁忌としている（インスリンによる血糖管理が望まれるため）。週 1 回製剤（トレラグリプチン）にも同じ禁忌がある【要確認: PMDA 電子添文で、ジャヌビアの項番号と、ほかの DPP-4 阻害薬（週 1 回製剤を含む）の記載を確かめる。今回はジャヌビアを検索の要約で確認しただけ】。日本糖尿病学会の診療ガイドライン 2019 も、全身管理を要する手術をインスリン療法の適応としている。そのため表では当日朝の休薬とした。週 1 回製剤は「当日朝だけ休薬」が成り立たないので、最終投与日を聞いて処方医と相談する（講義者の運用提案）。メトホルミンや SGLT2 阻害薬との配合剤は成分ごとに判断する（配合剤を見落とすと SGLT2 阻害薬が続いてしまう）。</a:t>
            </a:r>
          </a:p>
          <a:p>
            <a:r>
              <a:rPr lang="ja-JP" altLang="en-US" dirty="0"/>
              <a:t>GLP-1 受容体作動薬: 4-3 で扱った。多学会ガイダンス（2024）は多くの患者で継続してよいとし、胃排出遅延のリスクが高い患者では 24 時間以上の流動食と当日の胃エコー、休薬するなら毎日製剤は当日、週 1 回製剤は 1 週前。</a:t>
            </a:r>
          </a:p>
          <a:p>
            <a:r>
              <a:rPr lang="ja-JP" altLang="en-US" dirty="0"/>
              <a:t>α-グルコシダーゼ阻害薬、チアゾリジン: α-GI（ボグリボース、ミグリトールなど）は食事と一緒に効くので、食べない日は飲まない。チアゾリジン（ピオグリタゾン）は食事と関係なく、PPARγ を介してインスリン抵抗性を改善し、効くまでに時間がかかる。低血糖を起こさないので英国 CPOC は継続、ADA は当日休薬としている（Tinsley 2025、Polderman 2024）。体液貯留と心不全の悪化に注意する。表の「当日朝は飲まない」は ADA と国内の基本方針に合わせた（英国は継続）。「食事と一緒に効く」のは α-GI（とグリニド）で、チアゾリジンには当てはまらない。</a:t>
            </a:r>
          </a:p>
          <a:p>
            <a:r>
              <a:rPr lang="ja-JP" altLang="en-US" dirty="0"/>
              <a:t>参考: メトグルコ錠 添付文書（PMDA） / 日本糖尿病学会 メトホルミンの適正使用に関する Recommendation（2020） / Sasaki A, et al. Diabetol Int 2022;13:1-30（日本肥満症治療学会・日本糖尿病学会・日本肥満学会の合同声明） / Araki E, et al. J Diabetes Investig 2020;11:1020-1076（糖尿病診療ガイドライン 2019 英文版） / Isaka Y, et al. Clin Exp Nephrol 2020;24:1-44（ヨード造影剤ガイドライン 2018 英文版） / Tinsley S, et al. Br J Anaesth 2025;135:898-911 / Polderman JAW, et al. BJA Educ 2024;24:261-269 / Kindel TL, et al. Surg Endosc 2025;39:180-183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基礎インスリン: 米英の麻酔関連学会が支持する指針では、持効型アナログは通常量の 75〜80%、中間型（NPH）は 50%（ADA は当日朝に NPH 半量、持効型やポンプの基礎レートを 75〜80%。Polderman 2024 による要約）。減らすのは普段打つ時刻の分で、夜に打つ人は手術前夜の分、朝に打つ人は当日朝の分になる。75% を支える一次データとして、晩に 1 日 1 回グラルギンを打つ 2 型糖尿病の日帰り手術 150 例の観察研究がある。前夜に通常量の 60〜87%（平均 73%、最頻値 75%）を打った群が目標範囲（100〜180 mg/dL）に最も多く入り（78%）、100% 打った群で低血糖が最も多かった（Demma 2017）。国内で言われることのある「持効型は当日 50〜80%」は、出典を確認できなかった。</a:t>
            </a:r>
          </a:p>
          <a:p>
            <a:r>
              <a:rPr lang="ja-JP" altLang="en-US" dirty="0"/>
              <a:t>追加インスリン: 食事に合わせて打つ速効型・超速効型は絶食中は打たず、高血糖の補正分だけ使う（一般的な原則で、逐語の出典は見つかっていない）【要確認: ADA Standards of Care 2026 第 16 章の本文で、絶食中の追加インスリンの扱いを確かめる】。術後はスライディングスケールだけでなく、基礎と追加の組み合わせが望ましい（ADA。Polderman 2024）。</a:t>
            </a:r>
          </a:p>
          <a:p>
            <a:r>
              <a:rPr lang="ja-JP" altLang="en-US" dirty="0"/>
              <a:t>1 型: 1 型糖尿病（インスリン依存）では、絶食でも基礎インスリンを決して抜かない。抜くと医原性のケトアシドーシスになる。静注インスリン持続注入は、皮下に基礎インスリンを打っていて、血糖 180 mg/dL 未満かつケトン体 0.6 mmol/L 未満を確かめるまで止めない（英国 2026 合意）。</a:t>
            </a:r>
          </a:p>
          <a:p>
            <a:r>
              <a:rPr lang="ja-JP" altLang="en-US" dirty="0"/>
              <a:t>静注持続: 抜く食事が 1 食を超えるとき、またはポンプが使えないときは静注インスリン持続注入に切り替え、1 時間ごとに血糖を測る。</a:t>
            </a:r>
          </a:p>
          <a:p>
            <a:r>
              <a:rPr lang="ja-JP" altLang="en-US" dirty="0"/>
              <a:t>CSII（インスリンポンプ）: 絶食が短く抜く食事が 1 食だけ、MRI を避ける、急性の代謝異常がない、テフロン製カニューレ（鋼針は不可）、ポンプを術野から離し手の届く位置に付け対極板と電気メスの間に置かない、30〜60 分ごとに血糖とケトンを測れる、必要ならすぐ静注に切り替えられる、患者が自分で調整できる、などの条件を満たせば継続してよい（英国 2026 合意の表 3）。ハイブリッドクローズドループを続ける場合は 30 分ごとに測る。術前の HbA1c は 69 mmol/mol（8.5%）未満が望ましい。満たさなければポンプを外して静注持続にする。周術期用に認証された持続血糖モニターやポンプはない。</a:t>
            </a:r>
          </a:p>
          <a:p>
            <a:r>
              <a:rPr lang="ja-JP" altLang="en-US" dirty="0"/>
              <a:t>低血糖: 麻酔中は患者が低血糖の症状を訴えられない。英国 2026 合意は、低血糖を 4.0 mmol/L（72 mg/dL）未満とし、インスリン・SU 薬・グリニド薬の使用者では 6.0 mmol/L（108 mg/dL）未満で介入して、4.0 未満に下がるのを防ぐとしている。入室時から血糖を測り、ブドウ糖（50% 20〜40 mL など。量は院内の低血糖プロトコルに従う）をすぐ使える場所に置く【要確認: 50% ブドウ糖の量を、院内の低血糖プロトコルと英国 2026 合意の補遺（Appendix S2）で確かめる】。持続血糖モニター（CGM）を付けていても、術中は毛細血管血糖で確かめる。</a:t>
            </a:r>
          </a:p>
          <a:p>
            <a:r>
              <a:rPr lang="ja-JP" altLang="en-US" dirty="0"/>
              <a:t>参考: Levy NA, et al. Anaesthesia 2026;81:1116-1131（英国麻酔科学会・JBDS-IP の合意） / Polderman JAW, et al. BJA Educ 2024;24:261-269 / Demma LJ, et al. J Clin Anesth 2017;36:184-188 / Boyle ME, et al. J Diabetes Sci Technol 2012;6:184-190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HbA1c: 糖尿病患者は過去 3 か月以内の HbA1c がなければ術前に測る（NICE NG45。2024 AHA/ACC は推奨クラス 2a、二次資料で確認）。英国は 2011 年以来、安全に達成できるなら待機手術前に 69 mmol/mol（8.5%）未満とすることを勧めてきた。2026 年の英国麻酔科学会・JBDS 合意は、理想を 48 mmol/mol（6.5%）以下とし、69 mmol/mol（8.5%）超なら予定手術を進めるか、かかりつけの糖尿病診療に戻すかを臨床判断で決める、とした（機械的に延期しない）。ESC 2022 は、8.5%（69 mmol/mol）以上なら安全で実際的であれば待機的非心臓手術を延期する（推奨クラス I。ESC の原文は開けていないが、BJA Educ 2024 が推奨文を逐語で引用している。BJA Educ はこの推奨の根拠は弱いとも書いている）。ADA Standards（2025・2026 年版）は可能なら HbA1c 8.0% 未満（2026 年版は TIR 50% 超も併記）とする（Horikiri 2026 の全文の引用と、2026 年版の要約記事による）。一方、英国 2026 合意は ADA の理想値を 7.0% 未満と引用していて、資料で違う【要確認: ADA Standards of Care 2026 第 16 章の本文で、術前 HbA1c の目標を確かめる】。豪州は 9.0%（75 mmol/mol）。スライドの「理想は 6.5〜7%」は、英国合意の理想値（6.5%）と、英国合意が引く ADA の値（7%）による。フレイルや併存症の多い患者で厳しく下げすぎることの害にも注意する。</a:t>
            </a:r>
          </a:p>
          <a:p>
            <a:r>
              <a:rPr lang="ja-JP" altLang="en-US" dirty="0"/>
              <a:t>国内: 日本糖尿病学会の術前血糖目標は、尿ケトン体陰性、空腹時血糖 100〜140 mg/dL、または食後血糖 160〜200 mg/dL 以下（専門医研修ガイドブック第 8 版 2020。日本糖尿病学会が加わった合同声明 Sasaki 2022 による引用）。同じ声明は、手術に向けた血糖管理は HbA1c ではなく血糖で判断し、達成できなければ術前入院を考えるとしている。強調ボックスはこれによる。「空腹時 200 以上や尿ケトン陽性なら延期」という基準は、第 9 版（2023）を紹介した個人の学習メモ経由の引用しかなく、原本を確認できていない【要確認: 糖尿病専門医研修ガイドブック（第 8 版 2020、第 9 版 2023）と糖尿病治療ガイドの「手術時の対応」の原本で、術前血糖の目標と延期の基準を確かめる】。国内 4 施設の後ろ向き研究（Horikiri 2026、糖尿病専門医が管理した 1,086 例）では、手術部位感染が術前入院管理で 7.2%（外来での術前管理 11.1%、術後のみ 20.0%）と低かった（観察研究。手術当日の空腹時血糖で補正すると関連は弱まった）。離島では術前入院の調整や本土の専門医への紹介が現実的な選択肢になる。</a:t>
            </a:r>
          </a:p>
          <a:p>
            <a:r>
              <a:rPr lang="ja-JP" altLang="en-US" dirty="0"/>
              <a:t>血糖目標: AACE/ADA の入院患者コンセンサス（2009）は、重症患者では 180 mg/dL でインスリンを始め、140〜180 mg/dL を目標とし、非重症では食前 140 未満・随時 180 未満。スライドの「ICU は 140〜180」はこれによる。ADA Standards（2024・2025 年版）は手術前後 4 時間以内の血糖を 100〜180 mg/dL とし、英国 2026 合意はインスリン・SU 薬・グリニド薬で治療中なら 6〜10 mmol/L（108〜180 mg/dL）、ほかは 4〜10 mmol/L とする。国内では、日本外科感染症学会の消化器外科 SSI 予防ガイドライン 2018 が、糖尿病の有無を問わず術後の血糖を 150 mg/dL 未満にすることを勧めている（推奨 B。低血糖に注意して監視する。Ohge 2021、英文版）。80〜110 を狙う強化療法は低血糖と死亡の増加が懸念される（NICE-SUGAR）。まとめると「上限 180（消化器外科の SSI 予防では 150 未満）、下限は低血糖を避ける」。</a:t>
            </a:r>
          </a:p>
          <a:p>
            <a:r>
              <a:rPr lang="ja-JP" altLang="en-US" dirty="0"/>
              <a:t>測定: 静注インスリン持続中は 1 時間ごと、回復室では 1〜2 時間ごと。体調が悪いとき、または 2 回続けて 235 mg/dL（13 mmol/L）超なら毛細血管ケトン体を測る（英国 2026）。デキサメタゾン（PONV 予防 → 3-12）で術後血糖が上がる（手術部位感染は増えないというデータがある）ので測定の頻度を上げる。</a:t>
            </a:r>
          </a:p>
          <a:p>
            <a:r>
              <a:rPr lang="ja-JP" altLang="en-US" dirty="0"/>
              <a:t>参考: Levy NA, et al. Anaesthesia 2026;81:1116-1131 / Moghissi ES, et al. Diabetes Care 2009;32:1119-1131（AACE/ADA） / Halvorsen S, et al. Eur Heart J 2022;43:3826-3924（ESC 2022） / Polderman JAW, et al. BJA Educ 2024;24:261-269 / Sasaki A, et al. Diabetol Int 2022;13:1-30 / Horikiri Y, et al. J Diabetes Investig 2026（オンライン先行、PMID 42720397。国内 4 施設） / Ohge H, et al. Surg Today 2021;51:1-31（日本外科感染症学会 消化器外科 SSI ガイドライン 2018 英文版） / NICE NG45（2016）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指示例の読み方: 薬ごとに「いつ止める（最終内服日）」「当日飲むか」「いつ再開するか」「誰に伝えたか」を書く。「3 日前から中止」は数え方で誤読されやすいので、中止日と最終内服日を日付で書く（講義者の運用提案）。SGLT2 阻害薬は再開日を決めておかないと止めっぱなしになり、心不全・腎を守る効果がなくなる（術前の中止日数が長いほど 90 日以内の心不全入院・心血管死が多かったという観察研究がある。Haziri 2026、451 例、中止 1 日ごとの調整 OR 1.58）。メトホルミンの「2 日前から」は国内の目安で（→ S4）、院内の休薬一覧があればそれに従う。造影剤の扱いは 4-10 と同じ。国内では全身管理を要する手術はインスリン療法の適応とされる（日本糖尿病学会 糖尿病診療ガイドライン 2019）ので、全身管理を要する手術では経口薬を止めてインスリンで管理するのが基本になる。</a:t>
            </a:r>
          </a:p>
          <a:p>
            <a:r>
              <a:rPr lang="ja-JP" altLang="en-US" dirty="0"/>
              <a:t>配合剤: DPP-4 阻害薬との配合剤（SGLT2 阻害薬や メトホルミンを含む）は商品名では気づきにくい。お薬手帳で成分名まで確認する。週 1 回製剤（DPP-4 阻害薬のトレラグリプチン、GLP-1 受容体作動薬）は最終投与日を聞く。</a:t>
            </a:r>
          </a:p>
          <a:p>
            <a:r>
              <a:rPr lang="ja-JP" altLang="en-US" dirty="0"/>
              <a:t>血糖の指示: 麻酔中は低血糖の症状を訴えられない。英国 2026 合意は、インスリン・SU 薬・グリニド薬の患者では 6.0 mmol/L（108 mg/dL）未満で介入し、4.0 mmol/L（72 mg/dL）未満に下がるのを防ぐとしている。AACE/ADA 2009 は 100 mg/dL 未満で処方を見直すとしている。指示例の「100 未満で対策」はこれらによる（ブドウ糖入りの輸液やインスリンの減量など。具体的な対応は院内プロトコルに従う）。低血糖（70 mg/dL 未満）はブドウ糖で治療し、処方を見直す。180 以上が続けばインスリン（静注持続か皮下の補正）。測定の間隔は静注インスリン中 1 時間ごと、回復室では 1〜2 時間ごと。持続血糖モニター（CGM）を付けていても、術中は毛細血管血糖で確かめる。</a:t>
            </a:r>
          </a:p>
          <a:p>
            <a:r>
              <a:rPr lang="ja-JP" altLang="en-US" dirty="0"/>
              <a:t>ケトン: SGLT2 阻害薬の患者では血糖が正常でも症状があればケトン体を測る。血中ケトン測定器がなければ血液ガスの pH・HCO3−・アニオンギャップと尿ケトンで代用し、尿ケトン陰性でも否定しない。</a:t>
            </a:r>
          </a:p>
          <a:p>
            <a:r>
              <a:rPr lang="ja-JP" altLang="en-US" dirty="0"/>
              <a:t>相談: 休薬の判断に迷う例（糖尿病のない心不全の SGLT2 阻害薬、1 型糖尿病、ポンプ、HbA1c が高い待機手術、国内の目安の血糖を満たさない待機手術）は処方医・糖尿病内科に相談し、相談した事実を記録する。</a:t>
            </a:r>
          </a:p>
          <a:p>
            <a:r>
              <a:rPr lang="ja-JP" altLang="en-US" dirty="0"/>
              <a:t>参考: Haziri F, et al. Br J Anaesth 2026;137:440-449 / Moghissi ES, et al. Diabetes Care 2009;32:1119-1131 / Araki E, et al. J Diabetes Investig 2020;11:1020-1076（糖尿病診療ガイドライン 2019 英文版）</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分）。SGLT2 阻害薬は手術 3 日前から休薬し（国内の推奨。英国は前日と当日）、心不全・CKD 目的の処方も処方医と相談して扱い、食事が戻ったら再開日を決めて再開する。正常血糖ケトアシドーシスは血糖が正常近くでも起き、術後の嘔気・腹痛・頻呼吸で疑ってケトン体と血液ガスを測り、輸液・インスリン・ブドウ糖で治療する（インスリンの前に K を測る）。メトホルミンは手術 2 日前から（国内の目安。院内ルールに従う）、SU 薬と DPP-4 阻害薬は当日朝に休薬する（国内の添付文書は手術前後を禁忌としている。英国は DPP-4 阻害薬を継続）。GLP-1 受容体作動薬は 4-3 の方針で扱う。持効型インスリンは前夜（朝打ちなら当日朝）の分を 75〜80% にし、速効型は絶食中は打たず、1 型糖尿病では基礎インスリンを絶対に抜かない。HbA1c は 3 か月以内の値を確認し、8.5% 超なら手術を進めるかを臨床判断で決め（英国 2026。ESC 2022 は安全で実際的なら延期）、糖尿病内科と相談する。国内の術前の目安は、空腹時 100〜140 mg/dL または食後 160〜200 mg/dL、尿ケトン陰性。周術期の血糖は上限 180 mg/dL、低血糖を避け（麻酔中は症状が出ない）、静注インスリン中は 1 時間ごとに測る。次は 4-14（常用薬③：その他）。</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常用薬②：糖尿病薬</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4-13 術前評価</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SGLT2 阻害薬の休薬</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SGLT2</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ケトアシ</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ドーシス</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経口薬</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インス</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リン</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日本糖尿病学会 SGLT2 阻害薬 Recommendation / Levy NA, et al. Anaesthesia 2026;81:1116-1131</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Haziri F, et al. Br J Anaesth 2026;137:440-449</a:t>
            </a:r>
            <a:endParaRPr lang="ja-JP" sz="1600" dirty="0"/>
          </a:p>
        </p:txBody>
      </p:sp>
      <p:sp>
        <p:nvSpPr>
          <p:cNvPr id="11" name="Text 9"/>
          <p:cNvSpPr txBox="1"/>
          <p:nvPr/>
        </p:nvSpPr>
        <p:spPr>
          <a:xfrm>
            <a:off x="502920" y="1737360"/>
            <a:ext cx="11155680" cy="2798064"/>
          </a:xfrm>
          <a:prstGeom prst="rect">
            <a:avLst/>
          </a:prstGeom>
          <a:noFill/>
          <a:ln/>
        </p:spPr>
        <p:txBody>
          <a:bodyPr wrap="square" lIns="0" tIns="0" rIns="0" bIns="0" rtlCol="0" anchor="t"/>
          <a:lstStyle/>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日本糖尿病学会：</a:t>
            </a:r>
            <a:r>
              <a:rPr lang="ja-JP" altLang="en-US" sz="2400" b="1" dirty="0">
                <a:solidFill>
                  <a:srgbClr val="D55E00"/>
                </a:solidFill>
                <a:latin typeface="メイリオ" pitchFamily="34" charset="0"/>
                <a:ea typeface="メイリオ" pitchFamily="34" charset="-122"/>
                <a:cs typeface="メイリオ" pitchFamily="34" charset="-120"/>
              </a:rPr>
              <a:t>3 日前から休薬</a:t>
            </a:r>
            <a:r>
              <a:rPr lang="ja-JP" altLang="en-US" sz="2400" dirty="0">
                <a:solidFill>
                  <a:srgbClr val="262626"/>
                </a:solidFill>
                <a:latin typeface="メイリオ" pitchFamily="34" charset="0"/>
                <a:ea typeface="メイリオ" pitchFamily="34" charset="-122"/>
                <a:cs typeface="メイリオ" pitchFamily="34" charset="-120"/>
              </a:rPr>
              <a:t>、食事が十分とれてから再開</a:t>
            </a:r>
            <a:endParaRPr lang="ja-JP" sz="2400" dirty="0"/>
          </a:p>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米国も 3 日前（エルツグリフロジンは 4 日）。英国は前日と当日</a:t>
            </a:r>
            <a:endParaRPr lang="ja-JP" sz="2400" dirty="0"/>
          </a:p>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心不全・CKD の目的で処方されている例も同じ薬。</a:t>
            </a:r>
            <a:r>
              <a:rPr lang="ja-JP" altLang="en-US" sz="2400" b="1" dirty="0">
                <a:solidFill>
                  <a:srgbClr val="0072B2"/>
                </a:solidFill>
                <a:latin typeface="メイリオ" pitchFamily="34" charset="0"/>
                <a:ea typeface="メイリオ" pitchFamily="34" charset="-122"/>
                <a:cs typeface="メイリオ" pitchFamily="34" charset="-120"/>
              </a:rPr>
              <a:t>処方医と相談</a:t>
            </a:r>
            <a:endParaRPr lang="ja-JP" sz="2400" dirty="0"/>
          </a:p>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配合剤（DPP-4 阻害薬などとの合剤）の</a:t>
            </a:r>
            <a:r>
              <a:rPr lang="ja-JP" altLang="en-US" sz="2400" b="1" dirty="0">
                <a:solidFill>
                  <a:srgbClr val="0072B2"/>
                </a:solidFill>
                <a:latin typeface="メイリオ" pitchFamily="34" charset="0"/>
                <a:ea typeface="メイリオ" pitchFamily="34" charset="-122"/>
                <a:cs typeface="メイリオ" pitchFamily="34" charset="-120"/>
              </a:rPr>
              <a:t>中身</a:t>
            </a:r>
            <a:r>
              <a:rPr lang="ja-JP" altLang="en-US" sz="2400" dirty="0">
                <a:solidFill>
                  <a:srgbClr val="262626"/>
                </a:solidFill>
                <a:latin typeface="メイリオ" pitchFamily="34" charset="0"/>
                <a:ea typeface="メイリオ" pitchFamily="34" charset="-122"/>
                <a:cs typeface="メイリオ" pitchFamily="34" charset="-120"/>
              </a:rPr>
              <a:t>を見落とさない</a:t>
            </a:r>
            <a:endParaRPr lang="ja-JP" sz="2400" dirty="0"/>
          </a:p>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緊急：</a:t>
            </a:r>
            <a:r>
              <a:rPr lang="ja-JP" altLang="en-US" sz="2400" b="1" dirty="0">
                <a:solidFill>
                  <a:srgbClr val="C00000"/>
                </a:solidFill>
                <a:latin typeface="メイリオ" pitchFamily="34" charset="0"/>
                <a:ea typeface="メイリオ" pitchFamily="34" charset="-122"/>
                <a:cs typeface="メイリオ" pitchFamily="34" charset="-120"/>
              </a:rPr>
              <a:t>すぐ中止</a:t>
            </a:r>
            <a:r>
              <a:rPr lang="ja-JP" altLang="en-US" sz="2400" dirty="0">
                <a:solidFill>
                  <a:srgbClr val="262626"/>
                </a:solidFill>
                <a:latin typeface="メイリオ" pitchFamily="34" charset="0"/>
                <a:ea typeface="メイリオ" pitchFamily="34" charset="-122"/>
                <a:cs typeface="メイリオ" pitchFamily="34" charset="-120"/>
              </a:rPr>
              <a:t>。ケトン体と血液ガスを反復測定、上昇なら治療</a:t>
            </a:r>
            <a:endParaRPr lang="ja-JP" sz="2400" dirty="0"/>
          </a:p>
        </p:txBody>
      </p:sp>
      <p:sp>
        <p:nvSpPr>
          <p:cNvPr id="12" name="Text 10"/>
          <p:cNvSpPr/>
          <p:nvPr/>
        </p:nvSpPr>
        <p:spPr>
          <a:xfrm>
            <a:off x="1051560" y="4754880"/>
            <a:ext cx="10085832" cy="1097280"/>
          </a:xfrm>
          <a:prstGeom prst="roundRect">
            <a:avLst>
              <a:gd name="adj" fmla="val 8333"/>
            </a:avLst>
          </a:prstGeom>
          <a:solidFill>
            <a:srgbClr val="FFFFFF"/>
          </a:solidFill>
          <a:ln w="44450">
            <a:solidFill>
              <a:srgbClr val="00A8AA"/>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止めたら</a:t>
            </a:r>
            <a:r>
              <a:rPr lang="ja-JP" altLang="en-US" sz="2800" b="1" dirty="0">
                <a:solidFill>
                  <a:srgbClr val="D55E00"/>
                </a:solidFill>
                <a:latin typeface="メイリオ" pitchFamily="34" charset="0"/>
                <a:ea typeface="メイリオ" pitchFamily="34" charset="-122"/>
                <a:cs typeface="メイリオ" pitchFamily="34" charset="-120"/>
              </a:rPr>
              <a:t>再開日まで指示</a:t>
            </a:r>
            <a:endParaRPr lang="ja-JP" sz="2800" dirty="0"/>
          </a:p>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（止めっぱなしでは心不全・腎を守れない）</a:t>
            </a:r>
            <a:endParaRPr lang="ja-JP"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正常血糖ケトアシドーシス</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SGLT2</a:t>
            </a:r>
            <a:endParaRPr lang="ja-JP" sz="1050" dirty="0"/>
          </a:p>
        </p:txBody>
      </p:sp>
      <p:sp>
        <p:nvSpPr>
          <p:cNvPr id="5" name="Text 3"/>
          <p:cNvSpPr/>
          <p:nvPr/>
        </p:nvSpPr>
        <p:spPr>
          <a:xfrm>
            <a:off x="9354312"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ケトアシ</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ドーシス</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経口薬</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インス</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リン</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Umpierrez GE, et al. Diabetes Care 2024;47:1257-1275（ADA/EASD 他 コンセンサス）</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Seki H, et al. J Anesth 2023;37:465-473 / Seki H, et al. J Anesth 2024;38:464-474</a:t>
            </a:r>
            <a:endParaRPr lang="ja-JP" sz="1600" dirty="0"/>
          </a:p>
        </p:txBody>
      </p:sp>
      <p:sp>
        <p:nvSpPr>
          <p:cNvPr id="11" name="Shape 9"/>
          <p:cNvSpPr/>
          <p:nvPr/>
        </p:nvSpPr>
        <p:spPr>
          <a:xfrm>
            <a:off x="502920" y="5127041"/>
            <a:ext cx="11183112" cy="761695"/>
          </a:xfrm>
          <a:prstGeom prst="roundRect">
            <a:avLst>
              <a:gd name="adj" fmla="val 12005"/>
            </a:avLst>
          </a:prstGeom>
          <a:solidFill>
            <a:srgbClr val="FFFFFF"/>
          </a:solidFill>
          <a:ln w="44450">
            <a:solidFill>
              <a:srgbClr val="C00000"/>
            </a:solidFill>
            <a:prstDash val="solid"/>
          </a:ln>
        </p:spPr>
      </p:sp>
      <p:sp>
        <p:nvSpPr>
          <p:cNvPr id="12" name="Text 10"/>
          <p:cNvSpPr txBox="1"/>
          <p:nvPr/>
        </p:nvSpPr>
        <p:spPr>
          <a:xfrm>
            <a:off x="640080" y="5172761"/>
            <a:ext cx="10908792" cy="374904"/>
          </a:xfrm>
          <a:prstGeom prst="rect">
            <a:avLst/>
          </a:prstGeom>
          <a:noFill/>
          <a:ln/>
        </p:spPr>
        <p:txBody>
          <a:bodyPr wrap="square" lIns="0" tIns="0" rIns="0" bIns="0" rtlCol="0" anchor="t"/>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SGLT2 阻害薬を飲んでいた・最近止めた患者の</a:t>
            </a:r>
            <a:endParaRPr lang="ja-JP" sz="2200" dirty="0"/>
          </a:p>
        </p:txBody>
      </p:sp>
      <p:sp>
        <p:nvSpPr>
          <p:cNvPr id="13" name="Text 11"/>
          <p:cNvSpPr txBox="1"/>
          <p:nvPr/>
        </p:nvSpPr>
        <p:spPr>
          <a:xfrm>
            <a:off x="640080" y="5508346"/>
            <a:ext cx="10908792" cy="374904"/>
          </a:xfrm>
          <a:prstGeom prst="rect">
            <a:avLst/>
          </a:prstGeom>
          <a:noFill/>
          <a:ln/>
        </p:spPr>
        <p:txBody>
          <a:bodyPr wrap="square" lIns="0" tIns="0" rIns="0" bIns="0" rtlCol="0" anchor="t"/>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術後の嘔気・腹痛・頻呼吸 → </a:t>
            </a:r>
            <a:r>
              <a:rPr lang="ja-JP" altLang="en-US" sz="2200" b="1" dirty="0">
                <a:solidFill>
                  <a:srgbClr val="C00000"/>
                </a:solidFill>
                <a:latin typeface="メイリオ" pitchFamily="34" charset="0"/>
                <a:ea typeface="メイリオ" pitchFamily="34" charset="-122"/>
                <a:cs typeface="メイリオ" pitchFamily="34" charset="-120"/>
              </a:rPr>
              <a:t>血液ガスとケトン</a:t>
            </a:r>
            <a:endParaRPr lang="ja-JP" sz="2200" dirty="0"/>
          </a:p>
        </p:txBody>
      </p:sp>
      <p:sp>
        <p:nvSpPr>
          <p:cNvPr id="14" name="Shape 12"/>
          <p:cNvSpPr/>
          <p:nvPr/>
        </p:nvSpPr>
        <p:spPr>
          <a:xfrm>
            <a:off x="502920" y="1691640"/>
            <a:ext cx="5480914" cy="3215945"/>
          </a:xfrm>
          <a:prstGeom prst="roundRect">
            <a:avLst>
              <a:gd name="adj" fmla="val 2275"/>
            </a:avLst>
          </a:prstGeom>
          <a:solidFill>
            <a:srgbClr val="F2F2F2"/>
          </a:solidFill>
          <a:ln/>
        </p:spPr>
      </p:sp>
      <p:sp>
        <p:nvSpPr>
          <p:cNvPr id="15" name="Text 13"/>
          <p:cNvSpPr txBox="1"/>
          <p:nvPr/>
        </p:nvSpPr>
        <p:spPr>
          <a:xfrm>
            <a:off x="594360" y="1755648"/>
            <a:ext cx="5298034" cy="420624"/>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なぜ起きる・どう気づく</a:t>
            </a:r>
            <a:endParaRPr lang="ja-JP" sz="2400" dirty="0"/>
          </a:p>
        </p:txBody>
      </p:sp>
      <p:sp>
        <p:nvSpPr>
          <p:cNvPr id="16" name="Text 14"/>
          <p:cNvSpPr txBox="1"/>
          <p:nvPr/>
        </p:nvSpPr>
        <p:spPr>
          <a:xfrm>
            <a:off x="594360" y="2157984"/>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7" name="Text 15"/>
          <p:cNvSpPr txBox="1"/>
          <p:nvPr/>
        </p:nvSpPr>
        <p:spPr>
          <a:xfrm>
            <a:off x="850392" y="2157984"/>
            <a:ext cx="50420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尿糖で血糖が下がり、インスリン↓</a:t>
            </a:r>
            <a:endParaRPr lang="ja-JP" sz="2200" dirty="0"/>
          </a:p>
        </p:txBody>
      </p:sp>
      <p:sp>
        <p:nvSpPr>
          <p:cNvPr id="18" name="Text 16"/>
          <p:cNvSpPr txBox="1"/>
          <p:nvPr/>
        </p:nvSpPr>
        <p:spPr>
          <a:xfrm>
            <a:off x="850392" y="2493569"/>
            <a:ext cx="50420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グルカゴン↑→ケトン体</a:t>
            </a:r>
            <a:endParaRPr lang="ja-JP" sz="2200" dirty="0"/>
          </a:p>
        </p:txBody>
      </p:sp>
      <p:sp>
        <p:nvSpPr>
          <p:cNvPr id="19" name="Text 17"/>
          <p:cNvSpPr txBox="1"/>
          <p:nvPr/>
        </p:nvSpPr>
        <p:spPr>
          <a:xfrm>
            <a:off x="594360" y="2828239"/>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0" name="Text 18"/>
          <p:cNvSpPr txBox="1"/>
          <p:nvPr/>
        </p:nvSpPr>
        <p:spPr>
          <a:xfrm>
            <a:off x="850392" y="2828239"/>
            <a:ext cx="50420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血糖は正常〜軽度高値</a:t>
            </a:r>
            <a:endParaRPr lang="ja-JP" sz="2200" dirty="0"/>
          </a:p>
        </p:txBody>
      </p:sp>
      <p:sp>
        <p:nvSpPr>
          <p:cNvPr id="21" name="Text 19"/>
          <p:cNvSpPr txBox="1"/>
          <p:nvPr/>
        </p:nvSpPr>
        <p:spPr>
          <a:xfrm>
            <a:off x="850392" y="3163824"/>
            <a:ext cx="50420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（周術期例の中央値 179 mg/dL）</a:t>
            </a:r>
            <a:endParaRPr lang="ja-JP" sz="2200" dirty="0"/>
          </a:p>
        </p:txBody>
      </p:sp>
      <p:sp>
        <p:nvSpPr>
          <p:cNvPr id="22" name="Text 20"/>
          <p:cNvSpPr txBox="1"/>
          <p:nvPr/>
        </p:nvSpPr>
        <p:spPr>
          <a:xfrm>
            <a:off x="594360" y="3499409"/>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3" name="Text 21"/>
          <p:cNvSpPr txBox="1"/>
          <p:nvPr/>
        </p:nvSpPr>
        <p:spPr>
          <a:xfrm>
            <a:off x="850392" y="3499409"/>
            <a:ext cx="50420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手術ストレスと絶食で起きやすい</a:t>
            </a:r>
            <a:endParaRPr lang="ja-JP" sz="2200" dirty="0"/>
          </a:p>
        </p:txBody>
      </p:sp>
      <p:sp>
        <p:nvSpPr>
          <p:cNvPr id="24" name="Text 22"/>
          <p:cNvSpPr txBox="1"/>
          <p:nvPr/>
        </p:nvSpPr>
        <p:spPr>
          <a:xfrm>
            <a:off x="594360" y="3834079"/>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5" name="Text 23"/>
          <p:cNvSpPr txBox="1"/>
          <p:nvPr/>
        </p:nvSpPr>
        <p:spPr>
          <a:xfrm>
            <a:off x="850392" y="3834079"/>
            <a:ext cx="50420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倦怠感、嘔気・嘔吐、腹痛、</a:t>
            </a:r>
            <a:endParaRPr lang="ja-JP" sz="2200" dirty="0"/>
          </a:p>
        </p:txBody>
      </p:sp>
      <p:sp>
        <p:nvSpPr>
          <p:cNvPr id="26" name="Text 24"/>
          <p:cNvSpPr txBox="1"/>
          <p:nvPr/>
        </p:nvSpPr>
        <p:spPr>
          <a:xfrm>
            <a:off x="850392" y="4169664"/>
            <a:ext cx="50420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頻呼吸、意識の変化</a:t>
            </a:r>
            <a:endParaRPr lang="ja-JP" sz="2200" dirty="0"/>
          </a:p>
        </p:txBody>
      </p:sp>
      <p:sp>
        <p:nvSpPr>
          <p:cNvPr id="27" name="Text 25"/>
          <p:cNvSpPr txBox="1"/>
          <p:nvPr/>
        </p:nvSpPr>
        <p:spPr>
          <a:xfrm>
            <a:off x="594360" y="4505249"/>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8" name="Text 26"/>
          <p:cNvSpPr txBox="1"/>
          <p:nvPr/>
        </p:nvSpPr>
        <p:spPr>
          <a:xfrm>
            <a:off x="850392" y="4505249"/>
            <a:ext cx="50420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PONV や術後痛と紛らわしい</a:t>
            </a:r>
            <a:endParaRPr lang="ja-JP" sz="2200" dirty="0"/>
          </a:p>
        </p:txBody>
      </p:sp>
      <p:sp>
        <p:nvSpPr>
          <p:cNvPr id="29" name="Shape 27"/>
          <p:cNvSpPr/>
          <p:nvPr/>
        </p:nvSpPr>
        <p:spPr>
          <a:xfrm>
            <a:off x="6203290" y="1691640"/>
            <a:ext cx="5480914" cy="3215945"/>
          </a:xfrm>
          <a:prstGeom prst="roundRect">
            <a:avLst>
              <a:gd name="adj" fmla="val 2275"/>
            </a:avLst>
          </a:prstGeom>
          <a:solidFill>
            <a:srgbClr val="F2F2F2"/>
          </a:solidFill>
          <a:ln/>
        </p:spPr>
      </p:sp>
      <p:sp>
        <p:nvSpPr>
          <p:cNvPr id="30" name="Text 28"/>
          <p:cNvSpPr txBox="1"/>
          <p:nvPr/>
        </p:nvSpPr>
        <p:spPr>
          <a:xfrm>
            <a:off x="6294730" y="1755648"/>
            <a:ext cx="5298034" cy="420624"/>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診断と治療</a:t>
            </a:r>
            <a:endParaRPr lang="ja-JP" sz="2400" dirty="0"/>
          </a:p>
        </p:txBody>
      </p:sp>
      <p:sp>
        <p:nvSpPr>
          <p:cNvPr id="31" name="Text 29"/>
          <p:cNvSpPr txBox="1"/>
          <p:nvPr/>
        </p:nvSpPr>
        <p:spPr>
          <a:xfrm>
            <a:off x="6294730" y="2157984"/>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2" name="Text 30"/>
          <p:cNvSpPr txBox="1"/>
          <p:nvPr/>
        </p:nvSpPr>
        <p:spPr>
          <a:xfrm>
            <a:off x="6550762" y="2157984"/>
            <a:ext cx="50420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血中 β-ヒドロキシ酪酸</a:t>
            </a:r>
            <a:endParaRPr lang="ja-JP" sz="2200" dirty="0"/>
          </a:p>
        </p:txBody>
      </p:sp>
      <p:sp>
        <p:nvSpPr>
          <p:cNvPr id="33" name="Text 31"/>
          <p:cNvSpPr txBox="1"/>
          <p:nvPr/>
        </p:nvSpPr>
        <p:spPr>
          <a:xfrm>
            <a:off x="6550762" y="2493569"/>
            <a:ext cx="50420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3.0 mmol/L 以上</a:t>
            </a:r>
            <a:endParaRPr lang="ja-JP" sz="2200" dirty="0"/>
          </a:p>
        </p:txBody>
      </p:sp>
      <p:sp>
        <p:nvSpPr>
          <p:cNvPr id="34" name="Text 32"/>
          <p:cNvSpPr txBox="1"/>
          <p:nvPr/>
        </p:nvSpPr>
        <p:spPr>
          <a:xfrm>
            <a:off x="6294730" y="2828239"/>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5" name="Text 33"/>
          <p:cNvSpPr txBox="1"/>
          <p:nvPr/>
        </p:nvSpPr>
        <p:spPr>
          <a:xfrm>
            <a:off x="6550762" y="2828239"/>
            <a:ext cx="50420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pH 7.3 未満 または HCO3− 18 未満</a:t>
            </a:r>
            <a:endParaRPr lang="ja-JP" sz="2200" dirty="0"/>
          </a:p>
        </p:txBody>
      </p:sp>
      <p:sp>
        <p:nvSpPr>
          <p:cNvPr id="36" name="Text 34"/>
          <p:cNvSpPr txBox="1"/>
          <p:nvPr/>
        </p:nvSpPr>
        <p:spPr>
          <a:xfrm>
            <a:off x="6294730" y="3163824"/>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7" name="Text 35"/>
          <p:cNvSpPr txBox="1"/>
          <p:nvPr/>
        </p:nvSpPr>
        <p:spPr>
          <a:xfrm>
            <a:off x="6550762" y="3163824"/>
            <a:ext cx="50420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尿ケトンは補助（早期は軽く出る。</a:t>
            </a:r>
            <a:endParaRPr lang="ja-JP" sz="2200" dirty="0"/>
          </a:p>
        </p:txBody>
      </p:sp>
      <p:sp>
        <p:nvSpPr>
          <p:cNvPr id="38" name="Text 36"/>
          <p:cNvSpPr txBox="1"/>
          <p:nvPr/>
        </p:nvSpPr>
        <p:spPr>
          <a:xfrm>
            <a:off x="6550762" y="3499409"/>
            <a:ext cx="50420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術後は陽性も多い）</a:t>
            </a:r>
            <a:endParaRPr lang="ja-JP" sz="2200" dirty="0"/>
          </a:p>
        </p:txBody>
      </p:sp>
      <p:sp>
        <p:nvSpPr>
          <p:cNvPr id="39" name="Text 37"/>
          <p:cNvSpPr txBox="1"/>
          <p:nvPr/>
        </p:nvSpPr>
        <p:spPr>
          <a:xfrm>
            <a:off x="6294730" y="3834079"/>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40" name="Text 38"/>
          <p:cNvSpPr txBox="1"/>
          <p:nvPr/>
        </p:nvSpPr>
        <p:spPr>
          <a:xfrm>
            <a:off x="6550762" y="3834079"/>
            <a:ext cx="50420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アニオンギャップ 12 超</a:t>
            </a:r>
            <a:endParaRPr lang="ja-JP" sz="2200" dirty="0"/>
          </a:p>
        </p:txBody>
      </p:sp>
      <p:sp>
        <p:nvSpPr>
          <p:cNvPr id="41" name="Text 39"/>
          <p:cNvSpPr txBox="1"/>
          <p:nvPr/>
        </p:nvSpPr>
        <p:spPr>
          <a:xfrm>
            <a:off x="6294730" y="4169664"/>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42" name="Text 40"/>
          <p:cNvSpPr txBox="1"/>
          <p:nvPr/>
        </p:nvSpPr>
        <p:spPr>
          <a:xfrm>
            <a:off x="6550762" y="4169664"/>
            <a:ext cx="50420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輸液＋インスリン＋最初から</a:t>
            </a:r>
            <a:endParaRPr lang="ja-JP" sz="2200" dirty="0"/>
          </a:p>
        </p:txBody>
      </p:sp>
      <p:sp>
        <p:nvSpPr>
          <p:cNvPr id="43" name="Text 41"/>
          <p:cNvSpPr txBox="1"/>
          <p:nvPr/>
        </p:nvSpPr>
        <p:spPr>
          <a:xfrm>
            <a:off x="6550762" y="4505249"/>
            <a:ext cx="504200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5〜10% ブドウ糖（K を先に測る）</a:t>
            </a:r>
            <a:endParaRPr lang="ja-JP"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経口薬と GLP-1 の扱い</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SGLT2</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ケトアシ</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ドーシス</a:t>
            </a:r>
            <a:endParaRPr lang="ja-JP" sz="1050" dirty="0"/>
          </a:p>
        </p:txBody>
      </p:sp>
      <p:sp>
        <p:nvSpPr>
          <p:cNvPr id="6" name="Text 4"/>
          <p:cNvSpPr/>
          <p:nvPr/>
        </p:nvSpPr>
        <p:spPr>
          <a:xfrm>
            <a:off x="10030968"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経口薬</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インス</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リン</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メトグルコ錠 添付文書（PMDA） / Sasaki A, et al. Diabetol Int 2022;13:1-30</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Tinsley S, et al. Br J Anaesth 2025;135:898-911</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64208"/>
          <a:ext cx="11155680" cy="914400"/>
        </p:xfrm>
        <a:graphic>
          <a:graphicData uri="http://schemas.openxmlformats.org/drawingml/2006/table">
            <a:tbl>
              <a:tblPr/>
              <a:tblGrid>
                <a:gridCol w="2478024"/>
                <a:gridCol w="2350008"/>
                <a:gridCol w="6327648"/>
              </a:tblGrid>
              <a:tr h="41148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薬</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当日</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理由・注意</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41148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SGLT2 阻害薬</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b="1" dirty="0">
                          <a:solidFill>
                            <a:srgbClr val="D55E00"/>
                          </a:solidFill>
                          <a:latin typeface="メイリオ" pitchFamily="34" charset="0"/>
                          <a:ea typeface="メイリオ" pitchFamily="34" charset="-122"/>
                          <a:cs typeface="メイリオ" pitchFamily="34" charset="-120"/>
                        </a:rPr>
                        <a:t>3 日前から中止</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正常血糖ケトアシドーシス（→ S2、S3）</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メトホルミン</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2 日前から休薬</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（国内の目安）</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添付文書は手術前後を禁忌。</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造影剤では 48 時間</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SU 薬、グリニド</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当日休薬</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絶食中の遷延性低血糖。ブドウ糖を準備</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DPP-4 阻害薬</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当日朝は休薬</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（英国は継続）</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低血糖はまれ。</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国内添付文書は手術前後を禁忌</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GLP-1</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受容体作動薬</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原則続ける</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 4-3）</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高リスクは流動食・胃エコー。</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休薬なら週 1 回製剤は 1 週前</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α-GI、</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チアゾリジン</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当日朝は</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飲まない</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α-GI は食事とともに効く。</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チアゾリジンは体液貯留に注意</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インスリンの術前調整</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SGLT2</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ケトアシ</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ドーシス</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経口薬</a:t>
            </a:r>
            <a:endParaRPr lang="ja-JP" sz="1050" dirty="0"/>
          </a:p>
        </p:txBody>
      </p:sp>
      <p:sp>
        <p:nvSpPr>
          <p:cNvPr id="7" name="Text 5"/>
          <p:cNvSpPr/>
          <p:nvPr/>
        </p:nvSpPr>
        <p:spPr>
          <a:xfrm>
            <a:off x="10707624"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インス</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リン</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Levy NA, et al. Anaesthesia 2026;81:1116-1131</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Polderman JAW, et al. BJA Educ 2024;24:261-269</a:t>
            </a:r>
            <a:endParaRPr lang="ja-JP" sz="1600" dirty="0"/>
          </a:p>
        </p:txBody>
      </p:sp>
      <p:sp>
        <p:nvSpPr>
          <p:cNvPr id="11" name="Text 9"/>
          <p:cNvSpPr txBox="1"/>
          <p:nvPr/>
        </p:nvSpPr>
        <p:spPr>
          <a:xfrm>
            <a:off x="502920" y="1737360"/>
            <a:ext cx="11155680" cy="2798064"/>
          </a:xfrm>
          <a:prstGeom prst="rect">
            <a:avLst/>
          </a:prstGeom>
          <a:noFill/>
          <a:ln/>
        </p:spPr>
        <p:txBody>
          <a:bodyPr wrap="square" lIns="0" tIns="0" rIns="0" bIns="0" rtlCol="0" anchor="t"/>
          <a:lstStyle/>
          <a:p>
            <a:pPr algn="l" marL="355600" indent="-355600">
              <a:spcAft>
                <a:spcPts val="10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持効型：</a:t>
            </a:r>
            <a:r>
              <a:rPr lang="ja-JP" altLang="en-US" sz="2400" dirty="0">
                <a:solidFill>
                  <a:srgbClr val="262626"/>
                </a:solidFill>
                <a:latin typeface="メイリオ" pitchFamily="34" charset="0"/>
                <a:ea typeface="メイリオ" pitchFamily="34" charset="-122"/>
                <a:cs typeface="メイリオ" pitchFamily="34" charset="-120"/>
              </a:rPr>
              <a:t>前夜（朝打ちなら当日朝）の分を普段の </a:t>
            </a:r>
            <a:r>
              <a:rPr lang="ja-JP" altLang="en-US" sz="2400" b="1" dirty="0">
                <a:solidFill>
                  <a:srgbClr val="D55E00"/>
                </a:solidFill>
                <a:latin typeface="メイリオ" pitchFamily="34" charset="0"/>
                <a:ea typeface="メイリオ" pitchFamily="34" charset="-122"/>
                <a:cs typeface="メイリオ" pitchFamily="34" charset="-120"/>
              </a:rPr>
              <a:t>75〜80%</a:t>
            </a:r>
            <a:endParaRPr lang="ja-JP" sz="2400" dirty="0"/>
          </a:p>
          <a:p>
            <a:pPr algn="l" marL="355600" indent="-355600">
              <a:spcAft>
                <a:spcPts val="10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中間型（NPH）：</a:t>
            </a:r>
            <a:r>
              <a:rPr lang="ja-JP" altLang="en-US" sz="2400" dirty="0">
                <a:solidFill>
                  <a:srgbClr val="262626"/>
                </a:solidFill>
                <a:latin typeface="メイリオ" pitchFamily="34" charset="0"/>
                <a:ea typeface="メイリオ" pitchFamily="34" charset="-122"/>
                <a:cs typeface="メイリオ" pitchFamily="34" charset="-120"/>
              </a:rPr>
              <a:t>当日朝は </a:t>
            </a:r>
            <a:r>
              <a:rPr lang="ja-JP" altLang="en-US" sz="2400" b="1" dirty="0">
                <a:solidFill>
                  <a:srgbClr val="D55E00"/>
                </a:solidFill>
                <a:latin typeface="メイリオ" pitchFamily="34" charset="0"/>
                <a:ea typeface="メイリオ" pitchFamily="34" charset="-122"/>
                <a:cs typeface="メイリオ" pitchFamily="34" charset="-120"/>
              </a:rPr>
              <a:t>50%</a:t>
            </a:r>
            <a:endParaRPr lang="ja-JP" sz="2400" dirty="0"/>
          </a:p>
          <a:p>
            <a:pPr algn="l" marL="355600" indent="-355600">
              <a:spcAft>
                <a:spcPts val="10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速効型・超速効型：</a:t>
            </a:r>
            <a:r>
              <a:rPr lang="ja-JP" altLang="en-US" sz="2400" dirty="0">
                <a:solidFill>
                  <a:srgbClr val="262626"/>
                </a:solidFill>
                <a:latin typeface="メイリオ" pitchFamily="34" charset="0"/>
                <a:ea typeface="メイリオ" pitchFamily="34" charset="-122"/>
                <a:cs typeface="メイリオ" pitchFamily="34" charset="-120"/>
              </a:rPr>
              <a:t>絶食中は打たない（補正分だけ）</a:t>
            </a:r>
            <a:endParaRPr lang="ja-JP" sz="2400" dirty="0"/>
          </a:p>
          <a:p>
            <a:pPr algn="l" marL="355600" indent="-355600">
              <a:spcAft>
                <a:spcPts val="10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1 型糖尿病：</a:t>
            </a:r>
            <a:r>
              <a:rPr lang="ja-JP" altLang="en-US" sz="2400" dirty="0">
                <a:solidFill>
                  <a:srgbClr val="262626"/>
                </a:solidFill>
                <a:latin typeface="メイリオ" pitchFamily="34" charset="0"/>
                <a:ea typeface="メイリオ" pitchFamily="34" charset="-122"/>
                <a:cs typeface="メイリオ" pitchFamily="34" charset="-120"/>
              </a:rPr>
              <a:t>基礎インスリンは</a:t>
            </a:r>
            <a:r>
              <a:rPr lang="ja-JP" altLang="en-US" sz="2400" b="1" dirty="0">
                <a:solidFill>
                  <a:srgbClr val="C00000"/>
                </a:solidFill>
                <a:latin typeface="メイリオ" pitchFamily="34" charset="0"/>
                <a:ea typeface="メイリオ" pitchFamily="34" charset="-122"/>
                <a:cs typeface="メイリオ" pitchFamily="34" charset="-120"/>
              </a:rPr>
              <a:t>絶対に抜かない</a:t>
            </a:r>
            <a:r>
              <a:rPr lang="ja-JP" altLang="en-US" sz="2400" dirty="0">
                <a:solidFill>
                  <a:srgbClr val="262626"/>
                </a:solidFill>
                <a:latin typeface="メイリオ" pitchFamily="34" charset="0"/>
                <a:ea typeface="メイリオ" pitchFamily="34" charset="-122"/>
                <a:cs typeface="メイリオ" pitchFamily="34" charset="-120"/>
              </a:rPr>
              <a:t>（抜くと DKA）</a:t>
            </a:r>
            <a:endParaRPr lang="ja-JP" sz="2400" dirty="0"/>
          </a:p>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1 食を超える絶食、ポンプが使えない：</a:t>
            </a:r>
            <a:r>
              <a:rPr lang="ja-JP" altLang="en-US" sz="2400" b="1" dirty="0">
                <a:solidFill>
                  <a:srgbClr val="D55E00"/>
                </a:solidFill>
                <a:latin typeface="メイリオ" pitchFamily="34" charset="0"/>
                <a:ea typeface="メイリオ" pitchFamily="34" charset="-122"/>
                <a:cs typeface="メイリオ" pitchFamily="34" charset="-120"/>
              </a:rPr>
              <a:t>静注インスリン持続</a:t>
            </a:r>
            <a:r>
              <a:rPr lang="ja-JP" altLang="en-US" sz="2400" dirty="0">
                <a:solidFill>
                  <a:srgbClr val="262626"/>
                </a:solidFill>
                <a:latin typeface="メイリオ" pitchFamily="34" charset="0"/>
                <a:ea typeface="メイリオ" pitchFamily="34" charset="-122"/>
                <a:cs typeface="メイリオ" pitchFamily="34" charset="-120"/>
              </a:rPr>
              <a:t>へ</a:t>
            </a:r>
            <a:endParaRPr lang="ja-JP" sz="2400" dirty="0"/>
          </a:p>
        </p:txBody>
      </p:sp>
      <p:sp>
        <p:nvSpPr>
          <p:cNvPr id="12" name="Text 10"/>
          <p:cNvSpPr/>
          <p:nvPr/>
        </p:nvSpPr>
        <p:spPr>
          <a:xfrm>
            <a:off x="1051560" y="4754880"/>
            <a:ext cx="10085832" cy="1097280"/>
          </a:xfrm>
          <a:prstGeom prst="roundRect">
            <a:avLst>
              <a:gd name="adj" fmla="val 8333"/>
            </a:avLst>
          </a:prstGeom>
          <a:solidFill>
            <a:srgbClr val="FFFFFF"/>
          </a:solidFill>
          <a:ln w="44450">
            <a:solidFill>
              <a:srgbClr val="00A8AA"/>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ポンプ（CSII）は条件を満たせば継続。</a:t>
            </a:r>
            <a:endParaRPr lang="ja-JP" sz="2800" dirty="0"/>
          </a:p>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術野から離し、対極板と電気メスの間に置かない</a:t>
            </a:r>
            <a:endParaRPr lang="ja-JP"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HbA1c と血糖目標</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SGLT2</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ケトアシ</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ドーシス</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経口薬</a:t>
            </a:r>
            <a:endParaRPr lang="ja-JP" sz="1050" dirty="0"/>
          </a:p>
        </p:txBody>
      </p:sp>
      <p:sp>
        <p:nvSpPr>
          <p:cNvPr id="7" name="Text 5"/>
          <p:cNvSpPr/>
          <p:nvPr/>
        </p:nvSpPr>
        <p:spPr>
          <a:xfrm>
            <a:off x="10707624"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インス</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リン</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Levy NA, et al. Anaesthesia 2026;81:1116-1131 / NICE NG45（2016）</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Sasaki A, et al. Diabetol Int 2022;13:1-30</a:t>
            </a:r>
            <a:endParaRPr lang="ja-JP" sz="1600" dirty="0"/>
          </a:p>
        </p:txBody>
      </p:sp>
      <p:sp>
        <p:nvSpPr>
          <p:cNvPr id="11" name="Shape 9"/>
          <p:cNvSpPr/>
          <p:nvPr/>
        </p:nvSpPr>
        <p:spPr>
          <a:xfrm>
            <a:off x="502920" y="5127041"/>
            <a:ext cx="11183112" cy="761695"/>
          </a:xfrm>
          <a:prstGeom prst="roundRect">
            <a:avLst>
              <a:gd name="adj" fmla="val 12005"/>
            </a:avLst>
          </a:prstGeom>
          <a:solidFill>
            <a:srgbClr val="FFFFFF"/>
          </a:solidFill>
          <a:ln w="44450">
            <a:solidFill>
              <a:srgbClr val="00A8AA"/>
            </a:solidFill>
            <a:prstDash val="solid"/>
          </a:ln>
        </p:spPr>
      </p:sp>
      <p:sp>
        <p:nvSpPr>
          <p:cNvPr id="12" name="Text 10"/>
          <p:cNvSpPr txBox="1"/>
          <p:nvPr/>
        </p:nvSpPr>
        <p:spPr>
          <a:xfrm>
            <a:off x="640080" y="5172761"/>
            <a:ext cx="10908792" cy="374904"/>
          </a:xfrm>
          <a:prstGeom prst="rect">
            <a:avLst/>
          </a:prstGeom>
          <a:noFill/>
          <a:ln/>
        </p:spPr>
        <p:txBody>
          <a:bodyPr wrap="square" lIns="0" tIns="0" rIns="0" bIns="0" rtlCol="0" anchor="t"/>
          <a:lstStyle/>
          <a:p>
            <a:pPr algn="ctr" indent="0" marL="0">
              <a:buNone/>
            </a:pPr>
            <a:r>
              <a:rPr lang="ja-JP" altLang="en-US" sz="2200" b="1" dirty="0">
                <a:solidFill>
                  <a:srgbClr val="0072B2"/>
                </a:solidFill>
                <a:latin typeface="メイリオ" pitchFamily="34" charset="0"/>
                <a:ea typeface="メイリオ" pitchFamily="34" charset="-122"/>
                <a:cs typeface="メイリオ" pitchFamily="34" charset="-120"/>
              </a:rPr>
              <a:t>国内の目安：</a:t>
            </a:r>
            <a:r>
              <a:rPr lang="ja-JP" altLang="en-US" sz="2200" b="1" dirty="0">
                <a:solidFill>
                  <a:srgbClr val="262626"/>
                </a:solidFill>
                <a:latin typeface="メイリオ" pitchFamily="34" charset="0"/>
                <a:ea typeface="メイリオ" pitchFamily="34" charset="-122"/>
                <a:cs typeface="メイリオ" pitchFamily="34" charset="-120"/>
              </a:rPr>
              <a:t>空腹時 100〜140 または食後 160〜200 mg/dL、</a:t>
            </a:r>
            <a:endParaRPr lang="ja-JP" sz="2200" dirty="0"/>
          </a:p>
        </p:txBody>
      </p:sp>
      <p:sp>
        <p:nvSpPr>
          <p:cNvPr id="13" name="Text 11"/>
          <p:cNvSpPr txBox="1"/>
          <p:nvPr/>
        </p:nvSpPr>
        <p:spPr>
          <a:xfrm>
            <a:off x="640080" y="5508346"/>
            <a:ext cx="10908792" cy="374904"/>
          </a:xfrm>
          <a:prstGeom prst="rect">
            <a:avLst/>
          </a:prstGeom>
          <a:noFill/>
          <a:ln/>
        </p:spPr>
        <p:txBody>
          <a:bodyPr wrap="square" lIns="0" tIns="0" rIns="0" bIns="0" rtlCol="0" anchor="t"/>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尿ケトン陰性。満たさなければ糖尿病内科へ（術前入院も）</a:t>
            </a:r>
            <a:endParaRPr lang="ja-JP" sz="2200" dirty="0"/>
          </a:p>
        </p:txBody>
      </p:sp>
      <p:sp>
        <p:nvSpPr>
          <p:cNvPr id="14" name="Shape 12"/>
          <p:cNvSpPr/>
          <p:nvPr/>
        </p:nvSpPr>
        <p:spPr>
          <a:xfrm>
            <a:off x="502920" y="1691640"/>
            <a:ext cx="5659222" cy="3215945"/>
          </a:xfrm>
          <a:prstGeom prst="roundRect">
            <a:avLst>
              <a:gd name="adj" fmla="val 2275"/>
            </a:avLst>
          </a:prstGeom>
          <a:solidFill>
            <a:srgbClr val="F2F2F2"/>
          </a:solidFill>
          <a:ln/>
        </p:spPr>
      </p:sp>
      <p:sp>
        <p:nvSpPr>
          <p:cNvPr id="15" name="Text 13"/>
          <p:cNvSpPr txBox="1"/>
          <p:nvPr/>
        </p:nvSpPr>
        <p:spPr>
          <a:xfrm>
            <a:off x="594360" y="1755648"/>
            <a:ext cx="5476342" cy="420624"/>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HbA1c（3 か月以内の値を）</a:t>
            </a:r>
            <a:endParaRPr lang="ja-JP" sz="2400" dirty="0"/>
          </a:p>
        </p:txBody>
      </p:sp>
      <p:sp>
        <p:nvSpPr>
          <p:cNvPr id="16" name="Text 14"/>
          <p:cNvSpPr txBox="1"/>
          <p:nvPr/>
        </p:nvSpPr>
        <p:spPr>
          <a:xfrm>
            <a:off x="594360" y="2157984"/>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7" name="Text 15"/>
          <p:cNvSpPr txBox="1"/>
          <p:nvPr/>
        </p:nvSpPr>
        <p:spPr>
          <a:xfrm>
            <a:off x="850392" y="2157984"/>
            <a:ext cx="522031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英国：8.5% 超は手術を進めるか、</a:t>
            </a:r>
            <a:endParaRPr lang="ja-JP" sz="2200" dirty="0"/>
          </a:p>
        </p:txBody>
      </p:sp>
      <p:sp>
        <p:nvSpPr>
          <p:cNvPr id="18" name="Text 16"/>
          <p:cNvSpPr txBox="1"/>
          <p:nvPr/>
        </p:nvSpPr>
        <p:spPr>
          <a:xfrm>
            <a:off x="850392" y="2493569"/>
            <a:ext cx="522031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かかりつけに戻すかを臨床判断</a:t>
            </a:r>
            <a:endParaRPr lang="ja-JP" sz="2200" dirty="0"/>
          </a:p>
        </p:txBody>
      </p:sp>
      <p:sp>
        <p:nvSpPr>
          <p:cNvPr id="19" name="Text 17"/>
          <p:cNvSpPr txBox="1"/>
          <p:nvPr/>
        </p:nvSpPr>
        <p:spPr>
          <a:xfrm>
            <a:off x="594360" y="2829154"/>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0" name="Text 18"/>
          <p:cNvSpPr txBox="1"/>
          <p:nvPr/>
        </p:nvSpPr>
        <p:spPr>
          <a:xfrm>
            <a:off x="850392" y="2829154"/>
            <a:ext cx="522031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ESC 2022：8.5% 以上の待機手術は</a:t>
            </a:r>
            <a:endParaRPr lang="ja-JP" sz="2200" dirty="0"/>
          </a:p>
        </p:txBody>
      </p:sp>
      <p:sp>
        <p:nvSpPr>
          <p:cNvPr id="21" name="Text 19"/>
          <p:cNvSpPr txBox="1"/>
          <p:nvPr/>
        </p:nvSpPr>
        <p:spPr>
          <a:xfrm>
            <a:off x="850392" y="3164738"/>
            <a:ext cx="522031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安全・実際的なら延期（I）</a:t>
            </a:r>
            <a:endParaRPr lang="ja-JP" sz="2200" dirty="0"/>
          </a:p>
        </p:txBody>
      </p:sp>
      <p:sp>
        <p:nvSpPr>
          <p:cNvPr id="22" name="Text 20"/>
          <p:cNvSpPr txBox="1"/>
          <p:nvPr/>
        </p:nvSpPr>
        <p:spPr>
          <a:xfrm>
            <a:off x="594360" y="3501238"/>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3" name="Text 21"/>
          <p:cNvSpPr txBox="1"/>
          <p:nvPr/>
        </p:nvSpPr>
        <p:spPr>
          <a:xfrm>
            <a:off x="850392" y="3501238"/>
            <a:ext cx="522031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理想は 6.5〜7%。</a:t>
            </a:r>
            <a:endParaRPr lang="ja-JP" sz="2200" dirty="0"/>
          </a:p>
        </p:txBody>
      </p:sp>
      <p:sp>
        <p:nvSpPr>
          <p:cNvPr id="24" name="Text 22"/>
          <p:cNvSpPr txBox="1"/>
          <p:nvPr/>
        </p:nvSpPr>
        <p:spPr>
          <a:xfrm>
            <a:off x="850392" y="3835908"/>
            <a:ext cx="522031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下げすぎの害にも注意</a:t>
            </a:r>
            <a:endParaRPr lang="ja-JP" sz="2200" dirty="0"/>
          </a:p>
        </p:txBody>
      </p:sp>
      <p:sp>
        <p:nvSpPr>
          <p:cNvPr id="25" name="Text 23"/>
          <p:cNvSpPr txBox="1"/>
          <p:nvPr/>
        </p:nvSpPr>
        <p:spPr>
          <a:xfrm>
            <a:off x="594360" y="4172407"/>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6" name="Text 24"/>
          <p:cNvSpPr txBox="1"/>
          <p:nvPr/>
        </p:nvSpPr>
        <p:spPr>
          <a:xfrm>
            <a:off x="850392" y="4172407"/>
            <a:ext cx="522031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国内に明確な延期の</a:t>
            </a:r>
            <a:endParaRPr lang="ja-JP" sz="2200" dirty="0"/>
          </a:p>
        </p:txBody>
      </p:sp>
      <p:sp>
        <p:nvSpPr>
          <p:cNvPr id="27" name="Text 25"/>
          <p:cNvSpPr txBox="1"/>
          <p:nvPr/>
        </p:nvSpPr>
        <p:spPr>
          <a:xfrm>
            <a:off x="850392" y="4507992"/>
            <a:ext cx="522031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閾値は見当たらない</a:t>
            </a:r>
            <a:endParaRPr lang="ja-JP" sz="2200" dirty="0"/>
          </a:p>
        </p:txBody>
      </p:sp>
      <p:sp>
        <p:nvSpPr>
          <p:cNvPr id="28" name="Shape 26"/>
          <p:cNvSpPr/>
          <p:nvPr/>
        </p:nvSpPr>
        <p:spPr>
          <a:xfrm>
            <a:off x="6381598" y="1691640"/>
            <a:ext cx="5302606" cy="3215945"/>
          </a:xfrm>
          <a:prstGeom prst="roundRect">
            <a:avLst>
              <a:gd name="adj" fmla="val 2275"/>
            </a:avLst>
          </a:prstGeom>
          <a:solidFill>
            <a:srgbClr val="F2F2F2"/>
          </a:solidFill>
          <a:ln/>
        </p:spPr>
      </p:sp>
      <p:sp>
        <p:nvSpPr>
          <p:cNvPr id="29" name="Text 27"/>
          <p:cNvSpPr txBox="1"/>
          <p:nvPr/>
        </p:nvSpPr>
        <p:spPr>
          <a:xfrm>
            <a:off x="6473038" y="1755648"/>
            <a:ext cx="5119726" cy="420624"/>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周術期の血糖</a:t>
            </a:r>
            <a:endParaRPr lang="ja-JP" sz="2400" dirty="0"/>
          </a:p>
        </p:txBody>
      </p:sp>
      <p:sp>
        <p:nvSpPr>
          <p:cNvPr id="30" name="Text 28"/>
          <p:cNvSpPr txBox="1"/>
          <p:nvPr/>
        </p:nvSpPr>
        <p:spPr>
          <a:xfrm>
            <a:off x="6473038" y="2157984"/>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1" name="Text 29"/>
          <p:cNvSpPr txBox="1"/>
          <p:nvPr/>
        </p:nvSpPr>
        <p:spPr>
          <a:xfrm>
            <a:off x="6729070" y="2157984"/>
            <a:ext cx="486369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目標 100〜180 mg/dL</a:t>
            </a:r>
            <a:endParaRPr lang="ja-JP" sz="2200" dirty="0"/>
          </a:p>
        </p:txBody>
      </p:sp>
      <p:sp>
        <p:nvSpPr>
          <p:cNvPr id="32" name="Text 30"/>
          <p:cNvSpPr txBox="1"/>
          <p:nvPr/>
        </p:nvSpPr>
        <p:spPr>
          <a:xfrm>
            <a:off x="6729070" y="2493569"/>
            <a:ext cx="486369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（上限 180。ICU は 140〜180）</a:t>
            </a:r>
            <a:endParaRPr lang="ja-JP" sz="2200" dirty="0"/>
          </a:p>
        </p:txBody>
      </p:sp>
      <p:sp>
        <p:nvSpPr>
          <p:cNvPr id="33" name="Text 31"/>
          <p:cNvSpPr txBox="1"/>
          <p:nvPr/>
        </p:nvSpPr>
        <p:spPr>
          <a:xfrm>
            <a:off x="6473038" y="2829154"/>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4" name="Text 32"/>
          <p:cNvSpPr txBox="1"/>
          <p:nvPr/>
        </p:nvSpPr>
        <p:spPr>
          <a:xfrm>
            <a:off x="6729070" y="2829154"/>
            <a:ext cx="486369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静注インスリン中は</a:t>
            </a:r>
            <a:endParaRPr lang="ja-JP" sz="2200" dirty="0"/>
          </a:p>
        </p:txBody>
      </p:sp>
      <p:sp>
        <p:nvSpPr>
          <p:cNvPr id="35" name="Text 33"/>
          <p:cNvSpPr txBox="1"/>
          <p:nvPr/>
        </p:nvSpPr>
        <p:spPr>
          <a:xfrm>
            <a:off x="6729070" y="3164738"/>
            <a:ext cx="486369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1 時間ごとに測る</a:t>
            </a:r>
            <a:endParaRPr lang="ja-JP" sz="2200" dirty="0"/>
          </a:p>
        </p:txBody>
      </p:sp>
      <p:sp>
        <p:nvSpPr>
          <p:cNvPr id="36" name="Text 34"/>
          <p:cNvSpPr txBox="1"/>
          <p:nvPr/>
        </p:nvSpPr>
        <p:spPr>
          <a:xfrm>
            <a:off x="6473038" y="3501238"/>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7" name="Text 35"/>
          <p:cNvSpPr txBox="1"/>
          <p:nvPr/>
        </p:nvSpPr>
        <p:spPr>
          <a:xfrm>
            <a:off x="6729070" y="3501238"/>
            <a:ext cx="486369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235 mg/dL 超が 2 回続けば、</a:t>
            </a:r>
            <a:endParaRPr lang="ja-JP" sz="2200" dirty="0"/>
          </a:p>
        </p:txBody>
      </p:sp>
      <p:sp>
        <p:nvSpPr>
          <p:cNvPr id="38" name="Text 36"/>
          <p:cNvSpPr txBox="1"/>
          <p:nvPr/>
        </p:nvSpPr>
        <p:spPr>
          <a:xfrm>
            <a:off x="6729070" y="3835908"/>
            <a:ext cx="486369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ケトン体を測る</a:t>
            </a:r>
            <a:endParaRPr lang="ja-JP" sz="2200" dirty="0"/>
          </a:p>
        </p:txBody>
      </p:sp>
      <p:sp>
        <p:nvSpPr>
          <p:cNvPr id="39" name="Text 37"/>
          <p:cNvSpPr txBox="1"/>
          <p:nvPr/>
        </p:nvSpPr>
        <p:spPr>
          <a:xfrm>
            <a:off x="6473038" y="4172407"/>
            <a:ext cx="320040"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40" name="Text 38"/>
          <p:cNvSpPr txBox="1"/>
          <p:nvPr/>
        </p:nvSpPr>
        <p:spPr>
          <a:xfrm>
            <a:off x="6729070" y="4172407"/>
            <a:ext cx="486369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デキサメタゾン</a:t>
            </a:r>
            <a:endParaRPr lang="ja-JP" sz="2200" dirty="0"/>
          </a:p>
        </p:txBody>
      </p:sp>
      <p:sp>
        <p:nvSpPr>
          <p:cNvPr id="41" name="Text 39"/>
          <p:cNvSpPr txBox="1"/>
          <p:nvPr/>
        </p:nvSpPr>
        <p:spPr>
          <a:xfrm>
            <a:off x="6729070" y="4507992"/>
            <a:ext cx="486369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（PONV 予防）で上がる</a:t>
            </a:r>
            <a:endParaRPr lang="ja-JP"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当日の指示の例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SGLT2</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ケトアシ</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ドーシス</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経口薬</a:t>
            </a:r>
            <a:endParaRPr lang="ja-JP" sz="1050" dirty="0"/>
          </a:p>
        </p:txBody>
      </p:sp>
      <p:sp>
        <p:nvSpPr>
          <p:cNvPr id="7" name="Text 5"/>
          <p:cNvSpPr/>
          <p:nvPr/>
        </p:nvSpPr>
        <p:spPr>
          <a:xfrm>
            <a:off x="10707624"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インス</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リン</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日本糖尿病学会 SGLT2 阻害薬 Recommendation / Levy NA, et al. Anaesthesia 2026;81:1116-1131</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Sasaki A, et al. Diabetol Int 2022;13:1-30</a:t>
            </a:r>
            <a:endParaRPr lang="ja-JP" sz="1600" dirty="0"/>
          </a:p>
        </p:txBody>
      </p:sp>
      <p:sp>
        <p:nvSpPr>
          <p:cNvPr id="11" name="Shape 9"/>
          <p:cNvSpPr/>
          <p:nvPr/>
        </p:nvSpPr>
        <p:spPr>
          <a:xfrm>
            <a:off x="502920" y="1691640"/>
            <a:ext cx="11183112" cy="3499409"/>
          </a:xfrm>
          <a:prstGeom prst="roundRect">
            <a:avLst>
              <a:gd name="adj" fmla="val 2090"/>
            </a:avLst>
          </a:prstGeom>
          <a:solidFill>
            <a:srgbClr val="F2F2F2"/>
          </a:solidFill>
          <a:ln/>
        </p:spPr>
      </p:sp>
      <p:sp>
        <p:nvSpPr>
          <p:cNvPr id="12" name="Text 10"/>
          <p:cNvSpPr txBox="1"/>
          <p:nvPr/>
        </p:nvSpPr>
        <p:spPr>
          <a:xfrm>
            <a:off x="630936" y="1764792"/>
            <a:ext cx="10927080" cy="37490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SGLT2 阻害薬：</a:t>
            </a:r>
            <a:r>
              <a:rPr lang="ja-JP" altLang="en-US" sz="2200" dirty="0">
                <a:solidFill>
                  <a:srgbClr val="262626"/>
                </a:solidFill>
                <a:latin typeface="メイリオ" pitchFamily="34" charset="0"/>
                <a:ea typeface="メイリオ" pitchFamily="34" charset="-122"/>
                <a:cs typeface="メイリオ" pitchFamily="34" charset="-120"/>
              </a:rPr>
              <a:t>◯/◯（手術 3 日前）から飲まない、最終内服 ◯/◯。</a:t>
            </a:r>
            <a:endParaRPr lang="ja-JP" sz="2200" dirty="0"/>
          </a:p>
        </p:txBody>
      </p:sp>
      <p:sp>
        <p:nvSpPr>
          <p:cNvPr id="13" name="Text 11"/>
          <p:cNvSpPr txBox="1"/>
          <p:nvPr/>
        </p:nvSpPr>
        <p:spPr>
          <a:xfrm>
            <a:off x="941832" y="2100377"/>
            <a:ext cx="1061618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食事が戻れば再開（処方医に連絡済み）</a:t>
            </a:r>
            <a:endParaRPr lang="ja-JP" sz="2200" dirty="0"/>
          </a:p>
        </p:txBody>
      </p:sp>
      <p:sp>
        <p:nvSpPr>
          <p:cNvPr id="14" name="Text 12"/>
          <p:cNvSpPr txBox="1"/>
          <p:nvPr/>
        </p:nvSpPr>
        <p:spPr>
          <a:xfrm>
            <a:off x="630936" y="2435047"/>
            <a:ext cx="10927080" cy="37490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メトホルミン：</a:t>
            </a:r>
            <a:r>
              <a:rPr lang="ja-JP" altLang="en-US" sz="2200" dirty="0">
                <a:solidFill>
                  <a:srgbClr val="262626"/>
                </a:solidFill>
                <a:latin typeface="メイリオ" pitchFamily="34" charset="0"/>
                <a:ea typeface="メイリオ" pitchFamily="34" charset="-122"/>
                <a:cs typeface="メイリオ" pitchFamily="34" charset="-120"/>
              </a:rPr>
              <a:t>手術 2 日前から中止（院内ルールに従う）。</a:t>
            </a:r>
            <a:endParaRPr lang="ja-JP" sz="2200" dirty="0"/>
          </a:p>
        </p:txBody>
      </p:sp>
      <p:sp>
        <p:nvSpPr>
          <p:cNvPr id="15" name="Text 13"/>
          <p:cNvSpPr txBox="1"/>
          <p:nvPr/>
        </p:nvSpPr>
        <p:spPr>
          <a:xfrm>
            <a:off x="941832" y="2770632"/>
            <a:ext cx="1061618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造影 CT なら 48 時間後に腎機能を見て再開</a:t>
            </a:r>
            <a:endParaRPr lang="ja-JP" sz="2200" dirty="0"/>
          </a:p>
        </p:txBody>
      </p:sp>
      <p:sp>
        <p:nvSpPr>
          <p:cNvPr id="16" name="Text 14"/>
          <p:cNvSpPr txBox="1"/>
          <p:nvPr/>
        </p:nvSpPr>
        <p:spPr>
          <a:xfrm>
            <a:off x="630936" y="3106217"/>
            <a:ext cx="10927080" cy="37490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SU 薬・DPP-4 阻害薬：</a:t>
            </a:r>
            <a:r>
              <a:rPr lang="ja-JP" altLang="en-US" sz="2200" dirty="0">
                <a:solidFill>
                  <a:srgbClr val="262626"/>
                </a:solidFill>
                <a:latin typeface="メイリオ" pitchFamily="34" charset="0"/>
                <a:ea typeface="メイリオ" pitchFamily="34" charset="-122"/>
                <a:cs typeface="メイリオ" pitchFamily="34" charset="-120"/>
              </a:rPr>
              <a:t>当日朝は飲まない</a:t>
            </a:r>
            <a:endParaRPr lang="ja-JP" sz="2200" dirty="0"/>
          </a:p>
        </p:txBody>
      </p:sp>
      <p:sp>
        <p:nvSpPr>
          <p:cNvPr id="17" name="Text 15"/>
          <p:cNvSpPr txBox="1"/>
          <p:nvPr/>
        </p:nvSpPr>
        <p:spPr>
          <a:xfrm>
            <a:off x="630936" y="3440887"/>
            <a:ext cx="10927080" cy="37490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持効型インスリン：</a:t>
            </a:r>
            <a:r>
              <a:rPr lang="ja-JP" altLang="en-US" sz="2200" dirty="0">
                <a:solidFill>
                  <a:srgbClr val="262626"/>
                </a:solidFill>
                <a:latin typeface="メイリオ" pitchFamily="34" charset="0"/>
                <a:ea typeface="メイリオ" pitchFamily="34" charset="-122"/>
                <a:cs typeface="メイリオ" pitchFamily="34" charset="-120"/>
              </a:rPr>
              <a:t>前夜（朝打ちなら当日朝）は普段の 75%</a:t>
            </a:r>
            <a:endParaRPr lang="ja-JP" sz="2200" dirty="0"/>
          </a:p>
        </p:txBody>
      </p:sp>
      <p:sp>
        <p:nvSpPr>
          <p:cNvPr id="18" name="Text 16"/>
          <p:cNvSpPr txBox="1"/>
          <p:nvPr/>
        </p:nvSpPr>
        <p:spPr>
          <a:xfrm>
            <a:off x="941832" y="3776472"/>
            <a:ext cx="1061618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（1 型は必ず打つ）。</a:t>
            </a:r>
            <a:r>
              <a:rPr lang="ja-JP" altLang="en-US" sz="2200" b="1" dirty="0">
                <a:solidFill>
                  <a:srgbClr val="0072B2"/>
                </a:solidFill>
                <a:latin typeface="メイリオ" pitchFamily="34" charset="0"/>
                <a:ea typeface="メイリオ" pitchFamily="34" charset="-122"/>
                <a:cs typeface="メイリオ" pitchFamily="34" charset="-120"/>
              </a:rPr>
              <a:t>速効型：</a:t>
            </a:r>
            <a:r>
              <a:rPr lang="ja-JP" altLang="en-US" sz="2200" dirty="0">
                <a:solidFill>
                  <a:srgbClr val="262626"/>
                </a:solidFill>
                <a:latin typeface="メイリオ" pitchFamily="34" charset="0"/>
                <a:ea typeface="メイリオ" pitchFamily="34" charset="-122"/>
                <a:cs typeface="メイリオ" pitchFamily="34" charset="-120"/>
              </a:rPr>
              <a:t>当日朝は打たない</a:t>
            </a:r>
            <a:endParaRPr lang="ja-JP" sz="2200" dirty="0"/>
          </a:p>
        </p:txBody>
      </p:sp>
      <p:sp>
        <p:nvSpPr>
          <p:cNvPr id="19" name="Text 17"/>
          <p:cNvSpPr txBox="1"/>
          <p:nvPr/>
        </p:nvSpPr>
        <p:spPr>
          <a:xfrm>
            <a:off x="630936" y="4112057"/>
            <a:ext cx="10927080" cy="37490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血糖：</a:t>
            </a:r>
            <a:r>
              <a:rPr lang="ja-JP" altLang="en-US" sz="2200" dirty="0">
                <a:solidFill>
                  <a:srgbClr val="262626"/>
                </a:solidFill>
                <a:latin typeface="メイリオ" pitchFamily="34" charset="0"/>
                <a:ea typeface="メイリオ" pitchFamily="34" charset="-122"/>
                <a:cs typeface="メイリオ" pitchFamily="34" charset="-120"/>
              </a:rPr>
              <a:t>入室時と 1〜2 時間ごと。100 未満で対策、</a:t>
            </a:r>
            <a:endParaRPr lang="ja-JP" sz="2200" dirty="0"/>
          </a:p>
        </p:txBody>
      </p:sp>
      <p:sp>
        <p:nvSpPr>
          <p:cNvPr id="20" name="Text 18"/>
          <p:cNvSpPr txBox="1"/>
          <p:nvPr/>
        </p:nvSpPr>
        <p:spPr>
          <a:xfrm>
            <a:off x="941832" y="4446727"/>
            <a:ext cx="1061618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70 未満はブドウ糖、180 以上が続けばインスリン</a:t>
            </a:r>
            <a:endParaRPr lang="ja-JP" sz="2200" dirty="0"/>
          </a:p>
        </p:txBody>
      </p:sp>
      <p:sp>
        <p:nvSpPr>
          <p:cNvPr id="21" name="Text 19"/>
          <p:cNvSpPr txBox="1"/>
          <p:nvPr/>
        </p:nvSpPr>
        <p:spPr>
          <a:xfrm>
            <a:off x="630936" y="4782312"/>
            <a:ext cx="10927080" cy="37490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嘔気・腹痛・頻呼吸、または血糖 235 超が 2 回：</a:t>
            </a:r>
            <a:r>
              <a:rPr lang="ja-JP" altLang="en-US" sz="2200" dirty="0">
                <a:solidFill>
                  <a:srgbClr val="262626"/>
                </a:solidFill>
                <a:latin typeface="メイリオ" pitchFamily="34" charset="0"/>
                <a:ea typeface="メイリオ" pitchFamily="34" charset="-122"/>
                <a:cs typeface="メイリオ" pitchFamily="34" charset="-120"/>
              </a:rPr>
              <a:t>血液ガスとケトン体</a:t>
            </a:r>
            <a:endParaRPr lang="ja-JP" sz="2200" dirty="0"/>
          </a:p>
        </p:txBody>
      </p:sp>
      <p:sp>
        <p:nvSpPr>
          <p:cNvPr id="22" name="Text 20"/>
          <p:cNvSpPr txBox="1"/>
          <p:nvPr/>
        </p:nvSpPr>
        <p:spPr>
          <a:xfrm>
            <a:off x="502920" y="5421478"/>
            <a:ext cx="11183112" cy="457200"/>
          </a:xfrm>
          <a:prstGeom prst="rect">
            <a:avLst/>
          </a:prstGeom>
          <a:noFill/>
          <a:ln/>
        </p:spPr>
        <p:txBody>
          <a:bodyPr wrap="square" lIns="0" tIns="0" rIns="0" bIns="0" rtlCol="0" anchor="t"/>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配合剤は成分名で確認。</a:t>
            </a:r>
            <a:r>
              <a:rPr lang="ja-JP" altLang="en-US" sz="2400" b="1" dirty="0">
                <a:solidFill>
                  <a:srgbClr val="D55E00"/>
                </a:solidFill>
                <a:latin typeface="メイリオ" pitchFamily="34" charset="0"/>
                <a:ea typeface="メイリオ" pitchFamily="34" charset="-122"/>
                <a:cs typeface="メイリオ" pitchFamily="34" charset="-120"/>
              </a:rPr>
              <a:t>止めた薬は再開日まで書く</a:t>
            </a:r>
            <a:endParaRPr lang="ja-JP"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SGLT2</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ケトアシ</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ドーシス</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経口薬</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インス</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リン</a:t>
            </a:r>
            <a:endParaRPr lang="ja-JP" sz="1050" dirty="0"/>
          </a:p>
        </p:txBody>
      </p:sp>
      <p:sp>
        <p:nvSpPr>
          <p:cNvPr id="8" name="Text 6"/>
          <p:cNvSpPr/>
          <p:nvPr/>
        </p:nvSpPr>
        <p:spPr>
          <a:xfrm>
            <a:off x="11384280"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日本糖尿病学会 SGLT2 阻害薬 Recommendation / Levy NA, et al. Anaesthesia 2026;81:1116-1131</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Umpierrez GE, et al. Diabetes Care 2024;47:1257-1275</a:t>
            </a:r>
            <a:endParaRPr lang="ja-JP" sz="1600" dirty="0"/>
          </a:p>
        </p:txBody>
      </p:sp>
      <p:sp>
        <p:nvSpPr>
          <p:cNvPr id="11" name="Text 9"/>
          <p:cNvSpPr txBox="1"/>
          <p:nvPr/>
        </p:nvSpPr>
        <p:spPr>
          <a:xfrm>
            <a:off x="502920" y="1828800"/>
            <a:ext cx="11155680" cy="3831336"/>
          </a:xfrm>
          <a:prstGeom prst="rect">
            <a:avLst/>
          </a:prstGeom>
          <a:noFill/>
          <a:ln/>
        </p:spPr>
        <p:txBody>
          <a:bodyPr wrap="square" lIns="0" tIns="0" rIns="0" bIns="0" rtlCol="0" anchor="t"/>
          <a:lstStyle/>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SGLT2 阻害薬は </a:t>
            </a:r>
            <a:r>
              <a:rPr lang="ja-JP" altLang="en-US" sz="2400" b="1" dirty="0">
                <a:solidFill>
                  <a:srgbClr val="D55E00"/>
                </a:solidFill>
                <a:latin typeface="メイリオ" pitchFamily="34" charset="0"/>
                <a:ea typeface="メイリオ" pitchFamily="34" charset="-122"/>
                <a:cs typeface="メイリオ" pitchFamily="34" charset="-120"/>
              </a:rPr>
              <a:t>3 日前から休薬</a:t>
            </a:r>
            <a:r>
              <a:rPr lang="ja-JP" altLang="en-US" sz="2400" dirty="0">
                <a:solidFill>
                  <a:srgbClr val="262626"/>
                </a:solidFill>
                <a:latin typeface="メイリオ" pitchFamily="34" charset="0"/>
                <a:ea typeface="メイリオ" pitchFamily="34" charset="-122"/>
                <a:cs typeface="メイリオ" pitchFamily="34" charset="-120"/>
              </a:rPr>
              <a:t>。食事が戻ったら再開日を決める</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正常血糖ケトアシドーシス：血糖が正常でも</a:t>
            </a:r>
            <a:r>
              <a:rPr lang="ja-JP" altLang="en-US" sz="2400" b="1" dirty="0">
                <a:solidFill>
                  <a:srgbClr val="C00000"/>
                </a:solidFill>
                <a:latin typeface="メイリオ" pitchFamily="34" charset="0"/>
                <a:ea typeface="メイリオ" pitchFamily="34" charset="-122"/>
                <a:cs typeface="メイリオ" pitchFamily="34" charset="-120"/>
              </a:rPr>
              <a:t>ケトンと血液ガス</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メトホルミンは </a:t>
            </a:r>
            <a:r>
              <a:rPr lang="ja-JP" altLang="en-US" sz="2400" b="1" dirty="0">
                <a:solidFill>
                  <a:srgbClr val="0072B2"/>
                </a:solidFill>
                <a:latin typeface="メイリオ" pitchFamily="34" charset="0"/>
                <a:ea typeface="メイリオ" pitchFamily="34" charset="-122"/>
                <a:cs typeface="メイリオ" pitchFamily="34" charset="-120"/>
              </a:rPr>
              <a:t>2 日前</a:t>
            </a:r>
            <a:r>
              <a:rPr lang="ja-JP" altLang="en-US" sz="2400" dirty="0">
                <a:solidFill>
                  <a:srgbClr val="262626"/>
                </a:solidFill>
                <a:latin typeface="メイリオ" pitchFamily="34" charset="0"/>
                <a:ea typeface="メイリオ" pitchFamily="34" charset="-122"/>
                <a:cs typeface="メイリオ" pitchFamily="34" charset="-120"/>
              </a:rPr>
              <a:t>、SU 薬・DPP-4 は</a:t>
            </a:r>
            <a:r>
              <a:rPr lang="ja-JP" altLang="en-US" sz="2400" b="1" dirty="0">
                <a:solidFill>
                  <a:srgbClr val="0072B2"/>
                </a:solidFill>
                <a:latin typeface="メイリオ" pitchFamily="34" charset="0"/>
                <a:ea typeface="メイリオ" pitchFamily="34" charset="-122"/>
                <a:cs typeface="メイリオ" pitchFamily="34" charset="-120"/>
              </a:rPr>
              <a:t>当日朝</a:t>
            </a:r>
            <a:r>
              <a:rPr lang="ja-JP" altLang="en-US" sz="2400" dirty="0">
                <a:solidFill>
                  <a:srgbClr val="262626"/>
                </a:solidFill>
                <a:latin typeface="メイリオ" pitchFamily="34" charset="0"/>
                <a:ea typeface="メイリオ" pitchFamily="34" charset="-122"/>
                <a:cs typeface="メイリオ" pitchFamily="34" charset="-120"/>
              </a:rPr>
              <a:t>に休薬</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持効型は </a:t>
            </a:r>
            <a:r>
              <a:rPr lang="ja-JP" altLang="en-US" sz="2400" b="1" dirty="0">
                <a:solidFill>
                  <a:srgbClr val="0072B2"/>
                </a:solidFill>
                <a:latin typeface="メイリオ" pitchFamily="34" charset="0"/>
                <a:ea typeface="メイリオ" pitchFamily="34" charset="-122"/>
                <a:cs typeface="メイリオ" pitchFamily="34" charset="-120"/>
              </a:rPr>
              <a:t>75〜80%</a:t>
            </a:r>
            <a:r>
              <a:rPr lang="ja-JP" altLang="en-US" sz="2400" dirty="0">
                <a:solidFill>
                  <a:srgbClr val="262626"/>
                </a:solidFill>
                <a:latin typeface="メイリオ" pitchFamily="34" charset="0"/>
                <a:ea typeface="メイリオ" pitchFamily="34" charset="-122"/>
                <a:cs typeface="メイリオ" pitchFamily="34" charset="-120"/>
              </a:rPr>
              <a:t>、速効型は打たない。</a:t>
            </a:r>
            <a:r>
              <a:rPr lang="ja-JP" altLang="en-US" sz="2400" b="1" dirty="0">
                <a:solidFill>
                  <a:srgbClr val="C00000"/>
                </a:solidFill>
                <a:latin typeface="メイリオ" pitchFamily="34" charset="0"/>
                <a:ea typeface="メイリオ" pitchFamily="34" charset="-122"/>
                <a:cs typeface="メイリオ" pitchFamily="34" charset="-120"/>
              </a:rPr>
              <a:t>1 型は基礎を抜かない</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HbA1c は 3 か月以内の値。周術期の血糖は</a:t>
            </a:r>
            <a:r>
              <a:rPr lang="ja-JP" altLang="en-US" sz="2400" b="1" dirty="0">
                <a:solidFill>
                  <a:srgbClr val="0072B2"/>
                </a:solidFill>
                <a:latin typeface="メイリオ" pitchFamily="34" charset="0"/>
                <a:ea typeface="メイリオ" pitchFamily="34" charset="-122"/>
                <a:cs typeface="メイリオ" pitchFamily="34" charset="-120"/>
              </a:rPr>
              <a:t>上限 180 mg/dL</a:t>
            </a:r>
            <a:endParaRPr lang="ja-JP"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4-13 常用薬②：糖尿病薬</dc:title>
  <dc:subject/>
  <dc:creator>Anes-lecture</dc:creator>
  <cp:lastModifiedBy>Anes-lecture</cp:lastModifiedBy>
  <cp:revision>1</cp:revision>
  <dcterms:created xsi:type="dcterms:W3CDTF">2026-10-15T17:12:42Z</dcterms:created>
  <dcterms:modified xsi:type="dcterms:W3CDTF">2026-10-15T17:12:42Z</dcterms:modified>
</cp:coreProperties>
</file>