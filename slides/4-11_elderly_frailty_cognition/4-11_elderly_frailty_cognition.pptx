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高齢者の手術リスクは「年齢」だけでは決まらず、「フレイル」と「認知機能」で大きく変わる。この講義では、外来で 3 分でできるフレイルの評価（CFS、J-CHS）、65 歳を超える全員に行う認知機能のスクリーニング（Mini-Cog）、術後せん妄のリスク因子と予防（多因子の非薬物的介入）、高齢者で避ける薬と麻酔の調節（MAC、相対的低血圧）、相談先を扱う。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死亡: Clinical Frailty Scale（CFS）でフレイルと判定された高齢手術患者は、全死亡のオッズ比 4.01（95%CI 2.59–6.23）、1 か月 OR 3.85（1.11–13.45）、1 年 OR 4.43（2.18–8.99）だった（16 コホート 5,864 人のメタ解析。Zhang 2024）。効果量はオッズ比なので、「リスクが 4 倍」とは言わない。1 か月の CI は広い。手術を受ける高齢者のフレイル有病率は 0.36（0.20–0.52）。含まれた研究の CFS の閾値（4 以上か 5 以上か）は抄録に書かれていない。</a:t>
            </a:r>
          </a:p>
          <a:p>
            <a:r>
              <a:rPr lang="ja-JP" altLang="en-US" dirty="0"/>
              <a:t>診断コードによるフレイル: オンタリオ州の 65 歳以上で主要な待機的非心臓手術を受けた 202,811 人（McIsaac 2016）。フレイルの定義は Johns Hopkins ACG の診断コード（12 クラスター）による 2 値で、CFS ではない（有病率 3.1% と低く、重いフレイルだけを拾っている）。1 年死亡はフレイル 13.6%、非フレイル 4.8%（調整 HR 2.23、95%CI 2.08–2.40）。術後 3 日目の HR は 35.58（29.78–40.19）で、術後早期ほど相対ハザードが高かった。</a:t>
            </a:r>
          </a:p>
          <a:p>
            <a:r>
              <a:rPr lang="ja-JP" altLang="en-US" dirty="0"/>
              <a:t>合併症: Makary（2010）の 65 歳以上の待機手術 594 人（Fried 基準の改変 0〜5 点。4〜5 点がフレイル）で、30 日合併症 OR 2.54（95%CI 1.12–5.77）、在院日数の率比（IRR）1.69（1.28–2.23）、施設退院 OR 20.48（5.54–75.68。もともと自宅で暮らしていた患者）。合併症と施設退院はオッズ比で、在院日数だけが率比。施設退院の CI は非常に広い。フレイルを加えると ASA、Lee（RCRI）、Eagle の各リスク指標の予測力が上がった。</a:t>
            </a:r>
          </a:p>
          <a:p>
            <a:r>
              <a:rPr lang="ja-JP" altLang="en-US" dirty="0"/>
              <a:t>せん妄: 術前のフレイルは術後せん妄と関連した（65 歳以上の待機手術の 9 研究 794 人、調整 OR 2.14［95%CI 1.43–3.19］。Gracie 2021）。</a:t>
            </a:r>
          </a:p>
          <a:p>
            <a:r>
              <a:rPr lang="ja-JP" altLang="en-US" dirty="0"/>
              <a:t>CFS: Rockwood の 9 段階（version 2.0、2020）。1 非常に健常、2 健常、3 健康管理良好、4 ごく軽度のフレイル（Living with Very Mild Frailty。旧名「脆弱 Vulnerable」）、5 軽度（IADL に依存）、6 中等度（入浴などにも依存）、7 重度（身の回りの ADL に依存）、8 非常に重度、9 終末期。version 2.0 ではレベル 4 が「ごく軽度のフレイル」に改名され、名前の上ではフレイルに含まれる。周術期の研究では 4 以上をフレイルとするものと 5 以上とするものが混在し、統一された閾値はない。スライドの「4 以上で注意、5 以上をフレイル」は講義者の運用提案【要確認: 周術期の閾値を定めたガイドラインがあるか。英国 CPOC-BGS 2021 本文の CFS の項で】。日本語版 CFS-J（Komiya 2025）は、急性期病院の老年病棟の入院患者 223 人で妥当性が確認された。術前外来での検証ではない。</a:t>
            </a:r>
          </a:p>
          <a:p>
            <a:r>
              <a:rPr lang="ja-JP" altLang="en-US" dirty="0"/>
              <a:t>参考: Zhang HT, et al. Geriatr Nurs 2024;59:581-589 / McIsaac DI, et al. JAMA Surg 2016;151:538-545 / Makary MA, et al. J Am Coll Surg 2010;210:901-908 / Gracie TJ, et al. Anesth Analg 2021;133:314-323 / Rockwood K, Theou O. Can Geriatr J 2020;23:210-215 / Komiya H, et al. Geriatr Gerontol Int 2025;25:411-417（CFS-J）</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CFS の付け方: 評価するのは病前のベースライン（約 2 週間前）で、急性期の状態ではない（救急外来で付けると過大評価になる）。移動・生活機能・思考・健康の自己評価の 4 点を聞く。2 つの段階に同じくらい当てはまるときは重い（依存度の高い）方を付ける。若年者や固定した単一臓器の障害（脳性麻痺など）では検証されていない（Rockwood &amp; Theou 2020）。</a:t>
            </a:r>
          </a:p>
          <a:p>
            <a:r>
              <a:rPr lang="ja-JP" altLang="en-US" dirty="0"/>
              <a:t>J-CHS: 改訂日本版 CHS 基準（2020）は 5 項目で、握力 男性 28 kg 未満・女性 18 kg 未満、通常歩行速度 1.0 m/秒未満、体重減少（6 か月で 2 kg 以上）、疲労感（ここ 2 週間、わけもなく疲れたような感じがする）、身体活動（軽い運動・体操も、定期的な運動・スポーツもしていない）。3 項目以上でフレイル、1〜2 項目でプレフレイル（Satake 2020）。Fried 原法（2001）は過去 1 年で 10 lb（約 4.5 kg）の体重減少、握力と歩行速度は下位 20% で、転倒・ADL 障害・入院・死亡を予測した【要確認: 下位 20% の層別（握力は性別と BMI、歩行速度は性別と身長）は記憶。Fried 2001 本文の Methods で】。</a:t>
            </a:r>
          </a:p>
          <a:p>
            <a:r>
              <a:rPr lang="ja-JP" altLang="en-US" dirty="0"/>
              <a:t>基本チェックリスト: 厚生労働省の介護予防用の 25 項目の自記式質問票で、合計 8 点以上でフレイル（感度 89.5%、特異度 80.7%）、4 点以上でプレフレイル（Satake 2016）。術前外来で本人や家族に書いてもらえる。</a:t>
            </a:r>
          </a:p>
          <a:p>
            <a:r>
              <a:rPr lang="ja-JP" altLang="en-US" dirty="0"/>
              <a:t>栄養と周辺: 米国外科学会 NSQIP と米国老年医学会の術前評価チェックリスト（Chow 2012）は、認知機能と手術内容を理解する能力、うつ、せん妄の危険因子、アルコール・物質乱用、心・肺の評価、生活機能と転倒歴、フレイル、栄養（BMI 18.5 未満、アルブミン 3.0 g/dL 未満、6 か月で 10〜15% を超える意図しない体重減少）、服薬と多剤併用、治療の目標と希望、家族・社会的支援、高齢者に適した術前検査（全 13 項目）を挙げる（全項目は Zietlow 2022 の表 1 に転載されている）。栄養の 3 つの値は、重度の栄養（代謝）リスクの基準（ESPEN）と同じで、アルブミンは肝・腎障害がない場合に使う。離島では独居・介護者の有無、退院先（施設退院のオッズ比 20。S2）を術前に話しておく。</a:t>
            </a:r>
          </a:p>
          <a:p>
            <a:r>
              <a:rPr lang="ja-JP" altLang="en-US" dirty="0"/>
              <a:t>参考: Rockwood K, Theou O. Can Geriatr J 2020;23:210-215 / Satake S, Arai H. Geriatr Gerontol Int 2020;20:992-993（J-CHS） / Satake S, et al. Geriatr Gerontol Int 2016;16:709-715 / Fried LP, et al. J Gerontol A Biol Sci Med Sci 2001;56:M146-156 / Chow WB, et al. J Am Coll Surg 2012;215:453-466 / Zietlow KE, et al. Am J Med 2022;135:39-48</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推奨の出自: スライドの「ASA Brain Health の専門家合意」は ASA の正式なガイドラインではない。ASA Brain Health Initiative の一環として 2016 年 5 月に開かれた第 5 回 International Perioperative Neurotoxicity Workshop の専門家コンセンサス（Best Practices for Postoperative Brain Health。Berger 2018）である。</a:t>
            </a:r>
          </a:p>
          <a:p>
            <a:r>
              <a:rPr lang="ja-JP" altLang="en-US" dirty="0"/>
              <a:t>推奨: Berger 2018 は、65 歳を超える全患者と認知機能低下の危険因子を持つ患者で、術前評価のときに簡易スクリーニングでベースラインの認知機能を客観的に評価し、65 歳を超える全患者に術後の錯乱・注意力低下・記憶障害などの周術期神経認知障害（PND: perioperative neurocognitive disorders）のリスクを説明すべき、としている。2021 年の ASA Perioperative Brain Health Initiative の専門家コンセンサス（Peden 2021、6 項目。扱うのは教育、認知とせん妄のスクリーニング、非薬物的介入、疼痛管理、抗精神病薬の回避）も、全ての高齢手術患者にベースラインの認知スクリーニングを挙げる。ASA は簡便な検査として Mini-Cog を挙げている（ASA のニュースリリース 2021 年 1 月）【要確認: Peden 2021 本文の 6 項目の文言と、Mini-Cog の記載の有無】。</a:t>
            </a:r>
          </a:p>
          <a:p>
            <a:r>
              <a:rPr lang="ja-JP" altLang="en-US" dirty="0"/>
              <a:t>検査: Mini-Cog は 3 語の遅延再生と時計描画を組み合わせ、2〜4 分（感度 76〜100%、特異度 54〜85.2%。Berger 2018 表 2）。採点は再生 0〜3 点＋時計 0 か 2 点で計 0〜5 点、2 点以下で陽性。原法は、再生 0 語、または 1〜2 語で時計が異常なら陽性（点数では 0〜2 点）。日本語版がある。MMSE は 7〜10 分（年齢・文化の偏りと天井効果）、MoCA は 10〜15 分（軽度認知障害を検出できるが教育歴の偏り）。国内では、改訂長谷川式（HDS-R）は 20 点以下で認知症の疑い（加藤 1991）、MMSE は 23/24 点を区切りとすることが多い（Folstein の原法ではなく、後の検証研究による）【要確認: HDS-R は加藤 1991 の原典、MMSE 23/24 は Anthony 1982 などの原著で】。MMSE は著作権の制約があり臨床では使いにくい。無料の代わりに Mini-Cog・MoCA などがある（ESAIC 2024）。ESAIC 2024 は MMSE 25 点未満を術後せん妄の危険因子とする（S5）。これはせん妄リスクの閾値で、認知症の疑いの区切り（23 点以下）とは目的が違う。</a:t>
            </a:r>
          </a:p>
          <a:p>
            <a:r>
              <a:rPr lang="ja-JP" altLang="en-US" dirty="0"/>
              <a:t>陽性の意味: 認知症の診断がない 65 歳以上の人工股・膝関節置換 211 人のうち Mini-Cog 2 点以下は 24% で、術後せん妄 21% 対 7%（OR 4.52）、自宅以外への退院 67% 対 34%（OR 3.88。リハビリ施設なども含み、S2 の Makary の「施設退院」とは別の指標）、在院日数の延長と関連した（Culley 2017）。陽性はスクリーニング陽性にすぎない。難聴・視力障害があるときや前投薬の後では偽陽性になりうるので、眼鏡・補聴器をつけ、前投薬の前に行う。Mini-Cog は言語・教育歴の影響を受けにくい（Borson 2000）が、日本語が母語でない患者では通訳を介する。陽性なら詳しい評価に回し、家族にせん妄のリスクを説明し、意思決定能力を確かめる（→ 4-5）。</a:t>
            </a:r>
          </a:p>
          <a:p>
            <a:r>
              <a:rPr lang="ja-JP" altLang="en-US" dirty="0"/>
              <a:t>陰性でも安心しない: 術前の Mini-Cog による術後せん妄の予測は、感度 0.50・特異度 0.80（16 研究 4,980 人のメタ解析。Yajima 2025）。陰性でもせん妄のリスクが低いとは言えないので、年齢、せん妄の既往、アルコール、手術の侵襲などと合わせて判断する（S5）。</a:t>
            </a:r>
          </a:p>
          <a:p>
            <a:r>
              <a:rPr lang="ja-JP" altLang="en-US" dirty="0"/>
              <a:t>用語（Evered 2018）: 周術期の認知障害の総称は PND。術前から診断されている認知低下（neurocognitive disorder）、急性の術後せん妄、術後 30 日までの delayed neurocognitive recovery、12 か月までの postoperative neurocognitive disorder に分ける。臨床では DSM-5 の用語を使うよう勧めている。研究で使われてきた「POCD」に代わる枠組みとして広まっている。</a:t>
            </a:r>
          </a:p>
          <a:p>
            <a:r>
              <a:rPr lang="ja-JP" altLang="en-US" dirty="0"/>
              <a:t>参考: Berger M, et al. Anesth Analg 2018;127:1406-1413 / Peden CJ, et al. Br J Anaesth 2021;126:423-432 / Borson S, et al. Int J Geriatr Psychiatry 2000;15:1021-1027（Mini-Cog） / Culley DJ, et al. Anesthesiology 2017;127:765-774 / Yajima S, et al. Geriatr Gerontol Int 2025;25:738-748 / Evered L, et al. Anesthesiology 2018;129:872-879</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頻度: 60 歳を超える患者の大手術・入院後に 20〜40%（Berger 2018）、大腿骨近位部骨折の術後に 35〜65%（Marcantonio 2001）。高齢者で最も多い術後合併症で、最大 40% は予防できる。半数以上が見逃されており、主な理由は低活動型が認識されないか認知症のせいにされること（AGS 2015）。</a:t>
            </a:r>
          </a:p>
          <a:p>
            <a:r>
              <a:rPr lang="ja-JP" altLang="en-US" dirty="0"/>
              <a:t>予後: せん妄を起こした高齢者は、年齢・併存疾患・もともとの認知症などを調整しても、死亡（HR 1.95、平均 22.7 か月の追跡）、施設入所（OR 2.41）、認知症（OR 12.52。2 研究のみで CI が広い）が多かった（観察研究のメタ解析。Witlox 2010）。家族への説明と、予防に手間をかける理由になる。</a:t>
            </a:r>
          </a:p>
          <a:p>
            <a:r>
              <a:rPr lang="ja-JP" altLang="en-US" dirty="0"/>
              <a:t>リスク因子: ESAIC 2024（欧州麻酔集中治療学会 術後せん妄ガイドライン改訂版）の推奨 2.1（エビデンスの質 中・強い推奨）は、術前に評価すべき危険因子として高齢、ASA-PS 2 超（つまり 3 以上）、Charlson 併存疾患指数 2 超、MMSE 25 未満を挙げる。Charlson は第 2 章の本文では「&gt;2」、巻末の推奨一覧では「≥2」と表記が揺れている。続けて、個別の予防計画のためにフレイル・感覚障害（視覚・聴覚）・低栄養・多剤併用・貧血・社会的因子を含む老年医学的評価（スライドの「高齢者評価」）を求め、麻酔科の術前外来で危険因子をスクリーニングしてチームで共有し記録するよう推奨している。脱水は ESAIC の危険因子にはないので、スライドでは予防の介入（水分・栄養）の側に置いた。せん妄の既往・アルコール多飲・ベンゾジアゼピンは ESAIC の推奨 2.1 の項目ではなく、国内の加算の項目。</a:t>
            </a:r>
          </a:p>
          <a:p>
            <a:r>
              <a:rPr lang="ja-JP" altLang="en-US" dirty="0"/>
              <a:t>国内の加算: 診療報酬「せん妄ハイリスク患者ケア加算」（A247-2、入院中 1 回 100 点）は、急性期一般病棟の全入院患者について、入院前または入院後 3 日以内に、チェックリスト（別紙様式 7 の 3 を参考に作る）でリスク因子を確かめる。リスク因子は 70 歳以上、脳器質的障害、認知症、アルコール多飲、せん妄の既往、リスクとなる薬剤（特にベンゾジアゼピン系）の使用、全身麻酔を要する手術後またはその予定。1 項目でも当てはまればハイリスクなので、全身麻酔の手術を予定している患者は年齢を問わず該当する（「該当なし」と記録しない）【要確認: 令和 8 年度改定後の告示・通知（A247-2）と別紙様式 7 の 3 の原文で、点数、リスク因子 7 項目、「1 項目以上でハイリスク」の文言。点数と改定後の継続は民間の点数解説でしか見ていない】。</a:t>
            </a:r>
          </a:p>
          <a:p>
            <a:r>
              <a:rPr lang="ja-JP" altLang="en-US" dirty="0"/>
              <a:t>予防: HELP（Inouye 1999、内科入院の 70 歳以上 852 人）は認知障害・睡眠不足・不動・視覚障害・聴覚障害・脱水への標準化した介入でせん妄を 9.9% 対 15.0% に減らした。多因子の非薬物的介入のメタ解析（Hshieh 2015、14 介入研究、内科と外科の混合）では、11 研究の統合でせん妄のオッズ比 0.47（95%CI 0.38–0.58）、ランダム化またはマッチング試験 4 件に限ると 0.56（0.42–0.76。オッズで 44% 減）。転倒もオッズ比 0.38（4 研究）に減った。AGS 2015 は、リスクのある高齢手術患者に多職種チームが入院期間を通じて多因子の非薬物的介入を行うこと（強い推奨）、術後疼痛をできれば非オピオイドで十分に管理すること、不適切な薬を避けることを挙げる。ESAIC 2024 も多因子の非薬物的介入を強く推奨する。大腿骨近位部骨折の 65 歳以上 126 人で老年科医が術前または術後 24 時間以内から関与すると、せん妄 32% 対 50%（NNT 5.6）、重症せん妄 12% 対 29% に減った（Marcantonio 2001）。</a:t>
            </a:r>
          </a:p>
          <a:p>
            <a:r>
              <a:rPr lang="ja-JP" altLang="en-US" dirty="0"/>
              <a:t>薬による予防: ESAIC 2024 は「どの予防薬も提案しない」（推奨 3.1、質 低・弱い推奨）。デクスメデトミジンは、ICU に入った非心臓手術後の 65 歳以上 700 人の RCT（Su 2016）で、術後に少量（0.1 μg/kg/h）を投与するとせん妄が 9% 対 23% に減った。一方、術中に 0.5 μg/kg/h で持続投与した RCT（Deiner 2017、68 歳超の 390 人）では 12.2% 対 11.4% で差がなかった。術中のルーチン投与は勧めない。ESAIC は、使うなら利益と副作用（徐脈・低血圧）を比べて判断するとし（推奨 3.2、強い推奨）、国内の添付文書にせん妄の予防・治療の適応はない（適応外）。AGS 2015 は、コリンエステラーゼ阻害薬をせん妄の予防・治療のために新しく始めないよう勧め（強い推奨・質 低）、抗精神病薬の予防投与は根拠不十分とする（推奨の強さなし・質 低）。ベンゾジアゼピンの回避は多くのガイドラインが推奨するが、心臓手術の B-Free 試験（2025、19,768 人）では、制限した期間のせん妄は 14.0%、自由に使った期間は 14.9% で、有意には減らなかった（調整 OR 0.92、95%CI 0.84–1.01）。</a:t>
            </a:r>
          </a:p>
          <a:p>
            <a:r>
              <a:rPr lang="ja-JP" altLang="en-US" dirty="0"/>
              <a:t>国内でよく使う薬: ラメルテオン・スボレキサント・抑肝散の術前投与も、せん妄の予防目的では勧められない。陽性の国内 RCT（ラメルテオン 3% 対 32%、Hatta 2014）は内科の急性期入院患者（65〜89 歳、67 人）が対象で、手術患者ではない。手術患者での抑肝散の RCT は陰性だった（高侵襲手術を受けるがん患者。Wada 2021）。どの薬もせん妄の予防は効能にない【要確認: ロゼレム・ベルソムラ・抑肝散エキス製剤の電子添文（PMDA）の効能又は効果】。</a:t>
            </a:r>
          </a:p>
          <a:p>
            <a:r>
              <a:rPr lang="ja-JP" altLang="en-US" dirty="0"/>
              <a:t>スクリーニング: 回復室を出る前にせん妄をスクリーニングし、病棟でも CAM などで続ける（Peden 2021）【要確認: Peden 2021 本文で、回復室を出る前という時点と病棟での頻度】。術後の管理は 5-5。</a:t>
            </a:r>
          </a:p>
          <a:p>
            <a:r>
              <a:rPr lang="ja-JP" altLang="en-US" dirty="0"/>
              <a:t>参考: Aldecoa C, et al. Eur J Anaesthesiol 2024;41:81-108（ESAIC） / AGS Expert Panel. J Am Geriatr Soc 2015;63:142-150 / Berger M, et al. Anesth Analg 2018;127:1406-1413 / Witlox J, et al. JAMA 2010;304:443-451 / Inouye SK, et al. N Engl J Med 1999;340:669-676（HELP） / Hshieh TT, et al. JAMA Intern Med 2015;175:512-520 / Marcantonio ER, et al. J Am Geriatr Soc 2001;49:516-522 / Su X, et al. Lancet 2016;388:1893-1902 / Deiner S, et al. JAMA Surg 2017;152:e171505 / Spence J, et al. JAMA Surg 2025;160:286-294（B-Free） / Hatta K, et al. JAMA Psychiatry 2014;71:397-403 / Wada S, et al. J Pain Symptom Manage 2021;61:71-80 / Peden CJ, et al. Br J Anaesth 2021;126:423-432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避ける薬: AGS 2015 は術後せん妄を誘発する薬として、ベンゾジアゼピン、抗コリン薬（オキシブチニン、プロクロルペラジン、プロメタジン、三環系抗うつ薬、パロキセチンなど）、ジフェンヒドラミン、ヒドロキシジン、H2 受容体拮抗薬、鎮静催眠薬、メペリジン（ペチジン）を挙げ（強い推奨）、5 剤以上の多剤併用もリスクとする。Berger 2018 の表（Beers 基準準拠）は麻酔科医がよく使う薬として、ジフェンヒドラミン、プロメタジン、アトロピン・スコポラミン（中枢性抗コリン作用）、ハロペリドール、ミダゾラム・ジアゼパム、ヒドロコルチゾン・メチルプレドニゾロン（せん妄・精神症状）、ラニチジン、メトクロプラミド（錐体外路症状）、ペチジン（神経毒性）を挙げる。日常的に使いがちな薬（シバリングのペチジン、制吐のプロメタジン、鎮痙薬）ほど見直す。例外は、アルコールやベンゾジアゼピンの離脱予防にはベンゾジアゼピンが必要で、常用している患者で急に中止すると離脱せん妄を起こす（飲酒量を必ず聞く → 4-1）。AGS は、重いアレルギー反応・輸血反応へのジフェンヒドラミンも例外とする。ドネペジルなどを常用している患者では中止で悪化しうるが、予防のために新しく始めない。</a:t>
            </a:r>
          </a:p>
          <a:p>
            <a:r>
              <a:rPr lang="ja-JP" altLang="en-US" dirty="0"/>
              <a:t>H2 受容体拮抗薬（スライドの「H2 遮断薬」）: Beers 2023 は、せん妄がある、または高リスクの高齢者では H2 受容体拮抗薬（シメチジン、ファモチジン、ニザチジン）を避けるとする（根拠の質 低・推奨 強）。国内で誤嚥予防の前投薬に使うファモチジンも含まれる。せん妄リスクの高い高齢者ではルーチンの前投薬にせず、誤嚥リスクから適応を個別に判断する（→ 4-3）。使うときは腎機能に合わせて減量する（CrCl 50 mL/分未満で減量。Beers 2023 表 6）。ラニチジンは米国で販売中止のため Beers 2023 からは外れた。</a:t>
            </a:r>
          </a:p>
          <a:p>
            <a:r>
              <a:rPr lang="ja-JP" altLang="en-US" dirty="0"/>
              <a:t>アトロピン・スコポラミン: 中枢に移行する 3 級アミンで、中枢性抗コリン作用がある（Berger 2018 表 3、Beers 2023 表 7）。唾液分泌の抑制などの前投薬に漫然と使わない。症候性の徐脈の治療や、ネオスチグミンとの併用では、必要な量を使う（スライドの「例外」）。ブチルスコポラミン（4 級アンモニウム）は Beers 2023 表 7 に載っていない。</a:t>
            </a:r>
          </a:p>
          <a:p>
            <a:r>
              <a:rPr lang="ja-JP" altLang="en-US" dirty="0"/>
              <a:t>ペチジン: Beers 2023 で「避ける」（質 中・推奨 強。せん妄を含む神経毒性）、Berger 2018 表 3 では「避けるか慎重に使う」（神経毒性）。シバリングにはまず加温し、ペチジンをルーチンで使わない。</a:t>
            </a:r>
          </a:p>
          <a:p>
            <a:r>
              <a:rPr lang="ja-JP" altLang="en-US" dirty="0"/>
              <a:t>ハロペリドール: Berger 表 3 に載るが、ESAIC 2024 推奨 6.1 は、非薬物的対応が無効なときの術後せん妄の治療に低用量ハロペリドールを提案する（質 非常に低・弱い推奨。短期間、ボーラスで最小量。パーキンソン病やレビー小体型認知症では慎重に使うか、使わない）。Beers 2023 も、非薬物的対応が無効か行えず、自分や他人を大きく傷つけるおそれがあるときを除いて、抗精神病薬を避けるとしている。スライドで避けるのは予防投与とルーチン投与で、せん妄の治療は 5-5。</a:t>
            </a:r>
          </a:p>
          <a:p>
            <a:r>
              <a:rPr lang="ja-JP" altLang="en-US" dirty="0"/>
              <a:t>多剤: 国内の高齢入院患者のデータベースでは、6 剤以上で薬物有害事象が多かった（Kojima 2012、GGI 12:761-762）。老年科外来の 172 人を 2 年追跡した研究では、5 剤以上で転倒が増えた（Kojima 2012、GGI 12:425-430。ROC で求めたカットオフ）。</a:t>
            </a:r>
          </a:p>
          <a:p>
            <a:r>
              <a:rPr lang="ja-JP" altLang="en-US" dirty="0"/>
              <a:t>MAC: log MAC は年齢とともに直線的に下がり、10 歳ごとに約 6%（Mapleson 1996。40 歳でセボフルラン 1.80%）。80 歳のセボフルランの MAC は式から約 1.4%（出典にこの数値はない）。若年成人と同じ設定では過量になるので年齢補正した呼気終末 MAC 比をモニターする。BIS のアルゴリズムは高齢者で検証されておらず、値が誤って高く出て過量につながりうる（Berger 2018）。脳波ガイドの麻酔は ENGAGES 試験（2019、60 歳以上 1,232 人）でせん妄を減らさず（26.0% 対 23.0%）、ESAIC 2024 は弱い提案、AGS は根拠不十分、Berger 2018 表 4 は脳波による調節を勧めていて、資料で結論が違う。</a:t>
            </a:r>
          </a:p>
          <a:p>
            <a:r>
              <a:rPr lang="ja-JP" altLang="en-US" dirty="0"/>
              <a:t>血圧・体温: 患者ごとのベースラインからみた相対的な低血圧を避け、正常体温を保つ（Berger 2018 表 4）。</a:t>
            </a:r>
          </a:p>
          <a:p>
            <a:r>
              <a:rPr lang="ja-JP" altLang="en-US" dirty="0"/>
              <a:t>静脈麻酔薬: 高齢者は静脈麻酔薬への感受性が高い（主に薬力学）。プロポフォールで意識を失う濃度（C50）は、25 歳・50 歳・75 歳で 2.35・1.8・1.25 μg/mL だった（Schnider 1999、健康志願者）。ミダゾラムは、脳波の目標に達するのに必要な総量が若年 71 mg・高齢 35 mg で、EC50 は約 50% 低く、クリアランスは同じだった（Albrecht 1999、男性志願者）。フェンタニルの必要量も 20 歳から 89 歳で約 50% 減り、薬物動態の変化ではなく脳の感受性による（Scott 1987）。肝・腎機能が正常でも、導入量と維持量を減らし、ゆっくり投与する。ディプリバンの添付文書（用法及び用量）にも「高齢者においては、より少量で就眠が得られる場合がある」とある【要確認: ディプリバン・ドルミカムの電子添文（PMDA）の 9.8 高齢者の項と、上の引用の文言】。</a:t>
            </a:r>
          </a:p>
          <a:p>
            <a:r>
              <a:rPr lang="ja-JP" altLang="en-US" dirty="0"/>
              <a:t>区域麻酔: AGS は疼痛管理とせん妄予防のために考慮してよい（弱い推奨）とするが、区域麻酔群で鎮静が深すぎた交絡があり、全身麻酔より減らすという根拠は乏しい。ESAIC 2024 推奨 3.3（質 低・弱い推奨）は、せん妄を減らす目的で特定の麻酔法を提案しない。大腿骨近位部骨折の RCT では、REGAIN（50 歳以上 1,600 人）で脊髄くも膜下麻酔 20.5% 対 全身麻酔 19.7%（RR 1.04）、RAGA（65 歳以上 950 人、鎮静なしの区域麻酔）で 6.2% 対 5.1% と、せん妄に差がなかった。区域麻酔でも鎮静を深くしない。術後疼痛は非オピオイド中心の多角的鎮痛で（AGS 強い推奨）。</a:t>
            </a:r>
          </a:p>
          <a:p>
            <a:r>
              <a:rPr lang="ja-JP" altLang="en-US" dirty="0"/>
              <a:t>参考: AGS. J Am Geriatr Soc 2015;63:142-150 / Berger M, et al. Anesth Analg 2018;127:1406-1413 / Mapleson WW. Br J Anaesth 1996;76:179-185 / Wildes TS, et al. JAMA 2019;321:473-483（ENGAGES） / Kojima T, et al. Geriatr Gerontol Int 2012;12:425-430 / Kojima T, et al. Geriatr Gerontol Int 2012;12:761-762 / Schnider TW, et al. Anesthesiology 1999;90:1502-1516 / Albrecht S, et al. Clin Pharmacol Ther 1999;65:630-639 / Scott JC, Stanski DR. J Pharmacol Exp Ther 1987;240:159-166 / Neuman MD, et al. N Engl J Med 2021;385:2025-2035（REGAIN） / Li T, et al. JAMA 2022;327:50-58（RAGA）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相談先: 大腿骨近位部骨折で老年科医が術前または術後 24 時間以内から関与するとせん妄が減った（Marcantonio 2001）。老年科医がいない離島では、認知症ケアチーム、精神科リエゾン、遠隔での相談、せん妄ハイリスク患者ケア加算のチェックリストと多職種（看護師、薬剤師、リハビリ）で「老年科の目」を代わりに入れる。</a:t>
            </a:r>
          </a:p>
          <a:p>
            <a:r>
              <a:rPr lang="ja-JP" altLang="en-US" dirty="0"/>
              <a:t>家族: 眼鏡・補聴器・入れ歯・時計・カレンダー・慣れた物を持参してもらい、可能なら付き添いを頼む。家族の関与、睡眠と栄養の改善、特定の薬の回避、眼鏡・補聴器の早期返却、術中管理などを組み合わせると、周術期神経認知障害を最大 40% 減らせる可能性がある（Berger 2018）。</a:t>
            </a:r>
          </a:p>
          <a:p>
            <a:r>
              <a:rPr lang="ja-JP" altLang="en-US" dirty="0"/>
              <a:t>術前から: 栄養（アルブミン、体重減少）と運動のプレハビリテーション、飲酒と睡眠薬の整理、多剤の見直しは外来の時点で始める。</a:t>
            </a:r>
          </a:p>
          <a:p>
            <a:r>
              <a:rPr lang="ja-JP" altLang="en-US" dirty="0"/>
              <a:t>目標: 退院先（施設退院の可能性）と治療の目標・希望を本人・家族と前もって話し、記録する（ACS NSQIP/AGS チェックリスト。DNAR は 4-6）。</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まとめ（約 1 分）。高齢者のリスクは年齢だけでは決まらず、フレイルと認知機能で大きく変わる。根拠は、フレイルを加えると ASA・Lee・Eagle の予測力が上がったこと（Makary 2010）、フレイルによる死亡リスクの上乗せは若いほど大きかったこと（McIsaac 2016：65 歳で HR 2.66、90 歳で 1.63。診断コードによるフレイル）、資源配分の判断では CFS の方が年齢よりはるかに望ましいとされること（Rockwood 2020）。CFS は約 2 週間前の病前の状態で付け、4 以上で注意、5 以上をフレイルとし（閾値は研究で違い、これは講義者の運用）、J-CHS 基準や基本チェックリスト、栄養・転倒歴・社会的支援も確かめる。65 歳を超える全員に Mini-Cog でベースラインの認知機能を測り、周術期神経認知障害のリスクを説明し、陽性なら意思決定能力を確かめる（陰性でもせん妄のリスクが低いとは言えない）。術後せん妄は大手術で 20〜40% に起き半数以上が見逃されるので、リスク因子を共有し、多因子の非薬物的介入（見当識、睡眠、早期離床、眼鏡・補聴器、水分・栄養、鎮痛、薬の見直し）で予防し（メタ解析でせん妄のオッズ 44% 減）、薬による予防はしない。ベンゾジアゼピン・抗コリン薬・ペチジンを避け、MAC が 10 歳ごとに約 6% 下がることと BIS の限界を知り、相対的低血圧を避けて鎮静の少ない多角的鎮痛を行う（区域麻酔そのものではせん妄は減らない）。老年科医がいない島では多職種とチェックリストで補う。次は 4-12（常用薬①：抗血栓薬）。</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WAZOE">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320040"/>
            <a:ext cx="8503920" cy="868680"/>
          </a:xfrm>
          <a:prstGeom prst="rect">
            <a:avLst/>
          </a:prstGeom>
          <a:noFill/>
          <a:ln/>
        </p:spPr>
        <p:txBody>
          <a:bodyPr wrap="square" lIns="0" tIns="0" rIns="0" bIns="0" rtlCol="0" anchor="ctr"/>
          <a:lstStyle>
            <a:lvl1pPr algn="l"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WAZOE_COVER">
    <p:bg>
      <p:bgPr>
        <a:solidFill>
          <a:srgbClr val="FFFFFF"/>
        </a:solidFill>
      </p:bgPr>
    </p:bg>
    <p:spTree>
      <p:nvGrpSpPr>
        <p:cNvPr id="1" name=""/>
        <p:cNvGrpSpPr/>
        <p:nvPr/>
      </p:nvGrpSpPr>
      <p:grpSpPr>
        <a:xfrm>
          <a:off x="0" y="0"/>
          <a:ext cx="0" cy="0"/>
          <a:chOff x="0" y="0"/>
          <a:chExt cx="0" cy="0"/>
        </a:xfrm>
      </p:grpSpPr>
      <p:sp>
        <p:nvSpPr>
          <p:cNvPr id="2" name="Text 0"/>
          <p:cNvSpPr/>
          <p:nvPr>
            <p:ph type="title"/>
          </p:nvPr>
        </p:nvSpPr>
        <p:spPr>
          <a:xfrm>
            <a:off x="502920" y="1508760"/>
            <a:ext cx="11183112" cy="1737360"/>
          </a:xfrm>
          <a:prstGeom prst="rect">
            <a:avLst/>
          </a:prstGeom>
          <a:noFill/>
          <a:ln/>
        </p:spPr>
        <p:txBody>
          <a:bodyPr wrap="square" lIns="0" tIns="0" rIns="0" bIns="0" rtlCol="0" anchor="b"/>
          <a:lstStyle>
            <a:lvl1pPr algn="ctr" indent="0" marL="0">
              <a:buNone/>
              <a:defRPr lang="en-US" sz="4400" b="1" dirty="0">
                <a:ln w="28575">
                  <a:solidFill>
                    <a:srgbClr val="000000"/>
                  </a:solidFill>
                </a:ln>
                <a:solidFill>
                  <a:srgbClr val="BF9000"/>
                </a:solidFill>
                <a:latin typeface="メイリオ" pitchFamily="34" charset="0"/>
                <a:ea typeface="メイリオ" pitchFamily="34" charset="-122"/>
                <a:cs typeface="メイリオ" pitchFamily="34" charset="-120"/>
              </a:defRPr>
            </a:lvl1pPr>
          </a:lstStyle>
          <a:p>
            <a:pPr algn="ctr"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a:spLocks noGrp="1"/>
          </p:cNvSpPr>
          <p:nvPr>
            <p:ph type="title"/>
          </p:nvPr>
        </p:nvSpPr>
        <p:spPr>
          <a:xfrm>
            <a:off x="502920" y="1508760"/>
            <a:ext cx="11183112" cy="1737360"/>
          </a:xfrm>
          <a:prstGeom prst="rect">
            <a:avLst/>
          </a:prstGeom>
          <a:noFill/>
          <a:ln/>
        </p:spPr>
        <p:txBody>
          <a:bodyPr wrap="square" lIns="0" tIns="0" rIns="0" bIns="0" rtlCol="0" anchor="b"/>
          <a:lstStyle/>
          <a:p>
            <a:pPr algn="ctr"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高齢者とフレイル・認知機能</a:t>
            </a:r>
            <a:endParaRPr lang="ja-JP" sz="4400" dirty="0"/>
          </a:p>
        </p:txBody>
      </p:sp>
      <p:sp>
        <p:nvSpPr>
          <p:cNvPr id="3" name="Shape 1"/>
          <p:cNvSpPr/>
          <p:nvPr/>
        </p:nvSpPr>
        <p:spPr>
          <a:xfrm>
            <a:off x="0" y="3474720"/>
            <a:ext cx="12191970" cy="0"/>
          </a:xfrm>
          <a:prstGeom prst="line">
            <a:avLst/>
          </a:prstGeom>
          <a:noFill/>
          <a:ln w="101600">
            <a:solidFill>
              <a:srgbClr val="BF9000"/>
            </a:solidFill>
            <a:prstDash val="solid"/>
          </a:ln>
        </p:spPr>
      </p:sp>
      <p:sp>
        <p:nvSpPr>
          <p:cNvPr id="4" name="Text 2"/>
          <p:cNvSpPr txBox="1"/>
          <p:nvPr/>
        </p:nvSpPr>
        <p:spPr>
          <a:xfrm>
            <a:off x="502920" y="3749040"/>
            <a:ext cx="11183112" cy="539496"/>
          </a:xfrm>
          <a:prstGeom prst="rect">
            <a:avLst/>
          </a:prstGeom>
          <a:noFill/>
          <a:ln/>
        </p:spPr>
        <p:txBody>
          <a:bodyPr wrap="square" lIns="0" tIns="0" rIns="0" bIns="0" rtlCol="0" anchor="t"/>
          <a:lstStyle/>
          <a:p>
            <a:pPr algn="ctr" indent="0" marL="0">
              <a:buNone/>
            </a:pPr>
            <a:r>
              <a:rPr lang="ja-JP" altLang="en-US" sz="2800" dirty="0">
                <a:solidFill>
                  <a:srgbClr val="262626"/>
                </a:solidFill>
                <a:latin typeface="メイリオ" pitchFamily="34" charset="0"/>
                <a:ea typeface="メイリオ" pitchFamily="34" charset="-122"/>
                <a:cs typeface="メイリオ" pitchFamily="34" charset="-120"/>
              </a:rPr>
              <a:t>4-11 術前評価</a:t>
            </a:r>
            <a:endParaRPr lang="ja-JP" sz="2800" dirty="0"/>
          </a:p>
        </p:txBody>
      </p:sp>
      <p:sp>
        <p:nvSpPr>
          <p:cNvPr id="5" name="Text 3"/>
          <p:cNvSpPr txBox="1"/>
          <p:nvPr/>
        </p:nvSpPr>
        <p:spPr>
          <a:xfrm>
            <a:off x="502920" y="4693920"/>
            <a:ext cx="11183112" cy="420624"/>
          </a:xfrm>
          <a:prstGeom prst="rect">
            <a:avLst/>
          </a:prstGeom>
          <a:noFill/>
          <a:ln/>
        </p:spPr>
        <p:txBody>
          <a:bodyPr wrap="square" lIns="0" tIns="0" rIns="0" bIns="0" rtlCol="0" anchor="t"/>
          <a:lstStyle/>
          <a:p>
            <a:pPr algn="ctr" indent="0" marL="0">
              <a:buNone/>
            </a:pPr>
            <a:r>
              <a:rPr lang="ja-JP" altLang="en-US" sz="2200" dirty="0">
                <a:solidFill>
                  <a:srgbClr val="595959"/>
                </a:solidFill>
                <a:latin typeface="メイリオ" pitchFamily="34" charset="0"/>
                <a:ea typeface="メイリオ" pitchFamily="34" charset="-122"/>
                <a:cs typeface="メイリオ" pitchFamily="34" charset="-120"/>
              </a:rPr>
              <a:t>初期研修医向け麻酔講義</a:t>
            </a:r>
            <a:endParaRPr lang="ja-JP"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フレイルが予後を決める</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フレイル</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認知</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機能</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せん妄</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薬と</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麻酔</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1</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Zhang HT, et al. Geriatr Nurs 2024;59:581-589 / McIsaac DI,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JAMA Surg 2016;151:538-545 / Makary MA, et al. J Am Coll Surg 2010;210:901-908</a:t>
            </a:r>
            <a:endParaRPr lang="ja-JP" sz="1600" dirty="0"/>
          </a:p>
        </p:txBody>
      </p:sp>
      <p:sp>
        <p:nvSpPr>
          <p:cNvPr id="11" name="Text 9"/>
          <p:cNvSpPr txBox="1"/>
          <p:nvPr/>
        </p:nvSpPr>
        <p:spPr>
          <a:xfrm>
            <a:off x="502920" y="1737360"/>
            <a:ext cx="11155680" cy="2798064"/>
          </a:xfrm>
          <a:prstGeom prst="rect">
            <a:avLst/>
          </a:prstGeom>
          <a:noFill/>
          <a:ln/>
        </p:spPr>
        <p:txBody>
          <a:bodyPr wrap="square" lIns="0" tIns="0" rIns="0" bIns="0" rtlCol="0" anchor="t"/>
          <a:lstStyle/>
          <a:p>
            <a:pPr algn="l" marL="355600" indent="-355600">
              <a:spcAft>
                <a:spcPts val="1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CFS でフレイル → 全死亡の</a:t>
            </a:r>
            <a:r>
              <a:rPr lang="ja-JP" altLang="en-US" sz="2400" b="1" dirty="0">
                <a:solidFill>
                  <a:srgbClr val="D55E00"/>
                </a:solidFill>
                <a:latin typeface="メイリオ" pitchFamily="34" charset="0"/>
                <a:ea typeface="メイリオ" pitchFamily="34" charset="-122"/>
                <a:cs typeface="メイリオ" pitchFamily="34" charset="-120"/>
              </a:rPr>
              <a:t>オッズ比 4.0</a:t>
            </a:r>
            <a:r>
              <a:rPr lang="ja-JP" altLang="en-US" sz="2400" dirty="0">
                <a:solidFill>
                  <a:srgbClr val="262626"/>
                </a:solidFill>
                <a:latin typeface="メイリオ" pitchFamily="34" charset="0"/>
                <a:ea typeface="メイリオ" pitchFamily="34" charset="-122"/>
                <a:cs typeface="メイリオ" pitchFamily="34" charset="-120"/>
              </a:rPr>
              <a:t>（メタ解析）</a:t>
            </a:r>
            <a:endParaRPr lang="ja-JP" sz="2400" dirty="0"/>
          </a:p>
          <a:p>
            <a:pPr algn="l" marL="355600" indent="-355600">
              <a:spcAft>
                <a:spcPts val="1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1 年死亡 </a:t>
            </a:r>
            <a:r>
              <a:rPr lang="ja-JP" altLang="en-US" sz="2400" b="1" dirty="0">
                <a:solidFill>
                  <a:srgbClr val="D55E00"/>
                </a:solidFill>
                <a:latin typeface="メイリオ" pitchFamily="34" charset="0"/>
                <a:ea typeface="メイリオ" pitchFamily="34" charset="-122"/>
                <a:cs typeface="メイリオ" pitchFamily="34" charset="-120"/>
              </a:rPr>
              <a:t>13.6% 対 4.8%</a:t>
            </a:r>
            <a:r>
              <a:rPr lang="ja-JP" altLang="en-US" sz="2400" dirty="0">
                <a:solidFill>
                  <a:srgbClr val="262626"/>
                </a:solidFill>
                <a:latin typeface="メイリオ" pitchFamily="34" charset="0"/>
                <a:ea typeface="メイリオ" pitchFamily="34" charset="-122"/>
                <a:cs typeface="メイリオ" pitchFamily="34" charset="-120"/>
              </a:rPr>
              <a:t>（診断コード定義）、術直後ほど差が大きい</a:t>
            </a:r>
            <a:endParaRPr lang="ja-JP" sz="2400" dirty="0"/>
          </a:p>
          <a:p>
            <a:pPr algn="l" marL="355600" indent="-355600">
              <a:spcAft>
                <a:spcPts val="1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合併症 OR 2.5、在院 1.7 倍、</a:t>
            </a:r>
            <a:r>
              <a:rPr lang="ja-JP" altLang="en-US" sz="2400" b="1" dirty="0">
                <a:solidFill>
                  <a:srgbClr val="D55E00"/>
                </a:solidFill>
                <a:latin typeface="メイリオ" pitchFamily="34" charset="0"/>
                <a:ea typeface="メイリオ" pitchFamily="34" charset="-122"/>
                <a:cs typeface="メイリオ" pitchFamily="34" charset="-120"/>
              </a:rPr>
              <a:t>施設退院 OR 20</a:t>
            </a:r>
            <a:r>
              <a:rPr lang="ja-JP" altLang="en-US" sz="2400" dirty="0">
                <a:solidFill>
                  <a:srgbClr val="262626"/>
                </a:solidFill>
                <a:latin typeface="メイリオ" pitchFamily="34" charset="0"/>
                <a:ea typeface="メイリオ" pitchFamily="34" charset="-122"/>
                <a:cs typeface="メイリオ" pitchFamily="34" charset="-120"/>
              </a:rPr>
              <a:t>（Makary 2010）</a:t>
            </a:r>
            <a:endParaRPr lang="ja-JP" sz="2400" dirty="0"/>
          </a:p>
          <a:p>
            <a:pPr algn="l" marL="355600" indent="-355600">
              <a:spcAft>
                <a:spcPts val="1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術後せん妄 </a:t>
            </a:r>
            <a:r>
              <a:rPr lang="ja-JP" altLang="en-US" sz="2400" b="1" dirty="0">
                <a:solidFill>
                  <a:srgbClr val="D55E00"/>
                </a:solidFill>
                <a:latin typeface="メイリオ" pitchFamily="34" charset="0"/>
                <a:ea typeface="メイリオ" pitchFamily="34" charset="-122"/>
                <a:cs typeface="メイリオ" pitchFamily="34" charset="-120"/>
              </a:rPr>
              <a:t>OR 2.1</a:t>
            </a:r>
            <a:r>
              <a:rPr lang="ja-JP" altLang="en-US" sz="2400" dirty="0">
                <a:solidFill>
                  <a:srgbClr val="262626"/>
                </a:solidFill>
                <a:latin typeface="メイリオ" pitchFamily="34" charset="0"/>
                <a:ea typeface="メイリオ" pitchFamily="34" charset="-122"/>
                <a:cs typeface="メイリオ" pitchFamily="34" charset="-120"/>
              </a:rPr>
              <a:t>（メタ解析）</a:t>
            </a:r>
            <a:endParaRPr lang="ja-JP" sz="2400" dirty="0"/>
          </a:p>
          <a:p>
            <a:pPr algn="l" marL="355600" indent="-355600">
              <a:spcAft>
                <a:spcPts val="1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CFS </a:t>
            </a:r>
            <a:r>
              <a:rPr lang="ja-JP" altLang="en-US" sz="2400" b="1" dirty="0">
                <a:solidFill>
                  <a:srgbClr val="0072B2"/>
                </a:solidFill>
                <a:latin typeface="メイリオ" pitchFamily="34" charset="0"/>
                <a:ea typeface="メイリオ" pitchFamily="34" charset="-122"/>
                <a:cs typeface="メイリオ" pitchFamily="34" charset="-120"/>
              </a:rPr>
              <a:t>4 以上で注意</a:t>
            </a:r>
            <a:r>
              <a:rPr lang="ja-JP" altLang="en-US" sz="2400" dirty="0">
                <a:solidFill>
                  <a:srgbClr val="262626"/>
                </a:solidFill>
                <a:latin typeface="メイリオ" pitchFamily="34" charset="0"/>
                <a:ea typeface="メイリオ" pitchFamily="34" charset="-122"/>
                <a:cs typeface="メイリオ" pitchFamily="34" charset="-120"/>
              </a:rPr>
              <a:t>、</a:t>
            </a:r>
            <a:r>
              <a:rPr lang="ja-JP" altLang="en-US" sz="2400" b="1" dirty="0">
                <a:solidFill>
                  <a:srgbClr val="0072B2"/>
                </a:solidFill>
                <a:latin typeface="メイリオ" pitchFamily="34" charset="0"/>
                <a:ea typeface="メイリオ" pitchFamily="34" charset="-122"/>
                <a:cs typeface="メイリオ" pitchFamily="34" charset="-120"/>
              </a:rPr>
              <a:t>5 以上をフレイル</a:t>
            </a:r>
            <a:r>
              <a:rPr lang="ja-JP" altLang="en-US" sz="2400" dirty="0">
                <a:solidFill>
                  <a:srgbClr val="262626"/>
                </a:solidFill>
                <a:latin typeface="メイリオ" pitchFamily="34" charset="0"/>
                <a:ea typeface="メイリオ" pitchFamily="34" charset="-122"/>
                <a:cs typeface="メイリオ" pitchFamily="34" charset="-120"/>
              </a:rPr>
              <a:t>（閾値は研究で違う）</a:t>
            </a:r>
            <a:endParaRPr lang="ja-JP" sz="2400" dirty="0"/>
          </a:p>
        </p:txBody>
      </p:sp>
      <p:sp>
        <p:nvSpPr>
          <p:cNvPr id="12" name="Text 10"/>
          <p:cNvSpPr/>
          <p:nvPr/>
        </p:nvSpPr>
        <p:spPr>
          <a:xfrm>
            <a:off x="502920" y="4754880"/>
            <a:ext cx="11183112" cy="1097280"/>
          </a:xfrm>
          <a:prstGeom prst="roundRect">
            <a:avLst>
              <a:gd name="adj" fmla="val 8333"/>
            </a:avLst>
          </a:prstGeom>
          <a:solidFill>
            <a:srgbClr val="FFFFFF"/>
          </a:solidFill>
          <a:ln w="38100">
            <a:solidFill>
              <a:srgbClr val="00A8AA"/>
            </a:solidFill>
          </a:ln>
        </p:spPr>
        <p:txBody>
          <a:bodyPr wrap="square" lIns="73152" tIns="73152" rIns="73152" bIns="73152"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ASA-PS や心リスク指数に</a:t>
            </a:r>
            <a:r>
              <a:rPr lang="ja-JP" altLang="en-US" sz="2800" b="1" dirty="0">
                <a:solidFill>
                  <a:srgbClr val="D55E00"/>
                </a:solidFill>
                <a:latin typeface="メイリオ" pitchFamily="34" charset="0"/>
                <a:ea typeface="メイリオ" pitchFamily="34" charset="-122"/>
                <a:cs typeface="メイリオ" pitchFamily="34" charset="-120"/>
              </a:rPr>
              <a:t>フレイルを足す</a:t>
            </a:r>
            <a:r>
              <a:rPr lang="ja-JP" altLang="en-US" sz="2800" b="1" dirty="0">
                <a:solidFill>
                  <a:srgbClr val="262626"/>
                </a:solidFill>
                <a:latin typeface="メイリオ" pitchFamily="34" charset="0"/>
                <a:ea typeface="メイリオ" pitchFamily="34" charset="-122"/>
                <a:cs typeface="メイリオ" pitchFamily="34" charset="-120"/>
              </a:rPr>
              <a:t>と、</a:t>
            </a:r>
            <a:endParaRPr lang="ja-JP" sz="2800" dirty="0"/>
          </a:p>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予測が良くなる</a:t>
            </a:r>
            <a:endParaRPr lang="ja-JP"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フレイルの測り方</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フレイル</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認知</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機能</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せん妄</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薬と</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麻酔</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2</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Rockwood K, Theou O. Can Geriatr J 2020;23:210-215/Satake S, Arai H. Geriatr Gerontol Int</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2020;20:992-993（改訂 J-CHS 基準）/Chow WB, et al. J Am Coll Surg 2012;215:453-466</a:t>
            </a:r>
            <a:endParaRPr lang="ja-JP" sz="1600" dirty="0"/>
          </a:p>
        </p:txBody>
      </p:sp>
      <p:sp>
        <p:nvSpPr>
          <p:cNvPr id="11" name="Text 9"/>
          <p:cNvSpPr/>
          <p:nvPr/>
        </p:nvSpPr>
        <p:spPr>
          <a:xfrm>
            <a:off x="502920" y="5358384"/>
            <a:ext cx="11183112" cy="530352"/>
          </a:xfrm>
          <a:prstGeom prst="roundRect">
            <a:avLst>
              <a:gd name="adj" fmla="val 17241"/>
            </a:avLst>
          </a:prstGeom>
          <a:solidFill>
            <a:srgbClr val="FFFFFF"/>
          </a:solidFill>
          <a:ln w="38100">
            <a:solidFill>
              <a:srgbClr val="00A8AA"/>
            </a:solidFill>
          </a:ln>
        </p:spPr>
        <p:txBody>
          <a:bodyPr wrap="square" lIns="73152" tIns="73152" rIns="73152" bIns="73152"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転倒歴、眼鏡・補聴器、独居・介護者、</a:t>
            </a:r>
            <a:r>
              <a:rPr lang="ja-JP" altLang="en-US" sz="2400" b="1" dirty="0">
                <a:solidFill>
                  <a:srgbClr val="D55E00"/>
                </a:solidFill>
                <a:latin typeface="メイリオ" pitchFamily="34" charset="0"/>
                <a:ea typeface="メイリオ" pitchFamily="34" charset="-122"/>
                <a:cs typeface="メイリオ" pitchFamily="34" charset="-120"/>
              </a:rPr>
              <a:t>本人の治療の目標</a:t>
            </a:r>
            <a:r>
              <a:rPr lang="ja-JP" altLang="en-US" sz="2400" b="1" dirty="0">
                <a:solidFill>
                  <a:srgbClr val="262626"/>
                </a:solidFill>
                <a:latin typeface="メイリオ" pitchFamily="34" charset="0"/>
                <a:ea typeface="メイリオ" pitchFamily="34" charset="-122"/>
                <a:cs typeface="メイリオ" pitchFamily="34" charset="-120"/>
              </a:rPr>
              <a:t>も聞く</a:t>
            </a:r>
            <a:endParaRPr lang="ja-JP" sz="2400" dirty="0"/>
          </a:p>
        </p:txBody>
      </p:sp>
      <p:sp>
        <p:nvSpPr>
          <p:cNvPr id="12" name="Shape 10"/>
          <p:cNvSpPr/>
          <p:nvPr/>
        </p:nvSpPr>
        <p:spPr>
          <a:xfrm>
            <a:off x="502920" y="1664208"/>
            <a:ext cx="5481828" cy="3474720"/>
          </a:xfrm>
          <a:prstGeom prst="roundRect">
            <a:avLst>
              <a:gd name="adj" fmla="val 2105"/>
            </a:avLst>
          </a:prstGeom>
          <a:solidFill>
            <a:srgbClr val="F2F2F2"/>
          </a:solidFill>
          <a:ln/>
        </p:spPr>
      </p:sp>
      <p:sp>
        <p:nvSpPr>
          <p:cNvPr id="13" name="Text 11"/>
          <p:cNvSpPr txBox="1"/>
          <p:nvPr/>
        </p:nvSpPr>
        <p:spPr>
          <a:xfrm>
            <a:off x="566928" y="1719072"/>
            <a:ext cx="5353812" cy="420624"/>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CFS（9 段階）</a:t>
            </a:r>
            <a:endParaRPr lang="ja-JP" sz="2400" dirty="0"/>
          </a:p>
        </p:txBody>
      </p:sp>
      <p:sp>
        <p:nvSpPr>
          <p:cNvPr id="14" name="Shape 12"/>
          <p:cNvSpPr/>
          <p:nvPr/>
        </p:nvSpPr>
        <p:spPr>
          <a:xfrm>
            <a:off x="594360" y="2258568"/>
            <a:ext cx="91440" cy="91440"/>
          </a:xfrm>
          <a:prstGeom prst="ellipse">
            <a:avLst/>
          </a:prstGeom>
          <a:solidFill>
            <a:srgbClr val="0072B2"/>
          </a:solidFill>
          <a:ln/>
        </p:spPr>
      </p:sp>
      <p:sp>
        <p:nvSpPr>
          <p:cNvPr id="15" name="Text 13"/>
          <p:cNvSpPr txBox="1"/>
          <p:nvPr/>
        </p:nvSpPr>
        <p:spPr>
          <a:xfrm>
            <a:off x="749808" y="2121408"/>
            <a:ext cx="517093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約 2 週間前の</a:t>
            </a:r>
            <a:r>
              <a:rPr lang="ja-JP" altLang="en-US" sz="2200" b="1" dirty="0">
                <a:solidFill>
                  <a:srgbClr val="D55E00"/>
                </a:solidFill>
                <a:latin typeface="メイリオ" pitchFamily="34" charset="0"/>
                <a:ea typeface="メイリオ" pitchFamily="34" charset="-122"/>
                <a:cs typeface="メイリオ" pitchFamily="34" charset="-120"/>
              </a:rPr>
              <a:t>病前</a:t>
            </a:r>
            <a:r>
              <a:rPr lang="ja-JP" altLang="en-US" sz="2200" dirty="0">
                <a:solidFill>
                  <a:srgbClr val="262626"/>
                </a:solidFill>
                <a:latin typeface="メイリオ" pitchFamily="34" charset="0"/>
                <a:ea typeface="メイリオ" pitchFamily="34" charset="-122"/>
                <a:cs typeface="メイリオ" pitchFamily="34" charset="-120"/>
              </a:rPr>
              <a:t>の状態で付ける</a:t>
            </a:r>
            <a:endParaRPr lang="ja-JP" sz="2200" dirty="0"/>
          </a:p>
        </p:txBody>
      </p:sp>
      <p:sp>
        <p:nvSpPr>
          <p:cNvPr id="16" name="Shape 14"/>
          <p:cNvSpPr/>
          <p:nvPr/>
        </p:nvSpPr>
        <p:spPr>
          <a:xfrm>
            <a:off x="594360" y="2891333"/>
            <a:ext cx="91440" cy="91440"/>
          </a:xfrm>
          <a:prstGeom prst="ellipse">
            <a:avLst/>
          </a:prstGeom>
          <a:solidFill>
            <a:srgbClr val="0072B2"/>
          </a:solidFill>
          <a:ln/>
        </p:spPr>
      </p:sp>
      <p:sp>
        <p:nvSpPr>
          <p:cNvPr id="17" name="Text 15"/>
          <p:cNvSpPr txBox="1"/>
          <p:nvPr/>
        </p:nvSpPr>
        <p:spPr>
          <a:xfrm>
            <a:off x="749808" y="2754173"/>
            <a:ext cx="517093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移動、生活機能（IADL・ADL）、</a:t>
            </a:r>
            <a:endParaRPr lang="ja-JP" sz="2200" dirty="0"/>
          </a:p>
        </p:txBody>
      </p:sp>
      <p:sp>
        <p:nvSpPr>
          <p:cNvPr id="18" name="Text 16"/>
          <p:cNvSpPr txBox="1"/>
          <p:nvPr/>
        </p:nvSpPr>
        <p:spPr>
          <a:xfrm>
            <a:off x="749808" y="3088843"/>
            <a:ext cx="517093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思考、健康の自己評価を聞く</a:t>
            </a:r>
            <a:endParaRPr lang="ja-JP" sz="2200" dirty="0"/>
          </a:p>
        </p:txBody>
      </p:sp>
      <p:sp>
        <p:nvSpPr>
          <p:cNvPr id="19" name="Shape 17"/>
          <p:cNvSpPr/>
          <p:nvPr/>
        </p:nvSpPr>
        <p:spPr>
          <a:xfrm>
            <a:off x="594360" y="3858768"/>
            <a:ext cx="91440" cy="91440"/>
          </a:xfrm>
          <a:prstGeom prst="ellipse">
            <a:avLst/>
          </a:prstGeom>
          <a:solidFill>
            <a:srgbClr val="0072B2"/>
          </a:solidFill>
          <a:ln/>
        </p:spPr>
      </p:sp>
      <p:sp>
        <p:nvSpPr>
          <p:cNvPr id="20" name="Text 18"/>
          <p:cNvSpPr txBox="1"/>
          <p:nvPr/>
        </p:nvSpPr>
        <p:spPr>
          <a:xfrm>
            <a:off x="749808" y="3721608"/>
            <a:ext cx="517093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迷ったら</a:t>
            </a:r>
            <a:r>
              <a:rPr lang="ja-JP" altLang="en-US" sz="2200" b="1" dirty="0">
                <a:solidFill>
                  <a:srgbClr val="D55E00"/>
                </a:solidFill>
                <a:latin typeface="メイリオ" pitchFamily="34" charset="0"/>
                <a:ea typeface="メイリオ" pitchFamily="34" charset="-122"/>
                <a:cs typeface="メイリオ" pitchFamily="34" charset="-120"/>
              </a:rPr>
              <a:t>重い方</a:t>
            </a:r>
            <a:endParaRPr lang="ja-JP" sz="2200" dirty="0"/>
          </a:p>
        </p:txBody>
      </p:sp>
      <p:sp>
        <p:nvSpPr>
          <p:cNvPr id="21" name="Shape 19"/>
          <p:cNvSpPr/>
          <p:nvPr/>
        </p:nvSpPr>
        <p:spPr>
          <a:xfrm>
            <a:off x="594360" y="4491533"/>
            <a:ext cx="91440" cy="91440"/>
          </a:xfrm>
          <a:prstGeom prst="ellipse">
            <a:avLst/>
          </a:prstGeom>
          <a:solidFill>
            <a:srgbClr val="0072B2"/>
          </a:solidFill>
          <a:ln/>
        </p:spPr>
      </p:sp>
      <p:sp>
        <p:nvSpPr>
          <p:cNvPr id="22" name="Text 20"/>
          <p:cNvSpPr txBox="1"/>
          <p:nvPr/>
        </p:nvSpPr>
        <p:spPr>
          <a:xfrm>
            <a:off x="749808" y="4354373"/>
            <a:ext cx="517093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若年者・固定した単一障害には</a:t>
            </a:r>
            <a:endParaRPr lang="ja-JP" sz="2200" dirty="0"/>
          </a:p>
        </p:txBody>
      </p:sp>
      <p:sp>
        <p:nvSpPr>
          <p:cNvPr id="23" name="Text 21"/>
          <p:cNvSpPr txBox="1"/>
          <p:nvPr/>
        </p:nvSpPr>
        <p:spPr>
          <a:xfrm>
            <a:off x="749808" y="4689043"/>
            <a:ext cx="517093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使わない</a:t>
            </a:r>
            <a:endParaRPr lang="ja-JP" sz="2200" dirty="0"/>
          </a:p>
        </p:txBody>
      </p:sp>
      <p:sp>
        <p:nvSpPr>
          <p:cNvPr id="24" name="Shape 22"/>
          <p:cNvSpPr/>
          <p:nvPr/>
        </p:nvSpPr>
        <p:spPr>
          <a:xfrm>
            <a:off x="6204204" y="1664208"/>
            <a:ext cx="5481828" cy="3474720"/>
          </a:xfrm>
          <a:prstGeom prst="roundRect">
            <a:avLst>
              <a:gd name="adj" fmla="val 2105"/>
            </a:avLst>
          </a:prstGeom>
          <a:solidFill>
            <a:srgbClr val="F2F2F2"/>
          </a:solidFill>
          <a:ln/>
        </p:spPr>
      </p:sp>
      <p:sp>
        <p:nvSpPr>
          <p:cNvPr id="25" name="Text 23"/>
          <p:cNvSpPr txBox="1"/>
          <p:nvPr/>
        </p:nvSpPr>
        <p:spPr>
          <a:xfrm>
            <a:off x="6268212" y="1719072"/>
            <a:ext cx="5353812" cy="420624"/>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J-CHS 基準（2020）と周辺</a:t>
            </a:r>
            <a:endParaRPr lang="ja-JP" sz="2400" dirty="0"/>
          </a:p>
        </p:txBody>
      </p:sp>
      <p:sp>
        <p:nvSpPr>
          <p:cNvPr id="26" name="Shape 24"/>
          <p:cNvSpPr/>
          <p:nvPr/>
        </p:nvSpPr>
        <p:spPr>
          <a:xfrm>
            <a:off x="6295644" y="2258568"/>
            <a:ext cx="91440" cy="91440"/>
          </a:xfrm>
          <a:prstGeom prst="ellipse">
            <a:avLst/>
          </a:prstGeom>
          <a:solidFill>
            <a:srgbClr val="D55E00"/>
          </a:solidFill>
          <a:ln/>
        </p:spPr>
      </p:sp>
      <p:sp>
        <p:nvSpPr>
          <p:cNvPr id="27" name="Text 25"/>
          <p:cNvSpPr txBox="1"/>
          <p:nvPr/>
        </p:nvSpPr>
        <p:spPr>
          <a:xfrm>
            <a:off x="6451092" y="2121408"/>
            <a:ext cx="517093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握力 男 28 kg 未満・女 18 kg 未満</a:t>
            </a:r>
            <a:endParaRPr lang="ja-JP" sz="2200" dirty="0"/>
          </a:p>
        </p:txBody>
      </p:sp>
      <p:sp>
        <p:nvSpPr>
          <p:cNvPr id="28" name="Shape 26"/>
          <p:cNvSpPr/>
          <p:nvPr/>
        </p:nvSpPr>
        <p:spPr>
          <a:xfrm>
            <a:off x="6295644" y="2649017"/>
            <a:ext cx="91440" cy="91440"/>
          </a:xfrm>
          <a:prstGeom prst="ellipse">
            <a:avLst/>
          </a:prstGeom>
          <a:solidFill>
            <a:srgbClr val="D55E00"/>
          </a:solidFill>
          <a:ln/>
        </p:spPr>
      </p:sp>
      <p:sp>
        <p:nvSpPr>
          <p:cNvPr id="29" name="Text 27"/>
          <p:cNvSpPr txBox="1"/>
          <p:nvPr/>
        </p:nvSpPr>
        <p:spPr>
          <a:xfrm>
            <a:off x="6451092" y="2511857"/>
            <a:ext cx="517093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歩行速度 1.0 m/秒未満</a:t>
            </a:r>
            <a:endParaRPr lang="ja-JP" sz="2200" dirty="0"/>
          </a:p>
        </p:txBody>
      </p:sp>
      <p:sp>
        <p:nvSpPr>
          <p:cNvPr id="30" name="Shape 28"/>
          <p:cNvSpPr/>
          <p:nvPr/>
        </p:nvSpPr>
        <p:spPr>
          <a:xfrm>
            <a:off x="6295644" y="3038551"/>
            <a:ext cx="91440" cy="91440"/>
          </a:xfrm>
          <a:prstGeom prst="ellipse">
            <a:avLst/>
          </a:prstGeom>
          <a:solidFill>
            <a:srgbClr val="D55E00"/>
          </a:solidFill>
          <a:ln/>
        </p:spPr>
      </p:sp>
      <p:sp>
        <p:nvSpPr>
          <p:cNvPr id="31" name="Text 29"/>
          <p:cNvSpPr txBox="1"/>
          <p:nvPr/>
        </p:nvSpPr>
        <p:spPr>
          <a:xfrm>
            <a:off x="6451092" y="2901391"/>
            <a:ext cx="517093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体重減少、疲労感、身体活動の低下</a:t>
            </a:r>
            <a:endParaRPr lang="ja-JP" sz="2200" dirty="0"/>
          </a:p>
        </p:txBody>
      </p:sp>
      <p:sp>
        <p:nvSpPr>
          <p:cNvPr id="32" name="Text 30"/>
          <p:cNvSpPr txBox="1"/>
          <p:nvPr/>
        </p:nvSpPr>
        <p:spPr>
          <a:xfrm>
            <a:off x="6451092" y="3236976"/>
            <a:ext cx="517093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t>
            </a:r>
            <a:r>
              <a:rPr lang="ja-JP" altLang="en-US" sz="2200" b="1" dirty="0">
                <a:solidFill>
                  <a:srgbClr val="D55E00"/>
                </a:solidFill>
                <a:latin typeface="メイリオ" pitchFamily="34" charset="0"/>
                <a:ea typeface="メイリオ" pitchFamily="34" charset="-122"/>
                <a:cs typeface="メイリオ" pitchFamily="34" charset="-120"/>
              </a:rPr>
              <a:t>3 項目以上でフレイル</a:t>
            </a: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33" name="Shape 31"/>
          <p:cNvSpPr/>
          <p:nvPr/>
        </p:nvSpPr>
        <p:spPr>
          <a:xfrm>
            <a:off x="6295644" y="3764585"/>
            <a:ext cx="91440" cy="91440"/>
          </a:xfrm>
          <a:prstGeom prst="ellipse">
            <a:avLst/>
          </a:prstGeom>
          <a:solidFill>
            <a:srgbClr val="D55E00"/>
          </a:solidFill>
          <a:ln/>
        </p:spPr>
      </p:sp>
      <p:sp>
        <p:nvSpPr>
          <p:cNvPr id="34" name="Text 32"/>
          <p:cNvSpPr txBox="1"/>
          <p:nvPr/>
        </p:nvSpPr>
        <p:spPr>
          <a:xfrm>
            <a:off x="6451092" y="3627425"/>
            <a:ext cx="517093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基本チェックリスト 8 点以上</a:t>
            </a:r>
            <a:endParaRPr lang="ja-JP" sz="2200" dirty="0"/>
          </a:p>
        </p:txBody>
      </p:sp>
      <p:sp>
        <p:nvSpPr>
          <p:cNvPr id="35" name="Shape 33"/>
          <p:cNvSpPr/>
          <p:nvPr/>
        </p:nvSpPr>
        <p:spPr>
          <a:xfrm>
            <a:off x="6295644" y="4154119"/>
            <a:ext cx="91440" cy="91440"/>
          </a:xfrm>
          <a:prstGeom prst="ellipse">
            <a:avLst/>
          </a:prstGeom>
          <a:solidFill>
            <a:srgbClr val="D55E00"/>
          </a:solidFill>
          <a:ln/>
        </p:spPr>
      </p:sp>
      <p:sp>
        <p:nvSpPr>
          <p:cNvPr id="36" name="Text 34"/>
          <p:cNvSpPr txBox="1"/>
          <p:nvPr/>
        </p:nvSpPr>
        <p:spPr>
          <a:xfrm>
            <a:off x="6451092" y="4016959"/>
            <a:ext cx="517093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栄養：BMI 18.5 未満、</a:t>
            </a:r>
            <a:endParaRPr lang="ja-JP" sz="2200" dirty="0"/>
          </a:p>
        </p:txBody>
      </p:sp>
      <p:sp>
        <p:nvSpPr>
          <p:cNvPr id="37" name="Text 35"/>
          <p:cNvSpPr txBox="1"/>
          <p:nvPr/>
        </p:nvSpPr>
        <p:spPr>
          <a:xfrm>
            <a:off x="6451092" y="4352544"/>
            <a:ext cx="517093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Alb 3.0 g/dL 未満、</a:t>
            </a:r>
            <a:endParaRPr lang="ja-JP" sz="2200" dirty="0"/>
          </a:p>
        </p:txBody>
      </p:sp>
      <p:sp>
        <p:nvSpPr>
          <p:cNvPr id="38" name="Text 36"/>
          <p:cNvSpPr txBox="1"/>
          <p:nvPr/>
        </p:nvSpPr>
        <p:spPr>
          <a:xfrm>
            <a:off x="6451092" y="4688129"/>
            <a:ext cx="5170932"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6 か月で 10〜15% 超の体重減少</a:t>
            </a:r>
            <a:endParaRPr lang="ja-JP"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Mini-Cog を全員に</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フレイル</a:t>
            </a:r>
            <a:endParaRPr lang="ja-JP" sz="1050" dirty="0"/>
          </a:p>
        </p:txBody>
      </p:sp>
      <p:sp>
        <p:nvSpPr>
          <p:cNvPr id="5" name="Text 3"/>
          <p:cNvSpPr/>
          <p:nvPr/>
        </p:nvSpPr>
        <p:spPr>
          <a:xfrm>
            <a:off x="9354312"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認知</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機能</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せん妄</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薬と</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麻酔</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3</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Berger M, et al. Anesth Analg 2018;127:1406-1413 / Culley DJ, et al. Anesthesiology</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2017;127:765-774 / Borson S, et al. Int J Geriatr Psychiatry 2000;15:1021-1027</a:t>
            </a:r>
            <a:endParaRPr lang="ja-JP" sz="1600" dirty="0"/>
          </a:p>
        </p:txBody>
      </p:sp>
      <p:sp>
        <p:nvSpPr>
          <p:cNvPr id="11" name="Text 9"/>
          <p:cNvSpPr/>
          <p:nvPr/>
        </p:nvSpPr>
        <p:spPr>
          <a:xfrm>
            <a:off x="502920" y="5358384"/>
            <a:ext cx="11183112" cy="530352"/>
          </a:xfrm>
          <a:prstGeom prst="roundRect">
            <a:avLst>
              <a:gd name="adj" fmla="val 17241"/>
            </a:avLst>
          </a:prstGeom>
          <a:solidFill>
            <a:srgbClr val="FFFFFF"/>
          </a:solidFill>
          <a:ln w="38100">
            <a:solidFill>
              <a:srgbClr val="00A8AA"/>
            </a:solidFill>
          </a:ln>
        </p:spPr>
        <p:txBody>
          <a:bodyPr wrap="square" lIns="45720" tIns="45720" rIns="45720" bIns="45720" rtlCol="0" anchor="ctr"/>
          <a:lstStyle/>
          <a:p>
            <a:pPr algn="ctr" indent="0" marL="0">
              <a:buNone/>
            </a:pPr>
            <a:r>
              <a:rPr lang="ja-JP" altLang="en-US" sz="2400" b="1" dirty="0">
                <a:solidFill>
                  <a:srgbClr val="262626"/>
                </a:solidFill>
                <a:latin typeface="メイリオ" pitchFamily="34" charset="0"/>
                <a:ea typeface="メイリオ" pitchFamily="34" charset="-122"/>
                <a:cs typeface="メイリオ" pitchFamily="34" charset="-120"/>
              </a:rPr>
              <a:t>65 歳を超える全員に</a:t>
            </a:r>
            <a:r>
              <a:rPr lang="ja-JP" altLang="en-US" sz="2400" b="1" dirty="0">
                <a:solidFill>
                  <a:srgbClr val="D55E00"/>
                </a:solidFill>
                <a:latin typeface="メイリオ" pitchFamily="34" charset="0"/>
                <a:ea typeface="メイリオ" pitchFamily="34" charset="-122"/>
                <a:cs typeface="メイリオ" pitchFamily="34" charset="-120"/>
              </a:rPr>
              <a:t>『術後に混乱・記憶障害が起こりうる』</a:t>
            </a:r>
            <a:r>
              <a:rPr lang="ja-JP" altLang="en-US" sz="2400" b="1" dirty="0">
                <a:solidFill>
                  <a:srgbClr val="262626"/>
                </a:solidFill>
                <a:latin typeface="メイリオ" pitchFamily="34" charset="0"/>
                <a:ea typeface="メイリオ" pitchFamily="34" charset="-122"/>
                <a:cs typeface="メイリオ" pitchFamily="34" charset="-120"/>
              </a:rPr>
              <a:t>と説明する</a:t>
            </a:r>
            <a:endParaRPr lang="ja-JP" sz="2400" dirty="0"/>
          </a:p>
        </p:txBody>
      </p:sp>
      <p:sp>
        <p:nvSpPr>
          <p:cNvPr id="12" name="Shape 10"/>
          <p:cNvSpPr/>
          <p:nvPr/>
        </p:nvSpPr>
        <p:spPr>
          <a:xfrm>
            <a:off x="502920" y="1664208"/>
            <a:ext cx="5551322" cy="3474720"/>
          </a:xfrm>
          <a:prstGeom prst="roundRect">
            <a:avLst>
              <a:gd name="adj" fmla="val 2105"/>
            </a:avLst>
          </a:prstGeom>
          <a:solidFill>
            <a:srgbClr val="F2F2F2"/>
          </a:solidFill>
          <a:ln/>
        </p:spPr>
      </p:sp>
      <p:sp>
        <p:nvSpPr>
          <p:cNvPr id="13" name="Text 11"/>
          <p:cNvSpPr txBox="1"/>
          <p:nvPr/>
        </p:nvSpPr>
        <p:spPr>
          <a:xfrm>
            <a:off x="566928" y="1719072"/>
            <a:ext cx="5423306" cy="420624"/>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どう測るか</a:t>
            </a:r>
            <a:endParaRPr lang="ja-JP" sz="2400" dirty="0"/>
          </a:p>
        </p:txBody>
      </p:sp>
      <p:sp>
        <p:nvSpPr>
          <p:cNvPr id="14" name="Shape 12"/>
          <p:cNvSpPr/>
          <p:nvPr/>
        </p:nvSpPr>
        <p:spPr>
          <a:xfrm>
            <a:off x="594360" y="2258568"/>
            <a:ext cx="91440" cy="91440"/>
          </a:xfrm>
          <a:prstGeom prst="ellipse">
            <a:avLst/>
          </a:prstGeom>
          <a:solidFill>
            <a:srgbClr val="0072B2"/>
          </a:solidFill>
          <a:ln/>
        </p:spPr>
      </p:sp>
      <p:sp>
        <p:nvSpPr>
          <p:cNvPr id="15" name="Text 13"/>
          <p:cNvSpPr txBox="1"/>
          <p:nvPr/>
        </p:nvSpPr>
        <p:spPr>
          <a:xfrm>
            <a:off x="749808" y="2121408"/>
            <a:ext cx="524042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65 歳超の全員にベースラインの</a:t>
            </a:r>
            <a:endParaRPr lang="ja-JP" sz="2200" dirty="0"/>
          </a:p>
        </p:txBody>
      </p:sp>
      <p:sp>
        <p:nvSpPr>
          <p:cNvPr id="16" name="Text 14"/>
          <p:cNvSpPr txBox="1"/>
          <p:nvPr/>
        </p:nvSpPr>
        <p:spPr>
          <a:xfrm>
            <a:off x="749808" y="2456993"/>
            <a:ext cx="524042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簡易スクリーニング</a:t>
            </a:r>
            <a:endParaRPr lang="ja-JP" sz="2200" dirty="0"/>
          </a:p>
        </p:txBody>
      </p:sp>
      <p:sp>
        <p:nvSpPr>
          <p:cNvPr id="17" name="Text 15"/>
          <p:cNvSpPr txBox="1"/>
          <p:nvPr/>
        </p:nvSpPr>
        <p:spPr>
          <a:xfrm>
            <a:off x="749808" y="2791663"/>
            <a:ext cx="524042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（ASA Brain Health の専門家合意）</a:t>
            </a:r>
            <a:endParaRPr lang="ja-JP" sz="2200" dirty="0"/>
          </a:p>
        </p:txBody>
      </p:sp>
      <p:sp>
        <p:nvSpPr>
          <p:cNvPr id="18" name="Shape 16"/>
          <p:cNvSpPr/>
          <p:nvPr/>
        </p:nvSpPr>
        <p:spPr>
          <a:xfrm>
            <a:off x="594360" y="3338474"/>
            <a:ext cx="91440" cy="91440"/>
          </a:xfrm>
          <a:prstGeom prst="ellipse">
            <a:avLst/>
          </a:prstGeom>
          <a:solidFill>
            <a:srgbClr val="0072B2"/>
          </a:solidFill>
          <a:ln/>
        </p:spPr>
      </p:sp>
      <p:sp>
        <p:nvSpPr>
          <p:cNvPr id="19" name="Text 17"/>
          <p:cNvSpPr txBox="1"/>
          <p:nvPr/>
        </p:nvSpPr>
        <p:spPr>
          <a:xfrm>
            <a:off x="749808" y="3201314"/>
            <a:ext cx="5240426" cy="374904"/>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Mini-Cog：</a:t>
            </a:r>
            <a:r>
              <a:rPr lang="ja-JP" altLang="en-US" sz="2200" dirty="0">
                <a:solidFill>
                  <a:srgbClr val="262626"/>
                </a:solidFill>
                <a:latin typeface="メイリオ" pitchFamily="34" charset="0"/>
                <a:ea typeface="メイリオ" pitchFamily="34" charset="-122"/>
                <a:cs typeface="メイリオ" pitchFamily="34" charset="-120"/>
              </a:rPr>
              <a:t>3 語の遅延再生＋</a:t>
            </a:r>
            <a:endParaRPr lang="ja-JP" sz="2200" dirty="0"/>
          </a:p>
        </p:txBody>
      </p:sp>
      <p:sp>
        <p:nvSpPr>
          <p:cNvPr id="20" name="Text 18"/>
          <p:cNvSpPr txBox="1"/>
          <p:nvPr/>
        </p:nvSpPr>
        <p:spPr>
          <a:xfrm>
            <a:off x="749808" y="3536899"/>
            <a:ext cx="524042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時計描画、2〜4 分、</a:t>
            </a:r>
            <a:r>
              <a:rPr lang="ja-JP" altLang="en-US" sz="2200" b="1" dirty="0">
                <a:solidFill>
                  <a:srgbClr val="D55E00"/>
                </a:solidFill>
                <a:latin typeface="メイリオ" pitchFamily="34" charset="0"/>
                <a:ea typeface="メイリオ" pitchFamily="34" charset="-122"/>
                <a:cs typeface="メイリオ" pitchFamily="34" charset="-120"/>
              </a:rPr>
              <a:t>2 点以下で陽性</a:t>
            </a:r>
            <a:endParaRPr lang="ja-JP" sz="2200" dirty="0"/>
          </a:p>
        </p:txBody>
      </p:sp>
      <p:sp>
        <p:nvSpPr>
          <p:cNvPr id="21" name="Shape 19"/>
          <p:cNvSpPr/>
          <p:nvPr/>
        </p:nvSpPr>
        <p:spPr>
          <a:xfrm>
            <a:off x="594360" y="4082796"/>
            <a:ext cx="91440" cy="91440"/>
          </a:xfrm>
          <a:prstGeom prst="ellipse">
            <a:avLst/>
          </a:prstGeom>
          <a:solidFill>
            <a:srgbClr val="0072B2"/>
          </a:solidFill>
          <a:ln/>
        </p:spPr>
      </p:sp>
      <p:sp>
        <p:nvSpPr>
          <p:cNvPr id="22" name="Text 20"/>
          <p:cNvSpPr txBox="1"/>
          <p:nvPr/>
        </p:nvSpPr>
        <p:spPr>
          <a:xfrm>
            <a:off x="749808" y="3945636"/>
            <a:ext cx="524042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MMSE 7〜10 分（23 点以下）、</a:t>
            </a:r>
            <a:endParaRPr lang="ja-JP" sz="2200" dirty="0"/>
          </a:p>
        </p:txBody>
      </p:sp>
      <p:sp>
        <p:nvSpPr>
          <p:cNvPr id="23" name="Text 21"/>
          <p:cNvSpPr txBox="1"/>
          <p:nvPr/>
        </p:nvSpPr>
        <p:spPr>
          <a:xfrm>
            <a:off x="749808" y="4281221"/>
            <a:ext cx="524042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HDS-R（20 点以下）</a:t>
            </a:r>
            <a:endParaRPr lang="ja-JP" sz="2200" dirty="0"/>
          </a:p>
        </p:txBody>
      </p:sp>
      <p:sp>
        <p:nvSpPr>
          <p:cNvPr id="24" name="Shape 22"/>
          <p:cNvSpPr/>
          <p:nvPr/>
        </p:nvSpPr>
        <p:spPr>
          <a:xfrm>
            <a:off x="594360" y="4828032"/>
            <a:ext cx="91440" cy="91440"/>
          </a:xfrm>
          <a:prstGeom prst="ellipse">
            <a:avLst/>
          </a:prstGeom>
          <a:solidFill>
            <a:srgbClr val="0072B2"/>
          </a:solidFill>
          <a:ln/>
        </p:spPr>
      </p:sp>
      <p:sp>
        <p:nvSpPr>
          <p:cNvPr id="25" name="Text 23"/>
          <p:cNvSpPr txBox="1"/>
          <p:nvPr/>
        </p:nvSpPr>
        <p:spPr>
          <a:xfrm>
            <a:off x="749808" y="4690872"/>
            <a:ext cx="5240426"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眼鏡・補聴器をつけ、前投薬の前に</a:t>
            </a:r>
            <a:endParaRPr lang="ja-JP" sz="2200" dirty="0"/>
          </a:p>
        </p:txBody>
      </p:sp>
      <p:sp>
        <p:nvSpPr>
          <p:cNvPr id="26" name="Shape 24"/>
          <p:cNvSpPr/>
          <p:nvPr/>
        </p:nvSpPr>
        <p:spPr>
          <a:xfrm>
            <a:off x="6273698" y="1664208"/>
            <a:ext cx="5412334" cy="3474720"/>
          </a:xfrm>
          <a:prstGeom prst="roundRect">
            <a:avLst>
              <a:gd name="adj" fmla="val 2105"/>
            </a:avLst>
          </a:prstGeom>
          <a:solidFill>
            <a:srgbClr val="F2F2F2"/>
          </a:solidFill>
          <a:ln/>
        </p:spPr>
      </p:sp>
      <p:sp>
        <p:nvSpPr>
          <p:cNvPr id="27" name="Text 25"/>
          <p:cNvSpPr txBox="1"/>
          <p:nvPr/>
        </p:nvSpPr>
        <p:spPr>
          <a:xfrm>
            <a:off x="6337706" y="1719072"/>
            <a:ext cx="5284318" cy="420624"/>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陽性なら</a:t>
            </a:r>
            <a:endParaRPr lang="ja-JP" sz="2400" dirty="0"/>
          </a:p>
        </p:txBody>
      </p:sp>
      <p:sp>
        <p:nvSpPr>
          <p:cNvPr id="28" name="Shape 26"/>
          <p:cNvSpPr/>
          <p:nvPr/>
        </p:nvSpPr>
        <p:spPr>
          <a:xfrm>
            <a:off x="6365138" y="2258568"/>
            <a:ext cx="91440" cy="91440"/>
          </a:xfrm>
          <a:prstGeom prst="ellipse">
            <a:avLst/>
          </a:prstGeom>
          <a:solidFill>
            <a:srgbClr val="D55E00"/>
          </a:solidFill>
          <a:ln/>
        </p:spPr>
      </p:sp>
      <p:sp>
        <p:nvSpPr>
          <p:cNvPr id="29" name="Text 27"/>
          <p:cNvSpPr txBox="1"/>
          <p:nvPr/>
        </p:nvSpPr>
        <p:spPr>
          <a:xfrm>
            <a:off x="6520586" y="2121408"/>
            <a:ext cx="5101438" cy="374904"/>
          </a:xfrm>
          <a:prstGeom prst="rect">
            <a:avLst/>
          </a:prstGeom>
          <a:noFill/>
          <a:ln/>
        </p:spPr>
        <p:txBody>
          <a:bodyPr wrap="square" lIns="0" tIns="0" rIns="0" bIns="0" rtlCol="0" anchor="t"/>
          <a:lstStyle/>
          <a:p>
            <a:pPr algn="l" indent="0" marL="0">
              <a:buNone/>
            </a:pPr>
            <a:r>
              <a:rPr lang="ja-JP" altLang="en-US" sz="2200" b="1" dirty="0">
                <a:solidFill>
                  <a:srgbClr val="D55E00"/>
                </a:solidFill>
                <a:latin typeface="メイリオ" pitchFamily="34" charset="0"/>
                <a:ea typeface="メイリオ" pitchFamily="34" charset="-122"/>
                <a:cs typeface="メイリオ" pitchFamily="34" charset="-120"/>
              </a:rPr>
              <a:t>診断ではない</a:t>
            </a:r>
            <a:r>
              <a:rPr lang="ja-JP" altLang="en-US" sz="2200" dirty="0">
                <a:solidFill>
                  <a:srgbClr val="262626"/>
                </a:solidFill>
                <a:latin typeface="メイリオ" pitchFamily="34" charset="0"/>
                <a:ea typeface="メイリオ" pitchFamily="34" charset="-122"/>
                <a:cs typeface="メイリオ" pitchFamily="34" charset="-120"/>
              </a:rPr>
              <a:t>。詳しい評価へつなぐ</a:t>
            </a:r>
            <a:endParaRPr lang="ja-JP" sz="2200" dirty="0"/>
          </a:p>
        </p:txBody>
      </p:sp>
      <p:sp>
        <p:nvSpPr>
          <p:cNvPr id="30" name="Shape 28"/>
          <p:cNvSpPr/>
          <p:nvPr/>
        </p:nvSpPr>
        <p:spPr>
          <a:xfrm>
            <a:off x="6365138" y="2649017"/>
            <a:ext cx="91440" cy="91440"/>
          </a:xfrm>
          <a:prstGeom prst="ellipse">
            <a:avLst/>
          </a:prstGeom>
          <a:solidFill>
            <a:srgbClr val="D55E00"/>
          </a:solidFill>
          <a:ln/>
        </p:spPr>
      </p:sp>
      <p:sp>
        <p:nvSpPr>
          <p:cNvPr id="31" name="Text 29"/>
          <p:cNvSpPr txBox="1"/>
          <p:nvPr/>
        </p:nvSpPr>
        <p:spPr>
          <a:xfrm>
            <a:off x="6520586" y="2511857"/>
            <a:ext cx="510143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認知症の診断がない</a:t>
            </a:r>
            <a:endParaRPr lang="ja-JP" sz="2200" dirty="0"/>
          </a:p>
        </p:txBody>
      </p:sp>
      <p:sp>
        <p:nvSpPr>
          <p:cNvPr id="32" name="Text 30"/>
          <p:cNvSpPr txBox="1"/>
          <p:nvPr/>
        </p:nvSpPr>
        <p:spPr>
          <a:xfrm>
            <a:off x="6520586" y="2846527"/>
            <a:ext cx="510143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人工関節患者の 24% が陽性</a:t>
            </a:r>
            <a:endParaRPr lang="ja-JP" sz="2200" dirty="0"/>
          </a:p>
        </p:txBody>
      </p:sp>
      <p:sp>
        <p:nvSpPr>
          <p:cNvPr id="33" name="Shape 31"/>
          <p:cNvSpPr/>
          <p:nvPr/>
        </p:nvSpPr>
        <p:spPr>
          <a:xfrm>
            <a:off x="6365138" y="3374136"/>
            <a:ext cx="91440" cy="91440"/>
          </a:xfrm>
          <a:prstGeom prst="ellipse">
            <a:avLst/>
          </a:prstGeom>
          <a:solidFill>
            <a:srgbClr val="D55E00"/>
          </a:solidFill>
          <a:ln/>
        </p:spPr>
      </p:sp>
      <p:sp>
        <p:nvSpPr>
          <p:cNvPr id="34" name="Text 32"/>
          <p:cNvSpPr txBox="1"/>
          <p:nvPr/>
        </p:nvSpPr>
        <p:spPr>
          <a:xfrm>
            <a:off x="6520586" y="3236976"/>
            <a:ext cx="510143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せん妄 21% 対 7%、自宅以外への</a:t>
            </a:r>
            <a:endParaRPr lang="ja-JP" sz="2200" dirty="0"/>
          </a:p>
        </p:txBody>
      </p:sp>
      <p:sp>
        <p:nvSpPr>
          <p:cNvPr id="35" name="Text 33"/>
          <p:cNvSpPr txBox="1"/>
          <p:nvPr/>
        </p:nvSpPr>
        <p:spPr>
          <a:xfrm>
            <a:off x="6520586" y="3572561"/>
            <a:ext cx="510143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退院 67% 対 34%（Culley 2017）</a:t>
            </a:r>
            <a:endParaRPr lang="ja-JP" sz="2200" dirty="0"/>
          </a:p>
        </p:txBody>
      </p:sp>
      <p:sp>
        <p:nvSpPr>
          <p:cNvPr id="36" name="Shape 34"/>
          <p:cNvSpPr/>
          <p:nvPr/>
        </p:nvSpPr>
        <p:spPr>
          <a:xfrm>
            <a:off x="6365138" y="4099255"/>
            <a:ext cx="91440" cy="91440"/>
          </a:xfrm>
          <a:prstGeom prst="ellipse">
            <a:avLst/>
          </a:prstGeom>
          <a:solidFill>
            <a:srgbClr val="D55E00"/>
          </a:solidFill>
          <a:ln/>
        </p:spPr>
      </p:sp>
      <p:sp>
        <p:nvSpPr>
          <p:cNvPr id="37" name="Text 35"/>
          <p:cNvSpPr txBox="1"/>
          <p:nvPr/>
        </p:nvSpPr>
        <p:spPr>
          <a:xfrm>
            <a:off x="6520586" y="3962095"/>
            <a:ext cx="510143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家族に周術期神経認知障害の</a:t>
            </a:r>
            <a:endParaRPr lang="ja-JP" sz="2200" dirty="0"/>
          </a:p>
        </p:txBody>
      </p:sp>
      <p:sp>
        <p:nvSpPr>
          <p:cNvPr id="38" name="Text 36"/>
          <p:cNvSpPr txBox="1"/>
          <p:nvPr/>
        </p:nvSpPr>
        <p:spPr>
          <a:xfrm>
            <a:off x="6520586" y="4297680"/>
            <a:ext cx="510143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リスクを説明</a:t>
            </a:r>
            <a:endParaRPr lang="ja-JP" sz="2200" dirty="0"/>
          </a:p>
        </p:txBody>
      </p:sp>
      <p:sp>
        <p:nvSpPr>
          <p:cNvPr id="39" name="Shape 37"/>
          <p:cNvSpPr/>
          <p:nvPr/>
        </p:nvSpPr>
        <p:spPr>
          <a:xfrm>
            <a:off x="6365138" y="4825289"/>
            <a:ext cx="91440" cy="91440"/>
          </a:xfrm>
          <a:prstGeom prst="ellipse">
            <a:avLst/>
          </a:prstGeom>
          <a:solidFill>
            <a:srgbClr val="D55E00"/>
          </a:solidFill>
          <a:ln/>
        </p:spPr>
      </p:sp>
      <p:sp>
        <p:nvSpPr>
          <p:cNvPr id="40" name="Text 38"/>
          <p:cNvSpPr txBox="1"/>
          <p:nvPr/>
        </p:nvSpPr>
        <p:spPr>
          <a:xfrm>
            <a:off x="6520586" y="4688129"/>
            <a:ext cx="5101438"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意思決定能力を確かめる（→ 4-5）</a:t>
            </a:r>
            <a:endParaRPr lang="ja-JP"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術後せん妄：リスクと予防</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フレイル</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認知</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機能</a:t>
            </a:r>
            <a:endParaRPr lang="ja-JP" sz="1050" dirty="0"/>
          </a:p>
        </p:txBody>
      </p:sp>
      <p:sp>
        <p:nvSpPr>
          <p:cNvPr id="6" name="Text 4"/>
          <p:cNvSpPr/>
          <p:nvPr/>
        </p:nvSpPr>
        <p:spPr>
          <a:xfrm>
            <a:off x="10030968"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せん妄</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薬と</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麻酔</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4</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Aldecoa C, et al. Eur J Anaesthesiol 2024;41:81-108 / American Geriatrics Society.</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J Am Geriatr Soc 2015;63:142-150 / Hshieh TT, et al. JAMA Intern Med 2015;175:512-520</a:t>
            </a:r>
            <a:endParaRPr lang="ja-JP" sz="1600" dirty="0"/>
          </a:p>
        </p:txBody>
      </p:sp>
      <p:sp>
        <p:nvSpPr>
          <p:cNvPr id="11" name="Text 9"/>
          <p:cNvSpPr/>
          <p:nvPr/>
        </p:nvSpPr>
        <p:spPr>
          <a:xfrm>
            <a:off x="502920" y="5468112"/>
            <a:ext cx="11183112" cy="420624"/>
          </a:xfrm>
          <a:prstGeom prst="roundRect">
            <a:avLst>
              <a:gd name="adj" fmla="val 21739"/>
            </a:avLst>
          </a:prstGeom>
          <a:solidFill>
            <a:srgbClr val="FFFFFF"/>
          </a:solidFill>
          <a:ln w="38100">
            <a:solidFill>
              <a:srgbClr val="00A8AA"/>
            </a:solidFill>
          </a:ln>
        </p:spPr>
        <p:txBody>
          <a:bodyPr wrap="square" lIns="73152" tIns="73152" rIns="73152" bIns="73152" rtlCol="0" anchor="ctr"/>
          <a:lstStyle/>
          <a:p>
            <a:pPr algn="ctr" indent="0" marL="0">
              <a:buNone/>
            </a:pPr>
            <a:r>
              <a:rPr lang="ja-JP" altLang="en-US" sz="2200" b="1" u="sng" dirty="0">
                <a:solidFill>
                  <a:srgbClr val="C00000"/>
                </a:solidFill>
                <a:latin typeface="メイリオ" pitchFamily="34" charset="0"/>
                <a:ea typeface="メイリオ" pitchFamily="34" charset="-122"/>
                <a:cs typeface="メイリオ" pitchFamily="34" charset="-120"/>
              </a:rPr>
              <a:t>半数以上が見逃される</a:t>
            </a:r>
            <a:r>
              <a:rPr lang="ja-JP" altLang="en-US" sz="2200" b="1" dirty="0">
                <a:solidFill>
                  <a:srgbClr val="262626"/>
                </a:solidFill>
                <a:latin typeface="メイリオ" pitchFamily="34" charset="0"/>
                <a:ea typeface="メイリオ" pitchFamily="34" charset="-122"/>
                <a:cs typeface="メイリオ" pitchFamily="34" charset="-120"/>
              </a:rPr>
              <a:t>（低活動型）。回復室を出る前と病棟でスクリーニング</a:t>
            </a:r>
            <a:endParaRPr lang="ja-JP" sz="2200" dirty="0"/>
          </a:p>
        </p:txBody>
      </p:sp>
      <p:sp>
        <p:nvSpPr>
          <p:cNvPr id="12" name="Shape 10"/>
          <p:cNvSpPr/>
          <p:nvPr/>
        </p:nvSpPr>
        <p:spPr>
          <a:xfrm>
            <a:off x="502920" y="1664208"/>
            <a:ext cx="5319979" cy="3584448"/>
          </a:xfrm>
          <a:prstGeom prst="roundRect">
            <a:avLst>
              <a:gd name="adj" fmla="val 2041"/>
            </a:avLst>
          </a:prstGeom>
          <a:solidFill>
            <a:srgbClr val="F2F2F2"/>
          </a:solidFill>
          <a:ln/>
        </p:spPr>
      </p:sp>
      <p:sp>
        <p:nvSpPr>
          <p:cNvPr id="13" name="Text 11"/>
          <p:cNvSpPr txBox="1"/>
          <p:nvPr/>
        </p:nvSpPr>
        <p:spPr>
          <a:xfrm>
            <a:off x="566928" y="1700784"/>
            <a:ext cx="5191963" cy="420624"/>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リスク因子</a:t>
            </a:r>
            <a:endParaRPr lang="ja-JP" sz="2400" dirty="0"/>
          </a:p>
        </p:txBody>
      </p:sp>
      <p:sp>
        <p:nvSpPr>
          <p:cNvPr id="14" name="Shape 12"/>
          <p:cNvSpPr/>
          <p:nvPr/>
        </p:nvSpPr>
        <p:spPr>
          <a:xfrm>
            <a:off x="594360" y="2173529"/>
            <a:ext cx="91440" cy="91440"/>
          </a:xfrm>
          <a:prstGeom prst="ellipse">
            <a:avLst/>
          </a:prstGeom>
          <a:solidFill>
            <a:srgbClr val="0072B2"/>
          </a:solidFill>
          <a:ln/>
        </p:spPr>
      </p:sp>
      <p:sp>
        <p:nvSpPr>
          <p:cNvPr id="15" name="Text 13"/>
          <p:cNvSpPr txBox="1"/>
          <p:nvPr/>
        </p:nvSpPr>
        <p:spPr>
          <a:xfrm>
            <a:off x="749808" y="2045513"/>
            <a:ext cx="5009083"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高齢、ASA-PS 3 以上、</a:t>
            </a:r>
            <a:endParaRPr lang="ja-JP" sz="2200" dirty="0"/>
          </a:p>
        </p:txBody>
      </p:sp>
      <p:sp>
        <p:nvSpPr>
          <p:cNvPr id="16" name="Text 14"/>
          <p:cNvSpPr txBox="1"/>
          <p:nvPr/>
        </p:nvSpPr>
        <p:spPr>
          <a:xfrm>
            <a:off x="749808" y="2352751"/>
            <a:ext cx="5009083"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Charlson 2 超、</a:t>
            </a:r>
            <a:endParaRPr lang="ja-JP" sz="2200" dirty="0"/>
          </a:p>
        </p:txBody>
      </p:sp>
      <p:sp>
        <p:nvSpPr>
          <p:cNvPr id="17" name="Text 15"/>
          <p:cNvSpPr txBox="1"/>
          <p:nvPr/>
        </p:nvSpPr>
        <p:spPr>
          <a:xfrm>
            <a:off x="749808" y="2659990"/>
            <a:ext cx="5009083"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MMSE 25 未満（ESAIC）</a:t>
            </a:r>
            <a:endParaRPr lang="ja-JP" sz="2200" dirty="0"/>
          </a:p>
        </p:txBody>
      </p:sp>
      <p:sp>
        <p:nvSpPr>
          <p:cNvPr id="18" name="Shape 16"/>
          <p:cNvSpPr/>
          <p:nvPr/>
        </p:nvSpPr>
        <p:spPr>
          <a:xfrm>
            <a:off x="594360" y="3096158"/>
            <a:ext cx="91440" cy="91440"/>
          </a:xfrm>
          <a:prstGeom prst="ellipse">
            <a:avLst/>
          </a:prstGeom>
          <a:solidFill>
            <a:srgbClr val="0072B2"/>
          </a:solidFill>
          <a:ln/>
        </p:spPr>
      </p:sp>
      <p:sp>
        <p:nvSpPr>
          <p:cNvPr id="19" name="Text 17"/>
          <p:cNvSpPr txBox="1"/>
          <p:nvPr/>
        </p:nvSpPr>
        <p:spPr>
          <a:xfrm>
            <a:off x="749808" y="2968142"/>
            <a:ext cx="5009083"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フレイル、感覚障害、低栄養、</a:t>
            </a:r>
            <a:endParaRPr lang="ja-JP" sz="2200" dirty="0"/>
          </a:p>
        </p:txBody>
      </p:sp>
      <p:sp>
        <p:nvSpPr>
          <p:cNvPr id="20" name="Text 18"/>
          <p:cNvSpPr txBox="1"/>
          <p:nvPr/>
        </p:nvSpPr>
        <p:spPr>
          <a:xfrm>
            <a:off x="749808" y="3275381"/>
            <a:ext cx="5009083"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多剤、貧血、社会的因子</a:t>
            </a:r>
            <a:endParaRPr lang="ja-JP" sz="2200" dirty="0"/>
          </a:p>
        </p:txBody>
      </p:sp>
      <p:sp>
        <p:nvSpPr>
          <p:cNvPr id="21" name="Shape 19"/>
          <p:cNvSpPr/>
          <p:nvPr/>
        </p:nvSpPr>
        <p:spPr>
          <a:xfrm>
            <a:off x="594360" y="3711550"/>
            <a:ext cx="91440" cy="91440"/>
          </a:xfrm>
          <a:prstGeom prst="ellipse">
            <a:avLst/>
          </a:prstGeom>
          <a:solidFill>
            <a:srgbClr val="0072B2"/>
          </a:solidFill>
          <a:ln/>
        </p:spPr>
      </p:sp>
      <p:sp>
        <p:nvSpPr>
          <p:cNvPr id="22" name="Text 20"/>
          <p:cNvSpPr txBox="1"/>
          <p:nvPr/>
        </p:nvSpPr>
        <p:spPr>
          <a:xfrm>
            <a:off x="749808" y="3583534"/>
            <a:ext cx="5009083"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せん妄の既往、アルコール多飲、</a:t>
            </a:r>
            <a:endParaRPr lang="ja-JP" sz="2200" dirty="0"/>
          </a:p>
        </p:txBody>
      </p:sp>
      <p:sp>
        <p:nvSpPr>
          <p:cNvPr id="23" name="Text 21"/>
          <p:cNvSpPr txBox="1"/>
          <p:nvPr/>
        </p:nvSpPr>
        <p:spPr>
          <a:xfrm>
            <a:off x="749808" y="3890772"/>
            <a:ext cx="5009083"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ベンゾジアゼピン、全身麻酔の手術</a:t>
            </a:r>
            <a:endParaRPr lang="ja-JP" sz="2200" dirty="0"/>
          </a:p>
        </p:txBody>
      </p:sp>
      <p:sp>
        <p:nvSpPr>
          <p:cNvPr id="24" name="Text 22"/>
          <p:cNvSpPr txBox="1"/>
          <p:nvPr/>
        </p:nvSpPr>
        <p:spPr>
          <a:xfrm>
            <a:off x="749808" y="4198010"/>
            <a:ext cx="5009083"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（国内の加算）</a:t>
            </a:r>
            <a:endParaRPr lang="ja-JP" sz="2200" dirty="0"/>
          </a:p>
        </p:txBody>
      </p:sp>
      <p:sp>
        <p:nvSpPr>
          <p:cNvPr id="25" name="Shape 23"/>
          <p:cNvSpPr/>
          <p:nvPr/>
        </p:nvSpPr>
        <p:spPr>
          <a:xfrm>
            <a:off x="594360" y="4635094"/>
            <a:ext cx="91440" cy="91440"/>
          </a:xfrm>
          <a:prstGeom prst="ellipse">
            <a:avLst/>
          </a:prstGeom>
          <a:solidFill>
            <a:srgbClr val="0072B2"/>
          </a:solidFill>
          <a:ln/>
        </p:spPr>
      </p:sp>
      <p:sp>
        <p:nvSpPr>
          <p:cNvPr id="26" name="Text 24"/>
          <p:cNvSpPr txBox="1"/>
          <p:nvPr/>
        </p:nvSpPr>
        <p:spPr>
          <a:xfrm>
            <a:off x="749808" y="4507078"/>
            <a:ext cx="5009083"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大腿骨近位部骨折 </a:t>
            </a:r>
            <a:r>
              <a:rPr lang="ja-JP" altLang="en-US" sz="2200" b="1" dirty="0">
                <a:solidFill>
                  <a:srgbClr val="D55E00"/>
                </a:solidFill>
                <a:latin typeface="メイリオ" pitchFamily="34" charset="0"/>
                <a:ea typeface="メイリオ" pitchFamily="34" charset="-122"/>
                <a:cs typeface="メイリオ" pitchFamily="34" charset="-120"/>
              </a:rPr>
              <a:t>35〜65%</a:t>
            </a:r>
            <a:r>
              <a:rPr lang="ja-JP" altLang="en-US" sz="2200" dirty="0">
                <a:solidFill>
                  <a:srgbClr val="262626"/>
                </a:solidFill>
                <a:latin typeface="メイリオ" pitchFamily="34" charset="0"/>
                <a:ea typeface="メイリオ" pitchFamily="34" charset="-122"/>
                <a:cs typeface="メイリオ" pitchFamily="34" charset="-120"/>
              </a:rPr>
              <a:t>、</a:t>
            </a:r>
            <a:endParaRPr lang="ja-JP" sz="2200" dirty="0"/>
          </a:p>
        </p:txBody>
      </p:sp>
      <p:sp>
        <p:nvSpPr>
          <p:cNvPr id="27" name="Text 25"/>
          <p:cNvSpPr txBox="1"/>
          <p:nvPr/>
        </p:nvSpPr>
        <p:spPr>
          <a:xfrm>
            <a:off x="749808" y="4814316"/>
            <a:ext cx="5009083"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大手術 </a:t>
            </a:r>
            <a:r>
              <a:rPr lang="ja-JP" altLang="en-US" sz="2200" b="1" dirty="0">
                <a:solidFill>
                  <a:srgbClr val="D55E00"/>
                </a:solidFill>
                <a:latin typeface="メイリオ" pitchFamily="34" charset="0"/>
                <a:ea typeface="メイリオ" pitchFamily="34" charset="-122"/>
                <a:cs typeface="メイリオ" pitchFamily="34" charset="-120"/>
              </a:rPr>
              <a:t>20〜40%</a:t>
            </a:r>
            <a:endParaRPr lang="ja-JP" sz="2200" dirty="0"/>
          </a:p>
        </p:txBody>
      </p:sp>
      <p:sp>
        <p:nvSpPr>
          <p:cNvPr id="28" name="Shape 26"/>
          <p:cNvSpPr/>
          <p:nvPr/>
        </p:nvSpPr>
        <p:spPr>
          <a:xfrm>
            <a:off x="6042355" y="1664208"/>
            <a:ext cx="5643677" cy="3584448"/>
          </a:xfrm>
          <a:prstGeom prst="roundRect">
            <a:avLst>
              <a:gd name="adj" fmla="val 2041"/>
            </a:avLst>
          </a:prstGeom>
          <a:solidFill>
            <a:srgbClr val="F2F2F2"/>
          </a:solidFill>
          <a:ln/>
        </p:spPr>
      </p:sp>
      <p:sp>
        <p:nvSpPr>
          <p:cNvPr id="29" name="Text 27"/>
          <p:cNvSpPr txBox="1"/>
          <p:nvPr/>
        </p:nvSpPr>
        <p:spPr>
          <a:xfrm>
            <a:off x="6106363" y="1700784"/>
            <a:ext cx="5515661" cy="420624"/>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予防（AGS 2015・ESAIC 2024）</a:t>
            </a:r>
            <a:endParaRPr lang="ja-JP" sz="2400" dirty="0"/>
          </a:p>
        </p:txBody>
      </p:sp>
      <p:sp>
        <p:nvSpPr>
          <p:cNvPr id="30" name="Shape 28"/>
          <p:cNvSpPr/>
          <p:nvPr/>
        </p:nvSpPr>
        <p:spPr>
          <a:xfrm>
            <a:off x="6133795" y="2173529"/>
            <a:ext cx="91440" cy="91440"/>
          </a:xfrm>
          <a:prstGeom prst="ellipse">
            <a:avLst/>
          </a:prstGeom>
          <a:solidFill>
            <a:srgbClr val="D55E00"/>
          </a:solidFill>
          <a:ln/>
        </p:spPr>
      </p:sp>
      <p:sp>
        <p:nvSpPr>
          <p:cNvPr id="31" name="Text 29"/>
          <p:cNvSpPr txBox="1"/>
          <p:nvPr/>
        </p:nvSpPr>
        <p:spPr>
          <a:xfrm>
            <a:off x="6289243" y="2045513"/>
            <a:ext cx="5332781" cy="374904"/>
          </a:xfrm>
          <a:prstGeom prst="rect">
            <a:avLst/>
          </a:prstGeom>
          <a:noFill/>
          <a:ln/>
        </p:spPr>
        <p:txBody>
          <a:bodyPr wrap="square" lIns="0" tIns="0" rIns="0" bIns="0" rtlCol="0" anchor="t"/>
          <a:lstStyle/>
          <a:p>
            <a:pPr algn="l" indent="0" marL="0">
              <a:buNone/>
            </a:pPr>
            <a:r>
              <a:rPr lang="ja-JP" altLang="en-US" sz="2200" b="1" dirty="0">
                <a:solidFill>
                  <a:srgbClr val="D55E00"/>
                </a:solidFill>
                <a:latin typeface="メイリオ" pitchFamily="34" charset="0"/>
                <a:ea typeface="メイリオ" pitchFamily="34" charset="-122"/>
                <a:cs typeface="メイリオ" pitchFamily="34" charset="-120"/>
              </a:rPr>
              <a:t>多因子の非薬物的介入</a:t>
            </a:r>
            <a:r>
              <a:rPr lang="ja-JP" altLang="en-US" sz="2200" dirty="0">
                <a:solidFill>
                  <a:srgbClr val="262626"/>
                </a:solidFill>
                <a:latin typeface="メイリオ" pitchFamily="34" charset="0"/>
                <a:ea typeface="メイリオ" pitchFamily="34" charset="-122"/>
                <a:cs typeface="メイリオ" pitchFamily="34" charset="-120"/>
              </a:rPr>
              <a:t>（強い推奨）：</a:t>
            </a:r>
            <a:endParaRPr lang="ja-JP" sz="2200" dirty="0"/>
          </a:p>
        </p:txBody>
      </p:sp>
      <p:sp>
        <p:nvSpPr>
          <p:cNvPr id="32" name="Text 30"/>
          <p:cNvSpPr txBox="1"/>
          <p:nvPr/>
        </p:nvSpPr>
        <p:spPr>
          <a:xfrm>
            <a:off x="6289243" y="2352751"/>
            <a:ext cx="5332781"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見当識、睡眠、早期離床、</a:t>
            </a:r>
            <a:endParaRPr lang="ja-JP" sz="2200" dirty="0"/>
          </a:p>
        </p:txBody>
      </p:sp>
      <p:sp>
        <p:nvSpPr>
          <p:cNvPr id="33" name="Text 31"/>
          <p:cNvSpPr txBox="1"/>
          <p:nvPr/>
        </p:nvSpPr>
        <p:spPr>
          <a:xfrm>
            <a:off x="6289243" y="2659990"/>
            <a:ext cx="5332781"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眼鏡・補聴器、水分・栄養、鎮痛、</a:t>
            </a:r>
            <a:endParaRPr lang="ja-JP" sz="2200" dirty="0"/>
          </a:p>
        </p:txBody>
      </p:sp>
      <p:sp>
        <p:nvSpPr>
          <p:cNvPr id="34" name="Text 32"/>
          <p:cNvSpPr txBox="1"/>
          <p:nvPr/>
        </p:nvSpPr>
        <p:spPr>
          <a:xfrm>
            <a:off x="6289243" y="2967228"/>
            <a:ext cx="5332781"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薬の見直し、酸素化、便秘</a:t>
            </a:r>
            <a:endParaRPr lang="ja-JP" sz="2200" dirty="0"/>
          </a:p>
        </p:txBody>
      </p:sp>
      <p:sp>
        <p:nvSpPr>
          <p:cNvPr id="35" name="Shape 33"/>
          <p:cNvSpPr/>
          <p:nvPr/>
        </p:nvSpPr>
        <p:spPr>
          <a:xfrm>
            <a:off x="6133795" y="3403397"/>
            <a:ext cx="91440" cy="91440"/>
          </a:xfrm>
          <a:prstGeom prst="ellipse">
            <a:avLst/>
          </a:prstGeom>
          <a:solidFill>
            <a:srgbClr val="D55E00"/>
          </a:solidFill>
          <a:ln/>
        </p:spPr>
      </p:sp>
      <p:sp>
        <p:nvSpPr>
          <p:cNvPr id="36" name="Text 34"/>
          <p:cNvSpPr txBox="1"/>
          <p:nvPr/>
        </p:nvSpPr>
        <p:spPr>
          <a:xfrm>
            <a:off x="6289243" y="3275381"/>
            <a:ext cx="5332781"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せん妄のオッズ </a:t>
            </a:r>
            <a:r>
              <a:rPr lang="ja-JP" altLang="en-US" sz="2200" b="1" dirty="0">
                <a:solidFill>
                  <a:srgbClr val="D55E00"/>
                </a:solidFill>
                <a:latin typeface="メイリオ" pitchFamily="34" charset="0"/>
                <a:ea typeface="メイリオ" pitchFamily="34" charset="-122"/>
                <a:cs typeface="メイリオ" pitchFamily="34" charset="-120"/>
              </a:rPr>
              <a:t>44% 減</a:t>
            </a:r>
            <a:r>
              <a:rPr lang="ja-JP" altLang="en-US" sz="2200" dirty="0">
                <a:solidFill>
                  <a:srgbClr val="262626"/>
                </a:solidFill>
                <a:latin typeface="メイリオ" pitchFamily="34" charset="0"/>
                <a:ea typeface="メイリオ" pitchFamily="34" charset="-122"/>
                <a:cs typeface="メイリオ" pitchFamily="34" charset="-120"/>
              </a:rPr>
              <a:t>（メタ解析）</a:t>
            </a:r>
            <a:endParaRPr lang="ja-JP" sz="2200" dirty="0"/>
          </a:p>
        </p:txBody>
      </p:sp>
      <p:sp>
        <p:nvSpPr>
          <p:cNvPr id="37" name="Shape 35"/>
          <p:cNvSpPr/>
          <p:nvPr/>
        </p:nvSpPr>
        <p:spPr>
          <a:xfrm>
            <a:off x="6133795" y="3711550"/>
            <a:ext cx="91440" cy="91440"/>
          </a:xfrm>
          <a:prstGeom prst="ellipse">
            <a:avLst/>
          </a:prstGeom>
          <a:solidFill>
            <a:srgbClr val="D55E00"/>
          </a:solidFill>
          <a:ln/>
        </p:spPr>
      </p:sp>
      <p:sp>
        <p:nvSpPr>
          <p:cNvPr id="38" name="Text 36"/>
          <p:cNvSpPr txBox="1"/>
          <p:nvPr/>
        </p:nvSpPr>
        <p:spPr>
          <a:xfrm>
            <a:off x="6289243" y="3583534"/>
            <a:ext cx="5332781"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老年科医の関与 </a:t>
            </a:r>
            <a:r>
              <a:rPr lang="ja-JP" altLang="en-US" sz="2200" b="1" dirty="0">
                <a:solidFill>
                  <a:srgbClr val="D55E00"/>
                </a:solidFill>
                <a:latin typeface="メイリオ" pitchFamily="34" charset="0"/>
                <a:ea typeface="メイリオ" pitchFamily="34" charset="-122"/>
                <a:cs typeface="メイリオ" pitchFamily="34" charset="-120"/>
              </a:rPr>
              <a:t>32% 対 50%</a:t>
            </a:r>
            <a:r>
              <a:rPr lang="ja-JP" altLang="en-US" sz="2200" dirty="0">
                <a:solidFill>
                  <a:srgbClr val="262626"/>
                </a:solidFill>
                <a:latin typeface="メイリオ" pitchFamily="34" charset="0"/>
                <a:ea typeface="メイリオ" pitchFamily="34" charset="-122"/>
                <a:cs typeface="メイリオ" pitchFamily="34" charset="-120"/>
              </a:rPr>
              <a:t>（骨折）</a:t>
            </a:r>
            <a:endParaRPr lang="ja-JP" sz="2200" dirty="0"/>
          </a:p>
        </p:txBody>
      </p:sp>
      <p:sp>
        <p:nvSpPr>
          <p:cNvPr id="39" name="Shape 37"/>
          <p:cNvSpPr/>
          <p:nvPr/>
        </p:nvSpPr>
        <p:spPr>
          <a:xfrm>
            <a:off x="6133795" y="4019702"/>
            <a:ext cx="91440" cy="91440"/>
          </a:xfrm>
          <a:prstGeom prst="ellipse">
            <a:avLst/>
          </a:prstGeom>
          <a:solidFill>
            <a:srgbClr val="D55E00"/>
          </a:solidFill>
          <a:ln/>
        </p:spPr>
      </p:sp>
      <p:sp>
        <p:nvSpPr>
          <p:cNvPr id="40" name="Text 38"/>
          <p:cNvSpPr txBox="1"/>
          <p:nvPr/>
        </p:nvSpPr>
        <p:spPr>
          <a:xfrm>
            <a:off x="6289243" y="3891686"/>
            <a:ext cx="5332781" cy="374904"/>
          </a:xfrm>
          <a:prstGeom prst="rect">
            <a:avLst/>
          </a:prstGeom>
          <a:noFill/>
          <a:ln/>
        </p:spPr>
        <p:txBody>
          <a:bodyPr wrap="square" lIns="0" tIns="0" rIns="0" bIns="0" rtlCol="0" anchor="t"/>
          <a:lstStyle/>
          <a:p>
            <a:pPr algn="l" indent="0" marL="0">
              <a:buNone/>
            </a:pPr>
            <a:r>
              <a:rPr lang="ja-JP" altLang="en-US" sz="2200" b="1" u="sng" dirty="0">
                <a:solidFill>
                  <a:srgbClr val="C00000"/>
                </a:solidFill>
                <a:latin typeface="メイリオ" pitchFamily="34" charset="0"/>
                <a:ea typeface="メイリオ" pitchFamily="34" charset="-122"/>
                <a:cs typeface="メイリオ" pitchFamily="34" charset="-120"/>
              </a:rPr>
              <a:t>予防薬は勧めない</a:t>
            </a:r>
            <a:r>
              <a:rPr lang="ja-JP" altLang="en-US" sz="2200" dirty="0">
                <a:solidFill>
                  <a:srgbClr val="262626"/>
                </a:solidFill>
                <a:latin typeface="メイリオ" pitchFamily="34" charset="0"/>
                <a:ea typeface="メイリオ" pitchFamily="34" charset="-122"/>
                <a:cs typeface="メイリオ" pitchFamily="34" charset="-120"/>
              </a:rPr>
              <a:t>（ESAIC 弱）。</a:t>
            </a:r>
            <a:endParaRPr lang="ja-JP" sz="2200" dirty="0"/>
          </a:p>
        </p:txBody>
      </p:sp>
      <p:sp>
        <p:nvSpPr>
          <p:cNvPr id="41" name="Text 39"/>
          <p:cNvSpPr txBox="1"/>
          <p:nvPr/>
        </p:nvSpPr>
        <p:spPr>
          <a:xfrm>
            <a:off x="6289243" y="4198925"/>
            <a:ext cx="5332781"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抗精神病薬は根拠不十分、</a:t>
            </a:r>
            <a:endParaRPr lang="ja-JP" sz="2200" dirty="0"/>
          </a:p>
        </p:txBody>
      </p:sp>
      <p:sp>
        <p:nvSpPr>
          <p:cNvPr id="42" name="Text 40"/>
          <p:cNvSpPr txBox="1"/>
          <p:nvPr/>
        </p:nvSpPr>
        <p:spPr>
          <a:xfrm>
            <a:off x="6289243" y="4507078"/>
            <a:ext cx="5332781"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コリンエステラーゼ阻害薬は</a:t>
            </a:r>
            <a:endParaRPr lang="ja-JP" sz="2200" dirty="0"/>
          </a:p>
        </p:txBody>
      </p:sp>
      <p:sp>
        <p:nvSpPr>
          <p:cNvPr id="43" name="Text 41"/>
          <p:cNvSpPr txBox="1"/>
          <p:nvPr/>
        </p:nvSpPr>
        <p:spPr>
          <a:xfrm>
            <a:off x="6289243" y="4814316"/>
            <a:ext cx="5332781"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始めない（AGS 強）</a:t>
            </a:r>
            <a:endParaRPr lang="ja-JP"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避ける薬と麻酔の調節</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フレイル</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認知</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機能</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せん妄</a:t>
            </a:r>
            <a:endParaRPr lang="ja-JP" sz="1050" dirty="0"/>
          </a:p>
        </p:txBody>
      </p:sp>
      <p:sp>
        <p:nvSpPr>
          <p:cNvPr id="7" name="Text 5"/>
          <p:cNvSpPr/>
          <p:nvPr/>
        </p:nvSpPr>
        <p:spPr>
          <a:xfrm>
            <a:off x="10707624"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薬と</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麻酔</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5</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2023 AGS Beers Criteria Update Expert Panel. J Am Geriatr Soc 2023;71:2052-2081 / Berger</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M, et al. Anesth Analg 2018;127:1406-1413 / Mapleson WW. Br J Anaesth 1996;76:179-185</a:t>
            </a:r>
            <a:endParaRPr lang="ja-JP" sz="1600" dirty="0"/>
          </a:p>
        </p:txBody>
      </p:sp>
      <p:sp>
        <p:nvSpPr>
          <p:cNvPr id="11" name="Shape 9"/>
          <p:cNvSpPr/>
          <p:nvPr/>
        </p:nvSpPr>
        <p:spPr>
          <a:xfrm>
            <a:off x="502920" y="5158130"/>
            <a:ext cx="11183112" cy="730606"/>
          </a:xfrm>
          <a:prstGeom prst="roundRect">
            <a:avLst>
              <a:gd name="adj" fmla="val 12516"/>
            </a:avLst>
          </a:prstGeom>
          <a:solidFill>
            <a:srgbClr val="FFFFFF"/>
          </a:solidFill>
          <a:ln w="38100">
            <a:solidFill>
              <a:srgbClr val="00A8AA"/>
            </a:solidFill>
            <a:prstDash val="solid"/>
          </a:ln>
        </p:spPr>
      </p:sp>
      <p:sp>
        <p:nvSpPr>
          <p:cNvPr id="12" name="Text 10"/>
          <p:cNvSpPr txBox="1"/>
          <p:nvPr/>
        </p:nvSpPr>
        <p:spPr>
          <a:xfrm>
            <a:off x="640080" y="5182819"/>
            <a:ext cx="10908792" cy="374904"/>
          </a:xfrm>
          <a:prstGeom prst="rect">
            <a:avLst/>
          </a:prstGeom>
          <a:noFill/>
          <a:ln/>
        </p:spPr>
        <p:txBody>
          <a:bodyPr wrap="square" lIns="0" tIns="0" rIns="0" bIns="0" rtlCol="0" anchor="t"/>
          <a:lstStyle/>
          <a:p>
            <a:pPr algn="ctr" indent="0" marL="0">
              <a:buNone/>
            </a:pPr>
            <a:r>
              <a:rPr lang="ja-JP" altLang="en-US" sz="2200" b="1" dirty="0">
                <a:solidFill>
                  <a:srgbClr val="262626"/>
                </a:solidFill>
                <a:latin typeface="メイリオ" pitchFamily="34" charset="0"/>
                <a:ea typeface="メイリオ" pitchFamily="34" charset="-122"/>
                <a:cs typeface="メイリオ" pitchFamily="34" charset="-120"/>
              </a:rPr>
              <a:t>常用薬 </a:t>
            </a:r>
            <a:r>
              <a:rPr lang="ja-JP" altLang="en-US" sz="2200" b="1" dirty="0">
                <a:solidFill>
                  <a:srgbClr val="D55E00"/>
                </a:solidFill>
                <a:latin typeface="メイリオ" pitchFamily="34" charset="0"/>
                <a:ea typeface="メイリオ" pitchFamily="34" charset="-122"/>
                <a:cs typeface="メイリオ" pitchFamily="34" charset="-120"/>
              </a:rPr>
              <a:t>5〜6 剤以上</a:t>
            </a:r>
            <a:r>
              <a:rPr lang="ja-JP" altLang="en-US" sz="2200" b="1" dirty="0">
                <a:solidFill>
                  <a:srgbClr val="262626"/>
                </a:solidFill>
                <a:latin typeface="メイリオ" pitchFamily="34" charset="0"/>
                <a:ea typeface="メイリオ" pitchFamily="34" charset="-122"/>
                <a:cs typeface="メイリオ" pitchFamily="34" charset="-120"/>
              </a:rPr>
              <a:t>は転倒・有害事象が増える。</a:t>
            </a:r>
            <a:endParaRPr lang="ja-JP" sz="2200" dirty="0"/>
          </a:p>
        </p:txBody>
      </p:sp>
      <p:sp>
        <p:nvSpPr>
          <p:cNvPr id="13" name="Text 11"/>
          <p:cNvSpPr txBox="1"/>
          <p:nvPr/>
        </p:nvSpPr>
        <p:spPr>
          <a:xfrm>
            <a:off x="640080" y="5490972"/>
            <a:ext cx="10908792" cy="374904"/>
          </a:xfrm>
          <a:prstGeom prst="rect">
            <a:avLst/>
          </a:prstGeom>
          <a:noFill/>
          <a:ln/>
        </p:spPr>
        <p:txBody>
          <a:bodyPr wrap="square" lIns="0" tIns="0" rIns="0" bIns="0" rtlCol="0" anchor="t"/>
          <a:lstStyle/>
          <a:p>
            <a:pPr algn="ctr" indent="0" marL="0">
              <a:buNone/>
            </a:pPr>
            <a:r>
              <a:rPr lang="ja-JP" altLang="en-US" sz="2200" b="1" dirty="0">
                <a:solidFill>
                  <a:srgbClr val="0072B2"/>
                </a:solidFill>
                <a:latin typeface="メイリオ" pitchFamily="34" charset="0"/>
                <a:ea typeface="メイリオ" pitchFamily="34" charset="-122"/>
                <a:cs typeface="メイリオ" pitchFamily="34" charset="-120"/>
              </a:rPr>
              <a:t>お薬手帳</a:t>
            </a:r>
            <a:r>
              <a:rPr lang="ja-JP" altLang="en-US" sz="2200" b="1" dirty="0">
                <a:solidFill>
                  <a:srgbClr val="262626"/>
                </a:solidFill>
                <a:latin typeface="メイリオ" pitchFamily="34" charset="0"/>
                <a:ea typeface="メイリオ" pitchFamily="34" charset="-122"/>
                <a:cs typeface="メイリオ" pitchFamily="34" charset="-120"/>
              </a:rPr>
              <a:t>で睡眠薬・抗コリン薬・市販薬まで確認</a:t>
            </a:r>
            <a:endParaRPr lang="ja-JP" sz="2200" dirty="0"/>
          </a:p>
        </p:txBody>
      </p:sp>
      <p:sp>
        <p:nvSpPr>
          <p:cNvPr id="14" name="Shape 12"/>
          <p:cNvSpPr/>
          <p:nvPr/>
        </p:nvSpPr>
        <p:spPr>
          <a:xfrm>
            <a:off x="502920" y="1664208"/>
            <a:ext cx="5945429" cy="3274466"/>
          </a:xfrm>
          <a:prstGeom prst="roundRect">
            <a:avLst>
              <a:gd name="adj" fmla="val 2234"/>
            </a:avLst>
          </a:prstGeom>
          <a:solidFill>
            <a:srgbClr val="F2F2F2"/>
          </a:solidFill>
          <a:ln/>
        </p:spPr>
      </p:sp>
      <p:sp>
        <p:nvSpPr>
          <p:cNvPr id="15" name="Text 13"/>
          <p:cNvSpPr txBox="1"/>
          <p:nvPr/>
        </p:nvSpPr>
        <p:spPr>
          <a:xfrm>
            <a:off x="566928" y="1700784"/>
            <a:ext cx="5817413" cy="420624"/>
          </a:xfrm>
          <a:prstGeom prst="rect">
            <a:avLst/>
          </a:prstGeom>
          <a:noFill/>
          <a:ln/>
        </p:spPr>
        <p:txBody>
          <a:bodyPr wrap="square" lIns="0" tIns="0" rIns="0" bIns="0" rtlCol="0" anchor="t"/>
          <a:lstStyle/>
          <a:p>
            <a:pPr algn="l" indent="0" marL="0">
              <a:buNone/>
            </a:pPr>
            <a:r>
              <a:rPr lang="ja-JP" altLang="en-US" sz="2400" b="1" dirty="0">
                <a:solidFill>
                  <a:srgbClr val="D55E00"/>
                </a:solidFill>
                <a:latin typeface="メイリオ" pitchFamily="34" charset="0"/>
                <a:ea typeface="メイリオ" pitchFamily="34" charset="-122"/>
                <a:cs typeface="メイリオ" pitchFamily="34" charset="-120"/>
              </a:rPr>
              <a:t>避ける・慎重に（AGS・Beers）</a:t>
            </a:r>
            <a:endParaRPr lang="ja-JP" sz="2400" dirty="0"/>
          </a:p>
        </p:txBody>
      </p:sp>
      <p:sp>
        <p:nvSpPr>
          <p:cNvPr id="16" name="Shape 14"/>
          <p:cNvSpPr/>
          <p:nvPr/>
        </p:nvSpPr>
        <p:spPr>
          <a:xfrm>
            <a:off x="594360" y="2173529"/>
            <a:ext cx="91440" cy="91440"/>
          </a:xfrm>
          <a:prstGeom prst="ellipse">
            <a:avLst/>
          </a:prstGeom>
          <a:solidFill>
            <a:srgbClr val="D55E00"/>
          </a:solidFill>
          <a:ln/>
        </p:spPr>
      </p:sp>
      <p:sp>
        <p:nvSpPr>
          <p:cNvPr id="17" name="Text 15"/>
          <p:cNvSpPr txBox="1"/>
          <p:nvPr/>
        </p:nvSpPr>
        <p:spPr>
          <a:xfrm>
            <a:off x="749808" y="2045513"/>
            <a:ext cx="5634533"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ベンゾジアゼピン</a:t>
            </a:r>
            <a:endParaRPr lang="ja-JP" sz="2200" dirty="0"/>
          </a:p>
        </p:txBody>
      </p:sp>
      <p:sp>
        <p:nvSpPr>
          <p:cNvPr id="18" name="Text 16"/>
          <p:cNvSpPr txBox="1"/>
          <p:nvPr/>
        </p:nvSpPr>
        <p:spPr>
          <a:xfrm>
            <a:off x="749808" y="2352751"/>
            <a:ext cx="5634533"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（ミダゾラム、ジアゼパム）</a:t>
            </a:r>
            <a:endParaRPr lang="ja-JP" sz="2200" dirty="0"/>
          </a:p>
        </p:txBody>
      </p:sp>
      <p:sp>
        <p:nvSpPr>
          <p:cNvPr id="19" name="Shape 17"/>
          <p:cNvSpPr/>
          <p:nvPr/>
        </p:nvSpPr>
        <p:spPr>
          <a:xfrm>
            <a:off x="594360" y="2788006"/>
            <a:ext cx="91440" cy="91440"/>
          </a:xfrm>
          <a:prstGeom prst="ellipse">
            <a:avLst/>
          </a:prstGeom>
          <a:solidFill>
            <a:srgbClr val="D55E00"/>
          </a:solidFill>
          <a:ln/>
        </p:spPr>
      </p:sp>
      <p:sp>
        <p:nvSpPr>
          <p:cNvPr id="20" name="Text 18"/>
          <p:cNvSpPr txBox="1"/>
          <p:nvPr/>
        </p:nvSpPr>
        <p:spPr>
          <a:xfrm>
            <a:off x="749808" y="2659990"/>
            <a:ext cx="5634533"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抗コリン：スコポラミン、アトロピン、</a:t>
            </a:r>
            <a:endParaRPr lang="ja-JP" sz="2200" dirty="0"/>
          </a:p>
        </p:txBody>
      </p:sp>
      <p:sp>
        <p:nvSpPr>
          <p:cNvPr id="21" name="Text 19"/>
          <p:cNvSpPr txBox="1"/>
          <p:nvPr/>
        </p:nvSpPr>
        <p:spPr>
          <a:xfrm>
            <a:off x="749808" y="2967228"/>
            <a:ext cx="5634533"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プロメタジン、ヒドロキシジン</a:t>
            </a:r>
            <a:endParaRPr lang="ja-JP" sz="2200" dirty="0"/>
          </a:p>
        </p:txBody>
      </p:sp>
      <p:sp>
        <p:nvSpPr>
          <p:cNvPr id="22" name="Shape 20"/>
          <p:cNvSpPr/>
          <p:nvPr/>
        </p:nvSpPr>
        <p:spPr>
          <a:xfrm>
            <a:off x="594360" y="3402482"/>
            <a:ext cx="91440" cy="91440"/>
          </a:xfrm>
          <a:prstGeom prst="ellipse">
            <a:avLst/>
          </a:prstGeom>
          <a:solidFill>
            <a:srgbClr val="D55E00"/>
          </a:solidFill>
          <a:ln/>
        </p:spPr>
      </p:sp>
      <p:sp>
        <p:nvSpPr>
          <p:cNvPr id="23" name="Text 21"/>
          <p:cNvSpPr txBox="1"/>
          <p:nvPr/>
        </p:nvSpPr>
        <p:spPr>
          <a:xfrm>
            <a:off x="749808" y="3274466"/>
            <a:ext cx="5634533"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ジフェンヒドラミン、H2 遮断薬</a:t>
            </a:r>
            <a:endParaRPr lang="ja-JP" sz="2200" dirty="0"/>
          </a:p>
        </p:txBody>
      </p:sp>
      <p:sp>
        <p:nvSpPr>
          <p:cNvPr id="24" name="Text 22"/>
          <p:cNvSpPr txBox="1"/>
          <p:nvPr/>
        </p:nvSpPr>
        <p:spPr>
          <a:xfrm>
            <a:off x="749808" y="3581705"/>
            <a:ext cx="5634533"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（ファモチジンも）、メトクロプラミド</a:t>
            </a:r>
            <a:endParaRPr lang="ja-JP" sz="2200" dirty="0"/>
          </a:p>
        </p:txBody>
      </p:sp>
      <p:sp>
        <p:nvSpPr>
          <p:cNvPr id="25" name="Shape 23"/>
          <p:cNvSpPr/>
          <p:nvPr/>
        </p:nvSpPr>
        <p:spPr>
          <a:xfrm>
            <a:off x="594360" y="4016959"/>
            <a:ext cx="91440" cy="91440"/>
          </a:xfrm>
          <a:prstGeom prst="ellipse">
            <a:avLst/>
          </a:prstGeom>
          <a:solidFill>
            <a:srgbClr val="D55E00"/>
          </a:solidFill>
          <a:ln/>
        </p:spPr>
      </p:sp>
      <p:sp>
        <p:nvSpPr>
          <p:cNvPr id="26" name="Text 24"/>
          <p:cNvSpPr txBox="1"/>
          <p:nvPr/>
        </p:nvSpPr>
        <p:spPr>
          <a:xfrm>
            <a:off x="749808" y="3888943"/>
            <a:ext cx="5634533"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ペチジン、ハロペリドールの予防投与</a:t>
            </a:r>
            <a:endParaRPr lang="ja-JP" sz="2200" dirty="0"/>
          </a:p>
        </p:txBody>
      </p:sp>
      <p:sp>
        <p:nvSpPr>
          <p:cNvPr id="27" name="Shape 25"/>
          <p:cNvSpPr/>
          <p:nvPr/>
        </p:nvSpPr>
        <p:spPr>
          <a:xfrm>
            <a:off x="594360" y="4324198"/>
            <a:ext cx="91440" cy="91440"/>
          </a:xfrm>
          <a:prstGeom prst="ellipse">
            <a:avLst/>
          </a:prstGeom>
          <a:solidFill>
            <a:srgbClr val="D55E00"/>
          </a:solidFill>
          <a:ln/>
        </p:spPr>
      </p:sp>
      <p:sp>
        <p:nvSpPr>
          <p:cNvPr id="28" name="Text 26"/>
          <p:cNvSpPr txBox="1"/>
          <p:nvPr/>
        </p:nvSpPr>
        <p:spPr>
          <a:xfrm>
            <a:off x="749808" y="4196182"/>
            <a:ext cx="5634533" cy="374904"/>
          </a:xfrm>
          <a:prstGeom prst="rect">
            <a:avLst/>
          </a:prstGeom>
          <a:noFill/>
          <a:ln/>
        </p:spPr>
        <p:txBody>
          <a:bodyPr wrap="square" lIns="0" tIns="0" rIns="0" bIns="0" rtlCol="0" anchor="t"/>
          <a:lstStyle/>
          <a:p>
            <a:pPr algn="l" indent="0" marL="0">
              <a:buNone/>
            </a:pPr>
            <a:r>
              <a:rPr lang="ja-JP" altLang="en-US" sz="2200" b="1" dirty="0">
                <a:solidFill>
                  <a:srgbClr val="0072B2"/>
                </a:solidFill>
                <a:latin typeface="メイリオ" pitchFamily="34" charset="0"/>
                <a:ea typeface="メイリオ" pitchFamily="34" charset="-122"/>
                <a:cs typeface="メイリオ" pitchFamily="34" charset="-120"/>
              </a:rPr>
              <a:t>例外：</a:t>
            </a:r>
            <a:r>
              <a:rPr lang="ja-JP" altLang="en-US" sz="2200" dirty="0">
                <a:solidFill>
                  <a:srgbClr val="262626"/>
                </a:solidFill>
                <a:latin typeface="メイリオ" pitchFamily="34" charset="0"/>
                <a:ea typeface="メイリオ" pitchFamily="34" charset="-122"/>
                <a:cs typeface="メイリオ" pitchFamily="34" charset="-120"/>
              </a:rPr>
              <a:t>離脱予防のベンゾジアゼピン、</a:t>
            </a:r>
            <a:endParaRPr lang="ja-JP" sz="2200" dirty="0"/>
          </a:p>
        </p:txBody>
      </p:sp>
      <p:sp>
        <p:nvSpPr>
          <p:cNvPr id="29" name="Text 27"/>
          <p:cNvSpPr txBox="1"/>
          <p:nvPr/>
        </p:nvSpPr>
        <p:spPr>
          <a:xfrm>
            <a:off x="749808" y="4504334"/>
            <a:ext cx="5634533"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徐脈へのアトロピン</a:t>
            </a:r>
            <a:endParaRPr lang="ja-JP" sz="2200" dirty="0"/>
          </a:p>
        </p:txBody>
      </p:sp>
      <p:sp>
        <p:nvSpPr>
          <p:cNvPr id="30" name="Shape 28"/>
          <p:cNvSpPr/>
          <p:nvPr/>
        </p:nvSpPr>
        <p:spPr>
          <a:xfrm>
            <a:off x="6667805" y="1664208"/>
            <a:ext cx="5018227" cy="3274466"/>
          </a:xfrm>
          <a:prstGeom prst="roundRect">
            <a:avLst>
              <a:gd name="adj" fmla="val 2234"/>
            </a:avLst>
          </a:prstGeom>
          <a:solidFill>
            <a:srgbClr val="F2F2F2"/>
          </a:solidFill>
          <a:ln/>
        </p:spPr>
      </p:sp>
      <p:sp>
        <p:nvSpPr>
          <p:cNvPr id="31" name="Text 29"/>
          <p:cNvSpPr txBox="1"/>
          <p:nvPr/>
        </p:nvSpPr>
        <p:spPr>
          <a:xfrm>
            <a:off x="6731813" y="1700784"/>
            <a:ext cx="4890211" cy="420624"/>
          </a:xfrm>
          <a:prstGeom prst="rect">
            <a:avLst/>
          </a:prstGeom>
          <a:noFill/>
          <a:ln/>
        </p:spPr>
        <p:txBody>
          <a:bodyPr wrap="square" lIns="0" tIns="0" rIns="0" bIns="0" rtlCol="0" anchor="t"/>
          <a:lstStyle/>
          <a:p>
            <a:pPr algn="l" indent="0" marL="0">
              <a:buNone/>
            </a:pPr>
            <a:r>
              <a:rPr lang="ja-JP" altLang="en-US" sz="2400" b="1" dirty="0">
                <a:solidFill>
                  <a:srgbClr val="0072B2"/>
                </a:solidFill>
                <a:latin typeface="メイリオ" pitchFamily="34" charset="0"/>
                <a:ea typeface="メイリオ" pitchFamily="34" charset="-122"/>
                <a:cs typeface="メイリオ" pitchFamily="34" charset="-120"/>
              </a:rPr>
              <a:t>麻酔の調節</a:t>
            </a:r>
            <a:endParaRPr lang="ja-JP" sz="2400" dirty="0"/>
          </a:p>
        </p:txBody>
      </p:sp>
      <p:sp>
        <p:nvSpPr>
          <p:cNvPr id="32" name="Shape 30"/>
          <p:cNvSpPr/>
          <p:nvPr/>
        </p:nvSpPr>
        <p:spPr>
          <a:xfrm>
            <a:off x="6759245" y="2173529"/>
            <a:ext cx="91440" cy="91440"/>
          </a:xfrm>
          <a:prstGeom prst="ellipse">
            <a:avLst/>
          </a:prstGeom>
          <a:solidFill>
            <a:srgbClr val="0072B2"/>
          </a:solidFill>
          <a:ln/>
        </p:spPr>
      </p:sp>
      <p:sp>
        <p:nvSpPr>
          <p:cNvPr id="33" name="Text 31"/>
          <p:cNvSpPr txBox="1"/>
          <p:nvPr/>
        </p:nvSpPr>
        <p:spPr>
          <a:xfrm>
            <a:off x="6914693" y="2045513"/>
            <a:ext cx="4707331"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MAC は 10 歳ごとに</a:t>
            </a:r>
            <a:r>
              <a:rPr lang="ja-JP" altLang="en-US" sz="2200" b="1" dirty="0">
                <a:solidFill>
                  <a:srgbClr val="D55E00"/>
                </a:solidFill>
                <a:latin typeface="メイリオ" pitchFamily="34" charset="0"/>
                <a:ea typeface="メイリオ" pitchFamily="34" charset="-122"/>
                <a:cs typeface="メイリオ" pitchFamily="34" charset="-120"/>
              </a:rPr>
              <a:t>約 6% 低下</a:t>
            </a:r>
            <a:endParaRPr lang="ja-JP" sz="2200" dirty="0"/>
          </a:p>
        </p:txBody>
      </p:sp>
      <p:sp>
        <p:nvSpPr>
          <p:cNvPr id="34" name="Text 32"/>
          <p:cNvSpPr txBox="1"/>
          <p:nvPr/>
        </p:nvSpPr>
        <p:spPr>
          <a:xfrm>
            <a:off x="6914693" y="2352751"/>
            <a:ext cx="4707331"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（80 歳のセボフルラン約 1.4%）</a:t>
            </a:r>
            <a:endParaRPr lang="ja-JP" sz="2200" dirty="0"/>
          </a:p>
        </p:txBody>
      </p:sp>
      <p:sp>
        <p:nvSpPr>
          <p:cNvPr id="35" name="Shape 33"/>
          <p:cNvSpPr/>
          <p:nvPr/>
        </p:nvSpPr>
        <p:spPr>
          <a:xfrm>
            <a:off x="6759245" y="2788006"/>
            <a:ext cx="91440" cy="91440"/>
          </a:xfrm>
          <a:prstGeom prst="ellipse">
            <a:avLst/>
          </a:prstGeom>
          <a:solidFill>
            <a:srgbClr val="0072B2"/>
          </a:solidFill>
          <a:ln/>
        </p:spPr>
      </p:sp>
      <p:sp>
        <p:nvSpPr>
          <p:cNvPr id="36" name="Text 34"/>
          <p:cNvSpPr txBox="1"/>
          <p:nvPr/>
        </p:nvSpPr>
        <p:spPr>
          <a:xfrm>
            <a:off x="6914693" y="2659990"/>
            <a:ext cx="4707331"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年齢補正 MAC 比を見る。</a:t>
            </a:r>
            <a:endParaRPr lang="ja-JP" sz="2200" dirty="0"/>
          </a:p>
        </p:txBody>
      </p:sp>
      <p:sp>
        <p:nvSpPr>
          <p:cNvPr id="37" name="Text 35"/>
          <p:cNvSpPr txBox="1"/>
          <p:nvPr/>
        </p:nvSpPr>
        <p:spPr>
          <a:xfrm>
            <a:off x="6914693" y="2967228"/>
            <a:ext cx="4707331"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BIS は高く出ることがある</a:t>
            </a:r>
            <a:endParaRPr lang="ja-JP" sz="2200" dirty="0"/>
          </a:p>
        </p:txBody>
      </p:sp>
      <p:sp>
        <p:nvSpPr>
          <p:cNvPr id="38" name="Shape 36"/>
          <p:cNvSpPr/>
          <p:nvPr/>
        </p:nvSpPr>
        <p:spPr>
          <a:xfrm>
            <a:off x="6759245" y="3402482"/>
            <a:ext cx="91440" cy="91440"/>
          </a:xfrm>
          <a:prstGeom prst="ellipse">
            <a:avLst/>
          </a:prstGeom>
          <a:solidFill>
            <a:srgbClr val="0072B2"/>
          </a:solidFill>
          <a:ln/>
        </p:spPr>
      </p:sp>
      <p:sp>
        <p:nvSpPr>
          <p:cNvPr id="39" name="Text 37"/>
          <p:cNvSpPr txBox="1"/>
          <p:nvPr/>
        </p:nvSpPr>
        <p:spPr>
          <a:xfrm>
            <a:off x="6914693" y="3274466"/>
            <a:ext cx="4707331"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プロポフォール・ミダゾラムは</a:t>
            </a:r>
            <a:endParaRPr lang="ja-JP" sz="2200" dirty="0"/>
          </a:p>
        </p:txBody>
      </p:sp>
      <p:sp>
        <p:nvSpPr>
          <p:cNvPr id="40" name="Text 38"/>
          <p:cNvSpPr txBox="1"/>
          <p:nvPr/>
        </p:nvSpPr>
        <p:spPr>
          <a:xfrm>
            <a:off x="6914693" y="3581705"/>
            <a:ext cx="4707331"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減量し、ゆっくり</a:t>
            </a:r>
            <a:endParaRPr lang="ja-JP" sz="2200" dirty="0"/>
          </a:p>
        </p:txBody>
      </p:sp>
      <p:sp>
        <p:nvSpPr>
          <p:cNvPr id="41" name="Shape 39"/>
          <p:cNvSpPr/>
          <p:nvPr/>
        </p:nvSpPr>
        <p:spPr>
          <a:xfrm>
            <a:off x="6759245" y="4016959"/>
            <a:ext cx="91440" cy="91440"/>
          </a:xfrm>
          <a:prstGeom prst="ellipse">
            <a:avLst/>
          </a:prstGeom>
          <a:solidFill>
            <a:srgbClr val="0072B2"/>
          </a:solidFill>
          <a:ln/>
        </p:spPr>
      </p:sp>
      <p:sp>
        <p:nvSpPr>
          <p:cNvPr id="42" name="Text 40"/>
          <p:cNvSpPr txBox="1"/>
          <p:nvPr/>
        </p:nvSpPr>
        <p:spPr>
          <a:xfrm>
            <a:off x="6914693" y="3888943"/>
            <a:ext cx="4707331" cy="374904"/>
          </a:xfrm>
          <a:prstGeom prst="rect">
            <a:avLst/>
          </a:prstGeom>
          <a:noFill/>
          <a:ln/>
        </p:spPr>
        <p:txBody>
          <a:bodyPr wrap="square" lIns="0" tIns="0" rIns="0" bIns="0" rtlCol="0" anchor="t"/>
          <a:lstStyle/>
          <a:p>
            <a:pPr algn="l" indent="0" marL="0">
              <a:buNone/>
            </a:pPr>
            <a:r>
              <a:rPr lang="ja-JP" altLang="en-US" sz="2200" b="1" dirty="0">
                <a:solidFill>
                  <a:srgbClr val="D55E00"/>
                </a:solidFill>
                <a:latin typeface="メイリオ" pitchFamily="34" charset="0"/>
                <a:ea typeface="メイリオ" pitchFamily="34" charset="-122"/>
                <a:cs typeface="メイリオ" pitchFamily="34" charset="-120"/>
              </a:rPr>
              <a:t>相対的低血圧</a:t>
            </a:r>
            <a:r>
              <a:rPr lang="ja-JP" altLang="en-US" sz="2200" dirty="0">
                <a:solidFill>
                  <a:srgbClr val="262626"/>
                </a:solidFill>
                <a:latin typeface="メイリオ" pitchFamily="34" charset="0"/>
                <a:ea typeface="メイリオ" pitchFamily="34" charset="-122"/>
                <a:cs typeface="メイリオ" pitchFamily="34" charset="-120"/>
              </a:rPr>
              <a:t>を避ける。正常体温</a:t>
            </a:r>
            <a:endParaRPr lang="ja-JP" sz="2200" dirty="0"/>
          </a:p>
        </p:txBody>
      </p:sp>
      <p:sp>
        <p:nvSpPr>
          <p:cNvPr id="43" name="Shape 41"/>
          <p:cNvSpPr/>
          <p:nvPr/>
        </p:nvSpPr>
        <p:spPr>
          <a:xfrm>
            <a:off x="6759245" y="4324198"/>
            <a:ext cx="91440" cy="91440"/>
          </a:xfrm>
          <a:prstGeom prst="ellipse">
            <a:avLst/>
          </a:prstGeom>
          <a:solidFill>
            <a:srgbClr val="0072B2"/>
          </a:solidFill>
          <a:ln/>
        </p:spPr>
      </p:sp>
      <p:sp>
        <p:nvSpPr>
          <p:cNvPr id="44" name="Text 42"/>
          <p:cNvSpPr txBox="1"/>
          <p:nvPr/>
        </p:nvSpPr>
        <p:spPr>
          <a:xfrm>
            <a:off x="6914693" y="4196182"/>
            <a:ext cx="4707331"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鎮静の少ない多角的鎮痛。</a:t>
            </a:r>
            <a:endParaRPr lang="ja-JP" sz="2200" dirty="0"/>
          </a:p>
        </p:txBody>
      </p:sp>
      <p:sp>
        <p:nvSpPr>
          <p:cNvPr id="45" name="Text 43"/>
          <p:cNvSpPr txBox="1"/>
          <p:nvPr/>
        </p:nvSpPr>
        <p:spPr>
          <a:xfrm>
            <a:off x="6914693" y="4504334"/>
            <a:ext cx="4707331" cy="374904"/>
          </a:xfrm>
          <a:prstGeom prst="rect">
            <a:avLst/>
          </a:prstGeom>
          <a:noFill/>
          <a:ln/>
        </p:spPr>
        <p:txBody>
          <a:bodyPr wrap="square" lIns="0" tIns="0" rIns="0" bIns="0" rtlCol="0" anchor="t"/>
          <a:lstStyle/>
          <a:p>
            <a:pPr algn="l" indent="0" marL="0">
              <a:buNone/>
            </a:pPr>
            <a:r>
              <a:rPr lang="ja-JP" altLang="en-US" sz="2200" dirty="0">
                <a:solidFill>
                  <a:srgbClr val="262626"/>
                </a:solidFill>
                <a:latin typeface="メイリオ" pitchFamily="34" charset="0"/>
                <a:ea typeface="メイリオ" pitchFamily="34" charset="-122"/>
                <a:cs typeface="メイリオ" pitchFamily="34" charset="-120"/>
              </a:rPr>
              <a:t>区域麻酔自体でせん妄は減らない</a:t>
            </a:r>
            <a:endParaRPr lang="ja-JP"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相談先と離島での工夫</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フレイル</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認知</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機能</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せん妄</a:t>
            </a:r>
            <a:endParaRPr lang="ja-JP" sz="1050" dirty="0"/>
          </a:p>
        </p:txBody>
      </p:sp>
      <p:sp>
        <p:nvSpPr>
          <p:cNvPr id="7" name="Text 5"/>
          <p:cNvSpPr/>
          <p:nvPr/>
        </p:nvSpPr>
        <p:spPr>
          <a:xfrm>
            <a:off x="10707624"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薬と</a:t>
            </a:r>
            <a:endParaRPr lang="ja-JP" sz="1050" dirty="0"/>
          </a:p>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麻酔</a:t>
            </a:r>
            <a:endParaRPr lang="ja-JP" sz="1050" dirty="0"/>
          </a:p>
        </p:txBody>
      </p:sp>
      <p:sp>
        <p:nvSpPr>
          <p:cNvPr id="8" name="Text 6"/>
          <p:cNvSpPr/>
          <p:nvPr/>
        </p:nvSpPr>
        <p:spPr>
          <a:xfrm>
            <a:off x="11384280"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6</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Marcantonio ER, et al. J Am Geriatr Soc 2001;49:516-522 / Berger M, et al.</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Anesth Analg 2018;127:1406-1413 / Chow WB, et al. J Am Coll Surg 2012;215:453-466</a:t>
            </a:r>
            <a:endParaRPr lang="ja-JP" sz="1600" dirty="0"/>
          </a:p>
        </p:txBody>
      </p:sp>
      <p:sp>
        <p:nvSpPr>
          <p:cNvPr id="11" name="Text 9"/>
          <p:cNvSpPr txBox="1"/>
          <p:nvPr/>
        </p:nvSpPr>
        <p:spPr>
          <a:xfrm>
            <a:off x="502920" y="1737360"/>
            <a:ext cx="11155680" cy="2798064"/>
          </a:xfrm>
          <a:prstGeom prst="rect">
            <a:avLst/>
          </a:prstGeom>
          <a:noFill/>
          <a:ln/>
        </p:spPr>
        <p:txBody>
          <a:bodyPr wrap="square" lIns="0" tIns="0" rIns="0" bIns="0" rtlCol="0" anchor="t"/>
          <a:lstStyle/>
          <a:p>
            <a:pPr algn="l" marL="355600" indent="-355600">
              <a:spcAft>
                <a:spcPts val="1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老年科・認知症ケアチーム・精神科リエゾンに</a:t>
            </a:r>
            <a:r>
              <a:rPr lang="ja-JP" altLang="en-US" sz="2400" b="1" dirty="0">
                <a:solidFill>
                  <a:srgbClr val="D55E00"/>
                </a:solidFill>
                <a:latin typeface="メイリオ" pitchFamily="34" charset="0"/>
                <a:ea typeface="メイリオ" pitchFamily="34" charset="-122"/>
                <a:cs typeface="メイリオ" pitchFamily="34" charset="-120"/>
              </a:rPr>
              <a:t>術前から</a:t>
            </a:r>
            <a:r>
              <a:rPr lang="ja-JP" altLang="en-US" sz="2400" dirty="0">
                <a:solidFill>
                  <a:srgbClr val="262626"/>
                </a:solidFill>
                <a:latin typeface="メイリオ" pitchFamily="34" charset="0"/>
                <a:ea typeface="メイリオ" pitchFamily="34" charset="-122"/>
                <a:cs typeface="メイリオ" pitchFamily="34" charset="-120"/>
              </a:rPr>
              <a:t>（遠隔でも）</a:t>
            </a:r>
            <a:endParaRPr lang="ja-JP" sz="2400" dirty="0"/>
          </a:p>
          <a:p>
            <a:pPr algn="l" marL="355600" indent="-355600">
              <a:spcAft>
                <a:spcPts val="1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家族に：眼鏡・補聴器・時計・慣れた物を持参し、</a:t>
            </a:r>
            <a:r>
              <a:rPr lang="ja-JP" altLang="en-US" sz="2400" b="1" dirty="0">
                <a:solidFill>
                  <a:srgbClr val="0072B2"/>
                </a:solidFill>
                <a:latin typeface="メイリオ" pitchFamily="34" charset="0"/>
                <a:ea typeface="メイリオ" pitchFamily="34" charset="-122"/>
                <a:cs typeface="メイリオ" pitchFamily="34" charset="-120"/>
              </a:rPr>
              <a:t>付き添い</a:t>
            </a:r>
            <a:r>
              <a:rPr lang="ja-JP" altLang="en-US" sz="2400" dirty="0">
                <a:solidFill>
                  <a:srgbClr val="262626"/>
                </a:solidFill>
                <a:latin typeface="メイリオ" pitchFamily="34" charset="0"/>
                <a:ea typeface="メイリオ" pitchFamily="34" charset="-122"/>
                <a:cs typeface="メイリオ" pitchFamily="34" charset="-120"/>
              </a:rPr>
              <a:t>を</a:t>
            </a:r>
            <a:endParaRPr lang="ja-JP" sz="2400" dirty="0"/>
          </a:p>
          <a:p>
            <a:pPr algn="l" marL="355600" indent="-355600">
              <a:spcAft>
                <a:spcPts val="1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看護師・薬剤師・リハビリと多因子介入を</a:t>
            </a:r>
            <a:r>
              <a:rPr lang="ja-JP" altLang="en-US" sz="2400" b="1" dirty="0">
                <a:solidFill>
                  <a:srgbClr val="D55E00"/>
                </a:solidFill>
                <a:latin typeface="メイリオ" pitchFamily="34" charset="0"/>
                <a:ea typeface="メイリオ" pitchFamily="34" charset="-122"/>
                <a:cs typeface="メイリオ" pitchFamily="34" charset="-120"/>
              </a:rPr>
              <a:t>入院初日から</a:t>
            </a:r>
            <a:endParaRPr lang="ja-JP" sz="2400" dirty="0"/>
          </a:p>
          <a:p>
            <a:pPr algn="l" marL="355600" indent="-355600">
              <a:spcAft>
                <a:spcPts val="1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術前から</a:t>
            </a:r>
            <a:r>
              <a:rPr lang="ja-JP" altLang="en-US" sz="2400" b="1" dirty="0">
                <a:solidFill>
                  <a:srgbClr val="0072B2"/>
                </a:solidFill>
                <a:latin typeface="メイリオ" pitchFamily="34" charset="0"/>
                <a:ea typeface="メイリオ" pitchFamily="34" charset="-122"/>
                <a:cs typeface="メイリオ" pitchFamily="34" charset="-120"/>
              </a:rPr>
              <a:t>栄養と運動</a:t>
            </a:r>
            <a:r>
              <a:rPr lang="ja-JP" altLang="en-US" sz="2400" dirty="0">
                <a:solidFill>
                  <a:srgbClr val="262626"/>
                </a:solidFill>
                <a:latin typeface="メイリオ" pitchFamily="34" charset="0"/>
                <a:ea typeface="メイリオ" pitchFamily="34" charset="-122"/>
                <a:cs typeface="メイリオ" pitchFamily="34" charset="-120"/>
              </a:rPr>
              <a:t>（プレハビリテーション）、飲酒・睡眠薬の整理</a:t>
            </a:r>
            <a:endParaRPr lang="ja-JP" sz="2400" dirty="0"/>
          </a:p>
          <a:p>
            <a:pPr algn="l" marL="355600" indent="-355600">
              <a:spcAft>
                <a:spcPts val="10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退院先と治療の目標を本人・家族と</a:t>
            </a:r>
            <a:r>
              <a:rPr lang="ja-JP" altLang="en-US" sz="2400" b="1" dirty="0">
                <a:solidFill>
                  <a:srgbClr val="D55E00"/>
                </a:solidFill>
                <a:latin typeface="メイリオ" pitchFamily="34" charset="0"/>
                <a:ea typeface="メイリオ" pitchFamily="34" charset="-122"/>
                <a:cs typeface="メイリオ" pitchFamily="34" charset="-120"/>
              </a:rPr>
              <a:t>前もって話す</a:t>
            </a:r>
            <a:r>
              <a:rPr lang="ja-JP" altLang="en-US" sz="2400" dirty="0">
                <a:solidFill>
                  <a:srgbClr val="262626"/>
                </a:solidFill>
                <a:latin typeface="メイリオ" pitchFamily="34" charset="0"/>
                <a:ea typeface="メイリオ" pitchFamily="34" charset="-122"/>
                <a:cs typeface="メイリオ" pitchFamily="34" charset="-120"/>
              </a:rPr>
              <a:t>（→ 4-6）</a:t>
            </a:r>
            <a:endParaRPr lang="ja-JP" sz="2400" dirty="0"/>
          </a:p>
        </p:txBody>
      </p:sp>
      <p:sp>
        <p:nvSpPr>
          <p:cNvPr id="12" name="Text 10"/>
          <p:cNvSpPr/>
          <p:nvPr/>
        </p:nvSpPr>
        <p:spPr>
          <a:xfrm>
            <a:off x="502920" y="4754880"/>
            <a:ext cx="11183112" cy="1097280"/>
          </a:xfrm>
          <a:prstGeom prst="roundRect">
            <a:avLst>
              <a:gd name="adj" fmla="val 8333"/>
            </a:avLst>
          </a:prstGeom>
          <a:solidFill>
            <a:srgbClr val="FFFFFF"/>
          </a:solidFill>
          <a:ln w="38100">
            <a:solidFill>
              <a:srgbClr val="00A8AA"/>
            </a:solidFill>
          </a:ln>
        </p:spPr>
        <p:txBody>
          <a:bodyPr wrap="square" lIns="73152" tIns="73152" rIns="73152" bIns="73152" rtlCol="0" anchor="ctr"/>
          <a:lstStyle/>
          <a:p>
            <a:pPr algn="ctr" indent="0" marL="0">
              <a:buNone/>
            </a:pPr>
            <a:r>
              <a:rPr lang="ja-JP" altLang="en-US" sz="2800" b="1" dirty="0">
                <a:solidFill>
                  <a:srgbClr val="262626"/>
                </a:solidFill>
                <a:latin typeface="メイリオ" pitchFamily="34" charset="0"/>
                <a:ea typeface="メイリオ" pitchFamily="34" charset="-122"/>
                <a:cs typeface="メイリオ" pitchFamily="34" charset="-120"/>
              </a:rPr>
              <a:t>老年科医がいない島では、チェックリストと多職種で</a:t>
            </a:r>
            <a:endParaRPr lang="ja-JP" sz="2800" dirty="0"/>
          </a:p>
          <a:p>
            <a:pPr algn="ctr" indent="0" marL="0">
              <a:buNone/>
            </a:pPr>
            <a:r>
              <a:rPr lang="ja-JP" altLang="en-US" sz="2800" b="1" dirty="0">
                <a:solidFill>
                  <a:srgbClr val="D55E00"/>
                </a:solidFill>
                <a:latin typeface="メイリオ" pitchFamily="34" charset="0"/>
                <a:ea typeface="メイリオ" pitchFamily="34" charset="-122"/>
                <a:cs typeface="メイリオ" pitchFamily="34" charset="-120"/>
              </a:rPr>
              <a:t>『老年科の目』</a:t>
            </a:r>
            <a:r>
              <a:rPr lang="ja-JP" altLang="en-US" sz="2800" b="1" dirty="0">
                <a:solidFill>
                  <a:srgbClr val="262626"/>
                </a:solidFill>
                <a:latin typeface="メイリオ" pitchFamily="34" charset="0"/>
                <a:ea typeface="メイリオ" pitchFamily="34" charset="-122"/>
                <a:cs typeface="メイリオ" pitchFamily="34" charset="-120"/>
              </a:rPr>
              <a:t>を代わりに入れる</a:t>
            </a:r>
            <a:endParaRPr lang="ja-JP"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a:spLocks noGrp="1"/>
          </p:cNvSpPr>
          <p:nvPr>
            <p:ph type="title"/>
          </p:nvPr>
        </p:nvSpPr>
        <p:spPr>
          <a:xfrm>
            <a:off x="502920" y="320040"/>
            <a:ext cx="8503920" cy="868680"/>
          </a:xfrm>
          <a:prstGeom prst="rect">
            <a:avLst/>
          </a:prstGeom>
          <a:noFill/>
          <a:ln/>
        </p:spPr>
        <p:txBody>
          <a:bodyPr wrap="square" lIns="0" tIns="0" rIns="0" bIns="0" rtlCol="0" anchor="ctr"/>
          <a:lstStyle/>
          <a:p>
            <a:pPr algn="l" indent="0" marL="0">
              <a:buNone/>
            </a:pPr>
            <a:r>
              <a:rPr lang="ja-JP" altLang="en-US" sz="4400" b="1" dirty="0">
                <a:ln w="28575">
                  <a:solidFill>
                    <a:srgbClr val="000000"/>
                  </a:solidFill>
                </a:ln>
                <a:solidFill>
                  <a:srgbClr val="BF9000"/>
                </a:solidFill>
                <a:latin typeface="メイリオ" pitchFamily="34" charset="0"/>
                <a:ea typeface="メイリオ" pitchFamily="34" charset="-122"/>
                <a:cs typeface="メイリオ" pitchFamily="34" charset="-120"/>
              </a:rPr>
              <a:t>まとめ</a:t>
            </a:r>
            <a:endParaRPr lang="ja-JP" sz="4400" dirty="0"/>
          </a:p>
        </p:txBody>
      </p:sp>
      <p:sp>
        <p:nvSpPr>
          <p:cNvPr id="3" name="Shape 1"/>
          <p:cNvSpPr/>
          <p:nvPr/>
        </p:nvSpPr>
        <p:spPr>
          <a:xfrm>
            <a:off x="0" y="1389888"/>
            <a:ext cx="12191970" cy="0"/>
          </a:xfrm>
          <a:prstGeom prst="line">
            <a:avLst/>
          </a:prstGeom>
          <a:noFill/>
          <a:ln w="101600">
            <a:solidFill>
              <a:srgbClr val="BF9000"/>
            </a:solidFill>
            <a:prstDash val="solid"/>
          </a:ln>
        </p:spPr>
      </p:sp>
      <p:sp>
        <p:nvSpPr>
          <p:cNvPr id="4" name="Text 2"/>
          <p:cNvSpPr/>
          <p:nvPr/>
        </p:nvSpPr>
        <p:spPr>
          <a:xfrm>
            <a:off x="8677656"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フレイル</a:t>
            </a:r>
            <a:endParaRPr lang="ja-JP" sz="1050" dirty="0"/>
          </a:p>
        </p:txBody>
      </p:sp>
      <p:sp>
        <p:nvSpPr>
          <p:cNvPr id="5" name="Text 3"/>
          <p:cNvSpPr/>
          <p:nvPr/>
        </p:nvSpPr>
        <p:spPr>
          <a:xfrm>
            <a:off x="9354312"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認知</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機能</a:t>
            </a:r>
            <a:endParaRPr lang="ja-JP" sz="1050" dirty="0"/>
          </a:p>
        </p:txBody>
      </p:sp>
      <p:sp>
        <p:nvSpPr>
          <p:cNvPr id="6" name="Text 4"/>
          <p:cNvSpPr/>
          <p:nvPr/>
        </p:nvSpPr>
        <p:spPr>
          <a:xfrm>
            <a:off x="10030968"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せん妄</a:t>
            </a:r>
            <a:endParaRPr lang="ja-JP" sz="1050" dirty="0"/>
          </a:p>
        </p:txBody>
      </p:sp>
      <p:sp>
        <p:nvSpPr>
          <p:cNvPr id="7" name="Text 5"/>
          <p:cNvSpPr/>
          <p:nvPr/>
        </p:nvSpPr>
        <p:spPr>
          <a:xfrm>
            <a:off x="10707624" y="54864"/>
            <a:ext cx="621792" cy="585216"/>
          </a:xfrm>
          <a:prstGeom prst="roundRect">
            <a:avLst>
              <a:gd name="adj" fmla="val 7813"/>
            </a:avLst>
          </a:prstGeom>
          <a:solidFill>
            <a:srgbClr val="D9D9D9"/>
          </a:solidFill>
          <a:ln/>
        </p:spPr>
        <p:txBody>
          <a:bodyPr wrap="none" lIns="0" tIns="0" rIns="0" bIns="0" rtlCol="0" anchor="ctr"/>
          <a:lstStyle/>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薬と</a:t>
            </a:r>
            <a:endParaRPr lang="ja-JP" sz="1050" dirty="0"/>
          </a:p>
          <a:p>
            <a:pPr algn="ctr" indent="0" marL="0">
              <a:buNone/>
            </a:pPr>
            <a:r>
              <a:rPr lang="ja-JP" altLang="en-US" sz="1050" dirty="0">
                <a:solidFill>
                  <a:srgbClr val="404040"/>
                </a:solidFill>
                <a:latin typeface="メイリオ" pitchFamily="34" charset="0"/>
                <a:ea typeface="メイリオ" pitchFamily="34" charset="-122"/>
                <a:cs typeface="メイリオ" pitchFamily="34" charset="-120"/>
              </a:rPr>
              <a:t>麻酔</a:t>
            </a:r>
            <a:endParaRPr lang="ja-JP" sz="1050" dirty="0"/>
          </a:p>
        </p:txBody>
      </p:sp>
      <p:sp>
        <p:nvSpPr>
          <p:cNvPr id="8" name="Text 6"/>
          <p:cNvSpPr/>
          <p:nvPr/>
        </p:nvSpPr>
        <p:spPr>
          <a:xfrm>
            <a:off x="11384280" y="54864"/>
            <a:ext cx="621792" cy="585216"/>
          </a:xfrm>
          <a:prstGeom prst="roundRect">
            <a:avLst>
              <a:gd name="adj" fmla="val 7813"/>
            </a:avLst>
          </a:prstGeom>
          <a:solidFill>
            <a:srgbClr val="00A8AA"/>
          </a:solidFill>
          <a:ln/>
        </p:spPr>
        <p:txBody>
          <a:bodyPr wrap="none" lIns="0" tIns="0" rIns="0" bIns="0" rtlCol="0" anchor="ctr"/>
          <a:lstStyle/>
          <a:p>
            <a:pPr algn="ctr" indent="0" marL="0">
              <a:buNone/>
            </a:pPr>
            <a:r>
              <a:rPr lang="ja-JP" altLang="en-US" sz="1050" b="1" dirty="0">
                <a:solidFill>
                  <a:srgbClr val="FFFFFF"/>
                </a:solidFill>
                <a:latin typeface="メイリオ" pitchFamily="34" charset="0"/>
                <a:ea typeface="メイリオ" pitchFamily="34" charset="-122"/>
                <a:cs typeface="メイリオ" pitchFamily="34" charset="-120"/>
              </a:rPr>
              <a:t>まとめ</a:t>
            </a:r>
            <a:endParaRPr lang="ja-JP" sz="1050" dirty="0"/>
          </a:p>
        </p:txBody>
      </p:sp>
      <p:sp>
        <p:nvSpPr>
          <p:cNvPr id="9" name="Text 7"/>
          <p:cNvSpPr txBox="1"/>
          <p:nvPr/>
        </p:nvSpPr>
        <p:spPr>
          <a:xfrm>
            <a:off x="11247120" y="6446520"/>
            <a:ext cx="731520" cy="320040"/>
          </a:xfrm>
          <a:prstGeom prst="rect">
            <a:avLst/>
          </a:prstGeom>
          <a:noFill/>
          <a:ln/>
        </p:spPr>
        <p:txBody>
          <a:bodyPr wrap="square" lIns="0" tIns="0" rIns="0" bIns="0" rtlCol="0" anchor="b"/>
          <a:lstStyle/>
          <a:p>
            <a:pPr algn="r" indent="0" marL="0">
              <a:buNone/>
            </a:pPr>
            <a:r>
              <a:rPr lang="ja-JP" altLang="en-US" sz="1200" dirty="0">
                <a:solidFill>
                  <a:srgbClr val="7F7F7F"/>
                </a:solidFill>
                <a:latin typeface="メイリオ" pitchFamily="34" charset="0"/>
                <a:ea typeface="メイリオ" pitchFamily="34" charset="-122"/>
                <a:cs typeface="メイリオ" pitchFamily="34" charset="-120"/>
              </a:rPr>
              <a:t>7</a:t>
            </a:r>
            <a:endParaRPr lang="ja-JP" sz="1200" dirty="0"/>
          </a:p>
        </p:txBody>
      </p:sp>
      <p:sp>
        <p:nvSpPr>
          <p:cNvPr id="10" name="Text 8"/>
          <p:cNvSpPr txBox="1"/>
          <p:nvPr/>
        </p:nvSpPr>
        <p:spPr>
          <a:xfrm>
            <a:off x="502920" y="5943600"/>
            <a:ext cx="10607040" cy="777240"/>
          </a:xfrm>
          <a:prstGeom prst="rect">
            <a:avLst/>
          </a:prstGeom>
          <a:noFill/>
          <a:ln/>
        </p:spPr>
        <p:txBody>
          <a:bodyPr wrap="square" lIns="0" tIns="0" rIns="0" bIns="0" rtlCol="0" anchor="b"/>
          <a:lstStyle/>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Berger M, et al. Anesth Analg 2018;127:1406-1413 / American Geriatrics Society.</a:t>
            </a:r>
            <a:endParaRPr lang="ja-JP" sz="1600" dirty="0"/>
          </a:p>
          <a:p>
            <a:pPr algn="l" indent="0" marL="0">
              <a:buNone/>
            </a:pPr>
            <a:r>
              <a:rPr lang="ja-JP" altLang="en-US" sz="1600" dirty="0">
                <a:solidFill>
                  <a:srgbClr val="595959"/>
                </a:solidFill>
                <a:latin typeface="メイリオ" pitchFamily="34" charset="0"/>
                <a:ea typeface="メイリオ" pitchFamily="34" charset="-122"/>
                <a:cs typeface="メイリオ" pitchFamily="34" charset="-120"/>
              </a:rPr>
              <a:t>J Am Geriatr Soc 2015;63:142-150 / Aldecoa C, et al. Eur J Anaesthesiol 2024;41:81-108</a:t>
            </a:r>
            <a:endParaRPr lang="ja-JP" sz="1600" dirty="0"/>
          </a:p>
        </p:txBody>
      </p:sp>
      <p:sp>
        <p:nvSpPr>
          <p:cNvPr id="11" name="Text 9"/>
          <p:cNvSpPr txBox="1"/>
          <p:nvPr/>
        </p:nvSpPr>
        <p:spPr>
          <a:xfrm>
            <a:off x="502920" y="1828800"/>
            <a:ext cx="11155680" cy="4087368"/>
          </a:xfrm>
          <a:prstGeom prst="rect">
            <a:avLst/>
          </a:prstGeom>
          <a:noFill/>
          <a:ln/>
        </p:spPr>
        <p:txBody>
          <a:bodyPr wrap="square" lIns="0" tIns="0" rIns="0" bIns="0" rtlCol="0" anchor="t"/>
          <a:lstStyle/>
          <a:p>
            <a:pPr algn="l" marL="355600" indent="-355600">
              <a:spcAft>
                <a:spcPts val="32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年齢だけでなく </a:t>
            </a:r>
            <a:r>
              <a:rPr lang="ja-JP" altLang="en-US" sz="2400" b="1" dirty="0">
                <a:solidFill>
                  <a:srgbClr val="0072B2"/>
                </a:solidFill>
                <a:latin typeface="メイリオ" pitchFamily="34" charset="0"/>
                <a:ea typeface="メイリオ" pitchFamily="34" charset="-122"/>
                <a:cs typeface="メイリオ" pitchFamily="34" charset="-120"/>
              </a:rPr>
              <a:t>CFS を病前で</a:t>
            </a:r>
            <a:r>
              <a:rPr lang="ja-JP" altLang="en-US" sz="2400" dirty="0">
                <a:solidFill>
                  <a:srgbClr val="262626"/>
                </a:solidFill>
                <a:latin typeface="メイリオ" pitchFamily="34" charset="0"/>
                <a:ea typeface="メイリオ" pitchFamily="34" charset="-122"/>
                <a:cs typeface="メイリオ" pitchFamily="34" charset="-120"/>
              </a:rPr>
              <a:t>。4 以上は注意、5 以上はフレイル</a:t>
            </a:r>
            <a:endParaRPr lang="ja-JP" sz="2400" dirty="0"/>
          </a:p>
          <a:p>
            <a:pPr algn="l" marL="355600" indent="-355600">
              <a:spcAft>
                <a:spcPts val="32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65 歳超は</a:t>
            </a:r>
            <a:r>
              <a:rPr lang="ja-JP" altLang="en-US" sz="2400" b="1" dirty="0">
                <a:solidFill>
                  <a:srgbClr val="0072B2"/>
                </a:solidFill>
                <a:latin typeface="メイリオ" pitchFamily="34" charset="0"/>
                <a:ea typeface="メイリオ" pitchFamily="34" charset="-122"/>
                <a:cs typeface="メイリオ" pitchFamily="34" charset="-120"/>
              </a:rPr>
              <a:t>全員 Mini-Cog</a:t>
            </a:r>
            <a:r>
              <a:rPr lang="ja-JP" altLang="en-US" sz="2400" dirty="0">
                <a:solidFill>
                  <a:srgbClr val="262626"/>
                </a:solidFill>
                <a:latin typeface="メイリオ" pitchFamily="34" charset="0"/>
                <a:ea typeface="メイリオ" pitchFamily="34" charset="-122"/>
                <a:cs typeface="メイリオ" pitchFamily="34" charset="-120"/>
              </a:rPr>
              <a:t>。陽性なら家族に説明し能力を確かめる</a:t>
            </a:r>
            <a:endParaRPr lang="ja-JP" sz="2400" dirty="0"/>
          </a:p>
          <a:p>
            <a:pPr algn="l" marL="355600" indent="-355600">
              <a:spcAft>
                <a:spcPts val="32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せん妄は大手術で 20〜40%、半数以上を見逃す。</a:t>
            </a:r>
            <a:r>
              <a:rPr lang="ja-JP" altLang="en-US" sz="2400" b="1" dirty="0">
                <a:solidFill>
                  <a:srgbClr val="D55E00"/>
                </a:solidFill>
                <a:latin typeface="メイリオ" pitchFamily="34" charset="0"/>
                <a:ea typeface="メイリオ" pitchFamily="34" charset="-122"/>
                <a:cs typeface="メイリオ" pitchFamily="34" charset="-120"/>
              </a:rPr>
              <a:t>多因子介入で予防</a:t>
            </a:r>
            <a:endParaRPr lang="ja-JP" sz="2400" dirty="0"/>
          </a:p>
          <a:p>
            <a:pPr algn="l" marL="355600" indent="-355600">
              <a:spcAft>
                <a:spcPts val="32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薬で</a:t>
            </a:r>
            <a:r>
              <a:rPr lang="ja-JP" altLang="en-US" sz="2400" b="1" u="sng" dirty="0">
                <a:solidFill>
                  <a:srgbClr val="C00000"/>
                </a:solidFill>
                <a:latin typeface="メイリオ" pitchFamily="34" charset="0"/>
                <a:ea typeface="メイリオ" pitchFamily="34" charset="-122"/>
                <a:cs typeface="メイリオ" pitchFamily="34" charset="-120"/>
              </a:rPr>
              <a:t>予防しない</a:t>
            </a:r>
            <a:r>
              <a:rPr lang="ja-JP" altLang="en-US" sz="2400" dirty="0">
                <a:solidFill>
                  <a:srgbClr val="262626"/>
                </a:solidFill>
                <a:latin typeface="メイリオ" pitchFamily="34" charset="0"/>
                <a:ea typeface="メイリオ" pitchFamily="34" charset="-122"/>
                <a:cs typeface="メイリオ" pitchFamily="34" charset="-120"/>
              </a:rPr>
              <a:t>。ベンゾジアゼピン・抗コリン薬・ペチジンを避ける</a:t>
            </a:r>
            <a:endParaRPr lang="ja-JP" sz="2400" dirty="0"/>
          </a:p>
          <a:p>
            <a:pPr algn="l" marL="355600" indent="-355600">
              <a:spcAft>
                <a:spcPts val="3200"/>
              </a:spcAft>
              <a:buSzPct val="100000"/>
              <a:buChar char="•"/>
            </a:pPr>
            <a:r>
              <a:rPr lang="ja-JP" altLang="en-US" sz="2400" dirty="0">
                <a:solidFill>
                  <a:srgbClr val="262626"/>
                </a:solidFill>
                <a:latin typeface="メイリオ" pitchFamily="34" charset="0"/>
                <a:ea typeface="メイリオ" pitchFamily="34" charset="-122"/>
                <a:cs typeface="メイリオ" pitchFamily="34" charset="-120"/>
              </a:rPr>
              <a:t>MAC は </a:t>
            </a:r>
            <a:r>
              <a:rPr lang="ja-JP" altLang="en-US" sz="2400" b="1" dirty="0">
                <a:solidFill>
                  <a:srgbClr val="D55E00"/>
                </a:solidFill>
                <a:latin typeface="メイリオ" pitchFamily="34" charset="0"/>
                <a:ea typeface="メイリオ" pitchFamily="34" charset="-122"/>
                <a:cs typeface="メイリオ" pitchFamily="34" charset="-120"/>
              </a:rPr>
              <a:t>10 歳で 6% 低下</a:t>
            </a:r>
            <a:r>
              <a:rPr lang="ja-JP" altLang="en-US" sz="2400" dirty="0">
                <a:solidFill>
                  <a:srgbClr val="262626"/>
                </a:solidFill>
                <a:latin typeface="メイリオ" pitchFamily="34" charset="0"/>
                <a:ea typeface="メイリオ" pitchFamily="34" charset="-122"/>
                <a:cs typeface="メイリオ" pitchFamily="34" charset="-120"/>
              </a:rPr>
              <a:t>。相対的低血圧を避け、鎮静の少ない鎮痛</a:t>
            </a:r>
            <a:endParaRPr lang="ja-JP"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メイリオ"/>
        <a:ea typeface="メイリオ"/>
        <a:cs typeface=""/>
        <a:font script="Jpan" typeface="メイリオ"/>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メイリオ"/>
        <a:ea typeface="メイリオ"/>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4-11 高齢者とフレイル・認知機能</dc:title>
  <dc:subject/>
  <dc:creator>Anes-lecture</dc:creator>
  <cp:lastModifiedBy>Anes-lecture</cp:lastModifiedBy>
  <cp:revision>1</cp:revision>
  <dcterms:created xsi:type="dcterms:W3CDTF">2026-10-16T00:18:26Z</dcterms:created>
  <dcterms:modified xsi:type="dcterms:W3CDTF">2026-10-16T00:18:26Z</dcterms:modified>
</cp:coreProperties>
</file>