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筋弛緩モニターは、筋弛緩薬の効き具合（神経筋遮断の深さ）と回復を客観的に測る装置である。日本麻酔科学会のモニター指針（2025年8月改訂）は、筋弛緩薬と拮抗薬を使うときに筋弛緩の深さを定量的に評価し、抜管前に手の筋で TOF比 0.9 以上を確認することを求めている。この回では、なぜ必要か、何を刺激して何を測るか、深さの判定と拮抗薬の対応、手順と落とし穴を扱う。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残存筋弛緩（TOF比 &lt;0.9）の頻度: 観察研究の系統的レビュー（J Clin Anesth 2020）では、回復室到着時に TOF比が 0.9 未満の患者の割合は研究により 0〜90% と幅があり、中央値は約 30% であった。ネオスチグミンで拮抗した群で高く、スガマデクスで拮抗した群で低い傾向がある。</a:t>
            </a:r>
          </a:p>
          <a:p>
            <a:r>
              <a:rPr lang="ja-JP" altLang="en-US" dirty="0"/>
              <a:t>なぜ問題か: TOF比が 0.9 未満だと、上気道の筋力と咽頭の協調が落ち、誤嚥、上気道閉塞、低酸素血症、再挿管の危険が増える。</a:t>
            </a:r>
          </a:p>
          <a:p>
            <a:r>
              <a:rPr lang="ja-JP" altLang="en-US" dirty="0"/>
              <a:t>臨床所見の限界: 頭部挙上 5 秒、握力、舌圧子を噛む、などの所見は、TOF比 0.9 未満でもできてしまうことがある。指や目で TOF の減衰を判断する定性評価では、TOF比が約 0.4 を超えると減衰を感じ取れない。だから「定量」モニターが必要になる。</a:t>
            </a:r>
          </a:p>
          <a:p>
            <a:r>
              <a:rPr lang="ja-JP" altLang="en-US" dirty="0"/>
              <a:t>指針とガイドライン: 日本麻酔科学会「安全な麻酔のためのモニター指針」は 2025年8月の改訂で、筋弛緩薬と拮抗薬を使うときは筋弛緩の深さを定量的に評価し、抜管前に手の筋で TOF比 0.9 以上を確認することを求めた（2019年版は「筋弛緩状態をモニタリングすること」だった）。米国麻酔科学会（ASA: American Society of Anesthesiologists）の 2023 年ガイドラインは、臨床所見だけで残存筋弛緩を否定しないこと、定性より定量モニターを使うこと、抜管前に TOF比 0.9 以上を定量モニターで確認することを推奨している。日本麻酔科学会の「抜管から術後早期までの安全な気道管理のための臨床ガイドライン」（2025）も、筋弛緩薬を使った患者では手術室退室までに TOF比 0.9 を超える回復を目標にしている。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刺激: 手首の尺骨神経の走行に沿って電極を 2 つ貼る（遠位が陰極。間隔は機器の説明書に従う。ケーブルの色と極性の対応は機器によって異なるので、機器の表示で確認する）。皮膚をアルコールで拭いて乾かし、電極の乾燥を防ぐ。最大上刺激（すべての神経線維が興奮する強さより少し強い電流。多くの機器が校正時に自動で設定する）で、刺激の強さによる変動をなくす。</a:t>
            </a:r>
          </a:p>
          <a:p>
            <a:r>
              <a:rPr lang="ja-JP" altLang="en-US" dirty="0"/>
              <a:t>測定: 母指内転筋の収縮を測る。測り方は、母指の加速度を測る加速度感知型（AMG: acceleromyography）、筋の電気活動を測る筋電図型（EMG: electromyography）、力や変位を測る方式（KMG など）がある。目や指で見る・触れるのは定性評価で、TOF比の数値は出ない。</a:t>
            </a:r>
          </a:p>
          <a:p>
            <a:r>
              <a:rPr lang="ja-JP" altLang="en-US" dirty="0"/>
              <a:t>AMG の注意: 母指が自由に動ける状態でないと測れない（腕を体側に固定すると測れないことがある）。筋弛緩薬を入れる前に校正と基準値の記録が要る。EMG は腕を固定していても測れ、校正の影響が少ない。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TOF（Train-of-Four: 四連刺激）: 2 Hz（0.5 秒間隔）で 4 回刺激し、反応した回数（TOF カウント 0〜4）と、4 回目と 1 回目の反応の比（TOF比 = T4/T1）を見る。非脱分極性筋弛緩薬では減衰（fade）が起き、T4 が小さくなる。繰り返すときは 10〜15 秒以上あける（間隔が短いと反応が小さく出る）。</a:t>
            </a:r>
          </a:p>
          <a:p>
            <a:r>
              <a:rPr lang="ja-JP" altLang="en-US" dirty="0"/>
              <a:t>PTC（post-tetanic count: テタヌス後カウント）: TOF カウントが 0 の深い筋弛緩を評価する。50 Hz のテタヌス刺激を 5 秒与え、3 秒おいて 1 Hz の単収縮刺激を与え、反応した回数を数える。PTC 1〜2 は深い筋弛緩、PTC が増えるほど回復が近い。テタヌス刺激のあとは同じ部位の反応がしばらく大きく出るので、PTC は数分おきにしか繰り返さない。</a:t>
            </a:r>
          </a:p>
          <a:p>
            <a:r>
              <a:rPr lang="ja-JP" altLang="en-US" dirty="0"/>
              <a:t>DBS（double burst stimulation: 二連バースト刺激）: 50 Hz の短いバースト（3 発）を 0.75 秒あけて 2 回与える。2 回目の反応が小さければ減衰あり。触覚では TOF より減衰を感じ取りやすいが、それでも TOF比が約 0.6 を超えると減衰は感じ取りにくく、TOF比 0.9 の確認には使えない。定量モニターでは TOF を使う。</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段階の定義は ASA 2023 ガイドラインの分類（complete / deep / moderate / shallow / minimal / acceptable recovery）に沿う。完全＝PTC 0、深い＝PTC 1 以上かつ TOF カウント 0、中等度＝TOF カウント 1〜3、浅い（shallow）＝TOF カウント 4 かつ TOF比 0.4 未満、最小（minimal）＝TOF比 0.4 以上 0.9 未満、回復（acceptable recovery）＝TOF比 0.9 以上。「深い」の定義は PTC 1 以上で、添付文書の「1〜2 PTC 出現後」は 4 mg/kg を投与するタイミングであって定義ではない。</a:t>
            </a:r>
          </a:p>
          <a:p>
            <a:r>
              <a:rPr lang="ja-JP" altLang="en-US" dirty="0"/>
              <a:t>スガマデクス（ブリディオン）の国内添付文書の用法・用量: 浅い筋弛緩状態（TOF 刺激で 2 回目の単収縮 T2 が再出現した後）には 2 mg/kg、深い筋弛緩状態（PTC 刺激で 1〜2 回の単収縮が出現した後）には 4 mg/kg を静脈内投与する。ロクロニウムの挿管用量投与直後に緊急に回復が必要な場合は、ロクロニウム投与 3 分後を目安に 1 回 16 mg/kg（これも用法・用量に記載がある）。ベクロニウムでのこの使い方は有効性・安全性が確立していない。術中の追加投与のあとで PTC 0 のときは、PTC が出るまで待つ。</a:t>
            </a:r>
          </a:p>
          <a:p>
            <a:r>
              <a:rPr lang="ja-JP" altLang="en-US" dirty="0"/>
              <a:t>TOF カウントが 1 のとき: 添付文書は T2 再出現後の 2 mg/kg を定めているので、T2 が出るまで待つか、深い筋弛緩として 4 mg/kg を使う。施設の方針に従う。</a:t>
            </a:r>
          </a:p>
          <a:p>
            <a:r>
              <a:rPr lang="ja-JP" altLang="en-US" dirty="0"/>
              <a:t>ネオスチグミン: ASA 2023 では、最小（minimal: TOF比 0.4 以上 0.9 未満）の筋弛緩に限り、スガマデクスの代わりとして妥当とされる（条件付き推奨）。深い筋弛緩ほど効きにくく、TOF カウントが少ない段階では十分に拮抗できない。ESAIC 2023 は、TOF比が 0.2 を超えるまで自然回復してからネオスチグミンを始めるよう推奨している。定量モニターがない場合は拮抗から抜管まで少なくとも 10 分あける（ASA 2023 の、アトラクリウム・シスアトラクリウムを定性評価で使うときの推奨）。定量モニターがあれば TOF比 0.9 以上を確認した時点で抜管できる。</a:t>
            </a:r>
          </a:p>
          <a:p>
            <a:r>
              <a:rPr lang="ja-JP" altLang="en-US" dirty="0"/>
              <a:t>回復: 定量モニターで TOF比 0.9 以上を確認したら拮抗薬は不要で、抜管できる。薬の詳細は 3-6 で扱う。</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定性評価: 神経刺激装置で刺激し、母指の動きを目で見る、または指で触れる。TOF カウント（何回動いたか）は分かる。しかし、4 回とも動くようになったあとの減衰は、TOF比が約 0.4 を超えると人の感覚では分からない。つまり、定性評価で「減衰なし」と判断しても、TOF比は 0.4〜0.9 のどこかにあり得る。</a:t>
            </a:r>
          </a:p>
          <a:p>
            <a:r>
              <a:rPr lang="ja-JP" altLang="en-US" dirty="0"/>
              <a:t>定量評価: AMG や EMG は TOF比を数値で表示する。抜管の基準である TOF比 0.9 以上を確認できるのは定量モニターだけである。値は記録に残す。</a:t>
            </a:r>
          </a:p>
          <a:p>
            <a:r>
              <a:rPr lang="ja-JP" altLang="en-US" dirty="0"/>
              <a:t>AMG の特性: AMG では、筋弛緩薬を入れる前の TOF比がもともと 1.0 を超えることが多い（平均 1.10〜1.20 という報告がある。逆減衰）。そのため、測った TOF比を投与前の TOF比で割る（正規化）。正規化しないと回復を過大評価する（例: 投与前 1.4 なら、生の値 0.9 は正規化すると約 0.64）。正規化できないときは、生の値 1.0 以上を目安にする（ESAIC 2023）。校正（最大上刺激と感度の設定）と正規化は別の手順。EMG ではこの問題が少ない。</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母指内転筋: 横隔膜や喉頭の筋より回復が遅い。抜管基準の TOF比 0.9 は、母指内転筋で測った値に基づく。ただし、上気道を開くオトガイ舌筋は母指より筋弛緩薬への感受性が高く、母指で測った回復は上気道の回復を過大評価する。0.9 は「これ未満では抜管しない」最低ラインと考える。ASA 2023 は母指内転筋での測定を推奨している。</a:t>
            </a:r>
          </a:p>
          <a:p>
            <a:r>
              <a:rPr lang="ja-JP" altLang="en-US" dirty="0"/>
              <a:t>眼の周り（皺眉筋・眼輪筋）: 顔面神経を刺激して測る。皺眉筋は喉頭内転筋に近い経過をとるので、作用発現（挿管のタイミング）の目安になる。眼輪筋は母指内転筋に近い感受性を示す。どちらも回復と抜管の判断には使わない。ASA 2023 は眼の周りの筋を筋弛緩モニタリングに使わないよう推奨している（強い推奨）。術中にほかの部位が使えずやむを得ず使ったときは、拮抗の前に母指内転筋に切り替える。</a:t>
            </a:r>
          </a:p>
          <a:p>
            <a:r>
              <a:rPr lang="ja-JP" altLang="en-US" dirty="0"/>
              <a:t>片麻痺・末梢神経障害: 麻痺側は筋弛緩薬に抵抗性で、反応が大きく出る（回復したように見える）。健側で測る。</a:t>
            </a:r>
          </a:p>
          <a:p>
            <a:r>
              <a:rPr lang="ja-JP" altLang="en-US" dirty="0"/>
              <a:t>母指が使えないとき（両手とも術野、固定）: 足（後脛骨神経を刺激し、短母趾屈筋で測る）の値は、母指の値と一致しないことがある（AMG では残存筋弛緩を過小評価したという報告がある）。母趾には決まった前負荷をかけにくく、AMG の校正が不安定になりやすい。できれば拮抗・抜管の前に母指で確認する。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① 導入前に装着: 電極を貼り、ケーブルをつなぎ、母指が自由に動くことを確認する。</a:t>
            </a:r>
          </a:p>
          <a:p>
            <a:r>
              <a:rPr lang="ja-JP" altLang="en-US" dirty="0"/>
              <a:t>② 基準値: 導入薬で入眠したあと、筋弛緩薬を入れる前に校正（AMG）と基準の TOF比を記録する（正規化に使う）。</a:t>
            </a:r>
          </a:p>
          <a:p>
            <a:r>
              <a:rPr lang="ja-JP" altLang="en-US" dirty="0"/>
              <a:t>③ 術中: 手術の要求に応じた深さを保つ（腹腔鏡では深い筋弛緩が求められることがある）。TOF カウントや PTC を定期的に記録する。</a:t>
            </a:r>
          </a:p>
          <a:p>
            <a:r>
              <a:rPr lang="ja-JP" altLang="en-US" dirty="0"/>
              <a:t>④ 拮抗: 深さに応じてスガマデクスの量を決める（前のスライド）。ネオスチグミンは最小の筋弛緩（TOF比 0.4〜0.9 未満）に限る。定量モニターがなければ抜管まで 10 分以上待つ。</a:t>
            </a:r>
          </a:p>
          <a:p>
            <a:r>
              <a:rPr lang="ja-JP" altLang="en-US" dirty="0"/>
              <a:t>⑤ 抜管: 定量モニターで TOF比 0.9 以上を確認してから抜管する。臨床所見だけで判断しない。</a:t>
            </a:r>
          </a:p>
          <a:p>
            <a:r>
              <a:rPr lang="ja-JP" altLang="en-US" dirty="0"/>
              <a:t>再クラーレ化: 拮抗していったん回復した筋弛緩が、また深くなる現象。国内では、スガマデクスを投与したあとの再クラーレ化が報告され、多くは筋弛緩モニターを使わずに量を決めたこと（過少投与）と、投与後の観察不足が関わっていた（日本麻酔科学会 安全委員会の注意喚起、2019年【要確認: 文書名と症例数】）。ネオスチグミンで深い筋弛緩を拮抗しようとしても、十分に回復しない。拮抗したあとも TOF比を測り、抜管後も呼吸を観察する（→ 3-6）。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電極と温度: 電極が乾くと刺激が伝わりにくく、反応が小さく出る。手が冷えると単収縮（T1）が小さく出る（母指内転筋の温度が 1℃下がるごとに張力が約 10% 下がるという総説がある）。T1 で見ると回復が遅く見えるが、TOF比は比較的影響を受けにくいという報告がある。モニターする側の手を覆って温め、電極を貼り直す。</a:t>
            </a:r>
          </a:p>
          <a:p>
            <a:r>
              <a:rPr lang="ja-JP" altLang="en-US" dirty="0"/>
              <a:t>固定: AMG は母指の動きを測るので、腕を体側に固定して母指が動けないと測れない。術前に手の位置を確認し、必要なら EMG を使う。</a:t>
            </a:r>
          </a:p>
          <a:p>
            <a:r>
              <a:rPr lang="ja-JP" altLang="en-US" dirty="0"/>
              <a:t>基準値: 正規化せずに AMG の TOF比を読むと、回復を過大評価する。</a:t>
            </a:r>
          </a:p>
          <a:p>
            <a:r>
              <a:rPr lang="ja-JP" altLang="en-US" dirty="0"/>
              <a:t>部位: 目の周りの筋で TOF比 0.9 と出ても、母指内転筋ではまだ回復していないことがある。</a:t>
            </a:r>
          </a:p>
          <a:p>
            <a:r>
              <a:rPr lang="ja-JP" altLang="en-US" dirty="0"/>
              <a:t>臨床所見: 頭部挙上や握力で「回復した」と判断しない。定量モニターの値で判断する。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次は 3-6（筋弛緩の拮抗と残存筋弛緩）で、スガマデクスとネオスチグミンの薬理と使い分けを扱う。</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筋弛緩モニター</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2-6 モニタリング</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なぜ必ず付けるのか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必要性</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刺激</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判定</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実践</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 / Suzuki T,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 Anesth 2026;40:173-181 / Thilen SR, et al. Anesthesiology 2023;138:13-41</a:t>
            </a:r>
            <a:endParaRPr lang="ja-JP" sz="1600" dirty="0"/>
          </a:p>
        </p:txBody>
      </p:sp>
      <p:sp>
        <p:nvSpPr>
          <p:cNvPr id="11" name="Text 9"/>
          <p:cNvSpPr txBox="1"/>
          <p:nvPr/>
        </p:nvSpPr>
        <p:spPr>
          <a:xfrm>
            <a:off x="502920" y="1600200"/>
            <a:ext cx="5362956" cy="841248"/>
          </a:xfrm>
          <a:prstGeom prst="rect">
            <a:avLst/>
          </a:prstGeom>
          <a:noFill/>
          <a:ln/>
        </p:spPr>
        <p:txBody>
          <a:bodyPr wrap="square" lIns="0" tIns="0" rIns="0" bIns="0" rtlCol="0" anchor="ctr"/>
          <a:lstStyle/>
          <a:p>
            <a:pPr algn="ctr" indent="0" marL="0">
              <a:buNone/>
            </a:pPr>
            <a:r>
              <a:rPr lang="ja-JP" altLang="en-US" sz="4400" b="1" dirty="0">
                <a:solidFill>
                  <a:srgbClr val="D55E00"/>
                </a:solidFill>
                <a:latin typeface="メイリオ" pitchFamily="34" charset="0"/>
                <a:ea typeface="メイリオ" pitchFamily="34" charset="-122"/>
                <a:cs typeface="メイリオ" pitchFamily="34" charset="-120"/>
              </a:rPr>
              <a:t>約 30%</a:t>
            </a:r>
            <a:endParaRPr lang="ja-JP" sz="4400" dirty="0"/>
          </a:p>
        </p:txBody>
      </p:sp>
      <p:sp>
        <p:nvSpPr>
          <p:cNvPr id="12" name="Text 10"/>
          <p:cNvSpPr txBox="1"/>
          <p:nvPr/>
        </p:nvSpPr>
        <p:spPr>
          <a:xfrm>
            <a:off x="502920" y="2514600"/>
            <a:ext cx="5362956" cy="1307592"/>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回復室到着時に</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残存筋弛緩（TOF比 &lt;0.9）が</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ある割合の中央値</a:t>
            </a:r>
            <a:endParaRPr lang="ja-JP" sz="2200" dirty="0"/>
          </a:p>
        </p:txBody>
      </p:sp>
      <p:sp>
        <p:nvSpPr>
          <p:cNvPr id="13" name="Shape 11"/>
          <p:cNvSpPr/>
          <p:nvPr/>
        </p:nvSpPr>
        <p:spPr>
          <a:xfrm>
            <a:off x="6094476" y="1691640"/>
            <a:ext cx="0" cy="2039112"/>
          </a:xfrm>
          <a:prstGeom prst="line">
            <a:avLst/>
          </a:prstGeom>
          <a:noFill/>
          <a:ln w="19050">
            <a:solidFill>
              <a:srgbClr val="D9D9D9"/>
            </a:solidFill>
            <a:prstDash val="solid"/>
          </a:ln>
        </p:spPr>
      </p:sp>
      <p:sp>
        <p:nvSpPr>
          <p:cNvPr id="14" name="Text 12"/>
          <p:cNvSpPr txBox="1"/>
          <p:nvPr/>
        </p:nvSpPr>
        <p:spPr>
          <a:xfrm>
            <a:off x="6323076" y="1600200"/>
            <a:ext cx="5362956" cy="841248"/>
          </a:xfrm>
          <a:prstGeom prst="rect">
            <a:avLst/>
          </a:prstGeom>
          <a:noFill/>
          <a:ln/>
        </p:spPr>
        <p:txBody>
          <a:bodyPr wrap="square" lIns="0" tIns="0" rIns="0" bIns="0" rtlCol="0" anchor="ctr"/>
          <a:lstStyle/>
          <a:p>
            <a:pPr algn="ctr" indent="0" marL="0">
              <a:buNone/>
            </a:pPr>
            <a:r>
              <a:rPr lang="ja-JP" altLang="en-US" sz="3600" b="1" dirty="0">
                <a:solidFill>
                  <a:srgbClr val="D55E00"/>
                </a:solidFill>
                <a:latin typeface="メイリオ" pitchFamily="34" charset="0"/>
                <a:ea typeface="メイリオ" pitchFamily="34" charset="-122"/>
                <a:cs typeface="メイリオ" pitchFamily="34" charset="-120"/>
              </a:rPr>
              <a:t>見た目では分からない</a:t>
            </a:r>
            <a:endParaRPr lang="ja-JP" sz="3600" dirty="0"/>
          </a:p>
        </p:txBody>
      </p:sp>
      <p:sp>
        <p:nvSpPr>
          <p:cNvPr id="15" name="Text 13"/>
          <p:cNvSpPr txBox="1"/>
          <p:nvPr/>
        </p:nvSpPr>
        <p:spPr>
          <a:xfrm>
            <a:off x="6323076" y="2514600"/>
            <a:ext cx="5362956" cy="841248"/>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頭を 5 秒持ち上げられても</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TOF比 0.9 未満はある</a:t>
            </a:r>
            <a:endParaRPr lang="ja-JP" sz="2200" dirty="0"/>
          </a:p>
        </p:txBody>
      </p:sp>
      <p:sp>
        <p:nvSpPr>
          <p:cNvPr id="16" name="Shape 14"/>
          <p:cNvSpPr/>
          <p:nvPr/>
        </p:nvSpPr>
        <p:spPr>
          <a:xfrm>
            <a:off x="502920" y="4041648"/>
            <a:ext cx="5362956" cy="1719072"/>
          </a:xfrm>
          <a:prstGeom prst="roundRect">
            <a:avLst>
              <a:gd name="adj" fmla="val 4255"/>
            </a:avLst>
          </a:prstGeom>
          <a:solidFill>
            <a:srgbClr val="F2F2F2"/>
          </a:solidFill>
          <a:ln/>
        </p:spPr>
      </p:sp>
      <p:sp>
        <p:nvSpPr>
          <p:cNvPr id="17" name="Text 15"/>
          <p:cNvSpPr txBox="1"/>
          <p:nvPr/>
        </p:nvSpPr>
        <p:spPr>
          <a:xfrm>
            <a:off x="640080" y="4178808"/>
            <a:ext cx="50886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JSA 2025</a:t>
            </a:r>
            <a:endParaRPr lang="ja-JP" sz="2400" dirty="0"/>
          </a:p>
        </p:txBody>
      </p:sp>
      <p:sp>
        <p:nvSpPr>
          <p:cNvPr id="18" name="Text 16"/>
          <p:cNvSpPr txBox="1"/>
          <p:nvPr/>
        </p:nvSpPr>
        <p:spPr>
          <a:xfrm>
            <a:off x="640080" y="4709160"/>
            <a:ext cx="5088636" cy="914400"/>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深さを定量的に評価し、</a:t>
            </a:r>
            <a:endParaRPr lang="ja-JP" sz="2200" dirty="0"/>
          </a:p>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抜管前に </a:t>
            </a:r>
            <a:r>
              <a:rPr lang="ja-JP" altLang="en-US" sz="2200" b="1" dirty="0">
                <a:solidFill>
                  <a:srgbClr val="00A8AA"/>
                </a:solidFill>
                <a:latin typeface="メイリオ" pitchFamily="34" charset="0"/>
                <a:ea typeface="メイリオ" pitchFamily="34" charset="-122"/>
                <a:cs typeface="メイリオ" pitchFamily="34" charset="-120"/>
              </a:rPr>
              <a:t>TOF比 0.9 以上</a:t>
            </a:r>
            <a:r>
              <a:rPr lang="ja-JP" altLang="en-US" sz="2200" dirty="0">
                <a:solidFill>
                  <a:srgbClr val="262626"/>
                </a:solidFill>
                <a:latin typeface="メイリオ" pitchFamily="34" charset="0"/>
                <a:ea typeface="メイリオ" pitchFamily="34" charset="-122"/>
                <a:cs typeface="メイリオ" pitchFamily="34" charset="-120"/>
              </a:rPr>
              <a:t>を確認</a:t>
            </a:r>
            <a:endParaRPr lang="ja-JP" sz="2200" dirty="0"/>
          </a:p>
        </p:txBody>
      </p:sp>
      <p:sp>
        <p:nvSpPr>
          <p:cNvPr id="19" name="Shape 17"/>
          <p:cNvSpPr/>
          <p:nvPr/>
        </p:nvSpPr>
        <p:spPr>
          <a:xfrm>
            <a:off x="6323076" y="4041648"/>
            <a:ext cx="5362956" cy="1719072"/>
          </a:xfrm>
          <a:prstGeom prst="roundRect">
            <a:avLst>
              <a:gd name="adj" fmla="val 4255"/>
            </a:avLst>
          </a:prstGeom>
          <a:solidFill>
            <a:srgbClr val="F2F2F2"/>
          </a:solidFill>
          <a:ln/>
        </p:spPr>
      </p:sp>
      <p:sp>
        <p:nvSpPr>
          <p:cNvPr id="20" name="Text 18"/>
          <p:cNvSpPr txBox="1"/>
          <p:nvPr/>
        </p:nvSpPr>
        <p:spPr>
          <a:xfrm>
            <a:off x="6460236" y="4178808"/>
            <a:ext cx="50886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ASA 2023</a:t>
            </a:r>
            <a:endParaRPr lang="ja-JP" sz="2400" dirty="0"/>
          </a:p>
        </p:txBody>
      </p:sp>
      <p:sp>
        <p:nvSpPr>
          <p:cNvPr id="21" name="Text 19"/>
          <p:cNvSpPr txBox="1"/>
          <p:nvPr/>
        </p:nvSpPr>
        <p:spPr>
          <a:xfrm>
            <a:off x="6460236" y="4709160"/>
            <a:ext cx="5088636" cy="914400"/>
          </a:xfrm>
          <a:prstGeom prst="rect">
            <a:avLst/>
          </a:prstGeom>
          <a:noFill/>
          <a:ln/>
        </p:spPr>
        <p:txBody>
          <a:bodyPr wrap="square" lIns="0" tIns="0" rIns="0" bIns="0" rtlCol="0" anchor="t"/>
          <a:lstStyle/>
          <a:p>
            <a:pPr algn="l" indent="0" marL="0">
              <a:spcAft>
                <a:spcPts val="600"/>
              </a:spcAft>
              <a:buNone/>
            </a:pPr>
            <a:r>
              <a:rPr lang="ja-JP" altLang="en-US" sz="2200" dirty="0">
                <a:solidFill>
                  <a:srgbClr val="262626"/>
                </a:solidFill>
                <a:latin typeface="メイリオ" pitchFamily="34" charset="0"/>
                <a:ea typeface="メイリオ" pitchFamily="34" charset="-122"/>
                <a:cs typeface="メイリオ" pitchFamily="34" charset="-120"/>
              </a:rPr>
              <a:t>定量モニターを使い、</a:t>
            </a:r>
            <a:endParaRPr lang="ja-JP" sz="2200" dirty="0"/>
          </a:p>
          <a:p>
            <a:pPr algn="l" indent="0" marL="0">
              <a:spcAft>
                <a:spcPts val="600"/>
              </a:spcAft>
              <a:buNone/>
            </a:pPr>
            <a:r>
              <a:rPr lang="ja-JP" altLang="en-US" sz="2200" b="1" dirty="0">
                <a:solidFill>
                  <a:srgbClr val="00A8AA"/>
                </a:solidFill>
                <a:latin typeface="メイリオ" pitchFamily="34" charset="0"/>
                <a:ea typeface="メイリオ" pitchFamily="34" charset="-122"/>
                <a:cs typeface="メイリオ" pitchFamily="34" charset="-120"/>
              </a:rPr>
              <a:t>TOF比 0.9 以上</a:t>
            </a:r>
            <a:r>
              <a:rPr lang="ja-JP" altLang="en-US" sz="2200" dirty="0">
                <a:solidFill>
                  <a:srgbClr val="262626"/>
                </a:solidFill>
                <a:latin typeface="メイリオ" pitchFamily="34" charset="0"/>
                <a:ea typeface="メイリオ" pitchFamily="34" charset="-122"/>
                <a:cs typeface="メイリオ" pitchFamily="34" charset="-120"/>
              </a:rPr>
              <a:t>を確認して抜管</a:t>
            </a:r>
            <a:endParaRPr lang="ja-JP"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どこを刺激し何を測るか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必要性</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原理</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刺激</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判定</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実践</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Thilen SR, et al. Anesthesiology 2023;138:13-41</a:t>
            </a:r>
            <a:endParaRPr lang="ja-JP" sz="1600" dirty="0"/>
          </a:p>
        </p:txBody>
      </p:sp>
      <p:sp>
        <p:nvSpPr>
          <p:cNvPr id="11" name="Shape 9"/>
          <p:cNvSpPr/>
          <p:nvPr/>
        </p:nvSpPr>
        <p:spPr>
          <a:xfrm>
            <a:off x="548640" y="3543300"/>
            <a:ext cx="2743200" cy="1371600"/>
          </a:xfrm>
          <a:prstGeom prst="roundRect">
            <a:avLst>
              <a:gd name="adj" fmla="val 20000"/>
            </a:avLst>
          </a:prstGeom>
          <a:solidFill>
            <a:srgbClr val="F2F2F2"/>
          </a:solidFill>
          <a:ln w="19050">
            <a:solidFill>
              <a:srgbClr val="7F7F7F"/>
            </a:solidFill>
            <a:prstDash val="solid"/>
          </a:ln>
        </p:spPr>
      </p:sp>
      <p:sp>
        <p:nvSpPr>
          <p:cNvPr id="12" name="Shape 10"/>
          <p:cNvSpPr/>
          <p:nvPr/>
        </p:nvSpPr>
        <p:spPr>
          <a:xfrm>
            <a:off x="3291840" y="3383280"/>
            <a:ext cx="1463040" cy="1691640"/>
          </a:xfrm>
          <a:prstGeom prst="roundRect">
            <a:avLst>
              <a:gd name="adj" fmla="val 18750"/>
            </a:avLst>
          </a:prstGeom>
          <a:solidFill>
            <a:srgbClr val="F2F2F2"/>
          </a:solidFill>
          <a:ln w="19050">
            <a:solidFill>
              <a:srgbClr val="7F7F7F"/>
            </a:solidFill>
            <a:prstDash val="solid"/>
          </a:ln>
        </p:spPr>
      </p:sp>
      <p:sp>
        <p:nvSpPr>
          <p:cNvPr id="13" name="Shape 11"/>
          <p:cNvSpPr/>
          <p:nvPr/>
        </p:nvSpPr>
        <p:spPr>
          <a:xfrm>
            <a:off x="3520440" y="2560320"/>
            <a:ext cx="548640" cy="822960"/>
          </a:xfrm>
          <a:prstGeom prst="roundRect">
            <a:avLst>
              <a:gd name="adj" fmla="val 33333"/>
            </a:avLst>
          </a:prstGeom>
          <a:solidFill>
            <a:srgbClr val="F2F2F2"/>
          </a:solidFill>
          <a:ln w="19050">
            <a:solidFill>
              <a:srgbClr val="7F7F7F"/>
            </a:solidFill>
            <a:prstDash val="solid"/>
          </a:ln>
        </p:spPr>
      </p:sp>
      <p:sp>
        <p:nvSpPr>
          <p:cNvPr id="14" name="Shape 12"/>
          <p:cNvSpPr/>
          <p:nvPr/>
        </p:nvSpPr>
        <p:spPr>
          <a:xfrm>
            <a:off x="1115568" y="4393692"/>
            <a:ext cx="384048" cy="384048"/>
          </a:xfrm>
          <a:prstGeom prst="ellipse">
            <a:avLst/>
          </a:prstGeom>
          <a:solidFill>
            <a:srgbClr val="0072B2"/>
          </a:solidFill>
          <a:ln/>
        </p:spPr>
      </p:sp>
      <p:sp>
        <p:nvSpPr>
          <p:cNvPr id="15" name="Shape 13"/>
          <p:cNvSpPr/>
          <p:nvPr/>
        </p:nvSpPr>
        <p:spPr>
          <a:xfrm>
            <a:off x="2715768" y="4393692"/>
            <a:ext cx="384048" cy="384048"/>
          </a:xfrm>
          <a:prstGeom prst="ellipse">
            <a:avLst/>
          </a:prstGeom>
          <a:solidFill>
            <a:srgbClr val="D55E00"/>
          </a:solidFill>
          <a:ln/>
        </p:spPr>
      </p:sp>
      <p:sp>
        <p:nvSpPr>
          <p:cNvPr id="16" name="Shape 14"/>
          <p:cNvSpPr/>
          <p:nvPr/>
        </p:nvSpPr>
        <p:spPr>
          <a:xfrm>
            <a:off x="1307592" y="4832604"/>
            <a:ext cx="0" cy="374904"/>
          </a:xfrm>
          <a:prstGeom prst="line">
            <a:avLst/>
          </a:prstGeom>
          <a:noFill/>
          <a:ln w="19050">
            <a:solidFill>
              <a:srgbClr val="0072B2"/>
            </a:solidFill>
            <a:prstDash val="solid"/>
          </a:ln>
        </p:spPr>
      </p:sp>
      <p:sp>
        <p:nvSpPr>
          <p:cNvPr id="17" name="Shape 15"/>
          <p:cNvSpPr/>
          <p:nvPr/>
        </p:nvSpPr>
        <p:spPr>
          <a:xfrm>
            <a:off x="2907792" y="4832604"/>
            <a:ext cx="0" cy="374904"/>
          </a:xfrm>
          <a:prstGeom prst="line">
            <a:avLst/>
          </a:prstGeom>
          <a:noFill/>
          <a:ln w="19050">
            <a:solidFill>
              <a:srgbClr val="D55E00"/>
            </a:solidFill>
            <a:prstDash val="solid"/>
          </a:ln>
        </p:spPr>
      </p:sp>
      <p:sp>
        <p:nvSpPr>
          <p:cNvPr id="18" name="Text 16"/>
          <p:cNvSpPr txBox="1"/>
          <p:nvPr/>
        </p:nvSpPr>
        <p:spPr>
          <a:xfrm>
            <a:off x="507492" y="5262372"/>
            <a:ext cx="1600200" cy="457200"/>
          </a:xfrm>
          <a:prstGeom prst="rect">
            <a:avLst/>
          </a:prstGeom>
          <a:noFill/>
          <a:ln/>
        </p:spPr>
        <p:txBody>
          <a:bodyPr wrap="square" lIns="0" tIns="0" rIns="0" bIns="0" rtlCol="0" anchor="ctr"/>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＋（陽極）</a:t>
            </a:r>
            <a:endParaRPr lang="ja-JP" sz="2200" dirty="0"/>
          </a:p>
        </p:txBody>
      </p:sp>
      <p:sp>
        <p:nvSpPr>
          <p:cNvPr id="19" name="Text 17"/>
          <p:cNvSpPr txBox="1"/>
          <p:nvPr/>
        </p:nvSpPr>
        <p:spPr>
          <a:xfrm>
            <a:off x="2107692" y="5262372"/>
            <a:ext cx="1600200" cy="457200"/>
          </a:xfrm>
          <a:prstGeom prst="rect">
            <a:avLst/>
          </a:prstGeom>
          <a:noFill/>
          <a:ln/>
        </p:spPr>
        <p:txBody>
          <a:bodyPr wrap="square" lIns="0" tIns="0" rIns="0" bIns="0" rtlCol="0" anchor="ctr"/>
          <a:lstStyle/>
          <a:p>
            <a:pPr algn="ctr" indent="0" marL="0">
              <a:buNone/>
            </a:pPr>
            <a:r>
              <a:rPr lang="ja-JP" altLang="en-US" sz="2200" b="1" dirty="0">
                <a:solidFill>
                  <a:srgbClr val="D55E00"/>
                </a:solidFill>
                <a:latin typeface="メイリオ" pitchFamily="34" charset="0"/>
                <a:ea typeface="メイリオ" pitchFamily="34" charset="-122"/>
                <a:cs typeface="メイリオ" pitchFamily="34" charset="-120"/>
              </a:rPr>
              <a:t>−（陰極）</a:t>
            </a:r>
            <a:endParaRPr lang="ja-JP" sz="2200" dirty="0"/>
          </a:p>
        </p:txBody>
      </p:sp>
      <p:sp>
        <p:nvSpPr>
          <p:cNvPr id="20" name="Shape 18"/>
          <p:cNvSpPr/>
          <p:nvPr/>
        </p:nvSpPr>
        <p:spPr>
          <a:xfrm>
            <a:off x="3825715" y="2496852"/>
            <a:ext cx="667986" cy="340356"/>
          </a:xfrm>
          <a:custGeom>
            <a:avLst/>
            <a:gdLst/>
            <a:ahLst/>
            <a:cxnLst/>
            <a:rect l="l" t="t" r="r" b="b"/>
            <a:pathLst>
              <a:path w="667986" h="340356">
                <a:moveTo>
                  <a:pt x="0" y="0"/>
                </a:moveTo>
                <a:lnTo>
                  <a:pt x="31090" y="1829"/>
                </a:lnTo>
                <a:lnTo>
                  <a:pt x="62179" y="4572"/>
                </a:lnTo>
                <a:lnTo>
                  <a:pt x="92354" y="8230"/>
                </a:lnTo>
                <a:lnTo>
                  <a:pt x="123444" y="12802"/>
                </a:lnTo>
                <a:lnTo>
                  <a:pt x="153619" y="19202"/>
                </a:lnTo>
                <a:lnTo>
                  <a:pt x="183794" y="25603"/>
                </a:lnTo>
                <a:lnTo>
                  <a:pt x="213970" y="33833"/>
                </a:lnTo>
                <a:lnTo>
                  <a:pt x="243230" y="42977"/>
                </a:lnTo>
                <a:lnTo>
                  <a:pt x="272491" y="53035"/>
                </a:lnTo>
                <a:lnTo>
                  <a:pt x="301752" y="64008"/>
                </a:lnTo>
                <a:lnTo>
                  <a:pt x="330098" y="75895"/>
                </a:lnTo>
                <a:lnTo>
                  <a:pt x="357530" y="89611"/>
                </a:lnTo>
                <a:lnTo>
                  <a:pt x="385877" y="103327"/>
                </a:lnTo>
                <a:lnTo>
                  <a:pt x="412394" y="117958"/>
                </a:lnTo>
                <a:lnTo>
                  <a:pt x="438912" y="134417"/>
                </a:lnTo>
                <a:lnTo>
                  <a:pt x="465430" y="150876"/>
                </a:lnTo>
                <a:lnTo>
                  <a:pt x="490118" y="169164"/>
                </a:lnTo>
                <a:lnTo>
                  <a:pt x="514807" y="187452"/>
                </a:lnTo>
                <a:lnTo>
                  <a:pt x="539496" y="206654"/>
                </a:lnTo>
                <a:lnTo>
                  <a:pt x="562356" y="227686"/>
                </a:lnTo>
                <a:lnTo>
                  <a:pt x="585216" y="248717"/>
                </a:lnTo>
                <a:lnTo>
                  <a:pt x="607162" y="270662"/>
                </a:lnTo>
                <a:lnTo>
                  <a:pt x="628193" y="292608"/>
                </a:lnTo>
                <a:lnTo>
                  <a:pt x="648310" y="316382"/>
                </a:lnTo>
                <a:lnTo>
                  <a:pt x="668426" y="340157"/>
                </a:lnTo>
              </a:path>
            </a:pathLst>
          </a:custGeom>
          <a:noFill/>
          <a:ln w="44450">
            <a:solidFill>
              <a:srgbClr val="00A8AA"/>
            </a:solidFill>
            <a:prstDash val="solid"/>
          </a:ln>
        </p:spPr>
      </p:sp>
      <p:sp>
        <p:nvSpPr>
          <p:cNvPr id="21" name="Shape 19"/>
          <p:cNvSpPr/>
          <p:nvPr/>
        </p:nvSpPr>
        <p:spPr>
          <a:xfrm>
            <a:off x="4350223" y="2690306"/>
            <a:ext cx="212674" cy="249490"/>
          </a:xfrm>
          <a:custGeom>
            <a:avLst/>
            <a:gdLst/>
            <a:ahLst/>
            <a:cxnLst/>
            <a:rect l="l" t="t" r="r" b="b"/>
            <a:pathLst>
              <a:path w="212674" h="249490">
                <a:moveTo>
                  <a:pt x="213055" y="249631"/>
                </a:moveTo>
                <a:lnTo>
                  <a:pt x="0" y="118872"/>
                </a:lnTo>
                <a:lnTo>
                  <a:pt x="205740" y="0"/>
                </a:lnTo>
                <a:close/>
              </a:path>
            </a:pathLst>
          </a:custGeom>
          <a:solidFill>
            <a:srgbClr val="00A8AA"/>
          </a:solidFill>
          <a:ln w="12700">
            <a:solidFill>
              <a:srgbClr val="00A8AA"/>
            </a:solidFill>
            <a:prstDash val="solid"/>
          </a:ln>
        </p:spPr>
      </p:sp>
      <p:sp>
        <p:nvSpPr>
          <p:cNvPr id="22" name="Text 20"/>
          <p:cNvSpPr txBox="1"/>
          <p:nvPr/>
        </p:nvSpPr>
        <p:spPr>
          <a:xfrm>
            <a:off x="2148840" y="1691640"/>
            <a:ext cx="2606040" cy="457200"/>
          </a:xfrm>
          <a:prstGeom prst="rect">
            <a:avLst/>
          </a:prstGeom>
          <a:noFill/>
          <a:ln/>
        </p:spPr>
        <p:txBody>
          <a:bodyPr wrap="square" lIns="0" tIns="0" rIns="0" bIns="0" rtlCol="0" anchor="ctr"/>
          <a:lstStyle/>
          <a:p>
            <a:pPr algn="ctr" indent="0" marL="0">
              <a:buNone/>
            </a:pPr>
            <a:r>
              <a:rPr lang="ja-JP" altLang="en-US" sz="2200" b="1" dirty="0">
                <a:solidFill>
                  <a:srgbClr val="00A8AA"/>
                </a:solidFill>
                <a:latin typeface="メイリオ" pitchFamily="34" charset="0"/>
                <a:ea typeface="メイリオ" pitchFamily="34" charset="-122"/>
                <a:cs typeface="メイリオ" pitchFamily="34" charset="-120"/>
              </a:rPr>
              <a:t>母指内転筋の反応</a:t>
            </a:r>
            <a:endParaRPr lang="ja-JP" sz="2200" dirty="0"/>
          </a:p>
        </p:txBody>
      </p:sp>
      <p:sp>
        <p:nvSpPr>
          <p:cNvPr id="23" name="Shape 21"/>
          <p:cNvSpPr/>
          <p:nvPr/>
        </p:nvSpPr>
        <p:spPr>
          <a:xfrm>
            <a:off x="4238244" y="2203704"/>
            <a:ext cx="0" cy="338287"/>
          </a:xfrm>
          <a:prstGeom prst="line">
            <a:avLst/>
          </a:prstGeom>
          <a:noFill/>
          <a:ln w="19050">
            <a:solidFill>
              <a:srgbClr val="00A8AA"/>
            </a:solidFill>
            <a:prstDash val="solid"/>
          </a:ln>
        </p:spPr>
      </p:sp>
      <p:sp>
        <p:nvSpPr>
          <p:cNvPr id="24" name="Text 22"/>
          <p:cNvSpPr txBox="1"/>
          <p:nvPr/>
        </p:nvSpPr>
        <p:spPr>
          <a:xfrm>
            <a:off x="4983480" y="2377440"/>
            <a:ext cx="6702552" cy="2843784"/>
          </a:xfrm>
          <a:prstGeom prst="rect">
            <a:avLst/>
          </a:prstGeom>
          <a:noFill/>
          <a:ln/>
        </p:spPr>
        <p:txBody>
          <a:bodyPr wrap="square" lIns="0" tIns="0" rIns="0" bIns="0" rtlCol="0" anchor="t"/>
          <a:lstStyle/>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尺骨神経を最大上刺激する</a:t>
            </a:r>
            <a:endParaRPr lang="ja-JP" sz="2400" dirty="0"/>
          </a:p>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母指内転筋の動きを測る</a:t>
            </a:r>
            <a:endParaRPr lang="ja-JP" sz="2400" dirty="0"/>
          </a:p>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電極は手首の尺骨側、遠位に</a:t>
            </a:r>
            <a:r>
              <a:rPr lang="ja-JP" altLang="en-US" sz="2400" b="1" dirty="0">
                <a:solidFill>
                  <a:srgbClr val="D55E00"/>
                </a:solidFill>
                <a:latin typeface="メイリオ" pitchFamily="34" charset="0"/>
                <a:ea typeface="メイリオ" pitchFamily="34" charset="-122"/>
                <a:cs typeface="メイリオ" pitchFamily="34" charset="-120"/>
              </a:rPr>
              <a:t>陰極</a:t>
            </a:r>
            <a:endParaRPr lang="ja-JP" sz="2400" dirty="0"/>
          </a:p>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加速度（AMG）か筋電図（EMG）で数値化</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刺激パターン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必要性</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刺激</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判定</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実践</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Thilen SR, et al. Anesthesiology 2023;138:13-41</a:t>
            </a:r>
            <a:endParaRPr lang="ja-JP" sz="1600" dirty="0"/>
          </a:p>
        </p:txBody>
      </p:sp>
      <p:sp>
        <p:nvSpPr>
          <p:cNvPr id="11" name="Shape 9"/>
          <p:cNvSpPr/>
          <p:nvPr/>
        </p:nvSpPr>
        <p:spPr>
          <a:xfrm>
            <a:off x="502920" y="1691640"/>
            <a:ext cx="3456432" cy="4370832"/>
          </a:xfrm>
          <a:prstGeom prst="roundRect">
            <a:avLst>
              <a:gd name="adj" fmla="val 2116"/>
            </a:avLst>
          </a:prstGeom>
          <a:solidFill>
            <a:srgbClr val="F2F2F2"/>
          </a:solidFill>
          <a:ln/>
        </p:spPr>
      </p:sp>
      <p:sp>
        <p:nvSpPr>
          <p:cNvPr id="12" name="Shape 10"/>
          <p:cNvSpPr/>
          <p:nvPr/>
        </p:nvSpPr>
        <p:spPr>
          <a:xfrm>
            <a:off x="731520" y="2377440"/>
            <a:ext cx="2999232" cy="0"/>
          </a:xfrm>
          <a:prstGeom prst="line">
            <a:avLst/>
          </a:prstGeom>
          <a:noFill/>
          <a:ln w="12700">
            <a:solidFill>
              <a:srgbClr val="7F7F7F"/>
            </a:solidFill>
            <a:prstDash val="solid"/>
          </a:ln>
        </p:spPr>
      </p:sp>
      <p:sp>
        <p:nvSpPr>
          <p:cNvPr id="13" name="Shape 11"/>
          <p:cNvSpPr/>
          <p:nvPr/>
        </p:nvSpPr>
        <p:spPr>
          <a:xfrm>
            <a:off x="1243584" y="1874520"/>
            <a:ext cx="0" cy="502920"/>
          </a:xfrm>
          <a:prstGeom prst="line">
            <a:avLst/>
          </a:prstGeom>
          <a:noFill/>
          <a:ln w="38100">
            <a:solidFill>
              <a:srgbClr val="0072B2"/>
            </a:solidFill>
            <a:prstDash val="solid"/>
          </a:ln>
        </p:spPr>
      </p:sp>
      <p:sp>
        <p:nvSpPr>
          <p:cNvPr id="14" name="Shape 12"/>
          <p:cNvSpPr/>
          <p:nvPr/>
        </p:nvSpPr>
        <p:spPr>
          <a:xfrm>
            <a:off x="1901952" y="1874520"/>
            <a:ext cx="0" cy="502920"/>
          </a:xfrm>
          <a:prstGeom prst="line">
            <a:avLst/>
          </a:prstGeom>
          <a:noFill/>
          <a:ln w="38100">
            <a:solidFill>
              <a:srgbClr val="0072B2"/>
            </a:solidFill>
            <a:prstDash val="solid"/>
          </a:ln>
        </p:spPr>
      </p:sp>
      <p:sp>
        <p:nvSpPr>
          <p:cNvPr id="15" name="Shape 13"/>
          <p:cNvSpPr/>
          <p:nvPr/>
        </p:nvSpPr>
        <p:spPr>
          <a:xfrm>
            <a:off x="2560320" y="1874520"/>
            <a:ext cx="0" cy="502920"/>
          </a:xfrm>
          <a:prstGeom prst="line">
            <a:avLst/>
          </a:prstGeom>
          <a:noFill/>
          <a:ln w="38100">
            <a:solidFill>
              <a:srgbClr val="0072B2"/>
            </a:solidFill>
            <a:prstDash val="solid"/>
          </a:ln>
        </p:spPr>
      </p:sp>
      <p:sp>
        <p:nvSpPr>
          <p:cNvPr id="16" name="Shape 14"/>
          <p:cNvSpPr/>
          <p:nvPr/>
        </p:nvSpPr>
        <p:spPr>
          <a:xfrm>
            <a:off x="3218688" y="1874520"/>
            <a:ext cx="0" cy="502920"/>
          </a:xfrm>
          <a:prstGeom prst="line">
            <a:avLst/>
          </a:prstGeom>
          <a:noFill/>
          <a:ln w="38100">
            <a:solidFill>
              <a:srgbClr val="0072B2"/>
            </a:solidFill>
            <a:prstDash val="solid"/>
          </a:ln>
        </p:spPr>
      </p:sp>
      <p:sp>
        <p:nvSpPr>
          <p:cNvPr id="17" name="Text 15"/>
          <p:cNvSpPr txBox="1"/>
          <p:nvPr/>
        </p:nvSpPr>
        <p:spPr>
          <a:xfrm>
            <a:off x="640080" y="2542032"/>
            <a:ext cx="3182112" cy="960120"/>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TOF</a:t>
            </a:r>
            <a:endParaRPr lang="ja-JP" sz="2200" dirty="0"/>
          </a:p>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（四連刺激）</a:t>
            </a:r>
            <a:endParaRPr lang="ja-JP" sz="2200" dirty="0"/>
          </a:p>
        </p:txBody>
      </p:sp>
      <p:sp>
        <p:nvSpPr>
          <p:cNvPr id="18" name="Text 16"/>
          <p:cNvSpPr txBox="1"/>
          <p:nvPr/>
        </p:nvSpPr>
        <p:spPr>
          <a:xfrm>
            <a:off x="640080" y="3630168"/>
            <a:ext cx="318211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2 Hz で 4 発</a:t>
            </a:r>
            <a:endParaRPr lang="ja-JP" sz="2200" dirty="0"/>
          </a:p>
        </p:txBody>
      </p:sp>
      <p:sp>
        <p:nvSpPr>
          <p:cNvPr id="19" name="Text 17"/>
          <p:cNvSpPr txBox="1"/>
          <p:nvPr/>
        </p:nvSpPr>
        <p:spPr>
          <a:xfrm>
            <a:off x="640080" y="4142232"/>
            <a:ext cx="318211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カウント 0–4 と</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比 T4/T1</a:t>
            </a:r>
            <a:endParaRPr lang="ja-JP" sz="2200" dirty="0"/>
          </a:p>
        </p:txBody>
      </p:sp>
      <p:sp>
        <p:nvSpPr>
          <p:cNvPr id="20" name="Text 18"/>
          <p:cNvSpPr txBox="1"/>
          <p:nvPr/>
        </p:nvSpPr>
        <p:spPr>
          <a:xfrm>
            <a:off x="640080" y="5074920"/>
            <a:ext cx="318211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10 秒以上あけて</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繰り返す</a:t>
            </a:r>
            <a:endParaRPr lang="ja-JP" sz="2200" dirty="0"/>
          </a:p>
        </p:txBody>
      </p:sp>
      <p:sp>
        <p:nvSpPr>
          <p:cNvPr id="21" name="Shape 19"/>
          <p:cNvSpPr/>
          <p:nvPr/>
        </p:nvSpPr>
        <p:spPr>
          <a:xfrm>
            <a:off x="4233672" y="1691640"/>
            <a:ext cx="3721608" cy="4370832"/>
          </a:xfrm>
          <a:prstGeom prst="roundRect">
            <a:avLst>
              <a:gd name="adj" fmla="val 1966"/>
            </a:avLst>
          </a:prstGeom>
          <a:solidFill>
            <a:srgbClr val="F2F2F2"/>
          </a:solidFill>
          <a:ln/>
        </p:spPr>
      </p:sp>
      <p:sp>
        <p:nvSpPr>
          <p:cNvPr id="22" name="Shape 20"/>
          <p:cNvSpPr/>
          <p:nvPr/>
        </p:nvSpPr>
        <p:spPr>
          <a:xfrm>
            <a:off x="4462272" y="2377440"/>
            <a:ext cx="3264408" cy="0"/>
          </a:xfrm>
          <a:prstGeom prst="line">
            <a:avLst/>
          </a:prstGeom>
          <a:noFill/>
          <a:ln w="12700">
            <a:solidFill>
              <a:srgbClr val="7F7F7F"/>
            </a:solidFill>
            <a:prstDash val="solid"/>
          </a:ln>
        </p:spPr>
      </p:sp>
      <p:sp>
        <p:nvSpPr>
          <p:cNvPr id="23" name="Shape 21"/>
          <p:cNvSpPr/>
          <p:nvPr/>
        </p:nvSpPr>
        <p:spPr>
          <a:xfrm>
            <a:off x="4711446" y="1874520"/>
            <a:ext cx="0" cy="502920"/>
          </a:xfrm>
          <a:prstGeom prst="line">
            <a:avLst/>
          </a:prstGeom>
          <a:noFill/>
          <a:ln w="25400">
            <a:solidFill>
              <a:srgbClr val="D55E00"/>
            </a:solidFill>
            <a:prstDash val="solid"/>
          </a:ln>
        </p:spPr>
      </p:sp>
      <p:sp>
        <p:nvSpPr>
          <p:cNvPr id="24" name="Shape 22"/>
          <p:cNvSpPr/>
          <p:nvPr/>
        </p:nvSpPr>
        <p:spPr>
          <a:xfrm>
            <a:off x="4752594" y="1874520"/>
            <a:ext cx="0" cy="502920"/>
          </a:xfrm>
          <a:prstGeom prst="line">
            <a:avLst/>
          </a:prstGeom>
          <a:noFill/>
          <a:ln w="25400">
            <a:solidFill>
              <a:srgbClr val="D55E00"/>
            </a:solidFill>
            <a:prstDash val="solid"/>
          </a:ln>
        </p:spPr>
      </p:sp>
      <p:sp>
        <p:nvSpPr>
          <p:cNvPr id="25" name="Shape 23"/>
          <p:cNvSpPr/>
          <p:nvPr/>
        </p:nvSpPr>
        <p:spPr>
          <a:xfrm>
            <a:off x="4793742" y="1874520"/>
            <a:ext cx="0" cy="502920"/>
          </a:xfrm>
          <a:prstGeom prst="line">
            <a:avLst/>
          </a:prstGeom>
          <a:noFill/>
          <a:ln w="25400">
            <a:solidFill>
              <a:srgbClr val="D55E00"/>
            </a:solidFill>
            <a:prstDash val="solid"/>
          </a:ln>
        </p:spPr>
      </p:sp>
      <p:sp>
        <p:nvSpPr>
          <p:cNvPr id="26" name="Shape 24"/>
          <p:cNvSpPr/>
          <p:nvPr/>
        </p:nvSpPr>
        <p:spPr>
          <a:xfrm>
            <a:off x="4834890" y="1874520"/>
            <a:ext cx="0" cy="502920"/>
          </a:xfrm>
          <a:prstGeom prst="line">
            <a:avLst/>
          </a:prstGeom>
          <a:noFill/>
          <a:ln w="25400">
            <a:solidFill>
              <a:srgbClr val="D55E00"/>
            </a:solidFill>
            <a:prstDash val="solid"/>
          </a:ln>
        </p:spPr>
      </p:sp>
      <p:sp>
        <p:nvSpPr>
          <p:cNvPr id="27" name="Shape 25"/>
          <p:cNvSpPr/>
          <p:nvPr/>
        </p:nvSpPr>
        <p:spPr>
          <a:xfrm>
            <a:off x="4876038" y="1874520"/>
            <a:ext cx="0" cy="502920"/>
          </a:xfrm>
          <a:prstGeom prst="line">
            <a:avLst/>
          </a:prstGeom>
          <a:noFill/>
          <a:ln w="25400">
            <a:solidFill>
              <a:srgbClr val="D55E00"/>
            </a:solidFill>
            <a:prstDash val="solid"/>
          </a:ln>
        </p:spPr>
      </p:sp>
      <p:sp>
        <p:nvSpPr>
          <p:cNvPr id="28" name="Shape 26"/>
          <p:cNvSpPr/>
          <p:nvPr/>
        </p:nvSpPr>
        <p:spPr>
          <a:xfrm>
            <a:off x="4917186" y="1874520"/>
            <a:ext cx="0" cy="502920"/>
          </a:xfrm>
          <a:prstGeom prst="line">
            <a:avLst/>
          </a:prstGeom>
          <a:noFill/>
          <a:ln w="25400">
            <a:solidFill>
              <a:srgbClr val="D55E00"/>
            </a:solidFill>
            <a:prstDash val="solid"/>
          </a:ln>
        </p:spPr>
      </p:sp>
      <p:sp>
        <p:nvSpPr>
          <p:cNvPr id="29" name="Shape 27"/>
          <p:cNvSpPr/>
          <p:nvPr/>
        </p:nvSpPr>
        <p:spPr>
          <a:xfrm>
            <a:off x="4958334" y="1874520"/>
            <a:ext cx="0" cy="502920"/>
          </a:xfrm>
          <a:prstGeom prst="line">
            <a:avLst/>
          </a:prstGeom>
          <a:noFill/>
          <a:ln w="25400">
            <a:solidFill>
              <a:srgbClr val="D55E00"/>
            </a:solidFill>
            <a:prstDash val="solid"/>
          </a:ln>
        </p:spPr>
      </p:sp>
      <p:sp>
        <p:nvSpPr>
          <p:cNvPr id="30" name="Shape 28"/>
          <p:cNvSpPr/>
          <p:nvPr/>
        </p:nvSpPr>
        <p:spPr>
          <a:xfrm>
            <a:off x="4999482" y="1874520"/>
            <a:ext cx="0" cy="502920"/>
          </a:xfrm>
          <a:prstGeom prst="line">
            <a:avLst/>
          </a:prstGeom>
          <a:noFill/>
          <a:ln w="25400">
            <a:solidFill>
              <a:srgbClr val="D55E00"/>
            </a:solidFill>
            <a:prstDash val="solid"/>
          </a:ln>
        </p:spPr>
      </p:sp>
      <p:sp>
        <p:nvSpPr>
          <p:cNvPr id="31" name="Shape 29"/>
          <p:cNvSpPr/>
          <p:nvPr/>
        </p:nvSpPr>
        <p:spPr>
          <a:xfrm>
            <a:off x="5040630" y="1874520"/>
            <a:ext cx="0" cy="502920"/>
          </a:xfrm>
          <a:prstGeom prst="line">
            <a:avLst/>
          </a:prstGeom>
          <a:noFill/>
          <a:ln w="25400">
            <a:solidFill>
              <a:srgbClr val="D55E00"/>
            </a:solidFill>
            <a:prstDash val="solid"/>
          </a:ln>
        </p:spPr>
      </p:sp>
      <p:sp>
        <p:nvSpPr>
          <p:cNvPr id="32" name="Shape 30"/>
          <p:cNvSpPr/>
          <p:nvPr/>
        </p:nvSpPr>
        <p:spPr>
          <a:xfrm>
            <a:off x="5081778" y="1874520"/>
            <a:ext cx="0" cy="502920"/>
          </a:xfrm>
          <a:prstGeom prst="line">
            <a:avLst/>
          </a:prstGeom>
          <a:noFill/>
          <a:ln w="25400">
            <a:solidFill>
              <a:srgbClr val="D55E00"/>
            </a:solidFill>
            <a:prstDash val="solid"/>
          </a:ln>
        </p:spPr>
      </p:sp>
      <p:sp>
        <p:nvSpPr>
          <p:cNvPr id="33" name="Shape 31"/>
          <p:cNvSpPr/>
          <p:nvPr/>
        </p:nvSpPr>
        <p:spPr>
          <a:xfrm>
            <a:off x="5122926" y="1874520"/>
            <a:ext cx="0" cy="502920"/>
          </a:xfrm>
          <a:prstGeom prst="line">
            <a:avLst/>
          </a:prstGeom>
          <a:noFill/>
          <a:ln w="25400">
            <a:solidFill>
              <a:srgbClr val="D55E00"/>
            </a:solidFill>
            <a:prstDash val="solid"/>
          </a:ln>
        </p:spPr>
      </p:sp>
      <p:sp>
        <p:nvSpPr>
          <p:cNvPr id="34" name="Shape 32"/>
          <p:cNvSpPr/>
          <p:nvPr/>
        </p:nvSpPr>
        <p:spPr>
          <a:xfrm>
            <a:off x="5164074" y="1874520"/>
            <a:ext cx="0" cy="502920"/>
          </a:xfrm>
          <a:prstGeom prst="line">
            <a:avLst/>
          </a:prstGeom>
          <a:noFill/>
          <a:ln w="25400">
            <a:solidFill>
              <a:srgbClr val="D55E00"/>
            </a:solidFill>
            <a:prstDash val="solid"/>
          </a:ln>
        </p:spPr>
      </p:sp>
      <p:sp>
        <p:nvSpPr>
          <p:cNvPr id="35" name="Shape 33"/>
          <p:cNvSpPr/>
          <p:nvPr/>
        </p:nvSpPr>
        <p:spPr>
          <a:xfrm>
            <a:off x="5666994" y="1874520"/>
            <a:ext cx="0" cy="502920"/>
          </a:xfrm>
          <a:prstGeom prst="line">
            <a:avLst/>
          </a:prstGeom>
          <a:noFill/>
          <a:ln w="38100">
            <a:solidFill>
              <a:srgbClr val="D55E00"/>
            </a:solidFill>
            <a:prstDash val="solid"/>
          </a:ln>
        </p:spPr>
      </p:sp>
      <p:sp>
        <p:nvSpPr>
          <p:cNvPr id="36" name="Shape 34"/>
          <p:cNvSpPr/>
          <p:nvPr/>
        </p:nvSpPr>
        <p:spPr>
          <a:xfrm>
            <a:off x="5868162" y="1874520"/>
            <a:ext cx="0" cy="502920"/>
          </a:xfrm>
          <a:prstGeom prst="line">
            <a:avLst/>
          </a:prstGeom>
          <a:noFill/>
          <a:ln w="38100">
            <a:solidFill>
              <a:srgbClr val="D55E00"/>
            </a:solidFill>
            <a:prstDash val="solid"/>
          </a:ln>
        </p:spPr>
      </p:sp>
      <p:sp>
        <p:nvSpPr>
          <p:cNvPr id="37" name="Shape 35"/>
          <p:cNvSpPr/>
          <p:nvPr/>
        </p:nvSpPr>
        <p:spPr>
          <a:xfrm>
            <a:off x="6069330" y="1874520"/>
            <a:ext cx="0" cy="502920"/>
          </a:xfrm>
          <a:prstGeom prst="line">
            <a:avLst/>
          </a:prstGeom>
          <a:noFill/>
          <a:ln w="38100">
            <a:solidFill>
              <a:srgbClr val="D55E00"/>
            </a:solidFill>
            <a:prstDash val="solid"/>
          </a:ln>
        </p:spPr>
      </p:sp>
      <p:sp>
        <p:nvSpPr>
          <p:cNvPr id="38" name="Shape 36"/>
          <p:cNvSpPr/>
          <p:nvPr/>
        </p:nvSpPr>
        <p:spPr>
          <a:xfrm>
            <a:off x="6270498" y="1874520"/>
            <a:ext cx="0" cy="502920"/>
          </a:xfrm>
          <a:prstGeom prst="line">
            <a:avLst/>
          </a:prstGeom>
          <a:noFill/>
          <a:ln w="38100">
            <a:solidFill>
              <a:srgbClr val="D55E00"/>
            </a:solidFill>
            <a:prstDash val="solid"/>
          </a:ln>
        </p:spPr>
      </p:sp>
      <p:sp>
        <p:nvSpPr>
          <p:cNvPr id="39" name="Shape 37"/>
          <p:cNvSpPr/>
          <p:nvPr/>
        </p:nvSpPr>
        <p:spPr>
          <a:xfrm>
            <a:off x="6471666" y="1874520"/>
            <a:ext cx="0" cy="502920"/>
          </a:xfrm>
          <a:prstGeom prst="line">
            <a:avLst/>
          </a:prstGeom>
          <a:noFill/>
          <a:ln w="38100">
            <a:solidFill>
              <a:srgbClr val="D55E00"/>
            </a:solidFill>
            <a:prstDash val="solid"/>
          </a:ln>
        </p:spPr>
      </p:sp>
      <p:sp>
        <p:nvSpPr>
          <p:cNvPr id="40" name="Shape 38"/>
          <p:cNvSpPr/>
          <p:nvPr/>
        </p:nvSpPr>
        <p:spPr>
          <a:xfrm>
            <a:off x="6672834" y="1874520"/>
            <a:ext cx="0" cy="502920"/>
          </a:xfrm>
          <a:prstGeom prst="line">
            <a:avLst/>
          </a:prstGeom>
          <a:noFill/>
          <a:ln w="38100">
            <a:solidFill>
              <a:srgbClr val="D55E00"/>
            </a:solidFill>
            <a:prstDash val="solid"/>
          </a:ln>
        </p:spPr>
      </p:sp>
      <p:sp>
        <p:nvSpPr>
          <p:cNvPr id="41" name="Shape 39"/>
          <p:cNvSpPr/>
          <p:nvPr/>
        </p:nvSpPr>
        <p:spPr>
          <a:xfrm>
            <a:off x="6874002" y="1874520"/>
            <a:ext cx="0" cy="502920"/>
          </a:xfrm>
          <a:prstGeom prst="line">
            <a:avLst/>
          </a:prstGeom>
          <a:noFill/>
          <a:ln w="38100">
            <a:solidFill>
              <a:srgbClr val="D55E00"/>
            </a:solidFill>
            <a:prstDash val="solid"/>
          </a:ln>
        </p:spPr>
      </p:sp>
      <p:sp>
        <p:nvSpPr>
          <p:cNvPr id="42" name="Shape 40"/>
          <p:cNvSpPr/>
          <p:nvPr/>
        </p:nvSpPr>
        <p:spPr>
          <a:xfrm>
            <a:off x="7075170" y="1874520"/>
            <a:ext cx="0" cy="502920"/>
          </a:xfrm>
          <a:prstGeom prst="line">
            <a:avLst/>
          </a:prstGeom>
          <a:noFill/>
          <a:ln w="38100">
            <a:solidFill>
              <a:srgbClr val="D55E00"/>
            </a:solidFill>
            <a:prstDash val="solid"/>
          </a:ln>
        </p:spPr>
      </p:sp>
      <p:sp>
        <p:nvSpPr>
          <p:cNvPr id="43" name="Shape 41"/>
          <p:cNvSpPr/>
          <p:nvPr/>
        </p:nvSpPr>
        <p:spPr>
          <a:xfrm>
            <a:off x="7276338" y="1874520"/>
            <a:ext cx="0" cy="502920"/>
          </a:xfrm>
          <a:prstGeom prst="line">
            <a:avLst/>
          </a:prstGeom>
          <a:noFill/>
          <a:ln w="38100">
            <a:solidFill>
              <a:srgbClr val="D55E00"/>
            </a:solidFill>
            <a:prstDash val="solid"/>
          </a:ln>
        </p:spPr>
      </p:sp>
      <p:sp>
        <p:nvSpPr>
          <p:cNvPr id="44" name="Shape 42"/>
          <p:cNvSpPr/>
          <p:nvPr/>
        </p:nvSpPr>
        <p:spPr>
          <a:xfrm>
            <a:off x="7477506" y="1874520"/>
            <a:ext cx="0" cy="502920"/>
          </a:xfrm>
          <a:prstGeom prst="line">
            <a:avLst/>
          </a:prstGeom>
          <a:noFill/>
          <a:ln w="38100">
            <a:solidFill>
              <a:srgbClr val="D55E00"/>
            </a:solidFill>
            <a:prstDash val="solid"/>
          </a:ln>
        </p:spPr>
      </p:sp>
      <p:sp>
        <p:nvSpPr>
          <p:cNvPr id="45" name="Text 43"/>
          <p:cNvSpPr txBox="1"/>
          <p:nvPr/>
        </p:nvSpPr>
        <p:spPr>
          <a:xfrm>
            <a:off x="4370832" y="2542032"/>
            <a:ext cx="3447288" cy="960120"/>
          </a:xfrm>
          <a:prstGeom prst="rect">
            <a:avLst/>
          </a:prstGeom>
          <a:noFill/>
          <a:ln/>
        </p:spPr>
        <p:txBody>
          <a:bodyPr wrap="square" lIns="0" tIns="0" rIns="0" bIns="0" rtlCol="0" anchor="t"/>
          <a:lstStyle/>
          <a:p>
            <a:pPr algn="l" indent="0" marL="0">
              <a:buNone/>
            </a:pPr>
            <a:r>
              <a:rPr lang="ja-JP" altLang="en-US" sz="2800" b="1" dirty="0">
                <a:solidFill>
                  <a:srgbClr val="D55E00"/>
                </a:solidFill>
                <a:latin typeface="メイリオ" pitchFamily="34" charset="0"/>
                <a:ea typeface="メイリオ" pitchFamily="34" charset="-122"/>
                <a:cs typeface="メイリオ" pitchFamily="34" charset="-120"/>
              </a:rPr>
              <a:t>PTC</a:t>
            </a:r>
            <a:endParaRPr lang="ja-JP" sz="2200" dirty="0"/>
          </a:p>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（テタヌス後カウント）</a:t>
            </a:r>
            <a:endParaRPr lang="ja-JP" sz="2200" dirty="0"/>
          </a:p>
        </p:txBody>
      </p:sp>
      <p:sp>
        <p:nvSpPr>
          <p:cNvPr id="46" name="Text 44"/>
          <p:cNvSpPr txBox="1"/>
          <p:nvPr/>
        </p:nvSpPr>
        <p:spPr>
          <a:xfrm>
            <a:off x="4370832" y="3630168"/>
            <a:ext cx="344728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50 Hz 5 秒 →</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3 秒後に 1 Hz</a:t>
            </a:r>
            <a:endParaRPr lang="ja-JP" sz="2200" dirty="0"/>
          </a:p>
        </p:txBody>
      </p:sp>
      <p:sp>
        <p:nvSpPr>
          <p:cNvPr id="47" name="Text 45"/>
          <p:cNvSpPr txBox="1"/>
          <p:nvPr/>
        </p:nvSpPr>
        <p:spPr>
          <a:xfrm>
            <a:off x="4370832" y="4562856"/>
            <a:ext cx="344728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深い筋弛緩を数える</a:t>
            </a:r>
            <a:endParaRPr lang="ja-JP" sz="2200" dirty="0"/>
          </a:p>
        </p:txBody>
      </p:sp>
      <p:sp>
        <p:nvSpPr>
          <p:cNvPr id="48" name="Shape 46"/>
          <p:cNvSpPr/>
          <p:nvPr/>
        </p:nvSpPr>
        <p:spPr>
          <a:xfrm>
            <a:off x="8229600" y="1691640"/>
            <a:ext cx="3456432" cy="4370832"/>
          </a:xfrm>
          <a:prstGeom prst="roundRect">
            <a:avLst>
              <a:gd name="adj" fmla="val 2116"/>
            </a:avLst>
          </a:prstGeom>
          <a:solidFill>
            <a:srgbClr val="F2F2F2"/>
          </a:solidFill>
          <a:ln/>
        </p:spPr>
      </p:sp>
      <p:sp>
        <p:nvSpPr>
          <p:cNvPr id="49" name="Shape 47"/>
          <p:cNvSpPr/>
          <p:nvPr/>
        </p:nvSpPr>
        <p:spPr>
          <a:xfrm>
            <a:off x="8458200" y="2377440"/>
            <a:ext cx="2999232" cy="0"/>
          </a:xfrm>
          <a:prstGeom prst="line">
            <a:avLst/>
          </a:prstGeom>
          <a:noFill/>
          <a:ln w="12700">
            <a:solidFill>
              <a:srgbClr val="7F7F7F"/>
            </a:solidFill>
            <a:prstDash val="solid"/>
          </a:ln>
        </p:spPr>
      </p:sp>
      <p:sp>
        <p:nvSpPr>
          <p:cNvPr id="50" name="Shape 48"/>
          <p:cNvSpPr/>
          <p:nvPr/>
        </p:nvSpPr>
        <p:spPr>
          <a:xfrm>
            <a:off x="9308592" y="1874520"/>
            <a:ext cx="0" cy="502920"/>
          </a:xfrm>
          <a:prstGeom prst="line">
            <a:avLst/>
          </a:prstGeom>
          <a:noFill/>
          <a:ln w="31750">
            <a:solidFill>
              <a:srgbClr val="00A8AA"/>
            </a:solidFill>
            <a:prstDash val="solid"/>
          </a:ln>
        </p:spPr>
      </p:sp>
      <p:sp>
        <p:nvSpPr>
          <p:cNvPr id="51" name="Shape 49"/>
          <p:cNvSpPr/>
          <p:nvPr/>
        </p:nvSpPr>
        <p:spPr>
          <a:xfrm>
            <a:off x="9381744" y="1874520"/>
            <a:ext cx="0" cy="502920"/>
          </a:xfrm>
          <a:prstGeom prst="line">
            <a:avLst/>
          </a:prstGeom>
          <a:noFill/>
          <a:ln w="31750">
            <a:solidFill>
              <a:srgbClr val="00A8AA"/>
            </a:solidFill>
            <a:prstDash val="solid"/>
          </a:ln>
        </p:spPr>
      </p:sp>
      <p:sp>
        <p:nvSpPr>
          <p:cNvPr id="52" name="Shape 50"/>
          <p:cNvSpPr/>
          <p:nvPr/>
        </p:nvSpPr>
        <p:spPr>
          <a:xfrm>
            <a:off x="9454896" y="1874520"/>
            <a:ext cx="0" cy="502920"/>
          </a:xfrm>
          <a:prstGeom prst="line">
            <a:avLst/>
          </a:prstGeom>
          <a:noFill/>
          <a:ln w="31750">
            <a:solidFill>
              <a:srgbClr val="00A8AA"/>
            </a:solidFill>
            <a:prstDash val="solid"/>
          </a:ln>
        </p:spPr>
      </p:sp>
      <p:sp>
        <p:nvSpPr>
          <p:cNvPr id="53" name="Shape 51"/>
          <p:cNvSpPr/>
          <p:nvPr/>
        </p:nvSpPr>
        <p:spPr>
          <a:xfrm>
            <a:off x="10460736" y="1874520"/>
            <a:ext cx="0" cy="502920"/>
          </a:xfrm>
          <a:prstGeom prst="line">
            <a:avLst/>
          </a:prstGeom>
          <a:noFill/>
          <a:ln w="31750">
            <a:solidFill>
              <a:srgbClr val="00A8AA"/>
            </a:solidFill>
            <a:prstDash val="solid"/>
          </a:ln>
        </p:spPr>
      </p:sp>
      <p:sp>
        <p:nvSpPr>
          <p:cNvPr id="54" name="Shape 52"/>
          <p:cNvSpPr/>
          <p:nvPr/>
        </p:nvSpPr>
        <p:spPr>
          <a:xfrm>
            <a:off x="10533888" y="1874520"/>
            <a:ext cx="0" cy="502920"/>
          </a:xfrm>
          <a:prstGeom prst="line">
            <a:avLst/>
          </a:prstGeom>
          <a:noFill/>
          <a:ln w="31750">
            <a:solidFill>
              <a:srgbClr val="00A8AA"/>
            </a:solidFill>
            <a:prstDash val="solid"/>
          </a:ln>
        </p:spPr>
      </p:sp>
      <p:sp>
        <p:nvSpPr>
          <p:cNvPr id="55" name="Shape 53"/>
          <p:cNvSpPr/>
          <p:nvPr/>
        </p:nvSpPr>
        <p:spPr>
          <a:xfrm>
            <a:off x="10607040" y="1874520"/>
            <a:ext cx="0" cy="502920"/>
          </a:xfrm>
          <a:prstGeom prst="line">
            <a:avLst/>
          </a:prstGeom>
          <a:noFill/>
          <a:ln w="31750">
            <a:solidFill>
              <a:srgbClr val="00A8AA"/>
            </a:solidFill>
            <a:prstDash val="solid"/>
          </a:ln>
        </p:spPr>
      </p:sp>
      <p:sp>
        <p:nvSpPr>
          <p:cNvPr id="56" name="Text 54"/>
          <p:cNvSpPr txBox="1"/>
          <p:nvPr/>
        </p:nvSpPr>
        <p:spPr>
          <a:xfrm>
            <a:off x="8366760" y="2542032"/>
            <a:ext cx="3182112" cy="960120"/>
          </a:xfrm>
          <a:prstGeom prst="rect">
            <a:avLst/>
          </a:prstGeom>
          <a:noFill/>
          <a:ln/>
        </p:spPr>
        <p:txBody>
          <a:bodyPr wrap="square" lIns="0" tIns="0" rIns="0" bIns="0" rtlCol="0" anchor="t"/>
          <a:lstStyle/>
          <a:p>
            <a:pPr algn="l" indent="0" marL="0">
              <a:buNone/>
            </a:pPr>
            <a:r>
              <a:rPr lang="ja-JP" altLang="en-US" sz="2800" b="1" dirty="0">
                <a:solidFill>
                  <a:srgbClr val="00A8AA"/>
                </a:solidFill>
                <a:latin typeface="メイリオ" pitchFamily="34" charset="0"/>
                <a:ea typeface="メイリオ" pitchFamily="34" charset="-122"/>
                <a:cs typeface="メイリオ" pitchFamily="34" charset="-120"/>
              </a:rPr>
              <a:t>DBS</a:t>
            </a:r>
            <a:endParaRPr lang="ja-JP" sz="2200" dirty="0"/>
          </a:p>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（二連バースト）</a:t>
            </a:r>
            <a:endParaRPr lang="ja-JP" sz="2200" dirty="0"/>
          </a:p>
        </p:txBody>
      </p:sp>
      <p:sp>
        <p:nvSpPr>
          <p:cNvPr id="57" name="Text 55"/>
          <p:cNvSpPr txBox="1"/>
          <p:nvPr/>
        </p:nvSpPr>
        <p:spPr>
          <a:xfrm>
            <a:off x="8366760" y="3630168"/>
            <a:ext cx="318211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短い刺激を 2 回</a:t>
            </a:r>
            <a:endParaRPr lang="ja-JP" sz="2200" dirty="0"/>
          </a:p>
        </p:txBody>
      </p:sp>
      <p:sp>
        <p:nvSpPr>
          <p:cNvPr id="58" name="Text 56"/>
          <p:cNvSpPr txBox="1"/>
          <p:nvPr/>
        </p:nvSpPr>
        <p:spPr>
          <a:xfrm>
            <a:off x="8366760" y="4142232"/>
            <a:ext cx="318211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触覚で減衰を見やすい</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深さの段階と拮抗</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必要性</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刺激</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判定</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実践</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ブリディオン静注 添付文書（MSD） / Thilen SR, et al. Anesthesiology 2023;138:13-41</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Fuchs-Buder T, et al. ESAIC guideline. Eur J Anaesthesiol 2023;40:82-94</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1554480"/>
                <a:gridCol w="4553712"/>
                <a:gridCol w="5074920"/>
              </a:tblGrid>
              <a:tr h="475488">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段階</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指標</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スガマデクスの目安</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896112">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完全</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PTC 0</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待つ</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（挿管直後の緊急時は 16 mg/kg）</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75488">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深い</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PTC ≥1、TOF カウント 0</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PTC 1–2 が出たら 4 mg/kg</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75488">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中等度</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TOF カウント 1–3</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T2 再出現後に 2 mg/kg</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75488">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浅い</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TOF カウント 4、TOF比 &lt;0.4</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2 mg/kg</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75488">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最小</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TOF比 0.4〜0.9 未満</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2 mg/kg（ネオスチグミンも可）</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75488">
                <a:tc>
                  <a:txBody>
                    <a:bodyPr/>
                    <a:lstStyle/>
                    <a:p>
                      <a:pPr algn="l" indent="0" marL="0">
                        <a:buNone/>
                      </a:pPr>
                      <a:r>
                        <a:rPr lang="ja-JP" altLang="en-US" sz="2200" b="1" dirty="0">
                          <a:solidFill>
                            <a:srgbClr val="FFFFFF"/>
                          </a:solidFill>
                          <a:latin typeface="メイリオ" pitchFamily="34" charset="0"/>
                          <a:ea typeface="メイリオ" pitchFamily="34" charset="-122"/>
                          <a:cs typeface="メイリオ" pitchFamily="34" charset="-120"/>
                        </a:rPr>
                        <a:t>回復</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A8AA"/>
                    </a:solidFill>
                  </a:tcPr>
                </a:tc>
                <a:tc>
                  <a:txBody>
                    <a:bodyPr/>
                    <a:lstStyle/>
                    <a:p>
                      <a:pPr algn="l" indent="0" marL="0">
                        <a:buNone/>
                      </a:pPr>
                      <a:r>
                        <a:rPr lang="ja-JP" altLang="en-US" sz="2200" b="1" dirty="0">
                          <a:solidFill>
                            <a:srgbClr val="FFFFFF"/>
                          </a:solidFill>
                          <a:latin typeface="メイリオ" pitchFamily="34" charset="0"/>
                          <a:ea typeface="メイリオ" pitchFamily="34" charset="-122"/>
                          <a:cs typeface="メイリオ" pitchFamily="34" charset="-120"/>
                        </a:rPr>
                        <a:t>TOF比 ≥0.9（定量）</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A8AA"/>
                    </a:solidFill>
                  </a:tcPr>
                </a:tc>
                <a:tc>
                  <a:txBody>
                    <a:bodyPr/>
                    <a:lstStyle/>
                    <a:p>
                      <a:pPr algn="l" indent="0" marL="0">
                        <a:buNone/>
                      </a:pPr>
                      <a:r>
                        <a:rPr lang="ja-JP" altLang="en-US" sz="2200" b="1" dirty="0">
                          <a:solidFill>
                            <a:srgbClr val="FFFFFF"/>
                          </a:solidFill>
                          <a:latin typeface="メイリオ" pitchFamily="34" charset="0"/>
                          <a:ea typeface="メイリオ" pitchFamily="34" charset="-122"/>
                          <a:cs typeface="メイリオ" pitchFamily="34" charset="-120"/>
                        </a:rPr>
                        <a:t>不要。抜管できる</a:t>
                      </a:r>
                      <a:endParaRPr lang="en-US" sz="2200" dirty="0">
                        <a:latin typeface="メイリオ" charset="0"/>
                        <a:ea typeface="メイリオ" charset="0"/>
                        <a:cs typeface="メイリオ" charset="0"/>
                      </a:endParaRPr>
                    </a:p>
                  </a:txBody>
                  <a:tcPr marL="88900" marR="889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00A8A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定性と定量の違い</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必要性</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刺激</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判定</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実践</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Thilen SR, et al. Anesthesiology 2023;138:13-41 / Fuchs-Buder T,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Eur J Anaesthesiol 2023;40:82-94 / 日本麻酔科学会 モニター指針 FAQ（2025年10月更新）</a:t>
            </a:r>
            <a:endParaRPr lang="ja-JP" sz="1600" dirty="0"/>
          </a:p>
        </p:txBody>
      </p:sp>
      <p:sp>
        <p:nvSpPr>
          <p:cNvPr id="11" name="Shape 9"/>
          <p:cNvSpPr/>
          <p:nvPr/>
        </p:nvSpPr>
        <p:spPr>
          <a:xfrm>
            <a:off x="502920" y="1737360"/>
            <a:ext cx="5454396" cy="3017520"/>
          </a:xfrm>
          <a:prstGeom prst="roundRect">
            <a:avLst>
              <a:gd name="adj" fmla="val 2424"/>
            </a:avLst>
          </a:prstGeom>
          <a:solidFill>
            <a:srgbClr val="F2F2F2"/>
          </a:solidFill>
          <a:ln/>
        </p:spPr>
      </p:sp>
      <p:sp>
        <p:nvSpPr>
          <p:cNvPr id="12" name="Text 10"/>
          <p:cNvSpPr txBox="1"/>
          <p:nvPr/>
        </p:nvSpPr>
        <p:spPr>
          <a:xfrm>
            <a:off x="640080" y="1901952"/>
            <a:ext cx="5180076" cy="502920"/>
          </a:xfrm>
          <a:prstGeom prst="rect">
            <a:avLst/>
          </a:prstGeom>
          <a:noFill/>
          <a:ln/>
        </p:spPr>
        <p:txBody>
          <a:bodyPr wrap="square" lIns="0" tIns="0" rIns="0" bIns="0" rtlCol="0" anchor="t"/>
          <a:lstStyle/>
          <a:p>
            <a:pPr algn="l" indent="0" marL="0">
              <a:buNone/>
            </a:pPr>
            <a:r>
              <a:rPr lang="ja-JP" altLang="en-US" sz="2600" b="1" dirty="0">
                <a:solidFill>
                  <a:srgbClr val="D55E00"/>
                </a:solidFill>
                <a:latin typeface="メイリオ" pitchFamily="34" charset="0"/>
                <a:ea typeface="メイリオ" pitchFamily="34" charset="-122"/>
                <a:cs typeface="メイリオ" pitchFamily="34" charset="-120"/>
              </a:rPr>
              <a:t>定性（目・指で見る）</a:t>
            </a:r>
            <a:endParaRPr lang="ja-JP" sz="2600" dirty="0"/>
          </a:p>
        </p:txBody>
      </p:sp>
      <p:sp>
        <p:nvSpPr>
          <p:cNvPr id="13" name="Text 11"/>
          <p:cNvSpPr txBox="1"/>
          <p:nvPr/>
        </p:nvSpPr>
        <p:spPr>
          <a:xfrm>
            <a:off x="640080" y="2606040"/>
            <a:ext cx="518007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カウント（0–4）は分かる</a:t>
            </a:r>
            <a:endParaRPr lang="ja-JP" sz="2200" dirty="0"/>
          </a:p>
        </p:txBody>
      </p:sp>
      <p:sp>
        <p:nvSpPr>
          <p:cNvPr id="14" name="Text 12"/>
          <p:cNvSpPr txBox="1"/>
          <p:nvPr/>
        </p:nvSpPr>
        <p:spPr>
          <a:xfrm>
            <a:off x="640080" y="3319272"/>
            <a:ext cx="518007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TOF比 0.4 以上の減衰は分からない</a:t>
            </a:r>
            <a:endParaRPr lang="ja-JP" sz="2200" dirty="0"/>
          </a:p>
        </p:txBody>
      </p:sp>
      <p:sp>
        <p:nvSpPr>
          <p:cNvPr id="15" name="Text 13"/>
          <p:cNvSpPr/>
          <p:nvPr/>
        </p:nvSpPr>
        <p:spPr>
          <a:xfrm>
            <a:off x="530352" y="3922776"/>
            <a:ext cx="5399532" cy="640080"/>
          </a:xfrm>
          <a:prstGeom prst="roundRect">
            <a:avLst>
              <a:gd name="adj" fmla="val 8571"/>
            </a:avLst>
          </a:prstGeom>
          <a:solidFill>
            <a:srgbClr val="FFFFFF"/>
          </a:solidFill>
          <a:ln w="28575">
            <a:solidFill>
              <a:srgbClr val="D55E00"/>
            </a:solidFill>
          </a:ln>
        </p:spPr>
        <p:txBody>
          <a:bodyPr wrap="square" lIns="109728" tIns="109728" rIns="109728" bIns="109728" rtlCol="0" anchor="ct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0.9 の確認には使えない</a:t>
            </a:r>
            <a:endParaRPr lang="ja-JP" sz="2200" dirty="0"/>
          </a:p>
        </p:txBody>
      </p:sp>
      <p:sp>
        <p:nvSpPr>
          <p:cNvPr id="16" name="Shape 14"/>
          <p:cNvSpPr/>
          <p:nvPr/>
        </p:nvSpPr>
        <p:spPr>
          <a:xfrm>
            <a:off x="6231636" y="1737360"/>
            <a:ext cx="5454396" cy="3017520"/>
          </a:xfrm>
          <a:prstGeom prst="roundRect">
            <a:avLst>
              <a:gd name="adj" fmla="val 2424"/>
            </a:avLst>
          </a:prstGeom>
          <a:solidFill>
            <a:srgbClr val="F2F2F2"/>
          </a:solidFill>
          <a:ln/>
        </p:spPr>
      </p:sp>
      <p:sp>
        <p:nvSpPr>
          <p:cNvPr id="17" name="Text 15"/>
          <p:cNvSpPr txBox="1"/>
          <p:nvPr/>
        </p:nvSpPr>
        <p:spPr>
          <a:xfrm>
            <a:off x="6368796" y="1901952"/>
            <a:ext cx="5180076" cy="502920"/>
          </a:xfrm>
          <a:prstGeom prst="rect">
            <a:avLst/>
          </a:prstGeom>
          <a:noFill/>
          <a:ln/>
        </p:spPr>
        <p:txBody>
          <a:bodyPr wrap="square" lIns="0" tIns="0" rIns="0" bIns="0" rtlCol="0" anchor="t"/>
          <a:lstStyle/>
          <a:p>
            <a:pPr algn="l" indent="0" marL="0">
              <a:buNone/>
            </a:pPr>
            <a:r>
              <a:rPr lang="ja-JP" altLang="en-US" sz="2600" b="1" dirty="0">
                <a:solidFill>
                  <a:srgbClr val="00A8AA"/>
                </a:solidFill>
                <a:latin typeface="メイリオ" pitchFamily="34" charset="0"/>
                <a:ea typeface="メイリオ" pitchFamily="34" charset="-122"/>
                <a:cs typeface="メイリオ" pitchFamily="34" charset="-120"/>
              </a:rPr>
              <a:t>定量（AMG・EMG）</a:t>
            </a:r>
            <a:endParaRPr lang="ja-JP" sz="2600" dirty="0"/>
          </a:p>
        </p:txBody>
      </p:sp>
      <p:sp>
        <p:nvSpPr>
          <p:cNvPr id="18" name="Text 16"/>
          <p:cNvSpPr txBox="1"/>
          <p:nvPr/>
        </p:nvSpPr>
        <p:spPr>
          <a:xfrm>
            <a:off x="6368796" y="2606040"/>
            <a:ext cx="518007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TOF比が数字で出る</a:t>
            </a:r>
            <a:endParaRPr lang="ja-JP" sz="2200" dirty="0"/>
          </a:p>
        </p:txBody>
      </p:sp>
      <p:sp>
        <p:nvSpPr>
          <p:cNvPr id="19" name="Text 17"/>
          <p:cNvSpPr txBox="1"/>
          <p:nvPr/>
        </p:nvSpPr>
        <p:spPr>
          <a:xfrm>
            <a:off x="6368796" y="3319272"/>
            <a:ext cx="5180076" cy="420624"/>
          </a:xfrm>
          <a:prstGeom prst="rect">
            <a:avLst/>
          </a:prstGeom>
          <a:noFill/>
          <a:ln/>
        </p:spPr>
        <p:txBody>
          <a:bodyPr wrap="square" lIns="0" tIns="0" rIns="0" bIns="0" rtlCol="0" anchor="t"/>
          <a:lstStyle/>
          <a:p>
            <a:pPr algn="l" indent="0" marL="0">
              <a:buNone/>
            </a:pPr>
            <a:r>
              <a:rPr lang="ja-JP" altLang="en-US" sz="2200" b="1" dirty="0">
                <a:solidFill>
                  <a:srgbClr val="00A8AA"/>
                </a:solidFill>
                <a:latin typeface="メイリオ" pitchFamily="34" charset="0"/>
                <a:ea typeface="メイリオ" pitchFamily="34" charset="-122"/>
                <a:cs typeface="メイリオ" pitchFamily="34" charset="-120"/>
              </a:rPr>
              <a:t>0.9 を確認できる唯一の方法</a:t>
            </a:r>
            <a:endParaRPr lang="ja-JP" sz="2200" dirty="0"/>
          </a:p>
        </p:txBody>
      </p:sp>
      <p:sp>
        <p:nvSpPr>
          <p:cNvPr id="20" name="Text 18"/>
          <p:cNvSpPr txBox="1"/>
          <p:nvPr/>
        </p:nvSpPr>
        <p:spPr>
          <a:xfrm>
            <a:off x="6368796" y="4032504"/>
            <a:ext cx="518007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記録に残せる</a:t>
            </a:r>
            <a:endParaRPr lang="ja-JP" sz="2200" dirty="0"/>
          </a:p>
        </p:txBody>
      </p:sp>
      <p:sp>
        <p:nvSpPr>
          <p:cNvPr id="21" name="Text 19"/>
          <p:cNvSpPr txBox="1"/>
          <p:nvPr/>
        </p:nvSpPr>
        <p:spPr>
          <a:xfrm>
            <a:off x="502920" y="5166360"/>
            <a:ext cx="111831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AMG は投与前から TOF比 &gt;1.0 が多い → 投与前の値で割って</a:t>
            </a:r>
            <a:r>
              <a:rPr lang="ja-JP" altLang="en-US" sz="2400" b="1" dirty="0">
                <a:solidFill>
                  <a:srgbClr val="00A8AA"/>
                </a:solidFill>
                <a:latin typeface="メイリオ" pitchFamily="34" charset="0"/>
                <a:ea typeface="メイリオ" pitchFamily="34" charset="-122"/>
                <a:cs typeface="メイリオ" pitchFamily="34" charset="-120"/>
              </a:rPr>
              <a:t>正規化</a:t>
            </a:r>
            <a:endParaRPr lang="ja-JP"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部位の選び方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必要性</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刺激</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判定</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実践</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Thilen SR, et al. Anesthesiology 2023;138:13-41</a:t>
            </a:r>
            <a:endParaRPr lang="ja-JP" sz="1600" dirty="0"/>
          </a:p>
        </p:txBody>
      </p:sp>
      <p:sp>
        <p:nvSpPr>
          <p:cNvPr id="11" name="Shape 9"/>
          <p:cNvSpPr/>
          <p:nvPr/>
        </p:nvSpPr>
        <p:spPr>
          <a:xfrm>
            <a:off x="502920" y="1783080"/>
            <a:ext cx="3544824" cy="3675888"/>
          </a:xfrm>
          <a:prstGeom prst="roundRect">
            <a:avLst>
              <a:gd name="adj" fmla="val 2064"/>
            </a:avLst>
          </a:prstGeom>
          <a:solidFill>
            <a:srgbClr val="F2F2F2"/>
          </a:solidFill>
          <a:ln/>
        </p:spPr>
      </p:sp>
      <p:sp>
        <p:nvSpPr>
          <p:cNvPr id="12" name="Text 10"/>
          <p:cNvSpPr txBox="1"/>
          <p:nvPr/>
        </p:nvSpPr>
        <p:spPr>
          <a:xfrm>
            <a:off x="640080" y="1947672"/>
            <a:ext cx="3270504" cy="457200"/>
          </a:xfrm>
          <a:prstGeom prst="rect">
            <a:avLst/>
          </a:prstGeom>
          <a:noFill/>
          <a:ln/>
        </p:spPr>
        <p:txBody>
          <a:bodyPr wrap="square" lIns="0" tIns="0" rIns="0" bIns="0" rtlCol="0" anchor="t"/>
          <a:lstStyle/>
          <a:p>
            <a:pPr algn="l" indent="0" marL="0">
              <a:buNone/>
            </a:pPr>
            <a:r>
              <a:rPr lang="ja-JP" altLang="en-US" sz="2400" b="1" dirty="0">
                <a:solidFill>
                  <a:srgbClr val="00A8AA"/>
                </a:solidFill>
                <a:latin typeface="メイリオ" pitchFamily="34" charset="0"/>
                <a:ea typeface="メイリオ" pitchFamily="34" charset="-122"/>
                <a:cs typeface="メイリオ" pitchFamily="34" charset="-120"/>
              </a:rPr>
              <a:t>母指内転筋（推奨）</a:t>
            </a:r>
            <a:endParaRPr lang="ja-JP" sz="2400" dirty="0"/>
          </a:p>
        </p:txBody>
      </p:sp>
      <p:sp>
        <p:nvSpPr>
          <p:cNvPr id="13" name="Text 11"/>
          <p:cNvSpPr txBox="1"/>
          <p:nvPr/>
        </p:nvSpPr>
        <p:spPr>
          <a:xfrm>
            <a:off x="640080" y="3387852"/>
            <a:ext cx="327050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抜管の判断はここで</a:t>
            </a:r>
            <a:endParaRPr lang="ja-JP" sz="2400" dirty="0"/>
          </a:p>
        </p:txBody>
      </p:sp>
      <p:sp>
        <p:nvSpPr>
          <p:cNvPr id="14" name="Text 12"/>
          <p:cNvSpPr txBox="1"/>
          <p:nvPr/>
        </p:nvSpPr>
        <p:spPr>
          <a:xfrm>
            <a:off x="640080" y="4064508"/>
            <a:ext cx="327050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尺骨神経を刺激</a:t>
            </a:r>
            <a:endParaRPr lang="ja-JP" sz="2400" dirty="0"/>
          </a:p>
        </p:txBody>
      </p:sp>
      <p:sp>
        <p:nvSpPr>
          <p:cNvPr id="15" name="Shape 13"/>
          <p:cNvSpPr/>
          <p:nvPr/>
        </p:nvSpPr>
        <p:spPr>
          <a:xfrm>
            <a:off x="4322064" y="1783080"/>
            <a:ext cx="3544824" cy="3675888"/>
          </a:xfrm>
          <a:prstGeom prst="roundRect">
            <a:avLst>
              <a:gd name="adj" fmla="val 2064"/>
            </a:avLst>
          </a:prstGeom>
          <a:solidFill>
            <a:srgbClr val="F2F2F2"/>
          </a:solidFill>
          <a:ln/>
        </p:spPr>
      </p:sp>
      <p:sp>
        <p:nvSpPr>
          <p:cNvPr id="16" name="Text 14"/>
          <p:cNvSpPr txBox="1"/>
          <p:nvPr/>
        </p:nvSpPr>
        <p:spPr>
          <a:xfrm>
            <a:off x="4459224" y="1947672"/>
            <a:ext cx="3270504"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眼の周りの筋</a:t>
            </a:r>
            <a:endParaRPr lang="ja-JP" sz="2400" dirty="0"/>
          </a:p>
        </p:txBody>
      </p:sp>
      <p:sp>
        <p:nvSpPr>
          <p:cNvPr id="17" name="Text 15"/>
          <p:cNvSpPr txBox="1"/>
          <p:nvPr/>
        </p:nvSpPr>
        <p:spPr>
          <a:xfrm>
            <a:off x="4459224" y="2592324"/>
            <a:ext cx="327050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早く回復して見える</a:t>
            </a:r>
            <a:endParaRPr lang="ja-JP" sz="2400" dirty="0"/>
          </a:p>
        </p:txBody>
      </p:sp>
      <p:sp>
        <p:nvSpPr>
          <p:cNvPr id="18" name="Text 16"/>
          <p:cNvSpPr txBox="1"/>
          <p:nvPr/>
        </p:nvSpPr>
        <p:spPr>
          <a:xfrm>
            <a:off x="4459224" y="3268980"/>
            <a:ext cx="327050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モニタリングに</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使わない（ASA）</a:t>
            </a:r>
            <a:endParaRPr lang="ja-JP" sz="2400" dirty="0"/>
          </a:p>
        </p:txBody>
      </p:sp>
      <p:sp>
        <p:nvSpPr>
          <p:cNvPr id="19" name="Text 17"/>
          <p:cNvSpPr txBox="1"/>
          <p:nvPr/>
        </p:nvSpPr>
        <p:spPr>
          <a:xfrm>
            <a:off x="4459224" y="4402836"/>
            <a:ext cx="327050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使ったら</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拮抗前に母指へ</a:t>
            </a:r>
            <a:endParaRPr lang="ja-JP" sz="2400" dirty="0"/>
          </a:p>
        </p:txBody>
      </p:sp>
      <p:sp>
        <p:nvSpPr>
          <p:cNvPr id="20" name="Shape 18"/>
          <p:cNvSpPr/>
          <p:nvPr/>
        </p:nvSpPr>
        <p:spPr>
          <a:xfrm>
            <a:off x="8141208" y="1783080"/>
            <a:ext cx="3544824" cy="3675888"/>
          </a:xfrm>
          <a:prstGeom prst="roundRect">
            <a:avLst>
              <a:gd name="adj" fmla="val 2064"/>
            </a:avLst>
          </a:prstGeom>
          <a:solidFill>
            <a:srgbClr val="F2F2F2"/>
          </a:solidFill>
          <a:ln/>
        </p:spPr>
      </p:sp>
      <p:sp>
        <p:nvSpPr>
          <p:cNvPr id="21" name="Text 19"/>
          <p:cNvSpPr txBox="1"/>
          <p:nvPr/>
        </p:nvSpPr>
        <p:spPr>
          <a:xfrm>
            <a:off x="8278368" y="1947672"/>
            <a:ext cx="3270504"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片麻痺の患者</a:t>
            </a:r>
            <a:endParaRPr lang="ja-JP" sz="2400" dirty="0"/>
          </a:p>
        </p:txBody>
      </p:sp>
      <p:sp>
        <p:nvSpPr>
          <p:cNvPr id="22" name="Text 20"/>
          <p:cNvSpPr txBox="1"/>
          <p:nvPr/>
        </p:nvSpPr>
        <p:spPr>
          <a:xfrm>
            <a:off x="8278368" y="3159252"/>
            <a:ext cx="327050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麻痺側は</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効きにくく見える</a:t>
            </a:r>
            <a:endParaRPr lang="ja-JP" sz="2400" dirty="0"/>
          </a:p>
        </p:txBody>
      </p:sp>
      <p:sp>
        <p:nvSpPr>
          <p:cNvPr id="23" name="Text 21"/>
          <p:cNvSpPr txBox="1"/>
          <p:nvPr/>
        </p:nvSpPr>
        <p:spPr>
          <a:xfrm>
            <a:off x="8278368" y="4293108"/>
            <a:ext cx="327050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健側で測る</a:t>
            </a:r>
            <a:endParaRPr 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手順：装着から抜管まで</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必要性</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刺激</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判定</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実践</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Thilen SR, et al. Anesthesiology 2023;138:13-41</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日本麻酔科学会「抜管から術後早期までの安全な気道管理のための臨床ガイドライン」（2025）</a:t>
            </a:r>
            <a:endParaRPr lang="ja-JP" sz="1600" dirty="0"/>
          </a:p>
        </p:txBody>
      </p:sp>
      <p:sp>
        <p:nvSpPr>
          <p:cNvPr id="11" name="Text 9"/>
          <p:cNvSpPr/>
          <p:nvPr/>
        </p:nvSpPr>
        <p:spPr>
          <a:xfrm>
            <a:off x="502920" y="1737360"/>
            <a:ext cx="3108960" cy="1051560"/>
          </a:xfrm>
          <a:prstGeom prst="roundRect">
            <a:avLst>
              <a:gd name="adj" fmla="val 8696"/>
            </a:avLst>
          </a:prstGeom>
          <a:solidFill>
            <a:srgbClr val="F2F2F2"/>
          </a:solidFill>
          <a:ln/>
        </p:spPr>
        <p:txBody>
          <a:bodyPr wrap="square" lIns="73152" tIns="73152" rIns="73152" bIns="73152" rtlCol="0" anchor="ct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① 導入前に装着</a:t>
            </a:r>
            <a:endParaRPr lang="ja-JP" sz="2400" dirty="0"/>
          </a:p>
        </p:txBody>
      </p:sp>
      <p:sp>
        <p:nvSpPr>
          <p:cNvPr id="12" name="Text 10"/>
          <p:cNvSpPr/>
          <p:nvPr/>
        </p:nvSpPr>
        <p:spPr>
          <a:xfrm>
            <a:off x="4539996" y="1737360"/>
            <a:ext cx="3108960" cy="1051560"/>
          </a:xfrm>
          <a:prstGeom prst="roundRect">
            <a:avLst>
              <a:gd name="adj" fmla="val 8696"/>
            </a:avLst>
          </a:prstGeom>
          <a:solidFill>
            <a:srgbClr val="F2F2F2"/>
          </a:solidFill>
          <a:ln/>
        </p:spPr>
        <p:txBody>
          <a:bodyPr wrap="square" lIns="73152" tIns="73152" rIns="73152" bIns="73152" rtlCol="0" anchor="ct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② 筋弛緩薬の前に</a:t>
            </a:r>
            <a:endParaRPr lang="ja-JP" sz="2400" dirty="0"/>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基準値</a:t>
            </a:r>
            <a:endParaRPr lang="ja-JP" sz="2400" dirty="0"/>
          </a:p>
        </p:txBody>
      </p:sp>
      <p:sp>
        <p:nvSpPr>
          <p:cNvPr id="13" name="Text 11"/>
          <p:cNvSpPr/>
          <p:nvPr/>
        </p:nvSpPr>
        <p:spPr>
          <a:xfrm>
            <a:off x="8577072" y="1737360"/>
            <a:ext cx="3108960" cy="1051560"/>
          </a:xfrm>
          <a:prstGeom prst="roundRect">
            <a:avLst>
              <a:gd name="adj" fmla="val 8696"/>
            </a:avLst>
          </a:prstGeom>
          <a:solidFill>
            <a:srgbClr val="F2F2F2"/>
          </a:solidFill>
          <a:ln/>
        </p:spPr>
        <p:txBody>
          <a:bodyPr wrap="square" lIns="73152" tIns="73152" rIns="73152" bIns="73152" rtlCol="0" anchor="ct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③ 術中は</a:t>
            </a:r>
            <a:endParaRPr lang="ja-JP" sz="2400" dirty="0"/>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TOF を記録</a:t>
            </a:r>
            <a:endParaRPr lang="ja-JP" sz="2400" dirty="0"/>
          </a:p>
        </p:txBody>
      </p:sp>
      <p:sp>
        <p:nvSpPr>
          <p:cNvPr id="14" name="Text 12"/>
          <p:cNvSpPr/>
          <p:nvPr/>
        </p:nvSpPr>
        <p:spPr>
          <a:xfrm>
            <a:off x="2521458" y="3392424"/>
            <a:ext cx="3108960" cy="1051560"/>
          </a:xfrm>
          <a:prstGeom prst="roundRect">
            <a:avLst>
              <a:gd name="adj" fmla="val 8696"/>
            </a:avLst>
          </a:prstGeom>
          <a:solidFill>
            <a:srgbClr val="F2F2F2"/>
          </a:solidFill>
          <a:ln/>
        </p:spPr>
        <p:txBody>
          <a:bodyPr wrap="square" lIns="73152" tIns="73152" rIns="73152" bIns="73152" rtlCol="0" anchor="ct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④ 深さに応じて</a:t>
            </a:r>
            <a:endParaRPr lang="ja-JP" sz="2400" dirty="0"/>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拮抗</a:t>
            </a:r>
            <a:endParaRPr lang="ja-JP" sz="2400" dirty="0"/>
          </a:p>
        </p:txBody>
      </p:sp>
      <p:sp>
        <p:nvSpPr>
          <p:cNvPr id="15" name="Text 13"/>
          <p:cNvSpPr/>
          <p:nvPr/>
        </p:nvSpPr>
        <p:spPr>
          <a:xfrm>
            <a:off x="6558534" y="3392424"/>
            <a:ext cx="3108960" cy="1051560"/>
          </a:xfrm>
          <a:prstGeom prst="roundRect">
            <a:avLst>
              <a:gd name="adj" fmla="val 8696"/>
            </a:avLst>
          </a:prstGeom>
          <a:solidFill>
            <a:srgbClr val="00A8AA"/>
          </a:solidFill>
          <a:ln/>
        </p:spPr>
        <p:txBody>
          <a:bodyPr wrap="square" lIns="73152" tIns="73152" rIns="73152" bIns="73152" rtlCol="0" anchor="ctr"/>
          <a:lstStyle/>
          <a:p>
            <a:pPr algn="ctr" indent="0" marL="0">
              <a:buNone/>
            </a:pPr>
            <a:r>
              <a:rPr lang="ja-JP" altLang="en-US" sz="2400" b="1" dirty="0">
                <a:solidFill>
                  <a:srgbClr val="FFFFFF"/>
                </a:solidFill>
                <a:latin typeface="メイリオ" pitchFamily="34" charset="0"/>
                <a:ea typeface="メイリオ" pitchFamily="34" charset="-122"/>
                <a:cs typeface="メイリオ" pitchFamily="34" charset="-120"/>
              </a:rPr>
              <a:t>⑤ TOF比 ≥0.9</a:t>
            </a:r>
            <a:endParaRPr lang="ja-JP" sz="2400" dirty="0"/>
          </a:p>
          <a:p>
            <a:pPr algn="ctr" indent="0" marL="0">
              <a:buNone/>
            </a:pPr>
            <a:r>
              <a:rPr lang="ja-JP" altLang="en-US" sz="2400" b="1" dirty="0">
                <a:solidFill>
                  <a:srgbClr val="FFFFFF"/>
                </a:solidFill>
                <a:latin typeface="メイリオ" pitchFamily="34" charset="0"/>
                <a:ea typeface="メイリオ" pitchFamily="34" charset="-122"/>
                <a:cs typeface="メイリオ" pitchFamily="34" charset="-120"/>
              </a:rPr>
              <a:t>で抜管</a:t>
            </a:r>
            <a:endParaRPr lang="ja-JP" sz="2400" dirty="0"/>
          </a:p>
        </p:txBody>
      </p:sp>
      <p:sp>
        <p:nvSpPr>
          <p:cNvPr id="16" name="Shape 14"/>
          <p:cNvSpPr/>
          <p:nvPr/>
        </p:nvSpPr>
        <p:spPr>
          <a:xfrm>
            <a:off x="3849624" y="2263140"/>
            <a:ext cx="452628" cy="0"/>
          </a:xfrm>
          <a:prstGeom prst="line">
            <a:avLst/>
          </a:prstGeom>
          <a:noFill/>
          <a:ln w="38100">
            <a:solidFill>
              <a:srgbClr val="404040"/>
            </a:solidFill>
            <a:prstDash val="solid"/>
            <a:tailEnd type="triangle"/>
          </a:ln>
        </p:spPr>
      </p:sp>
      <p:sp>
        <p:nvSpPr>
          <p:cNvPr id="17" name="Shape 15"/>
          <p:cNvSpPr/>
          <p:nvPr/>
        </p:nvSpPr>
        <p:spPr>
          <a:xfrm>
            <a:off x="7886700" y="2263140"/>
            <a:ext cx="452628" cy="0"/>
          </a:xfrm>
          <a:prstGeom prst="line">
            <a:avLst/>
          </a:prstGeom>
          <a:noFill/>
          <a:ln w="38100">
            <a:solidFill>
              <a:srgbClr val="404040"/>
            </a:solidFill>
            <a:prstDash val="solid"/>
            <a:tailEnd type="triangle"/>
          </a:ln>
        </p:spPr>
      </p:sp>
      <p:sp>
        <p:nvSpPr>
          <p:cNvPr id="18" name="Shape 16"/>
          <p:cNvSpPr/>
          <p:nvPr/>
        </p:nvSpPr>
        <p:spPr>
          <a:xfrm>
            <a:off x="5868162" y="3918204"/>
            <a:ext cx="452628" cy="0"/>
          </a:xfrm>
          <a:prstGeom prst="line">
            <a:avLst/>
          </a:prstGeom>
          <a:noFill/>
          <a:ln w="38100">
            <a:solidFill>
              <a:srgbClr val="404040"/>
            </a:solidFill>
            <a:prstDash val="solid"/>
            <a:tailEnd type="triangle"/>
          </a:ln>
        </p:spPr>
      </p:sp>
      <p:sp>
        <p:nvSpPr>
          <p:cNvPr id="19" name="Shape 17"/>
          <p:cNvSpPr/>
          <p:nvPr/>
        </p:nvSpPr>
        <p:spPr>
          <a:xfrm>
            <a:off x="10131552" y="2880360"/>
            <a:ext cx="0" cy="210312"/>
          </a:xfrm>
          <a:prstGeom prst="line">
            <a:avLst/>
          </a:prstGeom>
          <a:noFill/>
          <a:ln w="38100">
            <a:solidFill>
              <a:srgbClr val="404040"/>
            </a:solidFill>
            <a:prstDash val="solid"/>
          </a:ln>
        </p:spPr>
      </p:sp>
      <p:sp>
        <p:nvSpPr>
          <p:cNvPr id="20" name="Shape 18"/>
          <p:cNvSpPr/>
          <p:nvPr/>
        </p:nvSpPr>
        <p:spPr>
          <a:xfrm>
            <a:off x="4075938" y="3090672"/>
            <a:ext cx="6055614" cy="0"/>
          </a:xfrm>
          <a:prstGeom prst="line">
            <a:avLst/>
          </a:prstGeom>
          <a:noFill/>
          <a:ln w="38100">
            <a:solidFill>
              <a:srgbClr val="404040"/>
            </a:solidFill>
            <a:prstDash val="solid"/>
          </a:ln>
        </p:spPr>
      </p:sp>
      <p:sp>
        <p:nvSpPr>
          <p:cNvPr id="21" name="Shape 19"/>
          <p:cNvSpPr/>
          <p:nvPr/>
        </p:nvSpPr>
        <p:spPr>
          <a:xfrm>
            <a:off x="4075938" y="3090672"/>
            <a:ext cx="0" cy="210312"/>
          </a:xfrm>
          <a:prstGeom prst="line">
            <a:avLst/>
          </a:prstGeom>
          <a:noFill/>
          <a:ln w="38100">
            <a:solidFill>
              <a:srgbClr val="404040"/>
            </a:solidFill>
            <a:prstDash val="solid"/>
            <a:tailEnd type="triangle"/>
          </a:ln>
        </p:spPr>
      </p:sp>
      <p:sp>
        <p:nvSpPr>
          <p:cNvPr id="22" name="Text 20"/>
          <p:cNvSpPr txBox="1"/>
          <p:nvPr/>
        </p:nvSpPr>
        <p:spPr>
          <a:xfrm>
            <a:off x="502920" y="4809744"/>
            <a:ext cx="11155680" cy="1069848"/>
          </a:xfrm>
          <a:prstGeom prst="rect">
            <a:avLst/>
          </a:prstGeom>
          <a:noFill/>
          <a:ln/>
        </p:spPr>
        <p:txBody>
          <a:bodyPr wrap="square" lIns="0" tIns="0" rIns="0" bIns="0" rtlCol="0" anchor="t"/>
          <a:lstStyle/>
          <a:p>
            <a:pPr algn="l" marL="355600" indent="-355600">
              <a:spcAft>
                <a:spcPts val="1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拮抗後も</a:t>
            </a:r>
            <a:r>
              <a:rPr lang="ja-JP" altLang="en-US" sz="2400" b="1" dirty="0">
                <a:solidFill>
                  <a:srgbClr val="D55E00"/>
                </a:solidFill>
                <a:latin typeface="メイリオ" pitchFamily="34" charset="0"/>
                <a:ea typeface="メイリオ" pitchFamily="34" charset="-122"/>
                <a:cs typeface="メイリオ" pitchFamily="34" charset="-120"/>
              </a:rPr>
              <a:t>再クラーレ化</a:t>
            </a:r>
            <a:r>
              <a:rPr lang="ja-JP" altLang="en-US" sz="2400" dirty="0">
                <a:solidFill>
                  <a:srgbClr val="262626"/>
                </a:solidFill>
                <a:latin typeface="メイリオ" pitchFamily="34" charset="0"/>
                <a:ea typeface="メイリオ" pitchFamily="34" charset="-122"/>
                <a:cs typeface="メイリオ" pitchFamily="34" charset="-120"/>
              </a:rPr>
              <a:t>に注意（量はモニターで決める）</a:t>
            </a:r>
            <a:endParaRPr lang="ja-JP" sz="2400" dirty="0"/>
          </a:p>
          <a:p>
            <a:pPr algn="l" marL="355600" indent="-355600">
              <a:spcAft>
                <a:spcPts val="1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値と時刻を麻酔記録に残す</a:t>
            </a:r>
            <a:endParaRPr 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落とし穴</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必要性</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刺激</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判定</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実践</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Shape 8"/>
          <p:cNvSpPr/>
          <p:nvPr/>
        </p:nvSpPr>
        <p:spPr>
          <a:xfrm>
            <a:off x="612648" y="2043684"/>
            <a:ext cx="237744" cy="237744"/>
          </a:xfrm>
          <a:prstGeom prst="ellipse">
            <a:avLst/>
          </a:prstGeom>
          <a:solidFill>
            <a:srgbClr val="C00000"/>
          </a:solidFill>
          <a:ln/>
        </p:spPr>
      </p:sp>
      <p:sp>
        <p:nvSpPr>
          <p:cNvPr id="11" name="Text 9"/>
          <p:cNvSpPr txBox="1"/>
          <p:nvPr/>
        </p:nvSpPr>
        <p:spPr>
          <a:xfrm>
            <a:off x="1051560" y="1874520"/>
            <a:ext cx="10634472" cy="539496"/>
          </a:xfrm>
          <a:prstGeom prst="rect">
            <a:avLst/>
          </a:prstGeom>
          <a:noFill/>
          <a:ln/>
        </p:spPr>
        <p:txBody>
          <a:bodyPr wrap="square" lIns="0" tIns="0" rIns="0" bIns="0" rtlCol="0" anchor="t"/>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電極の乾き・冷えた手で反応が小さく出る</a:t>
            </a:r>
            <a:endParaRPr lang="ja-JP" sz="2800" dirty="0"/>
          </a:p>
        </p:txBody>
      </p:sp>
      <p:sp>
        <p:nvSpPr>
          <p:cNvPr id="12" name="Shape 10"/>
          <p:cNvSpPr/>
          <p:nvPr/>
        </p:nvSpPr>
        <p:spPr>
          <a:xfrm>
            <a:off x="612648" y="2884932"/>
            <a:ext cx="237744" cy="237744"/>
          </a:xfrm>
          <a:prstGeom prst="ellipse">
            <a:avLst/>
          </a:prstGeom>
          <a:solidFill>
            <a:srgbClr val="C00000"/>
          </a:solidFill>
          <a:ln/>
        </p:spPr>
      </p:sp>
      <p:sp>
        <p:nvSpPr>
          <p:cNvPr id="13" name="Text 11"/>
          <p:cNvSpPr txBox="1"/>
          <p:nvPr/>
        </p:nvSpPr>
        <p:spPr>
          <a:xfrm>
            <a:off x="1051560" y="2715768"/>
            <a:ext cx="10634472" cy="539496"/>
          </a:xfrm>
          <a:prstGeom prst="rect">
            <a:avLst/>
          </a:prstGeom>
          <a:noFill/>
          <a:ln/>
        </p:spPr>
        <p:txBody>
          <a:bodyPr wrap="square" lIns="0" tIns="0" rIns="0" bIns="0" rtlCol="0" anchor="t"/>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腕が体側に固定され、母指が動けない（AMG）</a:t>
            </a:r>
            <a:endParaRPr lang="ja-JP" sz="2800" dirty="0"/>
          </a:p>
        </p:txBody>
      </p:sp>
      <p:sp>
        <p:nvSpPr>
          <p:cNvPr id="14" name="Shape 12"/>
          <p:cNvSpPr/>
          <p:nvPr/>
        </p:nvSpPr>
        <p:spPr>
          <a:xfrm>
            <a:off x="612648" y="3726180"/>
            <a:ext cx="237744" cy="237744"/>
          </a:xfrm>
          <a:prstGeom prst="ellipse">
            <a:avLst/>
          </a:prstGeom>
          <a:solidFill>
            <a:srgbClr val="C00000"/>
          </a:solidFill>
          <a:ln/>
        </p:spPr>
      </p:sp>
      <p:sp>
        <p:nvSpPr>
          <p:cNvPr id="15" name="Text 13"/>
          <p:cNvSpPr txBox="1"/>
          <p:nvPr/>
        </p:nvSpPr>
        <p:spPr>
          <a:xfrm>
            <a:off x="1051560" y="3557016"/>
            <a:ext cx="10634472" cy="539496"/>
          </a:xfrm>
          <a:prstGeom prst="rect">
            <a:avLst/>
          </a:prstGeom>
          <a:noFill/>
          <a:ln/>
        </p:spPr>
        <p:txBody>
          <a:bodyPr wrap="square" lIns="0" tIns="0" rIns="0" bIns="0" rtlCol="0" anchor="t"/>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基準値を取らずに TOF比を読む</a:t>
            </a:r>
            <a:endParaRPr lang="ja-JP" sz="2800" dirty="0"/>
          </a:p>
        </p:txBody>
      </p:sp>
      <p:sp>
        <p:nvSpPr>
          <p:cNvPr id="16" name="Shape 14"/>
          <p:cNvSpPr/>
          <p:nvPr/>
        </p:nvSpPr>
        <p:spPr>
          <a:xfrm>
            <a:off x="612648" y="4567428"/>
            <a:ext cx="237744" cy="237744"/>
          </a:xfrm>
          <a:prstGeom prst="ellipse">
            <a:avLst/>
          </a:prstGeom>
          <a:solidFill>
            <a:srgbClr val="C00000"/>
          </a:solidFill>
          <a:ln/>
        </p:spPr>
      </p:sp>
      <p:sp>
        <p:nvSpPr>
          <p:cNvPr id="17" name="Text 15"/>
          <p:cNvSpPr txBox="1"/>
          <p:nvPr/>
        </p:nvSpPr>
        <p:spPr>
          <a:xfrm>
            <a:off x="1051560" y="4398264"/>
            <a:ext cx="10634472" cy="539496"/>
          </a:xfrm>
          <a:prstGeom prst="rect">
            <a:avLst/>
          </a:prstGeom>
          <a:noFill/>
          <a:ln/>
        </p:spPr>
        <p:txBody>
          <a:bodyPr wrap="square" lIns="0" tIns="0" rIns="0" bIns="0" rtlCol="0" anchor="t"/>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目の周りの筋で回復と判断する</a:t>
            </a:r>
            <a:endParaRPr lang="ja-JP" sz="2800" dirty="0"/>
          </a:p>
        </p:txBody>
      </p:sp>
      <p:sp>
        <p:nvSpPr>
          <p:cNvPr id="18" name="Shape 16"/>
          <p:cNvSpPr/>
          <p:nvPr/>
        </p:nvSpPr>
        <p:spPr>
          <a:xfrm>
            <a:off x="612648" y="5408676"/>
            <a:ext cx="237744" cy="237744"/>
          </a:xfrm>
          <a:prstGeom prst="ellipse">
            <a:avLst/>
          </a:prstGeom>
          <a:solidFill>
            <a:srgbClr val="C00000"/>
          </a:solidFill>
          <a:ln/>
        </p:spPr>
      </p:sp>
      <p:sp>
        <p:nvSpPr>
          <p:cNvPr id="19" name="Text 17"/>
          <p:cNvSpPr txBox="1"/>
          <p:nvPr/>
        </p:nvSpPr>
        <p:spPr>
          <a:xfrm>
            <a:off x="1051560" y="5239512"/>
            <a:ext cx="10634472" cy="539496"/>
          </a:xfrm>
          <a:prstGeom prst="rect">
            <a:avLst/>
          </a:prstGeom>
          <a:noFill/>
          <a:ln/>
        </p:spPr>
        <p:txBody>
          <a:bodyPr wrap="square" lIns="0" tIns="0" rIns="0" bIns="0" rtlCol="0" anchor="t"/>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臨床所見だけで抜管する</a:t>
            </a:r>
            <a:endParaRPr lang="ja-JP"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必要性</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刺激</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判定</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実践</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Thilen SR, et al. Anesthesiology 2023;138:13-41 / ブリディオン静注 添付文書</a:t>
            </a:r>
            <a:endParaRPr lang="ja-JP" sz="1600" dirty="0"/>
          </a:p>
        </p:txBody>
      </p:sp>
      <p:sp>
        <p:nvSpPr>
          <p:cNvPr id="11" name="Text 9"/>
          <p:cNvSpPr txBox="1"/>
          <p:nvPr/>
        </p:nvSpPr>
        <p:spPr>
          <a:xfrm>
            <a:off x="502920" y="1828800"/>
            <a:ext cx="11155680" cy="3813048"/>
          </a:xfrm>
          <a:prstGeom prst="rect">
            <a:avLst/>
          </a:prstGeom>
          <a:noFill/>
          <a:ln/>
        </p:spPr>
        <p:txBody>
          <a:bodyPr wrap="square" lIns="0" tIns="0" rIns="0" bIns="0" rtlCol="0" anchor="t"/>
          <a:lstStyle/>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筋弛緩薬を使うなら、</a:t>
            </a:r>
            <a:r>
              <a:rPr lang="ja-JP" altLang="en-US" sz="2800" b="1" dirty="0">
                <a:solidFill>
                  <a:srgbClr val="00A8AA"/>
                </a:solidFill>
                <a:latin typeface="メイリオ" pitchFamily="34" charset="0"/>
                <a:ea typeface="メイリオ" pitchFamily="34" charset="-122"/>
                <a:cs typeface="メイリオ" pitchFamily="34" charset="-120"/>
              </a:rPr>
              <a:t>定量モニター</a:t>
            </a:r>
            <a:r>
              <a:rPr lang="ja-JP" altLang="en-US" sz="2800" dirty="0">
                <a:solidFill>
                  <a:srgbClr val="262626"/>
                </a:solidFill>
                <a:latin typeface="メイリオ" pitchFamily="34" charset="0"/>
                <a:ea typeface="メイリオ" pitchFamily="34" charset="-122"/>
                <a:cs typeface="メイリオ" pitchFamily="34" charset="-120"/>
              </a:rPr>
              <a:t>を必ず付ける</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尺骨神経を刺激し、母指内転筋で測る</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深さは PTC と TOF カウント、回復は TOF比</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拮抗薬の量は深さで決める（2・4 mg/kg）</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抜管前に </a:t>
            </a:r>
            <a:r>
              <a:rPr lang="ja-JP" altLang="en-US" sz="2800" b="1" dirty="0">
                <a:solidFill>
                  <a:srgbClr val="00A8AA"/>
                </a:solidFill>
                <a:latin typeface="メイリオ" pitchFamily="34" charset="0"/>
                <a:ea typeface="メイリオ" pitchFamily="34" charset="-122"/>
                <a:cs typeface="メイリオ" pitchFamily="34" charset="-120"/>
              </a:rPr>
              <a:t>TOF比 0.9 以上</a:t>
            </a:r>
            <a:r>
              <a:rPr lang="ja-JP" altLang="en-US" sz="2800" dirty="0">
                <a:solidFill>
                  <a:srgbClr val="262626"/>
                </a:solidFill>
                <a:latin typeface="メイリオ" pitchFamily="34" charset="0"/>
                <a:ea typeface="メイリオ" pitchFamily="34" charset="-122"/>
                <a:cs typeface="メイリオ" pitchFamily="34" charset="-120"/>
              </a:rPr>
              <a:t>を確認する（JSA 2025）</a:t>
            </a:r>
            <a:endParaRPr lang="ja-JP"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2-6 筋弛緩モニター</dc:title>
  <dc:subject/>
  <dc:creator>Anes-lecture</dc:creator>
  <cp:lastModifiedBy>Anes-lecture</cp:lastModifiedBy>
  <cp:revision>1</cp:revision>
  <dcterms:created xsi:type="dcterms:W3CDTF">2026-10-13T06:52:58Z</dcterms:created>
  <dcterms:modified xsi:type="dcterms:W3CDTF">2026-10-13T06:52:58Z</dcterms:modified>
</cp:coreProperties>
</file>