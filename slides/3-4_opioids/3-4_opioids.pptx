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オピオイドは手術の痛みに対する鎮痛の中心で、全身麻酔では鎮静薬と組み合わせて使う。この回では、共通の作用と副作用、フェンタニル・レミフェンタニル・モルヒネの用量と特徴、使い分け、呼吸抑制の予防、麻薬としての取り扱い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作用: 脊髄と脳の μ オピオイド受容体に作用して鎮痛する。鎮静薬（プロポフォール、吸入麻酔薬）の必要量を大きく減らし、挿管や執刀の刺激による血圧・心拍数の上昇を抑える。咳反射を抑えるので、挿管チューブへの耐性にも役立つ。</a:t>
            </a:r>
          </a:p>
          <a:p>
            <a:r>
              <a:rPr lang="ja-JP" altLang="en-US" dirty="0"/>
              <a:t>副作用: 呼吸抑制が最も重要。呼吸数が減り、CO2 の上昇に対する換気の反応が鈍る。1 回換気量が保たれていても呼吸数が落ちていることが多い。鎮静薬やベンゾジアゼピンとの併用で増強する。ほかに徐脈、血圧低下（特に鎮静薬との併用時）、悪心嘔吐、掻痒、尿閉、腸管運動の低下（便秘）、縮瞳。術後のオピオイド使用は PONV（術後悪心嘔吐）の危険因子で、Apfel の簡易リスクスコアの 4 項目の一つ（Apfel 1999）。アセトアミノフェンや区域麻酔を組み合わせてオピオイドを減らすことも PONV 対策になる。</a:t>
            </a:r>
          </a:p>
          <a:p>
            <a:r>
              <a:rPr lang="ja-JP" altLang="en-US" dirty="0"/>
              <a:t>フェンタニルやレミフェンタニルを急速に大量に入れると、筋硬直（胸壁・腹壁）と声門の閉鎖でマスク換気ができなくなることがある。換気困難の主な原因は声門の閉鎖とする報告がある（スフェンタニル 3 µg/kg の導入で 30 例中 28 例に声帯の閉鎖とコンプライアンス低下：Bennett 1997）。筋弛緩薬で解除する。レミフェンタニルの単回静注は 30 秒以上かけて行う（添付文書 7.2）。レミフェンタニルの高用量持続投与後には痛覚過敏が報告されている。</a:t>
            </a:r>
          </a:p>
          <a:p>
            <a:r>
              <a:rPr lang="ja-JP" altLang="en-US" dirty="0"/>
              <a:t>参考: Apfel CC, et al. Anesthesiology 1999;91:693-700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導入時に 1〜3 µg/kg 程度を静注するのは臨床の目安。添付文書（成人、バランス麻酔）では、麻酔導入時は『フェンタニルとして 1.5〜8 µg/kg を緩徐に静注するか、又はブドウ糖液などに希釈して点滴静注する』。麻酔維持はブドウ糖液などに希釈して『(1) 間欠投与：25〜50 µg ずつ静注』または『(2) 持続投与：0.5〜5 µg/kg/h の速さで点滴静注』。1〜3 µg/kg は、添付文書では『局所麻酔における鎮痛の補助』の用量。</a:t>
            </a:r>
          </a:p>
          <a:p>
            <a:r>
              <a:rPr lang="ja-JP" altLang="en-US" dirty="0"/>
              <a:t>術中は刺激に応じて追加する。スライドの 25〜50 µg ずつは添付文書の間欠投与の値。</a:t>
            </a:r>
          </a:p>
          <a:p>
            <a:r>
              <a:rPr lang="ja-JP" altLang="en-US" dirty="0"/>
              <a:t>術後は、回復室では 25〜50 µg ずつ静注し、呼吸数と痛みを見て追加するのが臨床の目安。添付文書の術後疼痛（静脈内投与）は『1〜2 µg/kg を緩徐に静注後、1〜2 µg/kg/h の速さで点滴静注する』。高齢者、肥満（実体重で計算すると多すぎる。→ S6）、腎肝機能低下では減量する。</a:t>
            </a:r>
          </a:p>
          <a:p>
            <a:r>
              <a:rPr lang="ja-JP" altLang="en-US" dirty="0"/>
              <a:t>動態: 脂溶性が高く、静注後すぐに効き始め、効果のピークは数分後。100 µg の静注で脳内濃度がピークになるのは 6 分（頭部外傷後の患者で動脈血と内頸静脈球血の濃度から測定：Metz 2000）。モデルで計算した効果部位濃度のピークは約 3.6 分（Shafer &amp; Varvel 1991）【要確認: 3.6 分の出典の本文（Shafer &amp; Varvel 1991 の抄録には値がない。Miller's Anesthesia のオピオイドの章でも可）】。血中と効果部位の平衡半減期は 6.4 分（EEG で測定：Scott 1985）。挿管は投与の 3〜5 分後に合わせる。単回投与では再分布で切れるが、繰り返しや持続投与で脂肪にたまり、context-sensitive half-time が延びる（→ 3-1）。肝代謝で、活性のある代謝物がないため、腎不全でも使いやすい。</a:t>
            </a:r>
          </a:p>
          <a:p>
            <a:r>
              <a:rPr lang="ja-JP" altLang="en-US" dirty="0"/>
              <a:t>注意: 術後に呼吸抑制が遅れて出ることがある（脂肪からの戻り、低体温からの復温、他の鎮静薬との相乗）。硬膜外やくも膜下に投与した場合も、遅発性の呼吸抑制に注意する。病棟では呼吸数と SpO2 を観察する。</a:t>
            </a:r>
          </a:p>
          <a:p>
            <a:r>
              <a:rPr lang="ja-JP" altLang="en-US" dirty="0"/>
              <a:t>相互作用: 主に CYP3A4 で代謝されるため、強い CYP3A4 阻害薬（リトナビルなどの HIV プロテアーゼ阻害薬、イトラコナゾールなどのアゾール系抗真菌薬）と併用すると、作用が強く長くなりうる。呼吸抑制に注意する【要確認: フェンタニル注射液 添付文書 10. 相互作用の原文（併用注意か併用禁忌か、挙がっている薬剤名）】。</a:t>
            </a:r>
          </a:p>
          <a:p>
            <a:r>
              <a:rPr lang="ja-JP" altLang="en-US" dirty="0"/>
              <a:t>参考: 日本麻酔科学会「麻酔薬および麻酔関連薬使用ガイドライン 第4版」Ⅱ 鎮痛薬・拮抗薬（2025）、Shafer SL, Varvel JR. Anesthesiology 1991;74:53-63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添付文書（成人）では、他の全身麻酔薬を必ず併用する。導入は 0.5 µg/kg/分の持続静注（ダブルルーメンチューブの使用、挿管困難など、気管挿管時に強い刺激が予想されるときは 1.0 µg/kg/分）。必要に応じて、持続投与の前に 1.0 µg/kg を 30〜60 秒かけて単回静注できる（気管挿管が投与開始から 10 分以上たってからなら、単回静注は要らない）。</a:t>
            </a:r>
          </a:p>
          <a:p>
            <a:r>
              <a:rPr lang="ja-JP" altLang="en-US" dirty="0"/>
              <a:t>維持は 0.25 µg/kg/分で持続静注し、患者の全身状態を見ながら 2〜5 分間隔で 25〜100% の範囲で増やすか、25〜50% の範囲で減らす。最大でも 2.0 µg/kg/分を超えない（1 歳以上の小児の維持では最大 1.3 µg/kg/分）。国内の添付文書に維持の下限の記載はない【要確認: アルチバ静注用 添付文書「6. 用法及び用量」の原文（維持 0.25 µg/kg/分、2〜5 分間隔で 25〜100% 加速・25〜50% 減速、最大 2.0 µg/kg/分）】。</a:t>
            </a:r>
          </a:p>
          <a:p>
            <a:r>
              <a:rPr lang="ja-JP" altLang="en-US" dirty="0"/>
              <a:t>浅麻酔時は 0.5〜1.0 µg/kg を 2〜5 分間隔で追加単回静注できる。単回静注は 30 秒以上かけて行う（筋硬直を防ぐ。添付文書 7.2）。肥満患者の用量は、実際の体重よりも標準体重に基づいて決めるのが望ましい（添付文書 7.3。肥満は成人で BMI 25 以上）。単独では全身麻酔にならない。添付文書も『本剤を単独で全身麻酔に使用しないこと（本剤は鎮静効果が弱いため、意識消失を得るためには他の全身麻酔薬を併用すること）』としている。</a:t>
            </a:r>
          </a:p>
          <a:p>
            <a:r>
              <a:rPr lang="ja-JP" altLang="en-US" dirty="0"/>
              <a:t>動態: 血液や組織の非特異的エステラーゼで分解されるため、肝腎機能に依存しない。3 時間の持続投与後に実測した context-sensitive half-time は 3.2 分で、換気抑制が半分に戻るまで 5.4 分だった（健常者：Kapila 1995）。だから高用量でも手術終了に合わせて切れる。</a:t>
            </a:r>
          </a:p>
          <a:p>
            <a:r>
              <a:rPr lang="ja-JP" altLang="en-US" dirty="0"/>
              <a:t>注意: 切れたとたんに鎮痛がなくなるので、止める前に別の鎮痛（フェンタニル、アセトアミノフェン、区域麻酔）を効かせておく。ボーラス投与で徐脈、低血圧、筋硬直が起きる。添加剤にグリシンを含むため、添付文書の【警告】で硬膜外・くも膜下への投与を禁じている（ラットのくも膜下にグリシン製剤を持続投与すると、ナロキソンで戻らない運動障害が出た：Buerkle &amp; Yaksh 1996）。持続投与は γ計算が要る（→ 3-10）。ラインが外れると数分で覚醒・体動につながる（→ 2-8）。</a:t>
            </a:r>
          </a:p>
          <a:p>
            <a:r>
              <a:rPr lang="ja-JP" altLang="en-US" dirty="0"/>
              <a:t>ラインの残り: 止めたあと、投与ラインの死腔に残った薬が、後で（回復室などで）別の薬と一緒に流されると一度に入り、呼吸停止や筋硬直を起こしうる。できるだけ患者に近い位置でつなぎ、止めたらラインを外すか、残った薬を除く【要確認: アルチバ静注用 添付文書 14. 適用上の注意（または 8. 重要な基本的注意）に、投与終了後のライン内の残液についての記載があるか】。</a:t>
            </a:r>
          </a:p>
          <a:p>
            <a:r>
              <a:rPr lang="ja-JP" altLang="en-US" dirty="0"/>
              <a:t>参考: 日本麻酔科学会「麻酔薬および麻酔関連薬使用ガイドライン 第4版」Ⅱ 鎮痛薬・拮抗薬（2025）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術後鎮痛では静注で 2〜5 mg ずつ投与し、反応を見て追加するのが臨床の目安（添付文書の用量ではない）。添付文書（皮下及び静脈内投与の場合）は『通常、成人には、モルヒネ塩酸塩水和物として 1 回 5〜10 mg を皮下に注射する。また、麻酔の補助として、静脈内に注射することもある。』で、静注の量は書かれていない。くも膜下投与は、添付文書では『通常、成人には、モルヒネ塩酸塩水和物として 1 回 0.1〜0.5 mg をくも膜下腔に注入する』。臨床では範囲の少ない側（0.1〜0.2 mg）を使うことが多い。量が多いほど鎮痛は長いが、悪心嘔吐・掻痒が増え（帝王切開で 50〜100 µg と 100 µg 超〜250 µg を比べたメタ解析：Sultan 2016）、呼吸抑制も用量に比例して強くなる（Bailey 1993）【要確認: モルヒネ塩酸塩注射液 添付文書「6. 用法及び用量」の原文（皮下 1 回 5〜10 mg、静注は量の記載なし、くも膜下 1 回 0.1〜0.5 mg）】。PCA（患者自己調節鎮痛）の設定は施設の方式に従う（→ 5-11）。</a:t>
            </a:r>
          </a:p>
          <a:p>
            <a:r>
              <a:rPr lang="ja-JP" altLang="en-US" dirty="0"/>
              <a:t>くも膜下投与後の呼吸抑制: 遅れて出ることに注意する。添付文書は『重篤な呼吸抑制が投与から数時間以上経過した後に発現することがある』としている【要確認: モルヒネ塩酸塩注射液 添付文書「8. 重要な基本的注意」の原文（くも膜下・硬膜外投与後の遅発性呼吸抑制の記載）】。健常男性では、CO2 換気応答の低下が投与 3.5〜7.5 時間後に最も強く、PaCO2 のピークは 6.5〜7.5 時間後だった。0.6 mg では換気応答が基準の 50% 未満のまま最長 20 時間続いた例があった（Bailey 1993）。ASA/ASRA 2016 は、単回投与後少なくとも 24 時間観察し、最初の 12 時間は少なくとも 1 時間ごとに確認するよう勧めている。</a:t>
            </a:r>
          </a:p>
          <a:p>
            <a:r>
              <a:rPr lang="ja-JP" altLang="en-US" dirty="0"/>
              <a:t>動態: 脂溶性が低く、効果部位に届くのが遅い。臨床では静注後 15〜30 分を効果のピークの目安とする（米国の添付文書は、静注後に中枢作用が最大になるまで約 30 分かかり、急速に静注すると過量になりうるとしている）。血中と効果部位の平衡半減期は 2〜3 時間（Lötsch 2005）、健常者への 90 秒静注では 4.4 時間（Dahan 2004）と長く、鎮痛が不十分でも中等度〜高度の呼吸抑制が起こりうる（Dahan 2004）。前の量の効果を見きわめてから追加する。作用時間は長い。肝臓でグルクロン酸抱合され、代謝物のモルヒネ-6-グルクロニド（M6G）は活性があり腎臓から排泄されるので、腎不全で蓄積して呼吸抑制が長引く。</a:t>
            </a:r>
          </a:p>
          <a:p>
            <a:r>
              <a:rPr lang="ja-JP" altLang="en-US" dirty="0"/>
              <a:t>注意: 静注でヒスタミンが遊離し、末梢血管が拡張して血圧が下がる（冠動脈バイパス術前の患者にモルヒネ 1 mg/kg を投与すると、血漿ヒスタミンが平均ピークで 750% 上がり、平均動脈圧が 27 mmHg 下がった。フェンタニル 50 µg/kg ではどちらも変化しなかった：Rosow 1982。大量投与での結果）。くも膜下・硬膜外投与後の掻痒は主に μ 受容体を介した中枢性のもので、ヒスタミンが主な原因ではない。μ 遮断以外の薬（抗ヒスタミン薬など）の効果ははっきりしない（Ko 2015）。腎不全の患者では避け、フェンタニルなどを使う。</a:t>
            </a:r>
          </a:p>
          <a:p>
            <a:r>
              <a:rPr lang="ja-JP" altLang="en-US" dirty="0"/>
              <a:t>禁忌: 添付文書では、重篤な呼吸抑制、気管支喘息発作中、重篤な肝障害、慢性肺疾患に続発する心不全、痙攣状態（てんかん重積症、破傷風、ストリキニーネ中毒）、急性アルコール中毒、出血性大腸炎の患者などが禁忌。硬膜外・くも膜下投与では、注射部位やその周辺の炎症、敗血症の患者も禁忌。少なくとも「喘息発作中には使わない」は覚えておく【要確認: モルヒネ塩酸塩注射液 添付文書「2. 禁忌」の原文（項目と、硬膜外・くも膜下投与の禁忌）】。</a:t>
            </a:r>
          </a:p>
          <a:p>
            <a:r>
              <a:rPr lang="ja-JP" altLang="en-US" dirty="0"/>
              <a:t>参考: 日本麻酔科学会「麻酔薬および麻酔関連薬使用ガイドライン 第4版」Ⅱ 鎮痛薬・拮抗薬（2025）、Lötsch J. J Pain Symptom Manage 2005;29(5 Suppl):S90-103、Dahan A, et al. Anesthesiology 2004;101:1201-9、Sultan P, et al. Anesth Analg 2016;123:154-64、Rosow CE, et al. Anesthesiology 1982;56:93-6、Ko MC. Handb Exp Pharmacol 2015;226:315-35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導入〜挿管: 挿管の刺激による血圧・心拍数の上昇を抑えるため、フェンタニルを導入の数分前に入れるか、レミフェンタニルを持続で始める。1〜3 µg/kg は挿管時の反応を抑える臨床の目安。添付文書のバランス麻酔の導入量は『フェンタニル注射液として 0.03〜0.16 mL/kg（フェンタニルとして 1.5〜8 µg/kg）を緩徐に静注するか、又はブドウ糖液などに希釈して点滴静注する』（→ S3）。</a:t>
            </a:r>
          </a:p>
          <a:p>
            <a:r>
              <a:rPr lang="ja-JP" altLang="en-US" dirty="0"/>
              <a:t>術中: レミフェンタニルは刺激の強さに合わせて速く調節できる。執刀前に増やし、閉創で減らす。</a:t>
            </a:r>
          </a:p>
          <a:p>
            <a:r>
              <a:rPr lang="ja-JP" altLang="en-US" dirty="0"/>
              <a:t>覚醒前〜術後: レミフェンタニルを止める前に、フェンタニルやモルヒネ、アセトアミノフェン、区域麻酔を効かせておく。</a:t>
            </a:r>
          </a:p>
          <a:p>
            <a:r>
              <a:rPr lang="ja-JP" altLang="en-US" dirty="0"/>
              <a:t>腎不全: モルヒネの代謝物が蓄積する。フェンタニルかレミフェンタニルを使う。</a:t>
            </a:r>
          </a:p>
          <a:p>
            <a:r>
              <a:rPr lang="ja-JP" altLang="en-US" dirty="0"/>
              <a:t>高齢者・OSA（閉塞性睡眠時無呼吸）: 呼吸抑制が出やすく、上気道閉塞も起きやすい。減量し、術後は呼吸数と SpO2 を観察する。</a:t>
            </a:r>
          </a:p>
          <a:p>
            <a:r>
              <a:rPr lang="ja-JP" altLang="en-US" dirty="0"/>
              <a:t>肥満: オピオイドは実体重で計算すると多すぎる。除脂肪体重で計算するのが基本（Ingrande &amp; Lemmens 2010）。レミフェンタニルの添付文書には『肥満患者の用量設定は実際の体重よりも標準体重に基づいて行うことが望ましい（肥満患者：成人では BMI 25 以上）』とある（7.3）。肥満患者でも、レミフェンタニルの薬物動態は除脂肪体重に相関し、実体重で投与すると濃度が高くなりすぎる（Egan 1998）。フェンタニルも実体重では必要量を過大に見積もる（Shibutani 2004）ので、補正した体重で始めて反応を見て追加する（→ 3-1）。</a:t>
            </a:r>
          </a:p>
          <a:p>
            <a:r>
              <a:rPr lang="ja-JP" altLang="en-US" dirty="0"/>
              <a:t>参考: Shibutani K, et al. Anesthesiology 2004;101:603-13、Egan TD, et al. Anesthesiology 1998;89:562-73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呼吸抑制は量に比例するが、同じ量でも患者の反応は大きく違う。投与後は呼吸数、呼吸の深さ、SpO2、カプノグラフィ（あれば）で確かめる。鎮静薬やベンゾジアゼピンとの併用で増強する。術後の病棟では、酸素を投与していると SpO2 が保たれたまま低換気が進む（→ 2-4）。呼吸数を数え、呼びかけへの反応を見る。</a:t>
            </a:r>
          </a:p>
          <a:p>
            <a:r>
              <a:rPr lang="ja-JP" altLang="en-US" dirty="0"/>
              <a:t>ハイリスク: OSA、心疾患・肺疾患、肥満、高齢者、腎不全（モルヒネ）、他の鎮静薬の併用。術後のオピオイドによる呼吸抑制のメタ解析では、危険因子は心疾患・肺疾患・OSA で、85% が術後 24 時間以内に起きた（年齢・BMI とは有意な関連がなかった：Gupta 2018）。高度肥満は OSA を合併しやすく、呼吸の有害事象が増える（Ingrande &amp; Lemmens 2010）。ミダゾラム 0.05 mg/kg とフェンタニル 2 µg/kg を併用すると、健常者 12 人のうち 11 人で低酸素血症（SpO2 90% 未満）、6 人で無呼吸が起きた（ミダゾラム単独では呼吸への影響はなく、フェンタニル単独では無呼吸は起きなかった：Bailey 1990）。PCA や硬膜外・くも膜下オピオイドの患者も対象。</a:t>
            </a:r>
          </a:p>
          <a:p>
            <a:r>
              <a:rPr lang="ja-JP" altLang="en-US" dirty="0"/>
              <a:t>強調ボックス: 呼吸抑制の定義は文献でまちまち（くも膜下モルヒネの研究 96 件のうち 46% が定義せず、25% は呼吸数だけで定義：Ko 2003）。ASA/ASRA 2016 は目安の例として、呼吸数 10 回/分 未満、SpO2 90% 未満、PaCO2 50 mmHg 超を挙げ、眠気・鎮静、周期的な無呼吸、チアノーゼも徴候としている【要確認: ASA/ASRA 2016（Anesthesiology 2016;124:535-52）本文の呼吸抑制の目安の記載】。健常者のくも膜下モルヒネの研究では、呼吸数は低酸素血症の目安にならなかった（Bailey 1993）。呼吸数だけでなく、鎮静の深さ（呼びかけへの反応）と SpO2 を合わせて見る。ボックスの数値は例で、報告の基準は施設に従う【要確認: 施設の術後観察・報告基準（呼吸数・鎮静スコア）】。拮抗薬は 3-7 で扱う。</a:t>
            </a:r>
          </a:p>
          <a:p>
            <a:r>
              <a:rPr lang="ja-JP" altLang="en-US" dirty="0"/>
              <a:t>参考: 日本麻酔科学会「麻酔薬および麻酔関連薬使用ガイドライン 第4版」Ⅱ 鎮痛薬・拮抗薬（2025）、Ko S, et al. Can J Anaesth 2003;50:679-88、Bailey PL, et al. Anesthesiology 1993;79:49-59、Ingrande J, Lemmens HJ. Br J Anaesth 2010;105 Suppl 1:i16-23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フェンタニル、レミフェンタニル、モルヒネ、ケタミンは麻薬及び向精神薬取締法の麻薬で、麻薬施用者（免許を持つ医師）の指示で使う。麻薬施用者は、施用したら診療録に患者、品名、数量、年月日などを書く【要確認: 麻薬及び向精神薬取締法 41 条の原文（e-Gov）】。</a:t>
            </a:r>
          </a:p>
          <a:p>
            <a:r>
              <a:rPr lang="ja-JP" altLang="en-US" dirty="0"/>
              <a:t>使い残した注射液（施用残液）は自分で捨てず、施用票に空アンプル・未使用アンプルと一緒に添えて麻薬管理者に返す。施用残液は麻薬管理者がほかの職員の立会いのもとで廃棄し、記録を残す（届出は要らない）。30 日以内に出す調剤済麻薬廃棄届は、患者に交付した麻薬を廃棄するときの手続きで、施用残液とは別。</a:t>
            </a:r>
          </a:p>
          <a:p>
            <a:r>
              <a:rPr lang="ja-JP" altLang="en-US" dirty="0"/>
              <a:t>麻薬は麻薬以外の医薬品と分けて、鍵をかけた堅固な設備（麻薬金庫）に保管する（法 34 条）。アンプルを落として割った、薬液がこぼれたといった場合も、紛失と同じく麻薬事故届の対象になる。すぐに指導医と麻薬管理者（薬剤部）に報告し、こぼれた薬液はできるだけ回収して麻薬管理者に渡す。</a:t>
            </a:r>
          </a:p>
          <a:p>
            <a:r>
              <a:rPr lang="ja-JP" altLang="en-US" dirty="0"/>
              <a:t>ミダゾラム（第三種向精神薬）とレミマゾラムは向精神薬で、別の管理区分になる。具体的な手順は、厚生労働省の「病院・診療所における麻薬管理マニュアル」と、都道府県・施設の規定に従う【要確認: 厚生労働省「病院・診療所における麻薬管理マニュアル」の施用残液の返納・廃棄、麻薬事故届、保管の項の原文】。</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分）。3 つの薬の違いは「切れ方」で覚える。フェンタニルは蓄積、レミフェンタニルは数分で切れる、モルヒネは遅く長い。副作用の中心は呼吸抑制で、量より反応を見る。麻薬としての取り扱いを守る。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オピオイド</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3-4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作用と副作用</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共通</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フェンタ</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ニル</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レミフェ</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ンタニル</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モルヒネ</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安全</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第4版」Ⅱ（2025）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Bennett JA, et al. Anesthesiology 1997;87:1070-4</a:t>
            </a:r>
            <a:endParaRPr lang="ja-JP" sz="1600" dirty="0"/>
          </a:p>
        </p:txBody>
      </p:sp>
      <p:sp>
        <p:nvSpPr>
          <p:cNvPr id="11" name="Shape 9"/>
          <p:cNvSpPr/>
          <p:nvPr/>
        </p:nvSpPr>
        <p:spPr>
          <a:xfrm>
            <a:off x="502920" y="1691640"/>
            <a:ext cx="5481828" cy="4032504"/>
          </a:xfrm>
          <a:prstGeom prst="roundRect">
            <a:avLst>
              <a:gd name="adj" fmla="val 1814"/>
            </a:avLst>
          </a:prstGeom>
          <a:solidFill>
            <a:srgbClr val="F2F2F2"/>
          </a:solidFill>
          <a:ln/>
        </p:spPr>
      </p:sp>
      <p:sp>
        <p:nvSpPr>
          <p:cNvPr id="12" name="Text 10"/>
          <p:cNvSpPr txBox="1"/>
          <p:nvPr/>
        </p:nvSpPr>
        <p:spPr>
          <a:xfrm>
            <a:off x="667512" y="1892808"/>
            <a:ext cx="5152644"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作用（μ 受容体）</a:t>
            </a:r>
            <a:endParaRPr lang="ja-JP" sz="2800" dirty="0"/>
          </a:p>
        </p:txBody>
      </p:sp>
      <p:sp>
        <p:nvSpPr>
          <p:cNvPr id="13" name="Text 11"/>
          <p:cNvSpPr txBox="1"/>
          <p:nvPr/>
        </p:nvSpPr>
        <p:spPr>
          <a:xfrm>
            <a:off x="667512" y="2670048"/>
            <a:ext cx="51526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鎮痛</a:t>
            </a:r>
            <a:endParaRPr lang="ja-JP" sz="2400" dirty="0"/>
          </a:p>
        </p:txBody>
      </p:sp>
      <p:sp>
        <p:nvSpPr>
          <p:cNvPr id="14" name="Text 12"/>
          <p:cNvSpPr txBox="1"/>
          <p:nvPr/>
        </p:nvSpPr>
        <p:spPr>
          <a:xfrm>
            <a:off x="667512" y="3316224"/>
            <a:ext cx="51526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鎮静薬の必要量を減らす（相乗）</a:t>
            </a:r>
            <a:endParaRPr lang="ja-JP" sz="2400" dirty="0"/>
          </a:p>
        </p:txBody>
      </p:sp>
      <p:sp>
        <p:nvSpPr>
          <p:cNvPr id="15" name="Text 13"/>
          <p:cNvSpPr txBox="1"/>
          <p:nvPr/>
        </p:nvSpPr>
        <p:spPr>
          <a:xfrm>
            <a:off x="667512" y="3962400"/>
            <a:ext cx="51526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刺激への血圧・心拍の</a:t>
            </a:r>
            <a:endParaRPr lang="ja-JP" sz="2400" dirty="0"/>
          </a:p>
        </p:txBody>
      </p:sp>
      <p:sp>
        <p:nvSpPr>
          <p:cNvPr id="16" name="Text 14"/>
          <p:cNvSpPr txBox="1"/>
          <p:nvPr/>
        </p:nvSpPr>
        <p:spPr>
          <a:xfrm>
            <a:off x="996696" y="4419600"/>
            <a:ext cx="482346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反応を抑える</a:t>
            </a:r>
            <a:endParaRPr lang="ja-JP" sz="2400" dirty="0"/>
          </a:p>
        </p:txBody>
      </p:sp>
      <p:sp>
        <p:nvSpPr>
          <p:cNvPr id="17" name="Text 15"/>
          <p:cNvSpPr txBox="1"/>
          <p:nvPr/>
        </p:nvSpPr>
        <p:spPr>
          <a:xfrm>
            <a:off x="667512" y="5065776"/>
            <a:ext cx="51526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咳の抑制</a:t>
            </a:r>
            <a:endParaRPr lang="ja-JP" sz="2400" dirty="0"/>
          </a:p>
        </p:txBody>
      </p:sp>
      <p:sp>
        <p:nvSpPr>
          <p:cNvPr id="18" name="Shape 16"/>
          <p:cNvSpPr/>
          <p:nvPr/>
        </p:nvSpPr>
        <p:spPr>
          <a:xfrm>
            <a:off x="6204204" y="1691640"/>
            <a:ext cx="5481828" cy="4032504"/>
          </a:xfrm>
          <a:prstGeom prst="roundRect">
            <a:avLst>
              <a:gd name="adj" fmla="val 1814"/>
            </a:avLst>
          </a:prstGeom>
          <a:solidFill>
            <a:srgbClr val="F2F2F2"/>
          </a:solidFill>
          <a:ln/>
        </p:spPr>
      </p:sp>
      <p:sp>
        <p:nvSpPr>
          <p:cNvPr id="19" name="Text 17"/>
          <p:cNvSpPr txBox="1"/>
          <p:nvPr/>
        </p:nvSpPr>
        <p:spPr>
          <a:xfrm>
            <a:off x="6368796" y="1892808"/>
            <a:ext cx="5152644" cy="539496"/>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副作用</a:t>
            </a:r>
            <a:endParaRPr lang="ja-JP" sz="2800" dirty="0"/>
          </a:p>
        </p:txBody>
      </p:sp>
      <p:sp>
        <p:nvSpPr>
          <p:cNvPr id="20" name="Text 18"/>
          <p:cNvSpPr txBox="1"/>
          <p:nvPr/>
        </p:nvSpPr>
        <p:spPr>
          <a:xfrm>
            <a:off x="6368796" y="2670048"/>
            <a:ext cx="5152644"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呼吸抑制</a:t>
            </a:r>
            <a:r>
              <a:rPr lang="ja-JP" altLang="en-US" sz="2400" dirty="0">
                <a:solidFill>
                  <a:srgbClr val="262626"/>
                </a:solidFill>
                <a:latin typeface="メイリオ" pitchFamily="34" charset="0"/>
                <a:ea typeface="メイリオ" pitchFamily="34" charset="-122"/>
                <a:cs typeface="メイリオ" pitchFamily="34" charset="-120"/>
              </a:rPr>
              <a:t>：呼吸数↓、CO2 応答↓</a:t>
            </a:r>
            <a:endParaRPr lang="ja-JP" sz="2400" dirty="0"/>
          </a:p>
        </p:txBody>
      </p:sp>
      <p:sp>
        <p:nvSpPr>
          <p:cNvPr id="21" name="Text 19"/>
          <p:cNvSpPr txBox="1"/>
          <p:nvPr/>
        </p:nvSpPr>
        <p:spPr>
          <a:xfrm>
            <a:off x="6368796" y="3468624"/>
            <a:ext cx="51526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徐脈・血圧低下</a:t>
            </a:r>
            <a:endParaRPr lang="ja-JP" sz="2400" dirty="0"/>
          </a:p>
        </p:txBody>
      </p:sp>
      <p:sp>
        <p:nvSpPr>
          <p:cNvPr id="22" name="Text 20"/>
          <p:cNvSpPr txBox="1"/>
          <p:nvPr/>
        </p:nvSpPr>
        <p:spPr>
          <a:xfrm>
            <a:off x="6368796" y="4267200"/>
            <a:ext cx="51526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悪心嘔吐、掻痒、尿閉、便秘</a:t>
            </a:r>
            <a:endParaRPr lang="ja-JP" sz="2400" dirty="0"/>
          </a:p>
        </p:txBody>
      </p:sp>
      <p:sp>
        <p:nvSpPr>
          <p:cNvPr id="23" name="Text 21"/>
          <p:cNvSpPr txBox="1"/>
          <p:nvPr/>
        </p:nvSpPr>
        <p:spPr>
          <a:xfrm>
            <a:off x="6368796" y="5065776"/>
            <a:ext cx="51526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筋硬直・声門閉鎖（急速投与）</a:t>
            </a:r>
            <a:endParaRPr lang="ja-JP"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フェンタニル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共通</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フェンタ</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ニル</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レミフェ</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ンタニル</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モルヒネ</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安全</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フェンタニル注射液 添付文書 / Scott JC, et al. Anesthesiology 1985;62:234-41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Metz C, et al. Anesthesiology 2000;92:1559-67</a:t>
            </a:r>
            <a:endParaRPr lang="ja-JP" sz="1600" dirty="0"/>
          </a:p>
        </p:txBody>
      </p:sp>
      <p:sp>
        <p:nvSpPr>
          <p:cNvPr id="11" name="Shape 9"/>
          <p:cNvSpPr/>
          <p:nvPr/>
        </p:nvSpPr>
        <p:spPr>
          <a:xfrm>
            <a:off x="502920" y="1691640"/>
            <a:ext cx="3581400" cy="4032504"/>
          </a:xfrm>
          <a:prstGeom prst="roundRect">
            <a:avLst>
              <a:gd name="adj" fmla="val 2043"/>
            </a:avLst>
          </a:prstGeom>
          <a:solidFill>
            <a:srgbClr val="F2F2F2"/>
          </a:solidFill>
          <a:ln/>
        </p:spPr>
      </p:sp>
      <p:sp>
        <p:nvSpPr>
          <p:cNvPr id="12" name="Text 10"/>
          <p:cNvSpPr txBox="1"/>
          <p:nvPr/>
        </p:nvSpPr>
        <p:spPr>
          <a:xfrm>
            <a:off x="594360"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用量（目安）</a:t>
            </a:r>
            <a:endParaRPr lang="ja-JP" sz="2400" dirty="0"/>
          </a:p>
        </p:txBody>
      </p:sp>
      <p:sp>
        <p:nvSpPr>
          <p:cNvPr id="13" name="Text 11"/>
          <p:cNvSpPr txBox="1"/>
          <p:nvPr/>
        </p:nvSpPr>
        <p:spPr>
          <a:xfrm>
            <a:off x="594360"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導入：</a:t>
            </a:r>
            <a:r>
              <a:rPr lang="ja-JP" altLang="en-US" sz="2200" b="1" dirty="0">
                <a:solidFill>
                  <a:srgbClr val="262626"/>
                </a:solidFill>
                <a:latin typeface="メイリオ" pitchFamily="34" charset="0"/>
                <a:ea typeface="メイリオ" pitchFamily="34" charset="-122"/>
                <a:cs typeface="メイリオ" pitchFamily="34" charset="-120"/>
              </a:rPr>
              <a:t>1〜3 µg/kg</a:t>
            </a:r>
            <a:r>
              <a:rPr lang="ja-JP" altLang="en-US" sz="2200" dirty="0">
                <a:solidFill>
                  <a:srgbClr val="262626"/>
                </a:solidFill>
                <a:latin typeface="メイリオ" pitchFamily="34" charset="0"/>
                <a:ea typeface="メイリオ" pitchFamily="34" charset="-122"/>
                <a:cs typeface="メイリオ" pitchFamily="34" charset="-120"/>
              </a:rPr>
              <a:t> 静注</a:t>
            </a:r>
            <a:endParaRPr lang="ja-JP" sz="2200" dirty="0"/>
          </a:p>
        </p:txBody>
      </p:sp>
      <p:sp>
        <p:nvSpPr>
          <p:cNvPr id="14" name="Text 12"/>
          <p:cNvSpPr txBox="1"/>
          <p:nvPr/>
        </p:nvSpPr>
        <p:spPr>
          <a:xfrm>
            <a:off x="594360" y="306324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術中の追加：</a:t>
            </a:r>
            <a:endParaRPr lang="ja-JP" sz="2200" dirty="0"/>
          </a:p>
        </p:txBody>
      </p:sp>
      <p:sp>
        <p:nvSpPr>
          <p:cNvPr id="15" name="Text 13"/>
          <p:cNvSpPr txBox="1"/>
          <p:nvPr/>
        </p:nvSpPr>
        <p:spPr>
          <a:xfrm>
            <a:off x="868680" y="3483864"/>
            <a:ext cx="316992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25〜50 µg</a:t>
            </a:r>
            <a:r>
              <a:rPr lang="ja-JP" altLang="en-US" sz="2200" dirty="0">
                <a:solidFill>
                  <a:srgbClr val="262626"/>
                </a:solidFill>
                <a:latin typeface="メイリオ" pitchFamily="34" charset="0"/>
                <a:ea typeface="メイリオ" pitchFamily="34" charset="-122"/>
                <a:cs typeface="メイリオ" pitchFamily="34" charset="-120"/>
              </a:rPr>
              <a:t> ずつ</a:t>
            </a:r>
            <a:endParaRPr lang="ja-JP" sz="2200" dirty="0"/>
          </a:p>
        </p:txBody>
      </p:sp>
      <p:sp>
        <p:nvSpPr>
          <p:cNvPr id="16" name="Text 14"/>
          <p:cNvSpPr txBox="1"/>
          <p:nvPr/>
        </p:nvSpPr>
        <p:spPr>
          <a:xfrm>
            <a:off x="594360" y="421538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術後：</a:t>
            </a:r>
            <a:endParaRPr lang="ja-JP" sz="2200" dirty="0"/>
          </a:p>
        </p:txBody>
      </p:sp>
      <p:sp>
        <p:nvSpPr>
          <p:cNvPr id="17" name="Text 15"/>
          <p:cNvSpPr txBox="1"/>
          <p:nvPr/>
        </p:nvSpPr>
        <p:spPr>
          <a:xfrm>
            <a:off x="868680" y="4636008"/>
            <a:ext cx="3169920" cy="841248"/>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25〜50 µg</a:t>
            </a:r>
            <a:r>
              <a:rPr lang="ja-JP" altLang="en-US" sz="2200" dirty="0">
                <a:solidFill>
                  <a:srgbClr val="262626"/>
                </a:solidFill>
                <a:latin typeface="メイリオ" pitchFamily="34" charset="0"/>
                <a:ea typeface="メイリオ" pitchFamily="34" charset="-122"/>
                <a:cs typeface="メイリオ" pitchFamily="34" charset="-120"/>
              </a:rPr>
              <a:t> ずつ、</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反応を見て</a:t>
            </a:r>
            <a:endParaRPr lang="ja-JP" sz="2200" dirty="0"/>
          </a:p>
        </p:txBody>
      </p:sp>
      <p:sp>
        <p:nvSpPr>
          <p:cNvPr id="18" name="Shape 16"/>
          <p:cNvSpPr/>
          <p:nvPr/>
        </p:nvSpPr>
        <p:spPr>
          <a:xfrm>
            <a:off x="4303776" y="1691640"/>
            <a:ext cx="3581400" cy="4032504"/>
          </a:xfrm>
          <a:prstGeom prst="roundRect">
            <a:avLst>
              <a:gd name="adj" fmla="val 2043"/>
            </a:avLst>
          </a:prstGeom>
          <a:solidFill>
            <a:srgbClr val="F2F2F2"/>
          </a:solidFill>
          <a:ln/>
        </p:spPr>
      </p:sp>
      <p:sp>
        <p:nvSpPr>
          <p:cNvPr id="19" name="Text 17"/>
          <p:cNvSpPr txBox="1"/>
          <p:nvPr/>
        </p:nvSpPr>
        <p:spPr>
          <a:xfrm>
            <a:off x="4395216"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動態</a:t>
            </a:r>
            <a:endParaRPr lang="ja-JP" sz="2400" dirty="0"/>
          </a:p>
        </p:txBody>
      </p:sp>
      <p:sp>
        <p:nvSpPr>
          <p:cNvPr id="20" name="Text 18"/>
          <p:cNvSpPr txBox="1"/>
          <p:nvPr/>
        </p:nvSpPr>
        <p:spPr>
          <a:xfrm>
            <a:off x="4395216"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効果のピークまで</a:t>
            </a:r>
            <a:endParaRPr lang="ja-JP" sz="2200" dirty="0"/>
          </a:p>
        </p:txBody>
      </p:sp>
      <p:sp>
        <p:nvSpPr>
          <p:cNvPr id="21" name="Text 19"/>
          <p:cNvSpPr txBox="1"/>
          <p:nvPr/>
        </p:nvSpPr>
        <p:spPr>
          <a:xfrm>
            <a:off x="4669536" y="2752344"/>
            <a:ext cx="316992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3〜6 分</a:t>
            </a:r>
            <a:endParaRPr lang="ja-JP" sz="2200" dirty="0"/>
          </a:p>
        </p:txBody>
      </p:sp>
      <p:sp>
        <p:nvSpPr>
          <p:cNvPr id="22" name="Text 20"/>
          <p:cNvSpPr txBox="1"/>
          <p:nvPr/>
        </p:nvSpPr>
        <p:spPr>
          <a:xfrm>
            <a:off x="4395216" y="348386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単回では再分布で切れる</a:t>
            </a:r>
            <a:endParaRPr lang="ja-JP" sz="2200" dirty="0"/>
          </a:p>
        </p:txBody>
      </p:sp>
      <p:sp>
        <p:nvSpPr>
          <p:cNvPr id="23" name="Text 21"/>
          <p:cNvSpPr txBox="1"/>
          <p:nvPr/>
        </p:nvSpPr>
        <p:spPr>
          <a:xfrm>
            <a:off x="4395216" y="421538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長く入れると</a:t>
            </a:r>
            <a:endParaRPr lang="ja-JP" sz="2200" dirty="0"/>
          </a:p>
        </p:txBody>
      </p:sp>
      <p:sp>
        <p:nvSpPr>
          <p:cNvPr id="24" name="Text 22"/>
          <p:cNvSpPr txBox="1"/>
          <p:nvPr/>
        </p:nvSpPr>
        <p:spPr>
          <a:xfrm>
            <a:off x="4669536" y="4636008"/>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蓄積して切れにくい</a:t>
            </a:r>
            <a:endParaRPr lang="ja-JP" sz="2200" dirty="0"/>
          </a:p>
        </p:txBody>
      </p:sp>
      <p:sp>
        <p:nvSpPr>
          <p:cNvPr id="25" name="Shape 23"/>
          <p:cNvSpPr/>
          <p:nvPr/>
        </p:nvSpPr>
        <p:spPr>
          <a:xfrm>
            <a:off x="8104632" y="1691640"/>
            <a:ext cx="3581400" cy="4032504"/>
          </a:xfrm>
          <a:prstGeom prst="roundRect">
            <a:avLst>
              <a:gd name="adj" fmla="val 2043"/>
            </a:avLst>
          </a:prstGeom>
          <a:solidFill>
            <a:srgbClr val="F2F2F2"/>
          </a:solidFill>
          <a:ln/>
        </p:spPr>
      </p:sp>
      <p:sp>
        <p:nvSpPr>
          <p:cNvPr id="26" name="Text 24"/>
          <p:cNvSpPr txBox="1"/>
          <p:nvPr/>
        </p:nvSpPr>
        <p:spPr>
          <a:xfrm>
            <a:off x="8196072"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196072"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術後の呼吸抑制が</a:t>
            </a:r>
            <a:endParaRPr lang="ja-JP" sz="2200" dirty="0"/>
          </a:p>
        </p:txBody>
      </p:sp>
      <p:sp>
        <p:nvSpPr>
          <p:cNvPr id="28" name="Text 26"/>
          <p:cNvSpPr txBox="1"/>
          <p:nvPr/>
        </p:nvSpPr>
        <p:spPr>
          <a:xfrm>
            <a:off x="8470392" y="2752344"/>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遅れて出る</a:t>
            </a:r>
            <a:endParaRPr lang="ja-JP" sz="2200" dirty="0"/>
          </a:p>
        </p:txBody>
      </p:sp>
      <p:sp>
        <p:nvSpPr>
          <p:cNvPr id="29" name="Text 27"/>
          <p:cNvSpPr txBox="1"/>
          <p:nvPr/>
        </p:nvSpPr>
        <p:spPr>
          <a:xfrm>
            <a:off x="8196072" y="348386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腎不全でも使える</a:t>
            </a:r>
            <a:endParaRPr lang="ja-JP" sz="2200" dirty="0"/>
          </a:p>
        </p:txBody>
      </p:sp>
      <p:sp>
        <p:nvSpPr>
          <p:cNvPr id="30" name="Text 28"/>
          <p:cNvSpPr txBox="1"/>
          <p:nvPr/>
        </p:nvSpPr>
        <p:spPr>
          <a:xfrm>
            <a:off x="8196072" y="421538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硬膜外・くも膜下</a:t>
            </a:r>
            <a:endParaRPr lang="ja-JP" sz="2200" dirty="0"/>
          </a:p>
        </p:txBody>
      </p:sp>
      <p:sp>
        <p:nvSpPr>
          <p:cNvPr id="31" name="Text 29"/>
          <p:cNvSpPr txBox="1"/>
          <p:nvPr/>
        </p:nvSpPr>
        <p:spPr>
          <a:xfrm>
            <a:off x="8470392" y="4636008"/>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投与もある</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レミフェンタニル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共通</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フェンタ</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ニル</a:t>
            </a:r>
            <a:endParaRPr lang="ja-JP" sz="1050" dirty="0"/>
          </a:p>
        </p:txBody>
      </p:sp>
      <p:sp>
        <p:nvSpPr>
          <p:cNvPr id="6" name="Text 4"/>
          <p:cNvSpPr/>
          <p:nvPr/>
        </p:nvSpPr>
        <p:spPr>
          <a:xfrm>
            <a:off x="10030968"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レミフェ</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ンタニル</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モルヒネ</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安全</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アルチバ静注用 添付文書 / Kapila A, et al. Anesthesiology 1995;83:968-75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Buerkle H, Yaksh TL. Anesthesiology 1996;84:926-35</a:t>
            </a:r>
            <a:endParaRPr lang="ja-JP" sz="1600" dirty="0"/>
          </a:p>
        </p:txBody>
      </p:sp>
      <p:sp>
        <p:nvSpPr>
          <p:cNvPr id="11" name="Shape 9"/>
          <p:cNvSpPr/>
          <p:nvPr/>
        </p:nvSpPr>
        <p:spPr>
          <a:xfrm>
            <a:off x="502920" y="1691640"/>
            <a:ext cx="3581400" cy="4032504"/>
          </a:xfrm>
          <a:prstGeom prst="roundRect">
            <a:avLst>
              <a:gd name="adj" fmla="val 2043"/>
            </a:avLst>
          </a:prstGeom>
          <a:solidFill>
            <a:srgbClr val="F2F2F2"/>
          </a:solidFill>
          <a:ln/>
        </p:spPr>
      </p:sp>
      <p:sp>
        <p:nvSpPr>
          <p:cNvPr id="12" name="Text 10"/>
          <p:cNvSpPr txBox="1"/>
          <p:nvPr/>
        </p:nvSpPr>
        <p:spPr>
          <a:xfrm>
            <a:off x="594360"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594360"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導入：</a:t>
            </a:r>
            <a:r>
              <a:rPr lang="ja-JP" altLang="en-US" sz="2200" b="1" dirty="0">
                <a:solidFill>
                  <a:srgbClr val="262626"/>
                </a:solidFill>
                <a:latin typeface="メイリオ" pitchFamily="34" charset="0"/>
                <a:ea typeface="メイリオ" pitchFamily="34" charset="-122"/>
                <a:cs typeface="メイリオ" pitchFamily="34" charset="-120"/>
              </a:rPr>
              <a:t>0.5 µg/kg/分</a:t>
            </a:r>
            <a:endParaRPr lang="ja-JP" sz="2200" dirty="0"/>
          </a:p>
        </p:txBody>
      </p:sp>
      <p:sp>
        <p:nvSpPr>
          <p:cNvPr id="14" name="Text 12"/>
          <p:cNvSpPr txBox="1"/>
          <p:nvPr/>
        </p:nvSpPr>
        <p:spPr>
          <a:xfrm>
            <a:off x="868680" y="2752344"/>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（強い刺激なら </a:t>
            </a:r>
            <a:r>
              <a:rPr lang="ja-JP" altLang="en-US" sz="2200" b="1" dirty="0">
                <a:solidFill>
                  <a:srgbClr val="262626"/>
                </a:solidFill>
                <a:latin typeface="メイリオ" pitchFamily="34" charset="0"/>
                <a:ea typeface="メイリオ" pitchFamily="34" charset="-122"/>
                <a:cs typeface="メイリオ" pitchFamily="34" charset="-120"/>
              </a:rPr>
              <a:t>1.0</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5" name="Text 13"/>
          <p:cNvSpPr txBox="1"/>
          <p:nvPr/>
        </p:nvSpPr>
        <p:spPr>
          <a:xfrm>
            <a:off x="594360" y="332384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維持：</a:t>
            </a:r>
            <a:r>
              <a:rPr lang="ja-JP" altLang="en-US" sz="2200" b="1" dirty="0">
                <a:solidFill>
                  <a:srgbClr val="262626"/>
                </a:solidFill>
                <a:latin typeface="メイリオ" pitchFamily="34" charset="0"/>
                <a:ea typeface="メイリオ" pitchFamily="34" charset="-122"/>
                <a:cs typeface="メイリオ" pitchFamily="34" charset="-120"/>
              </a:rPr>
              <a:t>0.25 µg/kg/分</a:t>
            </a:r>
            <a:endParaRPr lang="ja-JP" sz="2200" dirty="0"/>
          </a:p>
        </p:txBody>
      </p:sp>
      <p:sp>
        <p:nvSpPr>
          <p:cNvPr id="16" name="Text 14"/>
          <p:cNvSpPr txBox="1"/>
          <p:nvPr/>
        </p:nvSpPr>
        <p:spPr>
          <a:xfrm>
            <a:off x="868680" y="3744468"/>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から調節（最大 </a:t>
            </a:r>
            <a:r>
              <a:rPr lang="ja-JP" altLang="en-US" sz="2200" b="1" dirty="0">
                <a:solidFill>
                  <a:srgbClr val="262626"/>
                </a:solidFill>
                <a:latin typeface="メイリオ" pitchFamily="34" charset="0"/>
                <a:ea typeface="メイリオ" pitchFamily="34" charset="-122"/>
                <a:cs typeface="メイリオ" pitchFamily="34" charset="-120"/>
              </a:rPr>
              <a:t>2.0</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594360" y="4315968"/>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浅麻酔時の追加：</a:t>
            </a:r>
            <a:endParaRPr lang="ja-JP" sz="2200" dirty="0"/>
          </a:p>
        </p:txBody>
      </p:sp>
      <p:sp>
        <p:nvSpPr>
          <p:cNvPr id="18" name="Text 16"/>
          <p:cNvSpPr txBox="1"/>
          <p:nvPr/>
        </p:nvSpPr>
        <p:spPr>
          <a:xfrm>
            <a:off x="868680" y="4736592"/>
            <a:ext cx="3169920" cy="841248"/>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0.5〜1.0 µg/kg</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r>
              <a:rPr lang="ja-JP" altLang="en-US" sz="2200" b="1" dirty="0">
                <a:solidFill>
                  <a:srgbClr val="262626"/>
                </a:solidFill>
                <a:latin typeface="メイリオ" pitchFamily="34" charset="0"/>
                <a:ea typeface="メイリオ" pitchFamily="34" charset="-122"/>
                <a:cs typeface="メイリオ" pitchFamily="34" charset="-120"/>
              </a:rPr>
              <a:t>2〜5 分</a:t>
            </a:r>
            <a:r>
              <a:rPr lang="ja-JP" altLang="en-US" sz="2200" dirty="0">
                <a:solidFill>
                  <a:srgbClr val="262626"/>
                </a:solidFill>
                <a:latin typeface="メイリオ" pitchFamily="34" charset="0"/>
                <a:ea typeface="メイリオ" pitchFamily="34" charset="-122"/>
                <a:cs typeface="メイリオ" pitchFamily="34" charset="-120"/>
              </a:rPr>
              <a:t>間隔）</a:t>
            </a:r>
            <a:endParaRPr lang="ja-JP" sz="2200" dirty="0"/>
          </a:p>
        </p:txBody>
      </p:sp>
      <p:sp>
        <p:nvSpPr>
          <p:cNvPr id="19" name="Shape 17"/>
          <p:cNvSpPr/>
          <p:nvPr/>
        </p:nvSpPr>
        <p:spPr>
          <a:xfrm>
            <a:off x="4303776" y="1691640"/>
            <a:ext cx="3581400" cy="4032504"/>
          </a:xfrm>
          <a:prstGeom prst="roundRect">
            <a:avLst>
              <a:gd name="adj" fmla="val 2043"/>
            </a:avLst>
          </a:prstGeom>
          <a:solidFill>
            <a:srgbClr val="F2F2F2"/>
          </a:solidFill>
          <a:ln/>
        </p:spPr>
      </p:sp>
      <p:sp>
        <p:nvSpPr>
          <p:cNvPr id="20" name="Text 18"/>
          <p:cNvSpPr txBox="1"/>
          <p:nvPr/>
        </p:nvSpPr>
        <p:spPr>
          <a:xfrm>
            <a:off x="4395216"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動態</a:t>
            </a:r>
            <a:endParaRPr lang="ja-JP" sz="2400" dirty="0"/>
          </a:p>
        </p:txBody>
      </p:sp>
      <p:sp>
        <p:nvSpPr>
          <p:cNvPr id="21" name="Text 19"/>
          <p:cNvSpPr txBox="1"/>
          <p:nvPr/>
        </p:nvSpPr>
        <p:spPr>
          <a:xfrm>
            <a:off x="4395216"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血液・組織の</a:t>
            </a:r>
            <a:endParaRPr lang="ja-JP" sz="2200" dirty="0"/>
          </a:p>
        </p:txBody>
      </p:sp>
      <p:sp>
        <p:nvSpPr>
          <p:cNvPr id="22" name="Text 20"/>
          <p:cNvSpPr txBox="1"/>
          <p:nvPr/>
        </p:nvSpPr>
        <p:spPr>
          <a:xfrm>
            <a:off x="4669536" y="2752344"/>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エステラーゼで分解</a:t>
            </a:r>
            <a:endParaRPr lang="ja-JP" sz="2200" dirty="0"/>
          </a:p>
        </p:txBody>
      </p:sp>
      <p:sp>
        <p:nvSpPr>
          <p:cNvPr id="23" name="Text 21"/>
          <p:cNvSpPr txBox="1"/>
          <p:nvPr/>
        </p:nvSpPr>
        <p:spPr>
          <a:xfrm>
            <a:off x="4395216" y="348386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何時間入れても</a:t>
            </a:r>
            <a:endParaRPr lang="ja-JP" sz="2200" dirty="0"/>
          </a:p>
        </p:txBody>
      </p:sp>
      <p:sp>
        <p:nvSpPr>
          <p:cNvPr id="24" name="Text 22"/>
          <p:cNvSpPr txBox="1"/>
          <p:nvPr/>
        </p:nvSpPr>
        <p:spPr>
          <a:xfrm>
            <a:off x="4669536" y="3904488"/>
            <a:ext cx="316992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数分</a:t>
            </a:r>
            <a:r>
              <a:rPr lang="ja-JP" altLang="en-US" sz="2200" dirty="0">
                <a:solidFill>
                  <a:srgbClr val="262626"/>
                </a:solidFill>
                <a:latin typeface="メイリオ" pitchFamily="34" charset="0"/>
                <a:ea typeface="メイリオ" pitchFamily="34" charset="-122"/>
                <a:cs typeface="メイリオ" pitchFamily="34" charset="-120"/>
              </a:rPr>
              <a:t>で切れる</a:t>
            </a:r>
            <a:endParaRPr lang="ja-JP" sz="2200" dirty="0"/>
          </a:p>
        </p:txBody>
      </p:sp>
      <p:sp>
        <p:nvSpPr>
          <p:cNvPr id="25" name="Text 23"/>
          <p:cNvSpPr txBox="1"/>
          <p:nvPr/>
        </p:nvSpPr>
        <p:spPr>
          <a:xfrm>
            <a:off x="4395216" y="4636008"/>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肝腎機能によらない</a:t>
            </a:r>
            <a:endParaRPr lang="ja-JP" sz="2200" dirty="0"/>
          </a:p>
        </p:txBody>
      </p:sp>
      <p:sp>
        <p:nvSpPr>
          <p:cNvPr id="26" name="Shape 24"/>
          <p:cNvSpPr/>
          <p:nvPr/>
        </p:nvSpPr>
        <p:spPr>
          <a:xfrm>
            <a:off x="8104632" y="1691640"/>
            <a:ext cx="3581400" cy="4032504"/>
          </a:xfrm>
          <a:prstGeom prst="roundRect">
            <a:avLst>
              <a:gd name="adj" fmla="val 2043"/>
            </a:avLst>
          </a:prstGeom>
          <a:solidFill>
            <a:srgbClr val="F2F2F2"/>
          </a:solidFill>
          <a:ln/>
        </p:spPr>
      </p:sp>
      <p:sp>
        <p:nvSpPr>
          <p:cNvPr id="27" name="Text 25"/>
          <p:cNvSpPr txBox="1"/>
          <p:nvPr/>
        </p:nvSpPr>
        <p:spPr>
          <a:xfrm>
            <a:off x="8196072"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8" name="Text 26"/>
          <p:cNvSpPr txBox="1"/>
          <p:nvPr/>
        </p:nvSpPr>
        <p:spPr>
          <a:xfrm>
            <a:off x="8196072"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切れると痛みが急に戻る</a:t>
            </a:r>
            <a:endParaRPr lang="ja-JP" sz="2200" dirty="0"/>
          </a:p>
        </p:txBody>
      </p:sp>
      <p:sp>
        <p:nvSpPr>
          <p:cNvPr id="29" name="Text 27"/>
          <p:cNvSpPr txBox="1"/>
          <p:nvPr/>
        </p:nvSpPr>
        <p:spPr>
          <a:xfrm>
            <a:off x="8196072" y="306324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ボーラスで徐脈・筋硬直</a:t>
            </a:r>
            <a:endParaRPr lang="ja-JP" sz="2200" dirty="0"/>
          </a:p>
        </p:txBody>
      </p:sp>
      <p:sp>
        <p:nvSpPr>
          <p:cNvPr id="30" name="Text 28"/>
          <p:cNvSpPr txBox="1"/>
          <p:nvPr/>
        </p:nvSpPr>
        <p:spPr>
          <a:xfrm>
            <a:off x="8196072" y="379476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単独では麻酔にならない</a:t>
            </a:r>
            <a:endParaRPr lang="ja-JP" sz="2200" dirty="0"/>
          </a:p>
        </p:txBody>
      </p:sp>
      <p:sp>
        <p:nvSpPr>
          <p:cNvPr id="31" name="Text 29"/>
          <p:cNvSpPr txBox="1"/>
          <p:nvPr/>
        </p:nvSpPr>
        <p:spPr>
          <a:xfrm>
            <a:off x="8196072" y="452628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硬膜外・くも膜下</a:t>
            </a:r>
            <a:endParaRPr lang="ja-JP" sz="2200" dirty="0"/>
          </a:p>
        </p:txBody>
      </p:sp>
      <p:sp>
        <p:nvSpPr>
          <p:cNvPr id="32" name="Text 30"/>
          <p:cNvSpPr txBox="1"/>
          <p:nvPr/>
        </p:nvSpPr>
        <p:spPr>
          <a:xfrm>
            <a:off x="8470392" y="4946904"/>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には</a:t>
            </a:r>
            <a:r>
              <a:rPr lang="ja-JP" altLang="en-US" sz="2200" b="1" dirty="0">
                <a:solidFill>
                  <a:srgbClr val="C00000"/>
                </a:solidFill>
                <a:latin typeface="メイリオ" pitchFamily="34" charset="0"/>
                <a:ea typeface="メイリオ" pitchFamily="34" charset="-122"/>
                <a:cs typeface="メイリオ" pitchFamily="34" charset="-120"/>
              </a:rPr>
              <a:t>禁止</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モルヒネ</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共通</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フェンタ</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ニル</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レミフェ</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ンタニル</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モルヒネ</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安全</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モルヒネ塩酸塩注射液 添付文書 / Bailey PL, et al. Anesthesiology 1993;79:49-59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Task Force on Neuraxial Opioids, et al. Anesthesiology 2016;124:535-52</a:t>
            </a:r>
            <a:endParaRPr lang="ja-JP" sz="1600" dirty="0"/>
          </a:p>
        </p:txBody>
      </p:sp>
      <p:sp>
        <p:nvSpPr>
          <p:cNvPr id="11" name="Shape 9"/>
          <p:cNvSpPr/>
          <p:nvPr/>
        </p:nvSpPr>
        <p:spPr>
          <a:xfrm>
            <a:off x="502920" y="1691640"/>
            <a:ext cx="3581400" cy="4032504"/>
          </a:xfrm>
          <a:prstGeom prst="roundRect">
            <a:avLst>
              <a:gd name="adj" fmla="val 2043"/>
            </a:avLst>
          </a:prstGeom>
          <a:solidFill>
            <a:srgbClr val="F2F2F2"/>
          </a:solidFill>
          <a:ln/>
        </p:spPr>
      </p:sp>
      <p:sp>
        <p:nvSpPr>
          <p:cNvPr id="12" name="Text 10"/>
          <p:cNvSpPr txBox="1"/>
          <p:nvPr/>
        </p:nvSpPr>
        <p:spPr>
          <a:xfrm>
            <a:off x="594360"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用量（目安）</a:t>
            </a:r>
            <a:endParaRPr lang="ja-JP" sz="2400" dirty="0"/>
          </a:p>
        </p:txBody>
      </p:sp>
      <p:sp>
        <p:nvSpPr>
          <p:cNvPr id="13" name="Text 11"/>
          <p:cNvSpPr txBox="1"/>
          <p:nvPr/>
        </p:nvSpPr>
        <p:spPr>
          <a:xfrm>
            <a:off x="594360"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静注：</a:t>
            </a:r>
            <a:r>
              <a:rPr lang="ja-JP" altLang="en-US" sz="2200" b="1" dirty="0">
                <a:solidFill>
                  <a:srgbClr val="262626"/>
                </a:solidFill>
                <a:latin typeface="メイリオ" pitchFamily="34" charset="0"/>
                <a:ea typeface="メイリオ" pitchFamily="34" charset="-122"/>
                <a:cs typeface="メイリオ" pitchFamily="34" charset="-120"/>
              </a:rPr>
              <a:t>2〜5 mg</a:t>
            </a:r>
            <a:r>
              <a:rPr lang="ja-JP" altLang="en-US" sz="2200" dirty="0">
                <a:solidFill>
                  <a:srgbClr val="262626"/>
                </a:solidFill>
                <a:latin typeface="メイリオ" pitchFamily="34" charset="0"/>
                <a:ea typeface="メイリオ" pitchFamily="34" charset="-122"/>
                <a:cs typeface="メイリオ" pitchFamily="34" charset="-120"/>
              </a:rPr>
              <a:t> ずつ、</a:t>
            </a:r>
            <a:endParaRPr lang="ja-JP" sz="2200" dirty="0"/>
          </a:p>
        </p:txBody>
      </p:sp>
      <p:sp>
        <p:nvSpPr>
          <p:cNvPr id="14" name="Text 12"/>
          <p:cNvSpPr txBox="1"/>
          <p:nvPr/>
        </p:nvSpPr>
        <p:spPr>
          <a:xfrm>
            <a:off x="868680" y="2752344"/>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反応を見て</a:t>
            </a:r>
            <a:endParaRPr lang="ja-JP" sz="2200" dirty="0"/>
          </a:p>
        </p:txBody>
      </p:sp>
      <p:sp>
        <p:nvSpPr>
          <p:cNvPr id="15" name="Text 13"/>
          <p:cNvSpPr txBox="1"/>
          <p:nvPr/>
        </p:nvSpPr>
        <p:spPr>
          <a:xfrm>
            <a:off x="594360" y="348386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くも膜下：</a:t>
            </a:r>
            <a:r>
              <a:rPr lang="ja-JP" altLang="en-US" sz="2200" b="1" dirty="0">
                <a:solidFill>
                  <a:srgbClr val="262626"/>
                </a:solidFill>
                <a:latin typeface="メイリオ" pitchFamily="34" charset="0"/>
                <a:ea typeface="メイリオ" pitchFamily="34" charset="-122"/>
                <a:cs typeface="メイリオ" pitchFamily="34" charset="-120"/>
              </a:rPr>
              <a:t>0.1〜0.2 mg</a:t>
            </a:r>
            <a:endParaRPr lang="ja-JP" sz="2200" dirty="0"/>
          </a:p>
        </p:txBody>
      </p:sp>
      <p:sp>
        <p:nvSpPr>
          <p:cNvPr id="16" name="Text 14"/>
          <p:cNvSpPr txBox="1"/>
          <p:nvPr/>
        </p:nvSpPr>
        <p:spPr>
          <a:xfrm>
            <a:off x="594360" y="421538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PCA の設定は</a:t>
            </a:r>
            <a:endParaRPr lang="ja-JP" sz="2200" dirty="0"/>
          </a:p>
        </p:txBody>
      </p:sp>
      <p:sp>
        <p:nvSpPr>
          <p:cNvPr id="17" name="Text 15"/>
          <p:cNvSpPr txBox="1"/>
          <p:nvPr/>
        </p:nvSpPr>
        <p:spPr>
          <a:xfrm>
            <a:off x="868680" y="4636008"/>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施設の方式</a:t>
            </a:r>
            <a:endParaRPr lang="ja-JP" sz="2200" dirty="0"/>
          </a:p>
        </p:txBody>
      </p:sp>
      <p:sp>
        <p:nvSpPr>
          <p:cNvPr id="18" name="Shape 16"/>
          <p:cNvSpPr/>
          <p:nvPr/>
        </p:nvSpPr>
        <p:spPr>
          <a:xfrm>
            <a:off x="4303776" y="1691640"/>
            <a:ext cx="3581400" cy="4032504"/>
          </a:xfrm>
          <a:prstGeom prst="roundRect">
            <a:avLst>
              <a:gd name="adj" fmla="val 2043"/>
            </a:avLst>
          </a:prstGeom>
          <a:solidFill>
            <a:srgbClr val="F2F2F2"/>
          </a:solidFill>
          <a:ln/>
        </p:spPr>
      </p:sp>
      <p:sp>
        <p:nvSpPr>
          <p:cNvPr id="19" name="Text 17"/>
          <p:cNvSpPr txBox="1"/>
          <p:nvPr/>
        </p:nvSpPr>
        <p:spPr>
          <a:xfrm>
            <a:off x="4395216"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動態</a:t>
            </a:r>
            <a:endParaRPr lang="ja-JP" sz="2400" dirty="0"/>
          </a:p>
        </p:txBody>
      </p:sp>
      <p:sp>
        <p:nvSpPr>
          <p:cNvPr id="20" name="Text 18"/>
          <p:cNvSpPr txBox="1"/>
          <p:nvPr/>
        </p:nvSpPr>
        <p:spPr>
          <a:xfrm>
            <a:off x="4395216"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効果のピークが遅く</a:t>
            </a:r>
            <a:endParaRPr lang="ja-JP" sz="2200" dirty="0"/>
          </a:p>
        </p:txBody>
      </p:sp>
      <p:sp>
        <p:nvSpPr>
          <p:cNvPr id="21" name="Text 19"/>
          <p:cNvSpPr txBox="1"/>
          <p:nvPr/>
        </p:nvSpPr>
        <p:spPr>
          <a:xfrm>
            <a:off x="4669536" y="2752344"/>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r>
              <a:rPr lang="ja-JP" altLang="en-US" sz="2200" b="1" dirty="0">
                <a:solidFill>
                  <a:srgbClr val="262626"/>
                </a:solidFill>
                <a:latin typeface="メイリオ" pitchFamily="34" charset="0"/>
                <a:ea typeface="メイリオ" pitchFamily="34" charset="-122"/>
                <a:cs typeface="メイリオ" pitchFamily="34" charset="-120"/>
              </a:rPr>
              <a:t>15〜30 分</a:t>
            </a:r>
            <a:r>
              <a:rPr lang="ja-JP" altLang="en-US" sz="2200" dirty="0">
                <a:solidFill>
                  <a:srgbClr val="262626"/>
                </a:solidFill>
                <a:latin typeface="メイリオ" pitchFamily="34" charset="0"/>
                <a:ea typeface="メイリオ" pitchFamily="34" charset="-122"/>
                <a:cs typeface="メイリオ" pitchFamily="34" charset="-120"/>
              </a:rPr>
              <a:t>）、長い</a:t>
            </a:r>
            <a:endParaRPr lang="ja-JP" sz="2200" dirty="0"/>
          </a:p>
        </p:txBody>
      </p:sp>
      <p:sp>
        <p:nvSpPr>
          <p:cNvPr id="22" name="Text 20"/>
          <p:cNvSpPr txBox="1"/>
          <p:nvPr/>
        </p:nvSpPr>
        <p:spPr>
          <a:xfrm>
            <a:off x="4395216" y="348386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肝代謝、</a:t>
            </a:r>
            <a:endParaRPr lang="ja-JP" sz="2200" dirty="0"/>
          </a:p>
        </p:txBody>
      </p:sp>
      <p:sp>
        <p:nvSpPr>
          <p:cNvPr id="23" name="Text 21"/>
          <p:cNvSpPr txBox="1"/>
          <p:nvPr/>
        </p:nvSpPr>
        <p:spPr>
          <a:xfrm>
            <a:off x="4669536" y="3904488"/>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代謝物は腎排泄</a:t>
            </a:r>
            <a:endParaRPr lang="ja-JP" sz="2200" dirty="0"/>
          </a:p>
        </p:txBody>
      </p:sp>
      <p:sp>
        <p:nvSpPr>
          <p:cNvPr id="24" name="Text 22"/>
          <p:cNvSpPr txBox="1"/>
          <p:nvPr/>
        </p:nvSpPr>
        <p:spPr>
          <a:xfrm>
            <a:off x="4395216" y="4636008"/>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腎不全で蓄積（M6G）</a:t>
            </a:r>
            <a:endParaRPr lang="ja-JP" sz="2200" dirty="0"/>
          </a:p>
        </p:txBody>
      </p:sp>
      <p:sp>
        <p:nvSpPr>
          <p:cNvPr id="25" name="Shape 23"/>
          <p:cNvSpPr/>
          <p:nvPr/>
        </p:nvSpPr>
        <p:spPr>
          <a:xfrm>
            <a:off x="8104632" y="1691640"/>
            <a:ext cx="3581400" cy="4032504"/>
          </a:xfrm>
          <a:prstGeom prst="roundRect">
            <a:avLst>
              <a:gd name="adj" fmla="val 2043"/>
            </a:avLst>
          </a:prstGeom>
          <a:solidFill>
            <a:srgbClr val="F2F2F2"/>
          </a:solidFill>
          <a:ln/>
        </p:spPr>
      </p:sp>
      <p:sp>
        <p:nvSpPr>
          <p:cNvPr id="26" name="Text 24"/>
          <p:cNvSpPr txBox="1"/>
          <p:nvPr/>
        </p:nvSpPr>
        <p:spPr>
          <a:xfrm>
            <a:off x="8196072" y="1783080"/>
            <a:ext cx="3444240"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196072" y="2331720"/>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ヒスタミン遊離</a:t>
            </a:r>
            <a:endParaRPr lang="ja-JP" sz="2200" dirty="0"/>
          </a:p>
        </p:txBody>
      </p:sp>
      <p:sp>
        <p:nvSpPr>
          <p:cNvPr id="28" name="Text 26"/>
          <p:cNvSpPr txBox="1"/>
          <p:nvPr/>
        </p:nvSpPr>
        <p:spPr>
          <a:xfrm>
            <a:off x="8470392" y="2752344"/>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（血管拡張・低血圧）</a:t>
            </a:r>
            <a:endParaRPr lang="ja-JP" sz="2200" dirty="0"/>
          </a:p>
        </p:txBody>
      </p:sp>
      <p:sp>
        <p:nvSpPr>
          <p:cNvPr id="29" name="Text 27"/>
          <p:cNvSpPr txBox="1"/>
          <p:nvPr/>
        </p:nvSpPr>
        <p:spPr>
          <a:xfrm>
            <a:off x="8196072" y="3483864"/>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くも膜下投与後の</a:t>
            </a:r>
            <a:endParaRPr lang="ja-JP" sz="2200" dirty="0"/>
          </a:p>
        </p:txBody>
      </p:sp>
      <p:sp>
        <p:nvSpPr>
          <p:cNvPr id="30" name="Text 28"/>
          <p:cNvSpPr txBox="1"/>
          <p:nvPr/>
        </p:nvSpPr>
        <p:spPr>
          <a:xfrm>
            <a:off x="8470392" y="3904488"/>
            <a:ext cx="316992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遅発性呼吸抑制</a:t>
            </a:r>
            <a:endParaRPr lang="ja-JP" sz="2200" dirty="0"/>
          </a:p>
        </p:txBody>
      </p:sp>
      <p:sp>
        <p:nvSpPr>
          <p:cNvPr id="31" name="Text 29"/>
          <p:cNvSpPr txBox="1"/>
          <p:nvPr/>
        </p:nvSpPr>
        <p:spPr>
          <a:xfrm>
            <a:off x="8196072" y="4636008"/>
            <a:ext cx="344424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腎不全では避ける</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使い分け</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共通</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フェンタ</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ニル</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レミフェ</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ンタニル</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モルヒネ</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安全</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第4版」Ⅱ（2025）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Ingrande J, Lemmens HJ. Br J Anaesth 2010;105 Suppl 1:i16-23</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2651760"/>
                <a:gridCol w="8531352"/>
              </a:tblGrid>
              <a:tr h="51206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場面</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選び方</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950976">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導入〜挿管</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フェンタニル 1〜3 µg/kg（目安）、</a:t>
                      </a:r>
                      <a:endParaRPr lang="en-US" sz="2400" dirty="0">
                        <a:latin typeface="メイリオ" charset="0"/>
                        <a:ea typeface="メイリオ" charset="0"/>
                        <a:cs typeface="メイリオ" charset="0"/>
                      </a:endParaRPr>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またはレミフェンタニル持続</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1206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術中</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レミフェンタニル持続を刺激に合わせて調節</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1206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覚醒前〜術後</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フェンタニル少量、モルヒネ、区域麻酔</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1206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腎不全</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モルヒネを避け、フェンタニルを</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1206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高齢者・OSA</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減量し、呼吸を観察</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1206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肥満</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実体重で計算しない（除脂肪体重・標準体重）</a:t>
                      </a:r>
                      <a:endParaRPr lang="en-US" sz="2400" dirty="0">
                        <a:latin typeface="メイリオ" charset="0"/>
                        <a:ea typeface="メイリオ" charset="0"/>
                        <a:cs typeface="メイリオ" charset="0"/>
                      </a:endParaRPr>
                    </a:p>
                  </a:txBody>
                  <a:tcPr marL="127000" marR="1270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呼吸抑制を防ぐ</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共通</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フェンタ</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ニル</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レミフェ</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ンタニル</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モルヒネ</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安全</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Task Force on Neuraxial Opioids, et al. Anesthesiology 2016;124:535-52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Gupta K, et al. BMJ Open 2018;8:e024086 / Bailey PL, et al. Anesthesiology 1990;73:826-30</a:t>
            </a:r>
            <a:endParaRPr lang="ja-JP" sz="1600" dirty="0"/>
          </a:p>
        </p:txBody>
      </p:sp>
      <p:sp>
        <p:nvSpPr>
          <p:cNvPr id="11" name="Text 9"/>
          <p:cNvSpPr txBox="1"/>
          <p:nvPr/>
        </p:nvSpPr>
        <p:spPr>
          <a:xfrm>
            <a:off x="502920" y="1737360"/>
            <a:ext cx="11155680" cy="2999232"/>
          </a:xfrm>
          <a:prstGeom prst="rect">
            <a:avLst/>
          </a:prstGeom>
          <a:noFill/>
          <a:ln/>
        </p:spPr>
        <p:txBody>
          <a:bodyPr wrap="square" lIns="0" tIns="0" rIns="0" bIns="0" rtlCol="0" anchor="t"/>
          <a:lstStyle/>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量より反応：呼吸数、呼吸の深さ、SpO2、EtCO2</a:t>
            </a:r>
            <a:endParaRPr lang="ja-JP" sz="2400" dirty="0"/>
          </a:p>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鎮静薬・ベンゾジアゼピンとの併用で増強する</a:t>
            </a:r>
            <a:endParaRPr lang="ja-JP" sz="2400" dirty="0"/>
          </a:p>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術後は呼吸数を数える。酸素投与中は SpO2 だけでは分からない</a:t>
            </a:r>
            <a:endParaRPr lang="ja-JP" sz="2400" dirty="0"/>
          </a:p>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高齢者、OSA、肥満、心肺疾患、腎不全（モルヒネ）はハイリスク</a:t>
            </a:r>
            <a:endParaRPr lang="ja-JP" sz="2400" dirty="0"/>
          </a:p>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ナロキソンの場所と使い方を知っておく（→ 3-7）</a:t>
            </a:r>
            <a:endParaRPr lang="ja-JP" sz="2400" dirty="0"/>
          </a:p>
        </p:txBody>
      </p:sp>
      <p:sp>
        <p:nvSpPr>
          <p:cNvPr id="12" name="Text 10"/>
          <p:cNvSpPr/>
          <p:nvPr/>
        </p:nvSpPr>
        <p:spPr>
          <a:xfrm>
            <a:off x="502920" y="4992624"/>
            <a:ext cx="11183112" cy="731520"/>
          </a:xfrm>
          <a:prstGeom prst="roundRect">
            <a:avLst>
              <a:gd name="adj" fmla="val 10000"/>
            </a:avLst>
          </a:prstGeom>
          <a:solidFill>
            <a:srgbClr val="FFFFFF"/>
          </a:solidFill>
          <a:ln w="31750">
            <a:solidFill>
              <a:srgbClr val="C00000"/>
            </a:solidFill>
          </a:ln>
        </p:spPr>
        <p:txBody>
          <a:bodyPr wrap="square" lIns="73152" tIns="73152" rIns="73152" bIns="73152"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呼吸数が少ない（例：10 回/分未満）、反応が鈍い → </a:t>
            </a:r>
            <a:r>
              <a:rPr lang="ja-JP" altLang="en-US" sz="2600" b="1" dirty="0">
                <a:solidFill>
                  <a:srgbClr val="C00000"/>
                </a:solidFill>
                <a:latin typeface="メイリオ" pitchFamily="34" charset="0"/>
                <a:ea typeface="メイリオ" pitchFamily="34" charset="-122"/>
                <a:cs typeface="メイリオ" pitchFamily="34" charset="-120"/>
              </a:rPr>
              <a:t>すぐ報告</a:t>
            </a:r>
            <a:endParaRPr lang="ja-JP"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麻薬としての取り扱い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共通</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フェンタ</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ニル</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レミフェ</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ンタニル</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モルヒネ</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安全</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厚生労働省「病院・診療所における麻薬管理マニュアル」</a:t>
            </a:r>
            <a:endParaRPr lang="ja-JP" sz="1600" dirty="0"/>
          </a:p>
        </p:txBody>
      </p:sp>
      <p:sp>
        <p:nvSpPr>
          <p:cNvPr id="11" name="Text 9"/>
          <p:cNvSpPr txBox="1"/>
          <p:nvPr/>
        </p:nvSpPr>
        <p:spPr>
          <a:xfrm>
            <a:off x="502920" y="1691640"/>
            <a:ext cx="11155680" cy="4352544"/>
          </a:xfrm>
          <a:prstGeom prst="rect">
            <a:avLst/>
          </a:prstGeom>
          <a:noFill/>
          <a:ln/>
        </p:spPr>
        <p:txBody>
          <a:bodyPr wrap="square" lIns="0" tIns="0" rIns="0" bIns="0" rtlCol="0" anchor="ctr"/>
          <a:lstStyle/>
          <a:p>
            <a:pPr algn="l" marL="406400" indent="-406400">
              <a:spcAft>
                <a:spcPts val="2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麻薬施用者の指示で、麻薬処方箋・施用記録に残す</a:t>
            </a:r>
            <a:endParaRPr lang="ja-JP" sz="2800" dirty="0"/>
          </a:p>
          <a:p>
            <a:pPr algn="l" marL="406400" indent="-406400">
              <a:spcAft>
                <a:spcPts val="2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残液は捨てずに返納する。アンプルの空も返す</a:t>
            </a:r>
            <a:endParaRPr lang="ja-JP" sz="2800" dirty="0"/>
          </a:p>
          <a:p>
            <a:pPr algn="l" marL="406400" indent="-406400">
              <a:spcAft>
                <a:spcPts val="2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紛失・破損は、すぐに報告して届け出る</a:t>
            </a:r>
            <a:endParaRPr lang="ja-JP" sz="2800" dirty="0"/>
          </a:p>
          <a:p>
            <a:pPr algn="l" marL="406400" indent="-406400">
              <a:spcAft>
                <a:spcPts val="2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ケタミンも麻薬。ミダゾラム・レミマゾラムは向精神薬</a:t>
            </a:r>
            <a:endParaRPr lang="ja-JP" sz="2800" dirty="0"/>
          </a:p>
          <a:p>
            <a:pPr algn="l" marL="406400" indent="-406400">
              <a:spcAft>
                <a:spcPts val="28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施錠した保管庫から、必要な分だけ</a:t>
            </a:r>
            <a:endParaRPr lang="ja-JP"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共通</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フェンタ</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ニル</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レミフェ</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ンタニル</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モルヒネ</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安全</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第4版」Ⅱ 鎮痛薬・拮抗薬（2025）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各薬剤の添付文書</a:t>
            </a:r>
            <a:endParaRPr lang="ja-JP" sz="1600" dirty="0"/>
          </a:p>
        </p:txBody>
      </p:sp>
      <p:sp>
        <p:nvSpPr>
          <p:cNvPr id="11" name="Text 9"/>
          <p:cNvSpPr txBox="1"/>
          <p:nvPr/>
        </p:nvSpPr>
        <p:spPr>
          <a:xfrm>
            <a:off x="502920" y="1691640"/>
            <a:ext cx="11155680" cy="4032504"/>
          </a:xfrm>
          <a:prstGeom prst="rect">
            <a:avLst/>
          </a:prstGeom>
          <a:noFill/>
          <a:ln/>
        </p:spPr>
        <p:txBody>
          <a:bodyPr wrap="square" lIns="0" tIns="0" rIns="0" bIns="0" rtlCol="0" anchor="ctr"/>
          <a:lstStyle/>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鎮痛と相乗作用。副作用の中心は呼吸抑制</a:t>
            </a:r>
            <a:endParaRPr lang="ja-JP" sz="2800" dirty="0"/>
          </a:p>
          <a:p>
            <a:pPr algn="l" marL="406400" indent="-406400">
              <a:spcAft>
                <a:spcPts val="24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フェンタニル</a:t>
            </a:r>
            <a:r>
              <a:rPr lang="ja-JP" altLang="en-US" sz="2800" dirty="0">
                <a:solidFill>
                  <a:srgbClr val="262626"/>
                </a:solidFill>
                <a:latin typeface="メイリオ" pitchFamily="34" charset="0"/>
                <a:ea typeface="メイリオ" pitchFamily="34" charset="-122"/>
                <a:cs typeface="メイリオ" pitchFamily="34" charset="-120"/>
              </a:rPr>
              <a:t>：ピークまで数分、繰り返すと蓄積</a:t>
            </a:r>
            <a:endParaRPr lang="ja-JP" sz="2800" dirty="0"/>
          </a:p>
          <a:p>
            <a:pPr algn="l" marL="406400" indent="-406400">
              <a:spcAft>
                <a:spcPts val="24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レミフェンタニル</a:t>
            </a:r>
            <a:r>
              <a:rPr lang="ja-JP" altLang="en-US" sz="2800" dirty="0">
                <a:solidFill>
                  <a:srgbClr val="262626"/>
                </a:solidFill>
                <a:latin typeface="メイリオ" pitchFamily="34" charset="0"/>
                <a:ea typeface="メイリオ" pitchFamily="34" charset="-122"/>
                <a:cs typeface="メイリオ" pitchFamily="34" charset="-120"/>
              </a:rPr>
              <a:t>：数分で切れる。止める前に次の鎮痛を</a:t>
            </a:r>
            <a:endParaRPr lang="ja-JP" sz="2800" dirty="0"/>
          </a:p>
          <a:p>
            <a:pPr algn="l" marL="406400" indent="-406400">
              <a:spcAft>
                <a:spcPts val="24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モルヒネ</a:t>
            </a:r>
            <a:r>
              <a:rPr lang="ja-JP" altLang="en-US" sz="2800" dirty="0">
                <a:solidFill>
                  <a:srgbClr val="262626"/>
                </a:solidFill>
                <a:latin typeface="メイリオ" pitchFamily="34" charset="0"/>
                <a:ea typeface="メイリオ" pitchFamily="34" charset="-122"/>
                <a:cs typeface="メイリオ" pitchFamily="34" charset="-120"/>
              </a:rPr>
              <a:t>：遅く長い。腎不全では避ける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術後は呼吸数を数える。ナロキソンの場所を知る</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3-4 オピオイド</dc:title>
  <dc:subject/>
  <dc:creator>初期研修医向け麻酔講義</dc:creator>
  <cp:lastModifiedBy>初期研修医向け麻酔講義</cp:lastModifiedBy>
  <cp:revision>1</cp:revision>
  <dcterms:created xsi:type="dcterms:W3CDTF">2026-10-14T00:44:00Z</dcterms:created>
  <dcterms:modified xsi:type="dcterms:W3CDTF">2026-10-14T00:44:00Z</dcterms:modified>
</cp:coreProperties>
</file>