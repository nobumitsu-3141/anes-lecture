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同意書に署名をもらうことと、説明義務を果たすことは同じではない。この講義では、日本の法律と判例が求める説明の中身、誰がいつ説明するか、麻酔のリスクを数字でどう伝えるか、意思決定能力の評価と代諾（未成年、認知症、緊急時）、記録の仕方を扱う。DNAR は 4-6 で別に扱う。</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医療法: 第 1 条の 4 第 2 項「医師、歯科医師、薬剤師、看護師その他の医療の担い手は、医療を提供するに当たり、適切な説明を行い、医療を受ける者の理解を得るよう努めなければならない」。平成 9 年法律第 125 号（1997 年 12 月 17 日公布）の改正で第 1 条の 4 に新しい項として加えられた、罰則のない努力義務【要確認: 条文の文言を e-Gov 法令検索の医療法 第 1 条の 4 第 2 項で確かめる】。</a:t>
            </a:r>
          </a:p>
          <a:p>
            <a:r>
              <a:rPr lang="ja-JP" altLang="en-US" dirty="0"/>
              <a:t>民法: 民法に説明義務の明文はない。判例は、説明義務を診療契約（準委任契約、民法 656 条）から生じる義務とし、違反を債務不履行（415 条）と、患者の自己決定を侵す不法行為（709 条）の両方で構成する。スライドの「民法（判例）」はこの意味【要確認: 条番号 656 条・415 条・709 条を e-Gov 法令検索の民法と判例解説で確かめる】。</a:t>
            </a:r>
          </a:p>
          <a:p>
            <a:r>
              <a:rPr lang="ja-JP" altLang="en-US" dirty="0"/>
              <a:t>最判平成 13 年 11 月 27 日（第三小法廷、乳房温存療法事件）: 医師は手術を行う際、診療契約に基づき、特別の事情のない限り、①診断（病名と病状）、②実施予定の手術の内容、③手術に付随する危険性、④他に選択可能な治療方法があればその内容と利害得失、⑤予後などを説明する義務を負う。当時は医療水準として確立していなかった乳房温存療法についても、医師が知っている範囲で説明すべきとされた（破棄差戻）。麻酔の説明にもそのまま当てはまる枠組み（方法・リスク・代替・予後）【要確認: 5 項目の文言を courts.go.jp の判決全文で確かめる】。</a:t>
            </a:r>
          </a:p>
          <a:p>
            <a:r>
              <a:rPr lang="ja-JP" altLang="en-US" dirty="0"/>
              <a:t>最判平成 12 年 2 月 29 日（第三小法廷、エホバの証人輸血事件）: 最高裁は「自己決定権」の語を使わず、輸血を伴う医療行為を拒否する意思決定をする権利を「人格権の一内容」として尊重すべきとした。「ほかに救命手段がなければ輸血する」という方針を説明しないまま手術して輸血したことで、手術を受けるかどうかを決める権利を奪ったとして、精神的苦痛の慰謝料を認めた（不法行為）。健康上の悪い結果がなくても、説明義務違反だけで賠償が認められた先例。教科書では「自己決定権の侵害」と呼ぶことが多いが、判決の言葉とは違う。慰謝料の額は確認できていないので口頭でも言わない【要確認: 「人格権の一内容」の判示を courts.go.jp の判決全文で確かめる】。</a:t>
            </a:r>
          </a:p>
          <a:p>
            <a:r>
              <a:rPr lang="ja-JP" altLang="en-US" dirty="0"/>
              <a:t>最判平成 18 年 10 月 27 日（第二小法廷、未破裂脳動脈瘤。コイル塞栓術中にコイルが逸脱し、脳梗塞で死亡した事案。説明義務違反を否定した原審を、その部分について破棄差戻）: 予防的な療法（術式）で、医療水準として確立した療法が複数あり、どの療法も受けずに経過を見る選択肢もある場合は、時間的な余裕もあるので、患者が熟慮の上で判断できるよう、経過観察を含む各選択肢の利害得失を分かりやすく説明する義務がある【要確認: 判旨の文言を courts.go.jp の判決全文で確かめる】。予定手術で説明当日に即決させないことの根拠として応用できる（判旨そのものではない）。</a:t>
            </a:r>
          </a:p>
          <a:p>
            <a:r>
              <a:rPr lang="ja-JP" altLang="en-US" dirty="0"/>
              <a:t>麻酔科医の例: 子宮全摘術の患者が過去の薬剤副作用から麻酔薬への不安を麻酔科医に伝えたのに十分な説明がなかった事案で、東京地裁平成 20 年 5 月 9 日判決は説明義務違反を認め 220 万円の賠償を命じたとされる。医学的根拠の乏しい不安でも、患者が自己決定する前提として説明が必要とされた【要確認: 判決の出典（判例誌の巻・頁）、事案、賠償額を判例データベースか医学書院の記事（webview.isho.jp）で確かめる。確認できるまで金額と事案の細部は口頭で断定しない】。</a:t>
            </a:r>
          </a:p>
          <a:p>
            <a:r>
              <a:rPr lang="ja-JP" altLang="en-US" dirty="0"/>
              <a:t>厚生労働省「診療情報の提供等に関する指針」（平成 15 年 9 月 12 日 医政発第 0912001 号）: 診療中の診療情報の提供として、原則として、次の事項を丁寧に分かりやすく説明しなければならないとし、代替的治療法がある場合はその内容と利害得失、手術や侵襲的な検査を行う場合はその概要（執刀者及び助手の氏名を含む）、危険性、実施しない場合の危険性、合併症の有無を挙げる。「執刀者及び助手の氏名」は、研修医が関わるときに誰が担当するかを伝える国内の根拠になる（→ S3）【要確認: 通知番号と「執刀者及び助手の氏名を含む」の括弧書きを厚労省の指針原文で確かめる。手元の資料には括弧書きのないものがある】。</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誰が: 日本麻酔科学会（JSA）認定病院 854 施設に質問票を送り、504 施設（59.0%）が回答した調査（Sakaguchi 2005）では、96.7% の施設で麻酔科医が麻酔の説明をしていた。説明内容を標準化していたのは 59.0%、説明文書を毎回渡していたのは 61.3%、同意取得を記録していたのは 59.9% にとどまった。認定外の小規模病院は含まず、約 20 年前のデータ。英国 AAGBI の「Consent for anaesthesia 2017」は、麻酔について話し合う責任はその患者を担当する麻酔科医にあり、説明を他の人に任せるなら、適切な訓練と資格があり予定している麻酔の内容とリスクを十分理解している人に限る、逆に麻酔科医は自分の能力を超えて手術の内容を説明してはならない、としている。Hatahira 2025 も、麻酔をかける本人でない麻酔科医が説明すると、手技の情報を十分に伝えられないおそれがあるとしている。外科医の手術の説明で麻酔の説明を代わりにすると、麻酔方法・代替手段・麻酔固有のリスク（歯の損傷、硬膜穿刺後頭痛、神経障害、術中覚醒）が抜けやすい。ただし外科医の説明で何が抜けるかを直接示したデータはないので、口頭では経験則として話す。</a:t>
            </a:r>
          </a:p>
          <a:p>
            <a:r>
              <a:rPr lang="ja-JP" altLang="en-US" dirty="0"/>
              <a:t>動画: 名古屋大学で麻酔の説明を動画に置き換えた研究（Hatahira 2025）では、病棟での説明（中央値 45 分）がなくなり、外来での説明時間は従来の説明の中央値 21 分に対し動画では 17 分で、動画を見た患者の 94% が内容を十分理解した。一方で「麻酔リスクの説明と書面同意取得の法的・臨床的責任はすべて担当麻酔科医にある」「動画だけで、その後の医師と患者の対話がなければ、日本の現行の法・倫理基準で有効な同意にならない」と明記している。動画や説明文書を渡しただけで説明を終えない。</a:t>
            </a:r>
          </a:p>
          <a:p>
            <a:r>
              <a:rPr lang="ja-JP" altLang="en-US" dirty="0"/>
              <a:t>研修医: AAGBI 2017 は、患者には誰が何をするのか、その人にどんな資格があるのかを知る権利があり、麻酔の影響下でもこの権利は変わらない、としている。指導医は、研修医と自分の経験をリスクと利益の評価に含める。研修目的で慣れない手技を行う場合（例: ファイバー挿管に慣れていない麻酔科医が、監督なしで全身麻酔中に練習する）は、追加のリスクがあるので個別に同意を得る。国内では、歯科医師の医科麻酔研修で、資格を伝えて同意を得たことをカルテに記載するよう求められている（研修医についての規定ではない）。厚労省の指針も手術の概要に執刀者・助手の氏名を含めているとされる（→ S2。括弧書きは S2 の【要確認】参照）。研修医が説明・麻酔を担当するときも、自分の立場を伝え、指導医の監督の下で行う。</a:t>
            </a:r>
          </a:p>
          <a:p>
            <a:r>
              <a:rPr lang="ja-JP" altLang="en-US" dirty="0"/>
              <a:t>いつ: AAGBI 2017 は、麻酔とそのリスクの情報はできるだけ早く（待機手術なら入院前、術前外来の時点で）手元に残る資料で渡し、導入直前に新しい情報を初めて伝えるのは例外的な状況を除いて認められない、同意は 1 回きりの出来事ではなく続いていく過程、としている。スライドの「前日まで」は国内向けの言い換え（講師の運用提案）。国内では L009 麻酔管理料（Ⅰ）の留意事項に、緊急の場合を除き、麻酔前後の診察は当該麻酔を実施した日以外に行わなければならない、とある（→ 4-1）。これは診療報酬の算定要件で、説明義務の法的基準ではない【要確認: 留意事項の原文を厚労省の令和 8 年度 診療報酬の通知（L009）で確かめる】。</a:t>
            </a:r>
          </a:p>
          <a:p>
            <a:r>
              <a:rPr lang="ja-JP" altLang="en-US" dirty="0"/>
              <a:t>離島: 一人麻酔科医でも、外科医の説明だけで済ませず、麻酔科医が術前に診察して補足説明する手順を決めておく。</a:t>
            </a:r>
          </a:p>
          <a:p>
            <a:r>
              <a:rPr lang="ja-JP" altLang="en-US" dirty="0"/>
              <a:t>参考: Sakaguchi M, Maeda S. J Anesth 2005;19:315-319 / Yentis SM, et al. Anaesthesia 2017;72:93-105（AAGBI） / Hatahira A, et al. BMC Anesthesiol 2025;26:8</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内容（AAGBI 2017 表 2）: 絶飲食、前投薬、ライン確保、モニター、導入、術後鎮痛・制吐。代替手段には、ある方法がうまくいかなかったときの代替（帝王切開で脊麻が効かないときの全身麻酔）を含む。よくある・重要な副作用は悪心嘔吐、咽頭痛、歯・口唇の損傷、認知機能障害、局所麻酔後のしびれ・脱力・痛みの再燃、スキサメトニウムによる筋肉痛、硬膜穿刺後頭痛。重大な副作用は神経・眼の障害、術中覚醒、死亡。表の注記に「チェックリストとして使うのではなく、その患者が知りたいことと、その患者でのリスクの頻度に合わせて調整する」とある。スライドの「重大」のうち、神経・眼の障害、術中覚醒、死亡は AAGBI 2017 表 2 による。アナフィラキシーは表 2 にはなく、NAP6（重症 Grade 3〜5 は約 1:10,000 麻酔、Harper 2018）から加えた。</a:t>
            </a:r>
          </a:p>
          <a:p>
            <a:r>
              <a:rPr lang="ja-JP" altLang="en-US" dirty="0"/>
              <a:t>重要なリスク: 英国の Montgomery 判決（2015）以降、医師は「重要なリスク（material risk）」をすべて伝えなければならず、重要かどうかは「その患者の立場にある合理的な人がそのリスクを重視するか、または医師がこの患者は重視するだろうと気づくべきか」で判断する。日本法に同じ基準はないが、最判平成 13 年の 5 項目と同じ方向。歯の状態が悪く挿管困難も予想される患者には、歯の損傷のリスクが高いことを個別に伝える（→ 4-2）。</a:t>
            </a:r>
          </a:p>
          <a:p>
            <a:r>
              <a:rPr lang="ja-JP" altLang="en-US" dirty="0"/>
              <a:t>例外: AAGBI 2017 では、リスクを伝えなくてよいのは (i) 患者が知りたくないという意思をはっきり示した、(ii) 説明そのものが患者の健康に重大な害を与える（単に不安にさせるだけでは当たらない）、(iii) 緊急に治療が必要で患者に意思決定能力がなく本人の最善の利益になる、の 3 つだけ。麻酔科医が「患者を不安にさせる」と感じたというだけでは情報を控えられない。研修医がよく抱く「怖がらせたくない」は、リスクを伝えない理由にならない。</a:t>
            </a:r>
          </a:p>
          <a:p>
            <a:r>
              <a:rPr lang="ja-JP" altLang="en-US" dirty="0"/>
              <a:t>記録: 説明したリスク・利益・代替手段（何もしない選択を含む）と、患者の質問とその回答を記録する。</a:t>
            </a:r>
          </a:p>
          <a:p>
            <a:r>
              <a:rPr lang="ja-JP" altLang="en-US" dirty="0"/>
              <a:t>参考: Yentis SM, et al. Anaesthesia 2017;72:93-105（AAGBI） / Harper NJN, et al. Br J Anaesth 2018;121:159-171（NAP6）</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咽頭痛: 全身麻酔後に最大 62% と報告されている（El-Boghdadly 2016、系統的レビュー。挿管に限った数字ではなく、報告の上限）。日帰り手術 5,264 例の前向き研究では全体 12.1%、気管チューブ 45.4%、ラリンジアルマスク 17.5%、フェイスマスク 3.3%（Higgins 2002）。挿管では、女性、若年、肺疾患、長時間の麻酔、抜管時のチューブへの血液付着、筋弛緩薬なしの挿管、ダブルルーメン、高いカフ圧で多い。成人では i-gel で少ない（El-Boghdadly 2016）。</a:t>
            </a:r>
          </a:p>
          <a:p>
            <a:r>
              <a:rPr lang="ja-JP" altLang="en-US" dirty="0"/>
              <a:t>PONV: Apfel の 4 因子（女性、乗り物酔いまたは PONV の既往、非喫煙、術後オピオイド）が 0・1・2・3・4 個で 10%・21%・39%・61%・79%（吸入麻酔、予防なし）。2 因子以上なら予防を考える（→ 3-12）。</a:t>
            </a:r>
          </a:p>
          <a:p>
            <a:r>
              <a:rPr lang="ja-JP" altLang="en-US" dirty="0"/>
              <a:t>歯: Mayo の 598,904 例（1987〜1997 年）で、7 日以内に歯科処置（修復・固定・抜歯）を要した損傷は 132 例（1:4,537）。半数は喉頭鏡・挿管時に起き、上顎切歯が最多。症例対照研究の多変量解析では、挿管を伴う全身麻酔がオッズ比 89、もともと歯の状態が悪いことが 50、喉頭展開・挿管困難が 11（Warner 1999）。オッズ比なので「50 倍起きる」とは言わない。歯の目立つ変化をすべて数えると 1:2,073 で、歯の状態が悪い（補綴・修復を含む）うえに挿管がやや困難〜困難だと約 20 倍、挿管が容易でも 3.4 倍（Newland 2007）。</a:t>
            </a:r>
          </a:p>
          <a:p>
            <a:r>
              <a:rPr lang="ja-JP" altLang="en-US" dirty="0"/>
              <a:t>硬膜穿刺後頭痛: 産婦のメタ分析（Choi 2003）で、硬膜外針による偶発的硬膜穿刺は約 1.5%、そのうち 52.1% が頭痛になる。27G ペンシルポイント（Whitacre）針の脊麻でも 1.7%。頭痛は穿刺の 1〜7 日後に始まり、12 時間〜7 日続く。切断型（カッティング）針は非切断型に比べリスク比 2.14（Cochrane 2017）。「細い針なら起きない」とは説明しない。</a:t>
            </a:r>
          </a:p>
          <a:p>
            <a:r>
              <a:rPr lang="ja-JP" altLang="en-US" dirty="0"/>
              <a:t>術中覚醒: 英国 NAP5（自発報告）では約 1:19,600 麻酔。筋弛緩薬を使うと約 1:8,200、使わないと約 1:135,900、帝王切開では約 1:670。構造化面接で能動的に数えた米国の研究（Sebel 2004）では 0.13%（約 1:770）で、数え方で 1 桁以上変わる。国内の調査（Morimoto 2011、85,156 麻酔）では 0.028%（24 例、約 1:3,550）で、24 例中 21 例（88%）が TIVA だった。「1/19,000」を全患者共通の数字として伝えるのは不正確で、筋弛緩薬や帝王切開では高いと添える。頻度だけでなく重さも伝える: NAP5 では覚醒体験の 75% は 5 分未満だったが、51% が苦痛を感じ、41% に長期的な悪影響が残った（筋弛緩下で動けない体験で特に起きやすい）。鎮静中の偶発的覚醒も約 1:15,000 で、全身麻酔中（約 1:19,000）と同程度（Cook 2014）。鎮静の患者には意識が残りうることを説明しておく。</a:t>
            </a:r>
          </a:p>
          <a:p>
            <a:r>
              <a:rPr lang="ja-JP" altLang="en-US" dirty="0"/>
              <a:t>神経障害: 英国 NAP3（中枢神経ブロック 707,455 件。末梢神経ブロックは含まない）で、重大合併症（硬膜外膿瘍・血腫、髄膜炎、神経損傷、脊髄虚血、致死的な循環虚脱、誤った経路への投与）による永続的な障害（6 か月を超えて残るもの）は 10 万件あたり 2.0（楽観的推計）〜4.2（悲観的推計）、対麻痺または死亡は 0.7〜1.8。当初は重い障害でも 3 分の 2 は完全に回復した。神経障害（多くは一過性）は脊麻後 3.78/万、硬膜外後 2.19/万。末梢神経ブロック後は 3% 未満（斜角筋間 2.84%、腋窩 1.48%、大腿 0.34%）。永続的な障害は脊麻 0〜4.2/万、硬膜外 0〜7.6/万で、末梢神経ブロックでは 16 研究中 1 例だけ（Brull 2007）。体位などによる（手術手技による損傷を除く）周術期の末梢神経障害は 0.03%（Welch 2009）。</a:t>
            </a:r>
          </a:p>
          <a:p>
            <a:r>
              <a:rPr lang="ja-JP" altLang="en-US" dirty="0"/>
              <a:t>アナフィラキシー: 重症（Grade 3〜5）は約 1:10,000 麻酔（NAP6）。</a:t>
            </a:r>
          </a:p>
          <a:p>
            <a:r>
              <a:rPr lang="ja-JP" altLang="en-US" dirty="0"/>
              <a:t>心停止と死亡: 国内の手術室偶発症調査（2012〜2016 年、Morimatsu 2021）で心停止は 1 万麻酔あたり 2.63 件だが、これは出血・手術・合併症を含む全原因の数字。麻酔が単独の原因の死亡は 1 万麻酔あたり 0.07〜0.11（2001〜2005 年、入田 2007）、0.21（1994〜1998 年、Kawashima 2003）。「麻酔で 1/4,000 が心停止する」と言うのは誤り。ASA-PS 3〜4、緊急手術、新生児、高齢者では全死亡率が大きく上がる（→ 4-1）。</a:t>
            </a:r>
          </a:p>
          <a:p>
            <a:r>
              <a:rPr lang="ja-JP" altLang="en-US" dirty="0"/>
              <a:t>参考: El-Boghdadly K, et al. Anaesthesia 2016;71:706-717 / Apfel CC, et al. Anesthesiology 1999;91:693-700 / Warner ME, et al. Anesthesiology 1999;90:1302-1305 / Choi PT, et al. Can J Anaesth 2003;50:460-469 / Pandit JJ, et al. Br J Anaesth 2014;113:549-559（NAP5） / Sebel PS, et al. Anesth Analg 2004;99:833-839 / Morimoto Y, et al. J Anesth 2011;25:72-77 / Cook TM, et al. Br J Anaesth 2009;102:179-190（NAP3） / Brull R, et al. Anesth Analg 2007;104:965-974 / Harper NJN, et al. Br J Anaesth 2018;121:159-171（NAP6） / 入田和男ほか. 麻酔 2007;56:1433-1446 / Kawashima Y, et al. Acta Anaesthesiol Scand 2003;47:809-817 / Higgins PP, et al. Br J Anaesth 2002;88:582-584 / Newland MC, et al. J Clin Anesth 2007;19:339-345 / Cook TM, et al. Anaesthesia 2014;69:1102-1116（NAP5 の患者体験・鎮静） / Welch MB, et al. Anesthesiology 2009;111:490-497 / Morimatsu H. J Anesth 2021;35:206-212（JSA 安全委員会）</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4 要素（Appelbaum 2007。原型は Appelbaum &amp; Grisso 1988）: ①選択の表明（はっきりした一貫した選択を伝えられる）、②理解（関係する情報の意味をつかめる）、③認識（自分の病状と、治療を受けた場合・受けない場合の結果を自分のこととして受け止められる）、④論理的思考（選択肢と結果を比べて情報を合理的に扱える）。どの程度の能力を求めるかは決定がもたらす結果の重大さで変わる（危険が大きい決定ほど高い水準）。</a:t>
            </a:r>
          </a:p>
          <a:p>
            <a:r>
              <a:rPr lang="ja-JP" altLang="en-US" dirty="0"/>
              <a:t>原則: 成人は意思決定能力があると推定する。能力がないと判断する前に本人が自分で決められるよう支援する。賢明でない決定をしたというだけで能力がないとはしない。痛み・病気・前投薬があってもそれだけで同意能力がないとは限らず、一時的に落ちているなら回復を待つ（英国 MCA 2005、AAGBI 2017）。認知症・高齢・せん妄のリスクがあるという理由だけで本人に能力がないと決めず、決定ごと・時点ごとに評価する（→ 4-11）。これらは英国法（MCA 2005）の原則で、日本に同じ法律はないが、考え方として使える。</a:t>
            </a:r>
          </a:p>
          <a:p>
            <a:r>
              <a:rPr lang="ja-JP" altLang="en-US" dirty="0"/>
              <a:t>見落とし: 能力がないのに見逃すことも多い。内科入院患者の 26% は意思決定能力がなく、医師が気づくのはそのうち 42% だけだった。MMSE は 20 点未満（LR 6.3）か 24 点超（LR 0.14）のときしか判断材料にならず、評価の道具では ACE（Aid to Capacity Evaluation）が最もよく検証されている（Sessums 2011）。「認知症だけで無能力と決めない」と「能力の低下を見逃さない」の両方が要る。</a:t>
            </a:r>
          </a:p>
          <a:p>
            <a:r>
              <a:rPr lang="ja-JP" altLang="en-US" dirty="0"/>
              <a:t>代諾: 成年後見人には医療行為への同意権がないとされる（医療同意は一身専属性が強い）【要確認: 厚労省「身寄りがない人の…ガイドライン」本文（mhlw.go.jp/content/000516181.pdf）の該当記載】。家族の同意にも法律上の明確な根拠はないが、臨床では本人に能力がないとき家族の同意で手術が行われ、判例も本人と家族を緩やかに「患者側」として扱う傾向がある。本人に能力があれば本人から同意を得る。身寄りがない人や意思決定が困難な人は、厚生労働省のガイドライン（2019 年。研究班が作成し、厚労省が通知した）が「人生の最終段階における医療・ケアの決定プロセスに関するガイドライン」（2018 改訂）を活用し、医療・ケアチームや倫理委員会で検討するよう示している（→ 4-6）【要確認: 作成主体と通知日（令和元年 5 月か 6 月か）を厚労省の通知で確かめる】。</a:t>
            </a:r>
          </a:p>
          <a:p>
            <a:r>
              <a:rPr lang="ja-JP" altLang="en-US" dirty="0"/>
              <a:t>未成年: 民法の成年年齢は 2022 年 4 月から 18 歳（平成 30 年法律第 59 号）で、18 歳以上は単独で同意できる【要確認: e-Gov 法令検索の民法 4 条と改正法の施行日】。宗教的輸血拒否に関するガイドライン（宗教的輸血拒否に関する合同委員会、2008 年）は、18 歳以上で判断能力があれば本人の意思を尊重して無輸血で治療し（「輸血拒否と免責に関する証明書」を提出してもらう）、15 歳以上 18 歳未満は本人か親権者の少なくとも一方が同意すれば必要な輸血を行え、15 歳未満は親権者が拒否しても子どもの生命を守る（なるべく無輸血で治療しながら、最終的に必要なら輸血する）、としている（英文版 Ohto 2009 の抄録で年齢区分を確認）。この年齢の区切りは輸血拒否 GL のものである。18 歳は児童福祉法 4 条の「児童」の定義、15 歳は民法 797 条（代諾養子）・961 条（遺言能力）と臓器移植法の運用指針を参考にしている。一般の医療同意年齢を定めた法令はない。15 歳未満でも年齢と理解力に応じて本人に説明し、了解（アセント）を得る。国内の小児科中核病院（有効回答 44 施設）で、全身麻酔などの説明同意文書は 97.7% が持っていたが、子ども本人のアセント用の説明文書を持っていたのは 2 施設（4.5%）だけだった（Unzaki 2026）【要確認: GL 本文の年齢区分、根拠法令、15 歳未満の扱いを anesth.or.jp の GL PDF で確かめる】。</a:t>
            </a:r>
          </a:p>
          <a:p>
            <a:r>
              <a:rPr lang="ja-JP" altLang="en-US" dirty="0"/>
              <a:t>共同親権: 婚姻中の父母は以前から共同で親権を行う。2026 年 4 月 1 日施行の改正民法（令和 6 年法律第 33 号）で、離婚後も父母の双方を親権者にできるようになった。父母の双方が親権者なら原則として共同で行使する（824 条の 2 第 1 項）。一方が単独で行使できるのは、他方が行使できないとき、子の利益のため急迫の事情があるとき（緊急の医療行為など）、監護・教育に関する日常の行為（心身に重大な影響を与えない医療行為、通常のワクチン接種など。同条第 2 項）。全身麻酔下の予定手術は日常の行為に当たらないと考えられるので、双方の同意を確認する。意見が対立すれば、家庭裁判所が特定の事項について一方を単独の行使者に定められる（同条第 3 項）【要確認: 手術・麻酔の同意の扱いを法務省の Q&amp;A 原文で確かめる】。</a:t>
            </a:r>
          </a:p>
          <a:p>
            <a:r>
              <a:rPr lang="ja-JP" altLang="en-US" dirty="0"/>
              <a:t>緊急時: 本人に同意能力がなく代諾者にも連絡がつかない緊急事態では、医学的適応と正当性があれば同意なしに医療行為を行えると整理されている（推定的同意、緊急事務管理、正当業務行為）。緊急性の判断、説明を省いた理由、事後に説明したことを必ず記録し、意識が戻った患者や駆けつけた家族にできるだけ早く説明する。能力のある患者がはっきり拒否している場合は、緊急でもその意思にできる限り従う（AAGBI 2017）【要確認: 推定的同意・緊急事務管理（民法 698 条）・正当業務行為（刑法 35 条）としての整理を、日本医事新報の Q&amp;A と法令で確かめる】。</a:t>
            </a:r>
          </a:p>
          <a:p>
            <a:r>
              <a:rPr lang="ja-JP" altLang="en-US" dirty="0"/>
              <a:t>参考: Appelbaum PS. N Engl J Med 2007;357:1834-1840 / Appelbaum PS, Grisso T. N Engl J Med 1988;319:1635-1638 / Sessums LL, et al. JAMA 2011;306:420-427 / Yentis SM, et al. Anaesthesia 2017;72:93-105 / 宗教的輸血拒否に関するガイドライン（2008） / Ohto H, et al. Transfus Med Rev 2009;23:221-228（同 GL の英文版） / Unzaki A, et al. BMC Med Ethics 2026;27:23 / 厚生労働省「身寄りがない人の入院及び医療に係る意思決定が困難な人への支援に関するガイドライン」（2019）</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記録: AAGBI 2017 は「署名のある同意書は、同意の過程があった証拠にすぎず、同意を有効にも無効にもしない」とする。英国では麻酔だけの署名入り同意書は必須でないが、国内では院内規程に従う。説明した具体的なリスク・代替手段・質問への回答・同意・説明者と同席者・日時をカルテに残す。国内の調査（JSA 認定病院、2005 年）では同意取得を記録していた施設は 59.9% だけだった。</a:t>
            </a:r>
          </a:p>
          <a:p>
            <a:r>
              <a:rPr lang="ja-JP" altLang="en-US" dirty="0"/>
              <a:t>輸血拒否: 最判平成 12 年の事案は「最終的には輸血する」方針を説明しないまま手術した構図。施設の方針（相対的無輸血か絶対的無輸血か）を事前に伝え、対応できなければ転院・紹介を選択肢として示す。緊急で転院の余裕がない場合の施設の方針（相対的無輸血なら「ほかに救命手段がなければ輸血する」こと）も、予定手術の段階で説明しておく。未成年は S6 の年齢区分で考える【要確認: 輸血拒否 GL 本文の転院についての記載を anesth.or.jp の GL PDF で確かめる。原文を確かめるまで「転院を勧告」という引用の形にしない】。</a:t>
            </a:r>
          </a:p>
          <a:p>
            <a:r>
              <a:rPr lang="ja-JP" altLang="en-US" dirty="0"/>
              <a:t>外科医への委任: 離島で外科医に説明を任せざるを得ない場面でも、麻酔科医が術前に診察して補足説明する手順を決めておく（麻酔管理料の要件とも整合する）。</a:t>
            </a:r>
          </a:p>
          <a:p>
            <a:r>
              <a:rPr lang="ja-JP" altLang="en-US" dirty="0"/>
              <a:t>遠隔: 電話・オンラインでの説明は補助に使えるが、当日前に対面で理解と質問を確かめる。これを直接定めたガイドラインは見つかっておらず、講師の運用提案（スライドの「私見」）。</a:t>
            </a:r>
          </a:p>
          <a:p>
            <a:r>
              <a:rPr lang="ja-JP" altLang="en-US" dirty="0"/>
              <a:t>外国人患者: 家族や友人に通訳させず、医療通訳を使う。正確さを保ち、家族などからの強制的な影響を減らすため（AAGBI 2017）。離島の観光客や技能実習生の手術で役に立つ。</a:t>
            </a:r>
          </a:p>
          <a:p>
            <a:r>
              <a:rPr lang="ja-JP" altLang="en-US" dirty="0"/>
              <a:t>患者の不安: AAGBI 2017 は、その患者が重視するリスクを見きわめるのは麻酔科医の責任としており、「前の麻酔で…」という不安はその手がかりになる。東京地裁の事案（S2）でも、医学的根拠の乏しい不安でも患者が自己決定する前提として説明が必要とされたとされる（判決の出典は確認できていないので補助的に使う。S2 notes の【要確認】参照）。「前の麻酔で…」という訴えは、気道や薬の情報としても価値がある（→ 4-1、4-2）。</a:t>
            </a:r>
          </a:p>
          <a:p>
            <a:r>
              <a:rPr lang="ja-JP" altLang="en-US" dirty="0"/>
              <a:t>参考: Yentis SM, et al. Anaesthesia 2017;72:93-105（AAGBI） / Ohto H, et al. Transfus Med Rev 2009;23:221-228（輸血拒否 GL の英文版）</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まとめ（約 1 分）。説明義務は医療法と、判例が診療契約から導いた民法上の義務で、最高裁判例（診断、手術の内容、危険性、代替とその利害得失、予後）が中身を示す。悪い結果がなくても説明しなかったこと自体が責任を問われる。説明するのは担当の麻酔科医で、待機手術は前日までに手元に残る資料を渡し、その患者が重視するリスクに合わせて話す。リスクは条件を添えて数字で伝える。術中覚醒は全体で約 1/19,600 だが、筋弛緩薬を使うと約 1/8,200、帝王切開では約 1/670（スライドは筋弛緩薬ありの数字）。歯の損傷（処置を要するもの）は約 1/4,500。麻酔が単独の原因の死亡は国内で 1 万麻酔に 0.07〜0.21（1994〜2005 年）で、全原因の心停止と混同しない。意思決定能力は 4 要素で決定ごとに評価する。18 歳以上は本人が同意し、未成年にも年齢と理解力に応じて説明する。15〜17 歳で本人の意思も確認するのは輸血拒否 GL の区分で、一般の医療同意年齢を定めた法令はない。成年後見人に医療同意権はないとされる。同意書の署名は同意の過程の証拠にすぎず、説明の中身と質問への答え、同席者を記録する。次は 4-6（周術期の DNAR）。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WAZOE">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320040"/>
            <a:ext cx="8503920" cy="868680"/>
          </a:xfrm>
          <a:prstGeom prst="rect">
            <a:avLst/>
          </a:prstGeom>
          <a:noFill/>
          <a:ln/>
        </p:spPr>
        <p:txBody>
          <a:bodyPr wrap="square" lIns="0" tIns="0" rIns="0" bIns="0" rtlCol="0" anchor="ctr"/>
          <a:lstStyle>
            <a:lvl1pPr algn="l"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WAZOE_COVER">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1508760"/>
            <a:ext cx="11183112" cy="1737360"/>
          </a:xfrm>
          <a:prstGeom prst="rect">
            <a:avLst/>
          </a:prstGeom>
          <a:noFill/>
          <a:ln/>
        </p:spPr>
        <p:txBody>
          <a:bodyPr wrap="square" lIns="0" tIns="0" rIns="0" bIns="0" rtlCol="0" anchor="b"/>
          <a:lstStyle>
            <a:lvl1pPr algn="ctr"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ct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a:spLocks noGrp="1"/>
          </p:cNvSpPr>
          <p:nvPr>
            <p:ph type="title"/>
          </p:nvPr>
        </p:nvSpPr>
        <p:spPr>
          <a:xfrm>
            <a:off x="502920" y="1508760"/>
            <a:ext cx="11183112" cy="1737360"/>
          </a:xfrm>
          <a:prstGeom prst="rect">
            <a:avLst/>
          </a:prstGeom>
          <a:noFill/>
          <a:ln/>
        </p:spPr>
        <p:txBody>
          <a:bodyPr wrap="square" lIns="0" tIns="0" rIns="0" bIns="0" rtlCol="0" anchor="b"/>
          <a:lstStyle/>
          <a:p>
            <a:pPr algn="ctr"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麻酔の説明と同意</a:t>
            </a:r>
            <a:endParaRPr lang="ja-JP" sz="4400" dirty="0"/>
          </a:p>
        </p:txBody>
      </p:sp>
      <p:sp>
        <p:nvSpPr>
          <p:cNvPr id="3" name="Shape 1"/>
          <p:cNvSpPr/>
          <p:nvPr/>
        </p:nvSpPr>
        <p:spPr>
          <a:xfrm>
            <a:off x="0" y="3474720"/>
            <a:ext cx="12191970" cy="0"/>
          </a:xfrm>
          <a:prstGeom prst="line">
            <a:avLst/>
          </a:prstGeom>
          <a:noFill/>
          <a:ln w="101600">
            <a:solidFill>
              <a:srgbClr val="BF9000"/>
            </a:solidFill>
            <a:prstDash val="solid"/>
          </a:ln>
        </p:spPr>
      </p:sp>
      <p:sp>
        <p:nvSpPr>
          <p:cNvPr id="4" name="Text 2"/>
          <p:cNvSpPr txBox="1"/>
          <p:nvPr/>
        </p:nvSpPr>
        <p:spPr>
          <a:xfrm>
            <a:off x="502920" y="3749040"/>
            <a:ext cx="11183112" cy="539496"/>
          </a:xfrm>
          <a:prstGeom prst="rect">
            <a:avLst/>
          </a:prstGeom>
          <a:noFill/>
          <a:ln/>
        </p:spPr>
        <p:txBody>
          <a:bodyPr wrap="square" lIns="0" tIns="0" rIns="0" bIns="0" rtlCol="0" anchor="t"/>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4-5 術前評価</a:t>
            </a:r>
            <a:endParaRPr lang="ja-JP" sz="2800" dirty="0"/>
          </a:p>
        </p:txBody>
      </p:sp>
      <p:sp>
        <p:nvSpPr>
          <p:cNvPr id="5" name="Text 3"/>
          <p:cNvSpPr txBox="1"/>
          <p:nvPr/>
        </p:nvSpPr>
        <p:spPr>
          <a:xfrm>
            <a:off x="502920" y="4693920"/>
            <a:ext cx="11183112" cy="420624"/>
          </a:xfrm>
          <a:prstGeom prst="rect">
            <a:avLst/>
          </a:prstGeom>
          <a:noFill/>
          <a:ln/>
        </p:spPr>
        <p:txBody>
          <a:bodyPr wrap="square" lIns="0" tIns="0" rIns="0" bIns="0" rtlCol="0" anchor="t"/>
          <a:lstStyle/>
          <a:p>
            <a:pPr algn="ctr" indent="0" marL="0">
              <a:buNone/>
            </a:pPr>
            <a:r>
              <a:rPr lang="ja-JP" altLang="en-US" sz="2200" dirty="0">
                <a:solidFill>
                  <a:srgbClr val="595959"/>
                </a:solidFill>
                <a:latin typeface="メイリオ" pitchFamily="34" charset="0"/>
                <a:ea typeface="メイリオ" pitchFamily="34" charset="-122"/>
                <a:cs typeface="メイリオ" pitchFamily="34" charset="-120"/>
              </a:rPr>
              <a:t>初期研修医向け麻酔講義</a:t>
            </a:r>
            <a:endParaRPr lang="ja-JP"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説明義務：法律と判例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法と</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判例</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何を</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話すか</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リスク</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の数</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能力と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代諾</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1</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医療法 第 1 条の 4 / 最高裁判所 平成 13 年 11 月 27 日 第三小法廷判決（民集 55 巻 6 号 1154 頁）</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最高裁判所 平成 12 年 2 月 29 日 第三小法廷判決（民集 54 巻 2 号 582 頁）</a:t>
            </a:r>
            <a:endParaRPr lang="ja-JP" sz="1600" dirty="0"/>
          </a:p>
        </p:txBody>
      </p:sp>
      <p:sp>
        <p:nvSpPr>
          <p:cNvPr id="11" name="Text 9"/>
          <p:cNvSpPr txBox="1"/>
          <p:nvPr/>
        </p:nvSpPr>
        <p:spPr>
          <a:xfrm>
            <a:off x="502920" y="1691640"/>
            <a:ext cx="11155680" cy="2798064"/>
          </a:xfrm>
          <a:prstGeom prst="rect">
            <a:avLst/>
          </a:prstGeom>
          <a:noFill/>
          <a:ln/>
        </p:spPr>
        <p:txBody>
          <a:bodyPr wrap="square" lIns="0" tIns="0" rIns="0" bIns="0" rtlCol="0" anchor="t"/>
          <a:lstStyle/>
          <a:p>
            <a:pPr algn="l" marL="355600" indent="-355600">
              <a:spcAft>
                <a:spcPts val="1000"/>
              </a:spcAft>
              <a:buSzPct val="100000"/>
              <a:buChar char="•"/>
            </a:pPr>
            <a:r>
              <a:rPr lang="ja-JP" altLang="en-US" sz="2400" b="1" dirty="0">
                <a:solidFill>
                  <a:srgbClr val="0072B2"/>
                </a:solidFill>
                <a:latin typeface="メイリオ" pitchFamily="34" charset="0"/>
                <a:ea typeface="メイリオ" pitchFamily="34" charset="-122"/>
                <a:cs typeface="メイリオ" pitchFamily="34" charset="-120"/>
              </a:rPr>
              <a:t>医療法：</a:t>
            </a:r>
            <a:r>
              <a:rPr lang="ja-JP" altLang="en-US" sz="2400" dirty="0">
                <a:solidFill>
                  <a:srgbClr val="262626"/>
                </a:solidFill>
                <a:latin typeface="メイリオ" pitchFamily="34" charset="0"/>
                <a:ea typeface="メイリオ" pitchFamily="34" charset="-122"/>
                <a:cs typeface="メイリオ" pitchFamily="34" charset="-120"/>
              </a:rPr>
              <a:t>適切な説明を行い、理解を得るよう努める（1997 年〜）</a:t>
            </a:r>
            <a:endParaRPr lang="ja-JP" sz="2400" dirty="0"/>
          </a:p>
          <a:p>
            <a:pPr algn="l" marL="355600" indent="-355600">
              <a:spcAft>
                <a:spcPts val="1000"/>
              </a:spcAft>
              <a:buSzPct val="100000"/>
              <a:buChar char="•"/>
            </a:pPr>
            <a:r>
              <a:rPr lang="ja-JP" altLang="en-US" sz="2400" b="1" dirty="0">
                <a:solidFill>
                  <a:srgbClr val="0072B2"/>
                </a:solidFill>
                <a:latin typeface="メイリオ" pitchFamily="34" charset="0"/>
                <a:ea typeface="メイリオ" pitchFamily="34" charset="-122"/>
                <a:cs typeface="メイリオ" pitchFamily="34" charset="-120"/>
              </a:rPr>
              <a:t>民法（判例）：</a:t>
            </a:r>
            <a:r>
              <a:rPr lang="ja-JP" altLang="en-US" sz="2400" dirty="0">
                <a:solidFill>
                  <a:srgbClr val="262626"/>
                </a:solidFill>
                <a:latin typeface="メイリオ" pitchFamily="34" charset="0"/>
                <a:ea typeface="メイリオ" pitchFamily="34" charset="-122"/>
                <a:cs typeface="メイリオ" pitchFamily="34" charset="-120"/>
              </a:rPr>
              <a:t>診療契約上の義務。怠れば債務不履行・不法行為</a:t>
            </a:r>
            <a:endParaRPr lang="ja-JP" sz="2400" dirty="0"/>
          </a:p>
          <a:p>
            <a:pPr algn="l" marL="355600" indent="-355600">
              <a:spcAft>
                <a:spcPts val="1000"/>
              </a:spcAft>
              <a:buSzPct val="100000"/>
              <a:buChar char="•"/>
            </a:pPr>
            <a:r>
              <a:rPr lang="ja-JP" altLang="en-US" sz="2400" b="1" dirty="0">
                <a:solidFill>
                  <a:srgbClr val="0072B2"/>
                </a:solidFill>
                <a:latin typeface="メイリオ" pitchFamily="34" charset="0"/>
                <a:ea typeface="メイリオ" pitchFamily="34" charset="-122"/>
                <a:cs typeface="メイリオ" pitchFamily="34" charset="-120"/>
              </a:rPr>
              <a:t>最高裁 2001 年：</a:t>
            </a:r>
            <a:r>
              <a:rPr lang="ja-JP" altLang="en-US" sz="2400" dirty="0">
                <a:solidFill>
                  <a:srgbClr val="262626"/>
                </a:solidFill>
                <a:latin typeface="メイリオ" pitchFamily="34" charset="0"/>
                <a:ea typeface="メイリオ" pitchFamily="34" charset="-122"/>
                <a:cs typeface="メイリオ" pitchFamily="34" charset="-120"/>
              </a:rPr>
              <a:t>診断、内容、危険性、代替と利害得失、予後</a:t>
            </a:r>
            <a:endParaRPr lang="ja-JP" sz="2400" dirty="0"/>
          </a:p>
          <a:p>
            <a:pPr algn="l" marL="355600" indent="-355600">
              <a:spcAft>
                <a:spcPts val="1000"/>
              </a:spcAft>
              <a:buSzPct val="100000"/>
              <a:buChar char="•"/>
            </a:pPr>
            <a:r>
              <a:rPr lang="ja-JP" altLang="en-US" sz="2400" b="1" dirty="0">
                <a:solidFill>
                  <a:srgbClr val="0072B2"/>
                </a:solidFill>
                <a:latin typeface="メイリオ" pitchFamily="34" charset="0"/>
                <a:ea typeface="メイリオ" pitchFamily="34" charset="-122"/>
                <a:cs typeface="メイリオ" pitchFamily="34" charset="-120"/>
              </a:rPr>
              <a:t>最高裁 2000 年：</a:t>
            </a:r>
            <a:r>
              <a:rPr lang="ja-JP" altLang="en-US" sz="2400" dirty="0">
                <a:solidFill>
                  <a:srgbClr val="262626"/>
                </a:solidFill>
                <a:latin typeface="メイリオ" pitchFamily="34" charset="0"/>
                <a:ea typeface="メイリオ" pitchFamily="34" charset="-122"/>
                <a:cs typeface="メイリオ" pitchFamily="34" charset="-120"/>
              </a:rPr>
              <a:t>輸血方針を告げず手術→意思決定の権利を奪い賠償</a:t>
            </a:r>
            <a:endParaRPr lang="ja-JP" sz="2400" dirty="0"/>
          </a:p>
          <a:p>
            <a:pPr algn="l" marL="355600" indent="-355600">
              <a:spcAft>
                <a:spcPts val="1000"/>
              </a:spcAft>
              <a:buSzPct val="100000"/>
              <a:buChar char="•"/>
            </a:pPr>
            <a:r>
              <a:rPr lang="ja-JP" altLang="en-US" sz="2400" b="1" dirty="0">
                <a:solidFill>
                  <a:srgbClr val="0072B2"/>
                </a:solidFill>
                <a:latin typeface="メイリオ" pitchFamily="34" charset="0"/>
                <a:ea typeface="メイリオ" pitchFamily="34" charset="-122"/>
                <a:cs typeface="メイリオ" pitchFamily="34" charset="-120"/>
              </a:rPr>
              <a:t>麻酔科医</a:t>
            </a:r>
            <a:r>
              <a:rPr lang="ja-JP" altLang="en-US" sz="2400" dirty="0">
                <a:solidFill>
                  <a:srgbClr val="262626"/>
                </a:solidFill>
                <a:latin typeface="メイリオ" pitchFamily="34" charset="0"/>
                <a:ea typeface="メイリオ" pitchFamily="34" charset="-122"/>
                <a:cs typeface="メイリオ" pitchFamily="34" charset="-120"/>
              </a:rPr>
              <a:t>の説明義務違反で賠償を命じた下級審の例もある</a:t>
            </a:r>
            <a:endParaRPr lang="ja-JP" sz="2400" dirty="0"/>
          </a:p>
        </p:txBody>
      </p:sp>
      <p:sp>
        <p:nvSpPr>
          <p:cNvPr id="12" name="Text 10"/>
          <p:cNvSpPr/>
          <p:nvPr/>
        </p:nvSpPr>
        <p:spPr>
          <a:xfrm>
            <a:off x="1051560" y="4764024"/>
            <a:ext cx="10085832" cy="1143000"/>
          </a:xfrm>
          <a:prstGeom prst="roundRect">
            <a:avLst>
              <a:gd name="adj" fmla="val 8000"/>
            </a:avLst>
          </a:prstGeom>
          <a:solidFill>
            <a:srgbClr val="FFFFFF"/>
          </a:solidFill>
          <a:ln w="44450">
            <a:solidFill>
              <a:srgbClr val="00A8AA"/>
            </a:solidFill>
          </a:ln>
        </p:spPr>
        <p:txBody>
          <a:bodyPr wrap="square" lIns="45720" tIns="45720" rIns="45720" bIns="45720" rtlCol="0" anchor="ctr"/>
          <a:lstStyle/>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悪い結果が起きなくても、</a:t>
            </a:r>
            <a:endParaRPr lang="ja-JP" sz="2800" dirty="0"/>
          </a:p>
          <a:p>
            <a:pPr algn="ctr" indent="0" marL="0">
              <a:buNone/>
            </a:pPr>
            <a:r>
              <a:rPr lang="ja-JP" altLang="en-US" sz="2800" b="1" dirty="0">
                <a:solidFill>
                  <a:srgbClr val="D55E00"/>
                </a:solidFill>
                <a:latin typeface="メイリオ" pitchFamily="34" charset="0"/>
                <a:ea typeface="メイリオ" pitchFamily="34" charset="-122"/>
                <a:cs typeface="メイリオ" pitchFamily="34" charset="-120"/>
              </a:rPr>
              <a:t>説明しなかったこと自体</a:t>
            </a:r>
            <a:r>
              <a:rPr lang="ja-JP" altLang="en-US" sz="2800" b="1" dirty="0">
                <a:solidFill>
                  <a:srgbClr val="262626"/>
                </a:solidFill>
                <a:latin typeface="メイリオ" pitchFamily="34" charset="0"/>
                <a:ea typeface="メイリオ" pitchFamily="34" charset="-122"/>
                <a:cs typeface="メイリオ" pitchFamily="34" charset="-120"/>
              </a:rPr>
              <a:t>が責任を問われる</a:t>
            </a:r>
            <a:endParaRPr lang="ja-JP"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誰が、いつ説明するか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法と</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判例</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何を</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話すか</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リスク</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の数</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能力と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代諾</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2</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Sakaguchi M, Maeda S. J Anesth 2005;19:315-319</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Yentis SM, et al. Anaesthesia 2017;72:93-105（AAGBI Consent for anaesthesia）</a:t>
            </a:r>
            <a:endParaRPr lang="ja-JP" sz="1600" dirty="0"/>
          </a:p>
        </p:txBody>
      </p:sp>
      <p:sp>
        <p:nvSpPr>
          <p:cNvPr id="11" name="Shape 9"/>
          <p:cNvSpPr/>
          <p:nvPr/>
        </p:nvSpPr>
        <p:spPr>
          <a:xfrm>
            <a:off x="502920" y="5153558"/>
            <a:ext cx="11183112" cy="753466"/>
          </a:xfrm>
          <a:prstGeom prst="roundRect">
            <a:avLst>
              <a:gd name="adj" fmla="val 12136"/>
            </a:avLst>
          </a:prstGeom>
          <a:solidFill>
            <a:srgbClr val="FFFFFF"/>
          </a:solidFill>
          <a:ln w="44450">
            <a:solidFill>
              <a:srgbClr val="00A8AA"/>
            </a:solidFill>
            <a:prstDash val="solid"/>
          </a:ln>
        </p:spPr>
      </p:sp>
      <p:sp>
        <p:nvSpPr>
          <p:cNvPr id="12" name="Text 10"/>
          <p:cNvSpPr txBox="1"/>
          <p:nvPr/>
        </p:nvSpPr>
        <p:spPr>
          <a:xfrm>
            <a:off x="594360" y="5194706"/>
            <a:ext cx="11000232" cy="365760"/>
          </a:xfrm>
          <a:prstGeom prst="rect">
            <a:avLst/>
          </a:prstGeom>
          <a:noFill/>
          <a:ln/>
        </p:spPr>
        <p:txBody>
          <a:bodyPr wrap="square" lIns="0" tIns="0" rIns="0" bIns="0" rtlCol="0" anchor="t"/>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一人麻酔科医でも、外科医の説明だけで済ませない。</a:t>
            </a:r>
            <a:endParaRPr lang="ja-JP" sz="2200" dirty="0"/>
          </a:p>
        </p:txBody>
      </p:sp>
      <p:sp>
        <p:nvSpPr>
          <p:cNvPr id="13" name="Text 11"/>
          <p:cNvSpPr txBox="1"/>
          <p:nvPr/>
        </p:nvSpPr>
        <p:spPr>
          <a:xfrm>
            <a:off x="594360" y="5530291"/>
            <a:ext cx="11000232" cy="365760"/>
          </a:xfrm>
          <a:prstGeom prst="rect">
            <a:avLst/>
          </a:prstGeom>
          <a:noFill/>
          <a:ln/>
        </p:spPr>
        <p:txBody>
          <a:bodyPr wrap="square" lIns="0" tIns="0" rIns="0" bIns="0" rtlCol="0" anchor="t"/>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術前に診察して補足説明する手順を決めておく</a:t>
            </a:r>
            <a:endParaRPr lang="ja-JP" sz="2200" dirty="0"/>
          </a:p>
        </p:txBody>
      </p:sp>
      <p:sp>
        <p:nvSpPr>
          <p:cNvPr id="14" name="Shape 12"/>
          <p:cNvSpPr/>
          <p:nvPr/>
        </p:nvSpPr>
        <p:spPr>
          <a:xfrm>
            <a:off x="502920" y="1691640"/>
            <a:ext cx="5481828" cy="3242462"/>
          </a:xfrm>
          <a:prstGeom prst="roundRect">
            <a:avLst>
              <a:gd name="adj" fmla="val 2256"/>
            </a:avLst>
          </a:prstGeom>
          <a:solidFill>
            <a:srgbClr val="F2F2F2"/>
          </a:solidFill>
          <a:ln/>
        </p:spPr>
      </p:sp>
      <p:sp>
        <p:nvSpPr>
          <p:cNvPr id="15" name="Text 13"/>
          <p:cNvSpPr txBox="1"/>
          <p:nvPr/>
        </p:nvSpPr>
        <p:spPr>
          <a:xfrm>
            <a:off x="685800" y="1764792"/>
            <a:ext cx="5116068" cy="402336"/>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誰が</a:t>
            </a:r>
            <a:endParaRPr lang="ja-JP" sz="2400" dirty="0"/>
          </a:p>
        </p:txBody>
      </p:sp>
      <p:sp>
        <p:nvSpPr>
          <p:cNvPr id="16" name="Text 14"/>
          <p:cNvSpPr txBox="1"/>
          <p:nvPr/>
        </p:nvSpPr>
        <p:spPr>
          <a:xfrm>
            <a:off x="685800" y="2167128"/>
            <a:ext cx="5116068"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JSA 認定施設の 96.7% で</a:t>
            </a:r>
            <a:endParaRPr lang="ja-JP" sz="2200" dirty="0"/>
          </a:p>
        </p:txBody>
      </p:sp>
      <p:sp>
        <p:nvSpPr>
          <p:cNvPr id="17" name="Text 15"/>
          <p:cNvSpPr txBox="1"/>
          <p:nvPr/>
        </p:nvSpPr>
        <p:spPr>
          <a:xfrm>
            <a:off x="685800" y="2502713"/>
            <a:ext cx="5116068"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麻酔科医が説明（2005 年調査）</a:t>
            </a:r>
            <a:endParaRPr lang="ja-JP" sz="2200" dirty="0"/>
          </a:p>
        </p:txBody>
      </p:sp>
      <p:sp>
        <p:nvSpPr>
          <p:cNvPr id="18" name="Text 16"/>
          <p:cNvSpPr txBox="1"/>
          <p:nvPr/>
        </p:nvSpPr>
        <p:spPr>
          <a:xfrm>
            <a:off x="685800" y="2924251"/>
            <a:ext cx="5116068"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説明の責任は担当する麻酔科医</a:t>
            </a:r>
            <a:endParaRPr lang="ja-JP" sz="2200" dirty="0"/>
          </a:p>
        </p:txBody>
      </p:sp>
      <p:sp>
        <p:nvSpPr>
          <p:cNvPr id="19" name="Text 17"/>
          <p:cNvSpPr txBox="1"/>
          <p:nvPr/>
        </p:nvSpPr>
        <p:spPr>
          <a:xfrm>
            <a:off x="685800" y="3345790"/>
            <a:ext cx="5116068"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外科医の説明だけでは</a:t>
            </a:r>
            <a:endParaRPr lang="ja-JP" sz="2200" dirty="0"/>
          </a:p>
        </p:txBody>
      </p:sp>
      <p:sp>
        <p:nvSpPr>
          <p:cNvPr id="20" name="Text 18"/>
          <p:cNvSpPr txBox="1"/>
          <p:nvPr/>
        </p:nvSpPr>
        <p:spPr>
          <a:xfrm>
            <a:off x="685800" y="3681374"/>
            <a:ext cx="5116068"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麻酔固有のリスクが抜けやすい</a:t>
            </a:r>
            <a:endParaRPr lang="ja-JP" sz="2200" dirty="0"/>
          </a:p>
        </p:txBody>
      </p:sp>
      <p:sp>
        <p:nvSpPr>
          <p:cNvPr id="21" name="Text 19"/>
          <p:cNvSpPr txBox="1"/>
          <p:nvPr/>
        </p:nvSpPr>
        <p:spPr>
          <a:xfrm>
            <a:off x="685800" y="4102913"/>
            <a:ext cx="5116068"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動画は補助。責任は麻酔科医に残る</a:t>
            </a:r>
            <a:endParaRPr lang="ja-JP" sz="2200" dirty="0"/>
          </a:p>
        </p:txBody>
      </p:sp>
      <p:sp>
        <p:nvSpPr>
          <p:cNvPr id="22" name="Text 20"/>
          <p:cNvSpPr txBox="1"/>
          <p:nvPr/>
        </p:nvSpPr>
        <p:spPr>
          <a:xfrm>
            <a:off x="685800" y="4524451"/>
            <a:ext cx="5116068"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研修医は自分の立場を伝える</a:t>
            </a:r>
            <a:endParaRPr lang="ja-JP" sz="2200" dirty="0"/>
          </a:p>
        </p:txBody>
      </p:sp>
      <p:sp>
        <p:nvSpPr>
          <p:cNvPr id="23" name="Shape 21"/>
          <p:cNvSpPr/>
          <p:nvPr/>
        </p:nvSpPr>
        <p:spPr>
          <a:xfrm>
            <a:off x="6204204" y="1691640"/>
            <a:ext cx="5481828" cy="3242462"/>
          </a:xfrm>
          <a:prstGeom prst="roundRect">
            <a:avLst>
              <a:gd name="adj" fmla="val 2256"/>
            </a:avLst>
          </a:prstGeom>
          <a:solidFill>
            <a:srgbClr val="F2F2F2"/>
          </a:solidFill>
          <a:ln/>
        </p:spPr>
      </p:sp>
      <p:sp>
        <p:nvSpPr>
          <p:cNvPr id="24" name="Text 22"/>
          <p:cNvSpPr txBox="1"/>
          <p:nvPr/>
        </p:nvSpPr>
        <p:spPr>
          <a:xfrm>
            <a:off x="6387084" y="1764792"/>
            <a:ext cx="5116068" cy="402336"/>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いつ</a:t>
            </a:r>
            <a:endParaRPr lang="ja-JP" sz="2400" dirty="0"/>
          </a:p>
        </p:txBody>
      </p:sp>
      <p:sp>
        <p:nvSpPr>
          <p:cNvPr id="25" name="Text 23"/>
          <p:cNvSpPr txBox="1"/>
          <p:nvPr/>
        </p:nvSpPr>
        <p:spPr>
          <a:xfrm>
            <a:off x="6387084" y="2167128"/>
            <a:ext cx="5116068"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待機手術は前日まで。</a:t>
            </a:r>
            <a:endParaRPr lang="ja-JP" sz="2200" dirty="0"/>
          </a:p>
        </p:txBody>
      </p:sp>
      <p:sp>
        <p:nvSpPr>
          <p:cNvPr id="26" name="Text 24"/>
          <p:cNvSpPr txBox="1"/>
          <p:nvPr/>
        </p:nvSpPr>
        <p:spPr>
          <a:xfrm>
            <a:off x="6387084" y="2502713"/>
            <a:ext cx="5116068"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当日・導入直前に初めて伝えない</a:t>
            </a:r>
            <a:endParaRPr lang="ja-JP" sz="2200" dirty="0"/>
          </a:p>
        </p:txBody>
      </p:sp>
      <p:sp>
        <p:nvSpPr>
          <p:cNvPr id="27" name="Text 25"/>
          <p:cNvSpPr txBox="1"/>
          <p:nvPr/>
        </p:nvSpPr>
        <p:spPr>
          <a:xfrm>
            <a:off x="6387084" y="2924251"/>
            <a:ext cx="5116068"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麻酔管理料（Ⅰ）の要件：</a:t>
            </a:r>
            <a:endParaRPr lang="ja-JP" sz="2200" dirty="0"/>
          </a:p>
        </p:txBody>
      </p:sp>
      <p:sp>
        <p:nvSpPr>
          <p:cNvPr id="28" name="Text 26"/>
          <p:cNvSpPr txBox="1"/>
          <p:nvPr/>
        </p:nvSpPr>
        <p:spPr>
          <a:xfrm>
            <a:off x="6387084" y="3259836"/>
            <a:ext cx="5116068"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術前診察は当日以外（緊急を除く）</a:t>
            </a:r>
            <a:endParaRPr lang="ja-JP" sz="2200" dirty="0"/>
          </a:p>
        </p:txBody>
      </p:sp>
      <p:sp>
        <p:nvSpPr>
          <p:cNvPr id="29" name="Text 27"/>
          <p:cNvSpPr txBox="1"/>
          <p:nvPr/>
        </p:nvSpPr>
        <p:spPr>
          <a:xfrm>
            <a:off x="6387084" y="3681374"/>
            <a:ext cx="5116068"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手元に残る資料を渡し、</a:t>
            </a:r>
            <a:endParaRPr lang="ja-JP" sz="2200" dirty="0"/>
          </a:p>
        </p:txBody>
      </p:sp>
      <p:sp>
        <p:nvSpPr>
          <p:cNvPr id="30" name="Text 28"/>
          <p:cNvSpPr txBox="1"/>
          <p:nvPr/>
        </p:nvSpPr>
        <p:spPr>
          <a:xfrm>
            <a:off x="6387084" y="4016959"/>
            <a:ext cx="5116068"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質問の時間をとる</a:t>
            </a:r>
            <a:endParaRPr lang="ja-JP" sz="2200" dirty="0"/>
          </a:p>
        </p:txBody>
      </p:sp>
      <p:sp>
        <p:nvSpPr>
          <p:cNvPr id="31" name="Text 29"/>
          <p:cNvSpPr txBox="1"/>
          <p:nvPr/>
        </p:nvSpPr>
        <p:spPr>
          <a:xfrm>
            <a:off x="6387084" y="4438498"/>
            <a:ext cx="5116068"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同意は 1 回の出来事ではなく過程</a:t>
            </a:r>
            <a:endParaRPr lang="ja-JP"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何を話すか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法と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判例</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何を</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話すか</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リスク</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の数</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能力と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代諾</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3</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Yentis SM, et al. Anaesthesia 2017;72:93-105（AAGBI Consent for anaesthesia）</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最高裁判所 平成 13 年 11 月 27 日 第三小法廷判決</a:t>
            </a:r>
            <a:endParaRPr lang="ja-JP" sz="1600" dirty="0"/>
          </a:p>
        </p:txBody>
      </p:sp>
      <p:sp>
        <p:nvSpPr>
          <p:cNvPr id="11" name="Shape 9"/>
          <p:cNvSpPr/>
          <p:nvPr/>
        </p:nvSpPr>
        <p:spPr>
          <a:xfrm>
            <a:off x="502920" y="5489143"/>
            <a:ext cx="11183112" cy="417881"/>
          </a:xfrm>
          <a:prstGeom prst="roundRect">
            <a:avLst>
              <a:gd name="adj" fmla="val 21882"/>
            </a:avLst>
          </a:prstGeom>
          <a:solidFill>
            <a:srgbClr val="FFFFFF"/>
          </a:solidFill>
          <a:ln w="44450">
            <a:solidFill>
              <a:srgbClr val="00A8AA"/>
            </a:solidFill>
            <a:prstDash val="solid"/>
          </a:ln>
        </p:spPr>
      </p:sp>
      <p:sp>
        <p:nvSpPr>
          <p:cNvPr id="12" name="Text 10"/>
          <p:cNvSpPr txBox="1"/>
          <p:nvPr/>
        </p:nvSpPr>
        <p:spPr>
          <a:xfrm>
            <a:off x="594360" y="5530291"/>
            <a:ext cx="11000232" cy="365760"/>
          </a:xfrm>
          <a:prstGeom prst="rect">
            <a:avLst/>
          </a:prstGeom>
          <a:noFill/>
          <a:ln/>
        </p:spPr>
        <p:txBody>
          <a:bodyPr wrap="square" lIns="0" tIns="0" rIns="0" bIns="0" rtlCol="0" anchor="t"/>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チェックリストを読み上げない。その患者の状態でのリスクに合わせて話す</a:t>
            </a:r>
            <a:endParaRPr lang="ja-JP" sz="2200" dirty="0"/>
          </a:p>
        </p:txBody>
      </p:sp>
      <p:sp>
        <p:nvSpPr>
          <p:cNvPr id="13" name="Shape 11"/>
          <p:cNvSpPr/>
          <p:nvPr/>
        </p:nvSpPr>
        <p:spPr>
          <a:xfrm>
            <a:off x="502920" y="1691640"/>
            <a:ext cx="5325466" cy="3578047"/>
          </a:xfrm>
          <a:prstGeom prst="roundRect">
            <a:avLst>
              <a:gd name="adj" fmla="val 2044"/>
            </a:avLst>
          </a:prstGeom>
          <a:solidFill>
            <a:srgbClr val="F2F2F2"/>
          </a:solidFill>
          <a:ln/>
        </p:spPr>
      </p:sp>
      <p:sp>
        <p:nvSpPr>
          <p:cNvPr id="14" name="Text 12"/>
          <p:cNvSpPr txBox="1"/>
          <p:nvPr/>
        </p:nvSpPr>
        <p:spPr>
          <a:xfrm>
            <a:off x="662026" y="1764792"/>
            <a:ext cx="5007254" cy="402336"/>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麻酔の流れ</a:t>
            </a:r>
            <a:endParaRPr lang="ja-JP" sz="2400" dirty="0"/>
          </a:p>
        </p:txBody>
      </p:sp>
      <p:sp>
        <p:nvSpPr>
          <p:cNvPr id="15" name="Text 13"/>
          <p:cNvSpPr txBox="1"/>
          <p:nvPr/>
        </p:nvSpPr>
        <p:spPr>
          <a:xfrm>
            <a:off x="662026" y="2167128"/>
            <a:ext cx="5007254"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絶飲食、前投薬、ルート、モニター</a:t>
            </a:r>
            <a:endParaRPr lang="ja-JP" sz="2200" dirty="0"/>
          </a:p>
        </p:txBody>
      </p:sp>
      <p:sp>
        <p:nvSpPr>
          <p:cNvPr id="16" name="Text 14"/>
          <p:cNvSpPr txBox="1"/>
          <p:nvPr/>
        </p:nvSpPr>
        <p:spPr>
          <a:xfrm>
            <a:off x="662026" y="2703881"/>
            <a:ext cx="5007254"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導入（マスク、点滴、挿管）</a:t>
            </a:r>
            <a:endParaRPr lang="ja-JP" sz="2200" dirty="0"/>
          </a:p>
        </p:txBody>
      </p:sp>
      <p:sp>
        <p:nvSpPr>
          <p:cNvPr id="17" name="Text 15"/>
          <p:cNvSpPr txBox="1"/>
          <p:nvPr/>
        </p:nvSpPr>
        <p:spPr>
          <a:xfrm>
            <a:off x="662026" y="3240634"/>
            <a:ext cx="5007254"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術後の鎮痛と吐き気の対策</a:t>
            </a:r>
            <a:endParaRPr lang="ja-JP" sz="2200" dirty="0"/>
          </a:p>
        </p:txBody>
      </p:sp>
      <p:sp>
        <p:nvSpPr>
          <p:cNvPr id="18" name="Text 16"/>
          <p:cNvSpPr txBox="1"/>
          <p:nvPr/>
        </p:nvSpPr>
        <p:spPr>
          <a:xfrm>
            <a:off x="662026" y="3777386"/>
            <a:ext cx="5007254"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代替手段と、</a:t>
            </a:r>
            <a:endParaRPr lang="ja-JP" sz="2200" dirty="0"/>
          </a:p>
        </p:txBody>
      </p:sp>
      <p:sp>
        <p:nvSpPr>
          <p:cNvPr id="19" name="Text 17"/>
          <p:cNvSpPr txBox="1"/>
          <p:nvPr/>
        </p:nvSpPr>
        <p:spPr>
          <a:xfrm>
            <a:off x="662026" y="4112971"/>
            <a:ext cx="5007254"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うまくいかないときの次の手</a:t>
            </a:r>
            <a:endParaRPr lang="ja-JP" sz="2200" dirty="0"/>
          </a:p>
        </p:txBody>
      </p:sp>
      <p:sp>
        <p:nvSpPr>
          <p:cNvPr id="20" name="Text 18"/>
          <p:cNvSpPr txBox="1"/>
          <p:nvPr/>
        </p:nvSpPr>
        <p:spPr>
          <a:xfrm>
            <a:off x="662026" y="4447642"/>
            <a:ext cx="5007254"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（脊麻が効かなければ全身麻酔）</a:t>
            </a:r>
            <a:endParaRPr lang="ja-JP" sz="2200" dirty="0"/>
          </a:p>
        </p:txBody>
      </p:sp>
      <p:sp>
        <p:nvSpPr>
          <p:cNvPr id="21" name="Shape 19"/>
          <p:cNvSpPr/>
          <p:nvPr/>
        </p:nvSpPr>
        <p:spPr>
          <a:xfrm>
            <a:off x="6047842" y="1691640"/>
            <a:ext cx="5638190" cy="3578047"/>
          </a:xfrm>
          <a:prstGeom prst="roundRect">
            <a:avLst>
              <a:gd name="adj" fmla="val 2044"/>
            </a:avLst>
          </a:prstGeom>
          <a:solidFill>
            <a:srgbClr val="F2F2F2"/>
          </a:solidFill>
          <a:ln/>
        </p:spPr>
      </p:sp>
      <p:sp>
        <p:nvSpPr>
          <p:cNvPr id="22" name="Text 20"/>
          <p:cNvSpPr txBox="1"/>
          <p:nvPr/>
        </p:nvSpPr>
        <p:spPr>
          <a:xfrm>
            <a:off x="6206947" y="1764792"/>
            <a:ext cx="5319979" cy="402336"/>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リスク</a:t>
            </a:r>
            <a:endParaRPr lang="ja-JP" sz="2400" dirty="0"/>
          </a:p>
        </p:txBody>
      </p:sp>
      <p:sp>
        <p:nvSpPr>
          <p:cNvPr id="23" name="Text 21"/>
          <p:cNvSpPr txBox="1"/>
          <p:nvPr/>
        </p:nvSpPr>
        <p:spPr>
          <a:xfrm>
            <a:off x="6206947" y="2167128"/>
            <a:ext cx="5319979" cy="365760"/>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よくある：</a:t>
            </a:r>
            <a:r>
              <a:rPr lang="ja-JP" altLang="en-US" sz="2200" dirty="0">
                <a:solidFill>
                  <a:srgbClr val="262626"/>
                </a:solidFill>
                <a:latin typeface="メイリオ" pitchFamily="34" charset="0"/>
                <a:ea typeface="メイリオ" pitchFamily="34" charset="-122"/>
                <a:cs typeface="メイリオ" pitchFamily="34" charset="-120"/>
              </a:rPr>
              <a:t>吐き気、咽頭痛、</a:t>
            </a:r>
            <a:endParaRPr lang="ja-JP" sz="2200" dirty="0"/>
          </a:p>
        </p:txBody>
      </p:sp>
      <p:sp>
        <p:nvSpPr>
          <p:cNvPr id="24" name="Text 22"/>
          <p:cNvSpPr txBox="1"/>
          <p:nvPr/>
        </p:nvSpPr>
        <p:spPr>
          <a:xfrm>
            <a:off x="6206947" y="2502713"/>
            <a:ext cx="5319979"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歯・唇の損傷、しびれ、頭痛（脊麻）</a:t>
            </a:r>
            <a:endParaRPr lang="ja-JP" sz="2200" dirty="0"/>
          </a:p>
        </p:txBody>
      </p:sp>
      <p:sp>
        <p:nvSpPr>
          <p:cNvPr id="25" name="Text 23"/>
          <p:cNvSpPr txBox="1"/>
          <p:nvPr/>
        </p:nvSpPr>
        <p:spPr>
          <a:xfrm>
            <a:off x="6206947" y="3039466"/>
            <a:ext cx="5319979" cy="365760"/>
          </a:xfrm>
          <a:prstGeom prst="rect">
            <a:avLst/>
          </a:prstGeom>
          <a:noFill/>
          <a:ln/>
        </p:spPr>
        <p:txBody>
          <a:bodyPr wrap="square" lIns="0" tIns="0" rIns="0" bIns="0" rtlCol="0" anchor="t"/>
          <a:lstStyle/>
          <a:p>
            <a:pPr algn="l" indent="0" marL="0">
              <a:buNone/>
            </a:pPr>
            <a:r>
              <a:rPr lang="ja-JP" altLang="en-US" sz="2200" b="1" dirty="0">
                <a:solidFill>
                  <a:srgbClr val="C00000"/>
                </a:solidFill>
                <a:latin typeface="メイリオ" pitchFamily="34" charset="0"/>
                <a:ea typeface="メイリオ" pitchFamily="34" charset="-122"/>
                <a:cs typeface="メイリオ" pitchFamily="34" charset="-120"/>
              </a:rPr>
              <a:t>重大：</a:t>
            </a:r>
            <a:r>
              <a:rPr lang="ja-JP" altLang="en-US" sz="2200" dirty="0">
                <a:solidFill>
                  <a:srgbClr val="262626"/>
                </a:solidFill>
                <a:latin typeface="メイリオ" pitchFamily="34" charset="0"/>
                <a:ea typeface="メイリオ" pitchFamily="34" charset="-122"/>
                <a:cs typeface="メイリオ" pitchFamily="34" charset="-120"/>
              </a:rPr>
              <a:t>神経・眼の障害、術中覚醒、</a:t>
            </a:r>
            <a:endParaRPr lang="ja-JP" sz="2200" dirty="0"/>
          </a:p>
        </p:txBody>
      </p:sp>
      <p:sp>
        <p:nvSpPr>
          <p:cNvPr id="26" name="Text 24"/>
          <p:cNvSpPr txBox="1"/>
          <p:nvPr/>
        </p:nvSpPr>
        <p:spPr>
          <a:xfrm>
            <a:off x="6206947" y="3375050"/>
            <a:ext cx="5319979"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アナフィラキシー、死亡</a:t>
            </a:r>
            <a:endParaRPr lang="ja-JP" sz="2200" dirty="0"/>
          </a:p>
        </p:txBody>
      </p:sp>
      <p:sp>
        <p:nvSpPr>
          <p:cNvPr id="27" name="Text 25"/>
          <p:cNvSpPr txBox="1"/>
          <p:nvPr/>
        </p:nvSpPr>
        <p:spPr>
          <a:xfrm>
            <a:off x="6206947" y="3911803"/>
            <a:ext cx="5319979"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この患者が重視するリスク</a:t>
            </a:r>
            <a:endParaRPr lang="ja-JP" sz="2200" dirty="0"/>
          </a:p>
        </p:txBody>
      </p:sp>
      <p:sp>
        <p:nvSpPr>
          <p:cNvPr id="28" name="Text 26"/>
          <p:cNvSpPr txBox="1"/>
          <p:nvPr/>
        </p:nvSpPr>
        <p:spPr>
          <a:xfrm>
            <a:off x="6206947" y="4247388"/>
            <a:ext cx="5319979"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（歯、声、記憶）を聞く</a:t>
            </a:r>
            <a:endParaRPr lang="ja-JP" sz="2200" dirty="0"/>
          </a:p>
        </p:txBody>
      </p:sp>
      <p:sp>
        <p:nvSpPr>
          <p:cNvPr id="29" name="Text 27"/>
          <p:cNvSpPr txBox="1"/>
          <p:nvPr/>
        </p:nvSpPr>
        <p:spPr>
          <a:xfrm>
            <a:off x="6206947" y="4784141"/>
            <a:ext cx="5319979"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質問と、それへの答えも記録</a:t>
            </a:r>
            <a:endParaRPr lang="ja-JP"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リスクを数字で伝える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法と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判例</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何を</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話すか</a:t>
            </a:r>
            <a:endParaRPr lang="ja-JP" sz="1100" dirty="0"/>
          </a:p>
        </p:txBody>
      </p:sp>
      <p:sp>
        <p:nvSpPr>
          <p:cNvPr id="6" name="Text 4"/>
          <p:cNvSpPr/>
          <p:nvPr/>
        </p:nvSpPr>
        <p:spPr>
          <a:xfrm>
            <a:off x="10030968"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リスク</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の数</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能力と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代諾</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4</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Pandit JJ, et al. Br J Anaesth 2014;113:549-559（NAP5）</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Warner ME, et al. Anesthesiology 1999;90:1302-1305 / 入田和男ほか. 麻酔 2007;56:1433-1446</a:t>
            </a:r>
            <a:endParaRPr lang="ja-JP"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55680" cy="914400"/>
        </p:xfrm>
        <a:graphic>
          <a:graphicData uri="http://schemas.openxmlformats.org/drawingml/2006/table">
            <a:tbl>
              <a:tblPr/>
              <a:tblGrid>
                <a:gridCol w="4169664"/>
                <a:gridCol w="4855464"/>
                <a:gridCol w="2130552"/>
              </a:tblGrid>
              <a:tr h="356616">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事象</a:t>
                      </a:r>
                      <a:endParaRPr lang="en-US" sz="2200" dirty="0">
                        <a:latin typeface="メイリオ" charset="0"/>
                        <a:ea typeface="メイリオ" charset="0"/>
                        <a:cs typeface="メイリオ" charset="0"/>
                      </a:endParaRPr>
                    </a:p>
                  </a:txBody>
                  <a:tcPr marL="50800" marR="50800" marT="12700" marB="635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頻度の目安</a:t>
                      </a:r>
                      <a:endParaRPr lang="en-US" sz="2200" dirty="0">
                        <a:latin typeface="メイリオ" charset="0"/>
                        <a:ea typeface="メイリオ" charset="0"/>
                        <a:cs typeface="メイリオ" charset="0"/>
                      </a:endParaRPr>
                    </a:p>
                  </a:txBody>
                  <a:tcPr marL="50800" marR="50800" marT="12700" marB="635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出典</a:t>
                      </a:r>
                      <a:endParaRPr lang="en-US" sz="2200" dirty="0">
                        <a:latin typeface="メイリオ" charset="0"/>
                        <a:ea typeface="メイリオ" charset="0"/>
                        <a:cs typeface="メイリオ" charset="0"/>
                      </a:endParaRPr>
                    </a:p>
                  </a:txBody>
                  <a:tcPr marL="50800" marR="50800" marT="12700" marB="635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r>
              <a:tr h="356616">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術後の咽頭痛</a:t>
                      </a:r>
                      <a:endParaRPr lang="en-US" sz="2200" dirty="0">
                        <a:latin typeface="メイリオ" charset="0"/>
                        <a:ea typeface="メイリオ" charset="0"/>
                        <a:cs typeface="メイリオ" charset="0"/>
                      </a:endParaRPr>
                    </a:p>
                  </a:txBody>
                  <a:tcPr marL="50800" marR="50800" marT="12700" marB="635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挿管 45.4%、LMA 17.5%</a:t>
                      </a:r>
                      <a:endParaRPr lang="en-US" sz="2200" dirty="0">
                        <a:latin typeface="メイリオ" charset="0"/>
                        <a:ea typeface="メイリオ" charset="0"/>
                        <a:cs typeface="メイリオ" charset="0"/>
                      </a:endParaRPr>
                    </a:p>
                  </a:txBody>
                  <a:tcPr marL="50800" marR="50800" marT="12700" marB="635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Higgins 2002</a:t>
                      </a:r>
                      <a:endParaRPr lang="en-US" sz="2200" dirty="0">
                        <a:latin typeface="メイリオ" charset="0"/>
                        <a:ea typeface="メイリオ" charset="0"/>
                        <a:cs typeface="メイリオ" charset="0"/>
                      </a:endParaRPr>
                    </a:p>
                  </a:txBody>
                  <a:tcPr marL="50800" marR="50800" marT="12700" marB="635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356616">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吐き気・嘔吐</a:t>
                      </a:r>
                      <a:endParaRPr lang="en-US" sz="2200" dirty="0">
                        <a:latin typeface="メイリオ" charset="0"/>
                        <a:ea typeface="メイリオ" charset="0"/>
                        <a:cs typeface="メイリオ" charset="0"/>
                      </a:endParaRPr>
                    </a:p>
                  </a:txBody>
                  <a:tcPr marL="50800" marR="50800" marT="12700" marB="635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10〜79%（危険因子 0〜4 個で）</a:t>
                      </a:r>
                      <a:endParaRPr lang="en-US" sz="2200" dirty="0">
                        <a:latin typeface="メイリオ" charset="0"/>
                        <a:ea typeface="メイリオ" charset="0"/>
                        <a:cs typeface="メイリオ" charset="0"/>
                      </a:endParaRPr>
                    </a:p>
                  </a:txBody>
                  <a:tcPr marL="50800" marR="50800" marT="12700" marB="635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Apfel 1999</a:t>
                      </a:r>
                      <a:endParaRPr lang="en-US" sz="2200" dirty="0">
                        <a:latin typeface="メイリオ" charset="0"/>
                        <a:ea typeface="メイリオ" charset="0"/>
                        <a:cs typeface="メイリオ" charset="0"/>
                      </a:endParaRPr>
                    </a:p>
                  </a:txBody>
                  <a:tcPr marL="50800" marR="50800" marT="12700" marB="635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694944">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歯の損傷（処置が要るもの）</a:t>
                      </a:r>
                      <a:endParaRPr lang="en-US" sz="2200" dirty="0">
                        <a:latin typeface="メイリオ" charset="0"/>
                        <a:ea typeface="メイリオ" charset="0"/>
                        <a:cs typeface="メイリオ" charset="0"/>
                      </a:endParaRPr>
                    </a:p>
                  </a:txBody>
                  <a:tcPr marL="50800" marR="50800" marT="12700" marB="635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約 1/4,500。</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歯が悪いとオッズ比 50</a:t>
                      </a:r>
                      <a:endParaRPr lang="en-US" sz="2200" dirty="0">
                        <a:latin typeface="メイリオ" charset="0"/>
                        <a:ea typeface="メイリオ" charset="0"/>
                        <a:cs typeface="メイリオ" charset="0"/>
                      </a:endParaRPr>
                    </a:p>
                  </a:txBody>
                  <a:tcPr marL="50800" marR="50800" marT="12700" marB="635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Warner 1999</a:t>
                      </a:r>
                      <a:endParaRPr lang="en-US" sz="2200" dirty="0">
                        <a:latin typeface="メイリオ" charset="0"/>
                        <a:ea typeface="メイリオ" charset="0"/>
                        <a:cs typeface="メイリオ" charset="0"/>
                      </a:endParaRPr>
                    </a:p>
                  </a:txBody>
                  <a:tcPr marL="50800" marR="50800" marT="12700" marB="635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694944">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硬膜穿刺後頭痛（産婦）</a:t>
                      </a:r>
                      <a:endParaRPr lang="en-US" sz="2200" dirty="0">
                        <a:latin typeface="メイリオ" charset="0"/>
                        <a:ea typeface="メイリオ" charset="0"/>
                        <a:cs typeface="メイリオ" charset="0"/>
                      </a:endParaRPr>
                    </a:p>
                  </a:txBody>
                  <a:tcPr marL="50800" marR="50800" marT="12700" marB="635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硬膜外の偶発穿刺 1.5%、</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うち 52.1%。27G 脊麻 1.7%</a:t>
                      </a:r>
                      <a:endParaRPr lang="en-US" sz="2200" dirty="0">
                        <a:latin typeface="メイリオ" charset="0"/>
                        <a:ea typeface="メイリオ" charset="0"/>
                        <a:cs typeface="メイリオ" charset="0"/>
                      </a:endParaRPr>
                    </a:p>
                  </a:txBody>
                  <a:tcPr marL="50800" marR="50800" marT="12700" marB="635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Choi 2003</a:t>
                      </a:r>
                      <a:endParaRPr lang="en-US" sz="2200" dirty="0">
                        <a:latin typeface="メイリオ" charset="0"/>
                        <a:ea typeface="メイリオ" charset="0"/>
                        <a:cs typeface="メイリオ" charset="0"/>
                      </a:endParaRPr>
                    </a:p>
                  </a:txBody>
                  <a:tcPr marL="50800" marR="50800" marT="12700" marB="635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694944">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術中覚醒</a:t>
                      </a:r>
                      <a:endParaRPr lang="en-US" sz="2200" dirty="0">
                        <a:latin typeface="メイリオ" charset="0"/>
                        <a:ea typeface="メイリオ" charset="0"/>
                        <a:cs typeface="メイリオ" charset="0"/>
                      </a:endParaRPr>
                    </a:p>
                  </a:txBody>
                  <a:tcPr marL="50800" marR="50800" marT="12700" marB="635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約 1/19,600（筋弛緩薬使用</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1/8,200、帝王切開 1/670）</a:t>
                      </a:r>
                      <a:endParaRPr lang="en-US" sz="2200" dirty="0">
                        <a:latin typeface="メイリオ" charset="0"/>
                        <a:ea typeface="メイリオ" charset="0"/>
                        <a:cs typeface="メイリオ" charset="0"/>
                      </a:endParaRPr>
                    </a:p>
                  </a:txBody>
                  <a:tcPr marL="50800" marR="50800" marT="12700" marB="635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NAP5</a:t>
                      </a:r>
                      <a:endParaRPr lang="en-US" sz="2200" dirty="0">
                        <a:latin typeface="メイリオ" charset="0"/>
                        <a:ea typeface="メイリオ" charset="0"/>
                        <a:cs typeface="メイリオ" charset="0"/>
                      </a:endParaRPr>
                    </a:p>
                  </a:txBody>
                  <a:tcPr marL="50800" marR="50800" marT="12700" marB="635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356616">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脊麻・硬膜外の永続的な障害</a:t>
                      </a:r>
                      <a:endParaRPr lang="en-US" sz="2200" dirty="0">
                        <a:latin typeface="メイリオ" charset="0"/>
                        <a:ea typeface="メイリオ" charset="0"/>
                        <a:cs typeface="メイリオ" charset="0"/>
                      </a:endParaRPr>
                    </a:p>
                  </a:txBody>
                  <a:tcPr marL="50800" marR="50800" marT="12700" marB="635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10 万件に 2.0〜4.2 件</a:t>
                      </a:r>
                      <a:endParaRPr lang="en-US" sz="2200" dirty="0">
                        <a:latin typeface="メイリオ" charset="0"/>
                        <a:ea typeface="メイリオ" charset="0"/>
                        <a:cs typeface="メイリオ" charset="0"/>
                      </a:endParaRPr>
                    </a:p>
                  </a:txBody>
                  <a:tcPr marL="50800" marR="50800" marT="12700" marB="635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NAP3</a:t>
                      </a:r>
                      <a:endParaRPr lang="en-US" sz="2200" dirty="0">
                        <a:latin typeface="メイリオ" charset="0"/>
                        <a:ea typeface="メイリオ" charset="0"/>
                        <a:cs typeface="メイリオ" charset="0"/>
                      </a:endParaRPr>
                    </a:p>
                  </a:txBody>
                  <a:tcPr marL="50800" marR="50800" marT="12700" marB="635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694944">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麻酔が単独の原因の死亡</a:t>
                      </a:r>
                      <a:endParaRPr lang="en-US" sz="2200" dirty="0">
                        <a:latin typeface="メイリオ" charset="0"/>
                        <a:ea typeface="メイリオ" charset="0"/>
                        <a:cs typeface="メイリオ" charset="0"/>
                      </a:endParaRPr>
                    </a:p>
                  </a:txBody>
                  <a:tcPr marL="50800" marR="50800" marT="12700" marB="635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1 万麻酔に 0.07〜0.21</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（国内 1994〜2005 年）</a:t>
                      </a:r>
                      <a:endParaRPr lang="en-US" sz="2200" dirty="0">
                        <a:latin typeface="メイリオ" charset="0"/>
                        <a:ea typeface="メイリオ" charset="0"/>
                        <a:cs typeface="メイリオ" charset="0"/>
                      </a:endParaRPr>
                    </a:p>
                  </a:txBody>
                  <a:tcPr marL="50800" marR="50800" marT="12700" marB="635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JSA</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偶発症調査</a:t>
                      </a:r>
                      <a:endParaRPr lang="en-US" sz="2200" dirty="0">
                        <a:latin typeface="メイリオ" charset="0"/>
                        <a:ea typeface="メイリオ" charset="0"/>
                        <a:cs typeface="メイリオ" charset="0"/>
                      </a:endParaRPr>
                    </a:p>
                  </a:txBody>
                  <a:tcPr marL="50800" marR="50800" marT="12700" marB="635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意思決定能力と代諾</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法と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判例</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何を</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話すか</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リスク</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の数</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能力と</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代諾</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5</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Appelbaum PS. N Engl J Med 2007;357:1834-1840 / 宗教的輸血拒否に関する合同委員会 GL（2008）</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厚生労働省「身寄りがない人の入院及び医療に係る意思決定が困難な人への支援に関するGL」（2019）</a:t>
            </a:r>
            <a:endParaRPr lang="ja-JP" sz="1600" dirty="0"/>
          </a:p>
        </p:txBody>
      </p:sp>
      <p:sp>
        <p:nvSpPr>
          <p:cNvPr id="11" name="Shape 9"/>
          <p:cNvSpPr/>
          <p:nvPr/>
        </p:nvSpPr>
        <p:spPr>
          <a:xfrm>
            <a:off x="502920" y="5153558"/>
            <a:ext cx="11183112" cy="753466"/>
          </a:xfrm>
          <a:prstGeom prst="roundRect">
            <a:avLst>
              <a:gd name="adj" fmla="val 12136"/>
            </a:avLst>
          </a:prstGeom>
          <a:solidFill>
            <a:srgbClr val="FFFFFF"/>
          </a:solidFill>
          <a:ln w="44450">
            <a:solidFill>
              <a:srgbClr val="00A8AA"/>
            </a:solidFill>
            <a:prstDash val="solid"/>
          </a:ln>
        </p:spPr>
      </p:sp>
      <p:sp>
        <p:nvSpPr>
          <p:cNvPr id="12" name="Text 10"/>
          <p:cNvSpPr txBox="1"/>
          <p:nvPr/>
        </p:nvSpPr>
        <p:spPr>
          <a:xfrm>
            <a:off x="594360" y="5194706"/>
            <a:ext cx="11000232" cy="365760"/>
          </a:xfrm>
          <a:prstGeom prst="rect">
            <a:avLst/>
          </a:prstGeom>
          <a:noFill/>
          <a:ln/>
        </p:spPr>
        <p:txBody>
          <a:bodyPr wrap="square" lIns="0" tIns="0" rIns="0" bIns="0" rtlCol="0" anchor="t"/>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緊急で同意がとれない：推定的同意で行い、</a:t>
            </a:r>
            <a:endParaRPr lang="ja-JP" sz="2200" dirty="0"/>
          </a:p>
        </p:txBody>
      </p:sp>
      <p:sp>
        <p:nvSpPr>
          <p:cNvPr id="13" name="Text 11"/>
          <p:cNvSpPr txBox="1"/>
          <p:nvPr/>
        </p:nvSpPr>
        <p:spPr>
          <a:xfrm>
            <a:off x="594360" y="5530291"/>
            <a:ext cx="11000232" cy="365760"/>
          </a:xfrm>
          <a:prstGeom prst="rect">
            <a:avLst/>
          </a:prstGeom>
          <a:noFill/>
          <a:ln/>
        </p:spPr>
        <p:txBody>
          <a:bodyPr wrap="square" lIns="0" tIns="0" rIns="0" bIns="0" rtlCol="0" anchor="t"/>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緊急性・省いた理由・事後の説明を記録する</a:t>
            </a:r>
            <a:endParaRPr lang="ja-JP" sz="2200" dirty="0"/>
          </a:p>
        </p:txBody>
      </p:sp>
      <p:sp>
        <p:nvSpPr>
          <p:cNvPr id="14" name="Shape 12"/>
          <p:cNvSpPr/>
          <p:nvPr/>
        </p:nvSpPr>
        <p:spPr>
          <a:xfrm>
            <a:off x="502920" y="1691640"/>
            <a:ext cx="4236415" cy="3242462"/>
          </a:xfrm>
          <a:prstGeom prst="roundRect">
            <a:avLst>
              <a:gd name="adj" fmla="val 2256"/>
            </a:avLst>
          </a:prstGeom>
          <a:solidFill>
            <a:srgbClr val="F2F2F2"/>
          </a:solidFill>
          <a:ln/>
        </p:spPr>
      </p:sp>
      <p:sp>
        <p:nvSpPr>
          <p:cNvPr id="15" name="Text 13"/>
          <p:cNvSpPr txBox="1"/>
          <p:nvPr/>
        </p:nvSpPr>
        <p:spPr>
          <a:xfrm>
            <a:off x="587045" y="1764792"/>
            <a:ext cx="4068166" cy="402336"/>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能力の 4 要素</a:t>
            </a:r>
            <a:endParaRPr lang="ja-JP" sz="2400" dirty="0"/>
          </a:p>
        </p:txBody>
      </p:sp>
      <p:sp>
        <p:nvSpPr>
          <p:cNvPr id="16" name="Text 14"/>
          <p:cNvSpPr txBox="1"/>
          <p:nvPr/>
        </p:nvSpPr>
        <p:spPr>
          <a:xfrm>
            <a:off x="587045" y="2167128"/>
            <a:ext cx="4068166"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選択を表明できる</a:t>
            </a:r>
            <a:endParaRPr lang="ja-JP" sz="2200" dirty="0"/>
          </a:p>
        </p:txBody>
      </p:sp>
      <p:sp>
        <p:nvSpPr>
          <p:cNvPr id="17" name="Text 15"/>
          <p:cNvSpPr txBox="1"/>
          <p:nvPr/>
        </p:nvSpPr>
        <p:spPr>
          <a:xfrm>
            <a:off x="587045" y="2588666"/>
            <a:ext cx="4068166"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情報を理解できる</a:t>
            </a:r>
            <a:endParaRPr lang="ja-JP" sz="2200" dirty="0"/>
          </a:p>
        </p:txBody>
      </p:sp>
      <p:sp>
        <p:nvSpPr>
          <p:cNvPr id="18" name="Text 16"/>
          <p:cNvSpPr txBox="1"/>
          <p:nvPr/>
        </p:nvSpPr>
        <p:spPr>
          <a:xfrm>
            <a:off x="587045" y="3010205"/>
            <a:ext cx="4068166"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自分のこととして認識できる</a:t>
            </a:r>
            <a:endParaRPr lang="ja-JP" sz="2200" dirty="0"/>
          </a:p>
        </p:txBody>
      </p:sp>
      <p:sp>
        <p:nvSpPr>
          <p:cNvPr id="19" name="Text 17"/>
          <p:cNvSpPr txBox="1"/>
          <p:nvPr/>
        </p:nvSpPr>
        <p:spPr>
          <a:xfrm>
            <a:off x="587045" y="3431743"/>
            <a:ext cx="4068166"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比べて論理的に考えられる</a:t>
            </a:r>
            <a:endParaRPr lang="ja-JP" sz="2200" dirty="0"/>
          </a:p>
        </p:txBody>
      </p:sp>
      <p:sp>
        <p:nvSpPr>
          <p:cNvPr id="20" name="Text 18"/>
          <p:cNvSpPr txBox="1"/>
          <p:nvPr/>
        </p:nvSpPr>
        <p:spPr>
          <a:xfrm>
            <a:off x="587045" y="3853282"/>
            <a:ext cx="4068166"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成人は能力があると推定。</a:t>
            </a:r>
            <a:endParaRPr lang="ja-JP" sz="2200" dirty="0"/>
          </a:p>
        </p:txBody>
      </p:sp>
      <p:sp>
        <p:nvSpPr>
          <p:cNvPr id="21" name="Text 19"/>
          <p:cNvSpPr txBox="1"/>
          <p:nvPr/>
        </p:nvSpPr>
        <p:spPr>
          <a:xfrm>
            <a:off x="587045" y="4188866"/>
            <a:ext cx="4068166"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認知症・高齢・前投薬だけで</a:t>
            </a:r>
            <a:endParaRPr lang="ja-JP" sz="2200" dirty="0"/>
          </a:p>
        </p:txBody>
      </p:sp>
      <p:sp>
        <p:nvSpPr>
          <p:cNvPr id="22" name="Text 20"/>
          <p:cNvSpPr txBox="1"/>
          <p:nvPr/>
        </p:nvSpPr>
        <p:spPr>
          <a:xfrm>
            <a:off x="587045" y="4523537"/>
            <a:ext cx="4068166"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無能力と決めない</a:t>
            </a:r>
            <a:endParaRPr lang="ja-JP" sz="2200" dirty="0"/>
          </a:p>
        </p:txBody>
      </p:sp>
      <p:sp>
        <p:nvSpPr>
          <p:cNvPr id="23" name="Shape 21"/>
          <p:cNvSpPr/>
          <p:nvPr/>
        </p:nvSpPr>
        <p:spPr>
          <a:xfrm>
            <a:off x="4958791" y="1691640"/>
            <a:ext cx="6727241" cy="3242462"/>
          </a:xfrm>
          <a:prstGeom prst="roundRect">
            <a:avLst>
              <a:gd name="adj" fmla="val 2256"/>
            </a:avLst>
          </a:prstGeom>
          <a:solidFill>
            <a:srgbClr val="F2F2F2"/>
          </a:solidFill>
          <a:ln/>
        </p:spPr>
      </p:sp>
      <p:sp>
        <p:nvSpPr>
          <p:cNvPr id="24" name="Text 22"/>
          <p:cNvSpPr txBox="1"/>
          <p:nvPr/>
        </p:nvSpPr>
        <p:spPr>
          <a:xfrm>
            <a:off x="5042916" y="1764792"/>
            <a:ext cx="6558991" cy="402336"/>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代わりに決める人</a:t>
            </a:r>
            <a:endParaRPr lang="ja-JP" sz="2400" dirty="0"/>
          </a:p>
        </p:txBody>
      </p:sp>
      <p:sp>
        <p:nvSpPr>
          <p:cNvPr id="25" name="Text 23"/>
          <p:cNvSpPr txBox="1"/>
          <p:nvPr/>
        </p:nvSpPr>
        <p:spPr>
          <a:xfrm>
            <a:off x="5042916" y="2167128"/>
            <a:ext cx="6558991"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18 歳以上：本人（2022 年〜成年）</a:t>
            </a:r>
            <a:endParaRPr lang="ja-JP" sz="2200" dirty="0"/>
          </a:p>
        </p:txBody>
      </p:sp>
      <p:sp>
        <p:nvSpPr>
          <p:cNvPr id="26" name="Text 24"/>
          <p:cNvSpPr txBox="1"/>
          <p:nvPr/>
        </p:nvSpPr>
        <p:spPr>
          <a:xfrm>
            <a:off x="5042916" y="2588666"/>
            <a:ext cx="6558991"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18 歳未満：親権者の同意</a:t>
            </a:r>
            <a:endParaRPr lang="ja-JP" sz="2200" dirty="0"/>
          </a:p>
        </p:txBody>
      </p:sp>
      <p:sp>
        <p:nvSpPr>
          <p:cNvPr id="27" name="Text 25"/>
          <p:cNvSpPr txBox="1"/>
          <p:nvPr/>
        </p:nvSpPr>
        <p:spPr>
          <a:xfrm>
            <a:off x="5042916" y="2924251"/>
            <a:ext cx="6558991"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（離婚後の共同親権 2026 年 4 月〜）</a:t>
            </a:r>
            <a:endParaRPr lang="ja-JP" sz="2200" dirty="0"/>
          </a:p>
        </p:txBody>
      </p:sp>
      <p:sp>
        <p:nvSpPr>
          <p:cNvPr id="28" name="Text 26"/>
          <p:cNvSpPr txBox="1"/>
          <p:nvPr/>
        </p:nvSpPr>
        <p:spPr>
          <a:xfrm>
            <a:off x="5042916" y="3345790"/>
            <a:ext cx="6558991"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15〜17 歳は本人の意思も確認（輸血拒否 GL）</a:t>
            </a:r>
            <a:endParaRPr lang="ja-JP" sz="2200" dirty="0"/>
          </a:p>
        </p:txBody>
      </p:sp>
      <p:sp>
        <p:nvSpPr>
          <p:cNvPr id="29" name="Text 27"/>
          <p:cNvSpPr txBox="1"/>
          <p:nvPr/>
        </p:nvSpPr>
        <p:spPr>
          <a:xfrm>
            <a:off x="5042916" y="3767328"/>
            <a:ext cx="6558991"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成年後見人に医療同意権はない。</a:t>
            </a:r>
            <a:endParaRPr lang="ja-JP" sz="2200" dirty="0"/>
          </a:p>
        </p:txBody>
      </p:sp>
      <p:sp>
        <p:nvSpPr>
          <p:cNvPr id="30" name="Text 28"/>
          <p:cNvSpPr txBox="1"/>
          <p:nvPr/>
        </p:nvSpPr>
        <p:spPr>
          <a:xfrm>
            <a:off x="5042916" y="4102913"/>
            <a:ext cx="6558991"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家族の同意の法的根拠も明確でない</a:t>
            </a:r>
            <a:endParaRPr lang="ja-JP" sz="2200" dirty="0"/>
          </a:p>
        </p:txBody>
      </p:sp>
      <p:sp>
        <p:nvSpPr>
          <p:cNvPr id="31" name="Text 29"/>
          <p:cNvSpPr txBox="1"/>
          <p:nvPr/>
        </p:nvSpPr>
        <p:spPr>
          <a:xfrm>
            <a:off x="5042916" y="4524451"/>
            <a:ext cx="6558991" cy="36576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身寄りがない人：チームと倫理委員会で</a:t>
            </a:r>
            <a:endParaRPr lang="ja-JP"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記録と、離島での工夫</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法と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判例</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何を</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話すか</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リスク</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の数</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能力と</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代諾</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6</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Yentis SM, et al. Anaesthesia 2017;72:93-105（AAGBI）</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Sakaguchi M, Maeda S. J Anesth 2005;19:315-319 / 最高裁判所 平成12年2月29日 第三小法廷判決</a:t>
            </a:r>
            <a:endParaRPr lang="ja-JP" sz="1600" dirty="0"/>
          </a:p>
        </p:txBody>
      </p:sp>
      <p:sp>
        <p:nvSpPr>
          <p:cNvPr id="11" name="Text 9"/>
          <p:cNvSpPr txBox="1"/>
          <p:nvPr/>
        </p:nvSpPr>
        <p:spPr>
          <a:xfrm>
            <a:off x="502920" y="1691640"/>
            <a:ext cx="11155680" cy="2798064"/>
          </a:xfrm>
          <a:prstGeom prst="rect">
            <a:avLst/>
          </a:prstGeom>
          <a:noFill/>
          <a:ln/>
        </p:spPr>
        <p:txBody>
          <a:bodyPr wrap="square" lIns="0" tIns="0" rIns="0" bIns="0" rtlCol="0" anchor="t"/>
          <a:lstStyle/>
          <a:p>
            <a:pPr algn="l" marL="355600" indent="-355600">
              <a:spcAft>
                <a:spcPts val="1000"/>
              </a:spcAft>
              <a:buSzPct val="100000"/>
              <a:buChar char="•"/>
            </a:pPr>
            <a:r>
              <a:rPr lang="ja-JP" altLang="en-US" sz="2400" b="1" dirty="0">
                <a:solidFill>
                  <a:srgbClr val="0072B2"/>
                </a:solidFill>
                <a:latin typeface="メイリオ" pitchFamily="34" charset="0"/>
                <a:ea typeface="メイリオ" pitchFamily="34" charset="-122"/>
                <a:cs typeface="メイリオ" pitchFamily="34" charset="-120"/>
              </a:rPr>
              <a:t>記録：</a:t>
            </a:r>
            <a:r>
              <a:rPr lang="ja-JP" altLang="en-US" sz="2400" dirty="0">
                <a:solidFill>
                  <a:srgbClr val="262626"/>
                </a:solidFill>
                <a:latin typeface="メイリオ" pitchFamily="34" charset="0"/>
                <a:ea typeface="メイリオ" pitchFamily="34" charset="-122"/>
                <a:cs typeface="メイリオ" pitchFamily="34" charset="-120"/>
              </a:rPr>
              <a:t>説明したリスク・代替、質問と回答、同意、同席者</a:t>
            </a:r>
            <a:endParaRPr lang="ja-JP" sz="2400" dirty="0"/>
          </a:p>
          <a:p>
            <a:pPr algn="l" marL="355600" indent="-355600">
              <a:spcAft>
                <a:spcPts val="1000"/>
              </a:spcAft>
              <a:buSzPct val="100000"/>
              <a:buChar char="•"/>
            </a:pPr>
            <a:r>
              <a:rPr lang="ja-JP" altLang="en-US" sz="2400" b="1" dirty="0">
                <a:solidFill>
                  <a:srgbClr val="0072B2"/>
                </a:solidFill>
                <a:latin typeface="メイリオ" pitchFamily="34" charset="0"/>
                <a:ea typeface="メイリオ" pitchFamily="34" charset="-122"/>
                <a:cs typeface="メイリオ" pitchFamily="34" charset="-120"/>
              </a:rPr>
              <a:t>同意書の署名</a:t>
            </a:r>
            <a:r>
              <a:rPr lang="ja-JP" altLang="en-US" sz="2400" dirty="0">
                <a:solidFill>
                  <a:srgbClr val="262626"/>
                </a:solidFill>
                <a:latin typeface="メイリオ" pitchFamily="34" charset="0"/>
                <a:ea typeface="メイリオ" pitchFamily="34" charset="-122"/>
                <a:cs typeface="メイリオ" pitchFamily="34" charset="-120"/>
              </a:rPr>
              <a:t>は『同意の過程があった証拠』にすぎない</a:t>
            </a:r>
            <a:endParaRPr lang="ja-JP" sz="2400" dirty="0"/>
          </a:p>
          <a:p>
            <a:pPr algn="l" marL="355600" indent="-355600">
              <a:spcAft>
                <a:spcPts val="1000"/>
              </a:spcAft>
              <a:buSzPct val="100000"/>
              <a:buChar char="•"/>
            </a:pPr>
            <a:r>
              <a:rPr lang="ja-JP" altLang="en-US" sz="2400" b="1" dirty="0">
                <a:solidFill>
                  <a:srgbClr val="0072B2"/>
                </a:solidFill>
                <a:latin typeface="メイリオ" pitchFamily="34" charset="0"/>
                <a:ea typeface="メイリオ" pitchFamily="34" charset="-122"/>
                <a:cs typeface="メイリオ" pitchFamily="34" charset="-120"/>
              </a:rPr>
              <a:t>輸血拒否：</a:t>
            </a:r>
            <a:r>
              <a:rPr lang="ja-JP" altLang="en-US" sz="2400" dirty="0">
                <a:solidFill>
                  <a:srgbClr val="262626"/>
                </a:solidFill>
                <a:latin typeface="メイリオ" pitchFamily="34" charset="0"/>
                <a:ea typeface="メイリオ" pitchFamily="34" charset="-122"/>
                <a:cs typeface="メイリオ" pitchFamily="34" charset="-120"/>
              </a:rPr>
              <a:t>施設の方針を前もって伝える。対応できなければ転院</a:t>
            </a:r>
            <a:endParaRPr lang="ja-JP" sz="2400" dirty="0"/>
          </a:p>
          <a:p>
            <a:pPr algn="l" marL="355600" indent="-355600">
              <a:spcAft>
                <a:spcPts val="1000"/>
              </a:spcAft>
              <a:buSzPct val="100000"/>
              <a:buChar char="•"/>
            </a:pPr>
            <a:r>
              <a:rPr lang="ja-JP" altLang="en-US" sz="2400" b="1" dirty="0">
                <a:solidFill>
                  <a:srgbClr val="0072B2"/>
                </a:solidFill>
                <a:latin typeface="メイリオ" pitchFamily="34" charset="0"/>
                <a:ea typeface="メイリオ" pitchFamily="34" charset="-122"/>
                <a:cs typeface="メイリオ" pitchFamily="34" charset="-120"/>
              </a:rPr>
              <a:t>外科医に任せるとき</a:t>
            </a:r>
            <a:r>
              <a:rPr lang="ja-JP" altLang="en-US" sz="2400" dirty="0">
                <a:solidFill>
                  <a:srgbClr val="262626"/>
                </a:solidFill>
                <a:latin typeface="メイリオ" pitchFamily="34" charset="0"/>
                <a:ea typeface="メイリオ" pitchFamily="34" charset="-122"/>
                <a:cs typeface="メイリオ" pitchFamily="34" charset="-120"/>
              </a:rPr>
              <a:t>も、麻酔科医が術前に診察して補足する</a:t>
            </a:r>
            <a:endParaRPr lang="ja-JP" sz="2400" dirty="0"/>
          </a:p>
          <a:p>
            <a:pPr algn="l" marL="355600" indent="-355600">
              <a:spcAft>
                <a:spcPts val="1000"/>
              </a:spcAft>
              <a:buSzPct val="100000"/>
              <a:buChar char="•"/>
            </a:pPr>
            <a:r>
              <a:rPr lang="ja-JP" altLang="en-US" sz="2400" b="1" dirty="0">
                <a:solidFill>
                  <a:srgbClr val="0072B2"/>
                </a:solidFill>
                <a:latin typeface="メイリオ" pitchFamily="34" charset="0"/>
                <a:ea typeface="メイリオ" pitchFamily="34" charset="-122"/>
                <a:cs typeface="メイリオ" pitchFamily="34" charset="-120"/>
              </a:rPr>
              <a:t>電話・オンライン</a:t>
            </a:r>
            <a:r>
              <a:rPr lang="ja-JP" altLang="en-US" sz="2400" dirty="0">
                <a:solidFill>
                  <a:srgbClr val="262626"/>
                </a:solidFill>
                <a:latin typeface="メイリオ" pitchFamily="34" charset="0"/>
                <a:ea typeface="メイリオ" pitchFamily="34" charset="-122"/>
                <a:cs typeface="メイリオ" pitchFamily="34" charset="-120"/>
              </a:rPr>
              <a:t>は補助。当日前に対面で理解を確かめる（私見）</a:t>
            </a:r>
            <a:endParaRPr lang="ja-JP" sz="2400" dirty="0"/>
          </a:p>
        </p:txBody>
      </p:sp>
      <p:sp>
        <p:nvSpPr>
          <p:cNvPr id="12" name="Text 10"/>
          <p:cNvSpPr/>
          <p:nvPr/>
        </p:nvSpPr>
        <p:spPr>
          <a:xfrm>
            <a:off x="1051560" y="4764024"/>
            <a:ext cx="10085832" cy="1143000"/>
          </a:xfrm>
          <a:prstGeom prst="roundRect">
            <a:avLst>
              <a:gd name="adj" fmla="val 8000"/>
            </a:avLst>
          </a:prstGeom>
          <a:solidFill>
            <a:srgbClr val="FFFFFF"/>
          </a:solidFill>
          <a:ln w="44450">
            <a:solidFill>
              <a:srgbClr val="00A8AA"/>
            </a:solidFill>
          </a:ln>
        </p:spPr>
        <p:txBody>
          <a:bodyPr wrap="square" lIns="45720" tIns="45720" rIns="45720" bIns="45720" rtlCol="0" anchor="ctr"/>
          <a:lstStyle/>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患者の不安（『前の麻酔で…』）は、</a:t>
            </a:r>
            <a:endParaRPr lang="ja-JP" sz="2800" dirty="0"/>
          </a:p>
          <a:p>
            <a:pPr algn="ctr" indent="0" marL="0">
              <a:buNone/>
            </a:pPr>
            <a:r>
              <a:rPr lang="ja-JP" altLang="en-US" sz="2800" b="1" dirty="0">
                <a:solidFill>
                  <a:srgbClr val="D55E00"/>
                </a:solidFill>
                <a:latin typeface="メイリオ" pitchFamily="34" charset="0"/>
                <a:ea typeface="メイリオ" pitchFamily="34" charset="-122"/>
                <a:cs typeface="メイリオ" pitchFamily="34" charset="-120"/>
              </a:rPr>
              <a:t>根拠が薄くても</a:t>
            </a:r>
            <a:r>
              <a:rPr lang="ja-JP" altLang="en-US" sz="2800" b="1" dirty="0">
                <a:solidFill>
                  <a:srgbClr val="262626"/>
                </a:solidFill>
                <a:latin typeface="メイリオ" pitchFamily="34" charset="0"/>
                <a:ea typeface="メイリオ" pitchFamily="34" charset="-122"/>
                <a:cs typeface="メイリオ" pitchFamily="34" charset="-120"/>
              </a:rPr>
              <a:t>説明の対象</a:t>
            </a:r>
            <a:endParaRPr lang="ja-JP"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まとめ</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法と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判例</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何を</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話すか</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リスク</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の数</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能力と</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代諾</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7</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最高裁判所 平成13年11月27日 第三小法廷判決 / Yentis SM, et al. Anaesthesia 2017;72:93-105</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Pandit JJ, et al. Br J Anaesth 2014;113:549-559（NAP5）</a:t>
            </a:r>
            <a:endParaRPr lang="ja-JP" sz="1600" dirty="0"/>
          </a:p>
        </p:txBody>
      </p:sp>
      <p:sp>
        <p:nvSpPr>
          <p:cNvPr id="11" name="Text 9"/>
          <p:cNvSpPr txBox="1"/>
          <p:nvPr/>
        </p:nvSpPr>
        <p:spPr>
          <a:xfrm>
            <a:off x="502920" y="1828800"/>
            <a:ext cx="11155680" cy="3959352"/>
          </a:xfrm>
          <a:prstGeom prst="rect">
            <a:avLst/>
          </a:prstGeom>
          <a:noFill/>
          <a:ln/>
        </p:spPr>
        <p:txBody>
          <a:bodyPr wrap="square" lIns="0" tIns="0" rIns="0" bIns="0" rtlCol="0" anchor="t"/>
          <a:lstStyle/>
          <a:p>
            <a:pPr algn="l" marL="355600" indent="-355600">
              <a:spcAft>
                <a:spcPts val="30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説明義務は法律と判例の要請。</a:t>
            </a:r>
            <a:r>
              <a:rPr lang="ja-JP" altLang="en-US" sz="2400" b="1" dirty="0">
                <a:solidFill>
                  <a:srgbClr val="0072B2"/>
                </a:solidFill>
                <a:latin typeface="メイリオ" pitchFamily="34" charset="0"/>
                <a:ea typeface="メイリオ" pitchFamily="34" charset="-122"/>
                <a:cs typeface="メイリオ" pitchFamily="34" charset="-120"/>
              </a:rPr>
              <a:t>診断・内容・危険・代替・予後</a:t>
            </a:r>
            <a:endParaRPr lang="ja-JP" sz="2400" dirty="0"/>
          </a:p>
          <a:p>
            <a:pPr algn="l" marL="355600" indent="-355600">
              <a:spcAft>
                <a:spcPts val="30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説明するのは</a:t>
            </a:r>
            <a:r>
              <a:rPr lang="ja-JP" altLang="en-US" sz="2400" b="1" dirty="0">
                <a:solidFill>
                  <a:srgbClr val="0072B2"/>
                </a:solidFill>
                <a:latin typeface="メイリオ" pitchFamily="34" charset="0"/>
                <a:ea typeface="メイリオ" pitchFamily="34" charset="-122"/>
                <a:cs typeface="メイリオ" pitchFamily="34" charset="-120"/>
              </a:rPr>
              <a:t>担当の麻酔科医</a:t>
            </a:r>
            <a:r>
              <a:rPr lang="ja-JP" altLang="en-US" sz="2400" dirty="0">
                <a:solidFill>
                  <a:srgbClr val="262626"/>
                </a:solidFill>
                <a:latin typeface="メイリオ" pitchFamily="34" charset="0"/>
                <a:ea typeface="メイリオ" pitchFamily="34" charset="-122"/>
                <a:cs typeface="メイリオ" pitchFamily="34" charset="-120"/>
              </a:rPr>
              <a:t>。待機手術は前日までに、資料を渡して</a:t>
            </a:r>
            <a:endParaRPr lang="ja-JP" sz="2400" dirty="0"/>
          </a:p>
          <a:p>
            <a:pPr algn="l" marL="355600" indent="-355600">
              <a:spcAft>
                <a:spcPts val="30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覚醒 </a:t>
            </a:r>
            <a:r>
              <a:rPr lang="ja-JP" altLang="en-US" sz="2400" b="1" dirty="0">
                <a:solidFill>
                  <a:srgbClr val="D55E00"/>
                </a:solidFill>
                <a:latin typeface="メイリオ" pitchFamily="34" charset="0"/>
                <a:ea typeface="メイリオ" pitchFamily="34" charset="-122"/>
                <a:cs typeface="メイリオ" pitchFamily="34" charset="-120"/>
              </a:rPr>
              <a:t>1/8,200</a:t>
            </a:r>
            <a:r>
              <a:rPr lang="ja-JP" altLang="en-US" sz="2400" dirty="0">
                <a:solidFill>
                  <a:srgbClr val="262626"/>
                </a:solidFill>
                <a:latin typeface="メイリオ" pitchFamily="34" charset="0"/>
                <a:ea typeface="メイリオ" pitchFamily="34" charset="-122"/>
                <a:cs typeface="メイリオ" pitchFamily="34" charset="-120"/>
              </a:rPr>
              <a:t>（筋弛緩薬あり）、麻酔単独死亡 1 万に </a:t>
            </a:r>
            <a:r>
              <a:rPr lang="ja-JP" altLang="en-US" sz="2400" b="1" dirty="0">
                <a:solidFill>
                  <a:srgbClr val="D55E00"/>
                </a:solidFill>
                <a:latin typeface="メイリオ" pitchFamily="34" charset="0"/>
                <a:ea typeface="メイリオ" pitchFamily="34" charset="-122"/>
                <a:cs typeface="メイリオ" pitchFamily="34" charset="-120"/>
              </a:rPr>
              <a:t>0.07〜0.21</a:t>
            </a:r>
            <a:endParaRPr lang="ja-JP" sz="2400" dirty="0"/>
          </a:p>
          <a:p>
            <a:pPr algn="l" marL="355600" indent="-355600">
              <a:spcAft>
                <a:spcPts val="30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能力は </a:t>
            </a:r>
            <a:r>
              <a:rPr lang="ja-JP" altLang="en-US" sz="2400" b="1" dirty="0">
                <a:solidFill>
                  <a:srgbClr val="0072B2"/>
                </a:solidFill>
                <a:latin typeface="メイリオ" pitchFamily="34" charset="0"/>
                <a:ea typeface="メイリオ" pitchFamily="34" charset="-122"/>
                <a:cs typeface="メイリオ" pitchFamily="34" charset="-120"/>
              </a:rPr>
              <a:t>4 要素</a:t>
            </a:r>
            <a:r>
              <a:rPr lang="ja-JP" altLang="en-US" sz="2400" dirty="0">
                <a:solidFill>
                  <a:srgbClr val="262626"/>
                </a:solidFill>
                <a:latin typeface="メイリオ" pitchFamily="34" charset="0"/>
                <a:ea typeface="メイリオ" pitchFamily="34" charset="-122"/>
                <a:cs typeface="メイリオ" pitchFamily="34" charset="-120"/>
              </a:rPr>
              <a:t>で決定ごと。18 歳で成人。未成年にも年齢相応に説明</a:t>
            </a:r>
            <a:endParaRPr lang="ja-JP" sz="2400" dirty="0"/>
          </a:p>
          <a:p>
            <a:pPr algn="l" marL="355600" indent="-355600">
              <a:spcAft>
                <a:spcPts val="30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署名は証拠にすぎない。</a:t>
            </a:r>
            <a:r>
              <a:rPr lang="ja-JP" altLang="en-US" sz="2400" b="1" dirty="0">
                <a:solidFill>
                  <a:srgbClr val="0072B2"/>
                </a:solidFill>
                <a:latin typeface="メイリオ" pitchFamily="34" charset="0"/>
                <a:ea typeface="メイリオ" pitchFamily="34" charset="-122"/>
                <a:cs typeface="メイリオ" pitchFamily="34" charset="-120"/>
              </a:rPr>
              <a:t>説明の中身と質問への答え</a:t>
            </a:r>
            <a:r>
              <a:rPr lang="ja-JP" altLang="en-US" sz="2400" dirty="0">
                <a:solidFill>
                  <a:srgbClr val="262626"/>
                </a:solidFill>
                <a:latin typeface="メイリオ" pitchFamily="34" charset="0"/>
                <a:ea typeface="メイリオ" pitchFamily="34" charset="-122"/>
                <a:cs typeface="メイリオ" pitchFamily="34" charset="-120"/>
              </a:rPr>
              <a:t>を記録する</a:t>
            </a:r>
            <a:endParaRPr lang="ja-JP"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メイリオ"/>
        <a:ea typeface="メイリオ"/>
        <a:cs typeface=""/>
        <a:font script="Jpan" typeface="メイリオ"/>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メイリオ"/>
        <a:ea typeface="メイリオ"/>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4-5 麻酔の説明と同意</dc:title>
  <dc:subject/>
  <dc:creator>Anes-lecture</dc:creator>
  <cp:lastModifiedBy>Anes-lecture</cp:lastModifiedBy>
  <cp:revision>1</cp:revision>
  <dcterms:created xsi:type="dcterms:W3CDTF">2026-10-15T17:20:28Z</dcterms:created>
  <dcterms:modified xsi:type="dcterms:W3CDTF">2026-10-15T17:20:28Z</dcterms:modified>
</cp:coreProperties>
</file>