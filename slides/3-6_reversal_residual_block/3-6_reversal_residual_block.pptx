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手術が終わっても筋弛緩が残っていると、抜管後に誤嚥や上気道閉塞、低酸素を起こす。この回では、残存筋弛緩がなぜ危険か、スガマデクスとネオスチグミンの仕組み・用量・限界、拮抗したあとに筋弛緩が戻る「再クラーレ化」、抜管前の手順を扱う。TOF の測り方は 2-6 で扱った。</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残存筋弛緩（residual neuromuscular block）は、筋弛緩薬の作用が十分に回復しないまま抜管・退室することで、定量的に TOF比 0.9 未満と定義される。</a:t>
            </a:r>
          </a:p>
          <a:p>
            <a:r>
              <a:rPr lang="ja-JP" altLang="en-US" dirty="0"/>
              <a:t>なぜ危険か: TOF比 0.9 未満では咽頭の筋の協調が落ちて嚥下が障害され、誤嚥、上気道閉塞、低酸素血症、術後肺合併症が増える（→ S3）。</a:t>
            </a:r>
          </a:p>
          <a:p>
            <a:r>
              <a:rPr lang="ja-JP" altLang="en-US" dirty="0"/>
              <a:t>臨床徴候の限界: 5 秒の頭部挙上、握力、舌圧子を噛む、などの臨床テストは TOF比 0.9 を保証しない。覚醒したボランティア 10 人の研究では、5 秒の頭部挙上ができるようになったのは TOF比が平均 0.60（0.45〜0.75）のときで、歯で舌圧子を強く噛めるようになったのは平均 0.85 を超えてからだった。TOF比 0.90 以下では全員に複視と、動くものを目で追いにくい症状があった（Kopman 1997）。触覚・視覚で TOF の減衰を見つけられるのは TOF比 0.4 程度までである（→ 2-6）。</a:t>
            </a:r>
          </a:p>
          <a:p>
            <a:r>
              <a:rPr lang="ja-JP" altLang="en-US" dirty="0"/>
              <a:t>頻度: 挿管量（ED95 の 2 倍）の筋弛緩薬を 1 回だけ使い、拮抗しなかった 526 例では、回復室到着時に TOF比 0.9 未満が 45%、0.7 未満が 16% だった。投与から 2 時間以上たった 239 例でも 37% が 0.9 未満だった。頭部挙上・舌圧子テストや、手で減衰を見る方法の感度は 11〜14% だった（Debaene 2003）。観察研究 58 件の系統的レビューでは、回復室到着時の TOF比 0.9 未満は中央値 30%（0〜90.5%）で、自然回復群 15〜89%、ネオスチグミン群 3.5〜90.5%、スガマデクス群 0〜16% だった（Raval 2020）。スガマデクスを使ってもゼロではない。スライドの 45% は「挿管量 1 回・拮抗なし」の 1 研究の値で、どの状況でも同じではない。</a:t>
            </a:r>
          </a:p>
          <a:p>
            <a:r>
              <a:rPr lang="ja-JP" altLang="en-US" dirty="0"/>
              <a:t>指針: 日本麻酔科学会「安全な麻酔のためのモニター指針」は 2025 年 8 月の改訂で、筋弛緩薬および拮抗薬を使用する際には筋弛緩の深さを定量的に評価し、抜管前に手の筋で TOF比 0.9 以上を確認することを推奨した。2019 年版は、筋弛緩薬と拮抗薬を使うときに筋弛緩の深さをモニターすることを求めるだけだった（英訳と解説: Suzuki 2026）。</a:t>
            </a:r>
          </a:p>
          <a:p>
            <a:r>
              <a:rPr lang="ja-JP" altLang="en-US" dirty="0"/>
              <a:t>参考: Thilen SR, et al. Anesthesiology 2023;138:13-41 / Raval AD, et al. J Clin Anesth 2020;66:109962 / Kopman AF, et al. Anesthesiology 1997;86:765-771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0.4: 視覚・触覚で減衰を感じ取れるのはここまで。これ以上は定量的モニターでしかわからない（→ 2-6）。</a:t>
            </a:r>
          </a:p>
          <a:p>
            <a:r>
              <a:rPr lang="ja-JP" altLang="en-US" dirty="0"/>
              <a:t>0.7: 1990 年代までは 0.7 が回復の基準とされ、換気量や頭部挙上はほぼ回復している（5 秒の頭部挙上は TOF比が平均 0.60 でできるようになる：Kopman 1997、→ S2）。しかし、健常ボランティア 14 人にベクロニウムを部分的に効かせた研究で、TOF比 0.6〜0.8 では上部食道括約筋の安静時の張力が下がり（筋の協調の低下は 0.6 で見られた）、14 人中 6 人が TOF比 0.9 未満で誤嚥（喉頭への侵入）した。0.9 を超えてからは誤嚥はなく、咽頭機能は母指の TOF比が 0.9 を超えるまで正常化しなかった（Eriksson ら、1997）。</a:t>
            </a:r>
          </a:p>
          <a:p>
            <a:r>
              <a:rPr lang="ja-JP" altLang="en-US" dirty="0"/>
              <a:t>0.9: 咽頭機能の障害（誤嚥）が見られなくなる水準で、現在の抜管の基準（Eriksson 1997）。低酸素への換気応答は TOF比 0.7 で落ちる（Eriksson 1992、1993）。0.9 は最低ラインなので、抜管後も呼吸と上気道を観察する。</a:t>
            </a:r>
          </a:p>
          <a:p>
            <a:r>
              <a:rPr lang="ja-JP" altLang="en-US" dirty="0"/>
              <a:t>1.0: 完全回復。加速度感度式（AMG）では基準値が 1.0 を超えることがあるため、正規化した値で判断する（→ 2-6）。</a:t>
            </a:r>
          </a:p>
          <a:p>
            <a:r>
              <a:rPr lang="ja-JP" altLang="en-US" dirty="0"/>
              <a:t>参考: Eriksson LI, et al. Acta Anaesthesiol Scand 1992;36:710-715 / Eriksson LI, et al. Anesthesiology 1993;78:693-699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用量（添付文書の原文）: 「通常、成人にはスガマデクスとして、浅い筋弛緩状態（筋弛緩モニターにおいて四連（TOF）刺激による2回目の収縮反応（T2）の再出現を確認した後）では1回2mg/kgを、深い筋弛緩状態（筋弛緩モニターにおいてポスト・テタニック・カウント（PTC）刺激による1～2回の単収縮反応（1-2 PTC）の出現を確認した後）では1回4mg/kgを静脈内投与する。また、ロクロニウム臭化物の挿管用量投与直後に緊急に筋弛緩状態からの回復を必要とする場合、通常、成人にはスガマデクスとして、ロクロニウム臭化物投与3分後を目安に1回16mg/kgを静脈内投与する。」（ブリディオン静注 電子添文 2023年11月改訂 第2版）【要確認: PMDA の電子添文 6. 用法及び用量 の原文と、句読点・「1-2 PTC」の空白の有無・改訂年月まで照合】 用量は深さで決めるので、投与前に必ず TOF か PTC を測る。</a:t>
            </a:r>
          </a:p>
          <a:p>
            <a:r>
              <a:rPr lang="ja-JP" altLang="en-US" dirty="0"/>
              <a:t>16 mg/kg はロクロニウムに限る: 「ベクロニウム臭化物の挿管用量投与直後に緊急に筋弛緩状態からの回復を必要とする場合の本剤の有効性及び安全性は確立していない」（用法及び用量に関連する注意 7.2。2-6 と同じ）。</a:t>
            </a:r>
          </a:p>
          <a:p>
            <a:r>
              <a:rPr lang="ja-JP" altLang="en-US" dirty="0"/>
              <a:t>「浅い」の意味: 添付文書の「浅い筋弛緩状態」は T2 再出現後のすべてを指し、ASA 2023 の分類でいう中等度（TOF 2〜3）から浅い・最小までを含む。ASA の「浅い（shallow）」は TOF カウント 4 で TOF比 0.4 未満の状態で、意味が違う（→ S6、2-6）。混同を避けるため、スライドでは深さの言葉を使わず T2・PTC で書いた。</a:t>
            </a:r>
          </a:p>
          <a:p>
            <a:r>
              <a:rPr lang="ja-JP" altLang="en-US" dirty="0"/>
              <a:t>体重: 実体重で計算する。国内電子添文には体重の種類の指定がない【要確認: ブリディオン静注 電子添文 6・7 項に実体重・理想体重の指定がないこと】。文献（添付文書ではない）: BMI 40 以上の RCT（188 例）では、実体重で計算した方が理想体重より 1.5 分早く回復し、再クラーレ化は理想体重 2 mg/kg 群とネオスチグミン群で各 1 例だった（Horrow 2021）。</a:t>
            </a:r>
          </a:p>
          <a:p>
            <a:r>
              <a:rPr lang="ja-JP" altLang="en-US" dirty="0"/>
              <a:t>仕組み: 環状のオリゴ糖（γ-シクロデキストリン）で、ロクロニウムやベクロニウムの分子を 1:1 で包み込み、血中の遊離した薬を減らす。神経筋接合部から薬が血中に戻り、数分で回復する。スキサメトニウムやベンジルイソキノリン系には効かない。</a:t>
            </a:r>
          </a:p>
          <a:p>
            <a:r>
              <a:rPr lang="ja-JP" altLang="en-US" dirty="0"/>
              <a:t>用量不足: 深い遮断に 2 mg/kg しか入れない、総量の多いロクロニウムに対して少ない、などの用量不足で再クラーレ化が起こる（→ S7）。</a:t>
            </a:r>
          </a:p>
          <a:p>
            <a:r>
              <a:rPr lang="ja-JP" altLang="en-US" dirty="0"/>
              <a:t>腎機能: スガマデクスとロクロニウムの複合体は腎から排泄される。重度の腎機能障害（CLcr 30 mL/分未満）では複合体が長く体に残り、7 日後も血漿中に検出された。TOF比 0.9 までは中央値 3.1 分（腎機能が正常な対照は 1.9 分）だった（Panhuizen 2015）。この集団での安全性のデータは少なく、米国・欧州の添付文書は使用を推奨していない。国内の扱いは添付文書の 9.2（腎機能障害患者）に従う【要確認: ブリディオン静注 電子添文 9.2 腎機能障害患者 の原文（PMDA）。3-1・S7・S9 と同じ記載】。</a:t>
            </a:r>
          </a:p>
          <a:p>
            <a:r>
              <a:rPr lang="ja-JP" altLang="en-US" dirty="0"/>
              <a:t>アナフィラキシー: 国内の前向き研究（JESPA、全身麻酔 218,936 例）で、周術期アナフィラキシーの原因薬の上位だった（スガマデクスは 150,629 例中 7 例で 0.005%。ロクロニウムは 210,852 例中 10 例で 0.005%、セファゾリンは 106,005 例中 7 例で 0.007%：Takazawa 2023）。手術の終わりに入れる薬なので、投与後の血圧低下・気道症状・皮疹に注意する。</a:t>
            </a:r>
          </a:p>
          <a:p>
            <a:r>
              <a:rPr lang="ja-JP" altLang="en-US" dirty="0"/>
              <a:t>徐脈: 投与直後の高度徐脈や心停止の報告がある（Hunter &amp; Naguib 2018）。投与後は心電図と血圧を見続け、アトロピンを用意する。【要確認: ブリディオン静注 電子添文 11.1 重大な副作用 の記載（心室細動・心室頻拍・心停止・高度徐脈など）の原文】</a:t>
            </a:r>
          </a:p>
          <a:p>
            <a:r>
              <a:rPr lang="ja-JP" altLang="en-US" dirty="0"/>
              <a:t>相互作用: ホルモン避妊薬（プロゲストゲン）と結合して効果を弱めるおそれがある。数値は書かない。【要確認: ブリディオン静注 電子添文 10. 相互作用 と 8. 重要な基本的注意 で経口避妊薬の扱いの原文】</a:t>
            </a:r>
          </a:p>
          <a:p>
            <a:r>
              <a:rPr lang="ja-JP" altLang="en-US" dirty="0"/>
              <a:t>再び筋弛緩が必要なとき: スガマデクスの投与後に筋弛緩薬を再投与すると、作用の発現が遅れるおそれがある【要確認: ブリディオン静注 電子添文 8. 重要な基本的注意 に再投与の記載があるか、その原文】。文献（添付文書ではない）: ロクロニウムでは、スガマデクスの 3 時間以上あとなら 0.6 mg/kg で 3 分以内に筋弛緩が得られたが、2 時間以内では 0.9〜1.2 mg/kg が必要だった。確実に早く効かせたいときは 1.2 mg/kg 以上を使う（Iwasaki 2017）。欧州の SmPC は 24 時間以内の再筋弛緩にベンジルイソキノリン系か脱分極性の筋弛緩薬を勧めているが、国内ではベンジルイソキノリン系が使えないので、スキサメトニウムかロクロニウムの増量で対応する。</a:t>
            </a:r>
          </a:p>
          <a:p>
            <a:r>
              <a:rPr lang="ja-JP" altLang="en-US" dirty="0"/>
              <a:t>参考: 日本麻酔科学会「麻酔薬および麻酔関連薬使用ガイドライン 第4版」Ⅵ（2025） / Horrow JC, et al. BMC Anesthesiol 2021;21:62 / Iwasaki H, et al. BMC Anesthesiol 2017;17:140 / Hunter JM, Naguib M. Br J Anaesth 2018;121:8-12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用量（添付文書）: 「通常、成人にはネオスチグミンメチル硫酸塩として1回0.5～2.0mgを緩徐に静脈内注射する。」非脱分極性筋弛緩薬の作用の拮抗では、筋弛緩モニターによる回復又は自発呼吸の発現を確認した後に投与し、特別な場合を除き 5 mg を超えない。過度のコリン作動性反応を防ぐため、アトロピン硫酸塩水和物 1 回 0.25〜1.0 mg を静脈内注射で併用する（ワゴスチグミン注 電子添文 2024年12月改訂 第2版）。体重あたりの量の記載はない。【要確認: PMDA の電子添文（ワゴスチグミン注）6. 用法及び用量・7.1 の原文で、「特別な場合を除き5mg」の言い回し、アトロピン 1 回 0.25〜1.0 mg の記載、改訂年月を一字一句照合】</a:t>
            </a:r>
          </a:p>
          <a:p>
            <a:r>
              <a:rPr lang="ja-JP" altLang="en-US" dirty="0"/>
              <a:t>添付文書外の目安（海外の総説）: 初回 0.03〜0.07 mg/kg、上限は 0.07 mg/kg か総量 5 mg の少ない方で、よく使われる量は 0.04 mg/kg（Szewczyk 2025）。体重で計算すると添付文書の 1 回量を超えることがある（60 kg なら 1.8〜4.2 mg）。スライドには体重あたりの量を載せない。</a:t>
            </a:r>
          </a:p>
          <a:p>
            <a:r>
              <a:rPr lang="ja-JP" altLang="en-US" dirty="0"/>
              <a:t>禁忌: ネオスチグミンは消化管・尿路の器質的閉塞、迷走神経緊張症など、併用するアトロピンは緑内障、前立腺肥大による排尿障害、麻痺性イレウスなどが禁忌である【要確認: ワゴスチグミン注・アトロピン硫酸塩注の電子添文 2. 禁忌 の原文】。投与前に既往を確かめる。</a:t>
            </a:r>
          </a:p>
          <a:p>
            <a:r>
              <a:rPr lang="ja-JP" altLang="en-US" dirty="0"/>
              <a:t>仕組み: アセチルコリンエステラーゼを阻害して接合部のアセチルコリンを増やし、競合に勝たせる。酵素の阻害が最大になると、それ以上入れても効果は増えない（天井効果）。</a:t>
            </a:r>
          </a:p>
          <a:p>
            <a:r>
              <a:rPr lang="ja-JP" altLang="en-US" dirty="0"/>
              <a:t>限界: 深い遮断（TOF カウント 0）には効かず、TOF カウント 1 でも遅く不確実（→ S6）。TOF カウント 4 で、できれば TOF比 0.4 以上になってから使う。効果の発現は遅く、最大効果は約 7〜10 分（Szewczyk 2025）。T2 が再び出てから拮抗した場合、TOF比 0.9 までの平均はネオスチグミン 0.05 mg/kg で 12.87 分、スガマデクス 2 mg/kg で 1.96 分だった。深い遮断（PTC 1〜5）では、ネオスチグミン 0.07 mg/kg で平均 48.8 分、スガマデクス 4 mg/kg で 2.9 分だった（Hristovska 2017、Cochrane）。</a:t>
            </a:r>
          </a:p>
          <a:p>
            <a:r>
              <a:rPr lang="ja-JP" altLang="en-US" dirty="0"/>
              <a:t>副作用: ムスカリン作用（徐脈、房室ブロック、分泌増加、気管支攣縮、腸蠕動亢進）が出るのでアトロピンを併用する。PONV を増やすかははっきりしない（抗コリン薬と併用したメタ解析では有意な増加なし：Cheng 2005。スガマデクスとの比較ではネオスチグミンの方が多かった：RR 0.52、根拠の質は低い：Hristovska 2017）。</a:t>
            </a:r>
          </a:p>
          <a:p>
            <a:r>
              <a:rPr lang="ja-JP" altLang="en-US" dirty="0"/>
              <a:t>心拍数の変化: アトロピンはネオスチグミンより早く効くので、投与直後は頻脈になる。そのあとネオスチグミンのムスカリン作用が勝ち、徐脈になることがある。ネオスチグミン 50 µg/kg にアトロピン 20 µg/kg を混ぜて投与すると、初めに心拍数が上がり、約 3 分の 1 の患者で心拍数 50/分以下の徐脈が出て、アトロピンの追加が必要だった（Mirakhur 1981）。投与後は心拍数を見続ける。</a:t>
            </a:r>
          </a:p>
          <a:p>
            <a:r>
              <a:rPr lang="ja-JP" altLang="en-US" dirty="0"/>
              <a:t>参考: Hristovska AM, et al. Cochrane Database Syst Rev 2017;8:CD012763 / Cheng CR, et al. Anesth Analg 2005;101:1349-1355 / Mirakhur RK, et al. Anesth Analg 1981;60:557-562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ASA 2023 ガイドライン: ロクロニウム・ベクロニウムによる深い・中等度・浅い遮断の拮抗にはネオスチグミンよりスガマデクスを推奨し（強い推奨）、ネオスチグミンは最小の遮断（TOF比 0.4〜0.9 未満）での選択肢とした（条件付き推奨）。表の深さの言葉は ASA 2023 の分類で、添付文書の「浅い筋弛緩状態」（T2 再出現後）とは意味が違う（→ S4、2-6）。</a:t>
            </a:r>
          </a:p>
          <a:p>
            <a:r>
              <a:rPr lang="ja-JP" altLang="en-US" dirty="0"/>
              <a:t>回復していれば: 定量的モニターで TOF比 0.9 以上（正規化後）を確認できていれば、拮抗薬を追加する必要はない。</a:t>
            </a:r>
          </a:p>
          <a:p>
            <a:r>
              <a:rPr lang="ja-JP" altLang="en-US" dirty="0"/>
              <a:t>国内の添付文書: TOF カウント 2〜3 は T2 が再出現しているので 2 mg/kg の区分に入る。TOF カウント 1 は T2 がまだ出ていないので 2 mg/kg の区分に入らない。T2 が出るまで待つか、深い筋弛緩として 4 mg/kg を使う（文言上は「1-2 PTC の出現を確認した後」の 4 mg/kg の区分に当たる。施設の方針に従う。→ 2-6）。モニターで確認できない場合は、十分な自発呼吸の発現を確認した後なら 2 mg/kg、確認する前（ロクロニウム）なら 4 mg/kg とし、回復が遅れることがあるので十分に観察する（用法及び用量に関連する注意 7.1）【要確認: ブリディオン静注 電子添文 7.1 の原文】。ただし、モニターなしで量を決めることは勧めない（→ S8）。</a:t>
            </a:r>
          </a:p>
          <a:p>
            <a:r>
              <a:rPr lang="ja-JP" altLang="en-US" dirty="0"/>
              <a:t>ネオスチグミン: 費用が安く、腎不全でも使えるが、効くまで時間がかかり、深い遮断には効かない。TOF カウント 1 で投与しても、TOF比 0.9 まで中央値 22 分かかり、30 分後も 21% が 0.9 以下だった（シスアトラクリウムでの研究：Kirkegaard 2002）。ESAIC 2023 は、TOF比 0.2 を超えるまで自然回復してからネオスチグミンを始め、0.9 を超えるまで定量的にモニターを続けるよう推奨している。使うなら TOF カウント 4 以上を確かめ、アトロピンを併用し、必ず定量的モニターで 0.9 以上を確認する。TOF比が 1.0 まで回復してから入れると、オトガイ舌筋の働きが落ちて上気道がかえって虚脱しやすくなった（健常ボランティアの研究：Herbstreit 2010）。回復している患者に「念のため」入れない。</a:t>
            </a:r>
          </a:p>
          <a:p>
            <a:r>
              <a:rPr lang="ja-JP" altLang="en-US" dirty="0"/>
              <a:t>どちらでも: 拮抗薬を入れたら終わりではなく、TOF比 0.9 以上を定量的に確認してから抜管する。</a:t>
            </a:r>
          </a:p>
          <a:p>
            <a:r>
              <a:rPr lang="ja-JP" altLang="en-US" dirty="0"/>
              <a:t>参考: ワゴスチグミン注 添付文書 / Kirkegaard H, et al. Anesthesiology 2002;96:45-50 / Herbstreit F, et al. Anesthesiology 2010;113:1280-1288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拮抗していったん回復した筋弛緩が、再び深くなること。スガマデクスの用量が筋弛緩薬の量に対して不足していると、血中に戻ってきたロクロニウムを包みきれず、数十分後に再び遮断が深くなる。深い遮断（PTC 1〜2）に 2 mg/kg しか入れなかった場合が典型。</a:t>
            </a:r>
          </a:p>
          <a:p>
            <a:r>
              <a:rPr lang="ja-JP" altLang="en-US" dirty="0"/>
              <a:t>ネオスチグミン: 深い遮断に対して大量に入れても、天井効果で回復は不十分で、見かけ上回復したように見えても再び深くなる。</a:t>
            </a:r>
          </a:p>
          <a:p>
            <a:r>
              <a:rPr lang="ja-JP" altLang="en-US" dirty="0"/>
              <a:t>腎機能障害: 重度の腎機能障害（CLcr 30 mL/分未満）では、スガマデクスとロクロニウムの複合体の排泄が遅れ、7 日後も血漿中に残る（Panhuizen 2015）。末期腎不全のメタ解析では TOF比 0.9 までの時間が平均 1.14 分長く、スガマデクスの血漿クリアランスも低かったが、筋弛緩の再発の頻度に差はなかった（Kim 2021、9 研究 655 例）。重度の腎機能障害そのものが再クラーレ化を起こすとは言えない。米国・欧州の添付文書は使用を推奨していない。国内の扱いは添付文書の 9.2（腎機能障害患者）に従う【要確認: ブリディオン静注 電子添文 9.2 腎機能障害患者 の原文（PMDA）。3-1・S4・S9 と同じ記載】。</a:t>
            </a:r>
          </a:p>
          <a:p>
            <a:r>
              <a:rPr lang="ja-JP" altLang="en-US" dirty="0"/>
              <a:t>少なめの量と高齢者: 深い遮断の高齢者（平均 77 歳）と非高齢者に少量のスガマデクスを持続投与した研究では、高齢者の方が回復が遅く、再クラーレ化が多かった（35% 対 5%）。腎機能の低下と自然回復の遅さが、少量のスガマデクスへの反応を遅らせる主な因子だった（Muramatsu 2018）。高齢者や腎機能が落ちた患者では、量を減らさず、測った深さどおりに入れる。</a:t>
            </a:r>
          </a:p>
          <a:p>
            <a:r>
              <a:rPr lang="ja-JP" altLang="en-US" dirty="0"/>
              <a:t>気づき方: 抜管後や病棟で、呼吸が浅い、SpO2 が下がる、上気道が閉塞する、話せない・飲み込めない。残存筋弛緩を疑ったら TOF を測り直す。</a:t>
            </a:r>
          </a:p>
          <a:p>
            <a:r>
              <a:rPr lang="ja-JP" altLang="en-US" dirty="0"/>
              <a:t>対応: 換気を補助し、TOF・PTC を測り直したうえでスガマデクスを追加する（量は測った深さで決める）。追加後も筋弛緩が戻らないか観察を続ける。【要確認: ブリディオン静注 電子添文に、再発時の再投与の用量の記載があるか（記載がなければ用量は書かない）】</a:t>
            </a:r>
          </a:p>
          <a:p>
            <a:r>
              <a:rPr lang="ja-JP" altLang="en-US" dirty="0"/>
              <a:t>予防: 深さを測ってから用量を決める。抜管前の TOF比 0.9 以上を定量的に確認し、抜管後も観察する。</a:t>
            </a:r>
          </a:p>
          <a:p>
            <a:r>
              <a:rPr lang="ja-JP" altLang="en-US" dirty="0"/>
              <a:t>参考: 日本麻酔科学会「麻酔薬および麻酔関連薬使用ガイドライン 第4版」Ⅵ（2025） / Panhuizen IF, et al. Br J Anaesth 2015;114:777-784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手順は 5 段階。(1) 手術終了が近づいたら TOF（反応がなければ PTC）で深さを測る。(2) 深さで用量を決める（PTC 1〜2 なら 4 mg/kg、T2 再出現なら 2 mg/kg、TOF カウント 1 なら T2 まで待つか 4 mg/kg、TOF比 0.9 以上なら不要。→ S6）。(3) 投与する。(4) 定量的モニターで TOF比 0.9 以上（正規化後）を確認する（JSA 2025 の推奨）。(5) 意識、自発呼吸、気道反射が戻っていることと合わせて抜管する（→ 5-1）。</a:t>
            </a:r>
          </a:p>
          <a:p>
            <a:r>
              <a:rPr lang="ja-JP" altLang="en-US" dirty="0"/>
              <a:t>よくある誤り: 「時間が経ったから」「体を動かしたから」で抜管する（挿管量 1 回・拮抗なしでも、投与から 2 時間以上たった例の 37% が回復室で TOF比 0.9 未満だった：Debaene 2003）。拮抗薬を入れた直後に、回復を確認せずに抜管する。モニターを付けずに拮抗薬の量を「いつもの量」で決める。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高齢者: ロクロニウムの作用時間が延びる（70 歳超では血漿クリアランスが 3.67 対 5.03 mL/kg/分と低い：Matteo 1993）。少量のスガマデクスでは回復が遅く、再クラーレ化が多い（35% 対 5%：Muramatsu 2018、→ S7）。</a:t>
            </a:r>
          </a:p>
          <a:p>
            <a:r>
              <a:rPr lang="ja-JP" altLang="en-US" dirty="0"/>
              <a:t>肝・腎: ロクロニウムは主に未変化体のまま肝から胆汁へ排泄され、約 30% は腎から排泄される（Szewczyk 2025）【要確認: エスラックス静注 電子添文 16.5 排泄 の尿中排泄率】。そのため肝機能障害で作用が長引く（とくに肝硬変）。腎機能障害でもロクロニウムの作用は延びる。重度の腎機能障害（CLcr 30 mL/分未満）では、スガマデクスとロクロニウムの複合体の排泄が遅れ、7 日後も血漿中に残る（Panhuizen 2015）。米国・欧州の添付文書は使用を推奨しておらず、国内の扱いは添付文書の 9.2（腎機能障害患者）に従う【要確認: ブリディオン静注 電子添文 9.2 の原文。3-1・S4・S7 と同じ記載】。</a:t>
            </a:r>
          </a:p>
          <a:p>
            <a:r>
              <a:rPr lang="ja-JP" altLang="en-US" dirty="0"/>
              <a:t>低体温: 中心温を約 34.5℃（約 2℃ の低下）にした患者では、ベクロニウムの作用時間が 28 分から 62 分に延び、自然回復にかかる時間も約 2 倍になった（Heier 1991）。モニターする手が冷えると単収縮（T1）が小さく出て、遮断が実際より深く見える。片腕だけを皮膚温 27℃ に冷やした研究では、冷えた側の作用時間が長く（26.4 分 対 16.5 分）、PTC も深さを正しく反映しなかった（Eriksson 1991）。手を覆って温めて測る（→ 2-6、10 章）。</a:t>
            </a:r>
          </a:p>
          <a:p>
            <a:r>
              <a:rPr lang="ja-JP" altLang="en-US" dirty="0"/>
              <a:t>併用薬: 揮発性麻酔薬は遮断を増強する（セボフルラン 1.75% でロクロニウムの ED50 が約 30% 下がった：Xue 1998）。マグネシウム（子癇前症、不整脈。硫酸マグネシウム 60 mg/kg の前投与で TOF比 0.9 までの回復時間が約 25% 延びた：Czarnetzki 2010）と、アミノグリコシド系抗菌薬（ゲンタマイシン 4 mg/kg の術前投与でベクロニウムの作用が延びた：Dotan 2003）も増強する。</a:t>
            </a:r>
          </a:p>
          <a:p>
            <a:r>
              <a:rPr lang="ja-JP" altLang="en-US" dirty="0"/>
              <a:t>量: 追加が多い、持続投与していた場合は回復に時間がかかり、拮抗薬の量も多く必要になる。</a:t>
            </a:r>
          </a:p>
          <a:p>
            <a:r>
              <a:rPr lang="ja-JP" altLang="en-US" dirty="0"/>
              <a:t>神経筋疾患: 重症筋無力症では非脱分極性筋弛緩薬に過敏で、少量でも深く効く。術前評価で把握し、少量から、必ず定量的モニターで管理する（→ 4 章）。</a:t>
            </a:r>
          </a:p>
          <a:p>
            <a:r>
              <a:rPr lang="ja-JP" altLang="en-US" dirty="0"/>
              <a:t>参考: 日本麻酔科学会「麻酔薬および麻酔関連薬使用ガイドライン 第4版」Ⅵ（2025） / Matteo RS, et al. Anesth Analg 1993;77:1193-1197 / Eriksson LI, et al. Acta Anaesthesiol Scand 1991;35:387-392 / Xue FS, et al. Anaesthesia 1998;53:25-30 / Czarnetzki C, et al. Acta Anaesthesiol Scand 2010;54:299-306 / Dotan ZA, et al. Anesth Analg 2003;96:750-754 / Szewczyk M, et al. Int J Gen Med 2025;18:3651-3688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分）。残存筋弛緩の定義と害、2 つの拮抗薬の用量と限界、再クラーレ化の予防、抜管前の手順。拮抗薬は「入れたら終わり」ではなく、定量的に 0.9 以上を確認するまでが仕事。次は 7 章（気道）と 5-1（抜管基準）につながる。</a:t>
            </a:r>
          </a:p>
          <a:p>
            <a:r>
              <a:rPr lang="ja-JP" altLang="en-US" dirty="0"/>
              <a:t>ネオスチグミン: 最小の遮断（TOF比 0.4〜0.9 未満。手や目では減衰がわからない段階）に限るのは ASA 2023 の推奨（条件付き）。深い・中等度・浅い遮断では、スガマデクスがネオスチグミンより強く推奨されている（→ S6）。添付文書（ワゴスチグミン注）の条件は、筋弛緩モニターによる回復又は自発呼吸の発現を確認した後に投与すること、特別な場合を除き 5 mg を超えないこと、アトロピン硫酸塩水和物 1 回 0.25〜1.0 mg を静注で併用すること（→ S5）。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筋弛緩の拮抗と残存筋弛緩</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3-6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残存筋弛緩とは</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 / Suzuki T,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 Anesth 2026;40:173-181 / Debaene B, et al. Anesthesiology 2003;98:1042-1048</a:t>
            </a:r>
            <a:endParaRPr lang="ja-JP" sz="1600" dirty="0"/>
          </a:p>
        </p:txBody>
      </p:sp>
      <p:sp>
        <p:nvSpPr>
          <p:cNvPr id="11" name="Text 9"/>
          <p:cNvSpPr txBox="1"/>
          <p:nvPr/>
        </p:nvSpPr>
        <p:spPr>
          <a:xfrm>
            <a:off x="502920" y="1755648"/>
            <a:ext cx="11155680" cy="2441448"/>
          </a:xfrm>
          <a:prstGeom prst="rect">
            <a:avLst/>
          </a:prstGeom>
          <a:noFill/>
          <a:ln/>
        </p:spPr>
        <p:txBody>
          <a:bodyPr wrap="square" lIns="0" tIns="0" rIns="0" bIns="0" rtlCol="0" anchor="t"/>
          <a:lstStyle/>
          <a:p>
            <a:pPr algn="l" marL="355600" indent="-355600">
              <a:spcAft>
                <a:spcPts val="16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TOF比 0.9 未満</a:t>
            </a:r>
            <a:r>
              <a:rPr lang="ja-JP" altLang="en-US" sz="2400" dirty="0">
                <a:solidFill>
                  <a:srgbClr val="262626"/>
                </a:solidFill>
                <a:latin typeface="メイリオ" pitchFamily="34" charset="0"/>
                <a:ea typeface="メイリオ" pitchFamily="34" charset="-122"/>
                <a:cs typeface="メイリオ" pitchFamily="34" charset="-120"/>
              </a:rPr>
              <a:t>で手術室を出る状態</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咽頭の筋が弱く、誤嚥・上気道閉塞・低酸素を起こす</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頭を 5 秒上げられても TOF比 0.9 とは限らない</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拮抗しないと、挿管量 1 回でも回復室で </a:t>
            </a:r>
            <a:r>
              <a:rPr lang="ja-JP" altLang="en-US" sz="2400" b="1" dirty="0">
                <a:solidFill>
                  <a:srgbClr val="D55E00"/>
                </a:solidFill>
                <a:latin typeface="メイリオ" pitchFamily="34" charset="0"/>
                <a:ea typeface="メイリオ" pitchFamily="34" charset="-122"/>
                <a:cs typeface="メイリオ" pitchFamily="34" charset="-120"/>
              </a:rPr>
              <a:t>45%</a:t>
            </a:r>
            <a:r>
              <a:rPr lang="ja-JP" altLang="en-US" sz="2400" dirty="0">
                <a:solidFill>
                  <a:srgbClr val="262626"/>
                </a:solidFill>
                <a:latin typeface="メイリオ" pitchFamily="34" charset="0"/>
                <a:ea typeface="メイリオ" pitchFamily="34" charset="-122"/>
                <a:cs typeface="メイリオ" pitchFamily="34" charset="-120"/>
              </a:rPr>
              <a:t> に残る</a:t>
            </a:r>
            <a:endParaRPr lang="ja-JP" sz="2400" dirty="0"/>
          </a:p>
        </p:txBody>
      </p:sp>
      <p:sp>
        <p:nvSpPr>
          <p:cNvPr id="12" name="Text 10"/>
          <p:cNvSpPr/>
          <p:nvPr/>
        </p:nvSpPr>
        <p:spPr>
          <a:xfrm>
            <a:off x="502920" y="4572000"/>
            <a:ext cx="11183112" cy="1152144"/>
          </a:xfrm>
          <a:prstGeom prst="roundRect">
            <a:avLst>
              <a:gd name="adj" fmla="val 6349"/>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定量モニターで </a:t>
            </a:r>
            <a:r>
              <a:rPr lang="ja-JP" altLang="en-US" sz="2800" b="1" dirty="0">
                <a:solidFill>
                  <a:srgbClr val="D55E00"/>
                </a:solidFill>
                <a:latin typeface="メイリオ" pitchFamily="34" charset="0"/>
                <a:ea typeface="メイリオ" pitchFamily="34" charset="-122"/>
                <a:cs typeface="メイリオ" pitchFamily="34" charset="-120"/>
              </a:rPr>
              <a:t>TOF比 0.9 以上</a:t>
            </a:r>
            <a:r>
              <a:rPr lang="ja-JP" altLang="en-US" sz="2800" b="1" dirty="0">
                <a:solidFill>
                  <a:srgbClr val="262626"/>
                </a:solidFill>
                <a:latin typeface="メイリオ" pitchFamily="34" charset="0"/>
                <a:ea typeface="メイリオ" pitchFamily="34" charset="-122"/>
                <a:cs typeface="メイリオ" pitchFamily="34" charset="-120"/>
              </a:rPr>
              <a:t>を確認して抜管</a:t>
            </a:r>
            <a:endParaRPr lang="ja-JP" sz="28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（JSA 2025 推奨）</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なぜ 0.9 なのか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Eriksson LI, et al. Anesthesiology 1997;87:1035-1043 / Kopman AF,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1997;86:765-771 / Thilen SR, et al. Anesthesiology 2023;138:13-41</a:t>
            </a:r>
            <a:endParaRPr lang="ja-JP" sz="1600" dirty="0"/>
          </a:p>
        </p:txBody>
      </p:sp>
      <p:sp>
        <p:nvSpPr>
          <p:cNvPr id="11" name="Text 9"/>
          <p:cNvSpPr txBox="1"/>
          <p:nvPr/>
        </p:nvSpPr>
        <p:spPr>
          <a:xfrm>
            <a:off x="502920" y="1925955"/>
            <a:ext cx="2103120" cy="539496"/>
          </a:xfrm>
          <a:prstGeom prst="rect">
            <a:avLst/>
          </a:prstGeom>
          <a:noFill/>
          <a:ln/>
        </p:spPr>
        <p:txBody>
          <a:bodyPr wrap="square" lIns="0" tIns="0" rIns="0" bIns="0" rtlCol="0" anchor="t"/>
          <a:lstStyle/>
          <a:p>
            <a:pPr algn="r" indent="0" marL="0">
              <a:buNone/>
            </a:pPr>
            <a:r>
              <a:rPr lang="ja-JP" altLang="en-US" sz="2800" b="1" dirty="0">
                <a:solidFill>
                  <a:srgbClr val="262626"/>
                </a:solidFill>
                <a:latin typeface="メイリオ" pitchFamily="34" charset="0"/>
                <a:ea typeface="メイリオ" pitchFamily="34" charset="-122"/>
                <a:cs typeface="メイリオ" pitchFamily="34" charset="-120"/>
              </a:rPr>
              <a:t>TOF比 0.4</a:t>
            </a:r>
            <a:endParaRPr lang="ja-JP" sz="2800" dirty="0"/>
          </a:p>
        </p:txBody>
      </p:sp>
      <p:sp>
        <p:nvSpPr>
          <p:cNvPr id="12" name="Text 10"/>
          <p:cNvSpPr txBox="1"/>
          <p:nvPr/>
        </p:nvSpPr>
        <p:spPr>
          <a:xfrm>
            <a:off x="502920" y="2934081"/>
            <a:ext cx="2103120" cy="539496"/>
          </a:xfrm>
          <a:prstGeom prst="rect">
            <a:avLst/>
          </a:prstGeom>
          <a:noFill/>
          <a:ln/>
        </p:spPr>
        <p:txBody>
          <a:bodyPr wrap="square" lIns="0" tIns="0" rIns="0" bIns="0" rtlCol="0" anchor="t"/>
          <a:lstStyle/>
          <a:p>
            <a:pPr algn="r" indent="0" marL="0">
              <a:buNone/>
            </a:pPr>
            <a:r>
              <a:rPr lang="ja-JP" altLang="en-US" sz="2800" b="1" dirty="0">
                <a:solidFill>
                  <a:srgbClr val="262626"/>
                </a:solidFill>
                <a:latin typeface="メイリオ" pitchFamily="34" charset="0"/>
                <a:ea typeface="メイリオ" pitchFamily="34" charset="-122"/>
                <a:cs typeface="メイリオ" pitchFamily="34" charset="-120"/>
              </a:rPr>
              <a:t>0.7</a:t>
            </a:r>
            <a:endParaRPr lang="ja-JP" sz="2800" dirty="0"/>
          </a:p>
        </p:txBody>
      </p:sp>
      <p:sp>
        <p:nvSpPr>
          <p:cNvPr id="13" name="Text 11"/>
          <p:cNvSpPr txBox="1"/>
          <p:nvPr/>
        </p:nvSpPr>
        <p:spPr>
          <a:xfrm>
            <a:off x="502920" y="3942207"/>
            <a:ext cx="2103120" cy="539496"/>
          </a:xfrm>
          <a:prstGeom prst="rect">
            <a:avLst/>
          </a:prstGeom>
          <a:noFill/>
          <a:ln/>
        </p:spPr>
        <p:txBody>
          <a:bodyPr wrap="square" lIns="0" tIns="0" rIns="0" bIns="0" rtlCol="0" anchor="t"/>
          <a:lstStyle/>
          <a:p>
            <a:pPr algn="r" indent="0" marL="0">
              <a:buNone/>
            </a:pPr>
            <a:r>
              <a:rPr lang="ja-JP" altLang="en-US" sz="2800" b="1" dirty="0">
                <a:solidFill>
                  <a:srgbClr val="00A8AA"/>
                </a:solidFill>
                <a:latin typeface="メイリオ" pitchFamily="34" charset="0"/>
                <a:ea typeface="メイリオ" pitchFamily="34" charset="-122"/>
                <a:cs typeface="メイリオ" pitchFamily="34" charset="-120"/>
              </a:rPr>
              <a:t>0.9</a:t>
            </a:r>
            <a:endParaRPr lang="ja-JP" sz="2800" dirty="0"/>
          </a:p>
        </p:txBody>
      </p:sp>
      <p:sp>
        <p:nvSpPr>
          <p:cNvPr id="14" name="Text 12"/>
          <p:cNvSpPr txBox="1"/>
          <p:nvPr/>
        </p:nvSpPr>
        <p:spPr>
          <a:xfrm>
            <a:off x="502920" y="4950333"/>
            <a:ext cx="2103120" cy="539496"/>
          </a:xfrm>
          <a:prstGeom prst="rect">
            <a:avLst/>
          </a:prstGeom>
          <a:noFill/>
          <a:ln/>
        </p:spPr>
        <p:txBody>
          <a:bodyPr wrap="square" lIns="0" tIns="0" rIns="0" bIns="0" rtlCol="0" anchor="t"/>
          <a:lstStyle/>
          <a:p>
            <a:pPr algn="r" indent="0" marL="0">
              <a:buNone/>
            </a:pPr>
            <a:r>
              <a:rPr lang="ja-JP" altLang="en-US" sz="2800" b="1" dirty="0">
                <a:solidFill>
                  <a:srgbClr val="262626"/>
                </a:solidFill>
                <a:latin typeface="メイリオ" pitchFamily="34" charset="0"/>
                <a:ea typeface="メイリオ" pitchFamily="34" charset="-122"/>
                <a:cs typeface="メイリオ" pitchFamily="34" charset="-120"/>
              </a:rPr>
              <a:t>1.0</a:t>
            </a:r>
            <a:endParaRPr lang="ja-JP" sz="2800" dirty="0"/>
          </a:p>
        </p:txBody>
      </p:sp>
      <p:sp>
        <p:nvSpPr>
          <p:cNvPr id="15" name="Shape 13"/>
          <p:cNvSpPr/>
          <p:nvPr/>
        </p:nvSpPr>
        <p:spPr>
          <a:xfrm>
            <a:off x="2880360" y="1691640"/>
            <a:ext cx="731520" cy="1008126"/>
          </a:xfrm>
          <a:prstGeom prst="rect">
            <a:avLst/>
          </a:prstGeom>
          <a:solidFill>
            <a:srgbClr val="D55E00"/>
          </a:solidFill>
          <a:ln w="25400">
            <a:solidFill>
              <a:srgbClr val="FFFFFF"/>
            </a:solidFill>
            <a:prstDash val="solid"/>
          </a:ln>
        </p:spPr>
      </p:sp>
      <p:sp>
        <p:nvSpPr>
          <p:cNvPr id="16" name="Shape 14"/>
          <p:cNvSpPr/>
          <p:nvPr/>
        </p:nvSpPr>
        <p:spPr>
          <a:xfrm>
            <a:off x="2880360" y="2699766"/>
            <a:ext cx="731520" cy="1008126"/>
          </a:xfrm>
          <a:prstGeom prst="rect">
            <a:avLst/>
          </a:prstGeom>
          <a:solidFill>
            <a:srgbClr val="D55E00"/>
          </a:solidFill>
          <a:ln w="25400">
            <a:solidFill>
              <a:srgbClr val="FFFFFF"/>
            </a:solidFill>
            <a:prstDash val="solid"/>
          </a:ln>
        </p:spPr>
      </p:sp>
      <p:sp>
        <p:nvSpPr>
          <p:cNvPr id="17" name="Shape 15"/>
          <p:cNvSpPr/>
          <p:nvPr/>
        </p:nvSpPr>
        <p:spPr>
          <a:xfrm>
            <a:off x="2880360" y="3707892"/>
            <a:ext cx="731520" cy="1008126"/>
          </a:xfrm>
          <a:prstGeom prst="rect">
            <a:avLst/>
          </a:prstGeom>
          <a:solidFill>
            <a:srgbClr val="00A8AA"/>
          </a:solidFill>
          <a:ln w="25400">
            <a:solidFill>
              <a:srgbClr val="FFFFFF"/>
            </a:solidFill>
            <a:prstDash val="solid"/>
          </a:ln>
        </p:spPr>
      </p:sp>
      <p:sp>
        <p:nvSpPr>
          <p:cNvPr id="18" name="Shape 16"/>
          <p:cNvSpPr/>
          <p:nvPr/>
        </p:nvSpPr>
        <p:spPr>
          <a:xfrm>
            <a:off x="2880360" y="4716018"/>
            <a:ext cx="731520" cy="1008126"/>
          </a:xfrm>
          <a:prstGeom prst="rect">
            <a:avLst/>
          </a:prstGeom>
          <a:solidFill>
            <a:srgbClr val="0072B2"/>
          </a:solidFill>
          <a:ln w="25400">
            <a:solidFill>
              <a:srgbClr val="FFFFFF"/>
            </a:solidFill>
            <a:prstDash val="solid"/>
          </a:ln>
        </p:spPr>
      </p:sp>
      <p:sp>
        <p:nvSpPr>
          <p:cNvPr id="19" name="Text 17"/>
          <p:cNvSpPr/>
          <p:nvPr/>
        </p:nvSpPr>
        <p:spPr>
          <a:xfrm>
            <a:off x="3941064" y="1801368"/>
            <a:ext cx="7744968" cy="788670"/>
          </a:xfrm>
          <a:prstGeom prst="roundRect">
            <a:avLst>
              <a:gd name="adj" fmla="val 9275"/>
            </a:avLst>
          </a:prstGeom>
          <a:solidFill>
            <a:srgbClr val="F2F2F2"/>
          </a:solidFill>
          <a:ln/>
        </p:spPr>
        <p:txBody>
          <a:bodyPr wrap="square" lIns="228600" tIns="228600" rIns="228600" bIns="228600" rtlCol="0" anchor="ctr"/>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目や手で減衰がわかる限界</a:t>
            </a:r>
            <a:endParaRPr lang="ja-JP" sz="2800" dirty="0"/>
          </a:p>
        </p:txBody>
      </p:sp>
      <p:sp>
        <p:nvSpPr>
          <p:cNvPr id="20" name="Text 18"/>
          <p:cNvSpPr/>
          <p:nvPr/>
        </p:nvSpPr>
        <p:spPr>
          <a:xfrm>
            <a:off x="3941064" y="2809494"/>
            <a:ext cx="7744968" cy="788670"/>
          </a:xfrm>
          <a:prstGeom prst="roundRect">
            <a:avLst>
              <a:gd name="adj" fmla="val 9275"/>
            </a:avLst>
          </a:prstGeom>
          <a:solidFill>
            <a:srgbClr val="F2F2F2"/>
          </a:solidFill>
          <a:ln/>
        </p:spPr>
        <p:txBody>
          <a:bodyPr wrap="square" lIns="228600" tIns="228600" rIns="228600" bIns="228600" rtlCol="0" anchor="ctr"/>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頭を上げられる。しかし嚥下は障害</a:t>
            </a:r>
            <a:endParaRPr lang="ja-JP" sz="2800" dirty="0"/>
          </a:p>
        </p:txBody>
      </p:sp>
      <p:sp>
        <p:nvSpPr>
          <p:cNvPr id="21" name="Text 19"/>
          <p:cNvSpPr/>
          <p:nvPr/>
        </p:nvSpPr>
        <p:spPr>
          <a:xfrm>
            <a:off x="3941064" y="3817620"/>
            <a:ext cx="7744968" cy="788670"/>
          </a:xfrm>
          <a:prstGeom prst="roundRect">
            <a:avLst>
              <a:gd name="adj" fmla="val 9275"/>
            </a:avLst>
          </a:prstGeom>
          <a:solidFill>
            <a:srgbClr val="FFFFFF"/>
          </a:solidFill>
          <a:ln w="38100">
            <a:solidFill>
              <a:srgbClr val="00A8AA"/>
            </a:solidFill>
          </a:ln>
        </p:spPr>
        <p:txBody>
          <a:bodyPr wrap="square" lIns="228600" tIns="228600" rIns="228600" bIns="228600" rtlCol="0" anchor="ctr"/>
          <a:lstStyle/>
          <a:p>
            <a:pPr algn="l" indent="0" marL="0">
              <a:buNone/>
            </a:pPr>
            <a:r>
              <a:rPr lang="ja-JP" altLang="en-US" sz="2800" b="1" dirty="0">
                <a:solidFill>
                  <a:srgbClr val="262626"/>
                </a:solidFill>
                <a:latin typeface="メイリオ" pitchFamily="34" charset="0"/>
                <a:ea typeface="メイリオ" pitchFamily="34" charset="-122"/>
                <a:cs typeface="メイリオ" pitchFamily="34" charset="-120"/>
              </a:rPr>
              <a:t>咽頭機能がほぼ回復。抜管の基準</a:t>
            </a:r>
            <a:endParaRPr lang="ja-JP" sz="2800" dirty="0"/>
          </a:p>
        </p:txBody>
      </p:sp>
      <p:sp>
        <p:nvSpPr>
          <p:cNvPr id="22" name="Text 20"/>
          <p:cNvSpPr/>
          <p:nvPr/>
        </p:nvSpPr>
        <p:spPr>
          <a:xfrm>
            <a:off x="3941064" y="4825746"/>
            <a:ext cx="7744968" cy="788670"/>
          </a:xfrm>
          <a:prstGeom prst="roundRect">
            <a:avLst>
              <a:gd name="adj" fmla="val 9275"/>
            </a:avLst>
          </a:prstGeom>
          <a:solidFill>
            <a:srgbClr val="F2F2F2"/>
          </a:solidFill>
          <a:ln/>
        </p:spPr>
        <p:txBody>
          <a:bodyPr wrap="square" lIns="228600" tIns="228600" rIns="228600" bIns="228600" rtlCol="0" anchor="ctr"/>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完全回復</a:t>
            </a:r>
            <a:endParaRPr lang="ja-JP"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スガマデクス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ブリディオン静注 添付文書 / Panhuizen IF, et al. Br J Anaesth 2015;114:777-784</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Takazawa T, et al. Br J Anaesth 2023;131:159-169</a:t>
            </a:r>
            <a:endParaRPr lang="ja-JP" sz="1600" dirty="0"/>
          </a:p>
        </p:txBody>
      </p:sp>
      <p:sp>
        <p:nvSpPr>
          <p:cNvPr id="11" name="Shape 9"/>
          <p:cNvSpPr/>
          <p:nvPr/>
        </p:nvSpPr>
        <p:spPr>
          <a:xfrm>
            <a:off x="502920" y="1691640"/>
            <a:ext cx="3581400" cy="4032504"/>
          </a:xfrm>
          <a:prstGeom prst="roundRect">
            <a:avLst>
              <a:gd name="adj" fmla="val 2043"/>
            </a:avLst>
          </a:prstGeom>
          <a:solidFill>
            <a:srgbClr val="F2F2F2"/>
          </a:solidFill>
          <a:ln/>
        </p:spPr>
      </p:sp>
      <p:sp>
        <p:nvSpPr>
          <p:cNvPr id="12" name="Text 10"/>
          <p:cNvSpPr txBox="1"/>
          <p:nvPr/>
        </p:nvSpPr>
        <p:spPr>
          <a:xfrm>
            <a:off x="630936" y="1837944"/>
            <a:ext cx="332536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441448"/>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T2 再出現後：</a:t>
            </a:r>
            <a:endParaRPr lang="ja-JP" sz="2200" dirty="0"/>
          </a:p>
        </p:txBody>
      </p:sp>
      <p:sp>
        <p:nvSpPr>
          <p:cNvPr id="14" name="Text 12"/>
          <p:cNvSpPr txBox="1"/>
          <p:nvPr/>
        </p:nvSpPr>
        <p:spPr>
          <a:xfrm>
            <a:off x="905256" y="2862072"/>
            <a:ext cx="3051048"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2 mg/kg</a:t>
            </a:r>
            <a:endParaRPr lang="ja-JP" sz="2200" dirty="0"/>
          </a:p>
        </p:txBody>
      </p:sp>
      <p:sp>
        <p:nvSpPr>
          <p:cNvPr id="15" name="Text 13"/>
          <p:cNvSpPr txBox="1"/>
          <p:nvPr/>
        </p:nvSpPr>
        <p:spPr>
          <a:xfrm>
            <a:off x="630936" y="3589020"/>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PTC 1〜2 出現後：</a:t>
            </a:r>
            <a:endParaRPr lang="ja-JP" sz="2200" dirty="0"/>
          </a:p>
        </p:txBody>
      </p:sp>
      <p:sp>
        <p:nvSpPr>
          <p:cNvPr id="16" name="Text 14"/>
          <p:cNvSpPr txBox="1"/>
          <p:nvPr/>
        </p:nvSpPr>
        <p:spPr>
          <a:xfrm>
            <a:off x="905256" y="4009644"/>
            <a:ext cx="3051048"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4 mg/kg</a:t>
            </a:r>
            <a:endParaRPr lang="ja-JP" sz="2200" dirty="0"/>
          </a:p>
        </p:txBody>
      </p:sp>
      <p:sp>
        <p:nvSpPr>
          <p:cNvPr id="17" name="Text 15"/>
          <p:cNvSpPr txBox="1"/>
          <p:nvPr/>
        </p:nvSpPr>
        <p:spPr>
          <a:xfrm>
            <a:off x="630936" y="4736592"/>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緊急時（ロクロニウム</a:t>
            </a:r>
            <a:endParaRPr lang="ja-JP" sz="2200" dirty="0"/>
          </a:p>
        </p:txBody>
      </p:sp>
      <p:sp>
        <p:nvSpPr>
          <p:cNvPr id="18" name="Text 16"/>
          <p:cNvSpPr txBox="1"/>
          <p:nvPr/>
        </p:nvSpPr>
        <p:spPr>
          <a:xfrm>
            <a:off x="905256" y="5157216"/>
            <a:ext cx="30510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3 分後）：</a:t>
            </a:r>
            <a:r>
              <a:rPr lang="ja-JP" altLang="en-US" sz="2200" b="1" dirty="0">
                <a:solidFill>
                  <a:srgbClr val="262626"/>
                </a:solidFill>
                <a:latin typeface="メイリオ" pitchFamily="34" charset="0"/>
                <a:ea typeface="メイリオ" pitchFamily="34" charset="-122"/>
                <a:cs typeface="メイリオ" pitchFamily="34" charset="-120"/>
              </a:rPr>
              <a:t>16 mg/kg</a:t>
            </a:r>
            <a:endParaRPr lang="ja-JP" sz="2200" dirty="0"/>
          </a:p>
        </p:txBody>
      </p:sp>
      <p:sp>
        <p:nvSpPr>
          <p:cNvPr id="19" name="Shape 17"/>
          <p:cNvSpPr/>
          <p:nvPr/>
        </p:nvSpPr>
        <p:spPr>
          <a:xfrm>
            <a:off x="4303776" y="1691640"/>
            <a:ext cx="3581400" cy="4032504"/>
          </a:xfrm>
          <a:prstGeom prst="roundRect">
            <a:avLst>
              <a:gd name="adj" fmla="val 2043"/>
            </a:avLst>
          </a:prstGeom>
          <a:solidFill>
            <a:srgbClr val="F2F2F2"/>
          </a:solidFill>
          <a:ln/>
        </p:spPr>
      </p:sp>
      <p:sp>
        <p:nvSpPr>
          <p:cNvPr id="20" name="Text 18"/>
          <p:cNvSpPr txBox="1"/>
          <p:nvPr/>
        </p:nvSpPr>
        <p:spPr>
          <a:xfrm>
            <a:off x="4431792" y="1837944"/>
            <a:ext cx="332536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仕組み</a:t>
            </a:r>
            <a:endParaRPr lang="ja-JP" sz="2400" dirty="0"/>
          </a:p>
        </p:txBody>
      </p:sp>
      <p:sp>
        <p:nvSpPr>
          <p:cNvPr id="21" name="Text 19"/>
          <p:cNvSpPr txBox="1"/>
          <p:nvPr/>
        </p:nvSpPr>
        <p:spPr>
          <a:xfrm>
            <a:off x="4431792" y="2441448"/>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ロクロニウムを</a:t>
            </a:r>
            <a:endParaRPr lang="ja-JP" sz="2200" dirty="0"/>
          </a:p>
        </p:txBody>
      </p:sp>
      <p:sp>
        <p:nvSpPr>
          <p:cNvPr id="22" name="Text 20"/>
          <p:cNvSpPr txBox="1"/>
          <p:nvPr/>
        </p:nvSpPr>
        <p:spPr>
          <a:xfrm>
            <a:off x="4706112" y="2862072"/>
            <a:ext cx="30510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1:1 で包み込む</a:t>
            </a:r>
            <a:endParaRPr lang="ja-JP" sz="2200" dirty="0"/>
          </a:p>
        </p:txBody>
      </p:sp>
      <p:sp>
        <p:nvSpPr>
          <p:cNvPr id="23" name="Text 21"/>
          <p:cNvSpPr txBox="1"/>
          <p:nvPr/>
        </p:nvSpPr>
        <p:spPr>
          <a:xfrm>
            <a:off x="4431792" y="3593592"/>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深い遮断からも</a:t>
            </a:r>
            <a:endParaRPr lang="ja-JP" sz="2200" dirty="0"/>
          </a:p>
        </p:txBody>
      </p:sp>
      <p:sp>
        <p:nvSpPr>
          <p:cNvPr id="24" name="Text 22"/>
          <p:cNvSpPr txBox="1"/>
          <p:nvPr/>
        </p:nvSpPr>
        <p:spPr>
          <a:xfrm>
            <a:off x="4706112" y="4014216"/>
            <a:ext cx="30510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数分で回復</a:t>
            </a:r>
            <a:endParaRPr lang="ja-JP" sz="2200" dirty="0"/>
          </a:p>
        </p:txBody>
      </p:sp>
      <p:sp>
        <p:nvSpPr>
          <p:cNvPr id="25" name="Text 23"/>
          <p:cNvSpPr txBox="1"/>
          <p:nvPr/>
        </p:nvSpPr>
        <p:spPr>
          <a:xfrm>
            <a:off x="4431792" y="4745736"/>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ベクロニウムにも有効</a:t>
            </a:r>
            <a:endParaRPr lang="ja-JP" sz="2200" dirty="0"/>
          </a:p>
        </p:txBody>
      </p:sp>
      <p:sp>
        <p:nvSpPr>
          <p:cNvPr id="26" name="Shape 24"/>
          <p:cNvSpPr/>
          <p:nvPr/>
        </p:nvSpPr>
        <p:spPr>
          <a:xfrm>
            <a:off x="8104632" y="1691640"/>
            <a:ext cx="3581400" cy="4032504"/>
          </a:xfrm>
          <a:prstGeom prst="roundRect">
            <a:avLst>
              <a:gd name="adj" fmla="val 2043"/>
            </a:avLst>
          </a:prstGeom>
          <a:solidFill>
            <a:srgbClr val="F2F2F2"/>
          </a:solidFill>
          <a:ln/>
        </p:spPr>
      </p:sp>
      <p:sp>
        <p:nvSpPr>
          <p:cNvPr id="27" name="Text 25"/>
          <p:cNvSpPr txBox="1"/>
          <p:nvPr/>
        </p:nvSpPr>
        <p:spPr>
          <a:xfrm>
            <a:off x="8232648" y="1837944"/>
            <a:ext cx="3325368"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8" name="Text 26"/>
          <p:cNvSpPr txBox="1"/>
          <p:nvPr/>
        </p:nvSpPr>
        <p:spPr>
          <a:xfrm>
            <a:off x="8232648" y="2441448"/>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用量不足で</a:t>
            </a:r>
            <a:endParaRPr lang="ja-JP" sz="2200" dirty="0"/>
          </a:p>
        </p:txBody>
      </p:sp>
      <p:sp>
        <p:nvSpPr>
          <p:cNvPr id="29" name="Text 27"/>
          <p:cNvSpPr txBox="1"/>
          <p:nvPr/>
        </p:nvSpPr>
        <p:spPr>
          <a:xfrm>
            <a:off x="8506968" y="2862072"/>
            <a:ext cx="30510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再クラーレ化</a:t>
            </a:r>
            <a:endParaRPr lang="ja-JP" sz="2200" dirty="0"/>
          </a:p>
        </p:txBody>
      </p:sp>
      <p:sp>
        <p:nvSpPr>
          <p:cNvPr id="30" name="Text 28"/>
          <p:cNvSpPr txBox="1"/>
          <p:nvPr/>
        </p:nvSpPr>
        <p:spPr>
          <a:xfrm>
            <a:off x="8232648" y="3589020"/>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重度腎障害：</a:t>
            </a:r>
            <a:endParaRPr lang="ja-JP" sz="2200" dirty="0"/>
          </a:p>
        </p:txBody>
      </p:sp>
      <p:sp>
        <p:nvSpPr>
          <p:cNvPr id="31" name="Text 29"/>
          <p:cNvSpPr txBox="1"/>
          <p:nvPr/>
        </p:nvSpPr>
        <p:spPr>
          <a:xfrm>
            <a:off x="8506968" y="4009644"/>
            <a:ext cx="30510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CLcr 30 mL/分未満</a:t>
            </a:r>
            <a:endParaRPr lang="ja-JP" sz="2200" dirty="0"/>
          </a:p>
        </p:txBody>
      </p:sp>
      <p:sp>
        <p:nvSpPr>
          <p:cNvPr id="32" name="Text 30"/>
          <p:cNvSpPr txBox="1"/>
          <p:nvPr/>
        </p:nvSpPr>
        <p:spPr>
          <a:xfrm>
            <a:off x="8232648" y="4736592"/>
            <a:ext cx="33253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アナフィラキシー、</a:t>
            </a:r>
            <a:endParaRPr lang="ja-JP" sz="2200" dirty="0"/>
          </a:p>
        </p:txBody>
      </p:sp>
      <p:sp>
        <p:nvSpPr>
          <p:cNvPr id="33" name="Text 31"/>
          <p:cNvSpPr txBox="1"/>
          <p:nvPr/>
        </p:nvSpPr>
        <p:spPr>
          <a:xfrm>
            <a:off x="8506968" y="5157216"/>
            <a:ext cx="305104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ネオスチグミン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ワゴスチグミン注 添付文書 / Szewczyk M, et al. Int J Gen Med 2025;18:3651-3688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p:txBody>
      </p:sp>
      <p:sp>
        <p:nvSpPr>
          <p:cNvPr id="11" name="Shape 9"/>
          <p:cNvSpPr/>
          <p:nvPr/>
        </p:nvSpPr>
        <p:spPr>
          <a:xfrm>
            <a:off x="502920" y="1691640"/>
            <a:ext cx="4932091" cy="4032504"/>
          </a:xfrm>
          <a:prstGeom prst="roundRect">
            <a:avLst>
              <a:gd name="adj" fmla="val 1814"/>
            </a:avLst>
          </a:prstGeom>
          <a:solidFill>
            <a:srgbClr val="F2F2F2"/>
          </a:solidFill>
          <a:ln/>
        </p:spPr>
      </p:sp>
      <p:sp>
        <p:nvSpPr>
          <p:cNvPr id="12" name="Text 10"/>
          <p:cNvSpPr txBox="1"/>
          <p:nvPr/>
        </p:nvSpPr>
        <p:spPr>
          <a:xfrm>
            <a:off x="630936" y="1837944"/>
            <a:ext cx="467605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441448"/>
            <a:ext cx="467605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回 </a:t>
            </a:r>
            <a:r>
              <a:rPr lang="ja-JP" altLang="en-US" sz="2200" b="1" dirty="0">
                <a:solidFill>
                  <a:srgbClr val="262626"/>
                </a:solidFill>
                <a:latin typeface="メイリオ" pitchFamily="34" charset="0"/>
                <a:ea typeface="メイリオ" pitchFamily="34" charset="-122"/>
                <a:cs typeface="メイリオ" pitchFamily="34" charset="-120"/>
              </a:rPr>
              <a:t>0.5〜2.0 mg</a:t>
            </a:r>
            <a:r>
              <a:rPr lang="ja-JP" altLang="en-US" sz="2200" dirty="0">
                <a:solidFill>
                  <a:srgbClr val="262626"/>
                </a:solidFill>
                <a:latin typeface="メイリオ" pitchFamily="34" charset="0"/>
                <a:ea typeface="メイリオ" pitchFamily="34" charset="-122"/>
                <a:cs typeface="メイリオ" pitchFamily="34" charset="-120"/>
              </a:rPr>
              <a:t> を緩徐に静注</a:t>
            </a:r>
            <a:endParaRPr lang="ja-JP" sz="2200" dirty="0"/>
          </a:p>
        </p:txBody>
      </p:sp>
      <p:sp>
        <p:nvSpPr>
          <p:cNvPr id="14" name="Text 12"/>
          <p:cNvSpPr txBox="1"/>
          <p:nvPr/>
        </p:nvSpPr>
        <p:spPr>
          <a:xfrm>
            <a:off x="630936" y="3172968"/>
            <a:ext cx="467605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モニターの回復か</a:t>
            </a:r>
            <a:endParaRPr lang="ja-JP" sz="2200" dirty="0"/>
          </a:p>
        </p:txBody>
      </p:sp>
      <p:sp>
        <p:nvSpPr>
          <p:cNvPr id="15" name="Text 13"/>
          <p:cNvSpPr txBox="1"/>
          <p:nvPr/>
        </p:nvSpPr>
        <p:spPr>
          <a:xfrm>
            <a:off x="905256" y="3593592"/>
            <a:ext cx="440173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自発呼吸を確認後</a:t>
            </a:r>
            <a:endParaRPr lang="ja-JP" sz="2200" dirty="0"/>
          </a:p>
        </p:txBody>
      </p:sp>
      <p:sp>
        <p:nvSpPr>
          <p:cNvPr id="16" name="Text 14"/>
          <p:cNvSpPr txBox="1"/>
          <p:nvPr/>
        </p:nvSpPr>
        <p:spPr>
          <a:xfrm>
            <a:off x="630936" y="4325112"/>
            <a:ext cx="4676059"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5 mg</a:t>
            </a:r>
            <a:r>
              <a:rPr lang="ja-JP" altLang="en-US" sz="2200" dirty="0">
                <a:solidFill>
                  <a:srgbClr val="262626"/>
                </a:solidFill>
                <a:latin typeface="メイリオ" pitchFamily="34" charset="0"/>
                <a:ea typeface="メイリオ" pitchFamily="34" charset="-122"/>
                <a:cs typeface="メイリオ" pitchFamily="34" charset="-120"/>
              </a:rPr>
              <a:t> を超えない</a:t>
            </a:r>
            <a:endParaRPr lang="ja-JP" sz="2200" dirty="0"/>
          </a:p>
        </p:txBody>
      </p:sp>
      <p:sp>
        <p:nvSpPr>
          <p:cNvPr id="17" name="Text 15"/>
          <p:cNvSpPr txBox="1"/>
          <p:nvPr/>
        </p:nvSpPr>
        <p:spPr>
          <a:xfrm>
            <a:off x="630936" y="5056632"/>
            <a:ext cx="467605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アトロピン </a:t>
            </a:r>
            <a:r>
              <a:rPr lang="ja-JP" altLang="en-US" sz="2200" b="1" dirty="0">
                <a:solidFill>
                  <a:srgbClr val="262626"/>
                </a:solidFill>
                <a:latin typeface="メイリオ" pitchFamily="34" charset="0"/>
                <a:ea typeface="メイリオ" pitchFamily="34" charset="-122"/>
                <a:cs typeface="メイリオ" pitchFamily="34" charset="-120"/>
              </a:rPr>
              <a:t>0.25〜1.0 mg</a:t>
            </a:r>
            <a:r>
              <a:rPr lang="ja-JP" altLang="en-US" sz="2200" dirty="0">
                <a:solidFill>
                  <a:srgbClr val="262626"/>
                </a:solidFill>
                <a:latin typeface="メイリオ" pitchFamily="34" charset="0"/>
                <a:ea typeface="メイリオ" pitchFamily="34" charset="-122"/>
                <a:cs typeface="メイリオ" pitchFamily="34" charset="-120"/>
              </a:rPr>
              <a:t> を併用</a:t>
            </a:r>
            <a:endParaRPr lang="ja-JP" sz="2200" dirty="0"/>
          </a:p>
        </p:txBody>
      </p:sp>
      <p:sp>
        <p:nvSpPr>
          <p:cNvPr id="18" name="Shape 16"/>
          <p:cNvSpPr/>
          <p:nvPr/>
        </p:nvSpPr>
        <p:spPr>
          <a:xfrm>
            <a:off x="5654467" y="1691640"/>
            <a:ext cx="3073298" cy="4032504"/>
          </a:xfrm>
          <a:prstGeom prst="roundRect">
            <a:avLst>
              <a:gd name="adj" fmla="val 2380"/>
            </a:avLst>
          </a:prstGeom>
          <a:solidFill>
            <a:srgbClr val="F2F2F2"/>
          </a:solidFill>
          <a:ln/>
        </p:spPr>
      </p:sp>
      <p:sp>
        <p:nvSpPr>
          <p:cNvPr id="19" name="Text 17"/>
          <p:cNvSpPr txBox="1"/>
          <p:nvPr/>
        </p:nvSpPr>
        <p:spPr>
          <a:xfrm>
            <a:off x="5782483" y="1837944"/>
            <a:ext cx="281726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仕組み</a:t>
            </a:r>
            <a:endParaRPr lang="ja-JP" sz="2400" dirty="0"/>
          </a:p>
        </p:txBody>
      </p:sp>
      <p:sp>
        <p:nvSpPr>
          <p:cNvPr id="20" name="Text 18"/>
          <p:cNvSpPr txBox="1"/>
          <p:nvPr/>
        </p:nvSpPr>
        <p:spPr>
          <a:xfrm>
            <a:off x="5782483" y="2441448"/>
            <a:ext cx="281726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コリンエステラーゼ</a:t>
            </a:r>
            <a:endParaRPr lang="ja-JP" sz="2200" dirty="0"/>
          </a:p>
        </p:txBody>
      </p:sp>
      <p:sp>
        <p:nvSpPr>
          <p:cNvPr id="21" name="Text 19"/>
          <p:cNvSpPr txBox="1"/>
          <p:nvPr/>
        </p:nvSpPr>
        <p:spPr>
          <a:xfrm>
            <a:off x="6056803" y="2862072"/>
            <a:ext cx="254294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を阻害</a:t>
            </a:r>
            <a:endParaRPr lang="ja-JP" sz="2200" dirty="0"/>
          </a:p>
        </p:txBody>
      </p:sp>
      <p:sp>
        <p:nvSpPr>
          <p:cNvPr id="22" name="Text 20"/>
          <p:cNvSpPr txBox="1"/>
          <p:nvPr/>
        </p:nvSpPr>
        <p:spPr>
          <a:xfrm>
            <a:off x="5782483" y="3593592"/>
            <a:ext cx="281726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アセチルコリンを</a:t>
            </a:r>
            <a:endParaRPr lang="ja-JP" sz="2200" dirty="0"/>
          </a:p>
        </p:txBody>
      </p:sp>
      <p:sp>
        <p:nvSpPr>
          <p:cNvPr id="23" name="Text 21"/>
          <p:cNvSpPr txBox="1"/>
          <p:nvPr/>
        </p:nvSpPr>
        <p:spPr>
          <a:xfrm>
            <a:off x="6056803" y="4014216"/>
            <a:ext cx="254294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増やして競り勝つ</a:t>
            </a:r>
            <a:endParaRPr lang="ja-JP" sz="2200" dirty="0"/>
          </a:p>
        </p:txBody>
      </p:sp>
      <p:sp>
        <p:nvSpPr>
          <p:cNvPr id="24" name="Text 22"/>
          <p:cNvSpPr txBox="1"/>
          <p:nvPr/>
        </p:nvSpPr>
        <p:spPr>
          <a:xfrm>
            <a:off x="5782483" y="4745736"/>
            <a:ext cx="281726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効果に天井がある</a:t>
            </a:r>
            <a:endParaRPr lang="ja-JP" sz="2200" dirty="0"/>
          </a:p>
        </p:txBody>
      </p:sp>
      <p:sp>
        <p:nvSpPr>
          <p:cNvPr id="25" name="Shape 23"/>
          <p:cNvSpPr/>
          <p:nvPr/>
        </p:nvSpPr>
        <p:spPr>
          <a:xfrm>
            <a:off x="8947221" y="1691640"/>
            <a:ext cx="2738811" cy="4032504"/>
          </a:xfrm>
          <a:prstGeom prst="roundRect">
            <a:avLst>
              <a:gd name="adj" fmla="val 2671"/>
            </a:avLst>
          </a:prstGeom>
          <a:solidFill>
            <a:srgbClr val="F2F2F2"/>
          </a:solidFill>
          <a:ln/>
        </p:spPr>
      </p:sp>
      <p:sp>
        <p:nvSpPr>
          <p:cNvPr id="26" name="Text 24"/>
          <p:cNvSpPr txBox="1"/>
          <p:nvPr/>
        </p:nvSpPr>
        <p:spPr>
          <a:xfrm>
            <a:off x="9075237" y="1837944"/>
            <a:ext cx="2482779"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限界</a:t>
            </a:r>
            <a:endParaRPr lang="ja-JP" sz="2400" dirty="0"/>
          </a:p>
        </p:txBody>
      </p:sp>
      <p:sp>
        <p:nvSpPr>
          <p:cNvPr id="27" name="Text 25"/>
          <p:cNvSpPr txBox="1"/>
          <p:nvPr/>
        </p:nvSpPr>
        <p:spPr>
          <a:xfrm>
            <a:off x="9075237" y="2441448"/>
            <a:ext cx="248277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深い遮断は</a:t>
            </a:r>
            <a:endParaRPr lang="ja-JP" sz="2200" dirty="0"/>
          </a:p>
        </p:txBody>
      </p:sp>
      <p:sp>
        <p:nvSpPr>
          <p:cNvPr id="28" name="Text 26"/>
          <p:cNvSpPr txBox="1"/>
          <p:nvPr/>
        </p:nvSpPr>
        <p:spPr>
          <a:xfrm>
            <a:off x="9349557" y="2862072"/>
            <a:ext cx="220845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拮抗できない</a:t>
            </a:r>
            <a:endParaRPr lang="ja-JP" sz="2200" dirty="0"/>
          </a:p>
        </p:txBody>
      </p:sp>
      <p:sp>
        <p:nvSpPr>
          <p:cNvPr id="29" name="Text 27"/>
          <p:cNvSpPr txBox="1"/>
          <p:nvPr/>
        </p:nvSpPr>
        <p:spPr>
          <a:xfrm>
            <a:off x="9075237" y="3589020"/>
            <a:ext cx="248277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最大効果まで</a:t>
            </a:r>
            <a:endParaRPr lang="ja-JP" sz="2200" dirty="0"/>
          </a:p>
        </p:txBody>
      </p:sp>
      <p:sp>
        <p:nvSpPr>
          <p:cNvPr id="30" name="Text 28"/>
          <p:cNvSpPr txBox="1"/>
          <p:nvPr/>
        </p:nvSpPr>
        <p:spPr>
          <a:xfrm>
            <a:off x="9349557" y="4009644"/>
            <a:ext cx="220845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7〜10 分</a:t>
            </a:r>
            <a:endParaRPr lang="ja-JP" sz="2200" dirty="0"/>
          </a:p>
        </p:txBody>
      </p:sp>
      <p:sp>
        <p:nvSpPr>
          <p:cNvPr id="31" name="Text 29"/>
          <p:cNvSpPr txBox="1"/>
          <p:nvPr/>
        </p:nvSpPr>
        <p:spPr>
          <a:xfrm>
            <a:off x="9075237" y="4736592"/>
            <a:ext cx="248277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徐脈・分泌・</a:t>
            </a:r>
            <a:endParaRPr lang="ja-JP" sz="2200" dirty="0"/>
          </a:p>
        </p:txBody>
      </p:sp>
      <p:sp>
        <p:nvSpPr>
          <p:cNvPr id="32" name="Text 30"/>
          <p:cNvSpPr txBox="1"/>
          <p:nvPr/>
        </p:nvSpPr>
        <p:spPr>
          <a:xfrm>
            <a:off x="9349557" y="5157216"/>
            <a:ext cx="220845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気管支攣縮</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どちらを使うか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Fuchs-Buder T, et al. Eur J Anaesthesiol 2023;40:82-94 / ブリディオン静注 添付文書</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1161288"/>
                <a:gridCol w="3383280"/>
                <a:gridCol w="3602736"/>
                <a:gridCol w="3035808"/>
              </a:tblGrid>
              <a:tr h="566928">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深さ</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モニター</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スガマデクス</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ネオスチグミン</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13232">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深い</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PTC 1〜2</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4 mg/kg</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効かない</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0584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中等度</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 1〜3 回</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2 mg/kg</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 1 回は 4 mg/kg）</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使わない</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（遅く不確実）</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13232">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浅い</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 4 回、比 0.4 未満</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2 mg/kg</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不十分なことが多い</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0584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最小</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TOF比 0.4〜0.9 未満</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2 mg/kg</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使える</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（天井に注意）</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再クラーレ化</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ブリディオン静注 添付文書 / Kim YS, et al. Medicina (Kaunas) 2021;57:1259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Muramatsu T, et al. Anesthesiology 2018;129:901-911</a:t>
            </a:r>
            <a:endParaRPr lang="ja-JP" sz="1600" dirty="0"/>
          </a:p>
        </p:txBody>
      </p:sp>
      <p:sp>
        <p:nvSpPr>
          <p:cNvPr id="11" name="Shape 9"/>
          <p:cNvSpPr/>
          <p:nvPr/>
        </p:nvSpPr>
        <p:spPr>
          <a:xfrm>
            <a:off x="502920" y="1691640"/>
            <a:ext cx="5889650" cy="3154680"/>
          </a:xfrm>
          <a:prstGeom prst="roundRect">
            <a:avLst>
              <a:gd name="adj" fmla="val 2319"/>
            </a:avLst>
          </a:prstGeom>
          <a:solidFill>
            <a:srgbClr val="F2F2F2"/>
          </a:solidFill>
          <a:ln/>
        </p:spPr>
      </p:sp>
      <p:sp>
        <p:nvSpPr>
          <p:cNvPr id="12" name="Text 10"/>
          <p:cNvSpPr txBox="1"/>
          <p:nvPr/>
        </p:nvSpPr>
        <p:spPr>
          <a:xfrm>
            <a:off x="630936" y="1801368"/>
            <a:ext cx="5633618"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起こる状況</a:t>
            </a:r>
            <a:endParaRPr lang="ja-JP" sz="2400" dirty="0"/>
          </a:p>
        </p:txBody>
      </p:sp>
      <p:sp>
        <p:nvSpPr>
          <p:cNvPr id="13" name="Text 11"/>
          <p:cNvSpPr txBox="1"/>
          <p:nvPr/>
        </p:nvSpPr>
        <p:spPr>
          <a:xfrm>
            <a:off x="630936" y="2350008"/>
            <a:ext cx="563361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深い遮断にスガマデクス </a:t>
            </a:r>
            <a:r>
              <a:rPr lang="ja-JP" altLang="en-US" sz="2200" b="1" dirty="0">
                <a:solidFill>
                  <a:srgbClr val="262626"/>
                </a:solidFill>
                <a:latin typeface="メイリオ" pitchFamily="34" charset="0"/>
                <a:ea typeface="メイリオ" pitchFamily="34" charset="-122"/>
                <a:cs typeface="メイリオ" pitchFamily="34" charset="-120"/>
              </a:rPr>
              <a:t>2 mg/kg</a:t>
            </a:r>
            <a:endParaRPr lang="ja-JP" sz="2200" dirty="0"/>
          </a:p>
        </p:txBody>
      </p:sp>
      <p:sp>
        <p:nvSpPr>
          <p:cNvPr id="14" name="Text 12"/>
          <p:cNvSpPr txBox="1"/>
          <p:nvPr/>
        </p:nvSpPr>
        <p:spPr>
          <a:xfrm>
            <a:off x="630936" y="3005328"/>
            <a:ext cx="563361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ロクロニウムの総量が多い</a:t>
            </a:r>
            <a:endParaRPr lang="ja-JP" sz="2200" dirty="0"/>
          </a:p>
        </p:txBody>
      </p:sp>
      <p:sp>
        <p:nvSpPr>
          <p:cNvPr id="15" name="Text 13"/>
          <p:cNvSpPr txBox="1"/>
          <p:nvPr/>
        </p:nvSpPr>
        <p:spPr>
          <a:xfrm>
            <a:off x="630936" y="3660648"/>
            <a:ext cx="563361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ネオスチグミンで深い遮断を無理に拮抗</a:t>
            </a:r>
            <a:endParaRPr lang="ja-JP" sz="2200" dirty="0"/>
          </a:p>
        </p:txBody>
      </p:sp>
      <p:sp>
        <p:nvSpPr>
          <p:cNvPr id="16" name="Text 14"/>
          <p:cNvSpPr txBox="1"/>
          <p:nvPr/>
        </p:nvSpPr>
        <p:spPr>
          <a:xfrm>
            <a:off x="630936" y="4315968"/>
            <a:ext cx="563361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腎機能低下＋少なめの量</a:t>
            </a:r>
            <a:endParaRPr lang="ja-JP" sz="2200" dirty="0"/>
          </a:p>
        </p:txBody>
      </p:sp>
      <p:sp>
        <p:nvSpPr>
          <p:cNvPr id="17" name="Shape 15"/>
          <p:cNvSpPr/>
          <p:nvPr/>
        </p:nvSpPr>
        <p:spPr>
          <a:xfrm>
            <a:off x="6612026" y="1691640"/>
            <a:ext cx="5074006" cy="3154680"/>
          </a:xfrm>
          <a:prstGeom prst="roundRect">
            <a:avLst>
              <a:gd name="adj" fmla="val 2319"/>
            </a:avLst>
          </a:prstGeom>
          <a:solidFill>
            <a:srgbClr val="F2F2F2"/>
          </a:solidFill>
          <a:ln/>
        </p:spPr>
      </p:sp>
      <p:sp>
        <p:nvSpPr>
          <p:cNvPr id="18" name="Text 16"/>
          <p:cNvSpPr txBox="1"/>
          <p:nvPr/>
        </p:nvSpPr>
        <p:spPr>
          <a:xfrm>
            <a:off x="6740042" y="1801368"/>
            <a:ext cx="481797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気づき方と対応</a:t>
            </a:r>
            <a:endParaRPr lang="ja-JP" sz="2400" dirty="0"/>
          </a:p>
        </p:txBody>
      </p:sp>
      <p:sp>
        <p:nvSpPr>
          <p:cNvPr id="19" name="Text 17"/>
          <p:cNvSpPr txBox="1"/>
          <p:nvPr/>
        </p:nvSpPr>
        <p:spPr>
          <a:xfrm>
            <a:off x="6740042" y="2350008"/>
            <a:ext cx="481797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抜管後〜病棟で呼吸が浅い、</a:t>
            </a:r>
            <a:endParaRPr lang="ja-JP" sz="2200" dirty="0"/>
          </a:p>
        </p:txBody>
      </p:sp>
      <p:sp>
        <p:nvSpPr>
          <p:cNvPr id="20" name="Text 18"/>
          <p:cNvSpPr txBox="1"/>
          <p:nvPr/>
        </p:nvSpPr>
        <p:spPr>
          <a:xfrm>
            <a:off x="7014362" y="2770632"/>
            <a:ext cx="454365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SpO2 低下</a:t>
            </a:r>
            <a:endParaRPr lang="ja-JP" sz="2200" dirty="0"/>
          </a:p>
        </p:txBody>
      </p:sp>
      <p:sp>
        <p:nvSpPr>
          <p:cNvPr id="21" name="Text 19"/>
          <p:cNvSpPr txBox="1"/>
          <p:nvPr/>
        </p:nvSpPr>
        <p:spPr>
          <a:xfrm>
            <a:off x="6740042" y="3332988"/>
            <a:ext cx="481797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 を測り直す</a:t>
            </a:r>
            <a:endParaRPr lang="ja-JP" sz="2200" dirty="0"/>
          </a:p>
        </p:txBody>
      </p:sp>
      <p:sp>
        <p:nvSpPr>
          <p:cNvPr id="22" name="Text 20"/>
          <p:cNvSpPr txBox="1"/>
          <p:nvPr/>
        </p:nvSpPr>
        <p:spPr>
          <a:xfrm>
            <a:off x="6740042" y="3895344"/>
            <a:ext cx="481797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スガマデクスを追加</a:t>
            </a:r>
            <a:endParaRPr lang="ja-JP" sz="2200" dirty="0"/>
          </a:p>
        </p:txBody>
      </p:sp>
      <p:sp>
        <p:nvSpPr>
          <p:cNvPr id="23" name="Text 21"/>
          <p:cNvSpPr txBox="1"/>
          <p:nvPr/>
        </p:nvSpPr>
        <p:spPr>
          <a:xfrm>
            <a:off x="7014362" y="4315968"/>
            <a:ext cx="454365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（深さに応じて）</a:t>
            </a:r>
            <a:endParaRPr lang="ja-JP" sz="2200" dirty="0"/>
          </a:p>
        </p:txBody>
      </p:sp>
      <p:sp>
        <p:nvSpPr>
          <p:cNvPr id="24" name="Text 22"/>
          <p:cNvSpPr/>
          <p:nvPr/>
        </p:nvSpPr>
        <p:spPr>
          <a:xfrm>
            <a:off x="502920" y="5084064"/>
            <a:ext cx="11183112" cy="640080"/>
          </a:xfrm>
          <a:prstGeom prst="roundRect">
            <a:avLst>
              <a:gd name="adj" fmla="val 11429"/>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いったん 0.9 まで戻っても、</a:t>
            </a:r>
            <a:r>
              <a:rPr lang="ja-JP" altLang="en-US" sz="2800" b="1" dirty="0">
                <a:solidFill>
                  <a:srgbClr val="D55E00"/>
                </a:solidFill>
                <a:latin typeface="メイリオ" pitchFamily="34" charset="0"/>
                <a:ea typeface="メイリオ" pitchFamily="34" charset="-122"/>
                <a:cs typeface="メイリオ" pitchFamily="34" charset="-120"/>
              </a:rPr>
              <a:t>薬の量が足りなければ戻る</a:t>
            </a:r>
            <a:endParaRPr lang="ja-JP"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抜管前の手順</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 / Thilen SR,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2023;138:13-41 / Debaene B, et al. Anesthesiology 2003;98:1042-1048</a:t>
            </a:r>
            <a:endParaRPr lang="ja-JP" sz="1600" dirty="0"/>
          </a:p>
        </p:txBody>
      </p:sp>
      <p:sp>
        <p:nvSpPr>
          <p:cNvPr id="11" name="Text 9"/>
          <p:cNvSpPr/>
          <p:nvPr/>
        </p:nvSpPr>
        <p:spPr>
          <a:xfrm>
            <a:off x="502920" y="2702052"/>
            <a:ext cx="2556705" cy="2011680"/>
          </a:xfrm>
          <a:prstGeom prst="roundRect">
            <a:avLst>
              <a:gd name="adj" fmla="val 4545"/>
            </a:avLst>
          </a:prstGeom>
          <a:solidFill>
            <a:srgbClr val="F2F2F2"/>
          </a:solidFill>
          <a:ln w="25400">
            <a:solidFill>
              <a:srgbClr val="0072B2"/>
            </a:solidFill>
          </a:ln>
        </p:spPr>
        <p:txBody>
          <a:bodyPr wrap="square" lIns="36576" tIns="36576" rIns="36576" bIns="36576"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深さを測る</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（TOF・PTC）</a:t>
            </a:r>
            <a:endParaRPr lang="ja-JP" sz="2400" dirty="0"/>
          </a:p>
        </p:txBody>
      </p:sp>
      <p:sp>
        <p:nvSpPr>
          <p:cNvPr id="12" name="Shape 10"/>
          <p:cNvSpPr/>
          <p:nvPr/>
        </p:nvSpPr>
        <p:spPr>
          <a:xfrm>
            <a:off x="3151065" y="3707892"/>
            <a:ext cx="274320" cy="0"/>
          </a:xfrm>
          <a:prstGeom prst="line">
            <a:avLst/>
          </a:prstGeom>
          <a:noFill/>
          <a:ln w="38100">
            <a:solidFill>
              <a:srgbClr val="404040"/>
            </a:solidFill>
            <a:prstDash val="solid"/>
            <a:tailEnd type="triangle"/>
          </a:ln>
        </p:spPr>
      </p:sp>
      <p:sp>
        <p:nvSpPr>
          <p:cNvPr id="13" name="Text 11"/>
          <p:cNvSpPr/>
          <p:nvPr/>
        </p:nvSpPr>
        <p:spPr>
          <a:xfrm>
            <a:off x="3516825" y="2702052"/>
            <a:ext cx="1150109" cy="2011680"/>
          </a:xfrm>
          <a:prstGeom prst="roundRect">
            <a:avLst>
              <a:gd name="adj" fmla="val 7951"/>
            </a:avLst>
          </a:prstGeom>
          <a:solidFill>
            <a:srgbClr val="F2F2F2"/>
          </a:solidFill>
          <a:ln w="25400">
            <a:solidFill>
              <a:srgbClr val="0072B2"/>
            </a:solidFill>
          </a:ln>
        </p:spPr>
        <p:txBody>
          <a:bodyPr wrap="square" lIns="36576" tIns="36576" rIns="36576" bIns="36576"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深さで</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用量を</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決める</a:t>
            </a:r>
            <a:endParaRPr lang="ja-JP" sz="2400" dirty="0"/>
          </a:p>
        </p:txBody>
      </p:sp>
      <p:sp>
        <p:nvSpPr>
          <p:cNvPr id="14" name="Shape 12"/>
          <p:cNvSpPr/>
          <p:nvPr/>
        </p:nvSpPr>
        <p:spPr>
          <a:xfrm>
            <a:off x="4758373" y="3707892"/>
            <a:ext cx="274320" cy="0"/>
          </a:xfrm>
          <a:prstGeom prst="line">
            <a:avLst/>
          </a:prstGeom>
          <a:noFill/>
          <a:ln w="38100">
            <a:solidFill>
              <a:srgbClr val="404040"/>
            </a:solidFill>
            <a:prstDash val="solid"/>
            <a:tailEnd type="triangle"/>
          </a:ln>
        </p:spPr>
      </p:sp>
      <p:sp>
        <p:nvSpPr>
          <p:cNvPr id="15" name="Text 13"/>
          <p:cNvSpPr/>
          <p:nvPr/>
        </p:nvSpPr>
        <p:spPr>
          <a:xfrm>
            <a:off x="5124133" y="2702052"/>
            <a:ext cx="1491485" cy="2011680"/>
          </a:xfrm>
          <a:prstGeom prst="roundRect">
            <a:avLst>
              <a:gd name="adj" fmla="val 6131"/>
            </a:avLst>
          </a:prstGeom>
          <a:solidFill>
            <a:srgbClr val="F2F2F2"/>
          </a:solidFill>
          <a:ln w="25400">
            <a:solidFill>
              <a:srgbClr val="0072B2"/>
            </a:solidFill>
          </a:ln>
        </p:spPr>
        <p:txBody>
          <a:bodyPr wrap="square" lIns="36576" tIns="36576" rIns="36576" bIns="36576"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拮抗薬を</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投与</a:t>
            </a:r>
            <a:endParaRPr lang="ja-JP" sz="2400" dirty="0"/>
          </a:p>
        </p:txBody>
      </p:sp>
      <p:sp>
        <p:nvSpPr>
          <p:cNvPr id="16" name="Shape 14"/>
          <p:cNvSpPr/>
          <p:nvPr/>
        </p:nvSpPr>
        <p:spPr>
          <a:xfrm>
            <a:off x="6707058" y="3707892"/>
            <a:ext cx="274320" cy="0"/>
          </a:xfrm>
          <a:prstGeom prst="line">
            <a:avLst/>
          </a:prstGeom>
          <a:noFill/>
          <a:ln w="38100">
            <a:solidFill>
              <a:srgbClr val="404040"/>
            </a:solidFill>
            <a:prstDash val="solid"/>
            <a:tailEnd type="triangle"/>
          </a:ln>
        </p:spPr>
      </p:sp>
      <p:sp>
        <p:nvSpPr>
          <p:cNvPr id="17" name="Text 15"/>
          <p:cNvSpPr/>
          <p:nvPr/>
        </p:nvSpPr>
        <p:spPr>
          <a:xfrm>
            <a:off x="7072818" y="2702052"/>
            <a:ext cx="1929862" cy="2011680"/>
          </a:xfrm>
          <a:prstGeom prst="roundRect">
            <a:avLst>
              <a:gd name="adj" fmla="val 4738"/>
            </a:avLst>
          </a:prstGeom>
          <a:solidFill>
            <a:srgbClr val="F2F2F2"/>
          </a:solidFill>
          <a:ln w="44450">
            <a:solidFill>
              <a:srgbClr val="00A8AA"/>
            </a:solidFill>
          </a:ln>
        </p:spPr>
        <p:txBody>
          <a:bodyPr wrap="square" lIns="36576" tIns="36576" rIns="36576" bIns="36576"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定量 TOF比</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0.9 以上を</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確認</a:t>
            </a:r>
            <a:endParaRPr lang="ja-JP" sz="2400" dirty="0"/>
          </a:p>
        </p:txBody>
      </p:sp>
      <p:sp>
        <p:nvSpPr>
          <p:cNvPr id="18" name="Shape 16"/>
          <p:cNvSpPr/>
          <p:nvPr/>
        </p:nvSpPr>
        <p:spPr>
          <a:xfrm>
            <a:off x="9094121" y="3707892"/>
            <a:ext cx="274320" cy="0"/>
          </a:xfrm>
          <a:prstGeom prst="line">
            <a:avLst/>
          </a:prstGeom>
          <a:noFill/>
          <a:ln w="38100">
            <a:solidFill>
              <a:srgbClr val="404040"/>
            </a:solidFill>
            <a:prstDash val="solid"/>
            <a:tailEnd type="triangle"/>
          </a:ln>
        </p:spPr>
      </p:sp>
      <p:sp>
        <p:nvSpPr>
          <p:cNvPr id="19" name="Text 17"/>
          <p:cNvSpPr/>
          <p:nvPr/>
        </p:nvSpPr>
        <p:spPr>
          <a:xfrm>
            <a:off x="9459881" y="2702052"/>
            <a:ext cx="2226151" cy="2011680"/>
          </a:xfrm>
          <a:prstGeom prst="roundRect">
            <a:avLst>
              <a:gd name="adj" fmla="val 4545"/>
            </a:avLst>
          </a:prstGeom>
          <a:solidFill>
            <a:srgbClr val="F2F2F2"/>
          </a:solidFill>
          <a:ln w="25400">
            <a:solidFill>
              <a:srgbClr val="0072B2"/>
            </a:solidFill>
          </a:ln>
        </p:spPr>
        <p:txBody>
          <a:bodyPr wrap="square" lIns="36576" tIns="36576" rIns="36576" bIns="36576"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意識・呼吸と</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合わせて抜管</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残りやすい患者</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エスラックス静注 添付文書 / Heier T, et al. Anesthesiology 1991;74:815-819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Muramatsu T, et al. Anesthesiology 2018;129:901-911</a:t>
            </a:r>
            <a:endParaRPr lang="ja-JP" sz="1600" dirty="0"/>
          </a:p>
        </p:txBody>
      </p:sp>
      <p:sp>
        <p:nvSpPr>
          <p:cNvPr id="11" name="Text 9"/>
          <p:cNvSpPr txBox="1"/>
          <p:nvPr/>
        </p:nvSpPr>
        <p:spPr>
          <a:xfrm>
            <a:off x="502920" y="1755648"/>
            <a:ext cx="11155680" cy="3813048"/>
          </a:xfrm>
          <a:prstGeom prst="rect">
            <a:avLst/>
          </a:prstGeom>
          <a:noFill/>
          <a:ln/>
        </p:spPr>
        <p:txBody>
          <a:bodyPr wrap="square" lIns="0" tIns="0" rIns="0" bIns="0" rtlCol="0" anchor="t"/>
          <a:lstStyle/>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高齢者、肝・腎機能障害</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低体温（回復が遅い。冷えた手では反応が小さく出る）</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揮発性麻酔薬、マグネシウム、アミノグリコシド</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追加投与が多かった、持続投与していた</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神経筋疾患（重症筋無力症など）</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残存</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筋弛緩</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スガマ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デクス</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ネオスチ</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グミン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再クラ</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ーレ化</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ブリディオン静注 添付文書 / ワゴスチグミン注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p:txBody>
      </p:sp>
      <p:sp>
        <p:nvSpPr>
          <p:cNvPr id="11" name="Text 9"/>
          <p:cNvSpPr txBox="1"/>
          <p:nvPr/>
        </p:nvSpPr>
        <p:spPr>
          <a:xfrm>
            <a:off x="502920" y="1783080"/>
            <a:ext cx="11155680" cy="3831336"/>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残存筋弛緩＝</a:t>
            </a:r>
            <a:r>
              <a:rPr lang="ja-JP" altLang="en-US" sz="2400" b="1" dirty="0">
                <a:solidFill>
                  <a:srgbClr val="262626"/>
                </a:solidFill>
                <a:latin typeface="メイリオ" pitchFamily="34" charset="0"/>
                <a:ea typeface="メイリオ" pitchFamily="34" charset="-122"/>
                <a:cs typeface="メイリオ" pitchFamily="34" charset="-120"/>
              </a:rPr>
              <a:t>TOF比 0.9 未満</a:t>
            </a:r>
            <a:r>
              <a:rPr lang="ja-JP" altLang="en-US" sz="2400" dirty="0">
                <a:solidFill>
                  <a:srgbClr val="262626"/>
                </a:solidFill>
                <a:latin typeface="メイリオ" pitchFamily="34" charset="0"/>
                <a:ea typeface="メイリオ" pitchFamily="34" charset="-122"/>
                <a:cs typeface="メイリオ" pitchFamily="34" charset="-120"/>
              </a:rPr>
              <a:t>。誤嚥・閉塞・低酸素の原因</a:t>
            </a:r>
            <a:endParaRPr lang="ja-JP" sz="2400" dirty="0"/>
          </a:p>
          <a:p>
            <a:pPr algn="l" marL="355600" indent="-355600">
              <a:spcAft>
                <a:spcPts val="28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スガマデクス</a:t>
            </a:r>
            <a:r>
              <a:rPr lang="ja-JP" altLang="en-US" sz="2400" dirty="0">
                <a:solidFill>
                  <a:srgbClr val="262626"/>
                </a:solidFill>
                <a:latin typeface="メイリオ" pitchFamily="34" charset="0"/>
                <a:ea typeface="メイリオ" pitchFamily="34" charset="-122"/>
                <a:cs typeface="メイリオ" pitchFamily="34" charset="-120"/>
              </a:rPr>
              <a:t>：T2 で 2 mg/kg、PTC 1〜2 で 4 mg/kg</a:t>
            </a:r>
            <a:endParaRPr lang="ja-JP" sz="2400" dirty="0"/>
          </a:p>
          <a:p>
            <a:pPr algn="l" marL="355600" indent="-355600">
              <a:spcAft>
                <a:spcPts val="28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ネオスチグミン</a:t>
            </a:r>
            <a:r>
              <a:rPr lang="ja-JP" altLang="en-US" sz="2400" dirty="0">
                <a:solidFill>
                  <a:srgbClr val="262626"/>
                </a:solidFill>
                <a:latin typeface="メイリオ" pitchFamily="34" charset="0"/>
                <a:ea typeface="メイリオ" pitchFamily="34" charset="-122"/>
                <a:cs typeface="メイリオ" pitchFamily="34" charset="-120"/>
              </a:rPr>
              <a:t>：TOF比 0.4 以上だけ。アトロピン併用。5 mg まで</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用量不足は再クラーレ化。深さを測ってから量を決める</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定量的モニターで 0.9 以上を確認してから抜管する</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 筋弛緩の拮抗と残存筋弛緩</dc:title>
  <dc:subject/>
  <dc:creator>初期研修医向け麻酔講義</dc:creator>
  <cp:lastModifiedBy>初期研修医向け麻酔講義</cp:lastModifiedBy>
  <cp:revision>1</cp:revision>
  <dcterms:created xsi:type="dcterms:W3CDTF">2026-10-13T18:43:00Z</dcterms:created>
  <dcterms:modified xsi:type="dcterms:W3CDTF">2026-10-13T18:43:00Z</dcterms:modified>
</cp:coreProperties>
</file>