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術前検査は「念のため」のセットで出すものではない。健康な人でも多くの項目を出せば高い確率で偶発的な異常値が出て、延期や追加検査、患者の不安を生む一方で、管理が変わることはまれである。この講義では、ルーチン検査の害、患者の状態と手術の侵襲で選ぶ考え方（NICE の表）、検査ごとの適応、国内の慣行と保険、輸血の準備（T&amp;S・MSBOS）を扱う。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偽陽性: 検査の基準範囲は健常者の 95% 区間なので、健康な人でも 1 項目あたり最大 5% が範囲外になる。項目が独立だと仮定すると、20 項目で少なくとも 1 つ「異常」が出る確率は 1−0.95^20 ≈ 64%（講義者の計算。Rodríguez-Borja 2017 は 5% と「項目が増えるほど上がる」を記載）。実際の検査項目は互いに相関するので、64% は上限の目安。実例として、ヘルニア 73,596 例では検査を受けた人の 61.6% に 1 つ以上の異常値があった（Benarroch-Gampel 2012）。</a:t>
            </a:r>
          </a:p>
          <a:p>
            <a:r>
              <a:rPr lang="ja-JP" altLang="en-US" dirty="0"/>
              <a:t>管理に影響しうる異常: 待機手術 2,000 例のデータから抽出した標本（Kaplan 1985）では、ルーチン検査の 60% は適応にもとづけば出さなかったはずの検査で、その中で周術期管理に影響しうる異常は 0.22% だった。その異常にも実際には対応しておらず、害も起きていなかった（0.22% は「管理が変わった」割合ではない）。ルーチン胸部 X 線のメタ解析（Archer 1993、21 報告）では、予期しない異常 1.3%、管理が実際に変わったのは 0.1%（95%CI 0〜0.6%）。</a:t>
            </a:r>
          </a:p>
          <a:p>
            <a:r>
              <a:rPr lang="ja-JP" altLang="en-US" dirty="0"/>
              <a:t>白内障: 白内障手術の RCT（Schein 2000）は、9 施設で 18,189 例の 19,557 件の手術を無作為化し、心電図・血算・電解質・BUN・Cr・血糖のセットを「行う群」と「行わない群」で比べた。合併症（術中と術後 7 日）はどちらも 1,000 手術あたり 31.3 件で差がなく、年齢・ASA・既往歴で分けても利益はなかった。Cochrane レビュー（Keay 2019、3 RCT、21,531 手術）でも有害事象はオッズ比 1.00、中止率も同じだった。費用が検査群で 2.55 倍という値は 1 研究（1,005 手術）の推計。</a:t>
            </a:r>
          </a:p>
          <a:p>
            <a:r>
              <a:rPr lang="ja-JP" altLang="en-US" dirty="0"/>
              <a:t>使われない結果: 待機的ヘルニア修復 73,596 例（Benarroch-Gampel 2012）では 63.8% が検査を受け、そのうち 61.6% に異常値があった。手術当日に検査したのは検査を受けた人の 15.3% で、当日の検査で異常があっても 61.6% はそのまま手術された（2 つの 61.6% は別の数字）。検査の有無も異常値も術後合併症と関連しなかった。日帰り手術 1,061 例のランダム化パイロット研究（Chung 2009）では、「適応に沿った検査あり群」と「検査なし群」で有害事象に差はなく、7 日以内の病院再受診は検査あり群で多かった。</a:t>
            </a:r>
          </a:p>
          <a:p>
            <a:r>
              <a:rPr lang="ja-JP" altLang="en-US" dirty="0"/>
              <a:t>害の中身: 異常値の多くは偽陽性で、追加検査の費用、新たなリスク、不安、不便を生み、偶発所見で受診や入院が増える（Bock 2016）。心疾患のない 66 歳以上の白内障手術 110,183 例では 11.3% が術前心電図を受け、その 15.9% に追加検査・新規の循環器受診などの連鎖が起き、追加の費用は 1 人あたり最大 565 ドルだった（Ganguli 2019）。出した検査の異常には対応する責任が生じる。</a:t>
            </a:r>
          </a:p>
          <a:p>
            <a:r>
              <a:rPr lang="ja-JP" altLang="en-US" dirty="0"/>
              <a:t>参考: Rodríguez-Borja E, et al. Biochem Med (Zagreb) 2017;27:030902 / Kaplan EB, et al. JAMA 1985;253:3576-3581 / Archer C, et al. Can J Anaesth 1993;40:1022-1027 / Schein OD, et al. N Engl J Med 2000;342:168-175 / Keay L, et al. Cochrane Database Syst Rev 2019;CD007293 / Benarroch-Gampel J, et al. Ann Surg 2012;256:518-528 / Chung F, et al. Anesth Analg 2009;108:467-475 / Bock M, et al. Anesthesiol Clin 2016;34:43-58 / Ganguli I, et al. JAMA Intern Med 2019;179:1211-1219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NICE NG45: 英国 NICE の「待機手術のルーチン術前検査」（2016 年、16 歳超の待機手術。妊婦、心臓胸部外科、脳神経外科は対象外）は、手術の侵襲（小・中・大）と患者の ASA-PS（1・2・3〜4）の組み合わせで、血算、腎機能、凝固、心電図、呼吸機能の要否を表にしている。表の「考慮」には条件がつく。血算は大手術で全員（Yes）、中手術の ASA 3〜4 では、心血管・腎疾患があって症状が最近精査されていなければ考慮。腎機能は「急性腎障害（AKI）のリスクがあれば考慮」が基本で、中手術の ASA 2 と大手術の ASA 1 はこの条件つき、中手術の ASA 3〜4 と大手術の ASA 2 以上は行う。心電図は中手術の ASA 2 で心血管・腎・糖尿病の併存があれば考慮、大手術の ASA 1 で 65 歳超かつ過去 12 か月の心電図がなければ考慮、中手術の ASA 3〜4 と大手術の ASA 2 以上は行う。小手術の ASA 3〜4 は、腎機能は AKI リスクがあれば、心電図は過去 12 か月の心電図がなければ考慮。凝固は ASA 1〜2 ではルーチンに行わず、中・大手術の ASA 3〜4 で慢性肝疾患があれば考慮。ASA 1〜2 の列（中・大手術）は NICE 2016 の表の逐語転載（Hasan 2021 の付録 1）で確認した（大手術・ASA 2 の心電図は Yes）【要確認: ASA 3〜4 の列の各セル（小手術の腎機能・心電図、中手術の血算・凝固、大手術の腎機能・心電図）を NG45 原文の表（nice.org.uk/guidance/ng45 の Recommendations）で確認】。</a:t>
            </a:r>
          </a:p>
          <a:p>
            <a:r>
              <a:rPr lang="ja-JP" altLang="en-US" dirty="0"/>
              <a:t>呼吸器: 呼吸機能検査・動脈血ガスはどの組み合わせでもルーチンに行わない。呼吸器疾患（既知または疑い）のために ASA 3〜4 となる人が中・大手術を受けるときは、評価後できるだけ早く上級麻酔科医に助言を求めることを考慮する（NICE）。研修医はこうした患者を見つけたら、検査を足す前に指導医・麻酔科医に早めに相談する（講義者の運用提案）。</a:t>
            </a:r>
          </a:p>
          <a:p>
            <a:r>
              <a:rPr lang="ja-JP" altLang="en-US" dirty="0"/>
              <a:t>侵襲の例: 小＝皮膚病変の切除、乳腺膿瘍のドレナージ。中＝初発の鼠径ヘルニア修復、下肢静脈瘤、扁桃摘出、膝関節鏡。大＝腹式子宮全摘、経尿道的前立腺切除、腰椎椎間板切除、甲状腺切除、人工関節置換、肺手術。</a:t>
            </a:r>
          </a:p>
          <a:p>
            <a:r>
              <a:rPr lang="ja-JP" altLang="en-US" dirty="0"/>
              <a:t>2 つの軸: ASA-PS（患者）と侵襲（手術）は別の軸で、かけ合わせて決める。ASA 1 でも大手術なら血算は要る。ASA-PS は 1＝健康、2＝軽度の全身疾患、3＝重度の全身疾患、4＝生命を常に脅かす重度の全身疾患（ASA 2020 改訂）。区分の付け方がずれると表の答えが変わる（付け方と例は → 4-1）【要確認: ASA「Statement on ASA Physical Status Classification System」（2020 年改訂）の定義文】。</a:t>
            </a:r>
          </a:p>
          <a:p>
            <a:r>
              <a:rPr lang="ja-JP" altLang="en-US" dirty="0"/>
              <a:t>考え方（ASA 2012）: 米国麻酔科学会の術前評価アドバイザリー（2012）の趣旨は、検査をルーチンに出さず、病歴・問診・診察・手術の種類に基づいて選ぶこと【要確認: 「検査の理由を記録する」の文言を ASA 2012 本文（Anesthesiology 2012;116:522-538）で確認】。手術前 6 か月以内の検査結果は、病歴に大きな変化がなければ一般に使ってよいとしている（ASA 2012、Rodríguez-Borja 2017 による逐語引用）。NICE には検査一般の有効期間はなく、一部のセル（小手術の ASA 3〜4、大手術の ASA 1 で 65 歳超）の心電図に「過去 12 か月の心電図がなければ」、糖尿病患者の HbA1c に「過去 3 か月」の条件がある。</a:t>
            </a:r>
          </a:p>
          <a:p>
            <a:r>
              <a:rPr lang="ja-JP" altLang="en-US" dirty="0"/>
              <a:t>Choosing Wisely: ASA（2013）は、ASA 1〜2 の低リスク手術で出血・体液移動が最小なら基準値のための血算・生化学・凝固を出さない、無症状で安定した心疾患の低〜中リスク手術で基準値のための心エコー・負荷試験を行わない、と挙げている。</a:t>
            </a:r>
          </a:p>
          <a:p>
            <a:r>
              <a:rPr lang="ja-JP" altLang="en-US" dirty="0"/>
              <a:t>参考: NICE NG45 Routine preoperative tests for elective surgery（2016） / Hasan O, et al. Ann Med Surg (Lond) 2021;66:102439（NG45 の表の逐語転載） / Apfelbaum JL, et al. Anesthesiology 2012;116:522-538 / Rodríguez-Borja E, et al. Biochem Med (Zagreb) 2017;27:030902 / ASA Choosing Wisely（2013）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血算: ESC 2022 は、心血管リスクで中〜高リスクに分類される非心臓手術では術前にヘモグロビンを測り（Class I、エビデンスレベル B）、貧血は手術前に治療して輸血を減らす（Class I、レベル A）としている。ESC の「中〜高リスク」は心血管イベントのリスクによる区分で、NICE の侵襲の区分（小・中・大）とは物差しが違う。スライドの「中手術は併存症で」は NICE の基準。手術患者の最大 48% に貧血があり、骨髄に問題がなければ多くは 2〜4 週で補正できる。当日や前日に初めて血算を出すと、貧血を治す時間がない。大手術は予定が決まった外来の時点で出す。</a:t>
            </a:r>
          </a:p>
          <a:p>
            <a:r>
              <a:rPr lang="ja-JP" altLang="en-US" dirty="0"/>
              <a:t>腎機能: NICE NG45 は「急性腎障害のリスク」がある人に出すとし、リスクの定義は NICE の AKI ガイドライン（NG148）による。NG148 は手術患者のリスクとして、緊急手術（とくに敗血症・循環血液量減少を伴うとき）、腹腔内手術、CKD（eGFR 60 未満）、糖尿病、心不全、65 歳以上、肝疾患、周術期の腎毒性薬（とくに術後の NSAIDs）を挙げる。急性疾患の成人向けの一覧には、ほかに AKI の既往、乏尿、循環血液量減少、1 週間以内の腎毒性薬（NSAIDs、ACE 阻害薬、ARB、利尿薬など）とヨード造影剤、敗血症などが入る【要確認: NG148 の急性疾患の成人向けリスク一覧の原文】。腎機能は薬の用量（→ 4-10）と造影剤の判断にも要る。</a:t>
            </a:r>
          </a:p>
          <a:p>
            <a:r>
              <a:rPr lang="ja-JP" altLang="en-US" dirty="0"/>
              <a:t>凝固: 凝固検査の出血予測能は低く、陽性的中率 0.03〜0.22、尤度比 0.94〜5.1（英国血液学会 BCSH 2008）。全例で出血歴（過去の手術・抜歯・外傷での出血、家族歴、抗血栓薬）を聞き、出血歴が陰性ならルーチンの凝固スクリーニングは不要。肝疾患、抗凝固薬、出血歴があれば出す。抗凝固薬の調整は個別の計画が要る（→ 4-12）。NICE の「凝固はルーチンに行わない」は、脊髄くも膜下麻酔・硬膜外麻酔をしてよいかの判断までは扱っていない。区域麻酔を予定し、抗血栓薬・肝疾患・出血歴があれば、日本ペインクリニック学会・日本麻酔科学会・日本区域麻酔学会の『抗血栓療法中の区域麻酔・神経ブロックガイドライン』に沿って、休薬期間と凝固・血小板を確認し、迷えば麻酔科医に相談する（→ 4-12）【要確認: 同ガイドラインの版（2016 年）と該当項】。</a:t>
            </a:r>
          </a:p>
          <a:p>
            <a:r>
              <a:rPr lang="ja-JP" altLang="en-US" dirty="0"/>
              <a:t>HbA1c: 糖尿病と診断されていない人にはルーチンに測らない。糖尿病患者は過去 3 か月以内の値がなければ測る（NICE NG45）。2024 AHA/ACC も、3 か月以内に測っていなければ術前の HbA1c 測定は妥当（Class 2a）としている（解説論文 Kothari 2025 の引用で確認。ガイドライン本文とは未照合）。英国 AAGBI 2015 は 69 mmol/mol（8.5%）以上なら待機手術を延期してコントロールを改善するとしている【要確認: 英国の現行指針（CPOC 2021 以降）で閾値が同じか】。日本糖尿病学会が同じ閾値を示しているかは確認できていない（→ 4-13）【要確認: 国内で待機手術を延期する HbA1c の閾値（日本糖尿病学会『糖尿病治療ガイド』の手術時の項）】。</a:t>
            </a:r>
          </a:p>
          <a:p>
            <a:r>
              <a:rPr lang="ja-JP" altLang="en-US" dirty="0"/>
              <a:t>妊娠反応: NICE は手術当日に妊娠の可能性がある女性全員に配慮して尋ね、疑いがあれば本人の同意を得て検査し、記録するとしている。日帰り手術の妊娠可能女性 2,056 例で未認識の妊娠は 7 例（0.3%、Manley 1995）、整形外科の当日尿 hCG 2,588 例では陽性 5 例（うち偽陽性 1、Kahn 2008）。思春期でも 15 歳以上では陽性例がある（Azzam 1996：2.4%）。同意のない一律検査は倫理的に支持されない（Jackson 2024）。</a:t>
            </a:r>
          </a:p>
          <a:p>
            <a:r>
              <a:rPr lang="ja-JP" altLang="en-US" dirty="0"/>
              <a:t>参考: Halvorsen S, et al. 2022 ESC Guidelines（PBM の抜粋 Blood Transfus 2024;22:122-129） / Chee YL, et al. Br J Haematol 2008;140:496-504 / Barker P, et al. Anaesthesia 2015;70:1427-1440（AAGBI 糖尿病） / Kothari P, et al. J Cardiothorac Vasc Anesth 2025;39:2408-2420（2024 AHA/ACC の解説） / Manley S, et al. Anesthesiology 1995;83:690-693 / Kahn RL, et al. Anesth Analg 2008;106:1127-1131 / Jackson S, et al. Anesth Analg 2024;138:980-991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心電図: 低リスク手術の無症状患者にはルーチンの術前心電図を推奨しない（2024 AHA/ACC: Class 3。日本循環器学会 JCS 2022 の推奨クラスは【要確認: JCS 2022（Circ J 2023;87:1253-1337）の推奨表で Class III か】）。ESC 2022 も、低リスク患者の低〜中リスク手術ではルーチンにとらない（III）。2024 AHA/ACC は、心疾患（冠動脈疾患、不整脈、末梢動脈疾患、脳血管疾患、構造的心疾患）や心血管症状がある患者ではベースラインとして妥当（2a）、無症状でも上昇リスク手術なら考慮してよい（2b）とする。ESC 2022 は既知の心血管疾患・リスク因子（65 歳以上を含む）・症状のある患者の中〜高リスク手術で推奨（Class I）。年齢だけでは根拠が薄い: 70 歳以上 513 例の 75.2%（386 例）に心電図異常があったが、術後心合併症を予測しなかった（Liu 2002）。ただし上のとおり ESC 2022 は 65 歳以上を心血管リスク因子に数え、NICE も大手術の ASA 1 では 65 歳超で考慮する。年齢の基準はガイドラインで違うので、どの基準かを示す。偶然見つかった Q 波や脚ブロックで冠動脈精査の連鎖を始めない（→ 4-7）。心疾患のない 66 歳以上の白内障手術では、術前心電図を受けた人の 15.9% に追加検査・循環器受診などの連鎖が起きた（Ganguli 2019）。</a:t>
            </a:r>
          </a:p>
          <a:p>
            <a:r>
              <a:rPr lang="ja-JP" altLang="en-US" dirty="0"/>
              <a:t>胸部 X 線: NICE は術前の胸部 X 線をルーチンに行わないとし、年齢の基準も設けていない（Archer 1993: 管理が変わるのは 0.1%）。系統的レビュー（Joo 2005、14 研究）は、リスク因子のない 70 歳未満ではルーチンに撮らないことに相応の根拠（fair evidence）があり、70 歳超は賛否どちらの根拠も不十分だが、リスク因子のない 70 歳超にもルーチンで撮らないという勧告を支持した。ASA の術前評価アドバイザリーは、喫煙・最近の上気道炎・COPD・心疾患を、胸部 X 線を考慮する臨床的特徴に挙げる。一方で、高齢、喫煙、安定した COPD・心疾患、治まった最近の上気道炎は、それだけでは明確な適応（unequivocal indication）にならないとしている（2002 年版の文言を Kumar 2011 が引用【要確認: ASA 2012 本文（Anesthesiology 2012;116:522-538）の胸部 X 線の項で同じ文言か】）。新しい症状・所見（咳、発熱、ラ音、SpO2 低下）があれば出す。</a:t>
            </a:r>
          </a:p>
          <a:p>
            <a:r>
              <a:rPr lang="ja-JP" altLang="en-US" dirty="0"/>
              <a:t>心エコー: NICE は安静時心エコーをルーチンに行わず、心雑音に加えて心症状（息切れ、失神前駆、失神、胸痛）がある場合や心不全の徴候・症状がある場合に考慮し、依頼する前に安静時心電図をとって麻酔科医と相談するとしている【要確認: 「麻酔科医と相談」の文言を NG45 原文で】。2024 AHA/ACC は、新たな呼吸困難、心不全を示す身体所見、心機能悪化の疑いがあれば左室機能の評価を推奨する（Class 1）。中等度以上の大動脈弁狭窄症が疑われ上昇リスク手術を受ける場合と、中等度以上の大動脈弁・僧帽弁閉鎖不全症が疑われる場合も、術前に心エコーを行う（Class 1）。無症状で臨床的に安定した患者に、ルーチンの左室機能評価は推奨しない（Class 3）（いずれも解説論文 Kothari 2025 の引用で確認）。無症状で安定した心疾患の低〜中リスク手術では、基準値のための心エコーを行わない（ASA Choosing Wisely 2013）（→ 4-8）。</a:t>
            </a:r>
          </a:p>
          <a:p>
            <a:r>
              <a:rPr lang="ja-JP" altLang="en-US" dirty="0"/>
              <a:t>呼吸機能: 米国内科学会（ACP 2006）は、術前スパイロメトリーと胸部 X 線を術後肺合併症のリスク予測にルーチンで使うべきでないとした（同時に出た系統的レビュー Smetana 2006 も、スパイロメトリーでリスクを層別化する根拠は不十分とした）。京都大学病院 1 施設の、中〜高リスクの非肺・非心臓手術 5,562 例でも、FEV1 は 30 日以内の呼吸不全・死亡と関連せず、予測能を改善しなかった（Mizota 2024）。それでも国内では、全身麻酔の低リスク手術の 71.8% で術前に呼吸機能検査が行われている（Yonekura 2018、→ S6）。肺切除では FEV1 と DLCO を測り、予測術後値を計算する（ACCP 2013、→ 4-9）。</a:t>
            </a:r>
          </a:p>
          <a:p>
            <a:r>
              <a:rPr lang="ja-JP" altLang="en-US" dirty="0"/>
              <a:t>参考: Liu LL, et al. J Am Geriatr Soc 2002;50:1186-1191 / Archer C, et al. Can J Anaesth 1993;40:1022-1027 / Joo HS, et al. Can J Anaesth 2005;52:568-574 / Kumar A, Srivastava U. J Anaesthesiol Clin Pharmacol 2011;27:174-179 / Kothari P, et al. J Cardiothorac Vasc Anesth 2025;39:2408-2420 / Qaseem A, et al. Ann Intern Med 2006;144:575-580（ACP） / Smetana GW, et al. Ann Intern Med 2006;144:581-595 / Mizota T, et al. JA Clin Rep 2024;10:44 / Brunelli A, et al. Chest 2013;143(5 Suppl):e166S-e190S（ACCP） / Ganguli I, et al. JAMA Intern Med 2019;179:1211-1219 / 日本循環器学会 2022 年改訂版 非心臓手術における合併心疾患の評価と管理に関するガイドライン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成人: 日本の全国レセプトデータ（2012〜2016 年）で、低リスク手術 59,818 例（平均 44 歳）の 60 日以内の術前検査は、血算 58.7%、生化学 47.8%、凝固 36.6%、何らかの血液検査 59.5%。全身麻酔、入院手術、100 床以上の施設で多く、施設間のばらつきが大きかった（Yonekura 2018）。米国でも、ASA 2012 の後に低リスク患者の術前血液検査は 66.5% から 59.6% にしか減っていない（NSQIP 7,507,991 例、Stuart 2024）。日本の 59.5% と同じ水準で、ガイドラインが出ただけでは慣行は変わらない。</a:t>
            </a:r>
          </a:p>
          <a:p>
            <a:r>
              <a:rPr lang="ja-JP" altLang="en-US" dirty="0"/>
              <a:t>呼吸機能: 全国レセプトで、全身麻酔の低リスク手術 9,495 件の 71.8% で術前に呼吸機能検査が行われ、2012 年 72.4% → 2015 年 72.2% と減っていない。施設ごとの中央値は 75.0%（IQR 14.3〜100%）。NICE はどの組み合わせでもルーチンに行わないとしており、国内の実務と最も食い違う項目（Yonekura 2018、J Anesth）。</a:t>
            </a:r>
          </a:p>
          <a:p>
            <a:r>
              <a:rPr lang="ja-JP" altLang="en-US" dirty="0"/>
              <a:t>小児: 1〜17 歳 13,018 例（全国レセプト 2012〜2018 年）で、一般的な非心臓手術の前に血小板数 78.6%、PT 54.4%、aPTT 56.4%、ABO 血液型 50.4% が検査されていたが、術後輸血は 1 例（0.008%）だけだった（Yonekura 2019）。</a:t>
            </a:r>
          </a:p>
          <a:p>
            <a:r>
              <a:rPr lang="ja-JP" altLang="en-US" dirty="0"/>
              <a:t>感染症検査: 国内の三次医療機関 1 施設の手術患者 82,439 例（2017〜2023 年）の 94.8%（78,170 例）に梅毒トレポネーマ検査が行われ、陽性は 544 例（0.70%）、活動性と推定されたのは年 0.02〜0.08% だった。陽性のうち非トレポネーマ抗体価が陽性で梅毒の既往のない 85 例が精査の対象で、実際に精査されたのは 45 例（52.9%）だった（Hanai 2025）。全国の数字ではない。出した検査には責任が伴う。術前の感染症検査（HBs 抗原・HCV 抗体・梅毒・HIV）は標準予防策の代わりにならず、陰性でも感染対策は変わらない。HIV 検査は本人の同意を得て行い、陽性が出たら精査と説明に責任をもつ【要確認: 術前 HIV 検査の同意と保険算定の条件（厚労省の通知、日本エイズ学会の指針）】。</a:t>
            </a:r>
          </a:p>
          <a:p>
            <a:r>
              <a:rPr lang="ja-JP" altLang="en-US" dirty="0"/>
              <a:t>保険: 手術前医学管理料（B001-4、1,192 点、令和 8 年）は、硬膜外麻酔・脊椎麻酔・気管挿管または声門上器具による全身麻酔の手術で算定する。算定したとき、手術前 1 週間以内に行った、告示に列挙された検査・画像診断が包括される（包括の範囲では検査を増やしても収入は増えない）。すべての検査ではなく、1 週間より前の外来検査（S4 で勧める 2〜4 週前の血算など）は別に算定される【要確認: 包括される項目の告示の一覧（血算・凝固・生化学・感染症の一部・心電図・胸部単純 X 線など）と、感染症検査・血液型の扱い】。保険医療機関及び保険医療養担当規則 第 20 条第 1 号は、各種の検査は「診療上必要があると認められる場合に行う」（ホ）、「健康診断は、療養の給付の対象として行つてはならない」（ハ）とし、研究目的の検査も禁じている（ヘ）【要確認: 号の記号と文言を e-Gov（法令 ID 332M50000100015）で確認。査読者の記憶で検査の号が「ニ」と「ホ」に分かれた】。</a:t>
            </a:r>
          </a:p>
          <a:p>
            <a:r>
              <a:rPr lang="ja-JP" altLang="en-US" dirty="0"/>
              <a:t>国内の指針: 講義者が調べた範囲では、ルーチンの術前検査セットを定めた日本麻酔科学会の指針は見当たらない【要確認: 日本麻酔科学会ウェブサイトの指針・提言の一覧】。だから、院内のセットオーダーは「慣行」であり、見直しの対象になる。</a:t>
            </a:r>
          </a:p>
          <a:p>
            <a:r>
              <a:rPr lang="ja-JP" altLang="en-US" dirty="0"/>
              <a:t>参考: Yonekura H, et al. Anesth Analg 2018;126:1633-1640 / Yonekura H, et al. J Anesth 2018;32:23-32 / Yonekura H, et al. BMJ Open 2019;9:e032306 / Hanai S, et al. Sex Transm Dis 2025;52:402-406 / Stuart CM, et al. World J Surg 2024;48:1014-1024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検査: 輸血の可能性がある手術では、ABO 血液型、RhD、不規則抗体スクリーニングを行う。ABO は異なる時点で採血した 2 検体で確認してから輸血する（二重チェック）。交差適合試験の患者検体は輸血予定日前 3 日以内のものを使う（最近の輸血や妊娠で抗体ができる可能性があるため）。実際の期限と採血の手順は、施設の輸血部門の規定に従う【要確認: 「異なる時点の 2 検体」と「輸血予定日前 3 日以内」（全例か、3 か月以内の輸血・妊娠歴がある人だけか）の記載を、日本輸血・細胞治療学会「輸血療法実践ガイド」（2026 年 2 月）と同学会の赤血球型検査ガイドラインで確認】。</a:t>
            </a:r>
          </a:p>
          <a:p>
            <a:r>
              <a:rPr lang="ja-JP" altLang="en-US" dirty="0"/>
              <a:t>T&amp;S: タイプ・アンド・スクリーンは、すぐに輸血する可能性が低い手術で ABO・RhD・不規則抗体を調べ、RhD 陽性で不規則抗体陰性なら交差適合試験を事前に行わず、必要時に短時間で準備する方法。省けるのは RhD 陽性で不規則抗体が陰性のときだけ。輸血が必要になったら、ABO 同型を確認するか迅速な主試験（またはコンピュータクロスマッチ）をしてから出す【要確認: 輸血療法実践ガイド（2026）の T&amp;S の項】。</a:t>
            </a:r>
          </a:p>
          <a:p>
            <a:r>
              <a:rPr lang="ja-JP" altLang="en-US" dirty="0"/>
              <a:t>MSBOS: 最大手術血液準備量（maximum surgical blood order schedule）は、術式別の過去の輸血量（T）と準備量（C）の比（C/T 比）が 1.5 以下になるように準備量を決める方法。SBOE（手術血液準備量計算法）は術式別の平均出血量、トリガー Hb（7〜8 g/dL）、術前 Hb から患者ごとの準備量を求める。</a:t>
            </a:r>
          </a:p>
          <a:p>
            <a:r>
              <a:rPr lang="ja-JP" altLang="en-US" dirty="0"/>
              <a:t>国内の指針: 日本輸血・細胞治療学会「輸血療法実践ガイド」（2026 年 2 月）が、厚生労働省「輸血療法の実施に関する指針」（2005 年、以後改正）と「血液製剤の使用指針」の内容を引き継いだ。旧指針は 2026 年 3 月に廃止予定とされた【要確認: 廃止が実施されたか（厚労省の通知）】。同ガイドにも MSBOS（C/T 比 1.5 以下）と SBOE が載っている。2003 年の調査（1,600 施設に送付、回答 650 施設、回収率 40.6%）では、T&amp;S や MSBOS を実施していたのは約半数の施設だった（古いデータ）。</a:t>
            </a:r>
          </a:p>
          <a:p>
            <a:r>
              <a:rPr lang="ja-JP" altLang="en-US" dirty="0"/>
              <a:t>離島: MSBOS/T&amp;S は都市部の血液センターからの供給を前提にしている。離島では血液製剤の取り寄せに時間がかかるので、施設の在庫（赤血球の保有本数、血漿の融解時間）と搬送時間を踏まえ、出血が見込まれる手術は早めに準備を決める（講義者の現場判断）。</a:t>
            </a:r>
          </a:p>
          <a:p>
            <a:r>
              <a:rPr lang="ja-JP" altLang="en-US" dirty="0"/>
              <a:t>参考: 日本輸血・細胞治療学会「輸血療法実践ガイド」（2026） / 厚生労働省「輸血療法の実施に関する指針」（旧指針） / Nishiyama T, Hanaoka K. 麻酔 2003;52:792-800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分）。ルーチン検査は健康な人にも偽陽性を生み、管理に影響しうる異常は 0.1〜0.22%（実際に管理が変わったのは胸部 X 線で 0.1%）で、白内障手術の大規模 RCT でも利益は示されなかった。検査は患者の状態（ASA-PS）と手術の侵襲の組み合わせで選び、理由を記録する。血算は大手術で全員に、貧血の補正に時間がかかるので外来で早く出す。凝固は出血歴の問診が先で、正常でも出血は否定できない。心電図・胸部 X 線・心エコーは症状と疾患で決める。低リスク手術では年齢だけで出さない（年齢の基準はガイドラインで違い、ESC 2022 は 65 歳以上をリスク因子に数え、NICE は大手術の ASA 1 で 65 歳超に心電図を考慮する）。国内では低リスク手術でも 6 割に血液検査が出されているが、院内セットは慣行であり、「異常が出たら何をするか」で見直す。輸血の準備は T&amp;S と MSBOS の考え方で、離島では在庫と搬送時間を前提に早めに決める。次は 4-5（麻酔の説明と同意）。</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術前検査の選び方</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4-4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ルーチン検査はなぜ害か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検査別</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事情</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Schein OD, et al. N Engl J Med 2000;342:168-175 / Keay L, et al. Cochrane Database Syst Rev</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2019;CD007293 / Benarroch-Gampel J, et al. Ann Surg 2012;256:518-528</a:t>
            </a:r>
            <a:endParaRPr lang="ja-JP" sz="1600" dirty="0"/>
          </a:p>
        </p:txBody>
      </p:sp>
      <p:sp>
        <p:nvSpPr>
          <p:cNvPr id="10" name="Text 8"/>
          <p:cNvSpPr txBox="1"/>
          <p:nvPr/>
        </p:nvSpPr>
        <p:spPr>
          <a:xfrm>
            <a:off x="502920" y="1783080"/>
            <a:ext cx="11155680" cy="3099816"/>
          </a:xfrm>
          <a:prstGeom prst="rect">
            <a:avLst/>
          </a:prstGeom>
          <a:noFill/>
          <a:ln/>
        </p:spPr>
        <p:txBody>
          <a:bodyPr wrap="square" lIns="0" tIns="0" rIns="0" bIns="0" rtlCol="0" anchor="t"/>
          <a:lstStyle/>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1 項目で健常者の 5% が範囲外。20 項目なら</a:t>
            </a:r>
            <a:r>
              <a:rPr lang="ja-JP" altLang="en-US" sz="2400" b="1" dirty="0">
                <a:solidFill>
                  <a:srgbClr val="D55E00"/>
                </a:solidFill>
                <a:latin typeface="メイリオ" pitchFamily="34" charset="0"/>
                <a:ea typeface="メイリオ" pitchFamily="34" charset="-122"/>
                <a:cs typeface="メイリオ" pitchFamily="34" charset="-120"/>
              </a:rPr>
              <a:t>最大 64%</a:t>
            </a:r>
            <a:r>
              <a:rPr lang="ja-JP" altLang="en-US" sz="2400" dirty="0">
                <a:solidFill>
                  <a:srgbClr val="262626"/>
                </a:solidFill>
                <a:latin typeface="メイリオ" pitchFamily="34" charset="0"/>
                <a:ea typeface="メイリオ" pitchFamily="34" charset="-122"/>
                <a:cs typeface="メイリオ" pitchFamily="34" charset="-120"/>
              </a:rPr>
              <a:t>（独立と仮定）</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管理に影響しうる異常は </a:t>
            </a:r>
            <a:r>
              <a:rPr lang="ja-JP" altLang="en-US" sz="2400" b="1" dirty="0">
                <a:solidFill>
                  <a:srgbClr val="D55E00"/>
                </a:solidFill>
                <a:latin typeface="メイリオ" pitchFamily="34" charset="0"/>
                <a:ea typeface="メイリオ" pitchFamily="34" charset="-122"/>
                <a:cs typeface="メイリオ" pitchFamily="34" charset="-120"/>
              </a:rPr>
              <a:t>0.22%</a:t>
            </a:r>
            <a:r>
              <a:rPr lang="ja-JP" altLang="en-US" sz="2400" dirty="0">
                <a:solidFill>
                  <a:srgbClr val="262626"/>
                </a:solidFill>
                <a:latin typeface="メイリオ" pitchFamily="34" charset="0"/>
                <a:ea typeface="メイリオ" pitchFamily="34" charset="-122"/>
                <a:cs typeface="メイリオ" pitchFamily="34" charset="-120"/>
              </a:rPr>
              <a:t>、胸部 X 線で管理を変えたのは </a:t>
            </a:r>
            <a:r>
              <a:rPr lang="ja-JP" altLang="en-US" sz="2400" b="1" dirty="0">
                <a:solidFill>
                  <a:srgbClr val="D55E00"/>
                </a:solidFill>
                <a:latin typeface="メイリオ" pitchFamily="34" charset="0"/>
                <a:ea typeface="メイリオ" pitchFamily="34" charset="-122"/>
                <a:cs typeface="メイリオ" pitchFamily="34" charset="-120"/>
              </a:rPr>
              <a:t>0.1%</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白内障 19,557 件の RCT：合併症は</a:t>
            </a:r>
            <a:r>
              <a:rPr lang="ja-JP" altLang="en-US" sz="2400" b="1" dirty="0">
                <a:solidFill>
                  <a:srgbClr val="D55E00"/>
                </a:solidFill>
                <a:latin typeface="メイリオ" pitchFamily="34" charset="0"/>
                <a:ea typeface="メイリオ" pitchFamily="34" charset="-122"/>
                <a:cs typeface="メイリオ" pitchFamily="34" charset="-120"/>
              </a:rPr>
              <a:t>両群とも</a:t>
            </a:r>
            <a:r>
              <a:rPr lang="ja-JP" altLang="en-US" sz="2400" dirty="0">
                <a:solidFill>
                  <a:srgbClr val="262626"/>
                </a:solidFill>
                <a:latin typeface="メイリオ" pitchFamily="34" charset="0"/>
                <a:ea typeface="メイリオ" pitchFamily="34" charset="-122"/>
                <a:cs typeface="メイリオ" pitchFamily="34" charset="-120"/>
              </a:rPr>
              <a:t> 31.3/1,000 手術</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当日の検査で異常が出ても </a:t>
            </a:r>
            <a:r>
              <a:rPr lang="ja-JP" altLang="en-US" sz="2400" b="1" dirty="0">
                <a:solidFill>
                  <a:srgbClr val="D55E00"/>
                </a:solidFill>
                <a:latin typeface="メイリオ" pitchFamily="34" charset="0"/>
                <a:ea typeface="メイリオ" pitchFamily="34" charset="-122"/>
                <a:cs typeface="メイリオ" pitchFamily="34" charset="-120"/>
              </a:rPr>
              <a:t>61.6%</a:t>
            </a:r>
            <a:r>
              <a:rPr lang="ja-JP" altLang="en-US" sz="2400" dirty="0">
                <a:solidFill>
                  <a:srgbClr val="262626"/>
                </a:solidFill>
                <a:latin typeface="メイリオ" pitchFamily="34" charset="0"/>
                <a:ea typeface="メイリオ" pitchFamily="34" charset="-122"/>
                <a:cs typeface="メイリオ" pitchFamily="34" charset="-120"/>
              </a:rPr>
              <a:t> はそのまま手術（ヘルニア）</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費用 </a:t>
            </a:r>
            <a:r>
              <a:rPr lang="ja-JP" altLang="en-US" sz="2400" b="1" dirty="0">
                <a:solidFill>
                  <a:srgbClr val="D55E00"/>
                </a:solidFill>
                <a:latin typeface="メイリオ" pitchFamily="34" charset="0"/>
                <a:ea typeface="メイリオ" pitchFamily="34" charset="-122"/>
                <a:cs typeface="メイリオ" pitchFamily="34" charset="-120"/>
              </a:rPr>
              <a:t>2.55 倍</a:t>
            </a:r>
            <a:r>
              <a:rPr lang="ja-JP" altLang="en-US" sz="2400" dirty="0">
                <a:solidFill>
                  <a:srgbClr val="262626"/>
                </a:solidFill>
                <a:latin typeface="メイリオ" pitchFamily="34" charset="0"/>
                <a:ea typeface="メイリオ" pitchFamily="34" charset="-122"/>
                <a:cs typeface="メイリオ" pitchFamily="34" charset="-120"/>
              </a:rPr>
              <a:t>（白内障）、7 日以内の</a:t>
            </a:r>
            <a:r>
              <a:rPr lang="ja-JP" altLang="en-US" sz="2400" b="1" dirty="0">
                <a:solidFill>
                  <a:srgbClr val="D55E00"/>
                </a:solidFill>
                <a:latin typeface="メイリオ" pitchFamily="34" charset="0"/>
                <a:ea typeface="メイリオ" pitchFamily="34" charset="-122"/>
                <a:cs typeface="メイリオ" pitchFamily="34" charset="-120"/>
              </a:rPr>
              <a:t>再受診が増加</a:t>
            </a:r>
            <a:r>
              <a:rPr lang="ja-JP" altLang="en-US" sz="2400" dirty="0">
                <a:solidFill>
                  <a:srgbClr val="262626"/>
                </a:solidFill>
                <a:latin typeface="メイリオ" pitchFamily="34" charset="0"/>
                <a:ea typeface="メイリオ" pitchFamily="34" charset="-122"/>
                <a:cs typeface="メイリオ" pitchFamily="34" charset="-120"/>
              </a:rPr>
              <a:t>（日帰り手術）</a:t>
            </a:r>
            <a:endParaRPr lang="ja-JP" sz="2400" dirty="0"/>
          </a:p>
        </p:txBody>
      </p:sp>
      <p:sp>
        <p:nvSpPr>
          <p:cNvPr id="11" name="Text 9"/>
          <p:cNvSpPr/>
          <p:nvPr/>
        </p:nvSpPr>
        <p:spPr>
          <a:xfrm>
            <a:off x="502920" y="5138928"/>
            <a:ext cx="11183112" cy="731520"/>
          </a:xfrm>
          <a:prstGeom prst="roundRect">
            <a:avLst>
              <a:gd name="adj" fmla="val 12500"/>
            </a:avLst>
          </a:prstGeom>
          <a:solidFill>
            <a:srgbClr val="FFFFFF"/>
          </a:solidFill>
          <a:ln w="38100">
            <a:solidFill>
              <a:srgbClr val="00A8AA"/>
            </a:solidFill>
          </a:ln>
        </p:spPr>
        <p:txBody>
          <a:bodyPr wrap="square" lIns="91440" tIns="91440" rIns="91440" bIns="9144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異常が出たとき何をするか決められない検査は、出さない</a:t>
            </a:r>
            <a:endParaRPr lang="ja-JP"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患者の状態 × 手術の侵襲</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検査別</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事情</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NICE NG45（2016）</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Practice Advisory for Preanesthesia Evaluation. Anesthesiology 2012;116:522-538</a:t>
            </a:r>
            <a:endParaRPr lang="ja-JP"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4023360"/>
                <a:gridCol w="2377440"/>
                <a:gridCol w="2377440"/>
                <a:gridCol w="2377440"/>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手術の侵襲（NICE NG45）</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ASA 1</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ASA 2</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ASA 3〜4</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小（皮膚病変の切除、</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乳腺膿瘍ドレナージ）</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検査なし</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検査なし</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腎機能・</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心電図を考慮</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88136">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中（初発の鼠径ヘルニア、</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静脈瘤、扁桃、膝関節鏡）</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検査なし</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腎機能・</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心電図を</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併存症で考慮</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腎機能・</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心電図。血算・</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凝固は考慮</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88136">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大（腹式子宮全摘、TURP、</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甲状腺、人工関節、肺）</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血算。腎機能と</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65 歳超の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心電図は考慮</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血算、腎機能、</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心電図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血算、腎機能、</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心電図、</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凝固は肝疾患で</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1" name="Text 8"/>
          <p:cNvSpPr txBox="1"/>
          <p:nvPr/>
        </p:nvSpPr>
        <p:spPr>
          <a:xfrm>
            <a:off x="502920" y="5303520"/>
            <a:ext cx="1118311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凝固・呼吸機能・胸部 X 線・尿検査は、</a:t>
            </a:r>
            <a:r>
              <a:rPr lang="ja-JP" altLang="en-US" sz="2400" b="1" dirty="0">
                <a:solidFill>
                  <a:srgbClr val="D55E00"/>
                </a:solidFill>
                <a:latin typeface="メイリオ" pitchFamily="34" charset="0"/>
                <a:ea typeface="メイリオ" pitchFamily="34" charset="-122"/>
                <a:cs typeface="メイリオ" pitchFamily="34" charset="-120"/>
              </a:rPr>
              <a:t>ルーチンには出さない</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血液検査：誰に、いつ</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検査別</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事情</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NICE NG45（2016） / Halvorsen S, et al. Eur Heart J 2022;43:3826-3924（ESC 2022）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Chee YL, et al. Br J Haematol 2008;140:496-504</a:t>
            </a:r>
            <a:endParaRPr lang="ja-JP"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1408176"/>
                <a:gridCol w="5367528"/>
                <a:gridCol w="4379976"/>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検査</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出す相手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ポイント</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血算</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大手術は全員、</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中手術は併存症で（NICE）</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貧血の補正に 2〜4 週</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かかる。外来で早く出す</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腎機能・</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電解質</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AKI リスク（CKD、心不全、肝疾患、</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糖尿病、65 歳以上、腎毒性薬）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緊急・腹腔内手術、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周術期の NSAIDs もリスク</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凝固</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出血歴・肝疾患・抗凝固薬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出血歴の問診が先。</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正常でも出血は否定できない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HbA1c</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糖尿病で 3 か月以内の値がなければ</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英国 AAGBI 2015：</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8.5% 以上で待機手術を延期</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妊娠反応</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可能性を聞き、</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疑えば同意を得て検査</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未認識の妊娠 0.3%。</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一律検査は勧めない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心電図・画像・肺機能</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検査別</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事情</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NICE NG45（2016） / Thompson A, et al. Circulation 2024;150:e351-e442（2024 AHA/ACC）</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Halvorsen S, et al. Eur Heart J 2022;43:3826-3924（ESC 2022）</a:t>
            </a:r>
            <a:endParaRPr lang="ja-JP"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2029968"/>
                <a:gridCol w="5166360"/>
                <a:gridCol w="3959352"/>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検査</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出す相手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出さない相手</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82296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12 誘導</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心電図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心疾患・症状・リスク因子があり、</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中〜高リスク手術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低リスク手術の無症状者</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（AHA/ACC 3）</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16128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胸部 X 線</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新しい呼吸器症状・所見があるとき</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ルーチンには</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出さない（NICE）。</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年齢も理由にならない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82296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心エコー</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心不全の徴候、新しい息切れ、</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心雑音+症状、中等度以上の弁膜症</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無症状で安定した心疾患の</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低〜中リスク手術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82296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呼吸機能検査</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肺切除、原因不明の呼吸困難</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それ以外はルーチンに</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出さない（ACP）</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国内の慣行と保険</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検査別</a:t>
            </a:r>
            <a:endParaRPr lang="ja-JP" sz="1100" dirty="0"/>
          </a:p>
        </p:txBody>
      </p:sp>
      <p:sp>
        <p:nvSpPr>
          <p:cNvPr id="6" name="Text 4"/>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国内</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事情</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Yonekura H, et al. Anesth Analg 2018;126:1633-1640 / Yonekura H, et al. BMJ Open</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2019;9:e032306 / Hanai S, et al. Sex Transm Dis 2025;52:402-406</a:t>
            </a:r>
            <a:endParaRPr lang="ja-JP" sz="1600" dirty="0"/>
          </a:p>
        </p:txBody>
      </p:sp>
      <p:sp>
        <p:nvSpPr>
          <p:cNvPr id="10" name="Text 8"/>
          <p:cNvSpPr txBox="1"/>
          <p:nvPr/>
        </p:nvSpPr>
        <p:spPr>
          <a:xfrm>
            <a:off x="502920" y="1783080"/>
            <a:ext cx="11155680" cy="3099816"/>
          </a:xfrm>
          <a:prstGeom prst="rect">
            <a:avLst/>
          </a:prstGeom>
          <a:noFill/>
          <a:ln/>
        </p:spPr>
        <p:txBody>
          <a:bodyPr wrap="square" lIns="0" tIns="0" rIns="0" bIns="0" rtlCol="0" anchor="t"/>
          <a:lstStyle/>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低リスク手術でも</a:t>
            </a:r>
            <a:r>
              <a:rPr lang="ja-JP" altLang="en-US" sz="2400" b="1" dirty="0">
                <a:solidFill>
                  <a:srgbClr val="D55E00"/>
                </a:solidFill>
                <a:latin typeface="メイリオ" pitchFamily="34" charset="0"/>
                <a:ea typeface="メイリオ" pitchFamily="34" charset="-122"/>
                <a:cs typeface="メイリオ" pitchFamily="34" charset="-120"/>
              </a:rPr>
              <a:t>約 6 割</a:t>
            </a:r>
            <a:r>
              <a:rPr lang="ja-JP" altLang="en-US" sz="2400" dirty="0">
                <a:solidFill>
                  <a:srgbClr val="262626"/>
                </a:solidFill>
                <a:latin typeface="メイリオ" pitchFamily="34" charset="0"/>
                <a:ea typeface="メイリオ" pitchFamily="34" charset="-122"/>
                <a:cs typeface="メイリオ" pitchFamily="34" charset="-120"/>
              </a:rPr>
              <a:t>が術前血液検査（全国レセプト、成人）</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小児は半数に血液型、8 割に血小板。輸血は </a:t>
            </a:r>
            <a:r>
              <a:rPr lang="ja-JP" altLang="en-US" sz="2400" b="1" dirty="0">
                <a:solidFill>
                  <a:srgbClr val="D55E00"/>
                </a:solidFill>
                <a:latin typeface="メイリオ" pitchFamily="34" charset="0"/>
                <a:ea typeface="メイリオ" pitchFamily="34" charset="-122"/>
                <a:cs typeface="メイリオ" pitchFamily="34" charset="-120"/>
              </a:rPr>
              <a:t>0.008%</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1 施設：手術患者の </a:t>
            </a:r>
            <a:r>
              <a:rPr lang="ja-JP" altLang="en-US" sz="2400" b="1" dirty="0">
                <a:solidFill>
                  <a:srgbClr val="D55E00"/>
                </a:solidFill>
                <a:latin typeface="メイリオ" pitchFamily="34" charset="0"/>
                <a:ea typeface="メイリオ" pitchFamily="34" charset="-122"/>
                <a:cs typeface="メイリオ" pitchFamily="34" charset="-120"/>
              </a:rPr>
              <a:t>94.8%</a:t>
            </a:r>
            <a:r>
              <a:rPr lang="ja-JP" altLang="en-US" sz="2400" dirty="0">
                <a:solidFill>
                  <a:srgbClr val="262626"/>
                </a:solidFill>
                <a:latin typeface="メイリオ" pitchFamily="34" charset="0"/>
                <a:ea typeface="メイリオ" pitchFamily="34" charset="-122"/>
                <a:cs typeface="メイリオ" pitchFamily="34" charset="-120"/>
              </a:rPr>
              <a:t> に梅毒検査。要精査例の精査は </a:t>
            </a:r>
            <a:r>
              <a:rPr lang="ja-JP" altLang="en-US" sz="2400" b="1" dirty="0">
                <a:solidFill>
                  <a:srgbClr val="D55E00"/>
                </a:solidFill>
                <a:latin typeface="メイリオ" pitchFamily="34" charset="0"/>
                <a:ea typeface="メイリオ" pitchFamily="34" charset="-122"/>
                <a:cs typeface="メイリオ" pitchFamily="34" charset="-120"/>
              </a:rPr>
              <a:t>52.9%</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手術前 1 週間以内の主な検査は</a:t>
            </a:r>
            <a:r>
              <a:rPr lang="ja-JP" altLang="en-US" sz="2400" b="1" dirty="0">
                <a:solidFill>
                  <a:srgbClr val="0072B2"/>
                </a:solidFill>
                <a:latin typeface="メイリオ" pitchFamily="34" charset="0"/>
                <a:ea typeface="メイリオ" pitchFamily="34" charset="-122"/>
                <a:cs typeface="メイリオ" pitchFamily="34" charset="-120"/>
              </a:rPr>
              <a:t>『手術前医学管理料』</a:t>
            </a:r>
            <a:r>
              <a:rPr lang="ja-JP" altLang="en-US" sz="2400" dirty="0">
                <a:solidFill>
                  <a:srgbClr val="262626"/>
                </a:solidFill>
                <a:latin typeface="メイリオ" pitchFamily="34" charset="0"/>
                <a:ea typeface="メイリオ" pitchFamily="34" charset="-122"/>
                <a:cs typeface="メイリオ" pitchFamily="34" charset="-120"/>
              </a:rPr>
              <a:t>に包括される</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療担規則：検査は</a:t>
            </a:r>
            <a:r>
              <a:rPr lang="ja-JP" altLang="en-US" sz="2400" b="1" dirty="0">
                <a:solidFill>
                  <a:srgbClr val="0072B2"/>
                </a:solidFill>
                <a:latin typeface="メイリオ" pitchFamily="34" charset="0"/>
                <a:ea typeface="メイリオ" pitchFamily="34" charset="-122"/>
                <a:cs typeface="メイリオ" pitchFamily="34" charset="-120"/>
              </a:rPr>
              <a:t>『診療上必要があると認められる場合』</a:t>
            </a:r>
            <a:r>
              <a:rPr lang="ja-JP" altLang="en-US" sz="2400" dirty="0">
                <a:solidFill>
                  <a:srgbClr val="262626"/>
                </a:solidFill>
                <a:latin typeface="メイリオ" pitchFamily="34" charset="0"/>
                <a:ea typeface="メイリオ" pitchFamily="34" charset="-122"/>
                <a:cs typeface="メイリオ" pitchFamily="34" charset="-120"/>
              </a:rPr>
              <a:t>に</a:t>
            </a:r>
            <a:endParaRPr lang="ja-JP" sz="2400" dirty="0"/>
          </a:p>
        </p:txBody>
      </p:sp>
      <p:sp>
        <p:nvSpPr>
          <p:cNvPr id="11" name="Text 9"/>
          <p:cNvSpPr/>
          <p:nvPr/>
        </p:nvSpPr>
        <p:spPr>
          <a:xfrm>
            <a:off x="502920" y="5138928"/>
            <a:ext cx="11183112" cy="731520"/>
          </a:xfrm>
          <a:prstGeom prst="roundRect">
            <a:avLst>
              <a:gd name="adj" fmla="val 12500"/>
            </a:avLst>
          </a:prstGeom>
          <a:solidFill>
            <a:srgbClr val="FFFFFF"/>
          </a:solidFill>
          <a:ln w="38100">
            <a:solidFill>
              <a:srgbClr val="00A8AA"/>
            </a:solidFill>
          </a:ln>
        </p:spPr>
        <p:txBody>
          <a:bodyPr wrap="square" lIns="91440" tIns="91440" rIns="91440" bIns="9144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『病院のセットだから』は検査の根拠にならない。セットを見直す</a:t>
            </a:r>
            <a:endParaRPr 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輸血の準備と T&amp;S</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検査別</a:t>
            </a:r>
            <a:endParaRPr lang="ja-JP" sz="1100" dirty="0"/>
          </a:p>
        </p:txBody>
      </p:sp>
      <p:sp>
        <p:nvSpPr>
          <p:cNvPr id="6" name="Text 4"/>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国内</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事情</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日本輸血・細胞治療学会「輸血療法実践ガイド」（2026 年 2 月）</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厚生労働省「輸血療法の実施に関する指針」（旧指針。2026 年 3 月廃止予定とされた）</a:t>
            </a:r>
            <a:endParaRPr lang="ja-JP" sz="1600" dirty="0"/>
          </a:p>
        </p:txBody>
      </p:sp>
      <p:sp>
        <p:nvSpPr>
          <p:cNvPr id="10" name="Shape 8"/>
          <p:cNvSpPr/>
          <p:nvPr/>
        </p:nvSpPr>
        <p:spPr>
          <a:xfrm>
            <a:off x="502920" y="1691640"/>
            <a:ext cx="4197096" cy="2825496"/>
          </a:xfrm>
          <a:prstGeom prst="roundRect">
            <a:avLst>
              <a:gd name="adj" fmla="val 2589"/>
            </a:avLst>
          </a:prstGeom>
          <a:solidFill>
            <a:srgbClr val="F2F2F2"/>
          </a:solidFill>
          <a:ln/>
        </p:spPr>
      </p:sp>
      <p:sp>
        <p:nvSpPr>
          <p:cNvPr id="11" name="Text 9"/>
          <p:cNvSpPr txBox="1"/>
          <p:nvPr/>
        </p:nvSpPr>
        <p:spPr>
          <a:xfrm>
            <a:off x="640080" y="1828800"/>
            <a:ext cx="3922776"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検査</a:t>
            </a:r>
            <a:endParaRPr lang="ja-JP" sz="2400" dirty="0"/>
          </a:p>
        </p:txBody>
      </p:sp>
      <p:sp>
        <p:nvSpPr>
          <p:cNvPr id="12" name="Text 10"/>
          <p:cNvSpPr txBox="1"/>
          <p:nvPr/>
        </p:nvSpPr>
        <p:spPr>
          <a:xfrm>
            <a:off x="640080" y="2359152"/>
            <a:ext cx="3922776"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ABO・RhD・不規則抗体</a:t>
            </a:r>
            <a:endParaRPr lang="ja-JP" sz="2200" dirty="0"/>
          </a:p>
        </p:txBody>
      </p:sp>
      <p:sp>
        <p:nvSpPr>
          <p:cNvPr id="13" name="Shape 11"/>
          <p:cNvSpPr/>
          <p:nvPr/>
        </p:nvSpPr>
        <p:spPr>
          <a:xfrm>
            <a:off x="640080" y="2860243"/>
            <a:ext cx="3922776" cy="0"/>
          </a:xfrm>
          <a:prstGeom prst="line">
            <a:avLst/>
          </a:prstGeom>
          <a:noFill/>
          <a:ln w="12700">
            <a:solidFill>
              <a:srgbClr val="BFBFBF"/>
            </a:solidFill>
            <a:prstDash val="solid"/>
          </a:ln>
        </p:spPr>
      </p:sp>
      <p:sp>
        <p:nvSpPr>
          <p:cNvPr id="14" name="Text 12"/>
          <p:cNvSpPr txBox="1"/>
          <p:nvPr/>
        </p:nvSpPr>
        <p:spPr>
          <a:xfrm>
            <a:off x="640080" y="2939796"/>
            <a:ext cx="3922776"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ABO は別の時点の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2 検体で確認</a:t>
            </a:r>
            <a:endParaRPr lang="ja-JP" sz="2200" dirty="0"/>
          </a:p>
        </p:txBody>
      </p:sp>
      <p:sp>
        <p:nvSpPr>
          <p:cNvPr id="15" name="Shape 13"/>
          <p:cNvSpPr/>
          <p:nvPr/>
        </p:nvSpPr>
        <p:spPr>
          <a:xfrm>
            <a:off x="640080" y="3878885"/>
            <a:ext cx="3922776" cy="0"/>
          </a:xfrm>
          <a:prstGeom prst="line">
            <a:avLst/>
          </a:prstGeom>
          <a:noFill/>
          <a:ln w="12700">
            <a:solidFill>
              <a:srgbClr val="BFBFBF"/>
            </a:solidFill>
            <a:prstDash val="solid"/>
          </a:ln>
        </p:spPr>
      </p:sp>
      <p:sp>
        <p:nvSpPr>
          <p:cNvPr id="16" name="Text 14"/>
          <p:cNvSpPr txBox="1"/>
          <p:nvPr/>
        </p:nvSpPr>
        <p:spPr>
          <a:xfrm>
            <a:off x="640080" y="3959352"/>
            <a:ext cx="3922776"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交差適合の検体は 3 日以内</a:t>
            </a:r>
            <a:endParaRPr lang="ja-JP" sz="2200" dirty="0"/>
          </a:p>
        </p:txBody>
      </p:sp>
      <p:sp>
        <p:nvSpPr>
          <p:cNvPr id="17" name="Shape 15"/>
          <p:cNvSpPr/>
          <p:nvPr/>
        </p:nvSpPr>
        <p:spPr>
          <a:xfrm>
            <a:off x="4919472" y="1691640"/>
            <a:ext cx="6766560" cy="2825496"/>
          </a:xfrm>
          <a:prstGeom prst="roundRect">
            <a:avLst>
              <a:gd name="adj" fmla="val 2589"/>
            </a:avLst>
          </a:prstGeom>
          <a:solidFill>
            <a:srgbClr val="F2F2F2"/>
          </a:solidFill>
          <a:ln/>
        </p:spPr>
      </p:sp>
      <p:sp>
        <p:nvSpPr>
          <p:cNvPr id="18" name="Text 16"/>
          <p:cNvSpPr txBox="1"/>
          <p:nvPr/>
        </p:nvSpPr>
        <p:spPr>
          <a:xfrm>
            <a:off x="5056632" y="1828800"/>
            <a:ext cx="6492240"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準備量</a:t>
            </a:r>
            <a:endParaRPr lang="ja-JP" sz="2400" dirty="0"/>
          </a:p>
        </p:txBody>
      </p:sp>
      <p:sp>
        <p:nvSpPr>
          <p:cNvPr id="19" name="Text 17"/>
          <p:cNvSpPr txBox="1"/>
          <p:nvPr/>
        </p:nvSpPr>
        <p:spPr>
          <a:xfrm>
            <a:off x="5056632" y="2359152"/>
            <a:ext cx="6492240" cy="859536"/>
          </a:xfrm>
          <a:prstGeom prst="rect">
            <a:avLst/>
          </a:prstGeom>
          <a:noFill/>
          <a:ln/>
        </p:spPr>
        <p:txBody>
          <a:bodyPr wrap="square" lIns="0" tIns="0" rIns="0" bIns="0" rtlCol="0" anchor="t"/>
          <a:lstStyle/>
          <a:p>
            <a:pPr algn="l" indent="0" marL="0">
              <a:spcAft>
                <a:spcPts val="100"/>
              </a:spcAft>
              <a:buNone/>
            </a:pPr>
            <a:r>
              <a:rPr lang="ja-JP" altLang="en-US" sz="2200" b="1" dirty="0">
                <a:solidFill>
                  <a:srgbClr val="262626"/>
                </a:solidFill>
                <a:latin typeface="メイリオ" pitchFamily="34" charset="0"/>
                <a:ea typeface="メイリオ" pitchFamily="34" charset="-122"/>
                <a:cs typeface="メイリオ" pitchFamily="34" charset="-120"/>
              </a:rPr>
              <a:t>T&amp;S：</a:t>
            </a:r>
            <a:r>
              <a:rPr lang="ja-JP" altLang="en-US" sz="2200" dirty="0">
                <a:solidFill>
                  <a:srgbClr val="262626"/>
                </a:solidFill>
                <a:latin typeface="メイリオ" pitchFamily="34" charset="0"/>
                <a:ea typeface="メイリオ" pitchFamily="34" charset="-122"/>
                <a:cs typeface="メイリオ" pitchFamily="34" charset="-120"/>
              </a:rPr>
              <a:t>輸血の可能性が低い手術。</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事前の交差試験を省く</a:t>
            </a:r>
            <a:endParaRPr lang="ja-JP" sz="2200" dirty="0"/>
          </a:p>
        </p:txBody>
      </p:sp>
      <p:sp>
        <p:nvSpPr>
          <p:cNvPr id="20" name="Shape 18"/>
          <p:cNvSpPr/>
          <p:nvPr/>
        </p:nvSpPr>
        <p:spPr>
          <a:xfrm>
            <a:off x="5056632" y="3299155"/>
            <a:ext cx="6492240" cy="0"/>
          </a:xfrm>
          <a:prstGeom prst="line">
            <a:avLst/>
          </a:prstGeom>
          <a:noFill/>
          <a:ln w="12700">
            <a:solidFill>
              <a:srgbClr val="BFBFBF"/>
            </a:solidFill>
            <a:prstDash val="solid"/>
          </a:ln>
        </p:spPr>
      </p:sp>
      <p:sp>
        <p:nvSpPr>
          <p:cNvPr id="21" name="Text 19"/>
          <p:cNvSpPr txBox="1"/>
          <p:nvPr/>
        </p:nvSpPr>
        <p:spPr>
          <a:xfrm>
            <a:off x="5056632" y="3378708"/>
            <a:ext cx="6492240" cy="420624"/>
          </a:xfrm>
          <a:prstGeom prst="rect">
            <a:avLst/>
          </a:prstGeom>
          <a:noFill/>
          <a:ln/>
        </p:spPr>
        <p:txBody>
          <a:bodyPr wrap="square" lIns="0" tIns="0" rIns="0" bIns="0" rtlCol="0" anchor="t"/>
          <a:lstStyle/>
          <a:p>
            <a:pPr algn="l" indent="0" marL="0">
              <a:spcAft>
                <a:spcPts val="100"/>
              </a:spcAft>
              <a:buNone/>
            </a:pPr>
            <a:r>
              <a:rPr lang="ja-JP" altLang="en-US" sz="2200" b="1" dirty="0">
                <a:solidFill>
                  <a:srgbClr val="262626"/>
                </a:solidFill>
                <a:latin typeface="メイリオ" pitchFamily="34" charset="0"/>
                <a:ea typeface="メイリオ" pitchFamily="34" charset="-122"/>
                <a:cs typeface="メイリオ" pitchFamily="34" charset="-120"/>
              </a:rPr>
              <a:t>MSBOS：</a:t>
            </a:r>
            <a:r>
              <a:rPr lang="ja-JP" altLang="en-US" sz="2200" dirty="0">
                <a:solidFill>
                  <a:srgbClr val="262626"/>
                </a:solidFill>
                <a:latin typeface="メイリオ" pitchFamily="34" charset="0"/>
                <a:ea typeface="メイリオ" pitchFamily="34" charset="-122"/>
                <a:cs typeface="メイリオ" pitchFamily="34" charset="-120"/>
              </a:rPr>
              <a:t>術式別の準備量（C/T 比 1.5 以下）</a:t>
            </a:r>
            <a:endParaRPr lang="ja-JP" sz="2200" dirty="0"/>
          </a:p>
        </p:txBody>
      </p:sp>
      <p:sp>
        <p:nvSpPr>
          <p:cNvPr id="22" name="Shape 20"/>
          <p:cNvSpPr/>
          <p:nvPr/>
        </p:nvSpPr>
        <p:spPr>
          <a:xfrm>
            <a:off x="5056632" y="3878885"/>
            <a:ext cx="6492240" cy="0"/>
          </a:xfrm>
          <a:prstGeom prst="line">
            <a:avLst/>
          </a:prstGeom>
          <a:noFill/>
          <a:ln w="12700">
            <a:solidFill>
              <a:srgbClr val="BFBFBF"/>
            </a:solidFill>
            <a:prstDash val="solid"/>
          </a:ln>
        </p:spPr>
      </p:sp>
      <p:sp>
        <p:nvSpPr>
          <p:cNvPr id="23" name="Text 21"/>
          <p:cNvSpPr txBox="1"/>
          <p:nvPr/>
        </p:nvSpPr>
        <p:spPr>
          <a:xfrm>
            <a:off x="5056632" y="3959352"/>
            <a:ext cx="6492240" cy="420624"/>
          </a:xfrm>
          <a:prstGeom prst="rect">
            <a:avLst/>
          </a:prstGeom>
          <a:noFill/>
          <a:ln/>
        </p:spPr>
        <p:txBody>
          <a:bodyPr wrap="square" lIns="0" tIns="0" rIns="0" bIns="0" rtlCol="0" anchor="t"/>
          <a:lstStyle/>
          <a:p>
            <a:pPr algn="l" indent="0" marL="0">
              <a:spcAft>
                <a:spcPts val="100"/>
              </a:spcAft>
              <a:buNone/>
            </a:pPr>
            <a:r>
              <a:rPr lang="ja-JP" altLang="en-US" sz="2200" b="1" dirty="0">
                <a:solidFill>
                  <a:srgbClr val="262626"/>
                </a:solidFill>
                <a:latin typeface="メイリオ" pitchFamily="34" charset="0"/>
                <a:ea typeface="メイリオ" pitchFamily="34" charset="-122"/>
                <a:cs typeface="メイリオ" pitchFamily="34" charset="-120"/>
              </a:rPr>
              <a:t>SBOE：</a:t>
            </a:r>
            <a:r>
              <a:rPr lang="ja-JP" altLang="en-US" sz="2200" dirty="0">
                <a:solidFill>
                  <a:srgbClr val="262626"/>
                </a:solidFill>
                <a:latin typeface="メイリオ" pitchFamily="34" charset="0"/>
                <a:ea typeface="メイリオ" pitchFamily="34" charset="-122"/>
                <a:cs typeface="メイリオ" pitchFamily="34" charset="-120"/>
              </a:rPr>
              <a:t>出血量・Hb から患者ごとに</a:t>
            </a:r>
            <a:endParaRPr lang="ja-JP" sz="2200" dirty="0"/>
          </a:p>
        </p:txBody>
      </p:sp>
      <p:sp>
        <p:nvSpPr>
          <p:cNvPr id="24" name="Text 22"/>
          <p:cNvSpPr/>
          <p:nvPr/>
        </p:nvSpPr>
        <p:spPr>
          <a:xfrm>
            <a:off x="502920" y="4846320"/>
            <a:ext cx="11183112" cy="1024128"/>
          </a:xfrm>
          <a:prstGeom prst="roundRect">
            <a:avLst>
              <a:gd name="adj" fmla="val 8929"/>
            </a:avLst>
          </a:prstGeom>
          <a:solidFill>
            <a:srgbClr val="FFFFFF"/>
          </a:solidFill>
          <a:ln w="38100">
            <a:solidFill>
              <a:srgbClr val="00A8AA"/>
            </a:solidFill>
          </a:ln>
        </p:spPr>
        <p:txBody>
          <a:bodyPr wrap="square" lIns="54864" tIns="54864" rIns="54864" bIns="54864"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離島は血液の取り寄せに時間がかかる。</a:t>
            </a:r>
            <a:endParaRPr lang="ja-JP" sz="2400" dirty="0"/>
          </a:p>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在庫と搬送時間を前提に早めに決める</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検査別</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事情</a:t>
            </a:r>
            <a:endParaRPr lang="ja-JP" sz="1100" dirty="0"/>
          </a:p>
        </p:txBody>
      </p:sp>
      <p:sp>
        <p:nvSpPr>
          <p:cNvPr id="7" name="Text 5"/>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NICE NG45（2016） / ASA Practice Advisory for Preanesthesia Evaluation.</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2012;116:522-538 / Schein OD, et al. N Engl J Med 2000;342:168-175</a:t>
            </a:r>
            <a:endParaRPr lang="ja-JP" sz="1600" dirty="0"/>
          </a:p>
        </p:txBody>
      </p:sp>
      <p:sp>
        <p:nvSpPr>
          <p:cNvPr id="10" name="Text 8"/>
          <p:cNvSpPr txBox="1"/>
          <p:nvPr/>
        </p:nvSpPr>
        <p:spPr>
          <a:xfrm>
            <a:off x="502920" y="1828800"/>
            <a:ext cx="11155680" cy="4023360"/>
          </a:xfrm>
          <a:prstGeom prst="rect">
            <a:avLst/>
          </a:prstGeom>
          <a:noFill/>
          <a:ln/>
        </p:spPr>
        <p:txBody>
          <a:bodyPr wrap="square" lIns="0" tIns="0" rIns="0" bIns="0" rtlCol="0" anchor="t"/>
          <a:lstStyle/>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ルーチン検査は偽陽性を生み、管理に影響しうる異常は </a:t>
            </a:r>
            <a:r>
              <a:rPr lang="ja-JP" altLang="en-US" sz="2400" b="1" dirty="0">
                <a:solidFill>
                  <a:srgbClr val="D55E00"/>
                </a:solidFill>
                <a:latin typeface="メイリオ" pitchFamily="34" charset="0"/>
                <a:ea typeface="メイリオ" pitchFamily="34" charset="-122"/>
                <a:cs typeface="メイリオ" pitchFamily="34" charset="-120"/>
              </a:rPr>
              <a:t>0.1〜0.22%</a:t>
            </a:r>
            <a:endParaRPr lang="ja-JP" sz="2400" dirty="0"/>
          </a:p>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患者の状態（ASA）× 手術の侵襲で選ぶ（NICE の表）</a:t>
            </a:r>
            <a:endParaRPr lang="ja-JP" sz="2400" dirty="0"/>
          </a:p>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血算は大手術の外来で早く。凝固は出血歴の問診が先</a:t>
            </a:r>
            <a:endParaRPr lang="ja-JP" sz="2400" dirty="0"/>
          </a:p>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心電図・X 線は症状と疾患で。低リスク手術では年齢だけで出さない</a:t>
            </a:r>
            <a:endParaRPr lang="ja-JP" sz="2400" dirty="0"/>
          </a:p>
          <a:p>
            <a:pPr algn="l" marL="355600" indent="-355600">
              <a:spcAft>
                <a:spcPts val="31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院内セットは慣行。</a:t>
            </a:r>
            <a:r>
              <a:rPr lang="ja-JP" altLang="en-US" sz="2400" b="1" dirty="0">
                <a:solidFill>
                  <a:srgbClr val="D55E00"/>
                </a:solidFill>
                <a:latin typeface="メイリオ" pitchFamily="34" charset="0"/>
                <a:ea typeface="メイリオ" pitchFamily="34" charset="-122"/>
                <a:cs typeface="メイリオ" pitchFamily="34" charset="-120"/>
              </a:rPr>
              <a:t>『異常が出たらどうするか』</a:t>
            </a:r>
            <a:r>
              <a:rPr lang="ja-JP" altLang="en-US" sz="2400" dirty="0">
                <a:solidFill>
                  <a:srgbClr val="262626"/>
                </a:solidFill>
                <a:latin typeface="メイリオ" pitchFamily="34" charset="0"/>
                <a:ea typeface="メイリオ" pitchFamily="34" charset="-122"/>
                <a:cs typeface="メイリオ" pitchFamily="34" charset="-120"/>
              </a:rPr>
              <a:t>で決める</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4-4 術前検査の選び方</dc:title>
  <dc:subject/>
  <dc:creator>初期研修医向け麻酔講義</dc:creator>
  <cp:lastModifiedBy>初期研修医向け麻酔講義</cp:lastModifiedBy>
  <cp:revision>1</cp:revision>
  <dcterms:created xsi:type="dcterms:W3CDTF">2026-10-15T23:44:27Z</dcterms:created>
  <dcterms:modified xsi:type="dcterms:W3CDTF">2026-10-15T23:44:27Z</dcterms:modified>
</cp:coreProperties>
</file>