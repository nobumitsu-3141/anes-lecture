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心血管リスク評価の目的は「検査を増やすこと」ではなく、「延期して治療すべき患者を見つけ、それ以外は余計な検査なしで手術に進める」ことである。この講義では、JCS 2022 と 2024 AHA/ACC の段階的な手順、RCRI、運動耐容能（METs と DASI）、BNP・心電図・心エコー・負荷試験の使いどころ、冠血行再建とステント後の待機、術後の心筋傷害（MINS）を扱う。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JCS 2022: 日本循環器学会・日本心臓病学会「2022 年改訂版 非心臓手術における合併心疾患の評価と管理に関するガイドライン」（英語版 Circ J 2023;87:1253-1337）の術前検査アルゴリズムは 5 段階。Step 1 非心臓手術の緊急度（緊急なら手術を優先）、Step 2 循環器緊急症の有無（急性冠症候群、重症不整脈、急性心不全、症候性弁膜症）、Step 3 非心臓手術そのもののリスク評価、Step 4 周術期心血管イベントのリスク評価（RCRI などを使い、非血管手術で 0〜1 項目、血管手術で 0 項目を低リスクとする）、Step 5 運動耐容能の評価または BNP/NT-proBNP の測定。スライドの 5 箱はこの 5 Step にほぼ対応する。5 Step の構成は、JCS 2022 を引用した国内の症例報告（Maruyama 2023）の全文で確認した【要確認: JCS 2022 本文の図 1 の原図と各 Step の文言、Step 2 の循環器緊急症の内訳、Step 4 の低リスクの定義の推奨文とクラス。内訳と閾値は解説記事の要約だけが根拠】。</a:t>
            </a:r>
          </a:p>
          <a:p>
            <a:r>
              <a:rPr lang="ja-JP" altLang="en-US" dirty="0"/>
              <a:t>AHA/ACC 2024: 2024 年 AHA/ACC 周術期心血管評価ガイドライン（2014 年版に代わる）は、緊急度を緊急（emergency：通常 2 時間未満）、準緊急（urgent：2〜24 時間）、時間制約あり（time-sensitive）、待機（elective）に分け、(1) 緊急手術は追加の心臓検査をせず手術へ、(2) 待機手術で急性心疾患（急性冠症候群、不安定な不整脈、非代償性心不全）があれば延期して安定化、(3) リスク修飾因子（重症弁膜症、重症肺高血圧、高リスクの先天性心疾患、冠動脈ステント・CABG 歴、最近の脳卒中、植込みデバイス、フレイル）があれば時期と検査を多職種で協議、(4) なければリスク計算ツールで推定（2a）し、患者因子も入れて計算した予測 MACE（主要心血管イベント）が 1% 以下なら低リスクで手術へ、1% を超えれば（慣習的には RCRI 2 点以上＝RCRI &gt;1）上昇リスクとして運動耐容能と追加検査を考える、という段階的な流れ。段階の順番、修飾因子、計算ツールの 2a は解説論文（Kothari 2025）の全文で確認した【要確認: 2024 AHA/ACC 本文の Figure と推奨文、1% の境界の書き方（1% 以下か 1% 未満か）】。</a:t>
            </a:r>
          </a:p>
          <a:p>
            <a:r>
              <a:rPr lang="ja-JP" altLang="en-US" dirty="0"/>
              <a:t>二つの 1%: 箱 3 の 1%（ESC：手術の種類だけで見た 30 日リスク）と、箱 4 の AHA の 1%（患者因子も入れて計算した予測 MACE）は別物。リスク修飾因子（重症弁膜症など）があれば、低リスク手術でも循環器内科と相談する。</a:t>
            </a:r>
          </a:p>
          <a:p>
            <a:r>
              <a:rPr lang="ja-JP" altLang="en-US" dirty="0"/>
              <a:t>手術リスク: ESC 2022 は、手術の種類だけで 30 日の心血管死・心筋梗塞・脳卒中のリスクを 3 段階に分ける。低（1% 未満：乳腺、歯科、甲状腺、眼科、小さな婦人科・整形外科（半月板切除）・泌尿器科（TURP）手術、体表手術、VATS の小さな肺切除など）、中（1〜5%：無症候性頸動脈（CEA・CAS）、症候性頸動脈の CEA、EVAR、頭頸部、脾摘・食道裂孔ヘルニア修復・胆嚢摘出などの腹腔内手術、胸腔内の非大手術、股関節・脊椎の大きな手術、末梢動脈形成術、腎移植、泌尿器科・婦人科の大手術など）、高（5% 超：副腎摘出、大動脈・主要血管、症候性頸動脈の CAS、膵頭十二指腸手術、肝切除・胆管手術、食道切除、急性下肢虚血の開放血行再建・切断、肺全摘、肺・肝移植、消化管穿孔の修復、膀胱全摘）。術式の振り分けは、この表を転載した総説（Ladouceur 2025）の全文で確認した【要確認: ESC 2022 本文の表 5 の原表と、脚注のリスクの定義（30 日の心血管死・心筋梗塞・脳卒中か）】。</a:t>
            </a:r>
          </a:p>
          <a:p>
            <a:r>
              <a:rPr lang="ja-JP" altLang="en-US" dirty="0"/>
              <a:t>使い方: 離島の一人麻酔科医にとって大事なのは「どこで止めるか」。緊急なら進む、活動性の心疾患なら延期して循環器内科に相談、低リスク手術か RCRI 低リスクなら検査を足さずに進む、上昇リスクで運動耐容能が悪いときだけ BNP や負荷試験を考える。</a:t>
            </a:r>
          </a:p>
          <a:p>
            <a:r>
              <a:rPr lang="ja-JP" altLang="en-US" dirty="0"/>
              <a:t>参考: Hiraoka E, et al. JCS 2022 Guideline. Circ J 2023;87:1253-1337 / Thompson A, et al. 2024 AHA/ACC Guideline. Circulation 2024;150:e351-e442 / Halvorsen S, et al. 2022 ESC Guidelines. Eur Heart J 2022;43:3826-3924 / Kothari P, et al. J Cardiothorac Vasc Anesth 2025;39:2408-2420（2024 AHA/ACC の解説） / Maruyama K, et al. Gen Thorac Cardiovasc Surg Cases 2023;2:70 / Ladouceur M, et al. J Clin Med 2025;14:3340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活動性の心疾患: 急性冠症候群、不安定な不整脈、非代償性心不全、症候性の弁膜症は、検査を足して進めるのではなく、待機手術を延期して安定化させ、循環器内科に相談する（JCS 2022 Step 2、AHA/ACC 2024）。</a:t>
            </a:r>
          </a:p>
          <a:p>
            <a:r>
              <a:rPr lang="ja-JP" altLang="en-US" dirty="0"/>
              <a:t>最近の心筋梗塞: カリフォルニア州の退院データ（Livhits 2011、563,842 例：股関節手術、胆嚢摘出、結腸切除、待機的腹部大動脈瘤修復、下肢切断）では、心筋梗塞から手術までが 0〜30 日、31〜60 日、61〜90 日、91〜180 日のとき、術後の心筋梗塞は 32.8%、18.7%、8.4%、5.9%、30 日死亡は 14.2%、11.5%、10.5%、9.9%。著者は待機手術を少なくとも 8 週間遅らせることを提案した。スライドの「MI 後 60 日以内」はこの研究の数値にもとづく目安【要確認: 2024 AHA/ACC 本文で、心筋梗塞後に待機手術まで待つ期間の推奨文とクラス】。</a:t>
            </a:r>
          </a:p>
          <a:p>
            <a:r>
              <a:rPr lang="ja-JP" altLang="en-US" dirty="0"/>
              <a:t>修飾因子: カード 2 は AHA/ACC 2024 のリスク修飾因子。重症弁膜症は無症状でも修飾因子に入る（症状があればカード 1 で延期）。先天性心疾患は高リスクのもの。</a:t>
            </a:r>
          </a:p>
          <a:p>
            <a:r>
              <a:rPr lang="ja-JP" altLang="en-US" dirty="0"/>
              <a:t>脳卒中: 最近の脳卒中・一過性脳虚血発作のあとは、待機的な非心臓手術を 3 か月以上延期するのが妥当（AHA/ACC 2024、Class 2a。解説論文 Kothari 2025 で確認）。デンマーク全国データ（Jørgensen 2014、待機的非心臓手術 481,183 件）では、脳卒中から 3 か月未満の手術で 30 日 MACE のオッズ比が 14.23。低リスク手術でも 9.96 で、「小さい手術なら大丈夫」とは言えない。リスクの低下は約 9 か月で頭打ちになり、その後も脳卒中のない患者より高かった。</a:t>
            </a:r>
          </a:p>
          <a:p>
            <a:r>
              <a:rPr lang="ja-JP" altLang="en-US" dirty="0"/>
              <a:t>ステント: 待機手術までの期間は S7 と 4-8 で扱う（ステント留置後 30 日以内の待機手術は行わない。DAPT の中断が必要なら、急性冠症候群に対する PCI 後は 12 か月など）。</a:t>
            </a:r>
          </a:p>
          <a:p>
            <a:r>
              <a:rPr lang="ja-JP" altLang="en-US" dirty="0"/>
              <a:t>問診: 4-1 の「最近の変化」をここで使う。新しい胸痛、労作時の息切れの悪化、起座呼吸、失神、動悸は、評価が終わるまで待機手術をしない。</a:t>
            </a:r>
          </a:p>
          <a:p>
            <a:r>
              <a:rPr lang="ja-JP" altLang="en-US" dirty="0"/>
              <a:t>相談先: 離島では循環器内科が常駐していないことが多い。電話・オンラインでの相談先と、心エコー・負荷試験・冠動脈造影のために本土へ送る判断の基準を前もって決めておく。緊急手術ではこの手順を省き、術中の管理（動脈ライン、昇圧薬、術後のトロポニン）で備える。</a:t>
            </a:r>
          </a:p>
          <a:p>
            <a:r>
              <a:rPr lang="ja-JP" altLang="en-US" dirty="0"/>
              <a:t>参考: Jørgensen ME, et al. JAMA 2014;312:269-277 / Kothari P, et al. J Cardiothorac Vasc Anesth 2025;39:2408-2420 / 日本循環器学会 2022 年改訂版 非心臓手術における合併心疾患の評価と管理に関するガイドライン</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由来: RCRI（Revised Cardiac Risk Index：改訂心リスク指数）は Lee（1999）が 50 歳以上の待機的大手術 4,315 例から作った。6 因子はスライドのとおりで、定義は Lee 1999 の表による（総説 Johnson 2024 の表 1 に転載あり）。虚血性心疾患の胸痛は「現在の」虚血性胸痛（current chest pain）を数える。</a:t>
            </a:r>
          </a:p>
          <a:p>
            <a:r>
              <a:rPr lang="ja-JP" altLang="en-US" dirty="0"/>
              <a:t>リスク: 導出コホートの主要心合併症は 0 点 0.5%、1 点 1.3%、2 点 4%、3 点以上 9%。検証コホート（1,422 例）では 0.4%、0.9%、7%、11%。トロポニンで心筋傷害を拾う現代のコホートではもっと高く、カナダ心臓血管学会 2017 が採用した 30 日の死亡・心筋梗塞・心停止は 0 点 3.9%、1 点 6.0%、2 点 10.1%、3 点以上 15%（Duceppe 2017）【要確認: CCS 2017 本文の表（抄録に数値はなく、値は二次資料の表による）】。「RCRI 0 なら心配なし」とは言い切らない。</a:t>
            </a:r>
          </a:p>
          <a:p>
            <a:r>
              <a:rPr lang="ja-JP" altLang="en-US" dirty="0"/>
              <a:t>閾値: JCS 2022 は非血管手術で 0〜1 点、血管手術で 0 点を低リスクとし、それ以上の術前心臓精査を推奨しない【要確認: JCS 2022 本文の Step 4 の推奨文とクラス（RCRI 非血管手術 0〜1 点・血管手術 0 点を低リスクとし、それ以上の精査を推奨しないか。解説記事の要約だけが根拠）】。AHA/ACC 2024 は RCRI 2 点以上（RCRI &gt;1）、または計算ツール（NSQIP など）で予測 MACE 1% 超を上昇リスクとする。</a:t>
            </a:r>
          </a:p>
          <a:p>
            <a:r>
              <a:rPr lang="ja-JP" altLang="en-US" dirty="0"/>
              <a:t>血管手術: RCRI は血管手術で判別能が低い（系統的レビュー Ford 2010：混合手術の AUC 0.75 に対し、血管手術は 0.64）。JCS が血管手術では 0 点だけを低リスクとするのと方向が合う（講義者の解釈）。RCRI 0〜1 点でも、血管手術なら運動耐容能の評価を省かない。</a:t>
            </a:r>
          </a:p>
          <a:p>
            <a:r>
              <a:rPr lang="ja-JP" altLang="en-US" dirty="0"/>
              <a:t>落とし穴: 糖尿病はインスリン治療中だけ数える。腎機能はクレアチニン 2.0 mg/dL 超。高リスク手術の原著の定義は intraperitoneal、intrathoracic、suprainguinal vascular で、開腹か腹腔鏡かを区別していない。腹腔鏡も腹腔内手術として数えるのが一般的だが、低侵襲手術では手術リスクの割り付けが難しい【要確認: 腹腔鏡手術を腹腔内手術に数える根拠（原著の Methods と、RCRI を検証した後続研究の定義）】。血管手術は JCS では 0 点でないと低リスクにならない。</a:t>
            </a:r>
          </a:p>
          <a:p>
            <a:r>
              <a:rPr lang="ja-JP" altLang="en-US" dirty="0"/>
              <a:t>参考: Lee TH, et al. Circulation 1999;100:1043-1049 / Duceppe E, et al. Can J Cardiol 2017;33:17-32（CCS 2017） / Ford MK, et al. Ann Intern Med 2010;152:26-35 / Johnson EP, et al. Clin Pract 2024;14:906-914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METs: METs（代謝当量）は安静時の酸素消費量を 1 とした運動強度。2024 AHA/ACC の解説（Kothari 2025）では、「2 flights の階段を上れるか」（一般に 4 METs 超の活動）と聞くことが多いとしている。DASI の項目は「1 flight の階段か坂道を上る」で 5.5 点。flight は踊り場までの一続きを指すこともあれば、1 フロア分を指すこともある。日本語では「2 階分」ではなく、「1 つ上の階まで、息切れせず休まずに上がれるか」と具体的に聞く（スライドの「上の階まで」はこの意味）。古典的根拠は Reilly（1999）: 4 ブロック歩けず 2 flights 上れない患者で重篤な周術期合併症が 20.4% 対 10.4%。</a:t>
            </a:r>
          </a:p>
          <a:p>
            <a:r>
              <a:rPr lang="ja-JP" altLang="en-US" dirty="0"/>
              <a:t>主観の限界: METS 研究（Wijeysundera 2018、1,401 例）では、麻酔科医の主観的評価が心肺運動負荷試験で 4 METs に達しない患者を見抜く感度は 19.2%（特異度 94.7%）で、主要アウトカム（30 日死亡または心筋梗塞）を予測したのは DASI だけだった。著者は主観的評価をリスク評価に使うべきでないと結論した。</a:t>
            </a:r>
          </a:p>
          <a:p>
            <a:r>
              <a:rPr lang="ja-JP" altLang="en-US" dirty="0"/>
              <a:t>DASI: Duke Activity Status Index は 12 項目の自記式質問票（Hlatky 1989、満点 58.2 点）で、最大酸素摂取量と相関する。AHA/ACC 2024 は上昇リスク手術で DASI などの構造化した評価を妥当（2a）とし、4 METs 未満または DASI 34 点以下を不良とする。METS 研究の解析（Wijeysundera 2020、40 歳以上で心リスクが上昇した 1,546 例）では、DASI 34 点より悪い場合、1 点下がるごとに 30 日死亡・心筋梗塞のオッズが 1.05 倍になる（OR 1.05、95%CI 1.00〜1.09。副次アウトカム）。増えるのはオッズでリスクではなく、信頼区間の下限は 1.00。34 点より良い場合は、1 点上がるごとに 30 日死亡・心筋傷害（主要アウトカム）のオッズが 0.97 倍。2026 年の統合解析（METS と FIT After Surgery、3,485 例）では、DASI は年齢・RCRI・ナトリウム利尿ペプチドに予後情報を上乗せしたが、上乗せは小さかった。閾値で切るより連続値として、これらと合わせて解釈するよう勧めている。</a:t>
            </a:r>
          </a:p>
          <a:p>
            <a:r>
              <a:rPr lang="ja-JP" altLang="en-US" dirty="0"/>
              <a:t>国内で使うときの注意: DASI の性生活の項目（5.25 点、約 0.65 METs）は日本の高齢者に聞きにくく、黙って 0 点にすると JCS の 7 METs 基準を下回ることがある（Inoue 2023）。聞けなかったときはそう記録する。性生活の質問を除いた 4 項目版（M-DASI-4Q）でも、運動耐容能の閾値の予測は元の 12 項目に劣らなかった（Riedel 2021）。</a:t>
            </a:r>
          </a:p>
          <a:p>
            <a:r>
              <a:rPr lang="ja-JP" altLang="en-US" dirty="0"/>
              <a:t>JCS との違い: JCS 2022 は DASI 34 点以上（約 7 METs）なら追加の心臓検査をせず手術を考慮（IIa）、4 METs 以上（DASI 10 点以上）でも考慮してよい（IIb）、4 METs 未満か不明なら術前心臓検査の適応を包括的に検討する、としている。AHA は 34 点以下を「不良」とし、JCS は 34 点以上を「良好」の閾値に使うので、4 METs と DASI 34 を同じものとして教えない【要確認: JCS 2022 本文の推奨表（7 METs・DASI 34 以上で IIa、4 METs・DASI 10 以上で IIb の文言とクラス）。7 METs の基準と JCS が DASI を採用していることは Inoue 2023 で確認、クラスと DASI 10 は検索要約だけが根拠】。</a:t>
            </a:r>
          </a:p>
          <a:p>
            <a:r>
              <a:rPr lang="ja-JP" altLang="en-US" dirty="0"/>
              <a:t>参考: Wijeysundera DN, et al. Lancet 2018;391:2631-2640（METS） / Wijeysundera DN, et al. Br J Anaesth 2020;124:261-270 / Wijeysundera DN, et al. EClinicalMedicine 2026;96:104015 / Hlatky MA, et al. Am J Cardiol 1989;64:651-654 / Reilly DF, et al. Arch Intern Med 1999;159:2185-2192 / Inoue S. JA Clin Rep 2023;9:87 / Riedel B, et al. Br J Anaesth 2021;126:181-190 / Kothari P, et al. J Cardiothorac Vasc Anesth 2025;39:2408-2420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表の括弧: 推奨クラスは、断りがなければ 2024 AHA/ACC のもの。行 2 の（III）は JCS 2022 で、AHA 2024 でも 3。</a:t>
            </a:r>
          </a:p>
          <a:p>
            <a:r>
              <a:rPr lang="ja-JP" altLang="en-US" dirty="0"/>
              <a:t>BNP: AHA/ACC 2024 は、既知の心血管疾患がある、65 歳以上、または 45 歳以上で心血管症状がある患者が上昇リスク手術を受けるときに BNP/NT-proBNP でリスク評価を補うのを妥当（2a）とする（スライドの「など」はこの 3 つ）。目安は BNP 92 ng/L 以上、NT-proBNP 300 ng/L 以上（Rodseth 2014 の個人データメタ解析が由来で、CCS 2017 も同じ値。VISION では NT-proBNP 200 以上からリスクが上がる）。1 ng/L = 1 pg/mL。確定的なカットオフはないとガイドライン自身が認めている。JCS 2022 は対象が違い、4 METs 未満または不明のときに測定を考慮してもよい（IIb）とする【要確認: JCS 2022 本文の推奨表（IIb の文言と対象）】。JCS 2022 は、BNP なら 92 pg/mL 未満、NT-proBNP なら 300 pg/mL 未満を低リスクの目安とする（表 19）【要確認: JCS 2022 本文の表 19 の原文（個人ブログと検索要約だけが根拠）】。VISION（Duceppe 2020、10,402 例）では術前 NT-proBNP 100 未満の 30 日死亡 0.3%、100〜200 未満で 0.7%、200〜1,500 未満で 1.4%、1,500 以上で 4.0%。腎機能低下や高齢で高く出る。BNP と NT-proBNP は別の物質で値も違う。</a:t>
            </a:r>
          </a:p>
          <a:p>
            <a:r>
              <a:rPr lang="ja-JP" altLang="en-US" dirty="0"/>
              <a:t>心電図: → 4-4。AHA/ACC 2024 は、既知の冠動脈疾患・不整脈・末梢動脈疾患・脳血管疾患・構造的心疾患、または心血管症状があればベースラインとして妥当（2a）、無症状の低リスク手術では推奨しない（3）。JCS 2022 も低リスク手術の無症状者には III【要確認: JCS 2022 本文の心電図の推奨表（解説ブログだけが根拠）】。ESC 2022 は、既知の心血管疾患・リスク因子（65 歳以上を含む）・症状のある患者の中〜高リスク手術で Class I。無症状の人で偶然見つかった Q 波や脚ブロックを、侵襲的な冠動脈精査のきっかけにしない。施設の院内ルールで全例に心電図をとる場合は従ってよいが、偶然の所見から負荷試験や冠動脈造影へ連鎖させない。</a:t>
            </a:r>
          </a:p>
          <a:p>
            <a:r>
              <a:rPr lang="ja-JP" altLang="en-US" dirty="0"/>
              <a:t>心エコー: 新たな呼吸困難、心不全を示す所見、心機能悪化の疑い（AHA Class I）。中等度以上の大動脈弁狭窄症が疑われる上昇リスク手術（Class I）。無症状で安定していればルーチンにしない（Class 3）。心雑音＋症状は心エコー（→ 4-8）。</a:t>
            </a:r>
          </a:p>
          <a:p>
            <a:r>
              <a:rPr lang="ja-JP" altLang="en-US" dirty="0"/>
              <a:t>負荷試験: 上昇リスク手術で運動耐容能が不良または不明、かつ検証済みツールでリスク上昇、しかも結果で管理が変わるときに考慮（2b）。目的はすべての冠動脈疾患を見つけることではなく、左主幹部病変や低い駆出率を伴う多枝病変を拾うこと。低リスク手術、低リスク患者、機能良好で症状が安定した患者には推奨しない（3）。冠動脈 CT も 2b、ルーチンの侵襲的冠動脈造影は 3。</a:t>
            </a:r>
          </a:p>
          <a:p>
            <a:r>
              <a:rPr lang="ja-JP" altLang="en-US" dirty="0"/>
              <a:t>トロポニン: 術前のトロポニンは AHA 2b、ESC 2022 は Class I（既知の心血管疾患、リスク因子（65 歳以上を含む）、症状がある患者の中〜高リスク手術で術前と術後 24・48 時間）。ガイドラインで強さが違う（→ S8）。</a:t>
            </a:r>
          </a:p>
          <a:p>
            <a:r>
              <a:rPr lang="ja-JP" altLang="en-US" dirty="0"/>
              <a:t>参考: Duceppe E, et al. Ann Intern Med 2020;172:96-104（VISION） / Halvorsen S, et al. Eur Heart J 2022;43:3826-3924（ESC 2022） / Kothari P, et al. J Cardiothorac Vasc Anesth 2025;39:2408-2420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CARP: 待機的血管手術の前に予防的冠血行再建を行っても長期転帰は改善しなかった（McFalls 2004、510 例。血行再建群は PCI 59%、CABG 41%）。2.7 年の死亡率は 22% 対 23%、術後 30 日の心筋梗塞は 12% 対 14%。一方、無作為化から手術までの中央値は血行再建群 54 日、非血行再建群 18 日で、手術が遅れた。54 日は CABG を含む血行再建群全体の値で、PCI と DAPT だけによる遅れを示した数字ではない。PCI をすれば DAPT が要り、その間の手術はさらに難しくなる。</a:t>
            </a:r>
          </a:p>
          <a:p>
            <a:r>
              <a:rPr lang="ja-JP" altLang="en-US" dirty="0"/>
              <a:t>原則: AHA/ACC 2024 は、急性冠症候群なら待機手術の前に血行再建（Class I）、慢性冠動脈疾患で左主幹部 50% 以上の狭窄があれば妥当（2a）、それ以外の病変に対し周術期イベントを減らす目的だけで行う血行再建は推奨しない（Class 3）。つまり適応は非手術時と同じ。</a:t>
            </a:r>
          </a:p>
          <a:p>
            <a:r>
              <a:rPr lang="ja-JP" altLang="en-US" dirty="0"/>
              <a:t>ステント後: AHA/ACC 2024 の待機期間は、DAPT（P2Y12 阻害薬）の中断が必要な待機手術に当てはまる。バルーン形成のみなら 14 日以上、急性冠症候群に対する PCI 後は 12 か月（Class I）、慢性冠動脈疾患に対する PCI 後は 6 か月（2a）、時間制約のある手術なら PCI 後 3 か月で考慮可（2b）。ベアメタルも薬剤溶出性も留置後 30 日以内の待機手術は行わない。PCI 歴があればアスピリン（75〜100 mg）は継続する（Class I）。推奨とクラスは解説論文（Kothari 2025）の全文で確認した。JCS 2022 は CQ2 で、ステント留置歴がある患者の非心臓手術を PCI 後 1〜1.5 か月以降に行う方針を示している（表 62）【要確認: JCS 2022 本文の CQ2 の推奨文と推奨の強さ、表 62】。国内では短期 DAPT が多いので、予定の DAPT 期間と終了日を必ず確認し、DAPT 中の待機手術は PCI を行った循環器内科医と協議する（→ 4-8、4-12）。</a:t>
            </a:r>
          </a:p>
          <a:p>
            <a:r>
              <a:rPr lang="ja-JP" altLang="en-US" dirty="0"/>
              <a:t>負荷試験の位置づけ: 負荷試験で冠動脈疾患が見つかっても、左主幹部や急性冠症候群でなければ術前の血行再建は転帰を改善しない。だから負荷試験は「結果で管理が変わるとき」（手術の延期、方法の変更、術後の監視の強化）だけに行う。</a:t>
            </a:r>
          </a:p>
          <a:p>
            <a:r>
              <a:rPr lang="ja-JP" altLang="en-US" dirty="0"/>
              <a:t>参考: McFalls EO, et al. N Engl J Med 2004;351:2795-2804（CARP） / Kothari P, et al. J Cardiothorac Vasc Anesth 2025;39:2408-2420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定義: MINS（myocardial injury after noncardiac surgery：非心臓手術後の心筋傷害）は、術中から術後 30 日以内に起こる虚血による予後に関わる心筋傷害。VISION（Botto 2014、15,065 例）では第 4 世代トロポニン T 0.03 ng/mL 以上で 8.0% に起き、30 日死亡の独立した予測因子（調整 HR 3.87）で、虚血症状があったのは 15.8% だけだった。高感度トロポニン T では、術後 20〜65 ng/L 未満で 5 ng/L 以上の絶対上昇、または 65 ng/L 以上（Devereaux 2017、21,842 例）。17.9% に起き、93.1% は無症状。30 日死亡はピーク 20〜65 未満で 3.0%、65〜1,000 未満で 9.1%、1,000 以上で 29.6%。8.0% は第 4 世代トロポニン T（Botto 2014）、17.9% は高感度トロポニン T（Devereaux 2017）での頻度。どちらも 45 歳以上で入院の非心臓手術を受けた患者全体の値で、高リスク患者に限った数字ではない。数字の差は主にアッセイの違いによる。</a:t>
            </a:r>
          </a:p>
          <a:p>
            <a:r>
              <a:rPr lang="ja-JP" altLang="en-US" dirty="0"/>
              <a:t>誰に測るか: ESC 2022 は既知の心血管疾患、リスク因子（65 歳以上を含む）、症状がある患者の中〜高リスク手術で、術前と術後 24・48 時間の高感度トロポニンを推奨（Class I、エビデンスレベル B）。スライドの「など」はリスク因子と症状を含む。AHA/ACC 2024 は術前 2b、術後 24・48 時間も 2b で、ガイドラインで強さが大きく違う。低リスク手術や虚血の徴候のない患者へのルーチン測定は推奨しない。アッセイ（hs-TnT か hs-TnI か）で閾値が違うので、自施設の検査を確認する。</a:t>
            </a:r>
          </a:p>
          <a:p>
            <a:r>
              <a:rPr lang="ja-JP" altLang="en-US" dirty="0"/>
              <a:t>上がっていたら: 術後のトロポニン上昇がすべて急性冠症候群とは限らない。敗血症、肺塞栓、急性心不全、頻脈性不整脈、低血圧、貧血を鑑別し、可逆的な原因を直したうえで循環器内科に相談し、外来フォローにつなげる。MINS 後のダビガトラン（MANAGE 試験）は主要血管合併症を減らした（11% 対 15%）が、ダビガトランは国内では MINS に対して適応外で、扱いは循環器内科と相談する。</a:t>
            </a:r>
          </a:p>
          <a:p>
            <a:r>
              <a:rPr lang="ja-JP" altLang="en-US" dirty="0"/>
              <a:t>離島: 自施設で高感度トロポニンを測れるか、結果が出たときの相談先（本土の循環器内科、遠隔相談）を先に決めておく。</a:t>
            </a:r>
          </a:p>
          <a:p>
            <a:r>
              <a:rPr lang="ja-JP" altLang="en-US" dirty="0"/>
              <a:t>参考: Botto F, et al. Anesthesiology 2014;120:564-578 / Devereaux PJ, et al. JAMA 2017;317:1642-1651 / Devereaux PJ, et al. Lancet 2018;391:2325-2334（MANAGE）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分）。心血管リスク評価は段階的に進める。緊急手術なら検査をせずに手術へ、活動性の心疾患（急性冠症候群、心筋梗塞後 60 日以内、非代償性心不全、重症不整脈、症候性弁膜症）があれば待機手術を延期して循環器内科に相談する。低リスク手術（手術の種類だけで見た 30 日リスク 1% 未満：ESC 2022）や RCRI 低リスク（AHA/ACC 2024 は RCRI 0〜1 点。JCS 2022 は血管手術なら 0 点だけ【要確認: JCS 2022 本文の Step 4 の推奨文（血管手術は RCRI 0 点だけを低リスクとするか）】）には検査を足さない。運動耐容能は主観で聞かず、具体的な活動と DASI で評価する。BNP と負荷試験は上昇リスク手術で運動耐容能が不良なとき、結果で管理が変わるときだけ。冠血行再建は手術のためには行わず、ステント後の待機期間を守る。術後の心筋傷害（MINS）は 9 割が無症状で、高リスク患者ではトロポニンで拾い、可逆的な原因を直して循環器内科につなぐ。次は 4-8（心疾患別の注意点）。</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心血管リスク評価の手順</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4-7 術前評価</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評価の流れ（5 ステップ）</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手順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RCRI</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運動</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耐容能</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検査</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日本循環器学会 2022 年改訂版 非心臓手術における合併心疾患の評価と管理に関するガイドライン</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Thompson A, et al. Circulation 2024;150:e351-e442（2024 AHA/ACC）</a:t>
            </a:r>
            <a:endParaRPr lang="ja-JP" sz="1600" dirty="0"/>
          </a:p>
        </p:txBody>
      </p:sp>
      <p:sp>
        <p:nvSpPr>
          <p:cNvPr id="11" name="Text 9"/>
          <p:cNvSpPr/>
          <p:nvPr/>
        </p:nvSpPr>
        <p:spPr>
          <a:xfrm>
            <a:off x="640080" y="2295144"/>
            <a:ext cx="1918411" cy="1188720"/>
          </a:xfrm>
          <a:prstGeom prst="roundRect">
            <a:avLst>
              <a:gd name="adj" fmla="val 7692"/>
            </a:avLst>
          </a:prstGeom>
          <a:solidFill>
            <a:srgbClr val="F2F2F2"/>
          </a:solidFill>
          <a:ln w="31750">
            <a:solidFill>
              <a:srgbClr val="0072B2"/>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緊急か</a:t>
            </a:r>
            <a:endParaRPr lang="ja-JP" sz="2400" dirty="0"/>
          </a:p>
        </p:txBody>
      </p:sp>
      <p:sp>
        <p:nvSpPr>
          <p:cNvPr id="12" name="Shape 10"/>
          <p:cNvSpPr/>
          <p:nvPr/>
        </p:nvSpPr>
        <p:spPr>
          <a:xfrm>
            <a:off x="2604211" y="2889504"/>
            <a:ext cx="109728" cy="0"/>
          </a:xfrm>
          <a:prstGeom prst="line">
            <a:avLst/>
          </a:prstGeom>
          <a:noFill/>
          <a:ln w="38100">
            <a:solidFill>
              <a:srgbClr val="404040"/>
            </a:solidFill>
            <a:prstDash val="solid"/>
          </a:ln>
        </p:spPr>
      </p:sp>
      <p:sp>
        <p:nvSpPr>
          <p:cNvPr id="13" name="Shape 11"/>
          <p:cNvSpPr/>
          <p:nvPr/>
        </p:nvSpPr>
        <p:spPr>
          <a:xfrm>
            <a:off x="2695651" y="2779776"/>
            <a:ext cx="146304" cy="219456"/>
          </a:xfrm>
          <a:custGeom>
            <a:avLst/>
            <a:gdLst/>
            <a:ahLst/>
            <a:cxnLst/>
            <a:rect l="l" t="t" r="r" b="b"/>
            <a:pathLst>
              <a:path w="146304" h="219456">
                <a:moveTo>
                  <a:pt x="146304" y="109728"/>
                </a:moveTo>
                <a:lnTo>
                  <a:pt x="0" y="0"/>
                </a:lnTo>
                <a:lnTo>
                  <a:pt x="0" y="219456"/>
                </a:lnTo>
                <a:close/>
              </a:path>
            </a:pathLst>
          </a:custGeom>
          <a:solidFill>
            <a:srgbClr val="404040"/>
          </a:solidFill>
          <a:ln w="12700">
            <a:solidFill>
              <a:srgbClr val="404040"/>
            </a:solidFill>
            <a:prstDash val="solid"/>
          </a:ln>
        </p:spPr>
      </p:sp>
      <p:sp>
        <p:nvSpPr>
          <p:cNvPr id="14" name="Text 12"/>
          <p:cNvSpPr txBox="1"/>
          <p:nvPr/>
        </p:nvSpPr>
        <p:spPr>
          <a:xfrm>
            <a:off x="502920" y="3758184"/>
            <a:ext cx="2192731" cy="1307592"/>
          </a:xfrm>
          <a:prstGeom prst="rect">
            <a:avLst/>
          </a:prstGeom>
          <a:noFill/>
          <a:ln/>
        </p:spPr>
        <p:txBody>
          <a:bodyPr wrap="square" lIns="0" tIns="0" rIns="0" bIns="0" rtlCol="0" anchor="t"/>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2 時間未満</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（AHA）なら</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検査せず</a:t>
            </a:r>
            <a:r>
              <a:rPr lang="ja-JP" altLang="en-US" sz="2200" b="1" dirty="0">
                <a:solidFill>
                  <a:srgbClr val="0072B2"/>
                </a:solidFill>
                <a:latin typeface="メイリオ" pitchFamily="34" charset="0"/>
                <a:ea typeface="メイリオ" pitchFamily="34" charset="-122"/>
                <a:cs typeface="メイリオ" pitchFamily="34" charset="-120"/>
              </a:rPr>
              <a:t>手術へ</a:t>
            </a:r>
            <a:endParaRPr lang="ja-JP" sz="2200" dirty="0"/>
          </a:p>
        </p:txBody>
      </p:sp>
      <p:sp>
        <p:nvSpPr>
          <p:cNvPr id="15" name="Text 13"/>
          <p:cNvSpPr/>
          <p:nvPr/>
        </p:nvSpPr>
        <p:spPr>
          <a:xfrm>
            <a:off x="2887675" y="2295144"/>
            <a:ext cx="1918411" cy="1188720"/>
          </a:xfrm>
          <a:prstGeom prst="roundRect">
            <a:avLst>
              <a:gd name="adj" fmla="val 7692"/>
            </a:avLst>
          </a:prstGeom>
          <a:solidFill>
            <a:srgbClr val="F2F2F2"/>
          </a:solidFill>
          <a:ln w="31750">
            <a:solidFill>
              <a:srgbClr val="0072B2"/>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活動性の</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心疾患</a:t>
            </a:r>
            <a:endParaRPr lang="ja-JP" sz="2400" dirty="0"/>
          </a:p>
        </p:txBody>
      </p:sp>
      <p:sp>
        <p:nvSpPr>
          <p:cNvPr id="16" name="Shape 14"/>
          <p:cNvSpPr/>
          <p:nvPr/>
        </p:nvSpPr>
        <p:spPr>
          <a:xfrm>
            <a:off x="4851806" y="2889504"/>
            <a:ext cx="109728" cy="0"/>
          </a:xfrm>
          <a:prstGeom prst="line">
            <a:avLst/>
          </a:prstGeom>
          <a:noFill/>
          <a:ln w="38100">
            <a:solidFill>
              <a:srgbClr val="404040"/>
            </a:solidFill>
            <a:prstDash val="solid"/>
          </a:ln>
        </p:spPr>
      </p:sp>
      <p:sp>
        <p:nvSpPr>
          <p:cNvPr id="17" name="Shape 15"/>
          <p:cNvSpPr/>
          <p:nvPr/>
        </p:nvSpPr>
        <p:spPr>
          <a:xfrm>
            <a:off x="4943246" y="2779776"/>
            <a:ext cx="146304" cy="219456"/>
          </a:xfrm>
          <a:custGeom>
            <a:avLst/>
            <a:gdLst/>
            <a:ahLst/>
            <a:cxnLst/>
            <a:rect l="l" t="t" r="r" b="b"/>
            <a:pathLst>
              <a:path w="146304" h="219456">
                <a:moveTo>
                  <a:pt x="146304" y="109728"/>
                </a:moveTo>
                <a:lnTo>
                  <a:pt x="0" y="0"/>
                </a:lnTo>
                <a:lnTo>
                  <a:pt x="0" y="219456"/>
                </a:lnTo>
                <a:close/>
              </a:path>
            </a:pathLst>
          </a:custGeom>
          <a:solidFill>
            <a:srgbClr val="404040"/>
          </a:solidFill>
          <a:ln w="12700">
            <a:solidFill>
              <a:srgbClr val="404040"/>
            </a:solidFill>
            <a:prstDash val="solid"/>
          </a:ln>
        </p:spPr>
      </p:sp>
      <p:sp>
        <p:nvSpPr>
          <p:cNvPr id="18" name="Text 16"/>
          <p:cNvSpPr txBox="1"/>
          <p:nvPr/>
        </p:nvSpPr>
        <p:spPr>
          <a:xfrm>
            <a:off x="2750515" y="3758184"/>
            <a:ext cx="2192731" cy="841248"/>
          </a:xfrm>
          <a:prstGeom prst="rect">
            <a:avLst/>
          </a:prstGeom>
          <a:noFill/>
          <a:ln/>
        </p:spPr>
        <p:txBody>
          <a:bodyPr wrap="square" lIns="0" tIns="0" rIns="0" bIns="0" rtlCol="0" anchor="t"/>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あれば</a:t>
            </a:r>
            <a:r>
              <a:rPr lang="ja-JP" altLang="en-US" sz="2200" b="1" dirty="0">
                <a:solidFill>
                  <a:srgbClr val="D55E00"/>
                </a:solidFill>
                <a:latin typeface="メイリオ" pitchFamily="34" charset="0"/>
                <a:ea typeface="メイリオ" pitchFamily="34" charset="-122"/>
                <a:cs typeface="メイリオ" pitchFamily="34" charset="-120"/>
              </a:rPr>
              <a:t>延期して</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治療（→ S3）</a:t>
            </a:r>
            <a:endParaRPr lang="ja-JP" sz="2200" dirty="0"/>
          </a:p>
        </p:txBody>
      </p:sp>
      <p:sp>
        <p:nvSpPr>
          <p:cNvPr id="19" name="Text 17"/>
          <p:cNvSpPr/>
          <p:nvPr/>
        </p:nvSpPr>
        <p:spPr>
          <a:xfrm>
            <a:off x="5135270" y="2295144"/>
            <a:ext cx="1918411" cy="1188720"/>
          </a:xfrm>
          <a:prstGeom prst="roundRect">
            <a:avLst>
              <a:gd name="adj" fmla="val 7692"/>
            </a:avLst>
          </a:prstGeom>
          <a:solidFill>
            <a:srgbClr val="F2F2F2"/>
          </a:solidFill>
          <a:ln w="31750">
            <a:solidFill>
              <a:srgbClr val="0072B2"/>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手術リスク</a:t>
            </a:r>
            <a:endParaRPr lang="ja-JP" sz="2400" dirty="0"/>
          </a:p>
        </p:txBody>
      </p:sp>
      <p:sp>
        <p:nvSpPr>
          <p:cNvPr id="20" name="Shape 18"/>
          <p:cNvSpPr/>
          <p:nvPr/>
        </p:nvSpPr>
        <p:spPr>
          <a:xfrm>
            <a:off x="7099402" y="2889504"/>
            <a:ext cx="109728" cy="0"/>
          </a:xfrm>
          <a:prstGeom prst="line">
            <a:avLst/>
          </a:prstGeom>
          <a:noFill/>
          <a:ln w="38100">
            <a:solidFill>
              <a:srgbClr val="404040"/>
            </a:solidFill>
            <a:prstDash val="solid"/>
          </a:ln>
        </p:spPr>
      </p:sp>
      <p:sp>
        <p:nvSpPr>
          <p:cNvPr id="21" name="Shape 19"/>
          <p:cNvSpPr/>
          <p:nvPr/>
        </p:nvSpPr>
        <p:spPr>
          <a:xfrm>
            <a:off x="7190842" y="2779776"/>
            <a:ext cx="146304" cy="219456"/>
          </a:xfrm>
          <a:custGeom>
            <a:avLst/>
            <a:gdLst/>
            <a:ahLst/>
            <a:cxnLst/>
            <a:rect l="l" t="t" r="r" b="b"/>
            <a:pathLst>
              <a:path w="146304" h="219456">
                <a:moveTo>
                  <a:pt x="146304" y="109728"/>
                </a:moveTo>
                <a:lnTo>
                  <a:pt x="0" y="0"/>
                </a:lnTo>
                <a:lnTo>
                  <a:pt x="0" y="219456"/>
                </a:lnTo>
                <a:close/>
              </a:path>
            </a:pathLst>
          </a:custGeom>
          <a:solidFill>
            <a:srgbClr val="404040"/>
          </a:solidFill>
          <a:ln w="12700">
            <a:solidFill>
              <a:srgbClr val="404040"/>
            </a:solidFill>
            <a:prstDash val="solid"/>
          </a:ln>
        </p:spPr>
      </p:sp>
      <p:sp>
        <p:nvSpPr>
          <p:cNvPr id="22" name="Text 20"/>
          <p:cNvSpPr txBox="1"/>
          <p:nvPr/>
        </p:nvSpPr>
        <p:spPr>
          <a:xfrm>
            <a:off x="4998110" y="3758184"/>
            <a:ext cx="2192731" cy="1307592"/>
          </a:xfrm>
          <a:prstGeom prst="rect">
            <a:avLst/>
          </a:prstGeom>
          <a:noFill/>
          <a:ln/>
        </p:spPr>
        <p:txBody>
          <a:bodyPr wrap="square" lIns="0" tIns="0" rIns="0" bIns="0" rtlCol="0" anchor="t"/>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低リスク手術</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なら原則</a:t>
            </a:r>
            <a:endParaRPr lang="ja-JP" sz="2200" dirty="0"/>
          </a:p>
          <a:p>
            <a:pPr algn="ctr" indent="0" marL="0">
              <a:buNone/>
            </a:pPr>
            <a:r>
              <a:rPr lang="ja-JP" altLang="en-US" sz="2200" b="1" dirty="0">
                <a:solidFill>
                  <a:srgbClr val="0072B2"/>
                </a:solidFill>
                <a:latin typeface="メイリオ" pitchFamily="34" charset="0"/>
                <a:ea typeface="メイリオ" pitchFamily="34" charset="-122"/>
                <a:cs typeface="メイリオ" pitchFamily="34" charset="-120"/>
              </a:rPr>
              <a:t>そのまま手術</a:t>
            </a:r>
            <a:endParaRPr lang="ja-JP" sz="2200" dirty="0"/>
          </a:p>
        </p:txBody>
      </p:sp>
      <p:sp>
        <p:nvSpPr>
          <p:cNvPr id="23" name="Text 21"/>
          <p:cNvSpPr/>
          <p:nvPr/>
        </p:nvSpPr>
        <p:spPr>
          <a:xfrm>
            <a:off x="7382866" y="2295144"/>
            <a:ext cx="1918411" cy="1188720"/>
          </a:xfrm>
          <a:prstGeom prst="roundRect">
            <a:avLst>
              <a:gd name="adj" fmla="val 7692"/>
            </a:avLst>
          </a:prstGeom>
          <a:solidFill>
            <a:srgbClr val="F2F2F2"/>
          </a:solidFill>
          <a:ln w="31750">
            <a:solidFill>
              <a:srgbClr val="0072B2"/>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RCRI・</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運動耐容能</a:t>
            </a:r>
            <a:endParaRPr lang="ja-JP" sz="2400" dirty="0"/>
          </a:p>
        </p:txBody>
      </p:sp>
      <p:sp>
        <p:nvSpPr>
          <p:cNvPr id="24" name="Shape 22"/>
          <p:cNvSpPr/>
          <p:nvPr/>
        </p:nvSpPr>
        <p:spPr>
          <a:xfrm>
            <a:off x="9346997" y="2889504"/>
            <a:ext cx="109728" cy="0"/>
          </a:xfrm>
          <a:prstGeom prst="line">
            <a:avLst/>
          </a:prstGeom>
          <a:noFill/>
          <a:ln w="38100">
            <a:solidFill>
              <a:srgbClr val="404040"/>
            </a:solidFill>
            <a:prstDash val="solid"/>
          </a:ln>
        </p:spPr>
      </p:sp>
      <p:sp>
        <p:nvSpPr>
          <p:cNvPr id="25" name="Shape 23"/>
          <p:cNvSpPr/>
          <p:nvPr/>
        </p:nvSpPr>
        <p:spPr>
          <a:xfrm>
            <a:off x="9438437" y="2779776"/>
            <a:ext cx="146304" cy="219456"/>
          </a:xfrm>
          <a:custGeom>
            <a:avLst/>
            <a:gdLst/>
            <a:ahLst/>
            <a:cxnLst/>
            <a:rect l="l" t="t" r="r" b="b"/>
            <a:pathLst>
              <a:path w="146304" h="219456">
                <a:moveTo>
                  <a:pt x="146304" y="109728"/>
                </a:moveTo>
                <a:lnTo>
                  <a:pt x="0" y="0"/>
                </a:lnTo>
                <a:lnTo>
                  <a:pt x="0" y="219456"/>
                </a:lnTo>
                <a:close/>
              </a:path>
            </a:pathLst>
          </a:custGeom>
          <a:solidFill>
            <a:srgbClr val="404040"/>
          </a:solidFill>
          <a:ln w="12700">
            <a:solidFill>
              <a:srgbClr val="404040"/>
            </a:solidFill>
            <a:prstDash val="solid"/>
          </a:ln>
        </p:spPr>
      </p:sp>
      <p:sp>
        <p:nvSpPr>
          <p:cNvPr id="26" name="Text 24"/>
          <p:cNvSpPr txBox="1"/>
          <p:nvPr/>
        </p:nvSpPr>
        <p:spPr>
          <a:xfrm>
            <a:off x="7245706" y="3758184"/>
            <a:ext cx="2192731" cy="841248"/>
          </a:xfrm>
          <a:prstGeom prst="rect">
            <a:avLst/>
          </a:prstGeom>
          <a:noFill/>
          <a:ln/>
        </p:spPr>
        <p:txBody>
          <a:bodyPr wrap="square" lIns="0" tIns="0" rIns="0" bIns="0" rtlCol="0" anchor="t"/>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低リスクなら</a:t>
            </a:r>
            <a:endParaRPr lang="ja-JP" sz="2200" dirty="0"/>
          </a:p>
          <a:p>
            <a:pPr algn="ctr" indent="0" marL="0">
              <a:buNone/>
            </a:pPr>
            <a:r>
              <a:rPr lang="ja-JP" altLang="en-US" sz="2200" b="1" dirty="0">
                <a:solidFill>
                  <a:srgbClr val="0072B2"/>
                </a:solidFill>
                <a:latin typeface="メイリオ" pitchFamily="34" charset="0"/>
                <a:ea typeface="メイリオ" pitchFamily="34" charset="-122"/>
                <a:cs typeface="メイリオ" pitchFamily="34" charset="-120"/>
              </a:rPr>
              <a:t>手術へ</a:t>
            </a:r>
            <a:endParaRPr lang="ja-JP" sz="2200" dirty="0"/>
          </a:p>
        </p:txBody>
      </p:sp>
      <p:sp>
        <p:nvSpPr>
          <p:cNvPr id="27" name="Text 25"/>
          <p:cNvSpPr/>
          <p:nvPr/>
        </p:nvSpPr>
        <p:spPr>
          <a:xfrm>
            <a:off x="9630461" y="2295144"/>
            <a:ext cx="1918411" cy="1188720"/>
          </a:xfrm>
          <a:prstGeom prst="roundRect">
            <a:avLst>
              <a:gd name="adj" fmla="val 7692"/>
            </a:avLst>
          </a:prstGeom>
          <a:solidFill>
            <a:srgbClr val="F2F2F2"/>
          </a:solidFill>
          <a:ln w="31750">
            <a:solidFill>
              <a:srgbClr val="0072B2"/>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追加検査</a:t>
            </a:r>
            <a:endParaRPr lang="ja-JP" sz="2400" dirty="0"/>
          </a:p>
        </p:txBody>
      </p:sp>
      <p:sp>
        <p:nvSpPr>
          <p:cNvPr id="28" name="Text 26"/>
          <p:cNvSpPr txBox="1"/>
          <p:nvPr/>
        </p:nvSpPr>
        <p:spPr>
          <a:xfrm>
            <a:off x="9493301" y="3758184"/>
            <a:ext cx="2192731" cy="841248"/>
          </a:xfrm>
          <a:prstGeom prst="rect">
            <a:avLst/>
          </a:prstGeom>
          <a:noFill/>
          <a:ln/>
        </p:spPr>
        <p:txBody>
          <a:bodyPr wrap="square" lIns="0" tIns="0" rIns="0" bIns="0" rtlCol="0" anchor="t"/>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管理が変わる</a:t>
            </a:r>
            <a:endParaRPr lang="ja-JP" sz="2200" dirty="0"/>
          </a:p>
          <a:p>
            <a:pPr algn="ctr" indent="0" marL="0">
              <a:buNone/>
            </a:pPr>
            <a:r>
              <a:rPr lang="ja-JP" altLang="en-US" sz="2200" b="1" dirty="0">
                <a:solidFill>
                  <a:srgbClr val="D55E00"/>
                </a:solidFill>
                <a:latin typeface="メイリオ" pitchFamily="34" charset="0"/>
                <a:ea typeface="メイリオ" pitchFamily="34" charset="-122"/>
                <a:cs typeface="メイリオ" pitchFamily="34" charset="-120"/>
              </a:rPr>
              <a:t>ときだけ</a:t>
            </a:r>
            <a:endParaRPr lang="ja-JP"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延期すべき活動性の心疾患</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手順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RCRI</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運動</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耐容能</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検査</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Thompson A, et al. Circulation 2024;150:e351-e442（2024 AHA/ACC）</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Livhits M, et al. Ann Surg 2011;253:857-864</a:t>
            </a:r>
            <a:endParaRPr lang="ja-JP" sz="1600" dirty="0"/>
          </a:p>
        </p:txBody>
      </p:sp>
      <p:sp>
        <p:nvSpPr>
          <p:cNvPr id="11" name="Shape 9"/>
          <p:cNvSpPr/>
          <p:nvPr/>
        </p:nvSpPr>
        <p:spPr>
          <a:xfrm>
            <a:off x="502920" y="1691640"/>
            <a:ext cx="5946343" cy="2953512"/>
          </a:xfrm>
          <a:prstGeom prst="roundRect">
            <a:avLst>
              <a:gd name="adj" fmla="val 2477"/>
            </a:avLst>
          </a:prstGeom>
          <a:solidFill>
            <a:srgbClr val="F2F2F2"/>
          </a:solidFill>
          <a:ln/>
        </p:spPr>
      </p:sp>
      <p:sp>
        <p:nvSpPr>
          <p:cNvPr id="12" name="Text 10"/>
          <p:cNvSpPr txBox="1"/>
          <p:nvPr/>
        </p:nvSpPr>
        <p:spPr>
          <a:xfrm>
            <a:off x="630936" y="1783080"/>
            <a:ext cx="5690311" cy="41148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見つけたら延期（待機手術）</a:t>
            </a:r>
            <a:endParaRPr lang="ja-JP" sz="2400" dirty="0"/>
          </a:p>
        </p:txBody>
      </p:sp>
      <p:sp>
        <p:nvSpPr>
          <p:cNvPr id="13" name="Text 11"/>
          <p:cNvSpPr txBox="1"/>
          <p:nvPr/>
        </p:nvSpPr>
        <p:spPr>
          <a:xfrm>
            <a:off x="630936" y="2231136"/>
            <a:ext cx="5690311" cy="2322576"/>
          </a:xfrm>
          <a:prstGeom prst="rect">
            <a:avLst/>
          </a:prstGeom>
          <a:noFill/>
          <a:ln/>
        </p:spPr>
        <p:txBody>
          <a:bodyPr wrap="square" lIns="0" tIns="0" rIns="0" bIns="0" rtlCol="0" anchor="t"/>
          <a:lstStyle/>
          <a:p>
            <a:pPr algn="l" marL="254000" indent="-254000">
              <a:lnSpc>
                <a:spcPct val="85000"/>
              </a:lnSpc>
              <a:spcAft>
                <a:spcPts val="350"/>
              </a:spcAft>
              <a:buClr>
                <a:srgbClr val="262626"/>
              </a:buClr>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急性冠症候群、MI 後 60 日以内</a:t>
            </a:r>
            <a:endParaRPr lang="ja-JP" sz="2200" dirty="0"/>
          </a:p>
          <a:p>
            <a:pPr algn="l" marL="254000" indent="-254000">
              <a:lnSpc>
                <a:spcPct val="85000"/>
              </a:lnSpc>
              <a:buClr>
                <a:srgbClr val="262626"/>
              </a:buClr>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非代償性心不全</a:t>
            </a:r>
            <a:endParaRPr lang="ja-JP" sz="2200" dirty="0"/>
          </a:p>
          <a:p>
            <a:pPr algn="l" marL="254000" indent="-254000">
              <a:lnSpc>
                <a:spcPct val="85000"/>
              </a:lnSpc>
              <a:spcAft>
                <a:spcPts val="350"/>
              </a:spcAft>
              <a:buClr>
                <a:srgbClr val="262626"/>
              </a:buClr>
              <a:buSzPct val="100000"/>
              <a:buChar char="　"/>
            </a:pPr>
            <a:r>
              <a:rPr lang="ja-JP" altLang="en-US" sz="2200" dirty="0">
                <a:solidFill>
                  <a:srgbClr val="262626"/>
                </a:solidFill>
                <a:latin typeface="メイリオ" pitchFamily="34" charset="0"/>
                <a:ea typeface="メイリオ" pitchFamily="34" charset="-122"/>
                <a:cs typeface="メイリオ" pitchFamily="34" charset="-120"/>
              </a:rPr>
              <a:t>（起座呼吸、浮腫の悪化）</a:t>
            </a:r>
            <a:endParaRPr lang="ja-JP" sz="2200" dirty="0"/>
          </a:p>
          <a:p>
            <a:pPr algn="l" marL="254000" indent="-254000">
              <a:lnSpc>
                <a:spcPct val="85000"/>
              </a:lnSpc>
              <a:buClr>
                <a:srgbClr val="262626"/>
              </a:buClr>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重症不整脈（新しい AF 高心拍、</a:t>
            </a:r>
            <a:endParaRPr lang="ja-JP" sz="2200" dirty="0"/>
          </a:p>
          <a:p>
            <a:pPr algn="l" marL="254000" indent="-254000">
              <a:lnSpc>
                <a:spcPct val="85000"/>
              </a:lnSpc>
              <a:spcAft>
                <a:spcPts val="350"/>
              </a:spcAft>
              <a:buClr>
                <a:srgbClr val="262626"/>
              </a:buClr>
              <a:buSzPct val="100000"/>
              <a:buChar char="　"/>
            </a:pPr>
            <a:r>
              <a:rPr lang="ja-JP" altLang="en-US" sz="2200" dirty="0">
                <a:solidFill>
                  <a:srgbClr val="262626"/>
                </a:solidFill>
                <a:latin typeface="メイリオ" pitchFamily="34" charset="0"/>
                <a:ea typeface="メイリオ" pitchFamily="34" charset="-122"/>
                <a:cs typeface="メイリオ" pitchFamily="34" charset="-120"/>
              </a:rPr>
              <a:t>VT、高度ブロック）</a:t>
            </a:r>
            <a:endParaRPr lang="ja-JP" sz="2200" dirty="0"/>
          </a:p>
          <a:p>
            <a:pPr algn="l" marL="254000" indent="-254000">
              <a:lnSpc>
                <a:spcPct val="85000"/>
              </a:lnSpc>
              <a:buClr>
                <a:srgbClr val="262626"/>
              </a:buClr>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症候性の重症弁膜症（失神、狭心痛）</a:t>
            </a:r>
            <a:endParaRPr lang="ja-JP" sz="2200" dirty="0"/>
          </a:p>
        </p:txBody>
      </p:sp>
      <p:sp>
        <p:nvSpPr>
          <p:cNvPr id="14" name="Shape 12"/>
          <p:cNvSpPr/>
          <p:nvPr/>
        </p:nvSpPr>
        <p:spPr>
          <a:xfrm>
            <a:off x="6677863" y="1691640"/>
            <a:ext cx="5008169" cy="2953512"/>
          </a:xfrm>
          <a:prstGeom prst="roundRect">
            <a:avLst>
              <a:gd name="adj" fmla="val 2477"/>
            </a:avLst>
          </a:prstGeom>
          <a:solidFill>
            <a:srgbClr val="F2F2F2"/>
          </a:solidFill>
          <a:ln/>
        </p:spPr>
      </p:sp>
      <p:sp>
        <p:nvSpPr>
          <p:cNvPr id="15" name="Text 13"/>
          <p:cNvSpPr txBox="1"/>
          <p:nvPr/>
        </p:nvSpPr>
        <p:spPr>
          <a:xfrm>
            <a:off x="6805879" y="1783080"/>
            <a:ext cx="4752137" cy="41148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時期と検査を相談する因子</a:t>
            </a:r>
            <a:endParaRPr lang="ja-JP" sz="2400" dirty="0"/>
          </a:p>
        </p:txBody>
      </p:sp>
      <p:sp>
        <p:nvSpPr>
          <p:cNvPr id="16" name="Text 14"/>
          <p:cNvSpPr txBox="1"/>
          <p:nvPr/>
        </p:nvSpPr>
        <p:spPr>
          <a:xfrm>
            <a:off x="6805879" y="2231136"/>
            <a:ext cx="4752137" cy="2322576"/>
          </a:xfrm>
          <a:prstGeom prst="rect">
            <a:avLst/>
          </a:prstGeom>
          <a:noFill/>
          <a:ln/>
        </p:spPr>
        <p:txBody>
          <a:bodyPr wrap="square" lIns="0" tIns="0" rIns="0" bIns="0" rtlCol="0" anchor="t"/>
          <a:lstStyle/>
          <a:p>
            <a:pPr algn="l" marL="254000" indent="-254000">
              <a:lnSpc>
                <a:spcPct val="85000"/>
              </a:lnSpc>
              <a:buClr>
                <a:srgbClr val="262626"/>
              </a:buClr>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冠動脈ステント・CABG の既往</a:t>
            </a:r>
            <a:endParaRPr lang="ja-JP" sz="2200" dirty="0"/>
          </a:p>
          <a:p>
            <a:pPr algn="l" marL="254000" indent="-254000">
              <a:lnSpc>
                <a:spcPct val="85000"/>
              </a:lnSpc>
              <a:spcAft>
                <a:spcPts val="350"/>
              </a:spcAft>
              <a:buClr>
                <a:srgbClr val="262626"/>
              </a:buClr>
              <a:buSzPct val="100000"/>
              <a:buChar char="　"/>
            </a:pPr>
            <a:r>
              <a:rPr lang="ja-JP" altLang="en-US" sz="2200" dirty="0">
                <a:solidFill>
                  <a:srgbClr val="262626"/>
                </a:solidFill>
                <a:latin typeface="メイリオ" pitchFamily="34" charset="0"/>
                <a:ea typeface="メイリオ" pitchFamily="34" charset="-122"/>
                <a:cs typeface="メイリオ" pitchFamily="34" charset="-120"/>
              </a:rPr>
              <a:t>（→ 4-8）</a:t>
            </a:r>
            <a:endParaRPr lang="ja-JP" sz="2200" dirty="0"/>
          </a:p>
          <a:p>
            <a:pPr algn="l" marL="254000" indent="-254000">
              <a:lnSpc>
                <a:spcPct val="85000"/>
              </a:lnSpc>
              <a:spcAft>
                <a:spcPts val="350"/>
              </a:spcAft>
              <a:buClr>
                <a:srgbClr val="262626"/>
              </a:buClr>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脳卒中・TIA から 3 か月以内</a:t>
            </a:r>
            <a:endParaRPr lang="ja-JP" sz="2200" dirty="0"/>
          </a:p>
          <a:p>
            <a:pPr algn="l" marL="254000" indent="-254000">
              <a:lnSpc>
                <a:spcPct val="85000"/>
              </a:lnSpc>
              <a:spcAft>
                <a:spcPts val="350"/>
              </a:spcAft>
              <a:buClr>
                <a:srgbClr val="262626"/>
              </a:buClr>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重症弁膜症・重症肺高血圧</a:t>
            </a:r>
            <a:endParaRPr lang="ja-JP" sz="2200" dirty="0"/>
          </a:p>
          <a:p>
            <a:pPr algn="l" marL="254000" indent="-254000">
              <a:lnSpc>
                <a:spcPct val="85000"/>
              </a:lnSpc>
              <a:spcAft>
                <a:spcPts val="350"/>
              </a:spcAft>
              <a:buClr>
                <a:srgbClr val="262626"/>
              </a:buClr>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先天性心疾患、植込みデバイス</a:t>
            </a:r>
            <a:endParaRPr lang="ja-JP" sz="2200" dirty="0"/>
          </a:p>
          <a:p>
            <a:pPr algn="l" marL="254000" indent="-254000">
              <a:lnSpc>
                <a:spcPct val="85000"/>
              </a:lnSpc>
              <a:buClr>
                <a:srgbClr val="262626"/>
              </a:buClr>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フレイル（→ 4-11）</a:t>
            </a:r>
            <a:endParaRPr lang="ja-JP" sz="2200" dirty="0"/>
          </a:p>
        </p:txBody>
      </p:sp>
      <p:sp>
        <p:nvSpPr>
          <p:cNvPr id="17" name="Shape 15"/>
          <p:cNvSpPr/>
          <p:nvPr/>
        </p:nvSpPr>
        <p:spPr>
          <a:xfrm>
            <a:off x="502920" y="4864608"/>
            <a:ext cx="11183112" cy="1024128"/>
          </a:xfrm>
          <a:prstGeom prst="roundRect">
            <a:avLst>
              <a:gd name="adj" fmla="val 7143"/>
            </a:avLst>
          </a:prstGeom>
          <a:solidFill>
            <a:srgbClr val="FFFFFF"/>
          </a:solidFill>
          <a:ln w="31750">
            <a:solidFill>
              <a:srgbClr val="00A8AA"/>
            </a:solidFill>
            <a:prstDash val="solid"/>
          </a:ln>
        </p:spPr>
      </p:sp>
      <p:sp>
        <p:nvSpPr>
          <p:cNvPr id="18" name="Text 16"/>
          <p:cNvSpPr txBox="1"/>
          <p:nvPr/>
        </p:nvSpPr>
        <p:spPr>
          <a:xfrm>
            <a:off x="576072" y="4937760"/>
            <a:ext cx="11036808" cy="877824"/>
          </a:xfrm>
          <a:prstGeom prst="rect">
            <a:avLst/>
          </a:prstGeom>
          <a:noFill/>
          <a:ln/>
        </p:spPr>
        <p:txBody>
          <a:bodyPr wrap="square" lIns="0" tIns="0" rIns="0" bIns="0" rtlCol="0" anchor="ctr"/>
          <a:lstStyle/>
          <a:p>
            <a:pPr algn="ctr" indent="0" marL="0">
              <a:lnSpc>
                <a:spcPct val="90000"/>
              </a:lnSpc>
              <a:buNone/>
            </a:pPr>
            <a:r>
              <a:rPr lang="ja-JP" altLang="en-US" sz="2400" b="1" dirty="0">
                <a:solidFill>
                  <a:srgbClr val="262626"/>
                </a:solidFill>
                <a:latin typeface="メイリオ" pitchFamily="34" charset="0"/>
                <a:ea typeface="メイリオ" pitchFamily="34" charset="-122"/>
                <a:cs typeface="メイリオ" pitchFamily="34" charset="-120"/>
              </a:rPr>
              <a:t>新しい症状（胸痛、息切れの悪化、失神）＝</a:t>
            </a:r>
            <a:endParaRPr lang="ja-JP" sz="2400" dirty="0"/>
          </a:p>
          <a:p>
            <a:pPr algn="ctr" indent="0" marL="0">
              <a:lnSpc>
                <a:spcPct val="90000"/>
              </a:lnSpc>
              <a:buNone/>
            </a:pPr>
            <a:r>
              <a:rPr lang="ja-JP" altLang="en-US" sz="2400" b="1" dirty="0">
                <a:solidFill>
                  <a:srgbClr val="262626"/>
                </a:solidFill>
                <a:latin typeface="メイリオ" pitchFamily="34" charset="0"/>
                <a:ea typeface="メイリオ" pitchFamily="34" charset="-122"/>
                <a:cs typeface="メイリオ" pitchFamily="34" charset="-120"/>
              </a:rPr>
              <a:t>評価が終わるまで</a:t>
            </a:r>
            <a:r>
              <a:rPr lang="ja-JP" altLang="en-US" sz="2400" b="1" dirty="0">
                <a:solidFill>
                  <a:srgbClr val="C00000"/>
                </a:solidFill>
                <a:latin typeface="メイリオ" pitchFamily="34" charset="0"/>
                <a:ea typeface="メイリオ" pitchFamily="34" charset="-122"/>
                <a:cs typeface="メイリオ" pitchFamily="34" charset="-120"/>
              </a:rPr>
              <a:t>待機手術はしない</a:t>
            </a:r>
            <a:endParaRPr lang="ja-JP"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RCRI：6 つの因子</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RCRI</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運動</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耐容能</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検査</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Lee TH, et al. Circulation 1999;100:1043-1049</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Duceppe E, et al. Can J Cardiol 2017;33:17-32</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64208"/>
          <a:ext cx="11155680" cy="914400"/>
        </p:xfrm>
        <a:graphic>
          <a:graphicData uri="http://schemas.openxmlformats.org/drawingml/2006/table">
            <a:tbl>
              <a:tblPr/>
              <a:tblGrid>
                <a:gridCol w="4032504"/>
                <a:gridCol w="7123176"/>
              </a:tblGrid>
              <a:tr h="37399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因子（各 1 点）</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中身</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37399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高リスク手術</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腹腔内、胸腔内、鼠径靱帯より中枢の血管手術</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0866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虚血性心疾患</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心筋梗塞、負荷試験陽性、虚血による胸痛、</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硝酸薬、異常 Q 波</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0866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心不全</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既往、肺水腫、夜間発作性呼吸困難、両側ラ音、</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III 音、X 線の血管再分布</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7399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脳血管疾患</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脳卒中または一過性脳虚血発作の既往</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7399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インスリン治療中の糖尿病</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経口薬だけの糖尿病は数えない</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7399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クレアチニン 2.0 mg/dL 超</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177 µmol/L 超</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12" name="Text 9"/>
          <p:cNvSpPr txBox="1"/>
          <p:nvPr/>
        </p:nvSpPr>
        <p:spPr>
          <a:xfrm>
            <a:off x="502920" y="5170932"/>
            <a:ext cx="11183112" cy="736092"/>
          </a:xfrm>
          <a:prstGeom prst="rect">
            <a:avLst/>
          </a:prstGeom>
          <a:noFill/>
          <a:ln/>
        </p:spPr>
        <p:txBody>
          <a:bodyPr wrap="square" lIns="0" tIns="0" rIns="0" bIns="0" rtlCol="0" anchor="t"/>
          <a:lstStyle/>
          <a:p>
            <a:pPr algn="l" indent="0" marL="0">
              <a:lnSpc>
                <a:spcPct val="80000"/>
              </a:lnSpc>
              <a:spcAft>
                <a:spcPts val="510"/>
              </a:spcAft>
              <a:buNone/>
            </a:pPr>
            <a:r>
              <a:rPr lang="ja-JP" altLang="en-US" sz="2200" dirty="0">
                <a:solidFill>
                  <a:srgbClr val="262626"/>
                </a:solidFill>
                <a:latin typeface="メイリオ" pitchFamily="34" charset="0"/>
                <a:ea typeface="メイリオ" pitchFamily="34" charset="-122"/>
                <a:cs typeface="メイリオ" pitchFamily="34" charset="-120"/>
              </a:rPr>
              <a:t>主要心合併症：0 点 0.4%、1 点 0.9%、2 点 7%、3 点以上 11%</a:t>
            </a:r>
            <a:endParaRPr lang="ja-JP" sz="2200" dirty="0"/>
          </a:p>
          <a:p>
            <a:pPr algn="l" indent="0" marL="0">
              <a:lnSpc>
                <a:spcPct val="80000"/>
              </a:lnSpc>
              <a:buNone/>
            </a:pPr>
            <a:r>
              <a:rPr lang="ja-JP" altLang="en-US" sz="2200" dirty="0">
                <a:solidFill>
                  <a:srgbClr val="262626"/>
                </a:solidFill>
                <a:latin typeface="メイリオ" pitchFamily="34" charset="0"/>
                <a:ea typeface="メイリオ" pitchFamily="34" charset="-122"/>
                <a:cs typeface="メイリオ" pitchFamily="34" charset="-120"/>
              </a:rPr>
              <a:t>（Lee 1999 検証群）。</a:t>
            </a:r>
            <a:r>
              <a:rPr lang="ja-JP" altLang="en-US" sz="2200" b="1" dirty="0">
                <a:solidFill>
                  <a:srgbClr val="D55E00"/>
                </a:solidFill>
                <a:latin typeface="メイリオ" pitchFamily="34" charset="0"/>
                <a:ea typeface="メイリオ" pitchFamily="34" charset="-122"/>
                <a:cs typeface="メイリオ" pitchFamily="34" charset="-120"/>
              </a:rPr>
              <a:t>近年は 3.9〜15%</a:t>
            </a:r>
            <a:endParaRPr lang="ja-JP"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METs と DASI で測る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RCRI</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運動</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耐容能</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検査</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Wijeysundera DN, et al. Lancet 2018;391:2631-2640 / Thompson A, et al. Circulation</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2024;150:e351-e442 / 日本循環器学会 2022 年改訂版 非心臓手術における合併心疾患ガイドライン</a:t>
            </a:r>
            <a:endParaRPr lang="ja-JP" sz="1600" dirty="0"/>
          </a:p>
        </p:txBody>
      </p:sp>
      <p:sp>
        <p:nvSpPr>
          <p:cNvPr id="11" name="Shape 9"/>
          <p:cNvSpPr/>
          <p:nvPr/>
        </p:nvSpPr>
        <p:spPr>
          <a:xfrm>
            <a:off x="502920" y="1691640"/>
            <a:ext cx="5371186" cy="3291840"/>
          </a:xfrm>
          <a:prstGeom prst="roundRect">
            <a:avLst>
              <a:gd name="adj" fmla="val 2222"/>
            </a:avLst>
          </a:prstGeom>
          <a:solidFill>
            <a:srgbClr val="F2F2F2"/>
          </a:solidFill>
          <a:ln/>
        </p:spPr>
      </p:sp>
      <p:sp>
        <p:nvSpPr>
          <p:cNvPr id="12" name="Text 10"/>
          <p:cNvSpPr txBox="1"/>
          <p:nvPr/>
        </p:nvSpPr>
        <p:spPr>
          <a:xfrm>
            <a:off x="630936" y="1783080"/>
            <a:ext cx="5115154" cy="41148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4 METs の目安</a:t>
            </a:r>
            <a:endParaRPr lang="ja-JP" sz="2400" dirty="0"/>
          </a:p>
        </p:txBody>
      </p:sp>
      <p:sp>
        <p:nvSpPr>
          <p:cNvPr id="13" name="Text 11"/>
          <p:cNvSpPr txBox="1"/>
          <p:nvPr/>
        </p:nvSpPr>
        <p:spPr>
          <a:xfrm>
            <a:off x="630936" y="2231136"/>
            <a:ext cx="5115154" cy="2660904"/>
          </a:xfrm>
          <a:prstGeom prst="rect">
            <a:avLst/>
          </a:prstGeom>
          <a:noFill/>
          <a:ln/>
        </p:spPr>
        <p:txBody>
          <a:bodyPr wrap="square" lIns="0" tIns="0" rIns="0" bIns="0" rtlCol="0" anchor="t"/>
          <a:lstStyle/>
          <a:p>
            <a:pPr algn="l" marL="254000" indent="-254000">
              <a:lnSpc>
                <a:spcPct val="80000"/>
              </a:lnSpc>
              <a:spcAft>
                <a:spcPts val="800"/>
              </a:spcAft>
              <a:buClr>
                <a:srgbClr val="262626"/>
              </a:buClr>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階段で上の階まで休まず上がれる</a:t>
            </a:r>
            <a:endParaRPr lang="ja-JP" sz="2200" dirty="0"/>
          </a:p>
          <a:p>
            <a:pPr algn="l" marL="254000" indent="-254000">
              <a:lnSpc>
                <a:spcPct val="80000"/>
              </a:lnSpc>
              <a:spcAft>
                <a:spcPts val="800"/>
              </a:spcAft>
              <a:buClr>
                <a:srgbClr val="262626"/>
              </a:buClr>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坂道を歩いて上がれる</a:t>
            </a:r>
            <a:endParaRPr lang="ja-JP" sz="2200" dirty="0"/>
          </a:p>
          <a:p>
            <a:pPr algn="l" marL="254000" indent="-254000">
              <a:lnSpc>
                <a:spcPct val="80000"/>
              </a:lnSpc>
              <a:spcAft>
                <a:spcPts val="800"/>
              </a:spcAft>
              <a:buClr>
                <a:srgbClr val="262626"/>
              </a:buClr>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床掃除、庭仕事</a:t>
            </a:r>
            <a:endParaRPr lang="ja-JP" sz="2200" dirty="0"/>
          </a:p>
          <a:p>
            <a:pPr algn="l" marL="254000" indent="-254000">
              <a:lnSpc>
                <a:spcPct val="80000"/>
              </a:lnSpc>
              <a:buClr>
                <a:srgbClr val="262626"/>
              </a:buClr>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主観で聞くと 4 METs 未満の</a:t>
            </a:r>
            <a:endParaRPr lang="ja-JP" sz="2200" dirty="0"/>
          </a:p>
          <a:p>
            <a:pPr algn="l" marL="254000" indent="-254000">
              <a:lnSpc>
                <a:spcPct val="80000"/>
              </a:lnSpc>
              <a:buClr>
                <a:srgbClr val="262626"/>
              </a:buClr>
              <a:buSzPct val="100000"/>
              <a:buChar char="　"/>
            </a:pPr>
            <a:r>
              <a:rPr lang="ja-JP" altLang="en-US" sz="2200" b="1" dirty="0">
                <a:solidFill>
                  <a:srgbClr val="D55E00"/>
                </a:solidFill>
                <a:latin typeface="メイリオ" pitchFamily="34" charset="0"/>
                <a:ea typeface="メイリオ" pitchFamily="34" charset="-122"/>
                <a:cs typeface="メイリオ" pitchFamily="34" charset="-120"/>
              </a:rPr>
              <a:t>8 割を見逃す</a:t>
            </a:r>
            <a:endParaRPr lang="ja-JP" sz="2200" dirty="0"/>
          </a:p>
        </p:txBody>
      </p:sp>
      <p:sp>
        <p:nvSpPr>
          <p:cNvPr id="14" name="Shape 12"/>
          <p:cNvSpPr/>
          <p:nvPr/>
        </p:nvSpPr>
        <p:spPr>
          <a:xfrm>
            <a:off x="6102706" y="1691640"/>
            <a:ext cx="5583326" cy="3291840"/>
          </a:xfrm>
          <a:prstGeom prst="roundRect">
            <a:avLst>
              <a:gd name="adj" fmla="val 2222"/>
            </a:avLst>
          </a:prstGeom>
          <a:solidFill>
            <a:srgbClr val="F2F2F2"/>
          </a:solidFill>
          <a:ln/>
        </p:spPr>
      </p:sp>
      <p:sp>
        <p:nvSpPr>
          <p:cNvPr id="15" name="Text 13"/>
          <p:cNvSpPr txBox="1"/>
          <p:nvPr/>
        </p:nvSpPr>
        <p:spPr>
          <a:xfrm>
            <a:off x="6230722" y="1783080"/>
            <a:ext cx="5327294" cy="41148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DASI（12 項目、0〜58 点）</a:t>
            </a:r>
            <a:endParaRPr lang="ja-JP" sz="2400" dirty="0"/>
          </a:p>
        </p:txBody>
      </p:sp>
      <p:sp>
        <p:nvSpPr>
          <p:cNvPr id="16" name="Text 14"/>
          <p:cNvSpPr txBox="1"/>
          <p:nvPr/>
        </p:nvSpPr>
        <p:spPr>
          <a:xfrm>
            <a:off x="6230722" y="2231136"/>
            <a:ext cx="5327294" cy="2660904"/>
          </a:xfrm>
          <a:prstGeom prst="rect">
            <a:avLst/>
          </a:prstGeom>
          <a:noFill/>
          <a:ln/>
        </p:spPr>
        <p:txBody>
          <a:bodyPr wrap="square" lIns="0" tIns="0" rIns="0" bIns="0" rtlCol="0" anchor="t"/>
          <a:lstStyle/>
          <a:p>
            <a:pPr algn="l" marL="254000" indent="-254000">
              <a:lnSpc>
                <a:spcPct val="80000"/>
              </a:lnSpc>
              <a:buClr>
                <a:srgbClr val="262626"/>
              </a:buClr>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AHA 2024：上昇リスク手術では</a:t>
            </a:r>
            <a:endParaRPr lang="ja-JP" sz="2200" dirty="0"/>
          </a:p>
          <a:p>
            <a:pPr algn="l" marL="254000" indent="-254000">
              <a:lnSpc>
                <a:spcPct val="80000"/>
              </a:lnSpc>
              <a:spcAft>
                <a:spcPts val="800"/>
              </a:spcAft>
              <a:buClr>
                <a:srgbClr val="262626"/>
              </a:buClr>
              <a:buSzPct val="100000"/>
              <a:buChar char="　"/>
            </a:pPr>
            <a:r>
              <a:rPr lang="ja-JP" altLang="en-US" sz="2200" dirty="0">
                <a:solidFill>
                  <a:srgbClr val="262626"/>
                </a:solidFill>
                <a:latin typeface="メイリオ" pitchFamily="34" charset="0"/>
                <a:ea typeface="メイリオ" pitchFamily="34" charset="-122"/>
                <a:cs typeface="メイリオ" pitchFamily="34" charset="-120"/>
              </a:rPr>
              <a:t>DASI で評価（2a）</a:t>
            </a:r>
            <a:endParaRPr lang="ja-JP" sz="2200" dirty="0"/>
          </a:p>
          <a:p>
            <a:pPr algn="l" marL="254000" indent="-254000">
              <a:lnSpc>
                <a:spcPct val="80000"/>
              </a:lnSpc>
              <a:spcAft>
                <a:spcPts val="800"/>
              </a:spcAft>
              <a:buClr>
                <a:srgbClr val="262626"/>
              </a:buClr>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34 点以下＝</a:t>
            </a:r>
            <a:r>
              <a:rPr lang="ja-JP" altLang="en-US" sz="2200" b="1" dirty="0">
                <a:solidFill>
                  <a:srgbClr val="D55E00"/>
                </a:solidFill>
                <a:latin typeface="メイリオ" pitchFamily="34" charset="0"/>
                <a:ea typeface="メイリオ" pitchFamily="34" charset="-122"/>
                <a:cs typeface="メイリオ" pitchFamily="34" charset="-120"/>
              </a:rPr>
              <a:t>不良</a:t>
            </a:r>
            <a:r>
              <a:rPr lang="ja-JP" altLang="en-US" sz="2200" dirty="0">
                <a:solidFill>
                  <a:srgbClr val="262626"/>
                </a:solidFill>
                <a:latin typeface="メイリオ" pitchFamily="34" charset="0"/>
                <a:ea typeface="メイリオ" pitchFamily="34" charset="-122"/>
                <a:cs typeface="メイリオ" pitchFamily="34" charset="-120"/>
              </a:rPr>
              <a:t>（AHA）</a:t>
            </a:r>
            <a:endParaRPr lang="ja-JP" sz="2200" dirty="0"/>
          </a:p>
          <a:p>
            <a:pPr algn="l" marL="254000" indent="-254000">
              <a:lnSpc>
                <a:spcPct val="80000"/>
              </a:lnSpc>
              <a:buClr>
                <a:srgbClr val="262626"/>
              </a:buClr>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JCS：7 METs（DASI 34）以上は</a:t>
            </a:r>
            <a:endParaRPr lang="ja-JP" sz="2200" dirty="0"/>
          </a:p>
          <a:p>
            <a:pPr algn="l" marL="254000" indent="-254000">
              <a:lnSpc>
                <a:spcPct val="80000"/>
              </a:lnSpc>
              <a:spcAft>
                <a:spcPts val="800"/>
              </a:spcAft>
              <a:buClr>
                <a:srgbClr val="262626"/>
              </a:buClr>
              <a:buSzPct val="100000"/>
              <a:buChar char="　"/>
            </a:pPr>
            <a:r>
              <a:rPr lang="ja-JP" altLang="en-US" sz="2200" dirty="0">
                <a:solidFill>
                  <a:srgbClr val="262626"/>
                </a:solidFill>
                <a:latin typeface="メイリオ" pitchFamily="34" charset="0"/>
                <a:ea typeface="メイリオ" pitchFamily="34" charset="-122"/>
                <a:cs typeface="メイリオ" pitchFamily="34" charset="-120"/>
              </a:rPr>
              <a:t>追加検査なしで手術を考慮（IIa）</a:t>
            </a:r>
            <a:endParaRPr lang="ja-JP" sz="2200" dirty="0"/>
          </a:p>
          <a:p>
            <a:pPr algn="l" marL="254000" indent="-254000">
              <a:lnSpc>
                <a:spcPct val="80000"/>
              </a:lnSpc>
              <a:buClr>
                <a:srgbClr val="262626"/>
              </a:buClr>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34 点未満は 1 点下がるごとに</a:t>
            </a:r>
            <a:endParaRPr lang="ja-JP" sz="2200" dirty="0"/>
          </a:p>
          <a:p>
            <a:pPr algn="l" marL="254000" indent="-254000">
              <a:lnSpc>
                <a:spcPct val="80000"/>
              </a:lnSpc>
              <a:buClr>
                <a:srgbClr val="262626"/>
              </a:buClr>
              <a:buSzPct val="100000"/>
              <a:buChar char="　"/>
            </a:pPr>
            <a:r>
              <a:rPr lang="ja-JP" altLang="en-US" sz="2200" dirty="0">
                <a:solidFill>
                  <a:srgbClr val="262626"/>
                </a:solidFill>
                <a:latin typeface="メイリオ" pitchFamily="34" charset="0"/>
                <a:ea typeface="メイリオ" pitchFamily="34" charset="-122"/>
                <a:cs typeface="メイリオ" pitchFamily="34" charset="-120"/>
              </a:rPr>
              <a:t>死亡・MI のオッズが 1.05 倍</a:t>
            </a:r>
            <a:endParaRPr lang="ja-JP" sz="2200" dirty="0"/>
          </a:p>
        </p:txBody>
      </p:sp>
      <p:sp>
        <p:nvSpPr>
          <p:cNvPr id="17" name="Shape 15"/>
          <p:cNvSpPr/>
          <p:nvPr/>
        </p:nvSpPr>
        <p:spPr>
          <a:xfrm>
            <a:off x="502920" y="5257800"/>
            <a:ext cx="11183112" cy="621792"/>
          </a:xfrm>
          <a:prstGeom prst="roundRect">
            <a:avLst>
              <a:gd name="adj" fmla="val 11765"/>
            </a:avLst>
          </a:prstGeom>
          <a:solidFill>
            <a:srgbClr val="FFFFFF"/>
          </a:solidFill>
          <a:ln w="31750">
            <a:solidFill>
              <a:srgbClr val="00A8AA"/>
            </a:solidFill>
            <a:prstDash val="solid"/>
          </a:ln>
        </p:spPr>
      </p:sp>
      <p:sp>
        <p:nvSpPr>
          <p:cNvPr id="18" name="Text 16"/>
          <p:cNvSpPr txBox="1"/>
          <p:nvPr/>
        </p:nvSpPr>
        <p:spPr>
          <a:xfrm>
            <a:off x="576072" y="5330952"/>
            <a:ext cx="11036808" cy="475488"/>
          </a:xfrm>
          <a:prstGeom prst="rect">
            <a:avLst/>
          </a:prstGeom>
          <a:noFill/>
          <a:ln/>
        </p:spPr>
        <p:txBody>
          <a:bodyPr wrap="square" lIns="0" tIns="0" rIns="0" bIns="0" rtlCol="0" anchor="ct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『階段は大丈夫ですか』ではなく、</a:t>
            </a:r>
            <a:r>
              <a:rPr lang="ja-JP" altLang="en-US" sz="2200" b="1" dirty="0">
                <a:solidFill>
                  <a:srgbClr val="0072B2"/>
                </a:solidFill>
                <a:latin typeface="メイリオ" pitchFamily="34" charset="0"/>
                <a:ea typeface="メイリオ" pitchFamily="34" charset="-122"/>
                <a:cs typeface="メイリオ" pitchFamily="34" charset="-120"/>
              </a:rPr>
              <a:t>具体的な活動で聞く</a:t>
            </a:r>
            <a:r>
              <a:rPr lang="ja-JP" altLang="en-US" sz="2200" b="1" dirty="0">
                <a:solidFill>
                  <a:srgbClr val="262626"/>
                </a:solidFill>
                <a:latin typeface="メイリオ" pitchFamily="34" charset="0"/>
                <a:ea typeface="メイリオ" pitchFamily="34" charset="-122"/>
                <a:cs typeface="メイリオ" pitchFamily="34" charset="-120"/>
              </a:rPr>
              <a:t>。迷えば DASI を使う</a:t>
            </a:r>
            <a:endParaRPr lang="ja-JP"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どの検査を、誰に</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RCRI</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運動</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耐容能</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検査</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Thompson A, et al. Circulation 2024;150:e351-e442（2024 AHA/ACC） / Duceppe E,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Ann Intern Med 2020;172:96-104 / Halvorsen S, et al. Eur Heart J 2022;43:3826-3924</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64208"/>
          <a:ext cx="11155680" cy="914400"/>
        </p:xfrm>
        <a:graphic>
          <a:graphicData uri="http://schemas.openxmlformats.org/drawingml/2006/table">
            <a:tbl>
              <a:tblPr/>
              <a:tblGrid>
                <a:gridCol w="1828800"/>
                <a:gridCol w="5239512"/>
                <a:gridCol w="4087368"/>
              </a:tblGrid>
              <a:tr h="37399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検査</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出す相手</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出さない・注意</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1044245">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BNP /</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NT-proBNP</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上昇リスク手術で心疾患・</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65 歳以上など（AHA 2a）。JCS は</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4 METs 未満・不明で（IIb）</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BNP 92、NT-proBNP</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200〜300 pg/mL が目安。</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腎機能で上がる</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044245">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12 誘導</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心電図</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心疾患・症状（AHA 2a）。</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リスク因子＋</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中〜高リスク手術（ESC）</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低リスク手術の</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無症状者には</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出さない（III）</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0866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心エコー</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新しい息切れ、心不全の所見、</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重い弁膜症の疑い（I）</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無症状で安定していれば</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ルーチンにしない（3）</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044245">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負荷試験</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上昇リスク手術で</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運動耐容能が不良・不明、</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結果で管理が変わる（2b）</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低リスク手術・</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低リスク患者・</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機能良好には行わない（3）</a:t>
                      </a:r>
                      <a:endParaRPr lang="en-US" sz="2200" dirty="0">
                        <a:latin typeface="メイリオ" charset="0"/>
                        <a:ea typeface="メイリオ" charset="0"/>
                        <a:cs typeface="メイリオ" charset="0"/>
                      </a:endParaRPr>
                    </a:p>
                  </a:txBody>
                  <a:tcPr marL="76200" marR="76200" marT="33020" marB="508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血行再建とステント後</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RCRI</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運動</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耐容能</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検査</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McFalls EO, et al. N Engl J Med 2004;351:2795-2804（CARP）</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Thompson A, et al. Circulation 2024;150:e351-e442（2024 AHA/ACC）</a:t>
            </a:r>
            <a:endParaRPr lang="ja-JP" sz="1600" dirty="0"/>
          </a:p>
        </p:txBody>
      </p:sp>
      <p:sp>
        <p:nvSpPr>
          <p:cNvPr id="11" name="Text 9"/>
          <p:cNvSpPr txBox="1"/>
          <p:nvPr/>
        </p:nvSpPr>
        <p:spPr>
          <a:xfrm>
            <a:off x="502920" y="1783080"/>
            <a:ext cx="11155680" cy="2743200"/>
          </a:xfrm>
          <a:prstGeom prst="rect">
            <a:avLst/>
          </a:prstGeom>
          <a:noFill/>
          <a:ln/>
        </p:spPr>
        <p:txBody>
          <a:bodyPr wrap="square" lIns="0" tIns="0" rIns="0" bIns="0" rtlCol="0" anchor="t"/>
          <a:lstStyle/>
          <a:p>
            <a:pPr algn="l" marL="355600" indent="-355600">
              <a:spcAft>
                <a:spcPts val="2200"/>
              </a:spcAft>
              <a:buClr>
                <a:srgbClr val="262626"/>
              </a:buClr>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CARP 試験：血管手術前の予防的血行再建で</a:t>
            </a:r>
            <a:r>
              <a:rPr lang="ja-JP" altLang="en-US" sz="2400" b="1" dirty="0">
                <a:solidFill>
                  <a:srgbClr val="D55E00"/>
                </a:solidFill>
                <a:latin typeface="メイリオ" pitchFamily="34" charset="0"/>
                <a:ea typeface="メイリオ" pitchFamily="34" charset="-122"/>
                <a:cs typeface="メイリオ" pitchFamily="34" charset="-120"/>
              </a:rPr>
              <a:t>死亡も MI も減らず</a:t>
            </a:r>
            <a:endParaRPr lang="ja-JP" sz="2400" dirty="0"/>
          </a:p>
          <a:p>
            <a:pPr algn="l" marL="355600" indent="-355600">
              <a:spcAft>
                <a:spcPts val="2200"/>
              </a:spcAft>
              <a:buClr>
                <a:srgbClr val="262626"/>
              </a:buClr>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例外：</a:t>
            </a:r>
            <a:r>
              <a:rPr lang="ja-JP" altLang="en-US" sz="2400" dirty="0">
                <a:solidFill>
                  <a:srgbClr val="262626"/>
                </a:solidFill>
                <a:latin typeface="メイリオ" pitchFamily="34" charset="0"/>
                <a:ea typeface="メイリオ" pitchFamily="34" charset="-122"/>
                <a:cs typeface="メイリオ" pitchFamily="34" charset="-120"/>
              </a:rPr>
              <a:t>急性冠症候群（I）、左主幹部 50% 以上の狭窄（2a）</a:t>
            </a:r>
            <a:endParaRPr lang="ja-JP" sz="2400" dirty="0"/>
          </a:p>
          <a:p>
            <a:pPr algn="l" marL="355600" indent="-355600">
              <a:spcAft>
                <a:spcPts val="2200"/>
              </a:spcAft>
              <a:buClr>
                <a:srgbClr val="262626"/>
              </a:buClr>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血行再建をすると手術が遅れる（CARP：中央値 </a:t>
            </a:r>
            <a:r>
              <a:rPr lang="ja-JP" altLang="en-US" sz="2400" b="1" dirty="0">
                <a:solidFill>
                  <a:srgbClr val="0072B2"/>
                </a:solidFill>
                <a:latin typeface="メイリオ" pitchFamily="34" charset="0"/>
                <a:ea typeface="メイリオ" pitchFamily="34" charset="-122"/>
                <a:cs typeface="メイリオ" pitchFamily="34" charset="-120"/>
              </a:rPr>
              <a:t>54 日 vs 18 日</a:t>
            </a: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a:p>
            <a:pPr algn="l" marL="355600" indent="-355600">
              <a:spcAft>
                <a:spcPts val="2200"/>
              </a:spcAft>
              <a:buClr>
                <a:srgbClr val="262626"/>
              </a:buClr>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DAPT 中断は ACS 後 12 か月、安定 6 か月（AHA）。</a:t>
            </a:r>
            <a:r>
              <a:rPr lang="ja-JP" altLang="en-US" sz="2400" b="1" dirty="0">
                <a:solidFill>
                  <a:srgbClr val="D55E00"/>
                </a:solidFill>
                <a:latin typeface="メイリオ" pitchFamily="34" charset="0"/>
                <a:ea typeface="メイリオ" pitchFamily="34" charset="-122"/>
                <a:cs typeface="メイリオ" pitchFamily="34" charset="-120"/>
              </a:rPr>
              <a:t>PCI 医と相談</a:t>
            </a:r>
            <a:endParaRPr lang="ja-JP" sz="2400" dirty="0"/>
          </a:p>
        </p:txBody>
      </p:sp>
      <p:sp>
        <p:nvSpPr>
          <p:cNvPr id="12" name="Shape 10"/>
          <p:cNvSpPr/>
          <p:nvPr/>
        </p:nvSpPr>
        <p:spPr>
          <a:xfrm>
            <a:off x="502920" y="4846320"/>
            <a:ext cx="11183112" cy="749808"/>
          </a:xfrm>
          <a:prstGeom prst="roundRect">
            <a:avLst>
              <a:gd name="adj" fmla="val 9756"/>
            </a:avLst>
          </a:prstGeom>
          <a:solidFill>
            <a:srgbClr val="FFFFFF"/>
          </a:solidFill>
          <a:ln w="31750">
            <a:solidFill>
              <a:srgbClr val="00A8AA"/>
            </a:solidFill>
            <a:prstDash val="solid"/>
          </a:ln>
        </p:spPr>
      </p:sp>
      <p:sp>
        <p:nvSpPr>
          <p:cNvPr id="13" name="Text 11"/>
          <p:cNvSpPr txBox="1"/>
          <p:nvPr/>
        </p:nvSpPr>
        <p:spPr>
          <a:xfrm>
            <a:off x="576072" y="4919472"/>
            <a:ext cx="11036808" cy="603504"/>
          </a:xfrm>
          <a:prstGeom prst="rect">
            <a:avLst/>
          </a:prstGeom>
          <a:noFill/>
          <a:ln/>
        </p:spPr>
        <p:txBody>
          <a:bodyPr wrap="square" lIns="0" tIns="0" rIns="0" bIns="0" rtlCol="0" anchor="ctr"/>
          <a:lstStyle/>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適応は非手術時と同じ。負荷試験は</a:t>
            </a:r>
            <a:r>
              <a:rPr lang="ja-JP" altLang="en-US" sz="2600" b="1" dirty="0">
                <a:solidFill>
                  <a:srgbClr val="D55E00"/>
                </a:solidFill>
                <a:latin typeface="メイリオ" pitchFamily="34" charset="0"/>
                <a:ea typeface="メイリオ" pitchFamily="34" charset="-122"/>
                <a:cs typeface="メイリオ" pitchFamily="34" charset="-120"/>
              </a:rPr>
              <a:t>『管理が変わるとき』だけ</a:t>
            </a:r>
            <a:endParaRPr lang="ja-JP" sz="2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術後の心筋傷害（MINS）</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RCRI</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運動</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耐容能</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検査</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Devereaux PJ, et al. JAMA 2017;317:1642-1651（VISION） / Halvorsen S, et al. Eur Heart J</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2022;43:3826-3924 / 日本循環器学会 2022 年改訂版 非心臓手術における合併心疾患ガイドライン</a:t>
            </a:r>
            <a:endParaRPr lang="ja-JP" sz="1600" dirty="0"/>
          </a:p>
        </p:txBody>
      </p:sp>
      <p:sp>
        <p:nvSpPr>
          <p:cNvPr id="11" name="Text 9"/>
          <p:cNvSpPr txBox="1"/>
          <p:nvPr/>
        </p:nvSpPr>
        <p:spPr>
          <a:xfrm>
            <a:off x="502920" y="1737360"/>
            <a:ext cx="11155680" cy="2798064"/>
          </a:xfrm>
          <a:prstGeom prst="rect">
            <a:avLst/>
          </a:prstGeom>
          <a:noFill/>
          <a:ln/>
        </p:spPr>
        <p:txBody>
          <a:bodyPr wrap="square" lIns="0" tIns="0" rIns="0" bIns="0" rtlCol="0" anchor="t"/>
          <a:lstStyle/>
          <a:p>
            <a:pPr algn="l" marL="355600" indent="-355600">
              <a:spcAft>
                <a:spcPts val="1000"/>
              </a:spcAft>
              <a:buClr>
                <a:srgbClr val="262626"/>
              </a:buClr>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MINS：術中〜術後 30 日の心筋傷害。45 歳以上の入院手術の </a:t>
            </a:r>
            <a:r>
              <a:rPr lang="ja-JP" altLang="en-US" sz="2400" b="1" dirty="0">
                <a:solidFill>
                  <a:srgbClr val="0072B2"/>
                </a:solidFill>
                <a:latin typeface="メイリオ" pitchFamily="34" charset="0"/>
                <a:ea typeface="メイリオ" pitchFamily="34" charset="-122"/>
                <a:cs typeface="メイリオ" pitchFamily="34" charset="-120"/>
              </a:rPr>
              <a:t>8〜18%</a:t>
            </a:r>
            <a:endParaRPr lang="ja-JP" sz="2400" dirty="0"/>
          </a:p>
          <a:p>
            <a:pPr algn="l" marL="355600" indent="-355600">
              <a:spcAft>
                <a:spcPts val="1000"/>
              </a:spcAft>
              <a:buClr>
                <a:srgbClr val="262626"/>
              </a:buClr>
              <a:buSzPct val="100000"/>
              <a:buChar char="•"/>
            </a:pPr>
            <a:r>
              <a:rPr lang="ja-JP" altLang="en-US" sz="2400" b="1" dirty="0">
                <a:solidFill>
                  <a:srgbClr val="D55E00"/>
                </a:solidFill>
                <a:latin typeface="メイリオ" pitchFamily="34" charset="0"/>
                <a:ea typeface="メイリオ" pitchFamily="34" charset="-122"/>
                <a:cs typeface="メイリオ" pitchFamily="34" charset="-120"/>
              </a:rPr>
              <a:t>93% は無症状</a:t>
            </a:r>
            <a:r>
              <a:rPr lang="ja-JP" altLang="en-US" sz="2400" dirty="0">
                <a:solidFill>
                  <a:srgbClr val="262626"/>
                </a:solidFill>
                <a:latin typeface="メイリオ" pitchFamily="34" charset="0"/>
                <a:ea typeface="メイリオ" pitchFamily="34" charset="-122"/>
                <a:cs typeface="メイリオ" pitchFamily="34" charset="-120"/>
              </a:rPr>
              <a:t>。胸痛がないから大丈夫、ではない</a:t>
            </a:r>
            <a:endParaRPr lang="ja-JP" sz="2400" dirty="0"/>
          </a:p>
          <a:p>
            <a:pPr algn="l" marL="355600" indent="-355600">
              <a:spcAft>
                <a:spcPts val="1000"/>
              </a:spcAft>
              <a:buClr>
                <a:srgbClr val="262626"/>
              </a:buClr>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hs-TnT 20〜65 ng/L で 5 以上の上昇、または 65 以上（VISION）</a:t>
            </a:r>
            <a:endParaRPr lang="ja-JP" sz="2400" dirty="0"/>
          </a:p>
          <a:p>
            <a:pPr algn="l" marL="355600" indent="-355600">
              <a:spcAft>
                <a:spcPts val="1000"/>
              </a:spcAft>
              <a:buClr>
                <a:srgbClr val="262626"/>
              </a:buClr>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30 日死亡：20〜65 で </a:t>
            </a:r>
            <a:r>
              <a:rPr lang="ja-JP" altLang="en-US" sz="2400" b="1" dirty="0">
                <a:solidFill>
                  <a:srgbClr val="0072B2"/>
                </a:solidFill>
                <a:latin typeface="メイリオ" pitchFamily="34" charset="0"/>
                <a:ea typeface="メイリオ" pitchFamily="34" charset="-122"/>
                <a:cs typeface="メイリオ" pitchFamily="34" charset="-120"/>
              </a:rPr>
              <a:t>3%</a:t>
            </a:r>
            <a:r>
              <a:rPr lang="ja-JP" altLang="en-US" sz="2400" dirty="0">
                <a:solidFill>
                  <a:srgbClr val="262626"/>
                </a:solidFill>
                <a:latin typeface="メイリオ" pitchFamily="34" charset="0"/>
                <a:ea typeface="メイリオ" pitchFamily="34" charset="-122"/>
                <a:cs typeface="メイリオ" pitchFamily="34" charset="-120"/>
              </a:rPr>
              <a:t>、65〜1,000 で </a:t>
            </a:r>
            <a:r>
              <a:rPr lang="ja-JP" altLang="en-US" sz="2400" b="1" dirty="0">
                <a:solidFill>
                  <a:srgbClr val="262626"/>
                </a:solidFill>
                <a:latin typeface="メイリオ" pitchFamily="34" charset="0"/>
                <a:ea typeface="メイリオ" pitchFamily="34" charset="-122"/>
                <a:cs typeface="メイリオ" pitchFamily="34" charset="-120"/>
              </a:rPr>
              <a:t>9%</a:t>
            </a:r>
            <a:r>
              <a:rPr lang="ja-JP" altLang="en-US" sz="2400" dirty="0">
                <a:solidFill>
                  <a:srgbClr val="262626"/>
                </a:solidFill>
                <a:latin typeface="メイリオ" pitchFamily="34" charset="0"/>
                <a:ea typeface="メイリオ" pitchFamily="34" charset="-122"/>
                <a:cs typeface="メイリオ" pitchFamily="34" charset="-120"/>
              </a:rPr>
              <a:t>、1,000 以上で </a:t>
            </a:r>
            <a:r>
              <a:rPr lang="ja-JP" altLang="en-US" sz="2400" b="1" dirty="0">
                <a:solidFill>
                  <a:srgbClr val="C00000"/>
                </a:solidFill>
                <a:latin typeface="メイリオ" pitchFamily="34" charset="0"/>
                <a:ea typeface="メイリオ" pitchFamily="34" charset="-122"/>
                <a:cs typeface="メイリオ" pitchFamily="34" charset="-120"/>
              </a:rPr>
              <a:t>30%</a:t>
            </a:r>
            <a:endParaRPr lang="ja-JP" sz="2400" dirty="0"/>
          </a:p>
          <a:p>
            <a:pPr algn="l" marL="355600" indent="-355600">
              <a:spcAft>
                <a:spcPts val="1000"/>
              </a:spcAft>
              <a:buClr>
                <a:srgbClr val="262626"/>
              </a:buClr>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ESC：65 歳以上・心疾患などの中〜高リスク手術で術前・術後（I）</a:t>
            </a:r>
            <a:endParaRPr lang="ja-JP" sz="2400" dirty="0"/>
          </a:p>
        </p:txBody>
      </p:sp>
      <p:sp>
        <p:nvSpPr>
          <p:cNvPr id="12" name="Shape 10"/>
          <p:cNvSpPr/>
          <p:nvPr/>
        </p:nvSpPr>
        <p:spPr>
          <a:xfrm>
            <a:off x="502920" y="4754880"/>
            <a:ext cx="11183112" cy="1115568"/>
          </a:xfrm>
          <a:prstGeom prst="roundRect">
            <a:avLst>
              <a:gd name="adj" fmla="val 6557"/>
            </a:avLst>
          </a:prstGeom>
          <a:solidFill>
            <a:srgbClr val="FFFFFF"/>
          </a:solidFill>
          <a:ln w="31750">
            <a:solidFill>
              <a:srgbClr val="00A8AA"/>
            </a:solidFill>
            <a:prstDash val="solid"/>
          </a:ln>
        </p:spPr>
      </p:sp>
      <p:sp>
        <p:nvSpPr>
          <p:cNvPr id="13" name="Text 11"/>
          <p:cNvSpPr txBox="1"/>
          <p:nvPr/>
        </p:nvSpPr>
        <p:spPr>
          <a:xfrm>
            <a:off x="576072" y="4828032"/>
            <a:ext cx="11036808" cy="969264"/>
          </a:xfrm>
          <a:prstGeom prst="rect">
            <a:avLst/>
          </a:prstGeom>
          <a:noFill/>
          <a:ln/>
        </p:spPr>
        <p:txBody>
          <a:bodyPr wrap="square" lIns="0" tIns="0" rIns="0" bIns="0"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上がっていたら：</a:t>
            </a:r>
            <a:endParaRPr lang="ja-JP" sz="2400" dirty="0"/>
          </a:p>
          <a:p>
            <a:pPr algn="ctr" indent="0" marL="0">
              <a:buNone/>
            </a:pPr>
            <a:r>
              <a:rPr lang="ja-JP" altLang="en-US" sz="2400" b="1" dirty="0">
                <a:solidFill>
                  <a:srgbClr val="D55E00"/>
                </a:solidFill>
                <a:latin typeface="メイリオ" pitchFamily="34" charset="0"/>
                <a:ea typeface="メイリオ" pitchFamily="34" charset="-122"/>
                <a:cs typeface="メイリオ" pitchFamily="34" charset="-120"/>
              </a:rPr>
              <a:t>可逆的な原因</a:t>
            </a:r>
            <a:r>
              <a:rPr lang="ja-JP" altLang="en-US" sz="2400" b="1" dirty="0">
                <a:solidFill>
                  <a:srgbClr val="262626"/>
                </a:solidFill>
                <a:latin typeface="メイリオ" pitchFamily="34" charset="0"/>
                <a:ea typeface="メイリオ" pitchFamily="34" charset="-122"/>
                <a:cs typeface="メイリオ" pitchFamily="34" charset="-120"/>
              </a:rPr>
              <a:t>（出血、低血圧、敗血症）を直し、循環器内科へ</a:t>
            </a:r>
            <a:endParaRPr lang="ja-JP"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RCRI</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運動</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耐容能</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検査</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日本循環器学会 2022 年改訂版 非心臓手術における合併心疾患ガイドライン / Thompson A,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Circulation 2024;150:e351-e442 / Halvorsen S, et al. Eur Heart J 2022;43:3826-3924</a:t>
            </a:r>
            <a:endParaRPr lang="ja-JP" sz="1600" dirty="0"/>
          </a:p>
        </p:txBody>
      </p:sp>
      <p:sp>
        <p:nvSpPr>
          <p:cNvPr id="11" name="Text 9"/>
          <p:cNvSpPr txBox="1"/>
          <p:nvPr/>
        </p:nvSpPr>
        <p:spPr>
          <a:xfrm>
            <a:off x="502920" y="1691640"/>
            <a:ext cx="11155680" cy="4197096"/>
          </a:xfrm>
          <a:prstGeom prst="rect">
            <a:avLst/>
          </a:prstGeom>
          <a:noFill/>
          <a:ln/>
        </p:spPr>
        <p:txBody>
          <a:bodyPr wrap="square" lIns="0" tIns="0" rIns="0" bIns="0" rtlCol="0" anchor="ctr"/>
          <a:lstStyle/>
          <a:p>
            <a:pPr algn="l" marL="381000" indent="-381000">
              <a:spcAft>
                <a:spcPts val="2400"/>
              </a:spcAft>
              <a:buClr>
                <a:srgbClr val="262626"/>
              </a:buClr>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緊急なら検査せず手術。活動性の心疾患なら</a:t>
            </a:r>
            <a:r>
              <a:rPr lang="ja-JP" altLang="en-US" sz="2600" b="1" dirty="0">
                <a:solidFill>
                  <a:srgbClr val="D55E00"/>
                </a:solidFill>
                <a:latin typeface="メイリオ" pitchFamily="34" charset="0"/>
                <a:ea typeface="メイリオ" pitchFamily="34" charset="-122"/>
                <a:cs typeface="メイリオ" pitchFamily="34" charset="-120"/>
              </a:rPr>
              <a:t>延期して相談</a:t>
            </a:r>
            <a:endParaRPr lang="ja-JP" sz="2600" dirty="0"/>
          </a:p>
          <a:p>
            <a:pPr algn="l" marL="381000" indent="-381000">
              <a:spcAft>
                <a:spcPts val="2400"/>
              </a:spcAft>
              <a:buClr>
                <a:srgbClr val="262626"/>
              </a:buClr>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低リスク手術や RCRI 低リスクには</a:t>
            </a:r>
            <a:r>
              <a:rPr lang="ja-JP" altLang="en-US" sz="2600" b="1" dirty="0">
                <a:solidFill>
                  <a:srgbClr val="0072B2"/>
                </a:solidFill>
                <a:latin typeface="メイリオ" pitchFamily="34" charset="0"/>
                <a:ea typeface="メイリオ" pitchFamily="34" charset="-122"/>
                <a:cs typeface="メイリオ" pitchFamily="34" charset="-120"/>
              </a:rPr>
              <a:t>検査を足さない</a:t>
            </a:r>
            <a:endParaRPr lang="ja-JP" sz="2600" dirty="0"/>
          </a:p>
          <a:p>
            <a:pPr algn="l" marL="381000" indent="-381000">
              <a:spcAft>
                <a:spcPts val="2400"/>
              </a:spcAft>
              <a:buClr>
                <a:srgbClr val="262626"/>
              </a:buClr>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運動耐容能は</a:t>
            </a:r>
            <a:r>
              <a:rPr lang="ja-JP" altLang="en-US" sz="2600" b="1" dirty="0">
                <a:solidFill>
                  <a:srgbClr val="D55E00"/>
                </a:solidFill>
                <a:latin typeface="メイリオ" pitchFamily="34" charset="0"/>
                <a:ea typeface="メイリオ" pitchFamily="34" charset="-122"/>
                <a:cs typeface="メイリオ" pitchFamily="34" charset="-120"/>
              </a:rPr>
              <a:t>主観で聞かない</a:t>
            </a:r>
            <a:r>
              <a:rPr lang="ja-JP" altLang="en-US" sz="2600" dirty="0">
                <a:solidFill>
                  <a:srgbClr val="262626"/>
                </a:solidFill>
                <a:latin typeface="メイリオ" pitchFamily="34" charset="0"/>
                <a:ea typeface="メイリオ" pitchFamily="34" charset="-122"/>
                <a:cs typeface="メイリオ" pitchFamily="34" charset="-120"/>
              </a:rPr>
              <a:t>。具体的な活動と DASI</a:t>
            </a:r>
            <a:endParaRPr lang="ja-JP" sz="2600" dirty="0"/>
          </a:p>
          <a:p>
            <a:pPr algn="l" marL="381000" indent="-381000">
              <a:spcAft>
                <a:spcPts val="2400"/>
              </a:spcAft>
              <a:buClr>
                <a:srgbClr val="262626"/>
              </a:buClr>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BNP・負荷試験は上昇リスク手術で、</a:t>
            </a:r>
            <a:r>
              <a:rPr lang="ja-JP" altLang="en-US" sz="2600" b="1" dirty="0">
                <a:solidFill>
                  <a:srgbClr val="0072B2"/>
                </a:solidFill>
                <a:latin typeface="メイリオ" pitchFamily="34" charset="0"/>
                <a:ea typeface="メイリオ" pitchFamily="34" charset="-122"/>
                <a:cs typeface="メイリオ" pitchFamily="34" charset="-120"/>
              </a:rPr>
              <a:t>管理が変わるときだけ</a:t>
            </a:r>
            <a:endParaRPr lang="ja-JP" sz="2600" dirty="0"/>
          </a:p>
          <a:p>
            <a:pPr algn="l" marL="381000" indent="-381000">
              <a:spcAft>
                <a:spcPts val="2400"/>
              </a:spcAft>
              <a:buClr>
                <a:srgbClr val="262626"/>
              </a:buClr>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血行再建は手術のためにしない。MINS の </a:t>
            </a:r>
            <a:r>
              <a:rPr lang="ja-JP" altLang="en-US" sz="2600" b="1" dirty="0">
                <a:solidFill>
                  <a:srgbClr val="D55E00"/>
                </a:solidFill>
                <a:latin typeface="メイリオ" pitchFamily="34" charset="0"/>
                <a:ea typeface="メイリオ" pitchFamily="34" charset="-122"/>
                <a:cs typeface="メイリオ" pitchFamily="34" charset="-120"/>
              </a:rPr>
              <a:t>9 割は無症状</a:t>
            </a:r>
            <a:endParaRPr lang="ja-JP"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4-7 心血管リスク評価の手順</dc:title>
  <dc:subject/>
  <dc:creator>Anes-lecture</dc:creator>
  <cp:lastModifiedBy>Anes-lecture</cp:lastModifiedBy>
  <cp:revision>1</cp:revision>
  <dcterms:created xsi:type="dcterms:W3CDTF">2026-10-16T00:10:05Z</dcterms:created>
  <dcterms:modified xsi:type="dcterms:W3CDTF">2026-10-16T00:10:05Z</dcterms:modified>
</cp:coreProperties>
</file>