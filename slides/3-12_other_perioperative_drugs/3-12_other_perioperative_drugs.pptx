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麻酔薬ではないが、麻酔科医がほぼ毎日扱う 3 つの薬群、予防的抗菌薬、抗コリン薬（アトロピン）、ステロイドを扱う。それぞれ「何のために、いつ、どれだけ」を押さえ、落とし穴（抗菌薬のアナフィラキシー、アトロピンの逆説的徐脈、ステロイドカバーの不足と過剰）を知る。</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目的: 手術部位感染（SSI: surgical site infection）の予防。感染の治療ではないので、長く続ける意味はない。</a:t>
            </a:r>
          </a:p>
          <a:p>
            <a:r>
              <a:rPr lang="ja-JP" altLang="en-US" dirty="0"/>
              <a:t>タイミング: 切開の時点で組織の濃度が十分であることが大切で、β-ラクタム系は執刀前 60 分以内に投与を開始する。バンコマイシンやフルオロキノロンは点滴に時間がかかるので、執刀前 120 分以内に開始する（基準は「投与の開始」。2016 年ガイドラインに準拠した NOCOTA 研究のプロトコルも「セファゾリンは切開前 60 分以内に開始、バンコマイシンは 120 分」）【要確認: 2016 年ガイドライン原文の投与開始時期の文言】。国内の消化器外科 SSI ガイドライン（2018）も、切開前 60 分以内の投与を勧めている。</a:t>
            </a:r>
          </a:p>
          <a:p>
            <a:r>
              <a:rPr lang="ja-JP" altLang="en-US" dirty="0"/>
              <a:t>薬: 多くの清潔手術で狙うのは皮膚の常在菌で、第一世代セフェム（セファゾリン）が標準。消化管や婦人科では嫌気性菌も狙って別の薬や併用になる。</a:t>
            </a:r>
          </a:p>
          <a:p>
            <a:r>
              <a:rPr lang="ja-JP" altLang="en-US" dirty="0"/>
              <a:t>期間: 投与期間は術式ごとに決まっている。単回〜24 時間が多い。心臓手術、脳神経外科、整形外科、人工血管を使う腹部大動脈手術などでは 48 時間まで、破裂の緊急手術など SSI のリスクが高い場合は 72 時間とする記載がある。胃切除など、術前投与だけ（3 時間を超える手術では術中に追加）でよい手術もある（国内の消化器外科 SSI ガイドライン 2018）【要確認: 2016 年ガイドラインと 2021 年追補版の術式別の投与期間の表の原文】。</a:t>
            </a:r>
          </a:p>
          <a:p>
            <a:r>
              <a:rPr lang="ja-JP" altLang="en-US" dirty="0"/>
              <a:t>タイムアウト: WHO 手術安全チェックリスト（2009）の皮膚切開前（タイムアウト）に、「過去 60 分以内に予防的抗菌薬が投与されたか（はい／該当なし）」の項目がある。</a:t>
            </a:r>
          </a:p>
          <a:p>
            <a:r>
              <a:rPr lang="ja-JP" altLang="en-US" dirty="0"/>
              <a:t>参考: 日本化学療法学会・日本外科感染症学会「術後感染予防抗菌薬適正使用のための実践ガイドライン」日化療会誌 2016;64:153-232（2021 年に追補版：脳神経外科・眼科を追加） / Ohge H, et al. Surg Today 2021;51:1-31（日本外科感染症学会 消化器外科 SSI ガイドライン 2018 の英語版） / Nagata K, et al. BMC Musculoskelet Disord 2019;20:533（NOCOTA 研究のプロトコル）</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用量（ガイドラインの値）: セファゾリンは成人 1 g。体重 80 kg 以上では 2 g、120 kg 以上では 3 g とされる【要確認: 2016 年ガイドライン原文の用量表の体重基準（80 kg・120 kg）。査読は検索の要約での確認で、原文 PDF には接続できなかった】。整形外科などでは、体重によらず初回 2 g とする運用もある（NOCOTA 研究のプロトコル）。小児は 1 回 30 mg/kg【要確認: 2016 年ガイドライン原文の小児量。「成人量を超えない」の記載の有無も】。</a:t>
            </a:r>
          </a:p>
          <a:p>
            <a:r>
              <a:rPr lang="ja-JP" altLang="en-US" dirty="0"/>
              <a:t>再投与: 手術が長引くと組織内濃度が下がるので、薬の半減期の約 2 倍の間隔で追加する。セファゾリンは半減期が約 2 時間なので 3〜4 時間ごと（追加量は 1 g）。腎機能が落ちていれば間隔を延ばす（例 eGFR 20〜50 で 8 時間ごと、20 未満で 16 時間ごと。NOCOTA 研究のプロトコルの表）【要確認: 2016 年ガイドライン原文の腎機能別の再投与間隔の表】。短時間に 1,500 mL 以上の出血があれば、決められた再投与の間隔を待たずに追加投与を考える【要確認: 2016 年ガイドライン原文の大量出血時の記載】。国内の消化器外科 SSI ガイドライン（2018）は、出血時に再投与のタイミングをどう変えるかは確立していないとしている。麻酔科医が時計を見て外科医に声をかける役になる。</a:t>
            </a:r>
          </a:p>
          <a:p>
            <a:r>
              <a:rPr lang="ja-JP" altLang="en-US" dirty="0"/>
              <a:t>アレルギー: ペニシリンやセフェムで重いアレルギー（アナフィラキシー、重症薬疹）の既往があれば、清潔手術ではクリンダマイシンかバンコマイシンに変える。消化管・婦人科など、腸内のグラム陰性桿菌や嫌気性菌を狙う手術では、アミノグリコシドやフルオロキノロンなどを組み合わせる【要確認: 2016 年ガイドラインの術式別の表の、β-ラクタムアレルギー時の代替薬】。バンコマイシン単独はグラム陰性菌に効かない。</a:t>
            </a:r>
          </a:p>
          <a:p>
            <a:r>
              <a:rPr lang="ja-JP" altLang="en-US" dirty="0"/>
              <a:t>中身を聞く: 「ペニシリンアレルギー」の多くは実際には軽い反応や別の原因で、問診で中身（いつ、何で、どんな症状）を聞く（→ 4 章）。重い反応でなければ、側鎖が違うセファゾリンを使えることが多いとする米国の指針がある（Khan 2022）。判断に迷えば上級医に相談する【要確認: Khan 2022 の該当する推奨の原文。国内ガイドラインの扱い】。</a:t>
            </a:r>
          </a:p>
          <a:p>
            <a:r>
              <a:rPr lang="ja-JP" altLang="en-US" dirty="0"/>
              <a:t>参考: Nagata K, et al. BMC Musculoskelet Disord 2019;20:533（NOCOTA） / Khan DA, et al. J Allergy Clin Immunol 2022;150:1333-1393</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頻度: 英国の NAP6 では、周術期アナフィラキシーの原因薬の 47% が抗菌薬で最多だった（筋弛緩薬 33%）。国内 14 施設の研究（Horiuchi 2021、46 例）では、スガマデクス 28.3%、ロクロニウム 21.7%、セファゾリン 17.4%、その他の抗菌薬 15.2%（抗菌薬の合計 32.6%）で、単剤ではスガマデクスが最多だった。</a:t>
            </a:r>
          </a:p>
          <a:p>
            <a:r>
              <a:rPr lang="ja-JP" altLang="en-US" dirty="0"/>
              <a:t>紛れる: 執刀前 60 分以内という条件で、抗菌薬は麻酔導入の直後に入ることが多い。導入薬による低血圧なのか、筋弛緩薬や抗菌薬によるアナフィラキシーなのか、区別が難しい。</a:t>
            </a:r>
          </a:p>
          <a:p>
            <a:r>
              <a:rPr lang="ja-JP" altLang="en-US" dirty="0"/>
              <a:t>観察: NAP6 報告書では、最初の症状が出るまでの時間は 5 分未満が 66%、10 分未満が 83%、15 分未満が 88%（全原因薬）。国内の研究（Horiuchi 2021）では、セファゾリンによる 8 例はすべて麻酔維持期に起き、発症は中央値 10.0 分（2〜20 分）で、ほかの原因薬より遅かった。発症が遅いと、ドレープで皮膚が見えないことがある。投与後 20 分ほどは、血圧、心拍数、気道内圧（気管支攣縮）、EtCO2、皮膚（紅斑、膨疹）を意識して見る。皮膚症状が出ないこともある。</a:t>
            </a:r>
          </a:p>
          <a:p>
            <a:r>
              <a:rPr lang="ja-JP" altLang="en-US" dirty="0"/>
              <a:t>タイミングの工夫: NAP6 報告書は、抗菌薬を麻酔導入の数分前に投与すれば、反応に気づきやすく、治療が単純になり、原因の検索にも役立つとしている【要確認: NAP6 報告書（RCoA 2018）抗菌薬の章の原文と、番号つきの正式な推奨かどうか】。覚醒していれば、患者の訴え（かゆみ、気分不良）で早く気づける。執刀前 60 分以内の条件とも両立する。</a:t>
            </a:r>
          </a:p>
          <a:p>
            <a:r>
              <a:rPr lang="ja-JP" altLang="en-US" dirty="0"/>
              <a:t>対応: 6 章（アナフィラキシー）で扱う。第一選択はアドレナリン。</a:t>
            </a:r>
          </a:p>
          <a:p>
            <a:r>
              <a:rPr lang="ja-JP" altLang="en-US" dirty="0"/>
              <a:t>参考: 日本麻酔科学会「アナフィラキシーに対する対応プラクティカルガイド」（2021 年 2 月制定）</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用量（添付文書）: 迷走神経性徐脈・房室伝導障害や麻酔前投薬などに、「アトロピン硫酸塩水和物として、通常成人 0.5 mg を皮下又は筋肉内に注射する。場合により静脈内に注射することもできる」。有機リン中毒と電気けいれん療法の前投与には別の用法・用量が定められている【要確認: PMDA 電子添文「アトロピン硫酸塩注 0.5mg」6. 用法及び用量の原文（「1 回」が付くか、文末の「なお、年齢、症状により適宜増減する」の有無）】。</a:t>
            </a:r>
          </a:p>
          <a:p>
            <a:r>
              <a:rPr lang="ja-JP" altLang="en-US" dirty="0"/>
              <a:t>徐脈への反復（添付文書外。蘇生ガイドライン）: 反復の間隔と総量は添付文書には書かれていない。蘇生ガイドラインでは 0.5 mg を静注し、効果が不十分なら 3〜5 分ごとに反復し、総量 3 mg までとする【要確認: JRC 蘇生ガイドライン 2020 の成人の徐脈アルゴリズムの用量の原文】。AHA 2020 は初回 1 mg を 3〜5 分ごと、最大 3 mg に変えている。</a:t>
            </a:r>
          </a:p>
          <a:p>
            <a:r>
              <a:rPr lang="ja-JP" altLang="en-US" dirty="0"/>
              <a:t>小児（添付文書外）: 国内の添付文書に小児の用量はない（9.7 小児等に、小児等を対象とした臨床試験は実施していないとある）【要確認: PMDA 電子添文「アトロピン硫酸塩注 0.5mg」9.7 小児等の原文】。徐脈には PALS 2025 で 0.02 mg/kg を静注・骨髄内注、1 回だけ反復可、最小 0.1 mg、1 回最大 0.5 mg【要確認: AHA/AAP 2025 PALS の徐脈アルゴリズムの原文】。0.01 mg/kg は前投薬で使われる教科書的な下限。</a:t>
            </a:r>
          </a:p>
          <a:p>
            <a:r>
              <a:rPr lang="ja-JP" altLang="en-US" dirty="0"/>
              <a:t>作用: ムスカリン受容体を遮断して迷走神経の作用を外す。心拍数が上がり、唾液・気道分泌が減り、気管支が広がる。静注後 1〜2 分で効き始める（教科書的な値）【要確認: Miller's Anesthesia や Stoelting の抗コリン薬の章の、成人の静注後の発現時間】。</a:t>
            </a:r>
          </a:p>
          <a:p>
            <a:r>
              <a:rPr lang="ja-JP" altLang="en-US" dirty="0"/>
              <a:t>注意: 添付文書の薬効薬理に「低用量では通常徐脈があらわれるが、高用量では心拍数を増加させる」とある【要確認: PMDA 電子添文「アトロピン硫酸塩注 0.5mg」18. 薬効薬理の原文】。成人で 0.5 mg 未満では、一時的に徐脈が強まることがある（逆説的徐脈。AHA ACLS の記載）【要確認: AHA ACLS ガイドラインで「0.5 mg 未満で逆説的徐脈」とする記載の箇所】。機序には、中枢のムスカリン受容体を介した迷走神経の亢進と、洞結節への作用の 2 説がある（Montano 1998）。小児では最小 0.1 mg（PALS）。添付文書の禁忌は閉塞隅角緑内障、前立腺肥大による排尿障害、麻痺性イレウス、過敏症。血液脳関門を通るので高齢者でせん妄、小児では発汗抑制で体温が上がる。頻脈で心筋虚血が悪化する患者には慎重に。</a:t>
            </a:r>
          </a:p>
          <a:p>
            <a:r>
              <a:rPr lang="ja-JP" altLang="en-US" dirty="0"/>
              <a:t>効かない徐脈: アトロピンが効きやすいのは、洞徐脈、房室結節のレベルのブロック、迷走神経の緊張による徐脈である。ヒス束より下のブロック（Mobitz II 型、幅の広い QRS の 2:1 ブロックや完全房室ブロック）では効きにくく、かえって悪化することがある。心臓移植後の除神経心でも、アトロピンで完全房室ブロックや洞停止が起きた報告がある。このときは経皮ペーシングや、アドレナリン（またはイソプロテレノール）の持続投与に進み、上級医を呼ぶ（Armour 2022 の症例報告と考察）。</a:t>
            </a:r>
          </a:p>
          <a:p>
            <a:r>
              <a:rPr lang="ja-JP" altLang="en-US" dirty="0"/>
              <a:t>参考: Armour R, et al. Br Paramed J 2022;7:38-42（ACC/AHA/HRS の徐脈ガイドライン〔Kusumoto 2019〕と心臓移植後の報告〔Bernheim 2004〕を引用） / Montano N, et al. Circulation 1998;98:1394-1399</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使う場面: 眼球心臓反射（斜視手術、眼球圧迫）、腹膜牽引・気腹による迷走神経反射、頸動脈洞への刺激などで起こる急な徐脈。ネオスチグミンでの拮抗時のムスカリン作用を抑える併用（→ 3-6）。気道操作やケタミンで分泌が増えるときの分泌抑制。</a:t>
            </a:r>
          </a:p>
          <a:p>
            <a:r>
              <a:rPr lang="ja-JP" altLang="en-US" dirty="0"/>
              <a:t>考えること: 徐脈を見たら、まず低酸素（小児では徐脈は低酸素のサイン）、麻酔薬（レミフェンタニル、デクスメデトミジン、プロポフォール）、外科的刺激を考え、刺激なら外科医に手を止めてもらう。アトロピンは心拍数を上げるだけで血圧は戻らないことがあり、低血圧を伴うならエフェドリンを選ぶ（→ 3-8）。</a:t>
            </a:r>
          </a:p>
          <a:p>
            <a:r>
              <a:rPr lang="ja-JP" altLang="en-US" dirty="0"/>
              <a:t>他の抗コリン薬: 海外ではグリコピロニウム（血液脳関門を通らず、頻脈が少ない）がよく使われる。国内で承認されているグリコピロニウムは吸入薬（シーブリなど、COPD）と外用薬（ラピフォートワイプ、原発性腋窩多汗症）で、注射剤はない【要確認: PMDA の医療用医薬品の添付文書検索で、グリコピロニウムの注射剤が国内にないこと】。ブチルスコポラミン（消化管の鎮痙）は別の目的の薬。</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PONV: デキサメタゾンを導入時に静注すると術後悪心・嘔吐が減る。効果の発現に時間がかかるので手術の終わりではなく初めに入れる。詳細は 5-4。</a:t>
            </a:r>
          </a:p>
          <a:p>
            <a:r>
              <a:rPr lang="ja-JP" altLang="en-US" dirty="0"/>
              <a:t>量の表示: 海外文献の 4 mg・8 mg は、製剤によってはリン酸エステル（dexamethasone phosphate）としての量である。国内の注射剤は「デキサメタゾンとして」の量で表示しており（例 デキサート注射液 6.6 mg は、デキサメタゾンリン酸エステルナトリウム 8.74 mg がデキサメタゾンとして 6.6 mg。デカドロン注射液 3.3 mg はリン酸エステルナトリウムとして 4.4 mg）、海外の 4 mg・8 mg は約 3.3 mg・6.6 mg に当たる（分子量比 約 0.83）。英国 NHS の院内指針も 3.3〜6.6 mg と書いている。PADDI 試験（Corcoran 2021）は 8 mg 静注で、30 日以内の創感染は増えなかった（→ S8）。</a:t>
            </a:r>
          </a:p>
          <a:p>
            <a:r>
              <a:rPr lang="ja-JP" altLang="en-US" dirty="0"/>
              <a:t>適応外: デキサメタゾン注の効能・効果に術後悪心・嘔吐はなく、PONV 予防は適応外。施設の方針（適応外使用の手続き）に従う【要確認: PMDA 電子添文「デキサート注射液」「デカドロン注射液」の 4. 効能又は効果に術後悪心・嘔吐がないこと（査読は病院資料などの二次資料で確認）】。</a:t>
            </a:r>
          </a:p>
          <a:p>
            <a:r>
              <a:rPr lang="ja-JP" altLang="en-US" dirty="0"/>
              <a:t>ステロイドカバー: プレドニゾロン換算 5 mg/日以上を 1 か月以上使っている患者（経口だけでなく吸入・点鼻・関節内・外用も含む）は、視床下部-下垂体-副腎系が抑制されていることがあり、手術の侵襲で副腎クリーゼ（低血圧、低血糖、低ナトリウム）を起こしうる（Woodcock 2020）。英国の合同ガイドライン（Woodcock 2020）は、成人の副腎不全患者に、導入時ヒドロコルチゾン 100 mg 静注、続いて 200 mg/24 時間の持続静注を、通常の内服量の 2 倍を経口でとれるまで続けるとしている【要確認: Woodcock 2020 原文の Table（手術の大きさ別の記載、術後に倍量を内服する期間）】。持続静注ができなければ 50 mg を 6 時間ごとに静注する（ESE/ES 2024。英国内分泌学会のガイダンス Simpson 2020 にも同じ記載がある）。ESE/ES 2024 では、術後に食事がとれれば内服を増量して 48 時間続け、その後は術前の量に戻す（合併症があれば延長する）。デキサメタゾン 6〜8 mg 静注で最初の 24 時間をカバーできるとする記載もある（Kim 2021 による Woodcock 2020 の要約）【要確認: Woodcock 2020 原文に、導入時のヒドロコルチゾン 100 mg の代わりにデキサメタゾン 6〜8 mg 静注を認める記載があるか】。</a:t>
            </a:r>
          </a:p>
          <a:p>
            <a:r>
              <a:rPr lang="ja-JP" altLang="en-US" dirty="0"/>
              <a:t>上乗せであること: ストレス量は普段のステロイドに上乗せするもので、普段の量の代わりではない（Woodcock 2020 の抄録）。手術当日も普段の量を続ける。普段からヒドロコルチゾン 200 mg/日以上、プレドニゾン 50 mg/日以上、デキサメタゾン 6〜8 mg/日以上を使っている患者では、通常は増量しなくてよい（ESE/ES 2024）。</a:t>
            </a:r>
          </a:p>
          <a:p>
            <a:r>
              <a:rPr lang="ja-JP" altLang="en-US" dirty="0"/>
              <a:t>手術の大きさ: Woodcock 2020 は導入時の 100 mg を小手術にも同じように勧めたが、これには異論があり、著者らも簡単な処置には多すぎる場合があると答えている（Anaesthesia 2020 のレター）。国内では施設や内分泌内科の方針に従う。副腎不全を疑ったら迷わずヒドロコルチゾンを投与する。</a:t>
            </a:r>
          </a:p>
          <a:p>
            <a:r>
              <a:rPr lang="ja-JP" altLang="en-US" dirty="0"/>
              <a:t>気道浮腫・補助: 長時間の挿管や気道の手術後の浮腫の予防・治療にデキサメタゾンが使われる。アナフィラキシーでは二相性反応の予防を期待して投与されることがある。しかし抗ヒスタミン薬やステロイドは、二相性反応の予防として信頼できる方法ではない（米国 2020 practice parameter：Shaker 2020）。効果の発現も遅い。第一選択はアドレナリン（→ 6 章）。</a:t>
            </a:r>
          </a:p>
          <a:p>
            <a:r>
              <a:rPr lang="ja-JP" altLang="en-US" dirty="0"/>
              <a:t>参考: Beuschlein F, et al. J Clin Endocrinol Metab 2024;109:1657-1683（ESE/ES 2024） / Simpson H, et al. Clin Med (Lond) 2020;20:371-378 / Corcoran TB, et al. N Engl J Med 2021;384:1731-1741 / 日本麻酔科学会「麻酔薬および麻酔関連薬使用ガイドライン 第4版」（2025）</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高血糖: デキサメタゾン 1 回でも血糖は上がる。糖尿病患者では術後の血糖測定を指示する。</a:t>
            </a:r>
          </a:p>
          <a:p>
            <a:r>
              <a:rPr lang="ja-JP" altLang="en-US" dirty="0"/>
              <a:t>創感染: PADDI 試験（Corcoran 2021）では、8 mg 単回投与で 30 日以内の SSI は 8.1% 対 9.1% で、プラセボに劣らなかった（糖尿病患者でも同様）。免疫抑制状態の患者では個別に判断する。</a:t>
            </a:r>
          </a:p>
          <a:p>
            <a:r>
              <a:rPr lang="ja-JP" altLang="en-US" dirty="0"/>
              <a:t>灼熱感: デキサメタゾンを覚醒した患者に急速静注すると会陰部の灼熱感が出る。導入後に入れるか、ゆっくり入れる。薄めて 30 秒以上かけて入れると減る（10 mg を 0.5 mg/mL に薄めて 30 秒で入れると 15%、薄めずに急速静注では 49%。Zhang 2022）。</a:t>
            </a:r>
          </a:p>
          <a:p>
            <a:r>
              <a:rPr lang="ja-JP" altLang="en-US" dirty="0"/>
              <a:t>カバーの判断: 不足すると副腎クリーゼで低血圧・ショック、過剰なら高血糖や感染のリスク。ストレス量の上乗せに利益を示した RCT はなく（小規模な RCT が 3 つ）、普段の量を続けるだけで多くは足りていた。各ガイドラインの用量は質の高い根拠に乏しく、専門家の意見に基づく部分が大きい（Chen Cardenas 2022 の総説）。ただし副腎クリーゼは命に関わるので、迷ったら補充する方を選ぶことが多い（スライドの「迷ったら、カバーする方が安全」は講師の判断として示す）。</a:t>
            </a:r>
          </a:p>
          <a:p>
            <a:r>
              <a:rPr lang="ja-JP" altLang="en-US" dirty="0"/>
              <a:t>問診: 術前の問診で、今の内服量（吸入・外用・点鼻を含む）、最近までの内服（やめた時期）、関節内注射の有無と時期（2 か月以内なら副腎不全を念頭に置く：ESE/ES 2024）を聞く（→ 4 章）。</a:t>
            </a:r>
          </a:p>
          <a:p>
            <a:r>
              <a:rPr lang="ja-JP" altLang="en-US" dirty="0"/>
              <a:t>参考: Woodcock T, et al. Anaesthesia 2020;75:654-663 / Chen Cardenas SM, et al. J Endocr Soc 2022;7:bvac185 / Zhang Y, et al. Open Med (Wars) 2022;17:1509-1514</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まとめ（約 1 分）。3 つの薬群の「何のために、いつ、どれだけ」。抗菌薬は時計、アトロピンは原因、ステロイドは既往歴の問診が鍵になる。これで 3 章（麻酔薬理）は終わり。</a:t>
            </a:r>
          </a:p>
          <a:p>
            <a:r>
              <a:rPr lang="ja-JP" altLang="en-US" dirty="0"/>
              <a:t>補足: 1 行目はセファゾリンの場合。投与は執刀前 60 分以内に「開始」（バンコマイシンは 120 分以内）、再投与は半減期の約 2 倍ごと（セファゾリンでは 3〜4 時間ごと）、終了は原則 24 時間以内で、術式によっては 48 時間まで（S2・S3）。抗菌薬は英国 NAP6 で原因薬の最多、国内の研究ではスガマデクス・ロクロニウムと並ぶ主な原因で、セファゾリンは発症が遅い例がある（S4）。アトロピンの「少量で逆に徐脈」は成人で 0.5 mg 未満の話（S5）。デキサメタゾンは国内表示の量で書いた。PONV 予防は適応外（S7）。ステロイドカバーの「迷ったらカバー」は講師の判断（S8）。</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KAWAZOE">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502920" y="320040"/>
            <a:ext cx="8503920" cy="868680"/>
          </a:xfrm>
          <a:prstGeom prst="rect">
            <a:avLst/>
          </a:prstGeom>
          <a:noFill/>
          <a:ln/>
        </p:spPr>
        <p:txBody>
          <a:bodyPr wrap="square" lIns="0" tIns="0" rIns="0" bIns="0" rtlCol="0" anchor="ctr"/>
          <a:lstStyle>
            <a:lvl1pPr algn="l" indent="0" marL="0">
              <a:buNone/>
              <a:defRPr lang="en-US" sz="4400" b="1" dirty="0">
                <a:ln w="28575">
                  <a:solidFill>
                    <a:srgbClr val="000000"/>
                  </a:solidFill>
                </a:ln>
                <a:solidFill>
                  <a:srgbClr val="BF9000"/>
                </a:solidFill>
                <a:latin typeface="メイリオ" pitchFamily="34" charset="0"/>
                <a:ea typeface="メイリオ" pitchFamily="34" charset="-122"/>
                <a:cs typeface="メイリオ" pitchFamily="34" charset="-120"/>
              </a:defRPr>
            </a:lvl1pPr>
          </a:lstStyle>
          <a:p>
            <a:pPr algn="l" indent="0" marL="0">
              <a:buNone/>
            </a:pPr>
            <a:endParaRPr lang="en-US" sz="4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KAWAZOE_COVER">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502920" y="1508760"/>
            <a:ext cx="11183112" cy="1737360"/>
          </a:xfrm>
          <a:prstGeom prst="rect">
            <a:avLst/>
          </a:prstGeom>
          <a:noFill/>
          <a:ln/>
        </p:spPr>
        <p:txBody>
          <a:bodyPr wrap="square" lIns="0" tIns="0" rIns="0" bIns="0" rtlCol="0" anchor="b"/>
          <a:lstStyle>
            <a:lvl1pPr algn="ctr" indent="0" marL="0">
              <a:buNone/>
              <a:defRPr lang="en-US" sz="4400" b="1" dirty="0">
                <a:ln w="28575">
                  <a:solidFill>
                    <a:srgbClr val="000000"/>
                  </a:solidFill>
                </a:ln>
                <a:solidFill>
                  <a:srgbClr val="BF9000"/>
                </a:solidFill>
                <a:latin typeface="メイリオ" pitchFamily="34" charset="0"/>
                <a:ea typeface="メイリオ" pitchFamily="34" charset="-122"/>
                <a:cs typeface="メイリオ" pitchFamily="34" charset="-120"/>
              </a:defRPr>
            </a:lvl1pPr>
          </a:lstStyle>
          <a:p>
            <a:pPr algn="ctr" indent="0" marL="0">
              <a:buNone/>
            </a:pPr>
            <a:endParaRPr lang="en-US" sz="44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itle"/>
          <p:cNvSpPr>
            <a:spLocks noGrp="1"/>
          </p:cNvSpPr>
          <p:nvPr>
            <p:ph type="title"/>
          </p:nvPr>
        </p:nvSpPr>
        <p:spPr>
          <a:xfrm>
            <a:off x="502920" y="1508760"/>
            <a:ext cx="11183112" cy="1737360"/>
          </a:xfrm>
          <a:prstGeom prst="rect">
            <a:avLst/>
          </a:prstGeom>
          <a:noFill/>
          <a:ln/>
        </p:spPr>
        <p:txBody>
          <a:bodyPr wrap="square" lIns="0" tIns="0" rIns="0" bIns="0" rtlCol="0" anchor="b"/>
          <a:lstStyle/>
          <a:p>
            <a:pPr algn="ctr"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周術期のその他の薬</a:t>
            </a:r>
            <a:endParaRPr lang="ja-JP" sz="4400" dirty="0"/>
          </a:p>
        </p:txBody>
      </p:sp>
      <p:sp>
        <p:nvSpPr>
          <p:cNvPr id="3" name="Shape 1"/>
          <p:cNvSpPr/>
          <p:nvPr/>
        </p:nvSpPr>
        <p:spPr>
          <a:xfrm>
            <a:off x="0" y="3474720"/>
            <a:ext cx="12191970" cy="0"/>
          </a:xfrm>
          <a:prstGeom prst="line">
            <a:avLst/>
          </a:prstGeom>
          <a:noFill/>
          <a:ln w="101600">
            <a:solidFill>
              <a:srgbClr val="BF9000"/>
            </a:solidFill>
            <a:prstDash val="solid"/>
          </a:ln>
        </p:spPr>
      </p:sp>
      <p:sp>
        <p:nvSpPr>
          <p:cNvPr id="4" name="Text 2"/>
          <p:cNvSpPr txBox="1"/>
          <p:nvPr/>
        </p:nvSpPr>
        <p:spPr>
          <a:xfrm>
            <a:off x="502920" y="3749040"/>
            <a:ext cx="11183112" cy="539496"/>
          </a:xfrm>
          <a:prstGeom prst="rect">
            <a:avLst/>
          </a:prstGeom>
          <a:noFill/>
          <a:ln/>
        </p:spPr>
        <p:txBody>
          <a:bodyPr wrap="square" lIns="0" tIns="0" rIns="0" bIns="0" rtlCol="0" anchor="t"/>
          <a:lstStyle/>
          <a:p>
            <a:pPr algn="ctr" indent="0" marL="0">
              <a:buNone/>
            </a:pPr>
            <a:r>
              <a:rPr lang="ja-JP" altLang="en-US" sz="2800" dirty="0">
                <a:solidFill>
                  <a:srgbClr val="262626"/>
                </a:solidFill>
                <a:latin typeface="メイリオ" pitchFamily="34" charset="0"/>
                <a:ea typeface="メイリオ" pitchFamily="34" charset="-122"/>
                <a:cs typeface="メイリオ" pitchFamily="34" charset="-120"/>
              </a:rPr>
              <a:t>3-12 麻酔薬理</a:t>
            </a:r>
            <a:endParaRPr lang="ja-JP" sz="2800" dirty="0"/>
          </a:p>
        </p:txBody>
      </p:sp>
      <p:sp>
        <p:nvSpPr>
          <p:cNvPr id="5" name="Text 3"/>
          <p:cNvSpPr txBox="1"/>
          <p:nvPr/>
        </p:nvSpPr>
        <p:spPr>
          <a:xfrm>
            <a:off x="502920" y="4693920"/>
            <a:ext cx="11183112" cy="420624"/>
          </a:xfrm>
          <a:prstGeom prst="rect">
            <a:avLst/>
          </a:prstGeom>
          <a:noFill/>
          <a:ln/>
        </p:spPr>
        <p:txBody>
          <a:bodyPr wrap="square" lIns="0" tIns="0" rIns="0" bIns="0" rtlCol="0" anchor="t"/>
          <a:lstStyle/>
          <a:p>
            <a:pPr algn="ctr" indent="0" marL="0">
              <a:buNone/>
            </a:pPr>
            <a:r>
              <a:rPr lang="ja-JP" altLang="en-US" sz="2200" dirty="0">
                <a:solidFill>
                  <a:srgbClr val="595959"/>
                </a:solidFill>
                <a:latin typeface="メイリオ" pitchFamily="34" charset="0"/>
                <a:ea typeface="メイリオ" pitchFamily="34" charset="-122"/>
                <a:cs typeface="メイリオ" pitchFamily="34" charset="-120"/>
              </a:rPr>
              <a:t>初期研修医向け麻酔講義</a:t>
            </a:r>
            <a:endParaRPr lang="ja-JP"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予防的抗菌薬の目的</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9354312" y="54864"/>
            <a:ext cx="621792" cy="585216"/>
          </a:xfrm>
          <a:prstGeom prst="roundRect">
            <a:avLst>
              <a:gd name="adj" fmla="val 7813"/>
            </a:avLst>
          </a:prstGeom>
          <a:solidFill>
            <a:srgbClr val="00A8AA"/>
          </a:solidFill>
          <a:ln/>
        </p:spPr>
        <p:txBody>
          <a:bodyPr wrap="none" lIns="0" tIns="0" rIns="0" bIns="0" rtlCol="0" anchor="ctr"/>
          <a:lstStyle/>
          <a:p>
            <a:pPr algn="ctr" indent="0" marL="0">
              <a:buNone/>
            </a:pPr>
            <a:r>
              <a:rPr lang="ja-JP" altLang="en-US" sz="1050" b="1" dirty="0">
                <a:solidFill>
                  <a:srgbClr val="FFFFFF"/>
                </a:solidFill>
                <a:latin typeface="メイリオ" pitchFamily="34" charset="0"/>
                <a:ea typeface="メイリオ" pitchFamily="34" charset="-122"/>
                <a:cs typeface="メイリオ" pitchFamily="34" charset="-120"/>
              </a:rPr>
              <a:t>予防的</a:t>
            </a:r>
            <a:endParaRPr lang="ja-JP" sz="1050" dirty="0"/>
          </a:p>
          <a:p>
            <a:pPr algn="ctr" indent="0" marL="0">
              <a:buNone/>
            </a:pPr>
            <a:r>
              <a:rPr lang="ja-JP" altLang="en-US" sz="1050" b="1" dirty="0">
                <a:solidFill>
                  <a:srgbClr val="FFFFFF"/>
                </a:solidFill>
                <a:latin typeface="メイリオ" pitchFamily="34" charset="0"/>
                <a:ea typeface="メイリオ" pitchFamily="34" charset="-122"/>
                <a:cs typeface="メイリオ" pitchFamily="34" charset="-120"/>
              </a:rPr>
              <a:t>抗菌薬</a:t>
            </a:r>
            <a:endParaRPr lang="ja-JP" sz="1050" dirty="0"/>
          </a:p>
        </p:txBody>
      </p:sp>
      <p:sp>
        <p:nvSpPr>
          <p:cNvPr id="5" name="Text 3"/>
          <p:cNvSpPr/>
          <p:nvPr/>
        </p:nvSpPr>
        <p:spPr>
          <a:xfrm>
            <a:off x="10030968" y="54864"/>
            <a:ext cx="621792" cy="585216"/>
          </a:xfrm>
          <a:prstGeom prst="roundRect">
            <a:avLst>
              <a:gd name="adj" fmla="val 7813"/>
            </a:avLst>
          </a:prstGeom>
          <a:solidFill>
            <a:srgbClr val="D9D9D9"/>
          </a:solidFill>
          <a:ln/>
        </p:spPr>
        <p:txBody>
          <a:bodyPr wrap="none" lIns="0" tIns="0" rIns="0" bIns="0" rtlCol="0" anchor="ctr"/>
          <a:lstStyle/>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抗コリン</a:t>
            </a:r>
            <a:endParaRPr lang="ja-JP" sz="1050" dirty="0"/>
          </a:p>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薬</a:t>
            </a:r>
            <a:endParaRPr lang="ja-JP" sz="1050" dirty="0"/>
          </a:p>
        </p:txBody>
      </p:sp>
      <p:sp>
        <p:nvSpPr>
          <p:cNvPr id="6" name="Text 4"/>
          <p:cNvSpPr/>
          <p:nvPr/>
        </p:nvSpPr>
        <p:spPr>
          <a:xfrm>
            <a:off x="10707624" y="54864"/>
            <a:ext cx="621792" cy="585216"/>
          </a:xfrm>
          <a:prstGeom prst="roundRect">
            <a:avLst>
              <a:gd name="adj" fmla="val 7813"/>
            </a:avLst>
          </a:prstGeom>
          <a:solidFill>
            <a:srgbClr val="D9D9D9"/>
          </a:solidFill>
          <a:ln/>
        </p:spPr>
        <p:txBody>
          <a:bodyPr wrap="none" lIns="0" tIns="0" rIns="0" bIns="0" rtlCol="0" anchor="ctr"/>
          <a:lstStyle/>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ステロ</a:t>
            </a:r>
            <a:endParaRPr lang="ja-JP" sz="1050" dirty="0"/>
          </a:p>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イド</a:t>
            </a:r>
            <a:endParaRPr lang="ja-JP" sz="1050" dirty="0"/>
          </a:p>
        </p:txBody>
      </p:sp>
      <p:sp>
        <p:nvSpPr>
          <p:cNvPr id="7" name="Text 5"/>
          <p:cNvSpPr/>
          <p:nvPr/>
        </p:nvSpPr>
        <p:spPr>
          <a:xfrm>
            <a:off x="11384280" y="54864"/>
            <a:ext cx="621792" cy="585216"/>
          </a:xfrm>
          <a:prstGeom prst="roundRect">
            <a:avLst>
              <a:gd name="adj" fmla="val 7813"/>
            </a:avLst>
          </a:prstGeom>
          <a:solidFill>
            <a:srgbClr val="D9D9D9"/>
          </a:solidFill>
          <a:ln/>
        </p:spPr>
        <p:txBody>
          <a:bodyPr wrap="none" lIns="0" tIns="0" rIns="0" bIns="0" rtlCol="0" anchor="ctr"/>
          <a:lstStyle/>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まとめ</a:t>
            </a:r>
            <a:endParaRPr lang="ja-JP" sz="1050" dirty="0"/>
          </a:p>
        </p:txBody>
      </p:sp>
      <p:sp>
        <p:nvSpPr>
          <p:cNvPr id="8" name="Text 6"/>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1</a:t>
            </a:r>
            <a:endParaRPr lang="ja-JP" sz="1200" dirty="0"/>
          </a:p>
        </p:txBody>
      </p:sp>
      <p:sp>
        <p:nvSpPr>
          <p:cNvPr id="9" name="Text 7"/>
          <p:cNvSpPr txBox="1"/>
          <p:nvPr/>
        </p:nvSpPr>
        <p:spPr>
          <a:xfrm>
            <a:off x="502920" y="5943600"/>
            <a:ext cx="10607040" cy="777240"/>
          </a:xfrm>
          <a:prstGeom prst="rect">
            <a:avLst/>
          </a:prstGeom>
          <a:noFill/>
          <a:ln/>
        </p:spPr>
        <p:txBody>
          <a:bodyPr wrap="square" lIns="0" tIns="0" rIns="0" bIns="0" rtlCol="0" anchor="b"/>
          <a:lstStyle/>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術後感染予防抗菌薬適正使用のための実践ガイドライン. 日化療会誌 2016;64:153-232</a:t>
            </a:r>
            <a:endParaRPr lang="ja-JP" sz="1600" dirty="0"/>
          </a:p>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WHO Surgical Safety Checklist（2009）</a:t>
            </a:r>
            <a:endParaRPr lang="ja-JP" sz="1600" dirty="0"/>
          </a:p>
        </p:txBody>
      </p:sp>
      <p:sp>
        <p:nvSpPr>
          <p:cNvPr id="10" name="Text 8"/>
          <p:cNvSpPr txBox="1"/>
          <p:nvPr/>
        </p:nvSpPr>
        <p:spPr>
          <a:xfrm>
            <a:off x="502920" y="1783080"/>
            <a:ext cx="11155680" cy="2514600"/>
          </a:xfrm>
          <a:prstGeom prst="rect">
            <a:avLst/>
          </a:prstGeom>
          <a:noFill/>
          <a:ln/>
        </p:spPr>
        <p:txBody>
          <a:bodyPr wrap="square" lIns="0" tIns="0" rIns="0" bIns="0" rtlCol="0" anchor="t"/>
          <a:lstStyle/>
          <a:p>
            <a:pPr algn="l" marL="381000" indent="-381000">
              <a:spcAft>
                <a:spcPts val="1400"/>
              </a:spcAft>
              <a:buSzPct val="100000"/>
              <a:buChar char="•"/>
            </a:pPr>
            <a:r>
              <a:rPr lang="ja-JP" altLang="en-US" sz="2600" dirty="0">
                <a:solidFill>
                  <a:srgbClr val="262626"/>
                </a:solidFill>
                <a:latin typeface="メイリオ" pitchFamily="34" charset="0"/>
                <a:ea typeface="メイリオ" pitchFamily="34" charset="-122"/>
                <a:cs typeface="メイリオ" pitchFamily="34" charset="-120"/>
              </a:rPr>
              <a:t>手術部位感染（SSI）を減らすため。</a:t>
            </a:r>
            <a:r>
              <a:rPr lang="ja-JP" altLang="en-US" sz="2600" b="1" dirty="0">
                <a:solidFill>
                  <a:srgbClr val="D55E00"/>
                </a:solidFill>
                <a:latin typeface="メイリオ" pitchFamily="34" charset="0"/>
                <a:ea typeface="メイリオ" pitchFamily="34" charset="-122"/>
                <a:cs typeface="メイリオ" pitchFamily="34" charset="-120"/>
              </a:rPr>
              <a:t>治療ではない</a:t>
            </a:r>
            <a:endParaRPr lang="ja-JP" sz="2600" dirty="0"/>
          </a:p>
          <a:p>
            <a:pPr algn="l" marL="381000" indent="-381000">
              <a:spcAft>
                <a:spcPts val="1400"/>
              </a:spcAft>
              <a:buSzPct val="100000"/>
              <a:buChar char="•"/>
            </a:pPr>
            <a:r>
              <a:rPr lang="ja-JP" altLang="en-US" sz="2600" dirty="0">
                <a:solidFill>
                  <a:srgbClr val="262626"/>
                </a:solidFill>
                <a:latin typeface="メイリオ" pitchFamily="34" charset="0"/>
                <a:ea typeface="メイリオ" pitchFamily="34" charset="-122"/>
                <a:cs typeface="メイリオ" pitchFamily="34" charset="-120"/>
              </a:rPr>
              <a:t>切開の瞬間に、組織に十分な濃度があること</a:t>
            </a:r>
            <a:endParaRPr lang="ja-JP" sz="2600" dirty="0"/>
          </a:p>
          <a:p>
            <a:pPr algn="l" marL="381000" indent="-381000">
              <a:spcAft>
                <a:spcPts val="1400"/>
              </a:spcAft>
              <a:buSzPct val="100000"/>
              <a:buChar char="•"/>
            </a:pPr>
            <a:r>
              <a:rPr lang="ja-JP" altLang="en-US" sz="2600" dirty="0">
                <a:solidFill>
                  <a:srgbClr val="262626"/>
                </a:solidFill>
                <a:latin typeface="メイリオ" pitchFamily="34" charset="0"/>
                <a:ea typeface="メイリオ" pitchFamily="34" charset="-122"/>
                <a:cs typeface="メイリオ" pitchFamily="34" charset="-120"/>
              </a:rPr>
              <a:t>狙うのは皮膚の常在菌（黄色ブドウ球菌など）→ </a:t>
            </a:r>
            <a:r>
              <a:rPr lang="ja-JP" altLang="en-US" sz="2600" b="1" dirty="0">
                <a:solidFill>
                  <a:srgbClr val="0072B2"/>
                </a:solidFill>
                <a:latin typeface="メイリオ" pitchFamily="34" charset="0"/>
                <a:ea typeface="メイリオ" pitchFamily="34" charset="-122"/>
                <a:cs typeface="メイリオ" pitchFamily="34" charset="-120"/>
              </a:rPr>
              <a:t>セファゾリン</a:t>
            </a:r>
            <a:endParaRPr lang="ja-JP" sz="2600" dirty="0"/>
          </a:p>
          <a:p>
            <a:pPr algn="l" marL="381000" indent="-381000">
              <a:spcAft>
                <a:spcPts val="1400"/>
              </a:spcAft>
              <a:buSzPct val="100000"/>
              <a:buChar char="•"/>
            </a:pPr>
            <a:r>
              <a:rPr lang="ja-JP" altLang="en-US" sz="2600" dirty="0">
                <a:solidFill>
                  <a:srgbClr val="262626"/>
                </a:solidFill>
                <a:latin typeface="メイリオ" pitchFamily="34" charset="0"/>
                <a:ea typeface="メイリオ" pitchFamily="34" charset="-122"/>
                <a:cs typeface="メイリオ" pitchFamily="34" charset="-120"/>
              </a:rPr>
              <a:t>閉創後は </a:t>
            </a:r>
            <a:r>
              <a:rPr lang="ja-JP" altLang="en-US" sz="2600" b="1" dirty="0">
                <a:solidFill>
                  <a:srgbClr val="0072B2"/>
                </a:solidFill>
                <a:latin typeface="メイリオ" pitchFamily="34" charset="0"/>
                <a:ea typeface="メイリオ" pitchFamily="34" charset="-122"/>
                <a:cs typeface="メイリオ" pitchFamily="34" charset="-120"/>
              </a:rPr>
              <a:t>24 時間以内</a:t>
            </a:r>
            <a:r>
              <a:rPr lang="ja-JP" altLang="en-US" sz="2600" dirty="0">
                <a:solidFill>
                  <a:srgbClr val="262626"/>
                </a:solidFill>
                <a:latin typeface="メイリオ" pitchFamily="34" charset="0"/>
                <a:ea typeface="メイリオ" pitchFamily="34" charset="-122"/>
                <a:cs typeface="メイリオ" pitchFamily="34" charset="-120"/>
              </a:rPr>
              <a:t>に終える（手術によっては 48 時間）</a:t>
            </a:r>
            <a:endParaRPr lang="ja-JP" sz="2600" dirty="0"/>
          </a:p>
        </p:txBody>
      </p:sp>
      <p:sp>
        <p:nvSpPr>
          <p:cNvPr id="11" name="Text 9"/>
          <p:cNvSpPr/>
          <p:nvPr/>
        </p:nvSpPr>
        <p:spPr>
          <a:xfrm>
            <a:off x="1051560" y="4581144"/>
            <a:ext cx="10085832" cy="1143000"/>
          </a:xfrm>
          <a:prstGeom prst="roundRect">
            <a:avLst>
              <a:gd name="adj" fmla="val 8000"/>
            </a:avLst>
          </a:prstGeom>
          <a:solidFill>
            <a:srgbClr val="FFFFFF"/>
          </a:solidFill>
          <a:ln w="44450">
            <a:solidFill>
              <a:srgbClr val="00A8AA"/>
            </a:solidFill>
          </a:ln>
        </p:spPr>
        <p:txBody>
          <a:bodyPr wrap="square" lIns="73152" tIns="73152" rIns="73152" bIns="73152" rtlCol="0" anchor="ctr"/>
          <a:lstStyle/>
          <a:p>
            <a:pPr algn="ctr" indent="0" marL="0">
              <a:buNone/>
            </a:pPr>
            <a:r>
              <a:rPr lang="ja-JP" altLang="en-US" sz="2800" b="1" dirty="0">
                <a:solidFill>
                  <a:srgbClr val="262626"/>
                </a:solidFill>
                <a:latin typeface="メイリオ" pitchFamily="34" charset="0"/>
                <a:ea typeface="メイリオ" pitchFamily="34" charset="-122"/>
                <a:cs typeface="メイリオ" pitchFamily="34" charset="-120"/>
              </a:rPr>
              <a:t>タイムアウト：</a:t>
            </a:r>
            <a:r>
              <a:rPr lang="ja-JP" altLang="en-US" sz="2800" b="1" dirty="0">
                <a:solidFill>
                  <a:srgbClr val="D55E00"/>
                </a:solidFill>
                <a:latin typeface="メイリオ" pitchFamily="34" charset="0"/>
                <a:ea typeface="メイリオ" pitchFamily="34" charset="-122"/>
                <a:cs typeface="メイリオ" pitchFamily="34" charset="-120"/>
              </a:rPr>
              <a:t>執刀前 60 分以内に開始</a:t>
            </a:r>
            <a:endParaRPr lang="ja-JP" sz="2800" dirty="0"/>
          </a:p>
          <a:p>
            <a:pPr algn="ctr" indent="0" marL="0">
              <a:buNone/>
            </a:pPr>
            <a:r>
              <a:rPr lang="ja-JP" altLang="en-US" sz="2800" b="1" dirty="0">
                <a:solidFill>
                  <a:srgbClr val="262626"/>
                </a:solidFill>
                <a:latin typeface="メイリオ" pitchFamily="34" charset="0"/>
                <a:ea typeface="メイリオ" pitchFamily="34" charset="-122"/>
                <a:cs typeface="メイリオ" pitchFamily="34" charset="-120"/>
              </a:rPr>
              <a:t>（バンコマイシンは </a:t>
            </a:r>
            <a:r>
              <a:rPr lang="ja-JP" altLang="en-US" sz="2800" b="1" dirty="0">
                <a:solidFill>
                  <a:srgbClr val="D55E00"/>
                </a:solidFill>
                <a:latin typeface="メイリオ" pitchFamily="34" charset="0"/>
                <a:ea typeface="メイリオ" pitchFamily="34" charset="-122"/>
                <a:cs typeface="メイリオ" pitchFamily="34" charset="-120"/>
              </a:rPr>
              <a:t>120 分</a:t>
            </a:r>
            <a:r>
              <a:rPr lang="ja-JP" altLang="en-US" sz="2800" b="1" dirty="0">
                <a:solidFill>
                  <a:srgbClr val="262626"/>
                </a:solidFill>
                <a:latin typeface="メイリオ" pitchFamily="34" charset="0"/>
                <a:ea typeface="メイリオ" pitchFamily="34" charset="-122"/>
                <a:cs typeface="メイリオ" pitchFamily="34" charset="-120"/>
              </a:rPr>
              <a:t>）</a:t>
            </a:r>
            <a:endParaRPr lang="ja-JP" sz="2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用量・再投与・アレルギー</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9354312" y="54864"/>
            <a:ext cx="621792" cy="585216"/>
          </a:xfrm>
          <a:prstGeom prst="roundRect">
            <a:avLst>
              <a:gd name="adj" fmla="val 7813"/>
            </a:avLst>
          </a:prstGeom>
          <a:solidFill>
            <a:srgbClr val="00A8AA"/>
          </a:solidFill>
          <a:ln/>
        </p:spPr>
        <p:txBody>
          <a:bodyPr wrap="none" lIns="0" tIns="0" rIns="0" bIns="0" rtlCol="0" anchor="ctr"/>
          <a:lstStyle/>
          <a:p>
            <a:pPr algn="ctr" indent="0" marL="0">
              <a:buNone/>
            </a:pPr>
            <a:r>
              <a:rPr lang="ja-JP" altLang="en-US" sz="1050" b="1" dirty="0">
                <a:solidFill>
                  <a:srgbClr val="FFFFFF"/>
                </a:solidFill>
                <a:latin typeface="メイリオ" pitchFamily="34" charset="0"/>
                <a:ea typeface="メイリオ" pitchFamily="34" charset="-122"/>
                <a:cs typeface="メイリオ" pitchFamily="34" charset="-120"/>
              </a:rPr>
              <a:t>予防的</a:t>
            </a:r>
            <a:endParaRPr lang="ja-JP" sz="1050" dirty="0"/>
          </a:p>
          <a:p>
            <a:pPr algn="ctr" indent="0" marL="0">
              <a:buNone/>
            </a:pPr>
            <a:r>
              <a:rPr lang="ja-JP" altLang="en-US" sz="1050" b="1" dirty="0">
                <a:solidFill>
                  <a:srgbClr val="FFFFFF"/>
                </a:solidFill>
                <a:latin typeface="メイリオ" pitchFamily="34" charset="0"/>
                <a:ea typeface="メイリオ" pitchFamily="34" charset="-122"/>
                <a:cs typeface="メイリオ" pitchFamily="34" charset="-120"/>
              </a:rPr>
              <a:t>抗菌薬</a:t>
            </a:r>
            <a:endParaRPr lang="ja-JP" sz="1050" dirty="0"/>
          </a:p>
        </p:txBody>
      </p:sp>
      <p:sp>
        <p:nvSpPr>
          <p:cNvPr id="5" name="Text 3"/>
          <p:cNvSpPr/>
          <p:nvPr/>
        </p:nvSpPr>
        <p:spPr>
          <a:xfrm>
            <a:off x="10030968" y="54864"/>
            <a:ext cx="621792" cy="585216"/>
          </a:xfrm>
          <a:prstGeom prst="roundRect">
            <a:avLst>
              <a:gd name="adj" fmla="val 7813"/>
            </a:avLst>
          </a:prstGeom>
          <a:solidFill>
            <a:srgbClr val="D9D9D9"/>
          </a:solidFill>
          <a:ln/>
        </p:spPr>
        <p:txBody>
          <a:bodyPr wrap="none" lIns="0" tIns="0" rIns="0" bIns="0" rtlCol="0" anchor="ctr"/>
          <a:lstStyle/>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抗コリン</a:t>
            </a:r>
            <a:endParaRPr lang="ja-JP" sz="1050" dirty="0"/>
          </a:p>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薬</a:t>
            </a:r>
            <a:endParaRPr lang="ja-JP" sz="1050" dirty="0"/>
          </a:p>
        </p:txBody>
      </p:sp>
      <p:sp>
        <p:nvSpPr>
          <p:cNvPr id="6" name="Text 4"/>
          <p:cNvSpPr/>
          <p:nvPr/>
        </p:nvSpPr>
        <p:spPr>
          <a:xfrm>
            <a:off x="10707624" y="54864"/>
            <a:ext cx="621792" cy="585216"/>
          </a:xfrm>
          <a:prstGeom prst="roundRect">
            <a:avLst>
              <a:gd name="adj" fmla="val 7813"/>
            </a:avLst>
          </a:prstGeom>
          <a:solidFill>
            <a:srgbClr val="D9D9D9"/>
          </a:solidFill>
          <a:ln/>
        </p:spPr>
        <p:txBody>
          <a:bodyPr wrap="none" lIns="0" tIns="0" rIns="0" bIns="0" rtlCol="0" anchor="ctr"/>
          <a:lstStyle/>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ステロ</a:t>
            </a:r>
            <a:endParaRPr lang="ja-JP" sz="1050" dirty="0"/>
          </a:p>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イド</a:t>
            </a:r>
            <a:endParaRPr lang="ja-JP" sz="1050" dirty="0"/>
          </a:p>
        </p:txBody>
      </p:sp>
      <p:sp>
        <p:nvSpPr>
          <p:cNvPr id="7" name="Text 5"/>
          <p:cNvSpPr/>
          <p:nvPr/>
        </p:nvSpPr>
        <p:spPr>
          <a:xfrm>
            <a:off x="11384280" y="54864"/>
            <a:ext cx="621792" cy="585216"/>
          </a:xfrm>
          <a:prstGeom prst="roundRect">
            <a:avLst>
              <a:gd name="adj" fmla="val 7813"/>
            </a:avLst>
          </a:prstGeom>
          <a:solidFill>
            <a:srgbClr val="D9D9D9"/>
          </a:solidFill>
          <a:ln/>
        </p:spPr>
        <p:txBody>
          <a:bodyPr wrap="none" lIns="0" tIns="0" rIns="0" bIns="0" rtlCol="0" anchor="ctr"/>
          <a:lstStyle/>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まとめ</a:t>
            </a:r>
            <a:endParaRPr lang="ja-JP" sz="1050" dirty="0"/>
          </a:p>
        </p:txBody>
      </p:sp>
      <p:sp>
        <p:nvSpPr>
          <p:cNvPr id="8" name="Text 6"/>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2</a:t>
            </a:r>
            <a:endParaRPr lang="ja-JP" sz="1200" dirty="0"/>
          </a:p>
        </p:txBody>
      </p:sp>
      <p:sp>
        <p:nvSpPr>
          <p:cNvPr id="9" name="Text 7"/>
          <p:cNvSpPr txBox="1"/>
          <p:nvPr/>
        </p:nvSpPr>
        <p:spPr>
          <a:xfrm>
            <a:off x="502920" y="5943600"/>
            <a:ext cx="10607040" cy="777240"/>
          </a:xfrm>
          <a:prstGeom prst="rect">
            <a:avLst/>
          </a:prstGeom>
          <a:noFill/>
          <a:ln/>
        </p:spPr>
        <p:txBody>
          <a:bodyPr wrap="square" lIns="0" tIns="0" rIns="0" bIns="0" rtlCol="0" anchor="b"/>
          <a:lstStyle/>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術後感染予防抗菌薬適正使用のための実践ガイドライン. 日化療会誌 2016;64:153-232</a:t>
            </a:r>
            <a:endParaRPr lang="ja-JP" sz="1600" dirty="0"/>
          </a:p>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Ohge H, et al. Surg Today 2021;51:1-31</a:t>
            </a:r>
            <a:endParaRPr lang="ja-JP" sz="1600" dirty="0"/>
          </a:p>
        </p:txBody>
      </p:sp>
      <p:sp>
        <p:nvSpPr>
          <p:cNvPr id="10" name="Shape 8"/>
          <p:cNvSpPr/>
          <p:nvPr/>
        </p:nvSpPr>
        <p:spPr>
          <a:xfrm>
            <a:off x="502920" y="1691640"/>
            <a:ext cx="3105302" cy="4160520"/>
          </a:xfrm>
          <a:prstGeom prst="roundRect">
            <a:avLst>
              <a:gd name="adj" fmla="val 2356"/>
            </a:avLst>
          </a:prstGeom>
          <a:solidFill>
            <a:srgbClr val="F2F2F2"/>
          </a:solidFill>
          <a:ln/>
        </p:spPr>
      </p:sp>
      <p:sp>
        <p:nvSpPr>
          <p:cNvPr id="11" name="Text 9"/>
          <p:cNvSpPr txBox="1"/>
          <p:nvPr/>
        </p:nvSpPr>
        <p:spPr>
          <a:xfrm>
            <a:off x="685800" y="1828800"/>
            <a:ext cx="2739542" cy="914400"/>
          </a:xfrm>
          <a:prstGeom prst="rect">
            <a:avLst/>
          </a:prstGeom>
          <a:noFill/>
          <a:ln/>
        </p:spPr>
        <p:txBody>
          <a:bodyPr wrap="square" lIns="0" tIns="0" rIns="0" bIns="0" rtlCol="0" anchor="t"/>
          <a:lstStyle/>
          <a:p>
            <a:pPr algn="l" indent="0" marL="0">
              <a:buNone/>
            </a:pPr>
            <a:r>
              <a:rPr lang="ja-JP" altLang="en-US" sz="2400" b="1" dirty="0">
                <a:solidFill>
                  <a:srgbClr val="0072B2"/>
                </a:solidFill>
                <a:latin typeface="メイリオ" pitchFamily="34" charset="0"/>
                <a:ea typeface="メイリオ" pitchFamily="34" charset="-122"/>
                <a:cs typeface="メイリオ" pitchFamily="34" charset="-120"/>
              </a:rPr>
              <a:t>用量</a:t>
            </a:r>
            <a:endParaRPr lang="ja-JP" sz="2400" dirty="0"/>
          </a:p>
          <a:p>
            <a:pPr algn="l" indent="0" marL="0">
              <a:buNone/>
            </a:pPr>
            <a:r>
              <a:rPr lang="ja-JP" altLang="en-US" sz="2400" b="1" dirty="0">
                <a:solidFill>
                  <a:srgbClr val="0072B2"/>
                </a:solidFill>
                <a:latin typeface="メイリオ" pitchFamily="34" charset="0"/>
                <a:ea typeface="メイリオ" pitchFamily="34" charset="-122"/>
                <a:cs typeface="メイリオ" pitchFamily="34" charset="-120"/>
              </a:rPr>
              <a:t>（セファゾリン）</a:t>
            </a:r>
            <a:endParaRPr lang="ja-JP" sz="2400" dirty="0"/>
          </a:p>
        </p:txBody>
      </p:sp>
      <p:sp>
        <p:nvSpPr>
          <p:cNvPr id="12" name="Text 10"/>
          <p:cNvSpPr txBox="1"/>
          <p:nvPr/>
        </p:nvSpPr>
        <p:spPr>
          <a:xfrm>
            <a:off x="685800" y="2852928"/>
            <a:ext cx="2739542" cy="841248"/>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成人 1 g（体重が</a:t>
            </a:r>
            <a:endParaRPr lang="ja-JP" sz="2200" dirty="0"/>
          </a:p>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重ければ 2 g）</a:t>
            </a:r>
            <a:endParaRPr lang="ja-JP" sz="2200" dirty="0"/>
          </a:p>
        </p:txBody>
      </p:sp>
      <p:sp>
        <p:nvSpPr>
          <p:cNvPr id="13" name="Text 11"/>
          <p:cNvSpPr txBox="1"/>
          <p:nvPr/>
        </p:nvSpPr>
        <p:spPr>
          <a:xfrm>
            <a:off x="685800" y="3858768"/>
            <a:ext cx="2739542"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小児は体重あたり</a:t>
            </a:r>
            <a:endParaRPr lang="ja-JP" sz="2200" dirty="0"/>
          </a:p>
        </p:txBody>
      </p:sp>
      <p:sp>
        <p:nvSpPr>
          <p:cNvPr id="14" name="Text 12"/>
          <p:cNvSpPr txBox="1"/>
          <p:nvPr/>
        </p:nvSpPr>
        <p:spPr>
          <a:xfrm>
            <a:off x="685800" y="4443984"/>
            <a:ext cx="2739542" cy="841248"/>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腎機能で</a:t>
            </a:r>
            <a:endParaRPr lang="ja-JP" sz="2200" dirty="0"/>
          </a:p>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間隔を調節</a:t>
            </a:r>
            <a:endParaRPr lang="ja-JP" sz="2200" dirty="0"/>
          </a:p>
        </p:txBody>
      </p:sp>
      <p:sp>
        <p:nvSpPr>
          <p:cNvPr id="15" name="Shape 13"/>
          <p:cNvSpPr/>
          <p:nvPr/>
        </p:nvSpPr>
        <p:spPr>
          <a:xfrm>
            <a:off x="3827678" y="1691640"/>
            <a:ext cx="3504895" cy="4160520"/>
          </a:xfrm>
          <a:prstGeom prst="roundRect">
            <a:avLst>
              <a:gd name="adj" fmla="val 2087"/>
            </a:avLst>
          </a:prstGeom>
          <a:solidFill>
            <a:srgbClr val="F2F2F2"/>
          </a:solidFill>
          <a:ln/>
        </p:spPr>
      </p:sp>
      <p:sp>
        <p:nvSpPr>
          <p:cNvPr id="16" name="Text 14"/>
          <p:cNvSpPr txBox="1"/>
          <p:nvPr/>
        </p:nvSpPr>
        <p:spPr>
          <a:xfrm>
            <a:off x="4010558" y="1828800"/>
            <a:ext cx="3139135" cy="457200"/>
          </a:xfrm>
          <a:prstGeom prst="rect">
            <a:avLst/>
          </a:prstGeom>
          <a:noFill/>
          <a:ln/>
        </p:spPr>
        <p:txBody>
          <a:bodyPr wrap="square" lIns="0" tIns="0" rIns="0" bIns="0" rtlCol="0" anchor="t"/>
          <a:lstStyle/>
          <a:p>
            <a:pPr algn="l" indent="0" marL="0">
              <a:buNone/>
            </a:pPr>
            <a:r>
              <a:rPr lang="ja-JP" altLang="en-US" sz="2400" b="1" dirty="0">
                <a:solidFill>
                  <a:srgbClr val="D55E00"/>
                </a:solidFill>
                <a:latin typeface="メイリオ" pitchFamily="34" charset="0"/>
                <a:ea typeface="メイリオ" pitchFamily="34" charset="-122"/>
                <a:cs typeface="メイリオ" pitchFamily="34" charset="-120"/>
              </a:rPr>
              <a:t>術中の再投与</a:t>
            </a:r>
            <a:endParaRPr lang="ja-JP" sz="2400" dirty="0"/>
          </a:p>
        </p:txBody>
      </p:sp>
      <p:sp>
        <p:nvSpPr>
          <p:cNvPr id="17" name="Text 15"/>
          <p:cNvSpPr txBox="1"/>
          <p:nvPr/>
        </p:nvSpPr>
        <p:spPr>
          <a:xfrm>
            <a:off x="4010558" y="2852928"/>
            <a:ext cx="3139135" cy="841248"/>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長い手術では半減期の</a:t>
            </a:r>
            <a:endParaRPr lang="ja-JP" sz="2200" dirty="0"/>
          </a:p>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約 2 倍ごと</a:t>
            </a:r>
            <a:endParaRPr lang="ja-JP" sz="2200" dirty="0"/>
          </a:p>
        </p:txBody>
      </p:sp>
      <p:sp>
        <p:nvSpPr>
          <p:cNvPr id="18" name="Text 16"/>
          <p:cNvSpPr txBox="1"/>
          <p:nvPr/>
        </p:nvSpPr>
        <p:spPr>
          <a:xfrm>
            <a:off x="4010558" y="3858768"/>
            <a:ext cx="3139135" cy="841248"/>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セファゾリンは</a:t>
            </a:r>
            <a:endParaRPr lang="ja-JP" sz="2200" dirty="0"/>
          </a:p>
          <a:p>
            <a:pPr algn="l" indent="0" marL="0">
              <a:buNone/>
            </a:pPr>
            <a:r>
              <a:rPr lang="ja-JP" altLang="en-US" sz="2200" b="1" dirty="0">
                <a:solidFill>
                  <a:srgbClr val="0072B2"/>
                </a:solidFill>
                <a:latin typeface="メイリオ" pitchFamily="34" charset="0"/>
                <a:ea typeface="メイリオ" pitchFamily="34" charset="-122"/>
                <a:cs typeface="メイリオ" pitchFamily="34" charset="-120"/>
              </a:rPr>
              <a:t>3〜4 時間ごと</a:t>
            </a:r>
            <a:endParaRPr lang="ja-JP" sz="2200" dirty="0"/>
          </a:p>
        </p:txBody>
      </p:sp>
      <p:sp>
        <p:nvSpPr>
          <p:cNvPr id="19" name="Text 17"/>
          <p:cNvSpPr txBox="1"/>
          <p:nvPr/>
        </p:nvSpPr>
        <p:spPr>
          <a:xfrm>
            <a:off x="4010558" y="4864608"/>
            <a:ext cx="3139135" cy="841248"/>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大量出血（1,500 mL</a:t>
            </a:r>
            <a:endParaRPr lang="ja-JP" sz="2200" dirty="0"/>
          </a:p>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以上）でも</a:t>
            </a:r>
            <a:endParaRPr lang="ja-JP" sz="2200" dirty="0"/>
          </a:p>
        </p:txBody>
      </p:sp>
      <p:sp>
        <p:nvSpPr>
          <p:cNvPr id="20" name="Shape 18"/>
          <p:cNvSpPr/>
          <p:nvPr/>
        </p:nvSpPr>
        <p:spPr>
          <a:xfrm>
            <a:off x="7552030" y="1691640"/>
            <a:ext cx="4133088" cy="4160520"/>
          </a:xfrm>
          <a:prstGeom prst="roundRect">
            <a:avLst>
              <a:gd name="adj" fmla="val 1770"/>
            </a:avLst>
          </a:prstGeom>
          <a:solidFill>
            <a:srgbClr val="F2F2F2"/>
          </a:solidFill>
          <a:ln/>
        </p:spPr>
      </p:sp>
      <p:sp>
        <p:nvSpPr>
          <p:cNvPr id="21" name="Text 19"/>
          <p:cNvSpPr txBox="1"/>
          <p:nvPr/>
        </p:nvSpPr>
        <p:spPr>
          <a:xfrm>
            <a:off x="7734910" y="1828800"/>
            <a:ext cx="3767328" cy="457200"/>
          </a:xfrm>
          <a:prstGeom prst="rect">
            <a:avLst/>
          </a:prstGeom>
          <a:noFill/>
          <a:ln/>
        </p:spPr>
        <p:txBody>
          <a:bodyPr wrap="square" lIns="0" tIns="0" rIns="0" bIns="0" rtlCol="0" anchor="t"/>
          <a:lstStyle/>
          <a:p>
            <a:pPr algn="l" indent="0" marL="0">
              <a:buNone/>
            </a:pPr>
            <a:r>
              <a:rPr lang="ja-JP" altLang="en-US" sz="2400" b="1" dirty="0">
                <a:solidFill>
                  <a:srgbClr val="C00000"/>
                </a:solidFill>
                <a:latin typeface="メイリオ" pitchFamily="34" charset="0"/>
                <a:ea typeface="メイリオ" pitchFamily="34" charset="-122"/>
                <a:cs typeface="メイリオ" pitchFamily="34" charset="-120"/>
              </a:rPr>
              <a:t>β-ラクタムアレルギー</a:t>
            </a:r>
            <a:endParaRPr lang="ja-JP" sz="2400" dirty="0"/>
          </a:p>
        </p:txBody>
      </p:sp>
      <p:sp>
        <p:nvSpPr>
          <p:cNvPr id="22" name="Text 20"/>
          <p:cNvSpPr txBox="1"/>
          <p:nvPr/>
        </p:nvSpPr>
        <p:spPr>
          <a:xfrm>
            <a:off x="7734910" y="2852928"/>
            <a:ext cx="3767328" cy="1783080"/>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重いアレルギー歴なら</a:t>
            </a:r>
            <a:endParaRPr lang="ja-JP" sz="2200" dirty="0"/>
          </a:p>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クリンダマイシンか</a:t>
            </a:r>
            <a:endParaRPr lang="ja-JP" sz="2200" dirty="0"/>
          </a:p>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バンコマイシン</a:t>
            </a:r>
            <a:endParaRPr lang="ja-JP" sz="2200" dirty="0"/>
          </a:p>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（腹部は陰性菌用を追加）</a:t>
            </a:r>
            <a:endParaRPr lang="ja-JP" sz="2200" dirty="0"/>
          </a:p>
        </p:txBody>
      </p:sp>
      <p:sp>
        <p:nvSpPr>
          <p:cNvPr id="23" name="Text 21"/>
          <p:cNvSpPr txBox="1"/>
          <p:nvPr/>
        </p:nvSpPr>
        <p:spPr>
          <a:xfrm>
            <a:off x="7734910" y="4800600"/>
            <a:ext cx="3767328" cy="841248"/>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『ペニシリンアレルギー』</a:t>
            </a:r>
            <a:endParaRPr lang="ja-JP" sz="2200" dirty="0"/>
          </a:p>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の中身を聞く</a:t>
            </a:r>
            <a:endParaRPr lang="ja-JP" sz="2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抗菌薬のアナフィラキシー</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9354312" y="54864"/>
            <a:ext cx="621792" cy="585216"/>
          </a:xfrm>
          <a:prstGeom prst="roundRect">
            <a:avLst>
              <a:gd name="adj" fmla="val 7813"/>
            </a:avLst>
          </a:prstGeom>
          <a:solidFill>
            <a:srgbClr val="00A8AA"/>
          </a:solidFill>
          <a:ln/>
        </p:spPr>
        <p:txBody>
          <a:bodyPr wrap="none" lIns="0" tIns="0" rIns="0" bIns="0" rtlCol="0" anchor="ctr"/>
          <a:lstStyle/>
          <a:p>
            <a:pPr algn="ctr" indent="0" marL="0">
              <a:buNone/>
            </a:pPr>
            <a:r>
              <a:rPr lang="ja-JP" altLang="en-US" sz="1050" b="1" dirty="0">
                <a:solidFill>
                  <a:srgbClr val="FFFFFF"/>
                </a:solidFill>
                <a:latin typeface="メイリオ" pitchFamily="34" charset="0"/>
                <a:ea typeface="メイリオ" pitchFamily="34" charset="-122"/>
                <a:cs typeface="メイリオ" pitchFamily="34" charset="-120"/>
              </a:rPr>
              <a:t>予防的</a:t>
            </a:r>
            <a:endParaRPr lang="ja-JP" sz="1050" dirty="0"/>
          </a:p>
          <a:p>
            <a:pPr algn="ctr" indent="0" marL="0">
              <a:buNone/>
            </a:pPr>
            <a:r>
              <a:rPr lang="ja-JP" altLang="en-US" sz="1050" b="1" dirty="0">
                <a:solidFill>
                  <a:srgbClr val="FFFFFF"/>
                </a:solidFill>
                <a:latin typeface="メイリオ" pitchFamily="34" charset="0"/>
                <a:ea typeface="メイリオ" pitchFamily="34" charset="-122"/>
                <a:cs typeface="メイリオ" pitchFamily="34" charset="-120"/>
              </a:rPr>
              <a:t>抗菌薬</a:t>
            </a:r>
            <a:endParaRPr lang="ja-JP" sz="1050" dirty="0"/>
          </a:p>
        </p:txBody>
      </p:sp>
      <p:sp>
        <p:nvSpPr>
          <p:cNvPr id="5" name="Text 3"/>
          <p:cNvSpPr/>
          <p:nvPr/>
        </p:nvSpPr>
        <p:spPr>
          <a:xfrm>
            <a:off x="10030968" y="54864"/>
            <a:ext cx="621792" cy="585216"/>
          </a:xfrm>
          <a:prstGeom prst="roundRect">
            <a:avLst>
              <a:gd name="adj" fmla="val 7813"/>
            </a:avLst>
          </a:prstGeom>
          <a:solidFill>
            <a:srgbClr val="D9D9D9"/>
          </a:solidFill>
          <a:ln/>
        </p:spPr>
        <p:txBody>
          <a:bodyPr wrap="none" lIns="0" tIns="0" rIns="0" bIns="0" rtlCol="0" anchor="ctr"/>
          <a:lstStyle/>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抗コリン</a:t>
            </a:r>
            <a:endParaRPr lang="ja-JP" sz="1050" dirty="0"/>
          </a:p>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薬</a:t>
            </a:r>
            <a:endParaRPr lang="ja-JP" sz="1050" dirty="0"/>
          </a:p>
        </p:txBody>
      </p:sp>
      <p:sp>
        <p:nvSpPr>
          <p:cNvPr id="6" name="Text 4"/>
          <p:cNvSpPr/>
          <p:nvPr/>
        </p:nvSpPr>
        <p:spPr>
          <a:xfrm>
            <a:off x="10707624" y="54864"/>
            <a:ext cx="621792" cy="585216"/>
          </a:xfrm>
          <a:prstGeom prst="roundRect">
            <a:avLst>
              <a:gd name="adj" fmla="val 7813"/>
            </a:avLst>
          </a:prstGeom>
          <a:solidFill>
            <a:srgbClr val="D9D9D9"/>
          </a:solidFill>
          <a:ln/>
        </p:spPr>
        <p:txBody>
          <a:bodyPr wrap="none" lIns="0" tIns="0" rIns="0" bIns="0" rtlCol="0" anchor="ctr"/>
          <a:lstStyle/>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ステロ</a:t>
            </a:r>
            <a:endParaRPr lang="ja-JP" sz="1050" dirty="0"/>
          </a:p>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イド</a:t>
            </a:r>
            <a:endParaRPr lang="ja-JP" sz="1050" dirty="0"/>
          </a:p>
        </p:txBody>
      </p:sp>
      <p:sp>
        <p:nvSpPr>
          <p:cNvPr id="7" name="Text 5"/>
          <p:cNvSpPr/>
          <p:nvPr/>
        </p:nvSpPr>
        <p:spPr>
          <a:xfrm>
            <a:off x="11384280" y="54864"/>
            <a:ext cx="621792" cy="585216"/>
          </a:xfrm>
          <a:prstGeom prst="roundRect">
            <a:avLst>
              <a:gd name="adj" fmla="val 7813"/>
            </a:avLst>
          </a:prstGeom>
          <a:solidFill>
            <a:srgbClr val="D9D9D9"/>
          </a:solidFill>
          <a:ln/>
        </p:spPr>
        <p:txBody>
          <a:bodyPr wrap="none" lIns="0" tIns="0" rIns="0" bIns="0" rtlCol="0" anchor="ctr"/>
          <a:lstStyle/>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まとめ</a:t>
            </a:r>
            <a:endParaRPr lang="ja-JP" sz="1050" dirty="0"/>
          </a:p>
        </p:txBody>
      </p:sp>
      <p:sp>
        <p:nvSpPr>
          <p:cNvPr id="8" name="Text 6"/>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3</a:t>
            </a:r>
            <a:endParaRPr lang="ja-JP" sz="1200" dirty="0"/>
          </a:p>
        </p:txBody>
      </p:sp>
      <p:sp>
        <p:nvSpPr>
          <p:cNvPr id="9" name="Text 7"/>
          <p:cNvSpPr txBox="1"/>
          <p:nvPr/>
        </p:nvSpPr>
        <p:spPr>
          <a:xfrm>
            <a:off x="502920" y="5943600"/>
            <a:ext cx="10607040" cy="777240"/>
          </a:xfrm>
          <a:prstGeom prst="rect">
            <a:avLst/>
          </a:prstGeom>
          <a:noFill/>
          <a:ln/>
        </p:spPr>
        <p:txBody>
          <a:bodyPr wrap="square" lIns="0" tIns="0" rIns="0" bIns="0" rtlCol="0" anchor="b"/>
          <a:lstStyle/>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Harper NJN, et al. Br J Anaesth 2018;121:159-171（NAP6） / NAP6 報告書（RCoA 2018）</a:t>
            </a:r>
            <a:endParaRPr lang="ja-JP" sz="1600" dirty="0"/>
          </a:p>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Horiuchi T, et al. J Anesth 2021;35:154-160 / 日本麻酔科学会 プラクティカルガイド（2021）</a:t>
            </a:r>
            <a:endParaRPr lang="ja-JP" sz="1600" dirty="0"/>
          </a:p>
        </p:txBody>
      </p:sp>
      <p:sp>
        <p:nvSpPr>
          <p:cNvPr id="10" name="Text 8"/>
          <p:cNvSpPr txBox="1"/>
          <p:nvPr/>
        </p:nvSpPr>
        <p:spPr>
          <a:xfrm>
            <a:off x="502920" y="1783080"/>
            <a:ext cx="11155680" cy="2514600"/>
          </a:xfrm>
          <a:prstGeom prst="rect">
            <a:avLst/>
          </a:prstGeom>
          <a:noFill/>
          <a:ln/>
        </p:spPr>
        <p:txBody>
          <a:bodyPr wrap="square" lIns="0" tIns="0" rIns="0" bIns="0" rtlCol="0" anchor="t"/>
          <a:lstStyle/>
          <a:p>
            <a:pPr algn="l" marL="381000" indent="-381000">
              <a:spcAft>
                <a:spcPts val="1400"/>
              </a:spcAft>
              <a:buSzPct val="100000"/>
              <a:buChar char="•"/>
            </a:pPr>
            <a:r>
              <a:rPr lang="ja-JP" altLang="en-US" sz="2600" dirty="0">
                <a:solidFill>
                  <a:srgbClr val="262626"/>
                </a:solidFill>
                <a:latin typeface="メイリオ" pitchFamily="34" charset="0"/>
                <a:ea typeface="メイリオ" pitchFamily="34" charset="-122"/>
                <a:cs typeface="メイリオ" pitchFamily="34" charset="-120"/>
              </a:rPr>
              <a:t>周術期アナフィラキシーの原因で最も多い（英国 NAP6：</a:t>
            </a:r>
            <a:r>
              <a:rPr lang="ja-JP" altLang="en-US" sz="2600" b="1" dirty="0">
                <a:solidFill>
                  <a:srgbClr val="D55E00"/>
                </a:solidFill>
                <a:latin typeface="メイリオ" pitchFamily="34" charset="0"/>
                <a:ea typeface="メイリオ" pitchFamily="34" charset="-122"/>
                <a:cs typeface="メイリオ" pitchFamily="34" charset="-120"/>
              </a:rPr>
              <a:t>47%</a:t>
            </a:r>
            <a:r>
              <a:rPr lang="ja-JP" altLang="en-US" sz="2600" dirty="0">
                <a:solidFill>
                  <a:srgbClr val="262626"/>
                </a:solidFill>
                <a:latin typeface="メイリオ" pitchFamily="34" charset="0"/>
                <a:ea typeface="メイリオ" pitchFamily="34" charset="-122"/>
                <a:cs typeface="メイリオ" pitchFamily="34" charset="-120"/>
              </a:rPr>
              <a:t>）</a:t>
            </a:r>
            <a:endParaRPr lang="ja-JP" sz="2600" dirty="0"/>
          </a:p>
          <a:p>
            <a:pPr algn="l" marL="381000" indent="-381000">
              <a:spcAft>
                <a:spcPts val="1400"/>
              </a:spcAft>
              <a:buSzPct val="100000"/>
              <a:buChar char="•"/>
            </a:pPr>
            <a:r>
              <a:rPr lang="ja-JP" altLang="en-US" sz="2600" dirty="0">
                <a:solidFill>
                  <a:srgbClr val="262626"/>
                </a:solidFill>
                <a:latin typeface="メイリオ" pitchFamily="34" charset="0"/>
                <a:ea typeface="メイリオ" pitchFamily="34" charset="-122"/>
                <a:cs typeface="メイリオ" pitchFamily="34" charset="-120"/>
              </a:rPr>
              <a:t>麻酔導入と同じ時間帯に入るので、原因がまぎれる</a:t>
            </a:r>
            <a:endParaRPr lang="ja-JP" sz="2600" dirty="0"/>
          </a:p>
          <a:p>
            <a:pPr algn="l" marL="381000" indent="-381000">
              <a:spcAft>
                <a:spcPts val="1400"/>
              </a:spcAft>
              <a:buSzPct val="100000"/>
              <a:buChar char="•"/>
            </a:pPr>
            <a:r>
              <a:rPr lang="ja-JP" altLang="en-US" sz="2600" dirty="0">
                <a:solidFill>
                  <a:srgbClr val="262626"/>
                </a:solidFill>
                <a:latin typeface="メイリオ" pitchFamily="34" charset="0"/>
                <a:ea typeface="メイリオ" pitchFamily="34" charset="-122"/>
                <a:cs typeface="メイリオ" pitchFamily="34" charset="-120"/>
              </a:rPr>
              <a:t>投与後 </a:t>
            </a:r>
            <a:r>
              <a:rPr lang="ja-JP" altLang="en-US" sz="2600" b="1" dirty="0">
                <a:solidFill>
                  <a:srgbClr val="0072B2"/>
                </a:solidFill>
                <a:latin typeface="メイリオ" pitchFamily="34" charset="0"/>
                <a:ea typeface="メイリオ" pitchFamily="34" charset="-122"/>
                <a:cs typeface="メイリオ" pitchFamily="34" charset="-120"/>
              </a:rPr>
              <a:t>20 分ほど</a:t>
            </a:r>
            <a:r>
              <a:rPr lang="ja-JP" altLang="en-US" sz="2600" dirty="0">
                <a:solidFill>
                  <a:srgbClr val="262626"/>
                </a:solidFill>
                <a:latin typeface="メイリオ" pitchFamily="34" charset="0"/>
                <a:ea typeface="メイリオ" pitchFamily="34" charset="-122"/>
                <a:cs typeface="メイリオ" pitchFamily="34" charset="-120"/>
              </a:rPr>
              <a:t>は血圧・気道内圧・皮膚を見る</a:t>
            </a:r>
            <a:endParaRPr lang="ja-JP" sz="2600" dirty="0"/>
          </a:p>
          <a:p>
            <a:pPr algn="l" marL="381000" indent="-381000">
              <a:spcAft>
                <a:spcPts val="1400"/>
              </a:spcAft>
              <a:buSzPct val="100000"/>
              <a:buChar char="•"/>
            </a:pPr>
            <a:r>
              <a:rPr lang="ja-JP" altLang="en-US" sz="2600" dirty="0">
                <a:solidFill>
                  <a:srgbClr val="262626"/>
                </a:solidFill>
                <a:latin typeface="メイリオ" pitchFamily="34" charset="0"/>
                <a:ea typeface="メイリオ" pitchFamily="34" charset="-122"/>
                <a:cs typeface="メイリオ" pitchFamily="34" charset="-120"/>
              </a:rPr>
              <a:t>抗菌薬は、できれば導入の数分前に（反応を見分けやすい）</a:t>
            </a:r>
            <a:endParaRPr lang="ja-JP" sz="2600" dirty="0"/>
          </a:p>
        </p:txBody>
      </p:sp>
      <p:sp>
        <p:nvSpPr>
          <p:cNvPr id="11" name="Text 9"/>
          <p:cNvSpPr/>
          <p:nvPr/>
        </p:nvSpPr>
        <p:spPr>
          <a:xfrm>
            <a:off x="1051560" y="4727448"/>
            <a:ext cx="10085832" cy="868680"/>
          </a:xfrm>
          <a:prstGeom prst="roundRect">
            <a:avLst>
              <a:gd name="adj" fmla="val 10526"/>
            </a:avLst>
          </a:prstGeom>
          <a:solidFill>
            <a:srgbClr val="FFFFFF"/>
          </a:solidFill>
          <a:ln w="44450">
            <a:solidFill>
              <a:srgbClr val="C00000"/>
            </a:solidFill>
          </a:ln>
        </p:spPr>
        <p:txBody>
          <a:bodyPr wrap="square" lIns="73152" tIns="73152" rIns="73152" bIns="73152" rtlCol="0" anchor="ctr"/>
          <a:lstStyle/>
          <a:p>
            <a:pPr algn="ctr" indent="0" marL="0">
              <a:buNone/>
            </a:pPr>
            <a:r>
              <a:rPr lang="ja-JP" altLang="en-US" sz="2800" b="1" dirty="0">
                <a:solidFill>
                  <a:srgbClr val="262626"/>
                </a:solidFill>
                <a:latin typeface="メイリオ" pitchFamily="34" charset="0"/>
                <a:ea typeface="メイリオ" pitchFamily="34" charset="-122"/>
                <a:cs typeface="メイリオ" pitchFamily="34" charset="-120"/>
              </a:rPr>
              <a:t>原因不明の低血圧＋気管支攣縮 → </a:t>
            </a:r>
            <a:r>
              <a:rPr lang="ja-JP" altLang="en-US" sz="2800" b="1" dirty="0">
                <a:solidFill>
                  <a:srgbClr val="C00000"/>
                </a:solidFill>
                <a:latin typeface="メイリオ" pitchFamily="34" charset="0"/>
                <a:ea typeface="メイリオ" pitchFamily="34" charset="-122"/>
                <a:cs typeface="メイリオ" pitchFamily="34" charset="-120"/>
              </a:rPr>
              <a:t>アドレナリン</a:t>
            </a:r>
            <a:endParaRPr lang="ja-JP" sz="2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アトロピン</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9354312" y="54864"/>
            <a:ext cx="621792" cy="585216"/>
          </a:xfrm>
          <a:prstGeom prst="roundRect">
            <a:avLst>
              <a:gd name="adj" fmla="val 7813"/>
            </a:avLst>
          </a:prstGeom>
          <a:solidFill>
            <a:srgbClr val="D9D9D9"/>
          </a:solidFill>
          <a:ln/>
        </p:spPr>
        <p:txBody>
          <a:bodyPr wrap="none" lIns="0" tIns="0" rIns="0" bIns="0" rtlCol="0" anchor="ctr"/>
          <a:lstStyle/>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予防的</a:t>
            </a:r>
            <a:endParaRPr lang="ja-JP" sz="1050" dirty="0"/>
          </a:p>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抗菌薬</a:t>
            </a:r>
            <a:endParaRPr lang="ja-JP" sz="1050" dirty="0"/>
          </a:p>
        </p:txBody>
      </p:sp>
      <p:sp>
        <p:nvSpPr>
          <p:cNvPr id="5" name="Text 3"/>
          <p:cNvSpPr/>
          <p:nvPr/>
        </p:nvSpPr>
        <p:spPr>
          <a:xfrm>
            <a:off x="10030968" y="54864"/>
            <a:ext cx="621792" cy="585216"/>
          </a:xfrm>
          <a:prstGeom prst="roundRect">
            <a:avLst>
              <a:gd name="adj" fmla="val 7813"/>
            </a:avLst>
          </a:prstGeom>
          <a:solidFill>
            <a:srgbClr val="00A8AA"/>
          </a:solidFill>
          <a:ln/>
        </p:spPr>
        <p:txBody>
          <a:bodyPr wrap="none" lIns="0" tIns="0" rIns="0" bIns="0" rtlCol="0" anchor="ctr"/>
          <a:lstStyle/>
          <a:p>
            <a:pPr algn="ctr" indent="0" marL="0">
              <a:buNone/>
            </a:pPr>
            <a:r>
              <a:rPr lang="ja-JP" altLang="en-US" sz="1050" b="1" dirty="0">
                <a:solidFill>
                  <a:srgbClr val="FFFFFF"/>
                </a:solidFill>
                <a:latin typeface="メイリオ" pitchFamily="34" charset="0"/>
                <a:ea typeface="メイリオ" pitchFamily="34" charset="-122"/>
                <a:cs typeface="メイリオ" pitchFamily="34" charset="-120"/>
              </a:rPr>
              <a:t>抗コリン</a:t>
            </a:r>
            <a:endParaRPr lang="ja-JP" sz="1050" dirty="0"/>
          </a:p>
          <a:p>
            <a:pPr algn="ctr" indent="0" marL="0">
              <a:buNone/>
            </a:pPr>
            <a:r>
              <a:rPr lang="ja-JP" altLang="en-US" sz="1050" b="1" dirty="0">
                <a:solidFill>
                  <a:srgbClr val="FFFFFF"/>
                </a:solidFill>
                <a:latin typeface="メイリオ" pitchFamily="34" charset="0"/>
                <a:ea typeface="メイリオ" pitchFamily="34" charset="-122"/>
                <a:cs typeface="メイリオ" pitchFamily="34" charset="-120"/>
              </a:rPr>
              <a:t>薬</a:t>
            </a:r>
            <a:endParaRPr lang="ja-JP" sz="1050" dirty="0"/>
          </a:p>
        </p:txBody>
      </p:sp>
      <p:sp>
        <p:nvSpPr>
          <p:cNvPr id="6" name="Text 4"/>
          <p:cNvSpPr/>
          <p:nvPr/>
        </p:nvSpPr>
        <p:spPr>
          <a:xfrm>
            <a:off x="10707624" y="54864"/>
            <a:ext cx="621792" cy="585216"/>
          </a:xfrm>
          <a:prstGeom prst="roundRect">
            <a:avLst>
              <a:gd name="adj" fmla="val 7813"/>
            </a:avLst>
          </a:prstGeom>
          <a:solidFill>
            <a:srgbClr val="D9D9D9"/>
          </a:solidFill>
          <a:ln/>
        </p:spPr>
        <p:txBody>
          <a:bodyPr wrap="none" lIns="0" tIns="0" rIns="0" bIns="0" rtlCol="0" anchor="ctr"/>
          <a:lstStyle/>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ステロ</a:t>
            </a:r>
            <a:endParaRPr lang="ja-JP" sz="1050" dirty="0"/>
          </a:p>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イド</a:t>
            </a:r>
            <a:endParaRPr lang="ja-JP" sz="1050" dirty="0"/>
          </a:p>
        </p:txBody>
      </p:sp>
      <p:sp>
        <p:nvSpPr>
          <p:cNvPr id="7" name="Text 5"/>
          <p:cNvSpPr/>
          <p:nvPr/>
        </p:nvSpPr>
        <p:spPr>
          <a:xfrm>
            <a:off x="11384280" y="54864"/>
            <a:ext cx="621792" cy="585216"/>
          </a:xfrm>
          <a:prstGeom prst="roundRect">
            <a:avLst>
              <a:gd name="adj" fmla="val 7813"/>
            </a:avLst>
          </a:prstGeom>
          <a:solidFill>
            <a:srgbClr val="D9D9D9"/>
          </a:solidFill>
          <a:ln/>
        </p:spPr>
        <p:txBody>
          <a:bodyPr wrap="none" lIns="0" tIns="0" rIns="0" bIns="0" rtlCol="0" anchor="ctr"/>
          <a:lstStyle/>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まとめ</a:t>
            </a:r>
            <a:endParaRPr lang="ja-JP" sz="1050" dirty="0"/>
          </a:p>
        </p:txBody>
      </p:sp>
      <p:sp>
        <p:nvSpPr>
          <p:cNvPr id="8" name="Text 6"/>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4</a:t>
            </a:r>
            <a:endParaRPr lang="ja-JP" sz="1200" dirty="0"/>
          </a:p>
        </p:txBody>
      </p:sp>
      <p:sp>
        <p:nvSpPr>
          <p:cNvPr id="9" name="Text 7"/>
          <p:cNvSpPr txBox="1"/>
          <p:nvPr/>
        </p:nvSpPr>
        <p:spPr>
          <a:xfrm>
            <a:off x="502920" y="6263640"/>
            <a:ext cx="10607040" cy="457200"/>
          </a:xfrm>
          <a:prstGeom prst="rect">
            <a:avLst/>
          </a:prstGeom>
          <a:noFill/>
          <a:ln/>
        </p:spPr>
        <p:txBody>
          <a:bodyPr wrap="square" lIns="0" tIns="0" rIns="0" bIns="0" rtlCol="0" anchor="b"/>
          <a:lstStyle/>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アトロピン硫酸塩注 0.5mg 添付文書 / 日本蘇生協議会「JRC 蘇生ガイドライン 2020」</a:t>
            </a:r>
            <a:endParaRPr lang="ja-JP" sz="1600" dirty="0"/>
          </a:p>
        </p:txBody>
      </p:sp>
      <p:sp>
        <p:nvSpPr>
          <p:cNvPr id="10" name="Shape 8"/>
          <p:cNvSpPr/>
          <p:nvPr/>
        </p:nvSpPr>
        <p:spPr>
          <a:xfrm>
            <a:off x="502920" y="1691640"/>
            <a:ext cx="4079138" cy="4480560"/>
          </a:xfrm>
          <a:prstGeom prst="roundRect">
            <a:avLst>
              <a:gd name="adj" fmla="val 1793"/>
            </a:avLst>
          </a:prstGeom>
          <a:solidFill>
            <a:srgbClr val="F2F2F2"/>
          </a:solidFill>
          <a:ln/>
        </p:spPr>
      </p:sp>
      <p:sp>
        <p:nvSpPr>
          <p:cNvPr id="11" name="Text 9"/>
          <p:cNvSpPr txBox="1"/>
          <p:nvPr/>
        </p:nvSpPr>
        <p:spPr>
          <a:xfrm>
            <a:off x="685800" y="1828800"/>
            <a:ext cx="3713378" cy="457200"/>
          </a:xfrm>
          <a:prstGeom prst="rect">
            <a:avLst/>
          </a:prstGeom>
          <a:noFill/>
          <a:ln/>
        </p:spPr>
        <p:txBody>
          <a:bodyPr wrap="square" lIns="0" tIns="0" rIns="0" bIns="0" rtlCol="0" anchor="t"/>
          <a:lstStyle/>
          <a:p>
            <a:pPr algn="l" indent="0" marL="0">
              <a:buNone/>
            </a:pPr>
            <a:r>
              <a:rPr lang="ja-JP" altLang="en-US" sz="2400" b="1" dirty="0">
                <a:solidFill>
                  <a:srgbClr val="0072B2"/>
                </a:solidFill>
                <a:latin typeface="メイリオ" pitchFamily="34" charset="0"/>
                <a:ea typeface="メイリオ" pitchFamily="34" charset="-122"/>
                <a:cs typeface="メイリオ" pitchFamily="34" charset="-120"/>
              </a:rPr>
              <a:t>用量</a:t>
            </a:r>
            <a:endParaRPr lang="ja-JP" sz="2400" dirty="0"/>
          </a:p>
        </p:txBody>
      </p:sp>
      <p:sp>
        <p:nvSpPr>
          <p:cNvPr id="12" name="Text 10"/>
          <p:cNvSpPr txBox="1"/>
          <p:nvPr/>
        </p:nvSpPr>
        <p:spPr>
          <a:xfrm>
            <a:off x="685800" y="2377440"/>
            <a:ext cx="3713378" cy="1307592"/>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添付文書：成人 0.5 mg</a:t>
            </a:r>
            <a:endParaRPr lang="ja-JP" sz="2200" dirty="0"/>
          </a:p>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皮下・筋注</a:t>
            </a:r>
            <a:endParaRPr lang="ja-JP" sz="2200" dirty="0"/>
          </a:p>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（場合により静注）</a:t>
            </a:r>
            <a:endParaRPr lang="ja-JP" sz="2200" dirty="0"/>
          </a:p>
        </p:txBody>
      </p:sp>
      <p:sp>
        <p:nvSpPr>
          <p:cNvPr id="13" name="Text 11"/>
          <p:cNvSpPr txBox="1"/>
          <p:nvPr/>
        </p:nvSpPr>
        <p:spPr>
          <a:xfrm>
            <a:off x="685800" y="3776472"/>
            <a:ext cx="3713378" cy="1307592"/>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徐脈（蘇生 GL）：0.5 mg</a:t>
            </a:r>
            <a:endParaRPr lang="ja-JP" sz="2200" dirty="0"/>
          </a:p>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静注を 3〜5 分ごと、</a:t>
            </a:r>
            <a:endParaRPr lang="ja-JP" sz="2200" dirty="0"/>
          </a:p>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総量 3 mg まで</a:t>
            </a:r>
            <a:endParaRPr lang="ja-JP" sz="2200" dirty="0"/>
          </a:p>
        </p:txBody>
      </p:sp>
      <p:sp>
        <p:nvSpPr>
          <p:cNvPr id="14" name="Text 12"/>
          <p:cNvSpPr txBox="1"/>
          <p:nvPr/>
        </p:nvSpPr>
        <p:spPr>
          <a:xfrm>
            <a:off x="685800" y="5175504"/>
            <a:ext cx="3713378" cy="841248"/>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小児 0.01〜0.02 mg/kg</a:t>
            </a:r>
            <a:endParaRPr lang="ja-JP" sz="2200" dirty="0"/>
          </a:p>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（添付文書外）</a:t>
            </a:r>
            <a:endParaRPr lang="ja-JP" sz="2200" dirty="0"/>
          </a:p>
        </p:txBody>
      </p:sp>
      <p:sp>
        <p:nvSpPr>
          <p:cNvPr id="15" name="Shape 13"/>
          <p:cNvSpPr/>
          <p:nvPr/>
        </p:nvSpPr>
        <p:spPr>
          <a:xfrm>
            <a:off x="4801514" y="1691640"/>
            <a:ext cx="2852014" cy="4480560"/>
          </a:xfrm>
          <a:prstGeom prst="roundRect">
            <a:avLst>
              <a:gd name="adj" fmla="val 2565"/>
            </a:avLst>
          </a:prstGeom>
          <a:solidFill>
            <a:srgbClr val="F2F2F2"/>
          </a:solidFill>
          <a:ln/>
        </p:spPr>
      </p:sp>
      <p:sp>
        <p:nvSpPr>
          <p:cNvPr id="16" name="Text 14"/>
          <p:cNvSpPr txBox="1"/>
          <p:nvPr/>
        </p:nvSpPr>
        <p:spPr>
          <a:xfrm>
            <a:off x="4984394" y="1828800"/>
            <a:ext cx="2486254" cy="457200"/>
          </a:xfrm>
          <a:prstGeom prst="rect">
            <a:avLst/>
          </a:prstGeom>
          <a:noFill/>
          <a:ln/>
        </p:spPr>
        <p:txBody>
          <a:bodyPr wrap="square" lIns="0" tIns="0" rIns="0" bIns="0" rtlCol="0" anchor="t"/>
          <a:lstStyle/>
          <a:p>
            <a:pPr algn="l" indent="0" marL="0">
              <a:buNone/>
            </a:pPr>
            <a:r>
              <a:rPr lang="ja-JP" altLang="en-US" sz="2400" b="1" dirty="0">
                <a:solidFill>
                  <a:srgbClr val="D55E00"/>
                </a:solidFill>
                <a:latin typeface="メイリオ" pitchFamily="34" charset="0"/>
                <a:ea typeface="メイリオ" pitchFamily="34" charset="-122"/>
                <a:cs typeface="メイリオ" pitchFamily="34" charset="-120"/>
              </a:rPr>
              <a:t>作用</a:t>
            </a:r>
            <a:endParaRPr lang="ja-JP" sz="2400" dirty="0"/>
          </a:p>
        </p:txBody>
      </p:sp>
      <p:sp>
        <p:nvSpPr>
          <p:cNvPr id="17" name="Text 15"/>
          <p:cNvSpPr txBox="1"/>
          <p:nvPr/>
        </p:nvSpPr>
        <p:spPr>
          <a:xfrm>
            <a:off x="4984394" y="2377440"/>
            <a:ext cx="2486254" cy="841248"/>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ムスカリン</a:t>
            </a:r>
            <a:endParaRPr lang="ja-JP" sz="2200" dirty="0"/>
          </a:p>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受容体の遮断</a:t>
            </a:r>
            <a:endParaRPr lang="ja-JP" sz="2200" dirty="0"/>
          </a:p>
        </p:txBody>
      </p:sp>
      <p:sp>
        <p:nvSpPr>
          <p:cNvPr id="18" name="Text 16"/>
          <p:cNvSpPr txBox="1"/>
          <p:nvPr/>
        </p:nvSpPr>
        <p:spPr>
          <a:xfrm>
            <a:off x="4984394" y="3310128"/>
            <a:ext cx="2486254" cy="1307592"/>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心拍数↑、</a:t>
            </a:r>
            <a:endParaRPr lang="ja-JP" sz="2200" dirty="0"/>
          </a:p>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分泌↓、</a:t>
            </a:r>
            <a:endParaRPr lang="ja-JP" sz="2200" dirty="0"/>
          </a:p>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気管支拡張</a:t>
            </a:r>
            <a:endParaRPr lang="ja-JP" sz="2200" dirty="0"/>
          </a:p>
        </p:txBody>
      </p:sp>
      <p:sp>
        <p:nvSpPr>
          <p:cNvPr id="19" name="Text 17"/>
          <p:cNvSpPr txBox="1"/>
          <p:nvPr/>
        </p:nvSpPr>
        <p:spPr>
          <a:xfrm>
            <a:off x="4984394" y="4709160"/>
            <a:ext cx="2486254" cy="841248"/>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静注で 1〜2 分で</a:t>
            </a:r>
            <a:endParaRPr lang="ja-JP" sz="2200" dirty="0"/>
          </a:p>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効き始める</a:t>
            </a:r>
            <a:endParaRPr lang="ja-JP" sz="2200" dirty="0"/>
          </a:p>
        </p:txBody>
      </p:sp>
      <p:sp>
        <p:nvSpPr>
          <p:cNvPr id="20" name="Shape 18"/>
          <p:cNvSpPr/>
          <p:nvPr/>
        </p:nvSpPr>
        <p:spPr>
          <a:xfrm>
            <a:off x="7872984" y="1691640"/>
            <a:ext cx="3812134" cy="4480560"/>
          </a:xfrm>
          <a:prstGeom prst="roundRect">
            <a:avLst>
              <a:gd name="adj" fmla="val 1919"/>
            </a:avLst>
          </a:prstGeom>
          <a:solidFill>
            <a:srgbClr val="F2F2F2"/>
          </a:solidFill>
          <a:ln/>
        </p:spPr>
      </p:sp>
      <p:sp>
        <p:nvSpPr>
          <p:cNvPr id="21" name="Text 19"/>
          <p:cNvSpPr txBox="1"/>
          <p:nvPr/>
        </p:nvSpPr>
        <p:spPr>
          <a:xfrm>
            <a:off x="8055864" y="1828800"/>
            <a:ext cx="3446374" cy="457200"/>
          </a:xfrm>
          <a:prstGeom prst="rect">
            <a:avLst/>
          </a:prstGeom>
          <a:noFill/>
          <a:ln/>
        </p:spPr>
        <p:txBody>
          <a:bodyPr wrap="square" lIns="0" tIns="0" rIns="0" bIns="0" rtlCol="0" anchor="t"/>
          <a:lstStyle/>
          <a:p>
            <a:pPr algn="l" indent="0" marL="0">
              <a:buNone/>
            </a:pPr>
            <a:r>
              <a:rPr lang="ja-JP" altLang="en-US" sz="2400" b="1" dirty="0">
                <a:solidFill>
                  <a:srgbClr val="C00000"/>
                </a:solidFill>
                <a:latin typeface="メイリオ" pitchFamily="34" charset="0"/>
                <a:ea typeface="メイリオ" pitchFamily="34" charset="-122"/>
                <a:cs typeface="メイリオ" pitchFamily="34" charset="-120"/>
              </a:rPr>
              <a:t>注意</a:t>
            </a:r>
            <a:endParaRPr lang="ja-JP" sz="2400" dirty="0"/>
          </a:p>
        </p:txBody>
      </p:sp>
      <p:sp>
        <p:nvSpPr>
          <p:cNvPr id="22" name="Text 20"/>
          <p:cNvSpPr txBox="1"/>
          <p:nvPr/>
        </p:nvSpPr>
        <p:spPr>
          <a:xfrm>
            <a:off x="8055864" y="2377440"/>
            <a:ext cx="3446374" cy="841248"/>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成人で </a:t>
            </a:r>
            <a:r>
              <a:rPr lang="ja-JP" altLang="en-US" sz="2200" b="1" dirty="0">
                <a:solidFill>
                  <a:srgbClr val="C00000"/>
                </a:solidFill>
                <a:latin typeface="メイリオ" pitchFamily="34" charset="0"/>
                <a:ea typeface="メイリオ" pitchFamily="34" charset="-122"/>
                <a:cs typeface="メイリオ" pitchFamily="34" charset="-120"/>
              </a:rPr>
              <a:t>0.5 mg 未満</a:t>
            </a:r>
            <a:r>
              <a:rPr lang="ja-JP" altLang="en-US" sz="2200" dirty="0">
                <a:solidFill>
                  <a:srgbClr val="262626"/>
                </a:solidFill>
                <a:latin typeface="メイリオ" pitchFamily="34" charset="0"/>
                <a:ea typeface="メイリオ" pitchFamily="34" charset="-122"/>
                <a:cs typeface="メイリオ" pitchFamily="34" charset="-120"/>
              </a:rPr>
              <a:t>だと</a:t>
            </a:r>
            <a:endParaRPr lang="ja-JP" sz="2200" dirty="0"/>
          </a:p>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逆に徐脈になりうる</a:t>
            </a:r>
            <a:endParaRPr lang="ja-JP" sz="2200" dirty="0"/>
          </a:p>
        </p:txBody>
      </p:sp>
      <p:sp>
        <p:nvSpPr>
          <p:cNvPr id="23" name="Text 21"/>
          <p:cNvSpPr txBox="1"/>
          <p:nvPr/>
        </p:nvSpPr>
        <p:spPr>
          <a:xfrm>
            <a:off x="8055864" y="3310128"/>
            <a:ext cx="3446374" cy="1783080"/>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閉塞隅角緑内障、</a:t>
            </a:r>
            <a:endParaRPr lang="ja-JP" sz="2200" dirty="0"/>
          </a:p>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前立腺肥大による</a:t>
            </a:r>
            <a:endParaRPr lang="ja-JP" sz="2200" dirty="0"/>
          </a:p>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排尿障害、</a:t>
            </a:r>
            <a:endParaRPr lang="ja-JP" sz="2200" dirty="0"/>
          </a:p>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麻痺性イレウスは</a:t>
            </a:r>
            <a:r>
              <a:rPr lang="ja-JP" altLang="en-US" sz="2200" b="1" dirty="0">
                <a:solidFill>
                  <a:srgbClr val="C00000"/>
                </a:solidFill>
                <a:latin typeface="メイリオ" pitchFamily="34" charset="0"/>
                <a:ea typeface="メイリオ" pitchFamily="34" charset="-122"/>
                <a:cs typeface="メイリオ" pitchFamily="34" charset="-120"/>
              </a:rPr>
              <a:t>禁忌</a:t>
            </a:r>
            <a:endParaRPr lang="ja-JP" sz="2200" dirty="0"/>
          </a:p>
        </p:txBody>
      </p:sp>
      <p:sp>
        <p:nvSpPr>
          <p:cNvPr id="24" name="Text 22"/>
          <p:cNvSpPr txBox="1"/>
          <p:nvPr/>
        </p:nvSpPr>
        <p:spPr>
          <a:xfrm>
            <a:off x="8055864" y="5184648"/>
            <a:ext cx="3446374" cy="841248"/>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高齢者のせん妄、</a:t>
            </a:r>
            <a:endParaRPr lang="ja-JP" sz="2200" dirty="0"/>
          </a:p>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小児の発熱</a:t>
            </a:r>
            <a:endParaRPr lang="ja-JP" sz="2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抗コリン薬の使いどころ</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9354312" y="54864"/>
            <a:ext cx="621792" cy="585216"/>
          </a:xfrm>
          <a:prstGeom prst="roundRect">
            <a:avLst>
              <a:gd name="adj" fmla="val 7813"/>
            </a:avLst>
          </a:prstGeom>
          <a:solidFill>
            <a:srgbClr val="D9D9D9"/>
          </a:solidFill>
          <a:ln/>
        </p:spPr>
        <p:txBody>
          <a:bodyPr wrap="none" lIns="0" tIns="0" rIns="0" bIns="0" rtlCol="0" anchor="ctr"/>
          <a:lstStyle/>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予防的</a:t>
            </a:r>
            <a:endParaRPr lang="ja-JP" sz="1050" dirty="0"/>
          </a:p>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抗菌薬</a:t>
            </a:r>
            <a:endParaRPr lang="ja-JP" sz="1050" dirty="0"/>
          </a:p>
        </p:txBody>
      </p:sp>
      <p:sp>
        <p:nvSpPr>
          <p:cNvPr id="5" name="Text 3"/>
          <p:cNvSpPr/>
          <p:nvPr/>
        </p:nvSpPr>
        <p:spPr>
          <a:xfrm>
            <a:off x="10030968" y="54864"/>
            <a:ext cx="621792" cy="585216"/>
          </a:xfrm>
          <a:prstGeom prst="roundRect">
            <a:avLst>
              <a:gd name="adj" fmla="val 7813"/>
            </a:avLst>
          </a:prstGeom>
          <a:solidFill>
            <a:srgbClr val="00A8AA"/>
          </a:solidFill>
          <a:ln/>
        </p:spPr>
        <p:txBody>
          <a:bodyPr wrap="none" lIns="0" tIns="0" rIns="0" bIns="0" rtlCol="0" anchor="ctr"/>
          <a:lstStyle/>
          <a:p>
            <a:pPr algn="ctr" indent="0" marL="0">
              <a:buNone/>
            </a:pPr>
            <a:r>
              <a:rPr lang="ja-JP" altLang="en-US" sz="1050" b="1" dirty="0">
                <a:solidFill>
                  <a:srgbClr val="FFFFFF"/>
                </a:solidFill>
                <a:latin typeface="メイリオ" pitchFamily="34" charset="0"/>
                <a:ea typeface="メイリオ" pitchFamily="34" charset="-122"/>
                <a:cs typeface="メイリオ" pitchFamily="34" charset="-120"/>
              </a:rPr>
              <a:t>抗コリン</a:t>
            </a:r>
            <a:endParaRPr lang="ja-JP" sz="1050" dirty="0"/>
          </a:p>
          <a:p>
            <a:pPr algn="ctr" indent="0" marL="0">
              <a:buNone/>
            </a:pPr>
            <a:r>
              <a:rPr lang="ja-JP" altLang="en-US" sz="1050" b="1" dirty="0">
                <a:solidFill>
                  <a:srgbClr val="FFFFFF"/>
                </a:solidFill>
                <a:latin typeface="メイリオ" pitchFamily="34" charset="0"/>
                <a:ea typeface="メイリオ" pitchFamily="34" charset="-122"/>
                <a:cs typeface="メイリオ" pitchFamily="34" charset="-120"/>
              </a:rPr>
              <a:t>薬</a:t>
            </a:r>
            <a:endParaRPr lang="ja-JP" sz="1050" dirty="0"/>
          </a:p>
        </p:txBody>
      </p:sp>
      <p:sp>
        <p:nvSpPr>
          <p:cNvPr id="6" name="Text 4"/>
          <p:cNvSpPr/>
          <p:nvPr/>
        </p:nvSpPr>
        <p:spPr>
          <a:xfrm>
            <a:off x="10707624" y="54864"/>
            <a:ext cx="621792" cy="585216"/>
          </a:xfrm>
          <a:prstGeom prst="roundRect">
            <a:avLst>
              <a:gd name="adj" fmla="val 7813"/>
            </a:avLst>
          </a:prstGeom>
          <a:solidFill>
            <a:srgbClr val="D9D9D9"/>
          </a:solidFill>
          <a:ln/>
        </p:spPr>
        <p:txBody>
          <a:bodyPr wrap="none" lIns="0" tIns="0" rIns="0" bIns="0" rtlCol="0" anchor="ctr"/>
          <a:lstStyle/>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ステロ</a:t>
            </a:r>
            <a:endParaRPr lang="ja-JP" sz="1050" dirty="0"/>
          </a:p>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イド</a:t>
            </a:r>
            <a:endParaRPr lang="ja-JP" sz="1050" dirty="0"/>
          </a:p>
        </p:txBody>
      </p:sp>
      <p:sp>
        <p:nvSpPr>
          <p:cNvPr id="7" name="Text 5"/>
          <p:cNvSpPr/>
          <p:nvPr/>
        </p:nvSpPr>
        <p:spPr>
          <a:xfrm>
            <a:off x="11384280" y="54864"/>
            <a:ext cx="621792" cy="585216"/>
          </a:xfrm>
          <a:prstGeom prst="roundRect">
            <a:avLst>
              <a:gd name="adj" fmla="val 7813"/>
            </a:avLst>
          </a:prstGeom>
          <a:solidFill>
            <a:srgbClr val="D9D9D9"/>
          </a:solidFill>
          <a:ln/>
        </p:spPr>
        <p:txBody>
          <a:bodyPr wrap="none" lIns="0" tIns="0" rIns="0" bIns="0" rtlCol="0" anchor="ctr"/>
          <a:lstStyle/>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まとめ</a:t>
            </a:r>
            <a:endParaRPr lang="ja-JP" sz="1050" dirty="0"/>
          </a:p>
        </p:txBody>
      </p:sp>
      <p:sp>
        <p:nvSpPr>
          <p:cNvPr id="8" name="Text 6"/>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5</a:t>
            </a:r>
            <a:endParaRPr lang="ja-JP" sz="1200" dirty="0"/>
          </a:p>
        </p:txBody>
      </p:sp>
      <p:sp>
        <p:nvSpPr>
          <p:cNvPr id="9" name="Text 7"/>
          <p:cNvSpPr txBox="1"/>
          <p:nvPr/>
        </p:nvSpPr>
        <p:spPr>
          <a:xfrm>
            <a:off x="502920" y="5943600"/>
            <a:ext cx="10607040" cy="777240"/>
          </a:xfrm>
          <a:prstGeom prst="rect">
            <a:avLst/>
          </a:prstGeom>
          <a:noFill/>
          <a:ln/>
        </p:spPr>
        <p:txBody>
          <a:bodyPr wrap="square" lIns="0" tIns="0" rIns="0" bIns="0" rtlCol="0" anchor="b"/>
          <a:lstStyle/>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アトロピン硫酸塩注 0.5mg 添付文書</a:t>
            </a:r>
            <a:endParaRPr lang="ja-JP" sz="1600" dirty="0"/>
          </a:p>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日本麻酔科学会「麻酔薬および麻酔関連薬使用ガイドライン 第4版」（2025）</a:t>
            </a:r>
            <a:endParaRPr lang="ja-JP" sz="1600" dirty="0"/>
          </a:p>
        </p:txBody>
      </p:sp>
      <p:sp>
        <p:nvSpPr>
          <p:cNvPr id="10" name="Shape 8"/>
          <p:cNvSpPr/>
          <p:nvPr/>
        </p:nvSpPr>
        <p:spPr>
          <a:xfrm>
            <a:off x="502920" y="1691640"/>
            <a:ext cx="5130698" cy="4160520"/>
          </a:xfrm>
          <a:prstGeom prst="roundRect">
            <a:avLst>
              <a:gd name="adj" fmla="val 1758"/>
            </a:avLst>
          </a:prstGeom>
          <a:solidFill>
            <a:srgbClr val="F2F2F2"/>
          </a:solidFill>
          <a:ln/>
        </p:spPr>
      </p:sp>
      <p:sp>
        <p:nvSpPr>
          <p:cNvPr id="11" name="Text 9"/>
          <p:cNvSpPr txBox="1"/>
          <p:nvPr/>
        </p:nvSpPr>
        <p:spPr>
          <a:xfrm>
            <a:off x="685800" y="1828800"/>
            <a:ext cx="4764938" cy="457200"/>
          </a:xfrm>
          <a:prstGeom prst="rect">
            <a:avLst/>
          </a:prstGeom>
          <a:noFill/>
          <a:ln/>
        </p:spPr>
        <p:txBody>
          <a:bodyPr wrap="square" lIns="0" tIns="0" rIns="0" bIns="0" rtlCol="0" anchor="t"/>
          <a:lstStyle/>
          <a:p>
            <a:pPr algn="l" indent="0" marL="0">
              <a:buNone/>
            </a:pPr>
            <a:r>
              <a:rPr lang="ja-JP" altLang="en-US" sz="2400" b="1" dirty="0">
                <a:solidFill>
                  <a:srgbClr val="0072B2"/>
                </a:solidFill>
                <a:latin typeface="メイリオ" pitchFamily="34" charset="0"/>
                <a:ea typeface="メイリオ" pitchFamily="34" charset="-122"/>
                <a:cs typeface="メイリオ" pitchFamily="34" charset="-120"/>
              </a:rPr>
              <a:t>使う場面</a:t>
            </a:r>
            <a:endParaRPr lang="ja-JP" sz="2400" dirty="0"/>
          </a:p>
        </p:txBody>
      </p:sp>
      <p:sp>
        <p:nvSpPr>
          <p:cNvPr id="12" name="Text 10"/>
          <p:cNvSpPr txBox="1"/>
          <p:nvPr/>
        </p:nvSpPr>
        <p:spPr>
          <a:xfrm>
            <a:off x="685800" y="2432304"/>
            <a:ext cx="4764938" cy="841248"/>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迷走神経反射の徐脈</a:t>
            </a:r>
            <a:endParaRPr lang="ja-JP" sz="2200" dirty="0"/>
          </a:p>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（眼球圧迫、腹膜牽引、気腹）</a:t>
            </a:r>
            <a:endParaRPr lang="ja-JP" sz="2200" dirty="0"/>
          </a:p>
        </p:txBody>
      </p:sp>
      <p:sp>
        <p:nvSpPr>
          <p:cNvPr id="13" name="Text 11"/>
          <p:cNvSpPr txBox="1"/>
          <p:nvPr/>
        </p:nvSpPr>
        <p:spPr>
          <a:xfrm>
            <a:off x="685800" y="4087368"/>
            <a:ext cx="4764938"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ネオスチグミンの併用（→ 3-6）</a:t>
            </a:r>
            <a:endParaRPr lang="ja-JP" sz="2200" dirty="0"/>
          </a:p>
        </p:txBody>
      </p:sp>
      <p:sp>
        <p:nvSpPr>
          <p:cNvPr id="14" name="Text 12"/>
          <p:cNvSpPr txBox="1"/>
          <p:nvPr/>
        </p:nvSpPr>
        <p:spPr>
          <a:xfrm>
            <a:off x="685800" y="5276088"/>
            <a:ext cx="4764938"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気道操作・ケタミン前の分泌抑制</a:t>
            </a:r>
            <a:endParaRPr lang="ja-JP" sz="2200" dirty="0"/>
          </a:p>
        </p:txBody>
      </p:sp>
      <p:sp>
        <p:nvSpPr>
          <p:cNvPr id="15" name="Shape 13"/>
          <p:cNvSpPr/>
          <p:nvPr/>
        </p:nvSpPr>
        <p:spPr>
          <a:xfrm>
            <a:off x="5926226" y="1691640"/>
            <a:ext cx="5758891" cy="4160520"/>
          </a:xfrm>
          <a:prstGeom prst="roundRect">
            <a:avLst>
              <a:gd name="adj" fmla="val 1758"/>
            </a:avLst>
          </a:prstGeom>
          <a:solidFill>
            <a:srgbClr val="F2F2F2"/>
          </a:solidFill>
          <a:ln/>
        </p:spPr>
      </p:sp>
      <p:sp>
        <p:nvSpPr>
          <p:cNvPr id="16" name="Text 14"/>
          <p:cNvSpPr txBox="1"/>
          <p:nvPr/>
        </p:nvSpPr>
        <p:spPr>
          <a:xfrm>
            <a:off x="6109106" y="1828800"/>
            <a:ext cx="5393131" cy="457200"/>
          </a:xfrm>
          <a:prstGeom prst="rect">
            <a:avLst/>
          </a:prstGeom>
          <a:noFill/>
          <a:ln/>
        </p:spPr>
        <p:txBody>
          <a:bodyPr wrap="square" lIns="0" tIns="0" rIns="0" bIns="0" rtlCol="0" anchor="t"/>
          <a:lstStyle/>
          <a:p>
            <a:pPr algn="l" indent="0" marL="0">
              <a:buNone/>
            </a:pPr>
            <a:r>
              <a:rPr lang="ja-JP" altLang="en-US" sz="2400" b="1" dirty="0">
                <a:solidFill>
                  <a:srgbClr val="D55E00"/>
                </a:solidFill>
                <a:latin typeface="メイリオ" pitchFamily="34" charset="0"/>
                <a:ea typeface="メイリオ" pitchFamily="34" charset="-122"/>
                <a:cs typeface="メイリオ" pitchFamily="34" charset="-120"/>
              </a:rPr>
              <a:t>考えること</a:t>
            </a:r>
            <a:endParaRPr lang="ja-JP" sz="2400" dirty="0"/>
          </a:p>
        </p:txBody>
      </p:sp>
      <p:sp>
        <p:nvSpPr>
          <p:cNvPr id="17" name="Text 15"/>
          <p:cNvSpPr txBox="1"/>
          <p:nvPr/>
        </p:nvSpPr>
        <p:spPr>
          <a:xfrm>
            <a:off x="6109106" y="2432304"/>
            <a:ext cx="5393131" cy="1307592"/>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徐脈の原因</a:t>
            </a:r>
            <a:endParaRPr lang="ja-JP" sz="2200" dirty="0"/>
          </a:p>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（低酸素、麻酔薬、刺激）を</a:t>
            </a:r>
            <a:endParaRPr lang="ja-JP" sz="2200" dirty="0"/>
          </a:p>
          <a:p>
            <a:pPr algn="l" indent="0" marL="0">
              <a:buNone/>
            </a:pPr>
            <a:r>
              <a:rPr lang="ja-JP" altLang="en-US" sz="2200" b="1" dirty="0">
                <a:solidFill>
                  <a:srgbClr val="D55E00"/>
                </a:solidFill>
                <a:latin typeface="メイリオ" pitchFamily="34" charset="0"/>
                <a:ea typeface="メイリオ" pitchFamily="34" charset="-122"/>
                <a:cs typeface="メイリオ" pitchFamily="34" charset="-120"/>
              </a:rPr>
              <a:t>外すのが先</a:t>
            </a:r>
            <a:endParaRPr lang="ja-JP" sz="2200" dirty="0"/>
          </a:p>
        </p:txBody>
      </p:sp>
      <p:sp>
        <p:nvSpPr>
          <p:cNvPr id="18" name="Text 16"/>
          <p:cNvSpPr txBox="1"/>
          <p:nvPr/>
        </p:nvSpPr>
        <p:spPr>
          <a:xfrm>
            <a:off x="6109106" y="4087368"/>
            <a:ext cx="5393131" cy="841248"/>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心拍数だけ上げても</a:t>
            </a:r>
            <a:endParaRPr lang="ja-JP" sz="2200" dirty="0"/>
          </a:p>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血圧が戻らないことがある</a:t>
            </a:r>
            <a:endParaRPr lang="ja-JP" sz="2200" dirty="0"/>
          </a:p>
        </p:txBody>
      </p:sp>
      <p:sp>
        <p:nvSpPr>
          <p:cNvPr id="19" name="Text 17"/>
          <p:cNvSpPr txBox="1"/>
          <p:nvPr/>
        </p:nvSpPr>
        <p:spPr>
          <a:xfrm>
            <a:off x="6109106" y="5276088"/>
            <a:ext cx="5393131"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エフェドリンとの使い分け（→ 3-8）</a:t>
            </a:r>
            <a:endParaRPr lang="ja-JP" sz="2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ステロイドの 3 つの場面</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9354312" y="54864"/>
            <a:ext cx="621792" cy="585216"/>
          </a:xfrm>
          <a:prstGeom prst="roundRect">
            <a:avLst>
              <a:gd name="adj" fmla="val 7813"/>
            </a:avLst>
          </a:prstGeom>
          <a:solidFill>
            <a:srgbClr val="D9D9D9"/>
          </a:solidFill>
          <a:ln/>
        </p:spPr>
        <p:txBody>
          <a:bodyPr wrap="none" lIns="0" tIns="0" rIns="0" bIns="0" rtlCol="0" anchor="ctr"/>
          <a:lstStyle/>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予防的</a:t>
            </a:r>
            <a:endParaRPr lang="ja-JP" sz="1050" dirty="0"/>
          </a:p>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抗菌薬</a:t>
            </a:r>
            <a:endParaRPr lang="ja-JP" sz="1050" dirty="0"/>
          </a:p>
        </p:txBody>
      </p:sp>
      <p:sp>
        <p:nvSpPr>
          <p:cNvPr id="5" name="Text 3"/>
          <p:cNvSpPr/>
          <p:nvPr/>
        </p:nvSpPr>
        <p:spPr>
          <a:xfrm>
            <a:off x="10030968" y="54864"/>
            <a:ext cx="621792" cy="585216"/>
          </a:xfrm>
          <a:prstGeom prst="roundRect">
            <a:avLst>
              <a:gd name="adj" fmla="val 7813"/>
            </a:avLst>
          </a:prstGeom>
          <a:solidFill>
            <a:srgbClr val="D9D9D9"/>
          </a:solidFill>
          <a:ln/>
        </p:spPr>
        <p:txBody>
          <a:bodyPr wrap="none" lIns="0" tIns="0" rIns="0" bIns="0" rtlCol="0" anchor="ctr"/>
          <a:lstStyle/>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抗コリン</a:t>
            </a:r>
            <a:endParaRPr lang="ja-JP" sz="1050" dirty="0"/>
          </a:p>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薬</a:t>
            </a:r>
            <a:endParaRPr lang="ja-JP" sz="1050" dirty="0"/>
          </a:p>
        </p:txBody>
      </p:sp>
      <p:sp>
        <p:nvSpPr>
          <p:cNvPr id="6" name="Text 4"/>
          <p:cNvSpPr/>
          <p:nvPr/>
        </p:nvSpPr>
        <p:spPr>
          <a:xfrm>
            <a:off x="10707624" y="54864"/>
            <a:ext cx="621792" cy="585216"/>
          </a:xfrm>
          <a:prstGeom prst="roundRect">
            <a:avLst>
              <a:gd name="adj" fmla="val 7813"/>
            </a:avLst>
          </a:prstGeom>
          <a:solidFill>
            <a:srgbClr val="00A8AA"/>
          </a:solidFill>
          <a:ln/>
        </p:spPr>
        <p:txBody>
          <a:bodyPr wrap="none" lIns="0" tIns="0" rIns="0" bIns="0" rtlCol="0" anchor="ctr"/>
          <a:lstStyle/>
          <a:p>
            <a:pPr algn="ctr" indent="0" marL="0">
              <a:buNone/>
            </a:pPr>
            <a:r>
              <a:rPr lang="ja-JP" altLang="en-US" sz="1050" b="1" dirty="0">
                <a:solidFill>
                  <a:srgbClr val="FFFFFF"/>
                </a:solidFill>
                <a:latin typeface="メイリオ" pitchFamily="34" charset="0"/>
                <a:ea typeface="メイリオ" pitchFamily="34" charset="-122"/>
                <a:cs typeface="メイリオ" pitchFamily="34" charset="-120"/>
              </a:rPr>
              <a:t>ステロ</a:t>
            </a:r>
            <a:endParaRPr lang="ja-JP" sz="1050" dirty="0"/>
          </a:p>
          <a:p>
            <a:pPr algn="ctr" indent="0" marL="0">
              <a:buNone/>
            </a:pPr>
            <a:r>
              <a:rPr lang="ja-JP" altLang="en-US" sz="1050" b="1" dirty="0">
                <a:solidFill>
                  <a:srgbClr val="FFFFFF"/>
                </a:solidFill>
                <a:latin typeface="メイリオ" pitchFamily="34" charset="0"/>
                <a:ea typeface="メイリオ" pitchFamily="34" charset="-122"/>
                <a:cs typeface="メイリオ" pitchFamily="34" charset="-120"/>
              </a:rPr>
              <a:t>イド</a:t>
            </a:r>
            <a:endParaRPr lang="ja-JP" sz="1050" dirty="0"/>
          </a:p>
        </p:txBody>
      </p:sp>
      <p:sp>
        <p:nvSpPr>
          <p:cNvPr id="7" name="Text 5"/>
          <p:cNvSpPr/>
          <p:nvPr/>
        </p:nvSpPr>
        <p:spPr>
          <a:xfrm>
            <a:off x="11384280" y="54864"/>
            <a:ext cx="621792" cy="585216"/>
          </a:xfrm>
          <a:prstGeom prst="roundRect">
            <a:avLst>
              <a:gd name="adj" fmla="val 7813"/>
            </a:avLst>
          </a:prstGeom>
          <a:solidFill>
            <a:srgbClr val="D9D9D9"/>
          </a:solidFill>
          <a:ln/>
        </p:spPr>
        <p:txBody>
          <a:bodyPr wrap="none" lIns="0" tIns="0" rIns="0" bIns="0" rtlCol="0" anchor="ctr"/>
          <a:lstStyle/>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まとめ</a:t>
            </a:r>
            <a:endParaRPr lang="ja-JP" sz="1050" dirty="0"/>
          </a:p>
        </p:txBody>
      </p:sp>
      <p:sp>
        <p:nvSpPr>
          <p:cNvPr id="8" name="Text 6"/>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6</a:t>
            </a:r>
            <a:endParaRPr lang="ja-JP" sz="1200" dirty="0"/>
          </a:p>
        </p:txBody>
      </p:sp>
      <p:sp>
        <p:nvSpPr>
          <p:cNvPr id="9" name="Text 7"/>
          <p:cNvSpPr txBox="1"/>
          <p:nvPr/>
        </p:nvSpPr>
        <p:spPr>
          <a:xfrm>
            <a:off x="502920" y="5943600"/>
            <a:ext cx="10607040" cy="777240"/>
          </a:xfrm>
          <a:prstGeom prst="rect">
            <a:avLst/>
          </a:prstGeom>
          <a:noFill/>
          <a:ln/>
        </p:spPr>
        <p:txBody>
          <a:bodyPr wrap="square" lIns="0" tIns="0" rIns="0" bIns="0" rtlCol="0" anchor="b"/>
          <a:lstStyle/>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Woodcock T, et al. Anaesthesia 2020;75:654-663 / デキサート注・デカドロン注 添付文書</a:t>
            </a:r>
            <a:endParaRPr lang="ja-JP" sz="1600" dirty="0"/>
          </a:p>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Shaker MS, et al. J Allergy Clin Immunol 2020;145:1082-1123</a:t>
            </a:r>
            <a:endParaRPr lang="ja-JP" sz="1600" dirty="0"/>
          </a:p>
        </p:txBody>
      </p:sp>
      <p:sp>
        <p:nvSpPr>
          <p:cNvPr id="10" name="Shape 8"/>
          <p:cNvSpPr/>
          <p:nvPr/>
        </p:nvSpPr>
        <p:spPr>
          <a:xfrm>
            <a:off x="502920" y="1691640"/>
            <a:ext cx="4140403" cy="4160520"/>
          </a:xfrm>
          <a:prstGeom prst="roundRect">
            <a:avLst>
              <a:gd name="adj" fmla="val 1767"/>
            </a:avLst>
          </a:prstGeom>
          <a:solidFill>
            <a:srgbClr val="F2F2F2"/>
          </a:solidFill>
          <a:ln/>
        </p:spPr>
      </p:sp>
      <p:sp>
        <p:nvSpPr>
          <p:cNvPr id="11" name="Text 9"/>
          <p:cNvSpPr txBox="1"/>
          <p:nvPr/>
        </p:nvSpPr>
        <p:spPr>
          <a:xfrm>
            <a:off x="685800" y="1828800"/>
            <a:ext cx="3774643" cy="457200"/>
          </a:xfrm>
          <a:prstGeom prst="rect">
            <a:avLst/>
          </a:prstGeom>
          <a:noFill/>
          <a:ln/>
        </p:spPr>
        <p:txBody>
          <a:bodyPr wrap="square" lIns="0" tIns="0" rIns="0" bIns="0" rtlCol="0" anchor="t"/>
          <a:lstStyle/>
          <a:p>
            <a:pPr algn="l" indent="0" marL="0">
              <a:buNone/>
            </a:pPr>
            <a:r>
              <a:rPr lang="ja-JP" altLang="en-US" sz="2400" b="1" dirty="0">
                <a:solidFill>
                  <a:srgbClr val="0072B2"/>
                </a:solidFill>
                <a:latin typeface="メイリオ" pitchFamily="34" charset="0"/>
                <a:ea typeface="メイリオ" pitchFamily="34" charset="-122"/>
                <a:cs typeface="メイリオ" pitchFamily="34" charset="-120"/>
              </a:rPr>
              <a:t>PONV の予防</a:t>
            </a:r>
            <a:endParaRPr lang="ja-JP" sz="2400" dirty="0"/>
          </a:p>
        </p:txBody>
      </p:sp>
      <p:sp>
        <p:nvSpPr>
          <p:cNvPr id="12" name="Text 10"/>
          <p:cNvSpPr txBox="1"/>
          <p:nvPr/>
        </p:nvSpPr>
        <p:spPr>
          <a:xfrm>
            <a:off x="685800" y="2395728"/>
            <a:ext cx="3774643" cy="1783080"/>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デキサメタゾン</a:t>
            </a:r>
            <a:endParaRPr lang="ja-JP" sz="2200" dirty="0"/>
          </a:p>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3.3〜6.6 mg</a:t>
            </a:r>
            <a:endParaRPr lang="ja-JP" sz="2200" dirty="0"/>
          </a:p>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（海外の 4〜8 mg）を</a:t>
            </a:r>
            <a:endParaRPr lang="ja-JP" sz="2200" dirty="0"/>
          </a:p>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導入時に</a:t>
            </a:r>
            <a:endParaRPr lang="ja-JP" sz="2200" dirty="0"/>
          </a:p>
        </p:txBody>
      </p:sp>
      <p:sp>
        <p:nvSpPr>
          <p:cNvPr id="13" name="Text 11"/>
          <p:cNvSpPr txBox="1"/>
          <p:nvPr/>
        </p:nvSpPr>
        <p:spPr>
          <a:xfrm>
            <a:off x="685800" y="4306824"/>
            <a:ext cx="3774643" cy="841248"/>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効くまで時間がかかるので</a:t>
            </a:r>
            <a:endParaRPr lang="ja-JP" sz="2200" dirty="0"/>
          </a:p>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早めに</a:t>
            </a:r>
            <a:endParaRPr lang="ja-JP" sz="2200" dirty="0"/>
          </a:p>
        </p:txBody>
      </p:sp>
      <p:sp>
        <p:nvSpPr>
          <p:cNvPr id="14" name="Text 12"/>
          <p:cNvSpPr txBox="1"/>
          <p:nvPr/>
        </p:nvSpPr>
        <p:spPr>
          <a:xfrm>
            <a:off x="685800" y="5276088"/>
            <a:ext cx="3774643"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国内では適応外（→ 5-4）</a:t>
            </a:r>
            <a:endParaRPr lang="ja-JP" sz="2200" dirty="0"/>
          </a:p>
        </p:txBody>
      </p:sp>
      <p:sp>
        <p:nvSpPr>
          <p:cNvPr id="15" name="Shape 13"/>
          <p:cNvSpPr/>
          <p:nvPr/>
        </p:nvSpPr>
        <p:spPr>
          <a:xfrm>
            <a:off x="4862779" y="1691640"/>
            <a:ext cx="3406140" cy="4160520"/>
          </a:xfrm>
          <a:prstGeom prst="roundRect">
            <a:avLst>
              <a:gd name="adj" fmla="val 2148"/>
            </a:avLst>
          </a:prstGeom>
          <a:solidFill>
            <a:srgbClr val="F2F2F2"/>
          </a:solidFill>
          <a:ln/>
        </p:spPr>
      </p:sp>
      <p:sp>
        <p:nvSpPr>
          <p:cNvPr id="16" name="Text 14"/>
          <p:cNvSpPr txBox="1"/>
          <p:nvPr/>
        </p:nvSpPr>
        <p:spPr>
          <a:xfrm>
            <a:off x="5045659" y="1828800"/>
            <a:ext cx="3040380" cy="457200"/>
          </a:xfrm>
          <a:prstGeom prst="rect">
            <a:avLst/>
          </a:prstGeom>
          <a:noFill/>
          <a:ln/>
        </p:spPr>
        <p:txBody>
          <a:bodyPr wrap="square" lIns="0" tIns="0" rIns="0" bIns="0" rtlCol="0" anchor="t"/>
          <a:lstStyle/>
          <a:p>
            <a:pPr algn="l" indent="0" marL="0">
              <a:buNone/>
            </a:pPr>
            <a:r>
              <a:rPr lang="ja-JP" altLang="en-US" sz="2400" b="1" dirty="0">
                <a:solidFill>
                  <a:srgbClr val="D55E00"/>
                </a:solidFill>
                <a:latin typeface="メイリオ" pitchFamily="34" charset="0"/>
                <a:ea typeface="メイリオ" pitchFamily="34" charset="-122"/>
                <a:cs typeface="メイリオ" pitchFamily="34" charset="-120"/>
              </a:rPr>
              <a:t>ステロイドカバー</a:t>
            </a:r>
            <a:endParaRPr lang="ja-JP" sz="2400" dirty="0"/>
          </a:p>
        </p:txBody>
      </p:sp>
      <p:sp>
        <p:nvSpPr>
          <p:cNvPr id="17" name="Text 15"/>
          <p:cNvSpPr txBox="1"/>
          <p:nvPr/>
        </p:nvSpPr>
        <p:spPr>
          <a:xfrm>
            <a:off x="5045659" y="2395728"/>
            <a:ext cx="3040380" cy="841248"/>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長期内服で副腎が</a:t>
            </a:r>
            <a:endParaRPr lang="ja-JP" sz="2200" dirty="0"/>
          </a:p>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抑制された患者</a:t>
            </a:r>
            <a:endParaRPr lang="ja-JP" sz="2200" dirty="0"/>
          </a:p>
        </p:txBody>
      </p:sp>
      <p:sp>
        <p:nvSpPr>
          <p:cNvPr id="18" name="Text 16"/>
          <p:cNvSpPr txBox="1"/>
          <p:nvPr/>
        </p:nvSpPr>
        <p:spPr>
          <a:xfrm>
            <a:off x="5045659" y="3364992"/>
            <a:ext cx="3040380" cy="841248"/>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ヒドロコルチゾン</a:t>
            </a:r>
            <a:endParaRPr lang="ja-JP" sz="2200" dirty="0"/>
          </a:p>
          <a:p>
            <a:pPr algn="l" indent="0" marL="0">
              <a:buNone/>
            </a:pPr>
            <a:r>
              <a:rPr lang="ja-JP" altLang="en-US" sz="2200" b="1" dirty="0">
                <a:solidFill>
                  <a:srgbClr val="0072B2"/>
                </a:solidFill>
                <a:latin typeface="メイリオ" pitchFamily="34" charset="0"/>
                <a:ea typeface="メイリオ" pitchFamily="34" charset="-122"/>
                <a:cs typeface="メイリオ" pitchFamily="34" charset="-120"/>
              </a:rPr>
              <a:t>100 mg</a:t>
            </a:r>
            <a:r>
              <a:rPr lang="ja-JP" altLang="en-US" sz="2200" dirty="0">
                <a:solidFill>
                  <a:srgbClr val="262626"/>
                </a:solidFill>
                <a:latin typeface="メイリオ" pitchFamily="34" charset="0"/>
                <a:ea typeface="メイリオ" pitchFamily="34" charset="-122"/>
                <a:cs typeface="メイリオ" pitchFamily="34" charset="-120"/>
              </a:rPr>
              <a:t> を導入時</a:t>
            </a:r>
            <a:endParaRPr lang="ja-JP" sz="2200" dirty="0"/>
          </a:p>
        </p:txBody>
      </p:sp>
      <p:sp>
        <p:nvSpPr>
          <p:cNvPr id="19" name="Text 17"/>
          <p:cNvSpPr txBox="1"/>
          <p:nvPr/>
        </p:nvSpPr>
        <p:spPr>
          <a:xfrm>
            <a:off x="5045659" y="4334256"/>
            <a:ext cx="3040380" cy="1307592"/>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以後 200 mg/24 時間</a:t>
            </a:r>
            <a:endParaRPr lang="ja-JP" sz="2200" dirty="0"/>
          </a:p>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の持続（倍量を</a:t>
            </a:r>
            <a:endParaRPr lang="ja-JP" sz="2200" dirty="0"/>
          </a:p>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内服できるまで）</a:t>
            </a:r>
            <a:endParaRPr lang="ja-JP" sz="2200" dirty="0"/>
          </a:p>
        </p:txBody>
      </p:sp>
      <p:sp>
        <p:nvSpPr>
          <p:cNvPr id="20" name="Shape 18"/>
          <p:cNvSpPr/>
          <p:nvPr/>
        </p:nvSpPr>
        <p:spPr>
          <a:xfrm>
            <a:off x="8488375" y="1691640"/>
            <a:ext cx="3196742" cy="4160520"/>
          </a:xfrm>
          <a:prstGeom prst="roundRect">
            <a:avLst>
              <a:gd name="adj" fmla="val 2288"/>
            </a:avLst>
          </a:prstGeom>
          <a:solidFill>
            <a:srgbClr val="F2F2F2"/>
          </a:solidFill>
          <a:ln/>
        </p:spPr>
      </p:sp>
      <p:sp>
        <p:nvSpPr>
          <p:cNvPr id="21" name="Text 19"/>
          <p:cNvSpPr txBox="1"/>
          <p:nvPr/>
        </p:nvSpPr>
        <p:spPr>
          <a:xfrm>
            <a:off x="8671255" y="1828800"/>
            <a:ext cx="2830982" cy="457200"/>
          </a:xfrm>
          <a:prstGeom prst="rect">
            <a:avLst/>
          </a:prstGeom>
          <a:noFill/>
          <a:ln/>
        </p:spPr>
        <p:txBody>
          <a:bodyPr wrap="square" lIns="0" tIns="0" rIns="0" bIns="0" rtlCol="0" anchor="t"/>
          <a:lstStyle/>
          <a:p>
            <a:pPr algn="l" indent="0" marL="0">
              <a:buNone/>
            </a:pPr>
            <a:r>
              <a:rPr lang="ja-JP" altLang="en-US" sz="2400" b="1" dirty="0">
                <a:solidFill>
                  <a:srgbClr val="C00000"/>
                </a:solidFill>
                <a:latin typeface="メイリオ" pitchFamily="34" charset="0"/>
                <a:ea typeface="メイリオ" pitchFamily="34" charset="-122"/>
                <a:cs typeface="メイリオ" pitchFamily="34" charset="-120"/>
              </a:rPr>
              <a:t>気道浮腫・補助</a:t>
            </a:r>
            <a:endParaRPr lang="ja-JP" sz="2400" dirty="0"/>
          </a:p>
        </p:txBody>
      </p:sp>
      <p:sp>
        <p:nvSpPr>
          <p:cNvPr id="22" name="Text 20"/>
          <p:cNvSpPr txBox="1"/>
          <p:nvPr/>
        </p:nvSpPr>
        <p:spPr>
          <a:xfrm>
            <a:off x="8671255" y="2395728"/>
            <a:ext cx="2830982" cy="841248"/>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抜管後の気道浮腫の</a:t>
            </a:r>
            <a:endParaRPr lang="ja-JP" sz="2200" dirty="0"/>
          </a:p>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予防・治療</a:t>
            </a:r>
            <a:endParaRPr lang="ja-JP" sz="2200" dirty="0"/>
          </a:p>
        </p:txBody>
      </p:sp>
      <p:sp>
        <p:nvSpPr>
          <p:cNvPr id="23" name="Text 21"/>
          <p:cNvSpPr txBox="1"/>
          <p:nvPr/>
        </p:nvSpPr>
        <p:spPr>
          <a:xfrm>
            <a:off x="8671255" y="3364992"/>
            <a:ext cx="2830982" cy="1307592"/>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アナフィラキシーの</a:t>
            </a:r>
            <a:endParaRPr lang="ja-JP" sz="2200" dirty="0"/>
          </a:p>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二次治療</a:t>
            </a:r>
            <a:endParaRPr lang="ja-JP" sz="2200" dirty="0"/>
          </a:p>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（効果は遅い）</a:t>
            </a:r>
            <a:endParaRPr lang="ja-JP" sz="2200" dirty="0"/>
          </a:p>
        </p:txBody>
      </p:sp>
      <p:sp>
        <p:nvSpPr>
          <p:cNvPr id="24" name="Text 22"/>
          <p:cNvSpPr txBox="1"/>
          <p:nvPr/>
        </p:nvSpPr>
        <p:spPr>
          <a:xfrm>
            <a:off x="8671255" y="4800600"/>
            <a:ext cx="2830982"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第一選択ではない</a:t>
            </a:r>
            <a:endParaRPr lang="ja-JP" sz="2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ステロイドの注意</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9354312" y="54864"/>
            <a:ext cx="621792" cy="585216"/>
          </a:xfrm>
          <a:prstGeom prst="roundRect">
            <a:avLst>
              <a:gd name="adj" fmla="val 7813"/>
            </a:avLst>
          </a:prstGeom>
          <a:solidFill>
            <a:srgbClr val="D9D9D9"/>
          </a:solidFill>
          <a:ln/>
        </p:spPr>
        <p:txBody>
          <a:bodyPr wrap="none" lIns="0" tIns="0" rIns="0" bIns="0" rtlCol="0" anchor="ctr"/>
          <a:lstStyle/>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予防的</a:t>
            </a:r>
            <a:endParaRPr lang="ja-JP" sz="1050" dirty="0"/>
          </a:p>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抗菌薬</a:t>
            </a:r>
            <a:endParaRPr lang="ja-JP" sz="1050" dirty="0"/>
          </a:p>
        </p:txBody>
      </p:sp>
      <p:sp>
        <p:nvSpPr>
          <p:cNvPr id="5" name="Text 3"/>
          <p:cNvSpPr/>
          <p:nvPr/>
        </p:nvSpPr>
        <p:spPr>
          <a:xfrm>
            <a:off x="10030968" y="54864"/>
            <a:ext cx="621792" cy="585216"/>
          </a:xfrm>
          <a:prstGeom prst="roundRect">
            <a:avLst>
              <a:gd name="adj" fmla="val 7813"/>
            </a:avLst>
          </a:prstGeom>
          <a:solidFill>
            <a:srgbClr val="D9D9D9"/>
          </a:solidFill>
          <a:ln/>
        </p:spPr>
        <p:txBody>
          <a:bodyPr wrap="none" lIns="0" tIns="0" rIns="0" bIns="0" rtlCol="0" anchor="ctr"/>
          <a:lstStyle/>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抗コリン</a:t>
            </a:r>
            <a:endParaRPr lang="ja-JP" sz="1050" dirty="0"/>
          </a:p>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薬</a:t>
            </a:r>
            <a:endParaRPr lang="ja-JP" sz="1050" dirty="0"/>
          </a:p>
        </p:txBody>
      </p:sp>
      <p:sp>
        <p:nvSpPr>
          <p:cNvPr id="6" name="Text 4"/>
          <p:cNvSpPr/>
          <p:nvPr/>
        </p:nvSpPr>
        <p:spPr>
          <a:xfrm>
            <a:off x="10707624" y="54864"/>
            <a:ext cx="621792" cy="585216"/>
          </a:xfrm>
          <a:prstGeom prst="roundRect">
            <a:avLst>
              <a:gd name="adj" fmla="val 7813"/>
            </a:avLst>
          </a:prstGeom>
          <a:solidFill>
            <a:srgbClr val="00A8AA"/>
          </a:solidFill>
          <a:ln/>
        </p:spPr>
        <p:txBody>
          <a:bodyPr wrap="none" lIns="0" tIns="0" rIns="0" bIns="0" rtlCol="0" anchor="ctr"/>
          <a:lstStyle/>
          <a:p>
            <a:pPr algn="ctr" indent="0" marL="0">
              <a:buNone/>
            </a:pPr>
            <a:r>
              <a:rPr lang="ja-JP" altLang="en-US" sz="1050" b="1" dirty="0">
                <a:solidFill>
                  <a:srgbClr val="FFFFFF"/>
                </a:solidFill>
                <a:latin typeface="メイリオ" pitchFamily="34" charset="0"/>
                <a:ea typeface="メイリオ" pitchFamily="34" charset="-122"/>
                <a:cs typeface="メイリオ" pitchFamily="34" charset="-120"/>
              </a:rPr>
              <a:t>ステロ</a:t>
            </a:r>
            <a:endParaRPr lang="ja-JP" sz="1050" dirty="0"/>
          </a:p>
          <a:p>
            <a:pPr algn="ctr" indent="0" marL="0">
              <a:buNone/>
            </a:pPr>
            <a:r>
              <a:rPr lang="ja-JP" altLang="en-US" sz="1050" b="1" dirty="0">
                <a:solidFill>
                  <a:srgbClr val="FFFFFF"/>
                </a:solidFill>
                <a:latin typeface="メイリオ" pitchFamily="34" charset="0"/>
                <a:ea typeface="メイリオ" pitchFamily="34" charset="-122"/>
                <a:cs typeface="メイリオ" pitchFamily="34" charset="-120"/>
              </a:rPr>
              <a:t>イド</a:t>
            </a:r>
            <a:endParaRPr lang="ja-JP" sz="1050" dirty="0"/>
          </a:p>
        </p:txBody>
      </p:sp>
      <p:sp>
        <p:nvSpPr>
          <p:cNvPr id="7" name="Text 5"/>
          <p:cNvSpPr/>
          <p:nvPr/>
        </p:nvSpPr>
        <p:spPr>
          <a:xfrm>
            <a:off x="11384280" y="54864"/>
            <a:ext cx="621792" cy="585216"/>
          </a:xfrm>
          <a:prstGeom prst="roundRect">
            <a:avLst>
              <a:gd name="adj" fmla="val 7813"/>
            </a:avLst>
          </a:prstGeom>
          <a:solidFill>
            <a:srgbClr val="D9D9D9"/>
          </a:solidFill>
          <a:ln/>
        </p:spPr>
        <p:txBody>
          <a:bodyPr wrap="none" lIns="0" tIns="0" rIns="0" bIns="0" rtlCol="0" anchor="ctr"/>
          <a:lstStyle/>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まとめ</a:t>
            </a:r>
            <a:endParaRPr lang="ja-JP" sz="1050" dirty="0"/>
          </a:p>
        </p:txBody>
      </p:sp>
      <p:sp>
        <p:nvSpPr>
          <p:cNvPr id="8" name="Text 6"/>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7</a:t>
            </a:r>
            <a:endParaRPr lang="ja-JP" sz="1200" dirty="0"/>
          </a:p>
        </p:txBody>
      </p:sp>
      <p:sp>
        <p:nvSpPr>
          <p:cNvPr id="9" name="Text 7"/>
          <p:cNvSpPr txBox="1"/>
          <p:nvPr/>
        </p:nvSpPr>
        <p:spPr>
          <a:xfrm>
            <a:off x="502920" y="5943600"/>
            <a:ext cx="10607040" cy="777240"/>
          </a:xfrm>
          <a:prstGeom prst="rect">
            <a:avLst/>
          </a:prstGeom>
          <a:noFill/>
          <a:ln/>
        </p:spPr>
        <p:txBody>
          <a:bodyPr wrap="square" lIns="0" tIns="0" rIns="0" bIns="0" rtlCol="0" anchor="b"/>
          <a:lstStyle/>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Corcoran TB, et al. N Engl J Med 2021;384:1731-1741 / デキサート注・デカドロン注 添付文書</a:t>
            </a:r>
            <a:endParaRPr lang="ja-JP" sz="1600" dirty="0"/>
          </a:p>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Beuschlein F, et al. J Clin Endocrinol Metab 2024;109:1657-1683</a:t>
            </a:r>
            <a:endParaRPr lang="ja-JP" sz="1600" dirty="0"/>
          </a:p>
        </p:txBody>
      </p:sp>
      <p:sp>
        <p:nvSpPr>
          <p:cNvPr id="10" name="Text 8"/>
          <p:cNvSpPr txBox="1"/>
          <p:nvPr/>
        </p:nvSpPr>
        <p:spPr>
          <a:xfrm>
            <a:off x="502920" y="1783080"/>
            <a:ext cx="11155680" cy="2514600"/>
          </a:xfrm>
          <a:prstGeom prst="rect">
            <a:avLst/>
          </a:prstGeom>
          <a:noFill/>
          <a:ln/>
        </p:spPr>
        <p:txBody>
          <a:bodyPr wrap="square" lIns="0" tIns="0" rIns="0" bIns="0" rtlCol="0" anchor="t"/>
          <a:lstStyle/>
          <a:p>
            <a:pPr algn="l" marL="381000" indent="-381000">
              <a:spcAft>
                <a:spcPts val="1400"/>
              </a:spcAft>
              <a:buSzPct val="100000"/>
              <a:buChar char="•"/>
            </a:pPr>
            <a:r>
              <a:rPr lang="ja-JP" altLang="en-US" sz="2600" b="1" dirty="0">
                <a:solidFill>
                  <a:srgbClr val="0072B2"/>
                </a:solidFill>
                <a:latin typeface="メイリオ" pitchFamily="34" charset="0"/>
                <a:ea typeface="メイリオ" pitchFamily="34" charset="-122"/>
                <a:cs typeface="メイリオ" pitchFamily="34" charset="-120"/>
              </a:rPr>
              <a:t>高血糖：</a:t>
            </a:r>
            <a:r>
              <a:rPr lang="ja-JP" altLang="en-US" sz="2600" dirty="0">
                <a:solidFill>
                  <a:srgbClr val="262626"/>
                </a:solidFill>
                <a:latin typeface="メイリオ" pitchFamily="34" charset="0"/>
                <a:ea typeface="メイリオ" pitchFamily="34" charset="-122"/>
                <a:cs typeface="メイリオ" pitchFamily="34" charset="-120"/>
              </a:rPr>
              <a:t>糖尿病患者では術後の血糖を見る</a:t>
            </a:r>
            <a:endParaRPr lang="ja-JP" sz="2600" dirty="0"/>
          </a:p>
          <a:p>
            <a:pPr algn="l" marL="381000" indent="-381000">
              <a:spcAft>
                <a:spcPts val="1400"/>
              </a:spcAft>
              <a:buSzPct val="100000"/>
              <a:buChar char="•"/>
            </a:pPr>
            <a:r>
              <a:rPr lang="ja-JP" altLang="en-US" sz="2600" b="1" dirty="0">
                <a:solidFill>
                  <a:srgbClr val="0072B2"/>
                </a:solidFill>
                <a:latin typeface="メイリオ" pitchFamily="34" charset="0"/>
                <a:ea typeface="メイリオ" pitchFamily="34" charset="-122"/>
                <a:cs typeface="メイリオ" pitchFamily="34" charset="-120"/>
              </a:rPr>
              <a:t>創感染：</a:t>
            </a:r>
            <a:r>
              <a:rPr lang="ja-JP" altLang="en-US" sz="2600" dirty="0">
                <a:solidFill>
                  <a:srgbClr val="262626"/>
                </a:solidFill>
                <a:latin typeface="メイリオ" pitchFamily="34" charset="0"/>
                <a:ea typeface="メイリオ" pitchFamily="34" charset="-122"/>
                <a:cs typeface="メイリオ" pitchFamily="34" charset="-120"/>
              </a:rPr>
              <a:t>単回投与で明らかな増加はないとされる</a:t>
            </a:r>
            <a:endParaRPr lang="ja-JP" sz="2600" dirty="0"/>
          </a:p>
          <a:p>
            <a:pPr algn="l" marL="381000" indent="-381000">
              <a:spcAft>
                <a:spcPts val="1400"/>
              </a:spcAft>
              <a:buSzPct val="100000"/>
              <a:buChar char="•"/>
            </a:pPr>
            <a:r>
              <a:rPr lang="ja-JP" altLang="en-US" sz="2600" b="1" dirty="0">
                <a:solidFill>
                  <a:srgbClr val="0072B2"/>
                </a:solidFill>
                <a:latin typeface="メイリオ" pitchFamily="34" charset="0"/>
                <a:ea typeface="メイリオ" pitchFamily="34" charset="-122"/>
                <a:cs typeface="メイリオ" pitchFamily="34" charset="-120"/>
              </a:rPr>
              <a:t>急速静注で</a:t>
            </a:r>
            <a:r>
              <a:rPr lang="ja-JP" altLang="en-US" sz="2600" dirty="0">
                <a:solidFill>
                  <a:srgbClr val="262626"/>
                </a:solidFill>
                <a:latin typeface="メイリオ" pitchFamily="34" charset="0"/>
                <a:ea typeface="メイリオ" pitchFamily="34" charset="-122"/>
                <a:cs typeface="メイリオ" pitchFamily="34" charset="-120"/>
              </a:rPr>
              <a:t>会陰部の灼熱感（デキサメタゾン）</a:t>
            </a:r>
            <a:endParaRPr lang="ja-JP" sz="2600" dirty="0"/>
          </a:p>
          <a:p>
            <a:pPr algn="l" marL="381000" indent="-381000">
              <a:spcAft>
                <a:spcPts val="1400"/>
              </a:spcAft>
              <a:buSzPct val="100000"/>
              <a:buChar char="•"/>
            </a:pPr>
            <a:r>
              <a:rPr lang="ja-JP" altLang="en-US" sz="2600" dirty="0">
                <a:solidFill>
                  <a:srgbClr val="262626"/>
                </a:solidFill>
                <a:latin typeface="メイリオ" pitchFamily="34" charset="0"/>
                <a:ea typeface="メイリオ" pitchFamily="34" charset="-122"/>
                <a:cs typeface="メイリオ" pitchFamily="34" charset="-120"/>
              </a:rPr>
              <a:t>カバー不足は</a:t>
            </a:r>
            <a:r>
              <a:rPr lang="ja-JP" altLang="en-US" sz="2600" b="1" dirty="0">
                <a:solidFill>
                  <a:srgbClr val="C00000"/>
                </a:solidFill>
                <a:latin typeface="メイリオ" pitchFamily="34" charset="0"/>
                <a:ea typeface="メイリオ" pitchFamily="34" charset="-122"/>
                <a:cs typeface="メイリオ" pitchFamily="34" charset="-120"/>
              </a:rPr>
              <a:t>副腎クリーゼ</a:t>
            </a:r>
            <a:r>
              <a:rPr lang="ja-JP" altLang="en-US" sz="2600" dirty="0">
                <a:solidFill>
                  <a:srgbClr val="262626"/>
                </a:solidFill>
                <a:latin typeface="メイリオ" pitchFamily="34" charset="0"/>
                <a:ea typeface="メイリオ" pitchFamily="34" charset="-122"/>
                <a:cs typeface="メイリオ" pitchFamily="34" charset="-120"/>
              </a:rPr>
              <a:t>、過剰は高血糖・感染</a:t>
            </a:r>
            <a:endParaRPr lang="ja-JP" sz="2600" dirty="0"/>
          </a:p>
        </p:txBody>
      </p:sp>
      <p:sp>
        <p:nvSpPr>
          <p:cNvPr id="11" name="Text 9"/>
          <p:cNvSpPr/>
          <p:nvPr/>
        </p:nvSpPr>
        <p:spPr>
          <a:xfrm>
            <a:off x="1051560" y="4727448"/>
            <a:ext cx="10085832" cy="868680"/>
          </a:xfrm>
          <a:prstGeom prst="roundRect">
            <a:avLst>
              <a:gd name="adj" fmla="val 10526"/>
            </a:avLst>
          </a:prstGeom>
          <a:solidFill>
            <a:srgbClr val="FFFFFF"/>
          </a:solidFill>
          <a:ln w="44450">
            <a:solidFill>
              <a:srgbClr val="00A8AA"/>
            </a:solidFill>
          </a:ln>
        </p:spPr>
        <p:txBody>
          <a:bodyPr wrap="square" lIns="73152" tIns="73152" rIns="73152" bIns="73152" rtlCol="0" anchor="ctr"/>
          <a:lstStyle/>
          <a:p>
            <a:pPr algn="ctr" indent="0" marL="0">
              <a:buNone/>
            </a:pPr>
            <a:r>
              <a:rPr lang="ja-JP" altLang="en-US" sz="2800" b="1" dirty="0">
                <a:solidFill>
                  <a:srgbClr val="262626"/>
                </a:solidFill>
                <a:latin typeface="メイリオ" pitchFamily="34" charset="0"/>
                <a:ea typeface="メイリオ" pitchFamily="34" charset="-122"/>
                <a:cs typeface="メイリオ" pitchFamily="34" charset="-120"/>
              </a:rPr>
              <a:t>迷ったら、カバーする方が安全</a:t>
            </a:r>
            <a:endParaRPr lang="ja-JP" sz="2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まとめ</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9354312" y="54864"/>
            <a:ext cx="621792" cy="585216"/>
          </a:xfrm>
          <a:prstGeom prst="roundRect">
            <a:avLst>
              <a:gd name="adj" fmla="val 7813"/>
            </a:avLst>
          </a:prstGeom>
          <a:solidFill>
            <a:srgbClr val="D9D9D9"/>
          </a:solidFill>
          <a:ln/>
        </p:spPr>
        <p:txBody>
          <a:bodyPr wrap="none" lIns="0" tIns="0" rIns="0" bIns="0" rtlCol="0" anchor="ctr"/>
          <a:lstStyle/>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予防的</a:t>
            </a:r>
            <a:endParaRPr lang="ja-JP" sz="1050" dirty="0"/>
          </a:p>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抗菌薬</a:t>
            </a:r>
            <a:endParaRPr lang="ja-JP" sz="1050" dirty="0"/>
          </a:p>
        </p:txBody>
      </p:sp>
      <p:sp>
        <p:nvSpPr>
          <p:cNvPr id="5" name="Text 3"/>
          <p:cNvSpPr/>
          <p:nvPr/>
        </p:nvSpPr>
        <p:spPr>
          <a:xfrm>
            <a:off x="10030968" y="54864"/>
            <a:ext cx="621792" cy="585216"/>
          </a:xfrm>
          <a:prstGeom prst="roundRect">
            <a:avLst>
              <a:gd name="adj" fmla="val 7813"/>
            </a:avLst>
          </a:prstGeom>
          <a:solidFill>
            <a:srgbClr val="D9D9D9"/>
          </a:solidFill>
          <a:ln/>
        </p:spPr>
        <p:txBody>
          <a:bodyPr wrap="none" lIns="0" tIns="0" rIns="0" bIns="0" rtlCol="0" anchor="ctr"/>
          <a:lstStyle/>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抗コリン</a:t>
            </a:r>
            <a:endParaRPr lang="ja-JP" sz="1050" dirty="0"/>
          </a:p>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薬</a:t>
            </a:r>
            <a:endParaRPr lang="ja-JP" sz="1050" dirty="0"/>
          </a:p>
        </p:txBody>
      </p:sp>
      <p:sp>
        <p:nvSpPr>
          <p:cNvPr id="6" name="Text 4"/>
          <p:cNvSpPr/>
          <p:nvPr/>
        </p:nvSpPr>
        <p:spPr>
          <a:xfrm>
            <a:off x="10707624" y="54864"/>
            <a:ext cx="621792" cy="585216"/>
          </a:xfrm>
          <a:prstGeom prst="roundRect">
            <a:avLst>
              <a:gd name="adj" fmla="val 7813"/>
            </a:avLst>
          </a:prstGeom>
          <a:solidFill>
            <a:srgbClr val="D9D9D9"/>
          </a:solidFill>
          <a:ln/>
        </p:spPr>
        <p:txBody>
          <a:bodyPr wrap="none" lIns="0" tIns="0" rIns="0" bIns="0" rtlCol="0" anchor="ctr"/>
          <a:lstStyle/>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ステロ</a:t>
            </a:r>
            <a:endParaRPr lang="ja-JP" sz="1050" dirty="0"/>
          </a:p>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イド</a:t>
            </a:r>
            <a:endParaRPr lang="ja-JP" sz="1050" dirty="0"/>
          </a:p>
        </p:txBody>
      </p:sp>
      <p:sp>
        <p:nvSpPr>
          <p:cNvPr id="7" name="Text 5"/>
          <p:cNvSpPr/>
          <p:nvPr/>
        </p:nvSpPr>
        <p:spPr>
          <a:xfrm>
            <a:off x="11384280" y="54864"/>
            <a:ext cx="621792" cy="585216"/>
          </a:xfrm>
          <a:prstGeom prst="roundRect">
            <a:avLst>
              <a:gd name="adj" fmla="val 7813"/>
            </a:avLst>
          </a:prstGeom>
          <a:solidFill>
            <a:srgbClr val="00A8AA"/>
          </a:solidFill>
          <a:ln/>
        </p:spPr>
        <p:txBody>
          <a:bodyPr wrap="none" lIns="0" tIns="0" rIns="0" bIns="0" rtlCol="0" anchor="ctr"/>
          <a:lstStyle/>
          <a:p>
            <a:pPr algn="ctr" indent="0" marL="0">
              <a:buNone/>
            </a:pPr>
            <a:r>
              <a:rPr lang="ja-JP" altLang="en-US" sz="1050" b="1" dirty="0">
                <a:solidFill>
                  <a:srgbClr val="FFFFFF"/>
                </a:solidFill>
                <a:latin typeface="メイリオ" pitchFamily="34" charset="0"/>
                <a:ea typeface="メイリオ" pitchFamily="34" charset="-122"/>
                <a:cs typeface="メイリオ" pitchFamily="34" charset="-120"/>
              </a:rPr>
              <a:t>まとめ</a:t>
            </a:r>
            <a:endParaRPr lang="ja-JP" sz="1050" dirty="0"/>
          </a:p>
        </p:txBody>
      </p:sp>
      <p:sp>
        <p:nvSpPr>
          <p:cNvPr id="8" name="Text 6"/>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8</a:t>
            </a:r>
            <a:endParaRPr lang="ja-JP" sz="1200" dirty="0"/>
          </a:p>
        </p:txBody>
      </p:sp>
      <p:sp>
        <p:nvSpPr>
          <p:cNvPr id="9" name="Text 7"/>
          <p:cNvSpPr txBox="1"/>
          <p:nvPr/>
        </p:nvSpPr>
        <p:spPr>
          <a:xfrm>
            <a:off x="502920" y="5943600"/>
            <a:ext cx="10607040" cy="777240"/>
          </a:xfrm>
          <a:prstGeom prst="rect">
            <a:avLst/>
          </a:prstGeom>
          <a:noFill/>
          <a:ln/>
        </p:spPr>
        <p:txBody>
          <a:bodyPr wrap="square" lIns="0" tIns="0" rIns="0" bIns="0" rtlCol="0" anchor="b"/>
          <a:lstStyle/>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術後感染予防抗菌薬適正使用のための実践ガイドライン. 日化療会誌 2016;64:153-232</a:t>
            </a:r>
            <a:endParaRPr lang="ja-JP" sz="1600" dirty="0"/>
          </a:p>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アトロピン硫酸塩注 添付文書 / Woodcock T, et al. Anaesthesia 2020;75:654-663</a:t>
            </a:r>
            <a:endParaRPr lang="ja-JP" sz="1600" dirty="0"/>
          </a:p>
        </p:txBody>
      </p:sp>
      <p:sp>
        <p:nvSpPr>
          <p:cNvPr id="10" name="Text 8"/>
          <p:cNvSpPr txBox="1"/>
          <p:nvPr/>
        </p:nvSpPr>
        <p:spPr>
          <a:xfrm>
            <a:off x="502920" y="1828800"/>
            <a:ext cx="11155680" cy="3831336"/>
          </a:xfrm>
          <a:prstGeom prst="rect">
            <a:avLst/>
          </a:prstGeom>
          <a:noFill/>
          <a:ln/>
        </p:spPr>
        <p:txBody>
          <a:bodyPr wrap="square" lIns="0" tIns="0" rIns="0" bIns="0" rtlCol="0" anchor="t"/>
          <a:lstStyle/>
          <a:p>
            <a:pPr algn="l" marL="355600" indent="-355600">
              <a:spcAft>
                <a:spcPts val="2800"/>
              </a:spcAft>
              <a:buSzPct val="100000"/>
              <a:buChar char="•"/>
            </a:pPr>
            <a:r>
              <a:rPr lang="ja-JP" altLang="en-US" sz="2400" b="1" dirty="0">
                <a:solidFill>
                  <a:srgbClr val="0072B2"/>
                </a:solidFill>
                <a:latin typeface="メイリオ" pitchFamily="34" charset="0"/>
                <a:ea typeface="メイリオ" pitchFamily="34" charset="-122"/>
                <a:cs typeface="メイリオ" pitchFamily="34" charset="-120"/>
              </a:rPr>
              <a:t>セファゾリン：</a:t>
            </a:r>
            <a:r>
              <a:rPr lang="ja-JP" altLang="en-US" sz="2400" dirty="0">
                <a:solidFill>
                  <a:srgbClr val="262626"/>
                </a:solidFill>
                <a:latin typeface="メイリオ" pitchFamily="34" charset="0"/>
                <a:ea typeface="メイリオ" pitchFamily="34" charset="-122"/>
                <a:cs typeface="メイリオ" pitchFamily="34" charset="-120"/>
              </a:rPr>
              <a:t>執刀前 60 分以内開始、3〜4 時間ごと、24 時間以内</a:t>
            </a:r>
            <a:endParaRPr lang="ja-JP" sz="2400" dirty="0"/>
          </a:p>
          <a:p>
            <a:pPr algn="l" marL="355600" indent="-355600">
              <a:spcAft>
                <a:spcPts val="2800"/>
              </a:spcAft>
              <a:buSzPct val="100000"/>
              <a:buChar char="•"/>
            </a:pPr>
            <a:r>
              <a:rPr lang="ja-JP" altLang="en-US" sz="2400" b="1" dirty="0">
                <a:solidFill>
                  <a:srgbClr val="0072B2"/>
                </a:solidFill>
                <a:latin typeface="メイリオ" pitchFamily="34" charset="0"/>
                <a:ea typeface="メイリオ" pitchFamily="34" charset="-122"/>
                <a:cs typeface="メイリオ" pitchFamily="34" charset="-120"/>
              </a:rPr>
              <a:t>抗菌薬</a:t>
            </a:r>
            <a:r>
              <a:rPr lang="ja-JP" altLang="en-US" sz="2400" dirty="0">
                <a:solidFill>
                  <a:srgbClr val="262626"/>
                </a:solidFill>
                <a:latin typeface="メイリオ" pitchFamily="34" charset="0"/>
                <a:ea typeface="メイリオ" pitchFamily="34" charset="-122"/>
                <a:cs typeface="メイリオ" pitchFamily="34" charset="-120"/>
              </a:rPr>
              <a:t>は周術期アナフィラキシーの主な原因。投与後 20 分ほど見る</a:t>
            </a:r>
            <a:endParaRPr lang="ja-JP" sz="2400" dirty="0"/>
          </a:p>
          <a:p>
            <a:pPr algn="l" marL="355600" indent="-355600">
              <a:spcAft>
                <a:spcPts val="2800"/>
              </a:spcAft>
              <a:buSzPct val="100000"/>
              <a:buChar char="•"/>
            </a:pPr>
            <a:r>
              <a:rPr lang="ja-JP" altLang="en-US" sz="2400" b="1" dirty="0">
                <a:solidFill>
                  <a:srgbClr val="0072B2"/>
                </a:solidFill>
                <a:latin typeface="メイリオ" pitchFamily="34" charset="0"/>
                <a:ea typeface="メイリオ" pitchFamily="34" charset="-122"/>
                <a:cs typeface="メイリオ" pitchFamily="34" charset="-120"/>
              </a:rPr>
              <a:t>アトロピン 0.5 mg：</a:t>
            </a:r>
            <a:r>
              <a:rPr lang="ja-JP" altLang="en-US" sz="2400" dirty="0">
                <a:solidFill>
                  <a:srgbClr val="262626"/>
                </a:solidFill>
                <a:latin typeface="メイリオ" pitchFamily="34" charset="0"/>
                <a:ea typeface="メイリオ" pitchFamily="34" charset="-122"/>
                <a:cs typeface="メイリオ" pitchFamily="34" charset="-120"/>
              </a:rPr>
              <a:t>少量で逆に徐脈、禁忌を覚える</a:t>
            </a:r>
            <a:endParaRPr lang="ja-JP" sz="2400" dirty="0"/>
          </a:p>
          <a:p>
            <a:pPr algn="l" marL="355600" indent="-355600">
              <a:spcAft>
                <a:spcPts val="2800"/>
              </a:spcAft>
              <a:buSzPct val="100000"/>
              <a:buChar char="•"/>
            </a:pPr>
            <a:r>
              <a:rPr lang="ja-JP" altLang="en-US" sz="2400" b="1" dirty="0">
                <a:solidFill>
                  <a:srgbClr val="0072B2"/>
                </a:solidFill>
                <a:latin typeface="メイリオ" pitchFamily="34" charset="0"/>
                <a:ea typeface="メイリオ" pitchFamily="34" charset="-122"/>
                <a:cs typeface="メイリオ" pitchFamily="34" charset="-120"/>
              </a:rPr>
              <a:t>デキサメタゾン 3.3〜6.6 mg</a:t>
            </a:r>
            <a:r>
              <a:rPr lang="ja-JP" altLang="en-US" sz="2400" dirty="0">
                <a:solidFill>
                  <a:srgbClr val="262626"/>
                </a:solidFill>
                <a:latin typeface="メイリオ" pitchFamily="34" charset="0"/>
                <a:ea typeface="メイリオ" pitchFamily="34" charset="-122"/>
                <a:cs typeface="メイリオ" pitchFamily="34" charset="-120"/>
              </a:rPr>
              <a:t>（海外の 4〜8 mg）を導入時に。適応外</a:t>
            </a:r>
            <a:endParaRPr lang="ja-JP" sz="2400" dirty="0"/>
          </a:p>
          <a:p>
            <a:pPr algn="l" marL="355600" indent="-355600">
              <a:spcAft>
                <a:spcPts val="2800"/>
              </a:spcAft>
              <a:buSzPct val="100000"/>
              <a:buChar char="•"/>
            </a:pPr>
            <a:r>
              <a:rPr lang="ja-JP" altLang="en-US" sz="2400" b="1" dirty="0">
                <a:solidFill>
                  <a:srgbClr val="0072B2"/>
                </a:solidFill>
                <a:latin typeface="メイリオ" pitchFamily="34" charset="0"/>
                <a:ea typeface="メイリオ" pitchFamily="34" charset="-122"/>
                <a:cs typeface="メイリオ" pitchFamily="34" charset="-120"/>
              </a:rPr>
              <a:t>ステロイドカバー：</a:t>
            </a:r>
            <a:r>
              <a:rPr lang="ja-JP" altLang="en-US" sz="2400" dirty="0">
                <a:solidFill>
                  <a:srgbClr val="262626"/>
                </a:solidFill>
                <a:latin typeface="メイリオ" pitchFamily="34" charset="0"/>
                <a:ea typeface="メイリオ" pitchFamily="34" charset="-122"/>
                <a:cs typeface="メイリオ" pitchFamily="34" charset="-120"/>
              </a:rPr>
              <a:t>ヒドロコルチゾン 100 mg、迷ったらカバー</a:t>
            </a:r>
            <a:endParaRPr lang="ja-JP" sz="2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メイリオ"/>
        <a:ea typeface="メイリオ"/>
        <a:cs typeface=""/>
        <a:font script="Jpan" typeface="メイリオ"/>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メイリオ"/>
        <a:ea typeface="メイリオ"/>
        <a:cs typeface=""/>
        <a:font script="Jpan" typeface="メイリオ"/>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3-12 周術期のその他の薬</dc:title>
  <dc:subject/>
  <dc:creator>Anes-lecture</dc:creator>
  <cp:lastModifiedBy>Anes-lecture</cp:lastModifiedBy>
  <cp:revision>1</cp:revision>
  <dcterms:created xsi:type="dcterms:W3CDTF">2026-10-14T00:25:45Z</dcterms:created>
  <dcterms:modified xsi:type="dcterms:W3CDTF">2026-10-14T00:25:45Z</dcterms:modified>
</cp:coreProperties>
</file>