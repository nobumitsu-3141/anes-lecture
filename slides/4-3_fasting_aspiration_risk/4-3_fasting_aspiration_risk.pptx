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絶飲食は「長ければ安全」ではない。清澄水は 2 時間前まで飲めるのが国内外の標準で、長い絶飲食は脱水・不快・インスリン抵抗性を招く。一方で、絶飲食の時間を守っていても胃が空でない患者（緊急、外傷、イレウス、自律神経障害のある糖尿病、陣痛中の妊婦、GLP-1 受容体作動薬）がいる。この講義では、絶飲食の目安、指示の出し方、誤嚥のリスク因子、GLP-1 受容体作動薬、胃エコーでの評価、リスクが高いときの対応を扱う。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JSA 2012: 日本麻酔科学会「術前絶飲食ガイドライン」（2012 年 7 月）は、「清澄水の摂取は年齢を問わず麻酔導入 2 時間前まで安全である（推奨度 A）」とし、母乳は 4 時間前まで、人工乳は 6 時間前まで許容するとしている。牛乳を人工乳と同じ 6 時間とする記載は原文で確認できていないので、表の JSA 列は「人工乳 6 時間」とし、牛乳（人乳以外の乳）の 6 時間は ASA 2017 の値として示す【要確認: JSA 2012 原文 PDF の表で牛乳の扱い】。固形物については推奨時間を示しておらず（理由の原文は要確認）、解説では ASA の基準（軽食 6 時間以上、脂肪・肉 8 時間以上）が参考に引かれる。表の「推奨時間なし」は「固形物に触れていない」という意味ではない。緊急手術の患者と、リスクの高い妊婦（陣痛のある場合、胎児心拍数に異常のある場合）などは適用除外で、患者の状態に合わせて対応する【要確認: JSA 2012 原文で「など」に含まれる適用除外（消化管狭窄、糖尿病などの記載の有無）】。</a:t>
            </a:r>
          </a:p>
          <a:p>
            <a:r>
              <a:rPr lang="ja-JP" altLang="en-US" dirty="0"/>
              <a:t>ASA: 米国麻酔科学会の 2017 年ガイドライン（対象は健康な待機手術患者）は、清澄水 2 時間、母乳 4 時間、人工乳・人乳以外の乳・軽食 6 時間、揚げ物・脂肪の多い食物・肉は 8 時間以上とした。誤嚥リスクが明らかに高くない患者への制酸薬・H2 受容体拮抗薬・消化管運動促進薬のルーチン投与は推奨しない。2023 年の改訂（Joshi 2023）は、健康な成人は炭水化物を含む清澄水を待機手術の 2 時間前まで摂取してよい（単純糖・複合糖のどちらでもよい）とし、小児の清澄水については 1 時間と 2 時間を比べる証拠が不十分として推奨を示さず、誤嚥リスクの低い小児では 2 時間前にできるだけ近い時刻まで許可するよう努めるとした。つまり ASA は小児を 1 時間に短縮していない。</a:t>
            </a:r>
          </a:p>
          <a:p>
            <a:r>
              <a:rPr lang="ja-JP" altLang="en-US" dirty="0"/>
              <a:t>欧州の小児: 欧州麻酔集中治療学会（ESAIC）2022 年の小児絶飲食ガイドライン（Frykholm 2022）は、清澄水を 1 時間前まで、母乳を 3 時間前までに短縮し、術後早期の経口摂取を主な推奨とした。人乳以外の乳と軽い朝食は 4 時間、通常の食事は 6 時間とされる（学会抄録集の二次記載）【要確認: ESAIC 2022 本文の推奨表で、人工乳の時間】。国内の JSA 2012（清澄水 2 時間、母乳 4 時間）とは一致しない。</a:t>
            </a:r>
          </a:p>
          <a:p>
            <a:r>
              <a:rPr lang="ja-JP" altLang="en-US" dirty="0"/>
              <a:t>成人の国際コンセンサス（2026）: 国際・多職種の成人絶食コンセンサス（Rüggeberg 2026）は、固形物 6 時間（脂肪の多い食事は 8 時間以上必要なことがある）、牛乳・乳製品・経腸栄養剤 6 時間とし、清澄水は 2 時間前まで摂るよう勧めた。総量の 1/5 までの牛乳を入れた茶・コーヒーを清澄水とし、炭水化物飲料は独立した推奨にせず、ガム・飴は搬送まで可、施設のプロトコールがあれば 2 時間未満の清澄水（Sip Til Send）も認めてよいとした。これらは JSA 2012 にない運用なので、国内の標準としては教えず、違いとして紹介する。</a:t>
            </a:r>
          </a:p>
          <a:p>
            <a:r>
              <a:rPr lang="ja-JP" altLang="en-US" dirty="0"/>
              <a:t>「清澄水」の定義: 透けて見える液体。水、茶、果肉のない果物ジュース、ミルクなしのコーヒー、炭酸飲料、炭水化物を含む栄養飲料（ASA 2017 の例示）。牛乳入り飲料、果肉入りジュース、濃厚流動食、アルコールは含まない。量ではなく種類で決まる。ESA 2011 と成人の国際コンセンサス 2026 は、総量の約 1/5 までの牛乳を入れた茶・コーヒーも清澄水とする（国内では JSA に従い、牛乳なしを原則とする）。経口補水液（OS-1 など）は清澄水として扱う。国内の ERAS で使われるアルジネードウォーター（1 本 125 mL。炭水化物 18 g/dL で 1 本 22.5 g、アルギニン 2.0 g/dL で 1 本 2.5 g、80 kcal/dL、浸透圧 560〜580 mOsm/L）は、海外の 12.5% マルトデキストリン飲料（等張）とは組成が違う。健常者 10 人の MRI では、500 mL を飲むと 2 時間後も胃に残っていた（Nakamura 2014）。国内の RCT（Morimoto 2019）は手術 2 時間前までに 250 mL までとした。院内で清澄水として扱うか、量と飲み終える時刻を決めておく。</a:t>
            </a:r>
          </a:p>
          <a:p>
            <a:r>
              <a:rPr lang="ja-JP" altLang="en-US" dirty="0"/>
              <a:t>なぜ 2 時間: 清澄水を 2 時間前まで許可しても、胃内容の量・pH は前夜 0 時からの絶飲と差がなく、誤嚥・逆流が増える証拠はない（成人では、水を飲んだ群のほうが胃内容量が少なかった）。小児では口渇・空腹が減り、機嫌よく快適だった。許可した飲水量の多少でも結果は変わらなかった（Cochrane：Brady 2003 成人、2009 小児）。国内の多施設 RCT（Itou 2012、朝一番の手術の低リスク患者 300 例）でも、経口補水液を最大 1,000 mL（前夜 21 時から起床までに 500 mL、当日朝から手術 2 時間前までに 500 mL）飲んだ群の導入直後の胃液量は 15.1 mL で、前夜 21 時からの絶飲食群の 17.5 mL に対して非劣性だった。口渇・空腹が少なく、体内水分の指標もよかった。国内で「清澄水 2 時間・経口補水液」を教える根拠として最も適している。</a:t>
            </a:r>
          </a:p>
          <a:p>
            <a:r>
              <a:rPr lang="ja-JP" altLang="en-US" dirty="0"/>
              <a:t>参考: 日本麻酔科学会「術前絶飲食ガイドライン」（2012） / ASA Practice Guidelines for Preoperative Fasting（Anesthesiology 2017;126:376-393） / Joshi GP, et al. Anesthesiology 2023;138:132-151 / Frykholm P, et al. Eur J Anaesthesiol 2022;39:4-25 / Smith I, et al. Eur J Anaesthesiol 2011;28:556-569（ESA 2011） / Rüggeberg A, et al. Anaesthesia 2026;81:840-851 / Brady M, et al. Cochrane Database Syst Rev 2003;(4):CD004423 / Brady M, et al. Cochrane Database Syst Rev 2009;(4):CD005285 / Itou K, et al. J Anesth 2012;26:20-27 / Nakamura M, et al. Anesth Analg 2014;118:1268-1273 / Morimoto Y, et al. PLoS One 2019;14:e0216525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0 時から絶飲食: 朝一番の手術でなければ、0 時からの絶飲食は 10 時間を超える絶飲になり、脱水、低血糖（小児）、口渇、不安、せん妄のリスクを増やす。「水・お茶は手術 2 時間前まで」を積極的に勧める。手術の順番が遅ければ、朝食（軽食）を許可できることもある（ASA の 6 時間）。</a:t>
            </a:r>
          </a:p>
          <a:p>
            <a:r>
              <a:rPr lang="ja-JP" altLang="en-US" dirty="0"/>
              <a:t>時刻で書く: 「朝食抜き」より「固形物は前日 21 時まで」「水・お茶・OS-1 は当日 6 時まで」のように時刻で書くと、患者も看護師も迷わない。当日の手術開始が遅れたら、水を飲んでよい時刻を更新する。</a:t>
            </a:r>
          </a:p>
          <a:p>
            <a:r>
              <a:rPr lang="ja-JP" altLang="en-US" dirty="0"/>
              <a:t>炭水化物飲料: ERAS（Enhanced Recovery After Surgery：術後回復能力強化）プロトコルでは、12.5% マルトデキストリン主体の飲料を手術 2〜3 時間前に 400 mL（炭水化物 50 g）、多くは前夜にも 800 mL 飲み、インスリン抵抗性と口渇・空腹感を減らす（400 mL・50 g は ERAS の典型量）。国内では 12.5% 飲料が一般的でなく、18% 炭水化物＋アルギニン飲料（アルジネードウォーター）が使われる（組成と量の注意 → S2 の notes）。ASA 2023 も健康成人で 2 時間前までの炭水化物含有清澄水を支持した（単純糖・複合糖のどちらでもよい）【要確認: ASA 2023 本文で量の記載と糖尿病患者の扱い → 冒頭のメモ (2)】。成人の国際コンセンサス 2026 は、炭水化物飲料をほかの清澄水より有益とする根拠は乏しいとして、独立した推奨にしなかった。糖尿病患者では血糖と胃排出への影響を考えて慎重に扱う（糖尿病性胃不全麻痺 → S4）。</a:t>
            </a:r>
          </a:p>
          <a:p>
            <a:r>
              <a:rPr lang="ja-JP" altLang="en-US" dirty="0"/>
              <a:t>内服: 当日の内服薬は少量の水で飲んでよい。清澄水は量より種類が大事で、2 時間前までなら飲む量で胃内容は変わらない（Brady 2003）。2 時間を切ってから内服するときの水の量は、院内の規定に従う。何を飲み、何を止めるかを明記する（→ 4-12〜14）。</a:t>
            </a:r>
          </a:p>
          <a:p>
            <a:r>
              <a:rPr lang="ja-JP" altLang="en-US" dirty="0"/>
              <a:t>小児: 小児では長い絶飲食で不機嫌、脱水、低血糖が起きやすい。清澄水の 1 時間前までの許可は ESAIC 2022 の推奨で、ASA 2023 は推奨を示さず「2 時間に近づける努力」、JSA 2012 は 2 時間。資料を混同せず、当院でどれを採るか決める【要確認: 当院での小児の清澄水の運用】。</a:t>
            </a:r>
          </a:p>
          <a:p>
            <a:r>
              <a:rPr lang="ja-JP" altLang="en-US" dirty="0"/>
              <a:t>ガム: ASA 2023 年改訂は、健康成人がガムを噛んでいても待機手術を延期しないことを提案し（欧州 ESA 2011 も同じ）、ガムは麻酔薬・鎮静薬の投与前に口から出させるとしている。小児のガムについては推奨を示していない。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頻度と重さ: 周術期の肺誤嚥は Warner（1993）の成人全身麻酔 215,488 件の調査で全体 1:3,216、待機手術 1:3,886 に対し緊急手術 1:895 と約 4 倍で、誤嚥による死亡は 1:71,829 だった。誤嚥を疑ったあと 2 時間以内に咳・喘鳴、SpO2 低下、胸部 X 線異常のいずれも出なかった患者には呼吸器の後遺症がなかった（「2 時間ルール」：観察の目安）。英国 NAP4 では、全身麻酔中の重大な気道合併症による死亡・脳障害の原因として誤嚥が最も多く、多くはリスク評価が不十分で、迅速導入をすべき例で行われていないなど、誤嚥への備えが不足していた（Cook 2011）。</a:t>
            </a:r>
          </a:p>
          <a:p>
            <a:r>
              <a:rPr lang="ja-JP" altLang="en-US" dirty="0"/>
              <a:t>外傷と痛み: 受傷前の 2 時間以内に食べていると胃内容が多い。受傷後に長く絶食していても胃内容が残ることがあり、安全な絶食時間は予測できない（Bricker 1989、小児の外傷 110 例：8 時間を超えて絶食した 39 例中 19 例で胃吸引量が 0.4 mL/kg を超えた）。痛み、不安、オピオイドも胃排出を遅らせる。最終摂食から受傷までの時間を聞き、緊急手術では満腹として扱う。</a:t>
            </a:r>
          </a:p>
          <a:p>
            <a:r>
              <a:rPr lang="ja-JP" altLang="en-US" dirty="0"/>
              <a:t>イレウス・腹膜炎: 胃内容が多く、逆流しやすい。導入前に胃管で減圧しても胃が空になる保証はなく、迅速導入が原則。</a:t>
            </a:r>
          </a:p>
          <a:p>
            <a:r>
              <a:rPr lang="ja-JP" altLang="en-US" dirty="0"/>
              <a:t>妊娠: 妊娠中期以降は、プロゲステロンによる下部食道括約筋の弛緩と、子宮による腹圧の上昇で逆流しやすく、全身麻酔では迅速導入が慣例である。ただし陣痛のない満期妊婦では、水 300 mL の胃排出は遅れない（半減期 24±6 分、Wong 2002。肥満妊婦でも同じ、Wong 2007）。リスクが上がるのは陣痛中（分娩中）、オピオイド使用時、緊急帝王切開である。JSA 2012 は陣痛のある妊婦と胎児心拍異常のある妊婦を適用除外としている。ASA 産科麻酔ガイドライン（2016）は、合併症のない陣痛中の妊婦には適量の清澄水を許可し、固形物は避け、待機的帝王切開では清澄水を導入 2 時間前まで許可できるとしている。病的肥満・糖尿病・気道確保困難などのリスク因子がある場合や、手術分娩になる可能性が高い場合（胎児心拍パターンの異常など）は、個別に経口摂取をさらに制限する。欧州 ESA 2011 は待機的帝王切開前に H2 受容体拮抗薬、緊急帝王切開では静注 H2 受容体拮抗薬に加え、全身麻酔なら 0.3 mol/L クエン酸ナトリウム 30 mL を推奨する【要確認: 国内で 0.3 mol/L クエン酸ナトリウムの製剤が入手できるか（院内の薬剤部に確認）と、当院の帝王切開での運用】。</a:t>
            </a:r>
          </a:p>
          <a:p>
            <a:r>
              <a:rPr lang="ja-JP" altLang="en-US" dirty="0"/>
              <a:t>糖尿病: 糖尿病全体では、絶食後の胃液量は非糖尿病と差がない（Perlas 2024、糖尿病 84 例・非糖尿病 96 例）。高リスクなのは自律神経障害のある患者で、絶食後の固形物残留は自律神経障害あり 12%、なし 4.8%、対照 3.5% だった（調整 OR 3.37、Sastre 2024）。長期罹患、自律神経障害（起立性低血圧、便秘・下痢）、胃不全麻痺の症状（早期満腹感、嘔気、嘔吐）を問診で尋ね、あれば胃排出遅延を疑う。</a:t>
            </a:r>
          </a:p>
          <a:p>
            <a:r>
              <a:rPr lang="ja-JP" altLang="en-US" dirty="0"/>
              <a:t>逆流: 症状のある逆流（胸やけ、夜間の逆流）や食道裂孔ヘルニアは、胃内容量よりも「逆流しやすさ」の問題。無症状の逆流だけで迅速導入にはしない。</a:t>
            </a:r>
          </a:p>
          <a:p>
            <a:r>
              <a:rPr lang="ja-JP" altLang="en-US" dirty="0"/>
              <a:t>肥満: 肥満そのものは胃排出を遅らせないという報告が多いが、OSA や逆流の合併が多く、個別に判断する。</a:t>
            </a:r>
          </a:p>
          <a:p>
            <a:r>
              <a:rPr lang="ja-JP" altLang="en-US" dirty="0"/>
              <a:t>参考: Bricker SR, et al. Anaesthesia 1989;44:721-724 / Wong CA, et al. Anesthesiology 2002;96:1395-1400 / Wong CA, et al. Anesth Analg 2007;105:751-755 / ASA Practice Guidelines for Obstetric Anesthesia（Anesthesiology 2016;124:270-300） / Smith I, et al. Eur J Anaesthesiol 2011;28:556-569（ESA 2011） / Perlas A, et al. Anesthesiology 2024;140:648-656 / Sastre JA, et al. Anesth Analg 2024;139:1300-1308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製剤: 国内で使われる主な製剤は、週 1 回皮下注のオゼンピック（セマグルチド、2 型糖尿病）、ウゴービ（セマグルチド高用量、肥満症、2024 年 2 月発売）、トルリシティ（デュラグルチド）、マンジャロ（チルゼパチド、持続性 GIP/GLP-1 受容体作動薬）、ゼップバウンド（チルゼパチド、肥満症、2024 年 12 月承認、2025 年 4 月発売）、1 日 1 回のリベルサス（経口セマグルチド）、ビクトーザ（リラグルチド。2026 年後半に販売終了予定と案内されている）、リキスミア（リキシセナチド）、インスリンとの配合剤（ゾルトファイ、ソリクア）【要確認: リキスミア・ゾルトファイ・ソリクアの現在の販売状況（PMDA の医療用医薬品情報、各社の販売中止のお知らせ）。リキスミアが販売中止なら一覧から外す】。海外資料の消失半減期は、セマグルチド皮下注約 1 週、経口セマグルチドも約 1 週、デュラグルチド約 90 時間〜5 日（健常者の単回投与で約 90 時間、2 型糖尿病患者の母集団解析で約 5 日。どちらにしても週 1 回製剤）、チルゼパチド約 5 日、リラグルチド約 13 時間（Goudra 2025）。経口セマグルチドは 1 日 1 回製剤だが半減期は約 1 週なので、「1 日 1 回は当日休薬」の規則を機械的に当てはめない。</a:t>
            </a:r>
          </a:p>
          <a:p>
            <a:r>
              <a:rPr lang="ja-JP" altLang="en-US" dirty="0"/>
              <a:t>残胃: 上部消化管内視鏡 404 例で、30 日以内にセマグルチドを使った群は胃内容残留が 24.2%、非使用群は 5.1% だった（Silveira 2023）。週 1 回製剤の使用者 62 例の術前胃エコーでは、残胃（固形物、濃い液体、または清澄液 1.5 mL/kg 超）が 56% で、非使用者の 19% より多かった（Sen 2024）。休薬の効果は報告で一致しない。Sen 2024 では休薬期間の長さと残胃に関連がなく（調整 OR 0.86、95%CI 0.65〜1.14）、Silveira 2023 では残留のある群とない群で休薬期間に差がなかった（10.5 日 対 10.2 日）。一方、メタ解析（Elkin 2025）では、少なくとも 1 回分休薬すると残胃が少なかった（5 研究 1,706 例、OR 0.51、95%CI 0.33〜0.81、確実性は非常に低い）。Sen は休薬期間の長さを、Elkin は休薬の有無を見ており、比べているものが違う。残胃が多いことと実際の誤嚥が増えることは別で、同じメタ解析では、適切に絶食しても残胃は増えた（18 研究、OR 5.96、95%CI 3.96〜8.98）が、誤嚥との関連はなかった（9 研究、OR 1.04、95%CI 0.87〜1.25。いずれも確実性は低い）。「GLP-1 なら一律に中止・延期」とも、「誤嚥は増えないから何もしなくてよい」とも教えない。</a:t>
            </a:r>
          </a:p>
          <a:p>
            <a:r>
              <a:rPr lang="ja-JP" altLang="en-US" dirty="0"/>
              <a:t>国内の添付文書: 2025 年（7 月）、セマグルチド・チルゼパチド・リキシセナチドの重大な副作用に腸閉塞（イレウス）が追記され、腹部手術・イレウスの既往のある患者への注意も加わった（リラグルチド、エキセナチド、デュラグルチドなどには以前から記載がある。最初は 2012 年の PMDA 医薬品・医療機器等安全性情報 No.291。Matsuo 2026）。2026 年 5〜6 月には、オゼンピックとリベルサスの「特定の背景を有する患者に関する注意」（9.1 合併症・既往歴等のある患者）に「全身麻酔又は深い鎮静下の患者」（通常の術前絶食の後にも胃内容物の残留が観察され、誤嚥の報告がある）が追記された（各社の改訂のお知らせ。確認は検索スニペットの水準）。on-slide は対象をセマグルチド製剤に限って書いた【要確認: PMDA の電子添文で、オゼンピック 9.1.5・リベルサス 9.1.6 の条文の文言と、ウゴービ・マンジャロ・ゼップバウンド・トルリシティへの同様の追記の有無】。</a:t>
            </a:r>
          </a:p>
          <a:p>
            <a:r>
              <a:rPr lang="ja-JP" altLang="en-US" dirty="0"/>
              <a:t>ASA 2023: 米国麻酔科学会は 2023 年 6 月に暫定ガイダンスを出し、適応・用量によらず、1 日 1 回製剤は手術当日、週 1 回製剤は手術 1 週間前の休薬を「検討する（consider holding）」とし、当日に強い嘔気・嘔吐・腹部膨満・腹痛があれば待機手術の延期を検討、症状がなく休薬していなければ「満腹」として対処するか胃エコーで評価する、とした（根拠は乏しく、数件の症例報告に限られる、と ASA 自身が述べている：evidence is sparse, limited only to several case reports）。緊急・準緊急では満腹として扱う。</a:t>
            </a:r>
          </a:p>
          <a:p>
            <a:r>
              <a:rPr lang="ja-JP" altLang="en-US" dirty="0"/>
              <a:t>多学会 2024: 2024 年 10 月の多学会ガイダンス（米国消化器病学会、米国代謝・肥満外科学会、ASA など）は、リスク因子のない患者では続けてよいとし、リスク因子（用量の漸増期、高用量、週 1 回製剤、消化器症状、ほかの胃排出遅延の病気）がある患者では処方医を含めた共同意思決定で休薬を決め（期間は ASA 2023 と同じ）、胃排出遅延が懸念される患者には術前少なくとも 24 時間の流動食、当日の胃エコー、懸念があれば RSI か中止を共同で決める、とした（原文で確認）。肥満だけを理由に一律に休薬しない。リスク因子の「増量期」について: 胃排出の遅れは使い続けると弱まる（タキフィラキシー）。開始直後と増量期が高リスクで、12 週を超えて使っていれば、ほかに誤嚥リスクのない患者の多くでは通常の絶食でおそらく足りる（van Zuylen 2024 の総説）。</a:t>
            </a:r>
          </a:p>
          <a:p>
            <a:r>
              <a:rPr lang="ja-JP" altLang="en-US" dirty="0"/>
              <a:t>英国・豪州・韓国: 英国の多学会コンセンサス（2025）は、継続したうえで全例のリスク層別化と誤嚥リスクを下げる手技（エリスロマイシン 3 mg/kg を導入 1〜2 時間前、声門上器具ではなく気管チューブ、頭側挙上、胃管）を勧めた。流動食は勧めず、通常の絶飲食指針を守るとし、長い絶食の安全性・有効性のデータはないとした。豪州・NZ（2025）は継続し、全例に 24 時間の清澄流動食（clear fluid diet）のあと通常の 6 時間絶食を推奨し、症状がないことを安全の根拠にできないとした。韓国（2026）もルーチンの中止は推奨せず、24 時間の清澄流動食のあと通常の絶食を「推奨しうる」とし、個別判断と胃エコーを勧める。多学会 2024 の「少なくとも 24 時間の流動食（liquid diet）」は、胃排出遅延が懸念される患者が対象である。24 時間の流動食の対象は資料で違うので、on-slide では「豪州・韓国：使用者全般、多学会：懸念例」とまとめた。</a:t>
            </a:r>
          </a:p>
          <a:p>
            <a:r>
              <a:rPr lang="ja-JP" altLang="en-US" dirty="0"/>
              <a:t>当院の運用: 資料で扱いが違うので、休薬による血糖悪化のリスク、胃エコーができるか、手術の緊急度で決める。離島で胃エコーができるなら、「続けて、前日から清澄流動食、当日に症状の確認と胃エコー、満腹なら RSI か延期」が現実的な選択肢になる。</a:t>
            </a:r>
          </a:p>
          <a:p>
            <a:r>
              <a:rPr lang="ja-JP" altLang="en-US" dirty="0"/>
              <a:t>問診: 患者は「やせる注射」「オンライン処方」と認識していて、糖尿病薬として申告しないことがある。薬の名前、用量、増量中か、最後に投与した日を聞く。</a:t>
            </a:r>
          </a:p>
          <a:p>
            <a:r>
              <a:rPr lang="ja-JP" altLang="en-US" dirty="0"/>
              <a:t>参考: ASA Consensus-Based Guidance（2023 年 6 月 29 日） / Kindel TL, et al. Surg Endosc 2025;39:180-183（同内容が Clin Gastroenterol Hepatol、Surg Obes Relat Dis にも） / El-Boghdadly K, et al. Anaesthesia 2025;80:412-424 / Hocking SL, et al. Anaesth Intensive Care 2025;53:300-306 / Bang YJ, et al. Korean J Anesthesiol 2026;79:466-487 / Silveira SQ, et al. J Clin Anesth 2023;87:111091 / Sen S, et al. JAMA Surg 2024;159:660-667 / Elkin J, et al. Anaesthesia 2025;80:846-858 / van Zuylen ML, et al. Br J Anaesth 2024;132:644-648 / Goudra B, et al. Pharmaceuticals (Basel) 2025;18:4 / Barrington P, et al. Diabetes Obes Metab 2011;13:434-438 / Geiser JS, et al. Clin Pharmacokinet 2016;55:625-634 / Matsuo Y, et al. J Evid Based Med 2026;19:e70164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やり方: コンベックスプローブを心窩部に縦（矢状断）に当て、肝左葉の下、膵の前、大動脈（または上腸間膜動脈）の前にある前庭部を見つける。仰臥位で見てから右側臥位にすると、胃内容が前庭部に集まり、評価しやすくなる。前庭部の断面積は、蠕動の合間に、外膜（漿膜）を含めてトレースする（Perlas 2013 は漿膜を含む断面積）。</a:t>
            </a:r>
          </a:p>
          <a:p>
            <a:r>
              <a:rPr lang="ja-JP" altLang="en-US" dirty="0"/>
              <a:t>Grade: Perlas の 3 段階（2011）。Grade 0: 仰臥位でも右側臥位でも前庭部が空（虚脱）。Grade 1: 右側臥位だけで少量の液体が見える。Grade 2: 両方の体位で液体が見え、前庭部が明らかに広がっている。絶食した手術患者 200 例では Grade 0 が 86 例、1 が 107 例、2 が 7 例で、推定胃液量は Grade 1 が 16±36 mL（絶食時の正常範囲）、Grade 2 が 180±83 mL だった。Grade 1 だけで中止しない。固形物は不均一な高エコーの内容物として見え、量にかかわらず「満腹」として扱う。</a:t>
            </a:r>
          </a:p>
          <a:p>
            <a:r>
              <a:rPr lang="ja-JP" altLang="en-US" dirty="0"/>
              <a:t>量の推定: 右側臥位の前庭部断面積（cm²。前後径 × 頭尾径 × π/4、または漿膜を含めてトレース）と年齢から、胃内容量（mL）＝ 27.0 ＋ 14.6 × 断面積 − 1.28 × 年齢（Perlas 2013。適用範囲 0〜500 mL、非妊婦の成人、BMI 40 未満。BMI 35 超でも妥当性が確認されている）。絶食した待機手術患者の基礎胃液量は平均 0.4〜0.6 mL/kg、上限がおよそ 1.5 mL/kg（95 パーセンタイル）なので、推定量 1.5 mL/kg 以上、または固形物があれば「満腹」と判定する（Van de Putte &amp; Perlas 2014）。1.5 mL/kg に相当する断面積の例: 50 歳 60 kg で 8.7 cm²、70 歳 70 kg で 11.5 cm²（韓国麻酔科学会 2026 の表）。1.5 mL/kg は保守的な閾値である。個別患者データのメタ解析（12 研究、1,203 例）では、絶食時の 95 パーセンタイルは 2.3 mL/kg、右側臥位の断面積は 9.9 cm²（約 10 cm²）で、Grade 0〜1 なら 98% の確率で断面積が 95 パーセンタイル未満だった（Perlas 2024、Anesthesiology 140:991）。絶食した非糖尿病患者でも 11.5% が 1.5 mL/kg を超える（Perlas 2024、Anesthesiology 140:648）。Grade 0〜1 で固形物がなければ強い安心材料で、数値だけで中止しない。</a:t>
            </a:r>
          </a:p>
          <a:p>
            <a:r>
              <a:rPr lang="ja-JP" altLang="en-US" dirty="0"/>
              <a:t>限界: 検者の習熟が要る。胃の手術後、巨大な食道裂孔ヘルニア、高度肥満では見えにくい。判定できない・描出できないことを「空」と解釈しない（韓国麻酔科学会 2026）。推定式は妊婦や右側臥位以外の体位には使えない。</a:t>
            </a:r>
          </a:p>
          <a:p>
            <a:r>
              <a:rPr lang="ja-JP" altLang="en-US" dirty="0"/>
              <a:t>使いどころ: GLP-1 受容体作動薬、緊急手術で絶飲食の時刻がはっきりしない、糖尿病、迷ったとき。結果で「通常の導入」「迅速導入」「延期」を選ぶ（→ S7）。</a:t>
            </a:r>
          </a:p>
          <a:p>
            <a:r>
              <a:rPr lang="ja-JP" altLang="en-US" dirty="0"/>
              <a:t>参考: Perlas A, et al. Anesth Analg 2011;113:93-97 / Perlas A, et al. Anesth Analg 2013;116:357-363 / Van de Putte P, Perlas A. Br J Anaesth 2014;113:12-22 / Kruisselbrink R, et al. Br J Anaesth 2017;118:77-82 / Perlas A, et al. Anesthesiology 2024;140:991-1001 / Perlas A, et al. Anesthesiology 2024;140:648-656 / Bang YJ, et al. Korean J Anesthesiol 2026;79:466-487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待機手術: 絶飲食が守れていない、GLP-1 受容体作動薬で消化器症状がある、胃エコーで満腹、のときは延期して条件を整える。延期できない事情があれば、区域麻酔（意識と気道反射を保つ）が選べるか考える。ただし区域麻酔中の鎮静で気道反射を落とすと意味がなくなる。</a:t>
            </a:r>
          </a:p>
          <a:p>
            <a:r>
              <a:rPr lang="ja-JP" altLang="en-US" dirty="0"/>
              <a:t>緊急手術: 迅速導入（RSI: rapid sequence induction）。十分な前酸素化（呼気酸素濃度 90% 以上を目安）、頭側を上げた体位、効果の速い筋弛緩薬（ロクロニウム 1.0〜1.2 mg/kg は添付文書の上限 0.9 mg/kg を超える用法で、施設の方針で使う；スキサメトニウム 1〜1.5 mg/kg。→ 下の「筋弛緩薬の用量」）、吸引を手元に置く、マスク換気は最小限（低い圧で）。輪状軟骨圧迫は、RSI 3,472 例のランダム化試験（IRIS 2019）で誤嚥が圧迫群 0.6%、偽手技群 0.5% と差がなく、圧迫なしの非劣性も示されなかった（効果は証明されていないが不要とも言えない）。施設の方針に従い、喉頭展開を妨げるなら緩める・解除する。RSI 自体にも挿管困難、低酸素、術中覚醒、アナフィラキシーのリスクがある。手技の詳細は 7 章。</a:t>
            </a:r>
          </a:p>
          <a:p>
            <a:r>
              <a:rPr lang="ja-JP" altLang="en-US" dirty="0"/>
              <a:t>筋弛緩薬の用量: ロクロニウムの国内添付文書は挿管用量 0.6 mg/kg、上限 0.9 mg/kg で、0.9 mg/kg を挿管用量とするときは注意するよう記載されている（作用時間が延びる）。RSI で 1.2 mg/kg を使うなら、スガマデクス 16 mg/kg の在庫と挿管困難時の計画を確認しておく（1.2 mg/kg の挿管条件はスキサメトニウムと統計的な差がない：Tran 2015、Cochrane）。スキサメトニウム 1〜1.5 mg/kg は、国内添付文書では成人 1 回 10〜60 mg で、筋弛緩が得られなければ適宜増量とされる（60 kg なら 60〜90 mg）。供給が不安定な時期があるので、在庫と施設の方針を確認する。</a:t>
            </a:r>
          </a:p>
          <a:p>
            <a:r>
              <a:rPr lang="ja-JP" altLang="en-US" dirty="0"/>
              <a:t>胃管: イレウス・腸閉塞では導入前に胃管で減圧する。減圧しても胃は空にならないので、迅速導入は省かない。胃管は入れたまま導入するか、抜いて導入するかは施設の方針による。</a:t>
            </a:r>
          </a:p>
          <a:p>
            <a:r>
              <a:rPr lang="ja-JP" altLang="en-US" dirty="0"/>
              <a:t>覚醒抜管: 気道反射が戻ってから抜管する。嘔吐に備えて吸引を用意し、側臥位や頭側挙上も選択肢。</a:t>
            </a:r>
          </a:p>
          <a:p>
            <a:r>
              <a:rPr lang="ja-JP" altLang="en-US" dirty="0"/>
              <a:t>妊婦: 制酸薬（クエン酸ナトリウム経口、H2 受容体拮抗薬静注）を併用する（産科麻酔の講義で扱う）。</a:t>
            </a:r>
          </a:p>
          <a:p>
            <a:r>
              <a:rPr lang="ja-JP" altLang="en-US" dirty="0"/>
              <a:t>薬で下げる: 明らかなリスクのない患者には、消化管運動促進薬・H2 受容体拮抗薬・PPI・制酸薬をルーチンで使わない（ASA 2017）。誤嚥リスクの高い患者では考慮してよい（韓国麻酔科学会 2026）。制酸薬は非粒子性のもの（クエン酸ナトリウムなど）に限る。英国 2025 は GLP-1 受容体作動薬の患者でエリスロマイシン 3 mg/kg を導入 1〜2 時間前に投与する選択肢を挙げている。</a:t>
            </a:r>
          </a:p>
          <a:p>
            <a:r>
              <a:rPr lang="ja-JP" altLang="en-US" dirty="0"/>
              <a:t>迷ったら: 胃内容がわからないときは「満腹」として扱う。誤嚥が起きてからできることは限られる（吸引、気管挿管、酸素化、必要なら気管支鏡。ステロイドや予防的抗菌薬はルーチンには使わない。予防的抗菌薬は死亡率を改善せず（Dragan 2018、急性誤嚥性肺臓炎 200 例の後ろ向きコホート）、ステロイドも死亡率を改善しなかった（Wolfe 1977、43 例）。どちらも観察研究）。誤嚥を疑ったら 2 時間は咳・喘鳴、SpO2、胸部 X 線を観察する（Warner 1993）。</a:t>
            </a:r>
          </a:p>
          <a:p>
            <a:r>
              <a:rPr lang="ja-JP" altLang="en-US" dirty="0"/>
              <a:t>参考: Tran DT, et al. Cochrane Database Syst Rev 2015;(10):CD002788 / Dragan V, et al. Clin Infect Dis 2018;67:513-518 / Wolfe JE, et al. Am J Med 1977;63:719-722 / El-Boghdadly K, et al. Anaesthesia 2025;80:412-424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分）。絶飲食の目安は清澄水 2 時間、母乳 4 時間、人工乳・牛乳 6 時間で（牛乳の 6 時間は ASA 2017 の値。JSA 2012 の記載は要確認 → 冒頭のメモ (1)）、固形物は ASA の 6〜8 時間を目安にする。長い絶飲食は害があるので、「0 時から絶飲食」ではなく時刻で指示し、水を飲むよう勧める。時間を守っても胃が空でない患者（緊急、外傷、イレウス、自律神経障害のある糖尿病、陣痛中の妊婦、GLP-1 受容体作動薬）を問診で見つける。GLP-1 受容体作動薬は薬の名前、用量、最後の投与日を聞き、消化器症状があれば待機手術は延期を検討し、緊急なら満腹として扱う。症状がなくても安全とは限らない。迷ったら胃エコーで前庭部を見て、満腹なら待機手術は延期、緊急なら迅速導入にする。次は 4-4（術前検査の選び方）。</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術前絶飲食と誤嚥リスク</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4-3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絶飲食の目安</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日本麻酔科学会「術前絶飲食ガイドライン」 / ASA Task Force. Anesthesiology 2017;126:376-393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Joshi GP, et al. Anesthesiology 2023;138:132-151</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4572000"/>
                <a:gridCol w="3108960"/>
                <a:gridCol w="3474720"/>
              </a:tblGrid>
              <a:tr h="521208">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内容</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JSA 2012</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ASA 2017・2023</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362456">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清澄水（水、お茶、</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果肉のないジュース、</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経口補水液）</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2 時間前まで</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2 時間前まで</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母乳</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4 時間</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4 時間</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人工乳・牛乳</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人工乳 6 時間</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6 時間</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軽い食事（トースト、おかゆ）</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推奨時間なし</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6 時間</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脂肪の多い食事、肉</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推奨時間なし</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8 時間以上</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指示の出し方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Guidelines for Preoperative Fasting. Anesthesiology 2017;126:376-393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Joshi GP, et al. Anesthesiology 2023;138:132-151</a:t>
            </a:r>
            <a:endParaRPr lang="ja-JP" sz="1600" dirty="0"/>
          </a:p>
        </p:txBody>
      </p:sp>
      <p:sp>
        <p:nvSpPr>
          <p:cNvPr id="11" name="Text 9"/>
          <p:cNvSpPr txBox="1"/>
          <p:nvPr/>
        </p:nvSpPr>
        <p:spPr>
          <a:xfrm>
            <a:off x="502920" y="1737360"/>
            <a:ext cx="41148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2" name="Text 10"/>
          <p:cNvSpPr txBox="1"/>
          <p:nvPr/>
        </p:nvSpPr>
        <p:spPr>
          <a:xfrm>
            <a:off x="748894" y="1737360"/>
            <a:ext cx="10909706"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『0 時から絶飲食』は</a:t>
            </a:r>
            <a:r>
              <a:rPr lang="ja-JP" altLang="en-US" sz="2600" b="1" dirty="0">
                <a:solidFill>
                  <a:srgbClr val="D55E00"/>
                </a:solidFill>
                <a:latin typeface="メイリオ" pitchFamily="34" charset="0"/>
                <a:ea typeface="メイリオ" pitchFamily="34" charset="-122"/>
                <a:cs typeface="メイリオ" pitchFamily="34" charset="-120"/>
              </a:rPr>
              <a:t>古い</a:t>
            </a:r>
            <a:r>
              <a:rPr lang="ja-JP" altLang="en-US" sz="2600" dirty="0">
                <a:solidFill>
                  <a:srgbClr val="262626"/>
                </a:solidFill>
                <a:latin typeface="メイリオ" pitchFamily="34" charset="0"/>
                <a:ea typeface="メイリオ" pitchFamily="34" charset="-122"/>
                <a:cs typeface="メイリオ" pitchFamily="34" charset="-120"/>
              </a:rPr>
              <a:t>。清澄水は </a:t>
            </a:r>
            <a:r>
              <a:rPr lang="ja-JP" altLang="en-US" sz="2600" b="1" dirty="0">
                <a:solidFill>
                  <a:srgbClr val="0072B2"/>
                </a:solidFill>
                <a:latin typeface="メイリオ" pitchFamily="34" charset="0"/>
                <a:ea typeface="メイリオ" pitchFamily="34" charset="-122"/>
                <a:cs typeface="メイリオ" pitchFamily="34" charset="-120"/>
              </a:rPr>
              <a:t>2 時間前まで勧める</a:t>
            </a:r>
            <a:endParaRPr lang="ja-JP" sz="2600" dirty="0"/>
          </a:p>
        </p:txBody>
      </p:sp>
      <p:sp>
        <p:nvSpPr>
          <p:cNvPr id="13" name="Text 11"/>
          <p:cNvSpPr txBox="1"/>
          <p:nvPr/>
        </p:nvSpPr>
        <p:spPr>
          <a:xfrm>
            <a:off x="502920" y="2415845"/>
            <a:ext cx="41148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4" name="Text 12"/>
          <p:cNvSpPr txBox="1"/>
          <p:nvPr/>
        </p:nvSpPr>
        <p:spPr>
          <a:xfrm>
            <a:off x="914400" y="2415845"/>
            <a:ext cx="1074420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固形物は『前日 21 時まで』など、</a:t>
            </a:r>
            <a:r>
              <a:rPr lang="ja-JP" altLang="en-US" sz="2600" b="1" dirty="0">
                <a:solidFill>
                  <a:srgbClr val="0072B2"/>
                </a:solidFill>
                <a:latin typeface="メイリオ" pitchFamily="34" charset="0"/>
                <a:ea typeface="メイリオ" pitchFamily="34" charset="-122"/>
                <a:cs typeface="メイリオ" pitchFamily="34" charset="-120"/>
              </a:rPr>
              <a:t>時刻で書く</a:t>
            </a:r>
            <a:endParaRPr lang="ja-JP" sz="2600" dirty="0"/>
          </a:p>
        </p:txBody>
      </p:sp>
      <p:sp>
        <p:nvSpPr>
          <p:cNvPr id="15" name="Text 13"/>
          <p:cNvSpPr txBox="1"/>
          <p:nvPr/>
        </p:nvSpPr>
        <p:spPr>
          <a:xfrm>
            <a:off x="502920" y="3093415"/>
            <a:ext cx="41148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6" name="Text 14"/>
          <p:cNvSpPr txBox="1"/>
          <p:nvPr/>
        </p:nvSpPr>
        <p:spPr>
          <a:xfrm>
            <a:off x="914400" y="3093415"/>
            <a:ext cx="1074420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炭水化物飲料（ERAS）は 2 時間前までに飲み切る</a:t>
            </a:r>
            <a:endParaRPr lang="ja-JP" sz="2600" dirty="0"/>
          </a:p>
        </p:txBody>
      </p:sp>
      <p:sp>
        <p:nvSpPr>
          <p:cNvPr id="17" name="Text 15"/>
          <p:cNvSpPr txBox="1"/>
          <p:nvPr/>
        </p:nvSpPr>
        <p:spPr>
          <a:xfrm>
            <a:off x="502920" y="3771900"/>
            <a:ext cx="41148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18" name="Text 16"/>
          <p:cNvSpPr txBox="1"/>
          <p:nvPr/>
        </p:nvSpPr>
        <p:spPr>
          <a:xfrm>
            <a:off x="914400" y="3771900"/>
            <a:ext cx="1074420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内服は少量の水で。飲む薬・止める薬を明記</a:t>
            </a:r>
            <a:endParaRPr lang="ja-JP" sz="2600" dirty="0"/>
          </a:p>
        </p:txBody>
      </p:sp>
      <p:sp>
        <p:nvSpPr>
          <p:cNvPr id="19" name="Text 17"/>
          <p:cNvSpPr txBox="1"/>
          <p:nvPr/>
        </p:nvSpPr>
        <p:spPr>
          <a:xfrm>
            <a:off x="502920" y="4450385"/>
            <a:ext cx="41148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p:txBody>
      </p:sp>
      <p:sp>
        <p:nvSpPr>
          <p:cNvPr id="20" name="Text 18"/>
          <p:cNvSpPr txBox="1"/>
          <p:nvPr/>
        </p:nvSpPr>
        <p:spPr>
          <a:xfrm>
            <a:off x="914400" y="4450385"/>
            <a:ext cx="10744200" cy="457200"/>
          </a:xfrm>
          <a:prstGeom prst="rect">
            <a:avLst/>
          </a:prstGeom>
          <a:noFill/>
          <a:ln/>
        </p:spPr>
        <p:txBody>
          <a:bodyPr wrap="square" lIns="0" tIns="0" rIns="0" bIns="0" rtlCol="0" anchor="t"/>
          <a:lstStyle/>
          <a:p>
            <a:pPr algn="l" indent="0" marL="0">
              <a:buNone/>
            </a:pPr>
            <a:r>
              <a:rPr lang="ja-JP" altLang="en-US" sz="2600" dirty="0">
                <a:solidFill>
                  <a:srgbClr val="262626"/>
                </a:solidFill>
                <a:latin typeface="メイリオ" pitchFamily="34" charset="0"/>
                <a:ea typeface="メイリオ" pitchFamily="34" charset="-122"/>
                <a:cs typeface="メイリオ" pitchFamily="34" charset="-120"/>
              </a:rPr>
              <a:t>手術が遅れたら、水を飲んでよい</a:t>
            </a:r>
            <a:r>
              <a:rPr lang="ja-JP" altLang="en-US" sz="2600" b="1" dirty="0">
                <a:solidFill>
                  <a:srgbClr val="0072B2"/>
                </a:solidFill>
                <a:latin typeface="メイリオ" pitchFamily="34" charset="0"/>
                <a:ea typeface="メイリオ" pitchFamily="34" charset="-122"/>
                <a:cs typeface="メイリオ" pitchFamily="34" charset="-120"/>
              </a:rPr>
              <a:t>時刻を更新する</a:t>
            </a:r>
            <a:endParaRPr lang="ja-JP" sz="2600" dirty="0"/>
          </a:p>
        </p:txBody>
      </p:sp>
      <p:sp>
        <p:nvSpPr>
          <p:cNvPr id="21" name="Text 19"/>
          <p:cNvSpPr/>
          <p:nvPr/>
        </p:nvSpPr>
        <p:spPr>
          <a:xfrm>
            <a:off x="502920" y="5248656"/>
            <a:ext cx="11183112" cy="640080"/>
          </a:xfrm>
          <a:prstGeom prst="roundRect">
            <a:avLst>
              <a:gd name="adj" fmla="val 14286"/>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長い絶飲食は脱水・低血糖・不機嫌を招き、</a:t>
            </a:r>
            <a:r>
              <a:rPr lang="ja-JP" altLang="en-US" sz="2600" b="1" dirty="0">
                <a:solidFill>
                  <a:srgbClr val="D55E00"/>
                </a:solidFill>
                <a:latin typeface="メイリオ" pitchFamily="34" charset="0"/>
                <a:ea typeface="メイリオ" pitchFamily="34" charset="-122"/>
                <a:cs typeface="メイリオ" pitchFamily="34" charset="-120"/>
              </a:rPr>
              <a:t>安全にはならない</a:t>
            </a:r>
            <a:endParaRPr lang="ja-JP"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胃が空でない患者</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Warner MA, et al. Anesthesiology 1993;78:56-62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Cook TM, et al. Br J Anaesth 2011;106:617-631（NAP4）</a:t>
            </a:r>
            <a:endParaRPr lang="ja-JP" sz="1600" dirty="0"/>
          </a:p>
        </p:txBody>
      </p:sp>
      <p:sp>
        <p:nvSpPr>
          <p:cNvPr id="11" name="Text 9"/>
          <p:cNvSpPr/>
          <p:nvPr/>
        </p:nvSpPr>
        <p:spPr>
          <a:xfrm>
            <a:off x="502920" y="5248656"/>
            <a:ext cx="11183112" cy="640080"/>
          </a:xfrm>
          <a:prstGeom prst="roundRect">
            <a:avLst>
              <a:gd name="adj" fmla="val 14286"/>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『絶飲食の時間を守った』は『胃が空』を</a:t>
            </a:r>
            <a:r>
              <a:rPr lang="ja-JP" altLang="en-US" sz="2600" b="1" dirty="0">
                <a:solidFill>
                  <a:srgbClr val="D55E00"/>
                </a:solidFill>
                <a:latin typeface="メイリオ" pitchFamily="34" charset="0"/>
                <a:ea typeface="メイリオ" pitchFamily="34" charset="-122"/>
                <a:cs typeface="メイリオ" pitchFamily="34" charset="-120"/>
              </a:rPr>
              <a:t>保証しない</a:t>
            </a:r>
            <a:endParaRPr lang="ja-JP" sz="2600" dirty="0"/>
          </a:p>
        </p:txBody>
      </p:sp>
      <p:sp>
        <p:nvSpPr>
          <p:cNvPr id="12" name="Shape 10"/>
          <p:cNvSpPr/>
          <p:nvPr/>
        </p:nvSpPr>
        <p:spPr>
          <a:xfrm>
            <a:off x="502920" y="1691640"/>
            <a:ext cx="5284318" cy="3337560"/>
          </a:xfrm>
          <a:prstGeom prst="roundRect">
            <a:avLst>
              <a:gd name="adj" fmla="val 2192"/>
            </a:avLst>
          </a:prstGeom>
          <a:solidFill>
            <a:srgbClr val="F2F2F2"/>
          </a:solidFill>
          <a:ln/>
        </p:spPr>
      </p:sp>
      <p:sp>
        <p:nvSpPr>
          <p:cNvPr id="13" name="Text 11"/>
          <p:cNvSpPr txBox="1"/>
          <p:nvPr/>
        </p:nvSpPr>
        <p:spPr>
          <a:xfrm>
            <a:off x="676656" y="1764792"/>
            <a:ext cx="4936846"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状況</a:t>
            </a:r>
            <a:endParaRPr lang="ja-JP" sz="2400" dirty="0"/>
          </a:p>
        </p:txBody>
      </p:sp>
      <p:sp>
        <p:nvSpPr>
          <p:cNvPr id="14" name="Text 12"/>
          <p:cNvSpPr txBox="1"/>
          <p:nvPr/>
        </p:nvSpPr>
        <p:spPr>
          <a:xfrm>
            <a:off x="676656" y="221559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914400" y="2215591"/>
            <a:ext cx="46991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緊急手術、絶飲食が守れていない</a:t>
            </a:r>
            <a:endParaRPr lang="ja-JP" sz="2200" dirty="0"/>
          </a:p>
        </p:txBody>
      </p:sp>
      <p:sp>
        <p:nvSpPr>
          <p:cNvPr id="16" name="Text 14"/>
          <p:cNvSpPr txBox="1"/>
          <p:nvPr/>
        </p:nvSpPr>
        <p:spPr>
          <a:xfrm>
            <a:off x="676656" y="2714854"/>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914400" y="2714854"/>
            <a:ext cx="46991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外傷・強い痛み・オピオイド</a:t>
            </a:r>
            <a:endParaRPr lang="ja-JP" sz="2200" dirty="0"/>
          </a:p>
        </p:txBody>
      </p:sp>
      <p:sp>
        <p:nvSpPr>
          <p:cNvPr id="18" name="Text 16"/>
          <p:cNvSpPr txBox="1"/>
          <p:nvPr/>
        </p:nvSpPr>
        <p:spPr>
          <a:xfrm>
            <a:off x="774497" y="3077870"/>
            <a:ext cx="483900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（胃排出が遅れ、予測できない）</a:t>
            </a:r>
            <a:endParaRPr lang="ja-JP" sz="2200" dirty="0"/>
          </a:p>
        </p:txBody>
      </p:sp>
      <p:sp>
        <p:nvSpPr>
          <p:cNvPr id="19" name="Text 17"/>
          <p:cNvSpPr txBox="1"/>
          <p:nvPr/>
        </p:nvSpPr>
        <p:spPr>
          <a:xfrm>
            <a:off x="676656" y="3576218"/>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914400" y="3576218"/>
            <a:ext cx="46991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イレウス、腸閉塞、腹膜炎、腹水</a:t>
            </a:r>
            <a:endParaRPr lang="ja-JP" sz="2200" dirty="0"/>
          </a:p>
        </p:txBody>
      </p:sp>
      <p:sp>
        <p:nvSpPr>
          <p:cNvPr id="21" name="Text 19"/>
          <p:cNvSpPr txBox="1"/>
          <p:nvPr/>
        </p:nvSpPr>
        <p:spPr>
          <a:xfrm>
            <a:off x="676656" y="407456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2" name="Text 20"/>
          <p:cNvSpPr txBox="1"/>
          <p:nvPr/>
        </p:nvSpPr>
        <p:spPr>
          <a:xfrm>
            <a:off x="914400" y="4074566"/>
            <a:ext cx="46991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妊娠（陣痛中、緊急帝王切開）</a:t>
            </a:r>
            <a:endParaRPr lang="ja-JP" sz="2200" dirty="0"/>
          </a:p>
        </p:txBody>
      </p:sp>
      <p:sp>
        <p:nvSpPr>
          <p:cNvPr id="23" name="Text 21"/>
          <p:cNvSpPr txBox="1"/>
          <p:nvPr/>
        </p:nvSpPr>
        <p:spPr>
          <a:xfrm>
            <a:off x="676656" y="4572914"/>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4" name="Text 22"/>
          <p:cNvSpPr txBox="1"/>
          <p:nvPr/>
        </p:nvSpPr>
        <p:spPr>
          <a:xfrm>
            <a:off x="914400" y="4572914"/>
            <a:ext cx="46991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意識障害、嚥下障害</a:t>
            </a:r>
            <a:endParaRPr lang="ja-JP" sz="2200" dirty="0"/>
          </a:p>
        </p:txBody>
      </p:sp>
      <p:sp>
        <p:nvSpPr>
          <p:cNvPr id="25" name="Shape 23"/>
          <p:cNvSpPr/>
          <p:nvPr/>
        </p:nvSpPr>
        <p:spPr>
          <a:xfrm>
            <a:off x="6006694" y="1691640"/>
            <a:ext cx="5678424" cy="3337560"/>
          </a:xfrm>
          <a:prstGeom prst="roundRect">
            <a:avLst>
              <a:gd name="adj" fmla="val 2192"/>
            </a:avLst>
          </a:prstGeom>
          <a:solidFill>
            <a:srgbClr val="F2F2F2"/>
          </a:solidFill>
          <a:ln/>
        </p:spPr>
      </p:sp>
      <p:sp>
        <p:nvSpPr>
          <p:cNvPr id="26" name="Text 24"/>
          <p:cNvSpPr txBox="1"/>
          <p:nvPr/>
        </p:nvSpPr>
        <p:spPr>
          <a:xfrm>
            <a:off x="6180430" y="1764792"/>
            <a:ext cx="5330952"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病気・薬</a:t>
            </a:r>
            <a:endParaRPr lang="ja-JP" sz="2400" dirty="0"/>
          </a:p>
        </p:txBody>
      </p:sp>
      <p:sp>
        <p:nvSpPr>
          <p:cNvPr id="27" name="Text 25"/>
          <p:cNvSpPr txBox="1"/>
          <p:nvPr/>
        </p:nvSpPr>
        <p:spPr>
          <a:xfrm>
            <a:off x="6180430" y="221559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8" name="Text 26"/>
          <p:cNvSpPr txBox="1"/>
          <p:nvPr/>
        </p:nvSpPr>
        <p:spPr>
          <a:xfrm>
            <a:off x="6418174" y="2215591"/>
            <a:ext cx="50932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糖尿病</a:t>
            </a:r>
            <a:endParaRPr lang="ja-JP" sz="2200" dirty="0"/>
          </a:p>
        </p:txBody>
      </p:sp>
      <p:sp>
        <p:nvSpPr>
          <p:cNvPr id="29" name="Text 27"/>
          <p:cNvSpPr txBox="1"/>
          <p:nvPr/>
        </p:nvSpPr>
        <p:spPr>
          <a:xfrm>
            <a:off x="6278270" y="2579522"/>
            <a:ext cx="523311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（胃不全麻痺、自律神経障害）</a:t>
            </a:r>
            <a:endParaRPr lang="ja-JP" sz="2200" dirty="0"/>
          </a:p>
        </p:txBody>
      </p:sp>
      <p:sp>
        <p:nvSpPr>
          <p:cNvPr id="30" name="Text 28"/>
          <p:cNvSpPr txBox="1"/>
          <p:nvPr/>
        </p:nvSpPr>
        <p:spPr>
          <a:xfrm>
            <a:off x="6180430" y="3077870"/>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1" name="Text 29"/>
          <p:cNvSpPr txBox="1"/>
          <p:nvPr/>
        </p:nvSpPr>
        <p:spPr>
          <a:xfrm>
            <a:off x="6418174" y="3077870"/>
            <a:ext cx="50932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症状のある逆流・食道裂孔ヘルニア</a:t>
            </a:r>
            <a:endParaRPr lang="ja-JP" sz="2200" dirty="0"/>
          </a:p>
        </p:txBody>
      </p:sp>
      <p:sp>
        <p:nvSpPr>
          <p:cNvPr id="32" name="Text 30"/>
          <p:cNvSpPr txBox="1"/>
          <p:nvPr/>
        </p:nvSpPr>
        <p:spPr>
          <a:xfrm>
            <a:off x="6180430" y="3576218"/>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3" name="Text 31"/>
          <p:cNvSpPr txBox="1"/>
          <p:nvPr/>
        </p:nvSpPr>
        <p:spPr>
          <a:xfrm>
            <a:off x="6418174" y="3576218"/>
            <a:ext cx="50932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食道アカラシア、胃の手術歴</a:t>
            </a:r>
            <a:endParaRPr lang="ja-JP" sz="2200" dirty="0"/>
          </a:p>
        </p:txBody>
      </p:sp>
      <p:sp>
        <p:nvSpPr>
          <p:cNvPr id="34" name="Text 32"/>
          <p:cNvSpPr txBox="1"/>
          <p:nvPr/>
        </p:nvSpPr>
        <p:spPr>
          <a:xfrm>
            <a:off x="6180430" y="407456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5" name="Text 33"/>
          <p:cNvSpPr txBox="1"/>
          <p:nvPr/>
        </p:nvSpPr>
        <p:spPr>
          <a:xfrm>
            <a:off x="6418174" y="4074566"/>
            <a:ext cx="50932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GLP-1 受容体作動薬（→ 4 ページ）</a:t>
            </a:r>
            <a:endParaRPr lang="ja-JP" sz="2200" dirty="0"/>
          </a:p>
        </p:txBody>
      </p:sp>
      <p:sp>
        <p:nvSpPr>
          <p:cNvPr id="36" name="Text 34"/>
          <p:cNvSpPr txBox="1"/>
          <p:nvPr/>
        </p:nvSpPr>
        <p:spPr>
          <a:xfrm>
            <a:off x="6180430" y="4572914"/>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6418174" y="4572914"/>
            <a:ext cx="50932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高度肥満（単独では議論あり）</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GLP-1 受容体作動薬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GLP-1 RA Guidance（2023） / Kindel TL, et al. Surg Endosc 2025;39:180-183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Sen S, et al. JAMA Surg 2024;159:660-667 / Elkin J, et al. Anaesthesia 2025;80:846-858</a:t>
            </a:r>
            <a:endParaRPr lang="ja-JP" sz="1600" dirty="0"/>
          </a:p>
        </p:txBody>
      </p:sp>
      <p:sp>
        <p:nvSpPr>
          <p:cNvPr id="11" name="Shape 9"/>
          <p:cNvSpPr/>
          <p:nvPr/>
        </p:nvSpPr>
        <p:spPr>
          <a:xfrm>
            <a:off x="502920" y="5139842"/>
            <a:ext cx="11183112" cy="771754"/>
          </a:xfrm>
          <a:prstGeom prst="roundRect">
            <a:avLst>
              <a:gd name="adj" fmla="val 11848"/>
            </a:avLst>
          </a:prstGeom>
          <a:solidFill>
            <a:srgbClr val="FFFFFF"/>
          </a:solidFill>
          <a:ln w="44450">
            <a:solidFill>
              <a:srgbClr val="00A8AA"/>
            </a:solidFill>
            <a:prstDash val="solid"/>
          </a:ln>
        </p:spPr>
      </p:sp>
      <p:sp>
        <p:nvSpPr>
          <p:cNvPr id="12" name="Text 10"/>
          <p:cNvSpPr txBox="1"/>
          <p:nvPr/>
        </p:nvSpPr>
        <p:spPr>
          <a:xfrm>
            <a:off x="640080" y="5191963"/>
            <a:ext cx="1090879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問診で薬の</a:t>
            </a:r>
            <a:r>
              <a:rPr lang="ja-JP" altLang="en-US" sz="2200" b="1" dirty="0">
                <a:solidFill>
                  <a:srgbClr val="0072B2"/>
                </a:solidFill>
                <a:latin typeface="メイリオ" pitchFamily="34" charset="0"/>
                <a:ea typeface="メイリオ" pitchFamily="34" charset="-122"/>
                <a:cs typeface="メイリオ" pitchFamily="34" charset="-120"/>
              </a:rPr>
              <a:t>名前・用量・最後の投与日</a:t>
            </a:r>
            <a:r>
              <a:rPr lang="ja-JP" altLang="en-US" sz="2200" b="1" dirty="0">
                <a:solidFill>
                  <a:srgbClr val="262626"/>
                </a:solidFill>
                <a:latin typeface="メイリオ" pitchFamily="34" charset="0"/>
                <a:ea typeface="メイリオ" pitchFamily="34" charset="-122"/>
                <a:cs typeface="メイリオ" pitchFamily="34" charset="-120"/>
              </a:rPr>
              <a:t>を聞く。</a:t>
            </a:r>
            <a:endParaRPr lang="ja-JP" sz="2200" dirty="0"/>
          </a:p>
        </p:txBody>
      </p:sp>
      <p:sp>
        <p:nvSpPr>
          <p:cNvPr id="13" name="Text 11"/>
          <p:cNvSpPr txBox="1"/>
          <p:nvPr/>
        </p:nvSpPr>
        <p:spPr>
          <a:xfrm>
            <a:off x="640080" y="5499202"/>
            <a:ext cx="1090879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『やせ薬』『週 1 回の注射』と具体的に</a:t>
            </a:r>
            <a:endParaRPr lang="ja-JP" sz="2200" dirty="0"/>
          </a:p>
        </p:txBody>
      </p:sp>
      <p:sp>
        <p:nvSpPr>
          <p:cNvPr id="14" name="Shape 12"/>
          <p:cNvSpPr/>
          <p:nvPr/>
        </p:nvSpPr>
        <p:spPr>
          <a:xfrm>
            <a:off x="502920" y="1664208"/>
            <a:ext cx="5362042" cy="3256178"/>
          </a:xfrm>
          <a:prstGeom prst="roundRect">
            <a:avLst>
              <a:gd name="adj" fmla="val 2247"/>
            </a:avLst>
          </a:prstGeom>
          <a:solidFill>
            <a:srgbClr val="F2F2F2"/>
          </a:solidFill>
          <a:ln/>
        </p:spPr>
      </p:sp>
      <p:sp>
        <p:nvSpPr>
          <p:cNvPr id="15" name="Text 13"/>
          <p:cNvSpPr txBox="1"/>
          <p:nvPr/>
        </p:nvSpPr>
        <p:spPr>
          <a:xfrm>
            <a:off x="677570" y="1737360"/>
            <a:ext cx="5012741"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何が問題か</a:t>
            </a:r>
            <a:endParaRPr lang="ja-JP" sz="2400" dirty="0"/>
          </a:p>
        </p:txBody>
      </p:sp>
      <p:sp>
        <p:nvSpPr>
          <p:cNvPr id="16" name="Text 14"/>
          <p:cNvSpPr txBox="1"/>
          <p:nvPr/>
        </p:nvSpPr>
        <p:spPr>
          <a:xfrm>
            <a:off x="677570" y="2084832"/>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915314" y="2084832"/>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胃の排出を遅らせる。</a:t>
            </a:r>
            <a:endParaRPr lang="ja-JP" sz="2200" dirty="0"/>
          </a:p>
        </p:txBody>
      </p:sp>
      <p:sp>
        <p:nvSpPr>
          <p:cNvPr id="18" name="Text 16"/>
          <p:cNvSpPr txBox="1"/>
          <p:nvPr/>
        </p:nvSpPr>
        <p:spPr>
          <a:xfrm>
            <a:off x="915314" y="2381098"/>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絶飲食を守っても残る</a:t>
            </a:r>
            <a:endParaRPr lang="ja-JP" sz="2200" dirty="0"/>
          </a:p>
        </p:txBody>
      </p:sp>
      <p:sp>
        <p:nvSpPr>
          <p:cNvPr id="19" name="Text 17"/>
          <p:cNvSpPr txBox="1"/>
          <p:nvPr/>
        </p:nvSpPr>
        <p:spPr>
          <a:xfrm>
            <a:off x="677570" y="2677363"/>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915314" y="2677363"/>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胃エコーで残胃 </a:t>
            </a:r>
            <a:r>
              <a:rPr lang="ja-JP" altLang="en-US" sz="2200" b="1" dirty="0">
                <a:solidFill>
                  <a:srgbClr val="D55E00"/>
                </a:solidFill>
                <a:latin typeface="メイリオ" pitchFamily="34" charset="0"/>
                <a:ea typeface="メイリオ" pitchFamily="34" charset="-122"/>
                <a:cs typeface="メイリオ" pitchFamily="34" charset="-120"/>
              </a:rPr>
              <a:t>56% 対 19%</a:t>
            </a:r>
            <a:endParaRPr lang="ja-JP" sz="2200" dirty="0"/>
          </a:p>
        </p:txBody>
      </p:sp>
      <p:sp>
        <p:nvSpPr>
          <p:cNvPr id="21" name="Text 19"/>
          <p:cNvSpPr txBox="1"/>
          <p:nvPr/>
        </p:nvSpPr>
        <p:spPr>
          <a:xfrm>
            <a:off x="775411" y="2973629"/>
            <a:ext cx="491490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（週 1 回製剤）</a:t>
            </a:r>
            <a:endParaRPr lang="ja-JP" sz="2200" dirty="0"/>
          </a:p>
        </p:txBody>
      </p:sp>
      <p:sp>
        <p:nvSpPr>
          <p:cNvPr id="22" name="Text 20"/>
          <p:cNvSpPr txBox="1"/>
          <p:nvPr/>
        </p:nvSpPr>
        <p:spPr>
          <a:xfrm>
            <a:off x="677570" y="3269894"/>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3" name="Text 21"/>
          <p:cNvSpPr txBox="1"/>
          <p:nvPr/>
        </p:nvSpPr>
        <p:spPr>
          <a:xfrm>
            <a:off x="915314" y="3269894"/>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誤嚥の増加はメタ解析で示されず</a:t>
            </a:r>
            <a:endParaRPr lang="ja-JP" sz="2200" dirty="0"/>
          </a:p>
        </p:txBody>
      </p:sp>
      <p:sp>
        <p:nvSpPr>
          <p:cNvPr id="24" name="Text 22"/>
          <p:cNvSpPr txBox="1"/>
          <p:nvPr/>
        </p:nvSpPr>
        <p:spPr>
          <a:xfrm>
            <a:off x="677570" y="356524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5" name="Text 23"/>
          <p:cNvSpPr txBox="1"/>
          <p:nvPr/>
        </p:nvSpPr>
        <p:spPr>
          <a:xfrm>
            <a:off x="915314" y="3565246"/>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休薬の効果は報告で一致しない</a:t>
            </a:r>
            <a:endParaRPr lang="ja-JP" sz="2200" dirty="0"/>
          </a:p>
        </p:txBody>
      </p:sp>
      <p:sp>
        <p:nvSpPr>
          <p:cNvPr id="26" name="Text 24"/>
          <p:cNvSpPr txBox="1"/>
          <p:nvPr/>
        </p:nvSpPr>
        <p:spPr>
          <a:xfrm>
            <a:off x="677570" y="386151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915314" y="3861511"/>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糖尿病だけでなく肥満症でも処方</a:t>
            </a:r>
            <a:endParaRPr lang="ja-JP" sz="2200" dirty="0"/>
          </a:p>
        </p:txBody>
      </p:sp>
      <p:sp>
        <p:nvSpPr>
          <p:cNvPr id="28" name="Text 26"/>
          <p:cNvSpPr txBox="1"/>
          <p:nvPr/>
        </p:nvSpPr>
        <p:spPr>
          <a:xfrm>
            <a:off x="677570" y="4157777"/>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915314" y="4157777"/>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セマグルチド添付文書（2026）：</a:t>
            </a:r>
            <a:endParaRPr lang="ja-JP" sz="2200" dirty="0"/>
          </a:p>
        </p:txBody>
      </p:sp>
      <p:sp>
        <p:nvSpPr>
          <p:cNvPr id="30" name="Text 28"/>
          <p:cNvSpPr txBox="1"/>
          <p:nvPr/>
        </p:nvSpPr>
        <p:spPr>
          <a:xfrm>
            <a:off x="915314" y="4454042"/>
            <a:ext cx="4774997"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全身麻酔・深い鎮静下に注意</a:t>
            </a:r>
            <a:endParaRPr lang="ja-JP" sz="2200" dirty="0"/>
          </a:p>
        </p:txBody>
      </p:sp>
      <p:sp>
        <p:nvSpPr>
          <p:cNvPr id="31" name="Shape 29"/>
          <p:cNvSpPr/>
          <p:nvPr/>
        </p:nvSpPr>
        <p:spPr>
          <a:xfrm>
            <a:off x="6084418" y="1664208"/>
            <a:ext cx="5600700" cy="3256178"/>
          </a:xfrm>
          <a:prstGeom prst="roundRect">
            <a:avLst>
              <a:gd name="adj" fmla="val 2247"/>
            </a:avLst>
          </a:prstGeom>
          <a:solidFill>
            <a:srgbClr val="F2F2F2"/>
          </a:solidFill>
          <a:ln/>
        </p:spPr>
      </p:sp>
      <p:sp>
        <p:nvSpPr>
          <p:cNvPr id="32" name="Text 30"/>
          <p:cNvSpPr txBox="1"/>
          <p:nvPr/>
        </p:nvSpPr>
        <p:spPr>
          <a:xfrm>
            <a:off x="6259068" y="1737360"/>
            <a:ext cx="5251399"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どう扱うか（資料で違う）</a:t>
            </a:r>
            <a:endParaRPr lang="ja-JP" sz="2400" dirty="0"/>
          </a:p>
        </p:txBody>
      </p:sp>
      <p:sp>
        <p:nvSpPr>
          <p:cNvPr id="33" name="Text 31"/>
          <p:cNvSpPr txBox="1"/>
          <p:nvPr/>
        </p:nvSpPr>
        <p:spPr>
          <a:xfrm>
            <a:off x="6259068" y="2084832"/>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6496812" y="2084832"/>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ASA 2023：週 1 回は 1 週前、</a:t>
            </a:r>
            <a:endParaRPr lang="ja-JP" sz="2200" dirty="0"/>
          </a:p>
        </p:txBody>
      </p:sp>
      <p:sp>
        <p:nvSpPr>
          <p:cNvPr id="35" name="Text 33"/>
          <p:cNvSpPr txBox="1"/>
          <p:nvPr/>
        </p:nvSpPr>
        <p:spPr>
          <a:xfrm>
            <a:off x="6496812" y="2381098"/>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日 1 回は当日休薬を検討</a:t>
            </a:r>
            <a:endParaRPr lang="ja-JP" sz="2200" dirty="0"/>
          </a:p>
        </p:txBody>
      </p:sp>
      <p:sp>
        <p:nvSpPr>
          <p:cNvPr id="36" name="Text 34"/>
          <p:cNvSpPr txBox="1"/>
          <p:nvPr/>
        </p:nvSpPr>
        <p:spPr>
          <a:xfrm>
            <a:off x="6259068" y="2677363"/>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6496812" y="2677363"/>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多学会 2024・英・豪：原則続ける</a:t>
            </a:r>
            <a:endParaRPr lang="ja-JP" sz="2200" dirty="0"/>
          </a:p>
        </p:txBody>
      </p:sp>
      <p:sp>
        <p:nvSpPr>
          <p:cNvPr id="38" name="Text 36"/>
          <p:cNvSpPr txBox="1"/>
          <p:nvPr/>
        </p:nvSpPr>
        <p:spPr>
          <a:xfrm>
            <a:off x="6259068" y="2973629"/>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9" name="Text 37"/>
          <p:cNvSpPr txBox="1"/>
          <p:nvPr/>
        </p:nvSpPr>
        <p:spPr>
          <a:xfrm>
            <a:off x="6496812" y="2973629"/>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24 時間の流動食（豪州・韓国：</a:t>
            </a:r>
            <a:endParaRPr lang="ja-JP" sz="2200" dirty="0"/>
          </a:p>
        </p:txBody>
      </p:sp>
      <p:sp>
        <p:nvSpPr>
          <p:cNvPr id="40" name="Text 38"/>
          <p:cNvSpPr txBox="1"/>
          <p:nvPr/>
        </p:nvSpPr>
        <p:spPr>
          <a:xfrm>
            <a:off x="6496812" y="3269894"/>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使用者全般、多学会：懸念例）</a:t>
            </a:r>
            <a:endParaRPr lang="ja-JP" sz="2200" dirty="0"/>
          </a:p>
        </p:txBody>
      </p:sp>
      <p:sp>
        <p:nvSpPr>
          <p:cNvPr id="41" name="Text 39"/>
          <p:cNvSpPr txBox="1"/>
          <p:nvPr/>
        </p:nvSpPr>
        <p:spPr>
          <a:xfrm>
            <a:off x="6259068" y="356524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2" name="Text 40"/>
          <p:cNvSpPr txBox="1"/>
          <p:nvPr/>
        </p:nvSpPr>
        <p:spPr>
          <a:xfrm>
            <a:off x="6496812" y="3565246"/>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症状→延期を検討、緊急は満腹扱い</a:t>
            </a:r>
            <a:endParaRPr lang="ja-JP" sz="2200" dirty="0"/>
          </a:p>
        </p:txBody>
      </p:sp>
      <p:sp>
        <p:nvSpPr>
          <p:cNvPr id="43" name="Text 41"/>
          <p:cNvSpPr txBox="1"/>
          <p:nvPr/>
        </p:nvSpPr>
        <p:spPr>
          <a:xfrm>
            <a:off x="6259068" y="386151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4" name="Text 42"/>
          <p:cNvSpPr txBox="1"/>
          <p:nvPr/>
        </p:nvSpPr>
        <p:spPr>
          <a:xfrm>
            <a:off x="6496812" y="3861511"/>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無症状でも安全とは限らない</a:t>
            </a:r>
            <a:endParaRPr lang="ja-JP" sz="2200" dirty="0"/>
          </a:p>
        </p:txBody>
      </p:sp>
      <p:sp>
        <p:nvSpPr>
          <p:cNvPr id="45" name="Text 43"/>
          <p:cNvSpPr txBox="1"/>
          <p:nvPr/>
        </p:nvSpPr>
        <p:spPr>
          <a:xfrm>
            <a:off x="6259068" y="4157777"/>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6" name="Text 44"/>
          <p:cNvSpPr txBox="1"/>
          <p:nvPr/>
        </p:nvSpPr>
        <p:spPr>
          <a:xfrm>
            <a:off x="6496812" y="4157777"/>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迷ったら胃エコー、</a:t>
            </a:r>
            <a:endParaRPr lang="ja-JP" sz="2200" dirty="0"/>
          </a:p>
        </p:txBody>
      </p:sp>
      <p:sp>
        <p:nvSpPr>
          <p:cNvPr id="47" name="Text 45"/>
          <p:cNvSpPr txBox="1"/>
          <p:nvPr/>
        </p:nvSpPr>
        <p:spPr>
          <a:xfrm>
            <a:off x="6496812" y="4454042"/>
            <a:ext cx="5013655"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満腹なら RSI か延期</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胃エコーで胃内容を見る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Perlas A, et al. Anesth Analg 2011;113:93-97 / Perlas A,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 Analg 2013;116:357-363 / Van de Putte P, Perlas A. Br J Anaesth 2014;113:12-22</a:t>
            </a:r>
            <a:endParaRPr lang="ja-JP" sz="1600" dirty="0"/>
          </a:p>
        </p:txBody>
      </p:sp>
      <p:sp>
        <p:nvSpPr>
          <p:cNvPr id="11" name="Shape 9"/>
          <p:cNvSpPr/>
          <p:nvPr/>
        </p:nvSpPr>
        <p:spPr>
          <a:xfrm>
            <a:off x="502920" y="4983480"/>
            <a:ext cx="11183112" cy="905256"/>
          </a:xfrm>
          <a:prstGeom prst="roundRect">
            <a:avLst>
              <a:gd name="adj" fmla="val 8081"/>
            </a:avLst>
          </a:prstGeom>
          <a:solidFill>
            <a:srgbClr val="F2F2F2"/>
          </a:solidFill>
          <a:ln/>
        </p:spPr>
      </p:sp>
      <p:sp>
        <p:nvSpPr>
          <p:cNvPr id="12" name="Text 10"/>
          <p:cNvSpPr txBox="1"/>
          <p:nvPr/>
        </p:nvSpPr>
        <p:spPr>
          <a:xfrm>
            <a:off x="731520" y="5047488"/>
            <a:ext cx="3657600"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胃内容量（mL）</a:t>
            </a:r>
            <a:endParaRPr lang="ja-JP" sz="2400" dirty="0"/>
          </a:p>
        </p:txBody>
      </p:sp>
      <p:sp>
        <p:nvSpPr>
          <p:cNvPr id="13" name="Text 11"/>
          <p:cNvSpPr txBox="1"/>
          <p:nvPr/>
        </p:nvSpPr>
        <p:spPr>
          <a:xfrm>
            <a:off x="1188720" y="5413248"/>
            <a:ext cx="10405872"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 27.0 ＋ 14.6 × 右側臥位の前庭部断面積（cm²）− 1.28 × 年齢</a:t>
            </a:r>
            <a:endParaRPr lang="ja-JP" sz="2400" dirty="0"/>
          </a:p>
        </p:txBody>
      </p:sp>
      <p:sp>
        <p:nvSpPr>
          <p:cNvPr id="14" name="Text 12"/>
          <p:cNvSpPr txBox="1"/>
          <p:nvPr/>
        </p:nvSpPr>
        <p:spPr>
          <a:xfrm>
            <a:off x="6720840" y="1691640"/>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6976872" y="1691640"/>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コンベックス、心窩部で矢状断。</a:t>
            </a:r>
            <a:endParaRPr lang="ja-JP" sz="2200" dirty="0"/>
          </a:p>
        </p:txBody>
      </p:sp>
      <p:sp>
        <p:nvSpPr>
          <p:cNvPr id="16" name="Text 14"/>
          <p:cNvSpPr txBox="1"/>
          <p:nvPr/>
        </p:nvSpPr>
        <p:spPr>
          <a:xfrm>
            <a:off x="6976872" y="2027225"/>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肝左葉・膵・大動脈が目印</a:t>
            </a:r>
            <a:endParaRPr lang="ja-JP" sz="2200" dirty="0"/>
          </a:p>
        </p:txBody>
      </p:sp>
      <p:sp>
        <p:nvSpPr>
          <p:cNvPr id="17" name="Text 15"/>
          <p:cNvSpPr txBox="1"/>
          <p:nvPr/>
        </p:nvSpPr>
        <p:spPr>
          <a:xfrm>
            <a:off x="6720840" y="2471623"/>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6976872" y="2471623"/>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仰臥位と右側臥位で前庭部を見る</a:t>
            </a:r>
            <a:endParaRPr lang="ja-JP" sz="2200" dirty="0"/>
          </a:p>
        </p:txBody>
      </p:sp>
      <p:sp>
        <p:nvSpPr>
          <p:cNvPr id="19" name="Text 17"/>
          <p:cNvSpPr txBox="1"/>
          <p:nvPr/>
        </p:nvSpPr>
        <p:spPr>
          <a:xfrm>
            <a:off x="6720840" y="291693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6976872" y="2916936"/>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Grade 0：両方で空、</a:t>
            </a:r>
            <a:endParaRPr lang="ja-JP" sz="2200" dirty="0"/>
          </a:p>
        </p:txBody>
      </p:sp>
      <p:sp>
        <p:nvSpPr>
          <p:cNvPr id="21" name="Text 19"/>
          <p:cNvSpPr txBox="1"/>
          <p:nvPr/>
        </p:nvSpPr>
        <p:spPr>
          <a:xfrm>
            <a:off x="6976872" y="3252521"/>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1：右側臥位だけ液体、</a:t>
            </a:r>
            <a:endParaRPr lang="ja-JP" sz="2200" dirty="0"/>
          </a:p>
        </p:txBody>
      </p:sp>
      <p:sp>
        <p:nvSpPr>
          <p:cNvPr id="22" name="Text 20"/>
          <p:cNvSpPr txBox="1"/>
          <p:nvPr/>
        </p:nvSpPr>
        <p:spPr>
          <a:xfrm>
            <a:off x="6976872" y="3587191"/>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2：両方で液体</a:t>
            </a:r>
            <a:endParaRPr lang="ja-JP" sz="2200" dirty="0"/>
          </a:p>
        </p:txBody>
      </p:sp>
      <p:sp>
        <p:nvSpPr>
          <p:cNvPr id="23" name="Text 21"/>
          <p:cNvSpPr txBox="1"/>
          <p:nvPr/>
        </p:nvSpPr>
        <p:spPr>
          <a:xfrm>
            <a:off x="6720840" y="4032504"/>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4" name="Text 22"/>
          <p:cNvSpPr txBox="1"/>
          <p:nvPr/>
        </p:nvSpPr>
        <p:spPr>
          <a:xfrm>
            <a:off x="6976872" y="4032504"/>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固形物が見える、または</a:t>
            </a:r>
            <a:endParaRPr lang="ja-JP" sz="2200" dirty="0"/>
          </a:p>
        </p:txBody>
      </p:sp>
      <p:sp>
        <p:nvSpPr>
          <p:cNvPr id="25" name="Text 23"/>
          <p:cNvSpPr txBox="1"/>
          <p:nvPr/>
        </p:nvSpPr>
        <p:spPr>
          <a:xfrm>
            <a:off x="6976872" y="4368089"/>
            <a:ext cx="470916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液体 1.5 mL/kg 以上 → </a:t>
            </a:r>
            <a:r>
              <a:rPr lang="ja-JP" altLang="en-US" sz="2200" b="1" dirty="0">
                <a:solidFill>
                  <a:srgbClr val="D55E00"/>
                </a:solidFill>
                <a:latin typeface="メイリオ" pitchFamily="34" charset="0"/>
                <a:ea typeface="メイリオ" pitchFamily="34" charset="-122"/>
                <a:cs typeface="メイリオ" pitchFamily="34" charset="-120"/>
              </a:rPr>
              <a:t>『満腹』</a:t>
            </a:r>
            <a:endParaRPr lang="ja-JP" sz="2200" dirty="0"/>
          </a:p>
        </p:txBody>
      </p:sp>
      <p:sp>
        <p:nvSpPr>
          <p:cNvPr id="26" name="Shape 24"/>
          <p:cNvSpPr/>
          <p:nvPr/>
        </p:nvSpPr>
        <p:spPr>
          <a:xfrm>
            <a:off x="2661818" y="1777594"/>
            <a:ext cx="2540203" cy="2977286"/>
          </a:xfrm>
          <a:custGeom>
            <a:avLst/>
            <a:gdLst/>
            <a:ahLst/>
            <a:cxnLst/>
            <a:rect l="l" t="t" r="r" b="b"/>
            <a:pathLst>
              <a:path w="2540203" h="2977286">
                <a:moveTo>
                  <a:pt x="604418" y="0"/>
                </a:moveTo>
                <a:lnTo>
                  <a:pt x="659282" y="10973"/>
                </a:lnTo>
                <a:lnTo>
                  <a:pt x="714146" y="21031"/>
                </a:lnTo>
                <a:lnTo>
                  <a:pt x="769010" y="30175"/>
                </a:lnTo>
                <a:lnTo>
                  <a:pt x="824789" y="38405"/>
                </a:lnTo>
                <a:lnTo>
                  <a:pt x="879653" y="45720"/>
                </a:lnTo>
                <a:lnTo>
                  <a:pt x="935431" y="52121"/>
                </a:lnTo>
                <a:lnTo>
                  <a:pt x="991210" y="57607"/>
                </a:lnTo>
                <a:lnTo>
                  <a:pt x="1046988" y="61265"/>
                </a:lnTo>
                <a:lnTo>
                  <a:pt x="1102766" y="64922"/>
                </a:lnTo>
                <a:lnTo>
                  <a:pt x="1158545" y="67666"/>
                </a:lnTo>
                <a:lnTo>
                  <a:pt x="1214323" y="68580"/>
                </a:lnTo>
                <a:lnTo>
                  <a:pt x="1270102" y="69494"/>
                </a:lnTo>
                <a:lnTo>
                  <a:pt x="1325880" y="68580"/>
                </a:lnTo>
                <a:lnTo>
                  <a:pt x="1381658" y="67666"/>
                </a:lnTo>
                <a:lnTo>
                  <a:pt x="1437437" y="64922"/>
                </a:lnTo>
                <a:lnTo>
                  <a:pt x="1493215" y="61265"/>
                </a:lnTo>
                <a:lnTo>
                  <a:pt x="1548994" y="57607"/>
                </a:lnTo>
                <a:lnTo>
                  <a:pt x="1604772" y="52121"/>
                </a:lnTo>
                <a:lnTo>
                  <a:pt x="1660550" y="45720"/>
                </a:lnTo>
                <a:lnTo>
                  <a:pt x="1715414" y="38405"/>
                </a:lnTo>
                <a:lnTo>
                  <a:pt x="1771193" y="30175"/>
                </a:lnTo>
                <a:lnTo>
                  <a:pt x="1826057" y="21031"/>
                </a:lnTo>
                <a:lnTo>
                  <a:pt x="1880921" y="10973"/>
                </a:lnTo>
                <a:lnTo>
                  <a:pt x="1935785" y="0"/>
                </a:lnTo>
                <a:lnTo>
                  <a:pt x="2540203" y="2843784"/>
                </a:lnTo>
                <a:lnTo>
                  <a:pt x="2488082" y="2854757"/>
                </a:lnTo>
                <a:lnTo>
                  <a:pt x="2435962" y="2864815"/>
                </a:lnTo>
                <a:lnTo>
                  <a:pt x="2382926" y="2874874"/>
                </a:lnTo>
                <a:lnTo>
                  <a:pt x="2330806" y="2884932"/>
                </a:lnTo>
                <a:lnTo>
                  <a:pt x="2278685" y="2893162"/>
                </a:lnTo>
                <a:lnTo>
                  <a:pt x="2225650" y="2902306"/>
                </a:lnTo>
                <a:lnTo>
                  <a:pt x="2172614" y="2910535"/>
                </a:lnTo>
                <a:lnTo>
                  <a:pt x="2120494" y="2917850"/>
                </a:lnTo>
                <a:lnTo>
                  <a:pt x="2067458" y="2925166"/>
                </a:lnTo>
                <a:lnTo>
                  <a:pt x="2014423" y="2931566"/>
                </a:lnTo>
                <a:lnTo>
                  <a:pt x="1961388" y="2937967"/>
                </a:lnTo>
                <a:lnTo>
                  <a:pt x="1908353" y="2943454"/>
                </a:lnTo>
                <a:lnTo>
                  <a:pt x="1855318" y="2948940"/>
                </a:lnTo>
                <a:lnTo>
                  <a:pt x="1802282" y="2954426"/>
                </a:lnTo>
                <a:lnTo>
                  <a:pt x="1749247" y="2958084"/>
                </a:lnTo>
                <a:lnTo>
                  <a:pt x="1696212" y="2962656"/>
                </a:lnTo>
                <a:lnTo>
                  <a:pt x="1643177" y="2966314"/>
                </a:lnTo>
                <a:lnTo>
                  <a:pt x="1590142" y="2969057"/>
                </a:lnTo>
                <a:lnTo>
                  <a:pt x="1536192" y="2971800"/>
                </a:lnTo>
                <a:lnTo>
                  <a:pt x="1483157" y="2973629"/>
                </a:lnTo>
                <a:lnTo>
                  <a:pt x="1430122" y="2975458"/>
                </a:lnTo>
                <a:lnTo>
                  <a:pt x="1377086" y="2976372"/>
                </a:lnTo>
                <a:lnTo>
                  <a:pt x="1323137" y="2977286"/>
                </a:lnTo>
                <a:lnTo>
                  <a:pt x="1270102" y="2977286"/>
                </a:lnTo>
                <a:lnTo>
                  <a:pt x="1217066" y="2977286"/>
                </a:lnTo>
                <a:lnTo>
                  <a:pt x="1163117" y="2976372"/>
                </a:lnTo>
                <a:lnTo>
                  <a:pt x="1110082" y="2975458"/>
                </a:lnTo>
                <a:lnTo>
                  <a:pt x="1057046" y="2973629"/>
                </a:lnTo>
                <a:lnTo>
                  <a:pt x="1004011" y="2971800"/>
                </a:lnTo>
                <a:lnTo>
                  <a:pt x="950062" y="2969057"/>
                </a:lnTo>
                <a:lnTo>
                  <a:pt x="897026" y="2966314"/>
                </a:lnTo>
                <a:lnTo>
                  <a:pt x="843991" y="2962656"/>
                </a:lnTo>
                <a:lnTo>
                  <a:pt x="790956" y="2958084"/>
                </a:lnTo>
                <a:lnTo>
                  <a:pt x="737921" y="2954426"/>
                </a:lnTo>
                <a:lnTo>
                  <a:pt x="684886" y="2948940"/>
                </a:lnTo>
                <a:lnTo>
                  <a:pt x="631850" y="2943454"/>
                </a:lnTo>
                <a:lnTo>
                  <a:pt x="578815" y="2937967"/>
                </a:lnTo>
                <a:lnTo>
                  <a:pt x="525780" y="2931566"/>
                </a:lnTo>
                <a:lnTo>
                  <a:pt x="472745" y="2925166"/>
                </a:lnTo>
                <a:lnTo>
                  <a:pt x="419710" y="2917850"/>
                </a:lnTo>
                <a:lnTo>
                  <a:pt x="367589" y="2910535"/>
                </a:lnTo>
                <a:lnTo>
                  <a:pt x="314554" y="2902306"/>
                </a:lnTo>
                <a:lnTo>
                  <a:pt x="261518" y="2893162"/>
                </a:lnTo>
                <a:lnTo>
                  <a:pt x="209398" y="2884932"/>
                </a:lnTo>
                <a:lnTo>
                  <a:pt x="157277" y="2874874"/>
                </a:lnTo>
                <a:lnTo>
                  <a:pt x="104242" y="2864815"/>
                </a:lnTo>
                <a:lnTo>
                  <a:pt x="52121" y="2854757"/>
                </a:lnTo>
                <a:lnTo>
                  <a:pt x="0" y="2843784"/>
                </a:lnTo>
                <a:close/>
              </a:path>
            </a:pathLst>
          </a:custGeom>
          <a:solidFill>
            <a:srgbClr val="EDEDED"/>
          </a:solidFill>
          <a:ln w="15875">
            <a:solidFill>
              <a:srgbClr val="A6A6A6"/>
            </a:solidFill>
            <a:prstDash val="solid"/>
          </a:ln>
        </p:spPr>
      </p:sp>
      <p:sp>
        <p:nvSpPr>
          <p:cNvPr id="27" name="Shape 25"/>
          <p:cNvSpPr/>
          <p:nvPr/>
        </p:nvSpPr>
        <p:spPr>
          <a:xfrm>
            <a:off x="3247949" y="1777594"/>
            <a:ext cx="1367942" cy="160934"/>
          </a:xfrm>
          <a:custGeom>
            <a:avLst/>
            <a:gdLst/>
            <a:ahLst/>
            <a:cxnLst/>
            <a:rect l="l" t="t" r="r" b="b"/>
            <a:pathLst>
              <a:path w="1367942" h="160934">
                <a:moveTo>
                  <a:pt x="18288" y="0"/>
                </a:moveTo>
                <a:lnTo>
                  <a:pt x="73152" y="10973"/>
                </a:lnTo>
                <a:lnTo>
                  <a:pt x="128016" y="21031"/>
                </a:lnTo>
                <a:lnTo>
                  <a:pt x="182880" y="30175"/>
                </a:lnTo>
                <a:lnTo>
                  <a:pt x="238658" y="38405"/>
                </a:lnTo>
                <a:lnTo>
                  <a:pt x="293522" y="45720"/>
                </a:lnTo>
                <a:lnTo>
                  <a:pt x="349301" y="52121"/>
                </a:lnTo>
                <a:lnTo>
                  <a:pt x="405079" y="57607"/>
                </a:lnTo>
                <a:lnTo>
                  <a:pt x="460858" y="61265"/>
                </a:lnTo>
                <a:lnTo>
                  <a:pt x="516636" y="64922"/>
                </a:lnTo>
                <a:lnTo>
                  <a:pt x="572414" y="67666"/>
                </a:lnTo>
                <a:lnTo>
                  <a:pt x="628193" y="68580"/>
                </a:lnTo>
                <a:lnTo>
                  <a:pt x="683971" y="69494"/>
                </a:lnTo>
                <a:lnTo>
                  <a:pt x="739750" y="68580"/>
                </a:lnTo>
                <a:lnTo>
                  <a:pt x="795528" y="67666"/>
                </a:lnTo>
                <a:lnTo>
                  <a:pt x="851306" y="64922"/>
                </a:lnTo>
                <a:lnTo>
                  <a:pt x="907085" y="61265"/>
                </a:lnTo>
                <a:lnTo>
                  <a:pt x="962863" y="57607"/>
                </a:lnTo>
                <a:lnTo>
                  <a:pt x="1018642" y="52121"/>
                </a:lnTo>
                <a:lnTo>
                  <a:pt x="1074420" y="45720"/>
                </a:lnTo>
                <a:lnTo>
                  <a:pt x="1129284" y="38405"/>
                </a:lnTo>
                <a:lnTo>
                  <a:pt x="1185062" y="30175"/>
                </a:lnTo>
                <a:lnTo>
                  <a:pt x="1239926" y="21031"/>
                </a:lnTo>
                <a:lnTo>
                  <a:pt x="1294790" y="10973"/>
                </a:lnTo>
                <a:lnTo>
                  <a:pt x="1349654" y="0"/>
                </a:lnTo>
                <a:lnTo>
                  <a:pt x="1367942" y="88697"/>
                </a:lnTo>
                <a:lnTo>
                  <a:pt x="1312164" y="100584"/>
                </a:lnTo>
                <a:lnTo>
                  <a:pt x="1255471" y="110642"/>
                </a:lnTo>
                <a:lnTo>
                  <a:pt x="1198778" y="120701"/>
                </a:lnTo>
                <a:lnTo>
                  <a:pt x="1142086" y="128930"/>
                </a:lnTo>
                <a:lnTo>
                  <a:pt x="1085393" y="136246"/>
                </a:lnTo>
                <a:lnTo>
                  <a:pt x="1027786" y="142646"/>
                </a:lnTo>
                <a:lnTo>
                  <a:pt x="971093" y="148133"/>
                </a:lnTo>
                <a:lnTo>
                  <a:pt x="913486" y="152705"/>
                </a:lnTo>
                <a:lnTo>
                  <a:pt x="855878" y="156362"/>
                </a:lnTo>
                <a:lnTo>
                  <a:pt x="799186" y="159106"/>
                </a:lnTo>
                <a:lnTo>
                  <a:pt x="741578" y="160020"/>
                </a:lnTo>
                <a:lnTo>
                  <a:pt x="683971" y="160934"/>
                </a:lnTo>
                <a:lnTo>
                  <a:pt x="626364" y="160020"/>
                </a:lnTo>
                <a:lnTo>
                  <a:pt x="568757" y="159106"/>
                </a:lnTo>
                <a:lnTo>
                  <a:pt x="512064" y="156362"/>
                </a:lnTo>
                <a:lnTo>
                  <a:pt x="454457" y="152705"/>
                </a:lnTo>
                <a:lnTo>
                  <a:pt x="396850" y="148133"/>
                </a:lnTo>
                <a:lnTo>
                  <a:pt x="340157" y="142646"/>
                </a:lnTo>
                <a:lnTo>
                  <a:pt x="282550" y="136246"/>
                </a:lnTo>
                <a:lnTo>
                  <a:pt x="225857" y="128930"/>
                </a:lnTo>
                <a:lnTo>
                  <a:pt x="169164" y="120701"/>
                </a:lnTo>
                <a:lnTo>
                  <a:pt x="112471" y="110642"/>
                </a:lnTo>
                <a:lnTo>
                  <a:pt x="55778" y="100584"/>
                </a:lnTo>
                <a:lnTo>
                  <a:pt x="0" y="88697"/>
                </a:lnTo>
                <a:close/>
              </a:path>
            </a:pathLst>
          </a:custGeom>
          <a:solidFill>
            <a:srgbClr val="7F7F7F"/>
          </a:solidFill>
          <a:ln w="9525">
            <a:solidFill>
              <a:srgbClr val="7F7F7F"/>
            </a:solidFill>
            <a:prstDash val="solid"/>
          </a:ln>
        </p:spPr>
      </p:sp>
      <p:sp>
        <p:nvSpPr>
          <p:cNvPr id="28" name="Shape 26"/>
          <p:cNvSpPr/>
          <p:nvPr/>
        </p:nvSpPr>
        <p:spPr>
          <a:xfrm>
            <a:off x="3037637" y="1944014"/>
            <a:ext cx="1552651" cy="908914"/>
          </a:xfrm>
          <a:custGeom>
            <a:avLst/>
            <a:gdLst/>
            <a:ahLst/>
            <a:cxnLst/>
            <a:rect l="l" t="t" r="r" b="b"/>
            <a:pathLst>
              <a:path w="1552651" h="908914">
                <a:moveTo>
                  <a:pt x="179222" y="67666"/>
                </a:moveTo>
                <a:lnTo>
                  <a:pt x="322783" y="0"/>
                </a:lnTo>
                <a:lnTo>
                  <a:pt x="407822" y="13716"/>
                </a:lnTo>
                <a:lnTo>
                  <a:pt x="492862" y="25603"/>
                </a:lnTo>
                <a:lnTo>
                  <a:pt x="578815" y="34747"/>
                </a:lnTo>
                <a:lnTo>
                  <a:pt x="664769" y="41148"/>
                </a:lnTo>
                <a:lnTo>
                  <a:pt x="750722" y="46634"/>
                </a:lnTo>
                <a:lnTo>
                  <a:pt x="836676" y="48463"/>
                </a:lnTo>
                <a:lnTo>
                  <a:pt x="922630" y="49378"/>
                </a:lnTo>
                <a:lnTo>
                  <a:pt x="1008583" y="47549"/>
                </a:lnTo>
                <a:lnTo>
                  <a:pt x="1094537" y="42977"/>
                </a:lnTo>
                <a:lnTo>
                  <a:pt x="1333195" y="113386"/>
                </a:lnTo>
                <a:lnTo>
                  <a:pt x="1552651" y="250546"/>
                </a:lnTo>
                <a:lnTo>
                  <a:pt x="1186891" y="506578"/>
                </a:lnTo>
                <a:lnTo>
                  <a:pt x="711403" y="726034"/>
                </a:lnTo>
                <a:lnTo>
                  <a:pt x="254203" y="863194"/>
                </a:lnTo>
                <a:lnTo>
                  <a:pt x="0" y="908914"/>
                </a:lnTo>
                <a:close/>
              </a:path>
            </a:pathLst>
          </a:custGeom>
          <a:solidFill>
            <a:srgbClr val="F7D9C4"/>
          </a:solidFill>
          <a:ln w="19050">
            <a:solidFill>
              <a:srgbClr val="D55E00"/>
            </a:solidFill>
            <a:prstDash val="solid"/>
          </a:ln>
        </p:spPr>
      </p:sp>
      <p:sp>
        <p:nvSpPr>
          <p:cNvPr id="29" name="Shape 27"/>
          <p:cNvSpPr/>
          <p:nvPr/>
        </p:nvSpPr>
        <p:spPr>
          <a:xfrm>
            <a:off x="3502152" y="2999232"/>
            <a:ext cx="1133856" cy="768096"/>
          </a:xfrm>
          <a:custGeom>
            <a:avLst/>
            <a:gdLst/>
            <a:ahLst/>
            <a:cxnLst/>
            <a:rect l="l" t="t" r="r" b="b"/>
            <a:pathLst>
              <a:path w="1133856" h="768096">
                <a:moveTo>
                  <a:pt x="1133856" y="384048"/>
                </a:moveTo>
                <a:lnTo>
                  <a:pt x="1132027" y="417881"/>
                </a:lnTo>
                <a:lnTo>
                  <a:pt x="1125626" y="450799"/>
                </a:lnTo>
                <a:lnTo>
                  <a:pt x="1114654" y="483718"/>
                </a:lnTo>
                <a:lnTo>
                  <a:pt x="1100023" y="515722"/>
                </a:lnTo>
                <a:lnTo>
                  <a:pt x="1080821" y="545897"/>
                </a:lnTo>
                <a:lnTo>
                  <a:pt x="1057961" y="576072"/>
                </a:lnTo>
                <a:lnTo>
                  <a:pt x="1031443" y="604418"/>
                </a:lnTo>
                <a:lnTo>
                  <a:pt x="1001268" y="630936"/>
                </a:lnTo>
                <a:lnTo>
                  <a:pt x="967435" y="655625"/>
                </a:lnTo>
                <a:lnTo>
                  <a:pt x="931774" y="678485"/>
                </a:lnTo>
                <a:lnTo>
                  <a:pt x="892454" y="698602"/>
                </a:lnTo>
                <a:lnTo>
                  <a:pt x="850392" y="716890"/>
                </a:lnTo>
                <a:lnTo>
                  <a:pt x="806501" y="732434"/>
                </a:lnTo>
                <a:lnTo>
                  <a:pt x="760781" y="745236"/>
                </a:lnTo>
                <a:lnTo>
                  <a:pt x="713232" y="755294"/>
                </a:lnTo>
                <a:lnTo>
                  <a:pt x="665683" y="762610"/>
                </a:lnTo>
                <a:lnTo>
                  <a:pt x="616306" y="766267"/>
                </a:lnTo>
                <a:lnTo>
                  <a:pt x="566928" y="768096"/>
                </a:lnTo>
                <a:lnTo>
                  <a:pt x="517550" y="766267"/>
                </a:lnTo>
                <a:lnTo>
                  <a:pt x="468173" y="762610"/>
                </a:lnTo>
                <a:lnTo>
                  <a:pt x="420624" y="755294"/>
                </a:lnTo>
                <a:lnTo>
                  <a:pt x="373075" y="745236"/>
                </a:lnTo>
                <a:lnTo>
                  <a:pt x="327355" y="732434"/>
                </a:lnTo>
                <a:lnTo>
                  <a:pt x="283464" y="716890"/>
                </a:lnTo>
                <a:lnTo>
                  <a:pt x="241402" y="698602"/>
                </a:lnTo>
                <a:lnTo>
                  <a:pt x="202082" y="678485"/>
                </a:lnTo>
                <a:lnTo>
                  <a:pt x="166421" y="655625"/>
                </a:lnTo>
                <a:lnTo>
                  <a:pt x="132588" y="630936"/>
                </a:lnTo>
                <a:lnTo>
                  <a:pt x="102413" y="604418"/>
                </a:lnTo>
                <a:lnTo>
                  <a:pt x="75895" y="576072"/>
                </a:lnTo>
                <a:lnTo>
                  <a:pt x="53035" y="545897"/>
                </a:lnTo>
                <a:lnTo>
                  <a:pt x="33833" y="515722"/>
                </a:lnTo>
                <a:lnTo>
                  <a:pt x="19202" y="483718"/>
                </a:lnTo>
                <a:lnTo>
                  <a:pt x="8230" y="450799"/>
                </a:lnTo>
                <a:lnTo>
                  <a:pt x="1829" y="417881"/>
                </a:lnTo>
                <a:lnTo>
                  <a:pt x="0" y="384048"/>
                </a:lnTo>
                <a:lnTo>
                  <a:pt x="1829" y="350215"/>
                </a:lnTo>
                <a:lnTo>
                  <a:pt x="8230" y="317297"/>
                </a:lnTo>
                <a:lnTo>
                  <a:pt x="19202" y="284378"/>
                </a:lnTo>
                <a:lnTo>
                  <a:pt x="33833" y="252374"/>
                </a:lnTo>
                <a:lnTo>
                  <a:pt x="53035" y="222199"/>
                </a:lnTo>
                <a:lnTo>
                  <a:pt x="75895" y="192024"/>
                </a:lnTo>
                <a:lnTo>
                  <a:pt x="102413" y="163678"/>
                </a:lnTo>
                <a:lnTo>
                  <a:pt x="132588" y="137160"/>
                </a:lnTo>
                <a:lnTo>
                  <a:pt x="166421" y="112471"/>
                </a:lnTo>
                <a:lnTo>
                  <a:pt x="202082" y="89611"/>
                </a:lnTo>
                <a:lnTo>
                  <a:pt x="241402" y="69494"/>
                </a:lnTo>
                <a:lnTo>
                  <a:pt x="283464" y="51206"/>
                </a:lnTo>
                <a:lnTo>
                  <a:pt x="327355" y="35662"/>
                </a:lnTo>
                <a:lnTo>
                  <a:pt x="373075" y="22860"/>
                </a:lnTo>
                <a:lnTo>
                  <a:pt x="420624" y="12802"/>
                </a:lnTo>
                <a:lnTo>
                  <a:pt x="468173" y="5486"/>
                </a:lnTo>
                <a:lnTo>
                  <a:pt x="517550" y="1829"/>
                </a:lnTo>
                <a:lnTo>
                  <a:pt x="566928" y="0"/>
                </a:lnTo>
                <a:lnTo>
                  <a:pt x="616306" y="1829"/>
                </a:lnTo>
                <a:lnTo>
                  <a:pt x="665683" y="5486"/>
                </a:lnTo>
                <a:lnTo>
                  <a:pt x="713232" y="12802"/>
                </a:lnTo>
                <a:lnTo>
                  <a:pt x="760781" y="22860"/>
                </a:lnTo>
                <a:lnTo>
                  <a:pt x="806501" y="35662"/>
                </a:lnTo>
                <a:lnTo>
                  <a:pt x="850392" y="51206"/>
                </a:lnTo>
                <a:lnTo>
                  <a:pt x="892454" y="69494"/>
                </a:lnTo>
                <a:lnTo>
                  <a:pt x="931774" y="89611"/>
                </a:lnTo>
                <a:lnTo>
                  <a:pt x="967435" y="112471"/>
                </a:lnTo>
                <a:lnTo>
                  <a:pt x="1001268" y="137160"/>
                </a:lnTo>
                <a:lnTo>
                  <a:pt x="1031443" y="163678"/>
                </a:lnTo>
                <a:lnTo>
                  <a:pt x="1057961" y="192024"/>
                </a:lnTo>
                <a:lnTo>
                  <a:pt x="1080821" y="222199"/>
                </a:lnTo>
                <a:lnTo>
                  <a:pt x="1100023" y="252374"/>
                </a:lnTo>
                <a:lnTo>
                  <a:pt x="1114654" y="284378"/>
                </a:lnTo>
                <a:lnTo>
                  <a:pt x="1125626" y="317297"/>
                </a:lnTo>
                <a:lnTo>
                  <a:pt x="1132027" y="350215"/>
                </a:lnTo>
                <a:close/>
              </a:path>
            </a:pathLst>
          </a:custGeom>
          <a:solidFill>
            <a:srgbClr val="C9DEF0"/>
          </a:solidFill>
          <a:ln w="28575">
            <a:solidFill>
              <a:srgbClr val="0072B2"/>
            </a:solidFill>
            <a:prstDash val="solid"/>
          </a:ln>
        </p:spPr>
      </p:sp>
      <p:sp>
        <p:nvSpPr>
          <p:cNvPr id="30" name="Shape 28"/>
          <p:cNvSpPr/>
          <p:nvPr/>
        </p:nvSpPr>
        <p:spPr>
          <a:xfrm>
            <a:off x="3639312" y="3136392"/>
            <a:ext cx="859536" cy="493776"/>
          </a:xfrm>
          <a:custGeom>
            <a:avLst/>
            <a:gdLst/>
            <a:ahLst/>
            <a:cxnLst/>
            <a:rect l="l" t="t" r="r" b="b"/>
            <a:pathLst>
              <a:path w="859536" h="493776">
                <a:moveTo>
                  <a:pt x="859536" y="246888"/>
                </a:moveTo>
                <a:lnTo>
                  <a:pt x="857707" y="268834"/>
                </a:lnTo>
                <a:lnTo>
                  <a:pt x="853135" y="289865"/>
                </a:lnTo>
                <a:lnTo>
                  <a:pt x="844906" y="310896"/>
                </a:lnTo>
                <a:lnTo>
                  <a:pt x="833933" y="331013"/>
                </a:lnTo>
                <a:lnTo>
                  <a:pt x="819302" y="351130"/>
                </a:lnTo>
                <a:lnTo>
                  <a:pt x="801929" y="370332"/>
                </a:lnTo>
                <a:lnTo>
                  <a:pt x="781812" y="388620"/>
                </a:lnTo>
                <a:lnTo>
                  <a:pt x="758952" y="405994"/>
                </a:lnTo>
                <a:lnTo>
                  <a:pt x="733349" y="421538"/>
                </a:lnTo>
                <a:lnTo>
                  <a:pt x="705917" y="436169"/>
                </a:lnTo>
                <a:lnTo>
                  <a:pt x="676656" y="448970"/>
                </a:lnTo>
                <a:lnTo>
                  <a:pt x="644652" y="460858"/>
                </a:lnTo>
                <a:lnTo>
                  <a:pt x="611734" y="470916"/>
                </a:lnTo>
                <a:lnTo>
                  <a:pt x="576986" y="479146"/>
                </a:lnTo>
                <a:lnTo>
                  <a:pt x="541325" y="485546"/>
                </a:lnTo>
                <a:lnTo>
                  <a:pt x="504749" y="490118"/>
                </a:lnTo>
                <a:lnTo>
                  <a:pt x="467258" y="492862"/>
                </a:lnTo>
                <a:lnTo>
                  <a:pt x="429768" y="493776"/>
                </a:lnTo>
                <a:lnTo>
                  <a:pt x="392278" y="492862"/>
                </a:lnTo>
                <a:lnTo>
                  <a:pt x="354787" y="490118"/>
                </a:lnTo>
                <a:lnTo>
                  <a:pt x="318211" y="485546"/>
                </a:lnTo>
                <a:lnTo>
                  <a:pt x="282550" y="479146"/>
                </a:lnTo>
                <a:lnTo>
                  <a:pt x="247802" y="470916"/>
                </a:lnTo>
                <a:lnTo>
                  <a:pt x="214884" y="460858"/>
                </a:lnTo>
                <a:lnTo>
                  <a:pt x="182880" y="448970"/>
                </a:lnTo>
                <a:lnTo>
                  <a:pt x="153619" y="436169"/>
                </a:lnTo>
                <a:lnTo>
                  <a:pt x="126187" y="421538"/>
                </a:lnTo>
                <a:lnTo>
                  <a:pt x="100584" y="405994"/>
                </a:lnTo>
                <a:lnTo>
                  <a:pt x="77724" y="388620"/>
                </a:lnTo>
                <a:lnTo>
                  <a:pt x="57607" y="370332"/>
                </a:lnTo>
                <a:lnTo>
                  <a:pt x="40234" y="351130"/>
                </a:lnTo>
                <a:lnTo>
                  <a:pt x="25603" y="331013"/>
                </a:lnTo>
                <a:lnTo>
                  <a:pt x="14630" y="310896"/>
                </a:lnTo>
                <a:lnTo>
                  <a:pt x="6401" y="289865"/>
                </a:lnTo>
                <a:lnTo>
                  <a:pt x="1829" y="268834"/>
                </a:lnTo>
                <a:lnTo>
                  <a:pt x="0" y="246888"/>
                </a:lnTo>
                <a:lnTo>
                  <a:pt x="1829" y="224942"/>
                </a:lnTo>
                <a:lnTo>
                  <a:pt x="6401" y="203911"/>
                </a:lnTo>
                <a:lnTo>
                  <a:pt x="14630" y="182880"/>
                </a:lnTo>
                <a:lnTo>
                  <a:pt x="25603" y="162763"/>
                </a:lnTo>
                <a:lnTo>
                  <a:pt x="40234" y="142646"/>
                </a:lnTo>
                <a:lnTo>
                  <a:pt x="57607" y="123444"/>
                </a:lnTo>
                <a:lnTo>
                  <a:pt x="77724" y="105156"/>
                </a:lnTo>
                <a:lnTo>
                  <a:pt x="100584" y="87782"/>
                </a:lnTo>
                <a:lnTo>
                  <a:pt x="126187" y="72238"/>
                </a:lnTo>
                <a:lnTo>
                  <a:pt x="153619" y="57607"/>
                </a:lnTo>
                <a:lnTo>
                  <a:pt x="182880" y="44806"/>
                </a:lnTo>
                <a:lnTo>
                  <a:pt x="214884" y="32918"/>
                </a:lnTo>
                <a:lnTo>
                  <a:pt x="247802" y="22860"/>
                </a:lnTo>
                <a:lnTo>
                  <a:pt x="282550" y="14630"/>
                </a:lnTo>
                <a:lnTo>
                  <a:pt x="318211" y="8230"/>
                </a:lnTo>
                <a:lnTo>
                  <a:pt x="354787" y="3658"/>
                </a:lnTo>
                <a:lnTo>
                  <a:pt x="392278" y="914"/>
                </a:lnTo>
                <a:lnTo>
                  <a:pt x="429768" y="0"/>
                </a:lnTo>
                <a:lnTo>
                  <a:pt x="467258" y="914"/>
                </a:lnTo>
                <a:lnTo>
                  <a:pt x="504749" y="3658"/>
                </a:lnTo>
                <a:lnTo>
                  <a:pt x="541325" y="8230"/>
                </a:lnTo>
                <a:lnTo>
                  <a:pt x="576986" y="14630"/>
                </a:lnTo>
                <a:lnTo>
                  <a:pt x="611734" y="22860"/>
                </a:lnTo>
                <a:lnTo>
                  <a:pt x="644652" y="32918"/>
                </a:lnTo>
                <a:lnTo>
                  <a:pt x="676656" y="44806"/>
                </a:lnTo>
                <a:lnTo>
                  <a:pt x="705917" y="57607"/>
                </a:lnTo>
                <a:lnTo>
                  <a:pt x="733349" y="72238"/>
                </a:lnTo>
                <a:lnTo>
                  <a:pt x="758952" y="87782"/>
                </a:lnTo>
                <a:lnTo>
                  <a:pt x="781812" y="105156"/>
                </a:lnTo>
                <a:lnTo>
                  <a:pt x="801929" y="123444"/>
                </a:lnTo>
                <a:lnTo>
                  <a:pt x="819302" y="142646"/>
                </a:lnTo>
                <a:lnTo>
                  <a:pt x="833933" y="162763"/>
                </a:lnTo>
                <a:lnTo>
                  <a:pt x="844906" y="182880"/>
                </a:lnTo>
                <a:lnTo>
                  <a:pt x="853135" y="203911"/>
                </a:lnTo>
                <a:lnTo>
                  <a:pt x="857707" y="224942"/>
                </a:lnTo>
                <a:close/>
              </a:path>
            </a:pathLst>
          </a:custGeom>
          <a:solidFill>
            <a:srgbClr val="FFFFFF"/>
          </a:solidFill>
          <a:ln w="12700">
            <a:solidFill>
              <a:srgbClr val="0072B2"/>
            </a:solidFill>
            <a:prstDash val="solid"/>
          </a:ln>
        </p:spPr>
      </p:sp>
      <p:sp>
        <p:nvSpPr>
          <p:cNvPr id="31" name="Shape 29"/>
          <p:cNvSpPr/>
          <p:nvPr/>
        </p:nvSpPr>
        <p:spPr>
          <a:xfrm>
            <a:off x="3429000" y="2926080"/>
            <a:ext cx="1280160" cy="914400"/>
          </a:xfrm>
          <a:custGeom>
            <a:avLst/>
            <a:gdLst/>
            <a:ahLst/>
            <a:cxnLst/>
            <a:rect l="l" t="t" r="r" b="b"/>
            <a:pathLst>
              <a:path w="1280160" h="914400">
                <a:moveTo>
                  <a:pt x="1280160" y="457200"/>
                </a:moveTo>
                <a:lnTo>
                  <a:pt x="1277417" y="497434"/>
                </a:lnTo>
                <a:lnTo>
                  <a:pt x="1270102" y="536753"/>
                </a:lnTo>
                <a:lnTo>
                  <a:pt x="1258214" y="575158"/>
                </a:lnTo>
                <a:lnTo>
                  <a:pt x="1241755" y="613562"/>
                </a:lnTo>
                <a:lnTo>
                  <a:pt x="1219810" y="650138"/>
                </a:lnTo>
                <a:lnTo>
                  <a:pt x="1194206" y="685800"/>
                </a:lnTo>
                <a:lnTo>
                  <a:pt x="1164031" y="719633"/>
                </a:lnTo>
                <a:lnTo>
                  <a:pt x="1130198" y="750722"/>
                </a:lnTo>
                <a:lnTo>
                  <a:pt x="1092708" y="780898"/>
                </a:lnTo>
                <a:lnTo>
                  <a:pt x="1051560" y="807415"/>
                </a:lnTo>
                <a:lnTo>
                  <a:pt x="1007669" y="832104"/>
                </a:lnTo>
                <a:lnTo>
                  <a:pt x="960120" y="853135"/>
                </a:lnTo>
                <a:lnTo>
                  <a:pt x="910742" y="871423"/>
                </a:lnTo>
                <a:lnTo>
                  <a:pt x="858622" y="886968"/>
                </a:lnTo>
                <a:lnTo>
                  <a:pt x="805586" y="898855"/>
                </a:lnTo>
                <a:lnTo>
                  <a:pt x="751637" y="907085"/>
                </a:lnTo>
                <a:lnTo>
                  <a:pt x="695858" y="912571"/>
                </a:lnTo>
                <a:lnTo>
                  <a:pt x="640080" y="914400"/>
                </a:lnTo>
                <a:lnTo>
                  <a:pt x="584302" y="912571"/>
                </a:lnTo>
                <a:lnTo>
                  <a:pt x="528523" y="907085"/>
                </a:lnTo>
                <a:lnTo>
                  <a:pt x="474574" y="898855"/>
                </a:lnTo>
                <a:lnTo>
                  <a:pt x="421538" y="886968"/>
                </a:lnTo>
                <a:lnTo>
                  <a:pt x="369418" y="871423"/>
                </a:lnTo>
                <a:lnTo>
                  <a:pt x="320040" y="853135"/>
                </a:lnTo>
                <a:lnTo>
                  <a:pt x="272491" y="832104"/>
                </a:lnTo>
                <a:lnTo>
                  <a:pt x="228600" y="807415"/>
                </a:lnTo>
                <a:lnTo>
                  <a:pt x="187452" y="780898"/>
                </a:lnTo>
                <a:lnTo>
                  <a:pt x="149962" y="750722"/>
                </a:lnTo>
                <a:lnTo>
                  <a:pt x="116129" y="719633"/>
                </a:lnTo>
                <a:lnTo>
                  <a:pt x="85954" y="685800"/>
                </a:lnTo>
                <a:lnTo>
                  <a:pt x="60350" y="650138"/>
                </a:lnTo>
                <a:lnTo>
                  <a:pt x="38405" y="613562"/>
                </a:lnTo>
                <a:lnTo>
                  <a:pt x="21946" y="575158"/>
                </a:lnTo>
                <a:lnTo>
                  <a:pt x="10058" y="536753"/>
                </a:lnTo>
                <a:lnTo>
                  <a:pt x="2743" y="497434"/>
                </a:lnTo>
                <a:lnTo>
                  <a:pt x="0" y="457200"/>
                </a:lnTo>
                <a:lnTo>
                  <a:pt x="2743" y="416966"/>
                </a:lnTo>
                <a:lnTo>
                  <a:pt x="10058" y="377647"/>
                </a:lnTo>
                <a:lnTo>
                  <a:pt x="21946" y="339242"/>
                </a:lnTo>
                <a:lnTo>
                  <a:pt x="38405" y="300838"/>
                </a:lnTo>
                <a:lnTo>
                  <a:pt x="60350" y="264262"/>
                </a:lnTo>
                <a:lnTo>
                  <a:pt x="85954" y="228600"/>
                </a:lnTo>
                <a:lnTo>
                  <a:pt x="116129" y="194767"/>
                </a:lnTo>
                <a:lnTo>
                  <a:pt x="149962" y="163678"/>
                </a:lnTo>
                <a:lnTo>
                  <a:pt x="187452" y="133502"/>
                </a:lnTo>
                <a:lnTo>
                  <a:pt x="228600" y="106985"/>
                </a:lnTo>
                <a:lnTo>
                  <a:pt x="272491" y="82296"/>
                </a:lnTo>
                <a:lnTo>
                  <a:pt x="320040" y="61265"/>
                </a:lnTo>
                <a:lnTo>
                  <a:pt x="369418" y="42977"/>
                </a:lnTo>
                <a:lnTo>
                  <a:pt x="421538" y="27432"/>
                </a:lnTo>
                <a:lnTo>
                  <a:pt x="474574" y="15545"/>
                </a:lnTo>
                <a:lnTo>
                  <a:pt x="528523" y="7315"/>
                </a:lnTo>
                <a:lnTo>
                  <a:pt x="584302" y="1829"/>
                </a:lnTo>
                <a:lnTo>
                  <a:pt x="640080" y="0"/>
                </a:lnTo>
                <a:lnTo>
                  <a:pt x="695858" y="1829"/>
                </a:lnTo>
                <a:lnTo>
                  <a:pt x="751637" y="7315"/>
                </a:lnTo>
                <a:lnTo>
                  <a:pt x="805586" y="15545"/>
                </a:lnTo>
                <a:lnTo>
                  <a:pt x="858622" y="27432"/>
                </a:lnTo>
                <a:lnTo>
                  <a:pt x="910742" y="42977"/>
                </a:lnTo>
                <a:lnTo>
                  <a:pt x="960120" y="61265"/>
                </a:lnTo>
                <a:lnTo>
                  <a:pt x="1007669" y="82296"/>
                </a:lnTo>
                <a:lnTo>
                  <a:pt x="1051560" y="106985"/>
                </a:lnTo>
                <a:lnTo>
                  <a:pt x="1092708" y="133502"/>
                </a:lnTo>
                <a:lnTo>
                  <a:pt x="1130198" y="163678"/>
                </a:lnTo>
                <a:lnTo>
                  <a:pt x="1164031" y="194767"/>
                </a:lnTo>
                <a:lnTo>
                  <a:pt x="1194206" y="228600"/>
                </a:lnTo>
                <a:lnTo>
                  <a:pt x="1219810" y="264262"/>
                </a:lnTo>
                <a:lnTo>
                  <a:pt x="1241755" y="300838"/>
                </a:lnTo>
                <a:lnTo>
                  <a:pt x="1258214" y="339242"/>
                </a:lnTo>
                <a:lnTo>
                  <a:pt x="1270102" y="377647"/>
                </a:lnTo>
                <a:lnTo>
                  <a:pt x="1277417" y="416966"/>
                </a:lnTo>
                <a:close/>
              </a:path>
            </a:pathLst>
          </a:custGeom>
          <a:noFill/>
          <a:ln w="31750">
            <a:solidFill>
              <a:srgbClr val="00A8AA"/>
            </a:solidFill>
            <a:prstDash val="dash"/>
          </a:ln>
        </p:spPr>
      </p:sp>
      <p:sp>
        <p:nvSpPr>
          <p:cNvPr id="32" name="Shape 30"/>
          <p:cNvSpPr/>
          <p:nvPr/>
        </p:nvSpPr>
        <p:spPr>
          <a:xfrm>
            <a:off x="3401568" y="3968496"/>
            <a:ext cx="1426464" cy="292608"/>
          </a:xfrm>
          <a:custGeom>
            <a:avLst/>
            <a:gdLst/>
            <a:ahLst/>
            <a:cxnLst/>
            <a:rect l="l" t="t" r="r" b="b"/>
            <a:pathLst>
              <a:path w="1426464" h="292608">
                <a:moveTo>
                  <a:pt x="1426464" y="146304"/>
                </a:moveTo>
                <a:lnTo>
                  <a:pt x="1423721" y="159106"/>
                </a:lnTo>
                <a:lnTo>
                  <a:pt x="1415491" y="171907"/>
                </a:lnTo>
                <a:lnTo>
                  <a:pt x="1401775" y="183794"/>
                </a:lnTo>
                <a:lnTo>
                  <a:pt x="1383487" y="196596"/>
                </a:lnTo>
                <a:lnTo>
                  <a:pt x="1359713" y="208483"/>
                </a:lnTo>
                <a:lnTo>
                  <a:pt x="1330452" y="219456"/>
                </a:lnTo>
                <a:lnTo>
                  <a:pt x="1297534" y="230429"/>
                </a:lnTo>
                <a:lnTo>
                  <a:pt x="1260043" y="240487"/>
                </a:lnTo>
                <a:lnTo>
                  <a:pt x="1217981" y="249631"/>
                </a:lnTo>
                <a:lnTo>
                  <a:pt x="1171346" y="258775"/>
                </a:lnTo>
                <a:lnTo>
                  <a:pt x="1121969" y="266090"/>
                </a:lnTo>
                <a:lnTo>
                  <a:pt x="1069848" y="273406"/>
                </a:lnTo>
                <a:lnTo>
                  <a:pt x="1014984" y="278892"/>
                </a:lnTo>
                <a:lnTo>
                  <a:pt x="957377" y="283464"/>
                </a:lnTo>
                <a:lnTo>
                  <a:pt x="897941" y="288036"/>
                </a:lnTo>
                <a:lnTo>
                  <a:pt x="836676" y="290779"/>
                </a:lnTo>
                <a:lnTo>
                  <a:pt x="775411" y="291694"/>
                </a:lnTo>
                <a:lnTo>
                  <a:pt x="713232" y="292608"/>
                </a:lnTo>
                <a:lnTo>
                  <a:pt x="651053" y="291694"/>
                </a:lnTo>
                <a:lnTo>
                  <a:pt x="589788" y="290779"/>
                </a:lnTo>
                <a:lnTo>
                  <a:pt x="528523" y="288036"/>
                </a:lnTo>
                <a:lnTo>
                  <a:pt x="469087" y="283464"/>
                </a:lnTo>
                <a:lnTo>
                  <a:pt x="411480" y="278892"/>
                </a:lnTo>
                <a:lnTo>
                  <a:pt x="356616" y="273406"/>
                </a:lnTo>
                <a:lnTo>
                  <a:pt x="304495" y="266090"/>
                </a:lnTo>
                <a:lnTo>
                  <a:pt x="255118" y="258775"/>
                </a:lnTo>
                <a:lnTo>
                  <a:pt x="208483" y="249631"/>
                </a:lnTo>
                <a:lnTo>
                  <a:pt x="166421" y="240487"/>
                </a:lnTo>
                <a:lnTo>
                  <a:pt x="128930" y="230429"/>
                </a:lnTo>
                <a:lnTo>
                  <a:pt x="96012" y="219456"/>
                </a:lnTo>
                <a:lnTo>
                  <a:pt x="66751" y="208483"/>
                </a:lnTo>
                <a:lnTo>
                  <a:pt x="42977" y="196596"/>
                </a:lnTo>
                <a:lnTo>
                  <a:pt x="24689" y="183794"/>
                </a:lnTo>
                <a:lnTo>
                  <a:pt x="10973" y="171907"/>
                </a:lnTo>
                <a:lnTo>
                  <a:pt x="2743" y="159106"/>
                </a:lnTo>
                <a:lnTo>
                  <a:pt x="0" y="146304"/>
                </a:lnTo>
                <a:lnTo>
                  <a:pt x="2743" y="133502"/>
                </a:lnTo>
                <a:lnTo>
                  <a:pt x="10973" y="120701"/>
                </a:lnTo>
                <a:lnTo>
                  <a:pt x="24689" y="108814"/>
                </a:lnTo>
                <a:lnTo>
                  <a:pt x="42977" y="96012"/>
                </a:lnTo>
                <a:lnTo>
                  <a:pt x="66751" y="84125"/>
                </a:lnTo>
                <a:lnTo>
                  <a:pt x="96012" y="73152"/>
                </a:lnTo>
                <a:lnTo>
                  <a:pt x="128930" y="62179"/>
                </a:lnTo>
                <a:lnTo>
                  <a:pt x="166421" y="52121"/>
                </a:lnTo>
                <a:lnTo>
                  <a:pt x="208483" y="42977"/>
                </a:lnTo>
                <a:lnTo>
                  <a:pt x="255118" y="33833"/>
                </a:lnTo>
                <a:lnTo>
                  <a:pt x="304495" y="26518"/>
                </a:lnTo>
                <a:lnTo>
                  <a:pt x="356616" y="19202"/>
                </a:lnTo>
                <a:lnTo>
                  <a:pt x="411480" y="13716"/>
                </a:lnTo>
                <a:lnTo>
                  <a:pt x="469087" y="9144"/>
                </a:lnTo>
                <a:lnTo>
                  <a:pt x="528523" y="4572"/>
                </a:lnTo>
                <a:lnTo>
                  <a:pt x="589788" y="1829"/>
                </a:lnTo>
                <a:lnTo>
                  <a:pt x="651053" y="914"/>
                </a:lnTo>
                <a:lnTo>
                  <a:pt x="713232" y="0"/>
                </a:lnTo>
                <a:lnTo>
                  <a:pt x="775411" y="914"/>
                </a:lnTo>
                <a:lnTo>
                  <a:pt x="836676" y="1829"/>
                </a:lnTo>
                <a:lnTo>
                  <a:pt x="897941" y="4572"/>
                </a:lnTo>
                <a:lnTo>
                  <a:pt x="957377" y="9144"/>
                </a:lnTo>
                <a:lnTo>
                  <a:pt x="1014984" y="13716"/>
                </a:lnTo>
                <a:lnTo>
                  <a:pt x="1069848" y="19202"/>
                </a:lnTo>
                <a:lnTo>
                  <a:pt x="1121969" y="26518"/>
                </a:lnTo>
                <a:lnTo>
                  <a:pt x="1171346" y="33833"/>
                </a:lnTo>
                <a:lnTo>
                  <a:pt x="1217981" y="42977"/>
                </a:lnTo>
                <a:lnTo>
                  <a:pt x="1260043" y="52121"/>
                </a:lnTo>
                <a:lnTo>
                  <a:pt x="1297534" y="62179"/>
                </a:lnTo>
                <a:lnTo>
                  <a:pt x="1330452" y="73152"/>
                </a:lnTo>
                <a:lnTo>
                  <a:pt x="1359713" y="84125"/>
                </a:lnTo>
                <a:lnTo>
                  <a:pt x="1383487" y="96012"/>
                </a:lnTo>
                <a:lnTo>
                  <a:pt x="1401775" y="108814"/>
                </a:lnTo>
                <a:lnTo>
                  <a:pt x="1415491" y="120701"/>
                </a:lnTo>
                <a:lnTo>
                  <a:pt x="1423721" y="133502"/>
                </a:lnTo>
                <a:close/>
              </a:path>
            </a:pathLst>
          </a:custGeom>
          <a:solidFill>
            <a:srgbClr val="D0D0D0"/>
          </a:solidFill>
          <a:ln w="19050">
            <a:solidFill>
              <a:srgbClr val="7F7F7F"/>
            </a:solidFill>
            <a:prstDash val="solid"/>
          </a:ln>
        </p:spPr>
      </p:sp>
      <p:sp>
        <p:nvSpPr>
          <p:cNvPr id="33" name="Shape 31"/>
          <p:cNvSpPr/>
          <p:nvPr/>
        </p:nvSpPr>
        <p:spPr>
          <a:xfrm>
            <a:off x="3776472" y="4325112"/>
            <a:ext cx="310896" cy="310896"/>
          </a:xfrm>
          <a:custGeom>
            <a:avLst/>
            <a:gdLst/>
            <a:ahLst/>
            <a:cxnLst/>
            <a:rect l="l" t="t" r="r" b="b"/>
            <a:pathLst>
              <a:path w="310896" h="310896">
                <a:moveTo>
                  <a:pt x="310896" y="155448"/>
                </a:moveTo>
                <a:lnTo>
                  <a:pt x="309982" y="175565"/>
                </a:lnTo>
                <a:lnTo>
                  <a:pt x="305410" y="195682"/>
                </a:lnTo>
                <a:lnTo>
                  <a:pt x="299009" y="214884"/>
                </a:lnTo>
                <a:lnTo>
                  <a:pt x="289865" y="233172"/>
                </a:lnTo>
                <a:lnTo>
                  <a:pt x="278892" y="249631"/>
                </a:lnTo>
                <a:lnTo>
                  <a:pt x="265176" y="265176"/>
                </a:lnTo>
                <a:lnTo>
                  <a:pt x="249631" y="278892"/>
                </a:lnTo>
                <a:lnTo>
                  <a:pt x="233172" y="289865"/>
                </a:lnTo>
                <a:lnTo>
                  <a:pt x="214884" y="299009"/>
                </a:lnTo>
                <a:lnTo>
                  <a:pt x="195682" y="305410"/>
                </a:lnTo>
                <a:lnTo>
                  <a:pt x="175565" y="309982"/>
                </a:lnTo>
                <a:lnTo>
                  <a:pt x="155448" y="310896"/>
                </a:lnTo>
                <a:lnTo>
                  <a:pt x="135331" y="309982"/>
                </a:lnTo>
                <a:lnTo>
                  <a:pt x="115214" y="305410"/>
                </a:lnTo>
                <a:lnTo>
                  <a:pt x="96012" y="299009"/>
                </a:lnTo>
                <a:lnTo>
                  <a:pt x="77724" y="289865"/>
                </a:lnTo>
                <a:lnTo>
                  <a:pt x="61265" y="278892"/>
                </a:lnTo>
                <a:lnTo>
                  <a:pt x="45720" y="265176"/>
                </a:lnTo>
                <a:lnTo>
                  <a:pt x="32004" y="249631"/>
                </a:lnTo>
                <a:lnTo>
                  <a:pt x="21031" y="233172"/>
                </a:lnTo>
                <a:lnTo>
                  <a:pt x="11887" y="214884"/>
                </a:lnTo>
                <a:lnTo>
                  <a:pt x="5486" y="195682"/>
                </a:lnTo>
                <a:lnTo>
                  <a:pt x="914" y="175565"/>
                </a:lnTo>
                <a:lnTo>
                  <a:pt x="0" y="155448"/>
                </a:lnTo>
                <a:lnTo>
                  <a:pt x="914" y="135331"/>
                </a:lnTo>
                <a:lnTo>
                  <a:pt x="5486" y="115214"/>
                </a:lnTo>
                <a:lnTo>
                  <a:pt x="11887" y="96012"/>
                </a:lnTo>
                <a:lnTo>
                  <a:pt x="21031" y="77724"/>
                </a:lnTo>
                <a:lnTo>
                  <a:pt x="32004" y="61265"/>
                </a:lnTo>
                <a:lnTo>
                  <a:pt x="45720" y="45720"/>
                </a:lnTo>
                <a:lnTo>
                  <a:pt x="61265" y="32004"/>
                </a:lnTo>
                <a:lnTo>
                  <a:pt x="77724" y="21031"/>
                </a:lnTo>
                <a:lnTo>
                  <a:pt x="96012" y="11887"/>
                </a:lnTo>
                <a:lnTo>
                  <a:pt x="115214" y="5486"/>
                </a:lnTo>
                <a:lnTo>
                  <a:pt x="135331" y="914"/>
                </a:lnTo>
                <a:lnTo>
                  <a:pt x="155448" y="0"/>
                </a:lnTo>
                <a:lnTo>
                  <a:pt x="175565" y="914"/>
                </a:lnTo>
                <a:lnTo>
                  <a:pt x="195682" y="5486"/>
                </a:lnTo>
                <a:lnTo>
                  <a:pt x="214884" y="11887"/>
                </a:lnTo>
                <a:lnTo>
                  <a:pt x="233172" y="21031"/>
                </a:lnTo>
                <a:lnTo>
                  <a:pt x="249631" y="32004"/>
                </a:lnTo>
                <a:lnTo>
                  <a:pt x="265176" y="45720"/>
                </a:lnTo>
                <a:lnTo>
                  <a:pt x="278892" y="61265"/>
                </a:lnTo>
                <a:lnTo>
                  <a:pt x="289865" y="77724"/>
                </a:lnTo>
                <a:lnTo>
                  <a:pt x="299009" y="96012"/>
                </a:lnTo>
                <a:lnTo>
                  <a:pt x="305410" y="115214"/>
                </a:lnTo>
                <a:lnTo>
                  <a:pt x="309982" y="135331"/>
                </a:lnTo>
                <a:close/>
              </a:path>
            </a:pathLst>
          </a:custGeom>
          <a:solidFill>
            <a:srgbClr val="404040"/>
          </a:solidFill>
          <a:ln w="19050">
            <a:solidFill>
              <a:srgbClr val="262626"/>
            </a:solidFill>
            <a:prstDash val="solid"/>
          </a:ln>
        </p:spPr>
      </p:sp>
      <p:sp>
        <p:nvSpPr>
          <p:cNvPr id="34" name="Text 32"/>
          <p:cNvSpPr txBox="1"/>
          <p:nvPr/>
        </p:nvSpPr>
        <p:spPr>
          <a:xfrm>
            <a:off x="502920" y="1677924"/>
            <a:ext cx="1892808" cy="37490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皮膚</a:t>
            </a:r>
            <a:endParaRPr lang="ja-JP" sz="2200" dirty="0"/>
          </a:p>
        </p:txBody>
      </p:sp>
      <p:sp>
        <p:nvSpPr>
          <p:cNvPr id="35" name="Shape 33"/>
          <p:cNvSpPr/>
          <p:nvPr/>
        </p:nvSpPr>
        <p:spPr>
          <a:xfrm>
            <a:off x="2459736" y="1865376"/>
            <a:ext cx="879653" cy="9144"/>
          </a:xfrm>
          <a:custGeom>
            <a:avLst/>
            <a:gdLst/>
            <a:ahLst/>
            <a:cxnLst/>
            <a:rect l="l" t="t" r="r" b="b"/>
            <a:pathLst>
              <a:path w="879653" h="9144">
                <a:moveTo>
                  <a:pt x="0" y="0"/>
                </a:moveTo>
                <a:lnTo>
                  <a:pt x="879653" y="0"/>
                </a:lnTo>
              </a:path>
            </a:pathLst>
          </a:custGeom>
          <a:noFill/>
          <a:ln w="15875">
            <a:solidFill>
              <a:srgbClr val="595959"/>
            </a:solidFill>
            <a:prstDash val="solid"/>
          </a:ln>
        </p:spPr>
      </p:sp>
      <p:sp>
        <p:nvSpPr>
          <p:cNvPr id="36" name="Text 34"/>
          <p:cNvSpPr txBox="1"/>
          <p:nvPr/>
        </p:nvSpPr>
        <p:spPr>
          <a:xfrm>
            <a:off x="502920" y="2208276"/>
            <a:ext cx="1892808" cy="37490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肝左葉</a:t>
            </a:r>
            <a:endParaRPr lang="ja-JP" sz="2200" dirty="0"/>
          </a:p>
        </p:txBody>
      </p:sp>
      <p:sp>
        <p:nvSpPr>
          <p:cNvPr id="37" name="Shape 35"/>
          <p:cNvSpPr/>
          <p:nvPr/>
        </p:nvSpPr>
        <p:spPr>
          <a:xfrm>
            <a:off x="2459736" y="2395728"/>
            <a:ext cx="949147" cy="9144"/>
          </a:xfrm>
          <a:custGeom>
            <a:avLst/>
            <a:gdLst/>
            <a:ahLst/>
            <a:cxnLst/>
            <a:rect l="l" t="t" r="r" b="b"/>
            <a:pathLst>
              <a:path w="949147" h="9144">
                <a:moveTo>
                  <a:pt x="0" y="0"/>
                </a:moveTo>
                <a:lnTo>
                  <a:pt x="949147" y="0"/>
                </a:lnTo>
              </a:path>
            </a:pathLst>
          </a:custGeom>
          <a:noFill/>
          <a:ln w="15875">
            <a:solidFill>
              <a:srgbClr val="595959"/>
            </a:solidFill>
            <a:prstDash val="solid"/>
          </a:ln>
        </p:spPr>
      </p:sp>
      <p:sp>
        <p:nvSpPr>
          <p:cNvPr id="38" name="Text 36"/>
          <p:cNvSpPr txBox="1"/>
          <p:nvPr/>
        </p:nvSpPr>
        <p:spPr>
          <a:xfrm>
            <a:off x="502920" y="3195828"/>
            <a:ext cx="1892808" cy="37490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前庭部</a:t>
            </a:r>
            <a:endParaRPr lang="ja-JP" sz="2200" dirty="0"/>
          </a:p>
        </p:txBody>
      </p:sp>
      <p:sp>
        <p:nvSpPr>
          <p:cNvPr id="39" name="Shape 37"/>
          <p:cNvSpPr/>
          <p:nvPr/>
        </p:nvSpPr>
        <p:spPr>
          <a:xfrm>
            <a:off x="2459736" y="3383280"/>
            <a:ext cx="1097280" cy="9144"/>
          </a:xfrm>
          <a:custGeom>
            <a:avLst/>
            <a:gdLst/>
            <a:ahLst/>
            <a:cxnLst/>
            <a:rect l="l" t="t" r="r" b="b"/>
            <a:pathLst>
              <a:path w="1097280" h="9144">
                <a:moveTo>
                  <a:pt x="0" y="0"/>
                </a:moveTo>
                <a:lnTo>
                  <a:pt x="1097280" y="0"/>
                </a:lnTo>
              </a:path>
            </a:pathLst>
          </a:custGeom>
          <a:noFill/>
          <a:ln w="15875">
            <a:solidFill>
              <a:srgbClr val="595959"/>
            </a:solidFill>
            <a:prstDash val="solid"/>
          </a:ln>
        </p:spPr>
      </p:sp>
      <p:sp>
        <p:nvSpPr>
          <p:cNvPr id="40" name="Text 38"/>
          <p:cNvSpPr txBox="1"/>
          <p:nvPr/>
        </p:nvSpPr>
        <p:spPr>
          <a:xfrm>
            <a:off x="502920" y="4089197"/>
            <a:ext cx="1892808" cy="37490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大動脈または</a:t>
            </a:r>
            <a:endParaRPr lang="ja-JP" sz="2200" dirty="0"/>
          </a:p>
        </p:txBody>
      </p:sp>
      <p:sp>
        <p:nvSpPr>
          <p:cNvPr id="41" name="Text 39"/>
          <p:cNvSpPr txBox="1"/>
          <p:nvPr/>
        </p:nvSpPr>
        <p:spPr>
          <a:xfrm>
            <a:off x="502920" y="4424782"/>
            <a:ext cx="1892808" cy="37490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上腸間膜動脈</a:t>
            </a:r>
            <a:endParaRPr lang="ja-JP" sz="2200" dirty="0"/>
          </a:p>
        </p:txBody>
      </p:sp>
      <p:sp>
        <p:nvSpPr>
          <p:cNvPr id="42" name="Shape 40"/>
          <p:cNvSpPr/>
          <p:nvPr/>
        </p:nvSpPr>
        <p:spPr>
          <a:xfrm>
            <a:off x="2459736" y="4443984"/>
            <a:ext cx="1335024" cy="9144"/>
          </a:xfrm>
          <a:custGeom>
            <a:avLst/>
            <a:gdLst/>
            <a:ahLst/>
            <a:cxnLst/>
            <a:rect l="l" t="t" r="r" b="b"/>
            <a:pathLst>
              <a:path w="1335024" h="9144">
                <a:moveTo>
                  <a:pt x="0" y="0"/>
                </a:moveTo>
                <a:lnTo>
                  <a:pt x="1335024" y="0"/>
                </a:lnTo>
              </a:path>
            </a:pathLst>
          </a:custGeom>
          <a:noFill/>
          <a:ln w="15875">
            <a:solidFill>
              <a:srgbClr val="595959"/>
            </a:solidFill>
            <a:prstDash val="solid"/>
          </a:ln>
        </p:spPr>
      </p:sp>
      <p:sp>
        <p:nvSpPr>
          <p:cNvPr id="43" name="Text 41"/>
          <p:cNvSpPr txBox="1"/>
          <p:nvPr/>
        </p:nvSpPr>
        <p:spPr>
          <a:xfrm>
            <a:off x="5234026" y="3028493"/>
            <a:ext cx="1267358" cy="374904"/>
          </a:xfrm>
          <a:prstGeom prst="rect">
            <a:avLst/>
          </a:prstGeom>
          <a:noFill/>
          <a:ln/>
        </p:spPr>
        <p:txBody>
          <a:bodyPr wrap="square" lIns="0" tIns="0" rIns="0" bIns="0" rtlCol="0" anchor="t"/>
          <a:lstStyle/>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断面積を</a:t>
            </a:r>
            <a:endParaRPr lang="ja-JP" sz="2200" dirty="0"/>
          </a:p>
        </p:txBody>
      </p:sp>
      <p:sp>
        <p:nvSpPr>
          <p:cNvPr id="44" name="Text 42"/>
          <p:cNvSpPr txBox="1"/>
          <p:nvPr/>
        </p:nvSpPr>
        <p:spPr>
          <a:xfrm>
            <a:off x="5234026" y="3364078"/>
            <a:ext cx="1267358" cy="374904"/>
          </a:xfrm>
          <a:prstGeom prst="rect">
            <a:avLst/>
          </a:prstGeom>
          <a:noFill/>
          <a:ln/>
        </p:spPr>
        <p:txBody>
          <a:bodyPr wrap="square" lIns="0" tIns="0" rIns="0" bIns="0" rtlCol="0" anchor="t"/>
          <a:lstStyle/>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トレース</a:t>
            </a:r>
            <a:endParaRPr lang="ja-JP" sz="2200" dirty="0"/>
          </a:p>
        </p:txBody>
      </p:sp>
      <p:sp>
        <p:nvSpPr>
          <p:cNvPr id="45" name="Shape 43"/>
          <p:cNvSpPr/>
          <p:nvPr/>
        </p:nvSpPr>
        <p:spPr>
          <a:xfrm>
            <a:off x="4709160" y="3383280"/>
            <a:ext cx="460858" cy="9144"/>
          </a:xfrm>
          <a:custGeom>
            <a:avLst/>
            <a:gdLst/>
            <a:ahLst/>
            <a:cxnLst/>
            <a:rect l="l" t="t" r="r" b="b"/>
            <a:pathLst>
              <a:path w="460858" h="9144">
                <a:moveTo>
                  <a:pt x="0" y="0"/>
                </a:moveTo>
                <a:lnTo>
                  <a:pt x="460858" y="0"/>
                </a:lnTo>
              </a:path>
            </a:pathLst>
          </a:custGeom>
          <a:noFill/>
          <a:ln w="15875">
            <a:solidFill>
              <a:srgbClr val="00A8AA"/>
            </a:solidFill>
            <a:prstDash val="solid"/>
          </a:ln>
        </p:spPr>
      </p:sp>
      <p:sp>
        <p:nvSpPr>
          <p:cNvPr id="46" name="Text 44"/>
          <p:cNvSpPr txBox="1"/>
          <p:nvPr/>
        </p:nvSpPr>
        <p:spPr>
          <a:xfrm>
            <a:off x="5353812" y="3927348"/>
            <a:ext cx="114757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膵</a:t>
            </a:r>
            <a:endParaRPr lang="ja-JP" sz="2200" dirty="0"/>
          </a:p>
        </p:txBody>
      </p:sp>
      <p:sp>
        <p:nvSpPr>
          <p:cNvPr id="47" name="Shape 45"/>
          <p:cNvSpPr/>
          <p:nvPr/>
        </p:nvSpPr>
        <p:spPr>
          <a:xfrm>
            <a:off x="4773168" y="4114800"/>
            <a:ext cx="516636" cy="9144"/>
          </a:xfrm>
          <a:custGeom>
            <a:avLst/>
            <a:gdLst/>
            <a:ahLst/>
            <a:cxnLst/>
            <a:rect l="l" t="t" r="r" b="b"/>
            <a:pathLst>
              <a:path w="516636" h="9144">
                <a:moveTo>
                  <a:pt x="0" y="0"/>
                </a:moveTo>
                <a:lnTo>
                  <a:pt x="516636" y="0"/>
                </a:lnTo>
              </a:path>
            </a:pathLst>
          </a:custGeom>
          <a:noFill/>
          <a:ln w="15875">
            <a:solidFill>
              <a:srgbClr val="595959"/>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リスクが高いときの対応</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Birenbaum A, et al. JAMA Surg 2019;154:9-17（IRIS） / Warner MA, et al. Anesthesiology</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1993;78:56-62 / Bang YJ, et al. Korean J Anesthesiol 2026;79:466-487（韓国麻酔科学会）</a:t>
            </a:r>
            <a:endParaRPr lang="ja-JP" sz="1600" dirty="0"/>
          </a:p>
        </p:txBody>
      </p:sp>
      <p:sp>
        <p:nvSpPr>
          <p:cNvPr id="11" name="Text 9"/>
          <p:cNvSpPr/>
          <p:nvPr/>
        </p:nvSpPr>
        <p:spPr>
          <a:xfrm>
            <a:off x="502920" y="5248656"/>
            <a:ext cx="11183112" cy="640080"/>
          </a:xfrm>
          <a:prstGeom prst="roundRect">
            <a:avLst>
              <a:gd name="adj" fmla="val 14286"/>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迷ったら</a:t>
            </a:r>
            <a:r>
              <a:rPr lang="ja-JP" altLang="en-US" sz="2600" b="1" dirty="0">
                <a:solidFill>
                  <a:srgbClr val="D55E00"/>
                </a:solidFill>
                <a:latin typeface="メイリオ" pitchFamily="34" charset="0"/>
                <a:ea typeface="メイリオ" pitchFamily="34" charset="-122"/>
                <a:cs typeface="メイリオ" pitchFamily="34" charset="-120"/>
              </a:rPr>
              <a:t>『満腹』として扱う</a:t>
            </a:r>
            <a:r>
              <a:rPr lang="ja-JP" altLang="en-US" sz="2600" b="1" dirty="0">
                <a:solidFill>
                  <a:srgbClr val="262626"/>
                </a:solidFill>
                <a:latin typeface="メイリオ" pitchFamily="34" charset="0"/>
                <a:ea typeface="メイリオ" pitchFamily="34" charset="-122"/>
                <a:cs typeface="メイリオ" pitchFamily="34" charset="-120"/>
              </a:rPr>
              <a:t>。誤嚥は予防が治療</a:t>
            </a:r>
            <a:endParaRPr lang="ja-JP" sz="2600" dirty="0"/>
          </a:p>
        </p:txBody>
      </p:sp>
      <p:sp>
        <p:nvSpPr>
          <p:cNvPr id="12" name="Shape 10"/>
          <p:cNvSpPr/>
          <p:nvPr/>
        </p:nvSpPr>
        <p:spPr>
          <a:xfrm>
            <a:off x="502920" y="1691640"/>
            <a:ext cx="3580790" cy="3337560"/>
          </a:xfrm>
          <a:prstGeom prst="roundRect">
            <a:avLst>
              <a:gd name="adj" fmla="val 2192"/>
            </a:avLst>
          </a:prstGeom>
          <a:solidFill>
            <a:srgbClr val="F2F2F2"/>
          </a:solidFill>
          <a:ln/>
        </p:spPr>
      </p:sp>
      <p:sp>
        <p:nvSpPr>
          <p:cNvPr id="13" name="Text 11"/>
          <p:cNvSpPr txBox="1"/>
          <p:nvPr/>
        </p:nvSpPr>
        <p:spPr>
          <a:xfrm>
            <a:off x="685800" y="1764792"/>
            <a:ext cx="3215030"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待機手術</a:t>
            </a:r>
            <a:endParaRPr lang="ja-JP" sz="2400" dirty="0"/>
          </a:p>
        </p:txBody>
      </p:sp>
      <p:sp>
        <p:nvSpPr>
          <p:cNvPr id="14" name="Text 12"/>
          <p:cNvSpPr txBox="1"/>
          <p:nvPr/>
        </p:nvSpPr>
        <p:spPr>
          <a:xfrm>
            <a:off x="685800" y="221559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923544" y="2215591"/>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絶飲食と薬を</a:t>
            </a:r>
            <a:endParaRPr lang="ja-JP" sz="2200" dirty="0"/>
          </a:p>
        </p:txBody>
      </p:sp>
      <p:sp>
        <p:nvSpPr>
          <p:cNvPr id="16" name="Text 14"/>
          <p:cNvSpPr txBox="1"/>
          <p:nvPr/>
        </p:nvSpPr>
        <p:spPr>
          <a:xfrm>
            <a:off x="923544" y="2579522"/>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整えて延期</a:t>
            </a:r>
            <a:endParaRPr lang="ja-JP" sz="2200" dirty="0"/>
          </a:p>
        </p:txBody>
      </p:sp>
      <p:sp>
        <p:nvSpPr>
          <p:cNvPr id="17" name="Text 15"/>
          <p:cNvSpPr txBox="1"/>
          <p:nvPr/>
        </p:nvSpPr>
        <p:spPr>
          <a:xfrm>
            <a:off x="685800" y="312267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923544" y="3122676"/>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胃エコーで</a:t>
            </a:r>
            <a:endParaRPr lang="ja-JP" sz="2200" dirty="0"/>
          </a:p>
        </p:txBody>
      </p:sp>
      <p:sp>
        <p:nvSpPr>
          <p:cNvPr id="19" name="Text 17"/>
          <p:cNvSpPr txBox="1"/>
          <p:nvPr/>
        </p:nvSpPr>
        <p:spPr>
          <a:xfrm>
            <a:off x="923544" y="3485693"/>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確かめてから</a:t>
            </a:r>
            <a:endParaRPr lang="ja-JP" sz="2200" dirty="0"/>
          </a:p>
        </p:txBody>
      </p:sp>
      <p:sp>
        <p:nvSpPr>
          <p:cNvPr id="20" name="Text 18"/>
          <p:cNvSpPr txBox="1"/>
          <p:nvPr/>
        </p:nvSpPr>
        <p:spPr>
          <a:xfrm>
            <a:off x="685800" y="402884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1" name="Text 19"/>
          <p:cNvSpPr txBox="1"/>
          <p:nvPr/>
        </p:nvSpPr>
        <p:spPr>
          <a:xfrm>
            <a:off x="923544" y="4028846"/>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区域麻酔が選べるか</a:t>
            </a:r>
            <a:endParaRPr lang="ja-JP" sz="2200" dirty="0"/>
          </a:p>
        </p:txBody>
      </p:sp>
      <p:sp>
        <p:nvSpPr>
          <p:cNvPr id="22" name="Shape 20"/>
          <p:cNvSpPr/>
          <p:nvPr/>
        </p:nvSpPr>
        <p:spPr>
          <a:xfrm>
            <a:off x="4303166" y="1691640"/>
            <a:ext cx="3580790" cy="3337560"/>
          </a:xfrm>
          <a:prstGeom prst="roundRect">
            <a:avLst>
              <a:gd name="adj" fmla="val 2192"/>
            </a:avLst>
          </a:prstGeom>
          <a:solidFill>
            <a:srgbClr val="F2F2F2"/>
          </a:solidFill>
          <a:ln/>
        </p:spPr>
      </p:sp>
      <p:sp>
        <p:nvSpPr>
          <p:cNvPr id="23" name="Text 21"/>
          <p:cNvSpPr txBox="1"/>
          <p:nvPr/>
        </p:nvSpPr>
        <p:spPr>
          <a:xfrm>
            <a:off x="4486046" y="1764792"/>
            <a:ext cx="3215030"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緊急手術</a:t>
            </a:r>
            <a:endParaRPr lang="ja-JP" sz="2400" dirty="0"/>
          </a:p>
        </p:txBody>
      </p:sp>
      <p:sp>
        <p:nvSpPr>
          <p:cNvPr id="24" name="Text 22"/>
          <p:cNvSpPr txBox="1"/>
          <p:nvPr/>
        </p:nvSpPr>
        <p:spPr>
          <a:xfrm>
            <a:off x="4486046" y="221559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5" name="Text 23"/>
          <p:cNvSpPr txBox="1"/>
          <p:nvPr/>
        </p:nvSpPr>
        <p:spPr>
          <a:xfrm>
            <a:off x="4723790" y="2215591"/>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迅速導入（RSI）</a:t>
            </a:r>
            <a:endParaRPr lang="ja-JP" sz="2200" dirty="0"/>
          </a:p>
        </p:txBody>
      </p:sp>
      <p:sp>
        <p:nvSpPr>
          <p:cNvPr id="26" name="Text 24"/>
          <p:cNvSpPr txBox="1"/>
          <p:nvPr/>
        </p:nvSpPr>
        <p:spPr>
          <a:xfrm>
            <a:off x="4486046" y="2759659"/>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4723790" y="2759659"/>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前酸素化を十分に</a:t>
            </a:r>
            <a:endParaRPr lang="ja-JP" sz="2200" dirty="0"/>
          </a:p>
        </p:txBody>
      </p:sp>
      <p:sp>
        <p:nvSpPr>
          <p:cNvPr id="28" name="Text 26"/>
          <p:cNvSpPr txBox="1"/>
          <p:nvPr/>
        </p:nvSpPr>
        <p:spPr>
          <a:xfrm>
            <a:off x="4486046" y="3302813"/>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4723790" y="3302813"/>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イレウスは</a:t>
            </a:r>
            <a:endParaRPr lang="ja-JP" sz="2200" dirty="0"/>
          </a:p>
        </p:txBody>
      </p:sp>
      <p:sp>
        <p:nvSpPr>
          <p:cNvPr id="30" name="Text 28"/>
          <p:cNvSpPr txBox="1"/>
          <p:nvPr/>
        </p:nvSpPr>
        <p:spPr>
          <a:xfrm>
            <a:off x="4723790" y="3665830"/>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胃管で減圧</a:t>
            </a:r>
            <a:endParaRPr lang="ja-JP" sz="2200" dirty="0"/>
          </a:p>
        </p:txBody>
      </p:sp>
      <p:sp>
        <p:nvSpPr>
          <p:cNvPr id="31" name="Text 29"/>
          <p:cNvSpPr txBox="1"/>
          <p:nvPr/>
        </p:nvSpPr>
        <p:spPr>
          <a:xfrm>
            <a:off x="4486046" y="4208983"/>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4723790" y="4208983"/>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覚醒してから抜管</a:t>
            </a:r>
            <a:endParaRPr lang="ja-JP" sz="2200" dirty="0"/>
          </a:p>
        </p:txBody>
      </p:sp>
      <p:sp>
        <p:nvSpPr>
          <p:cNvPr id="33" name="Shape 31"/>
          <p:cNvSpPr/>
          <p:nvPr/>
        </p:nvSpPr>
        <p:spPr>
          <a:xfrm>
            <a:off x="8103413" y="1691640"/>
            <a:ext cx="3580790" cy="3337560"/>
          </a:xfrm>
          <a:prstGeom prst="roundRect">
            <a:avLst>
              <a:gd name="adj" fmla="val 2192"/>
            </a:avLst>
          </a:prstGeom>
          <a:solidFill>
            <a:srgbClr val="F2F2F2"/>
          </a:solidFill>
          <a:ln/>
        </p:spPr>
      </p:sp>
      <p:sp>
        <p:nvSpPr>
          <p:cNvPr id="34" name="Text 32"/>
          <p:cNvSpPr txBox="1"/>
          <p:nvPr/>
        </p:nvSpPr>
        <p:spPr>
          <a:xfrm>
            <a:off x="8286293" y="1764792"/>
            <a:ext cx="3215030" cy="41148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準備</a:t>
            </a:r>
            <a:endParaRPr lang="ja-JP" sz="2400" dirty="0"/>
          </a:p>
        </p:txBody>
      </p:sp>
      <p:sp>
        <p:nvSpPr>
          <p:cNvPr id="35" name="Text 33"/>
          <p:cNvSpPr txBox="1"/>
          <p:nvPr/>
        </p:nvSpPr>
        <p:spPr>
          <a:xfrm>
            <a:off x="8286293" y="2215591"/>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6" name="Text 34"/>
          <p:cNvSpPr txBox="1"/>
          <p:nvPr/>
        </p:nvSpPr>
        <p:spPr>
          <a:xfrm>
            <a:off x="8524037" y="2215591"/>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吸引を手元に、</a:t>
            </a:r>
            <a:endParaRPr lang="ja-JP" sz="2200" dirty="0"/>
          </a:p>
        </p:txBody>
      </p:sp>
      <p:sp>
        <p:nvSpPr>
          <p:cNvPr id="37" name="Text 35"/>
          <p:cNvSpPr txBox="1"/>
          <p:nvPr/>
        </p:nvSpPr>
        <p:spPr>
          <a:xfrm>
            <a:off x="8524037" y="2579522"/>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効くことを確認</a:t>
            </a:r>
            <a:endParaRPr lang="ja-JP" sz="2200" dirty="0"/>
          </a:p>
        </p:txBody>
      </p:sp>
      <p:sp>
        <p:nvSpPr>
          <p:cNvPr id="38" name="Text 36"/>
          <p:cNvSpPr txBox="1"/>
          <p:nvPr/>
        </p:nvSpPr>
        <p:spPr>
          <a:xfrm>
            <a:off x="8286293" y="3122676"/>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9" name="Text 37"/>
          <p:cNvSpPr txBox="1"/>
          <p:nvPr/>
        </p:nvSpPr>
        <p:spPr>
          <a:xfrm>
            <a:off x="8524037" y="3122676"/>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頭側を上げる体位</a:t>
            </a:r>
            <a:endParaRPr lang="ja-JP" sz="2200" dirty="0"/>
          </a:p>
        </p:txBody>
      </p:sp>
      <p:sp>
        <p:nvSpPr>
          <p:cNvPr id="40" name="Text 38"/>
          <p:cNvSpPr txBox="1"/>
          <p:nvPr/>
        </p:nvSpPr>
        <p:spPr>
          <a:xfrm>
            <a:off x="8286293" y="3665830"/>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1" name="Text 39"/>
          <p:cNvSpPr txBox="1"/>
          <p:nvPr/>
        </p:nvSpPr>
        <p:spPr>
          <a:xfrm>
            <a:off x="8524037" y="3665830"/>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上級医・応援に連絡</a:t>
            </a:r>
            <a:endParaRPr lang="ja-JP" sz="2200" dirty="0"/>
          </a:p>
        </p:txBody>
      </p:sp>
      <p:sp>
        <p:nvSpPr>
          <p:cNvPr id="42" name="Text 40"/>
          <p:cNvSpPr txBox="1"/>
          <p:nvPr/>
        </p:nvSpPr>
        <p:spPr>
          <a:xfrm>
            <a:off x="8286293" y="4208983"/>
            <a:ext cx="321869"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3" name="Text 41"/>
          <p:cNvSpPr txBox="1"/>
          <p:nvPr/>
        </p:nvSpPr>
        <p:spPr>
          <a:xfrm>
            <a:off x="8524037" y="4208983"/>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筋弛緩薬は</a:t>
            </a:r>
            <a:endParaRPr lang="ja-JP" sz="2200" dirty="0"/>
          </a:p>
        </p:txBody>
      </p:sp>
      <p:sp>
        <p:nvSpPr>
          <p:cNvPr id="44" name="Text 42"/>
          <p:cNvSpPr txBox="1"/>
          <p:nvPr/>
        </p:nvSpPr>
        <p:spPr>
          <a:xfrm>
            <a:off x="8524037" y="4572000"/>
            <a:ext cx="297728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速く効く量</a:t>
            </a:r>
            <a:endParaRPr lang="ja-JP"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絶飲食</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GLP-1</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評価と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対応</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日本麻酔科学会「術前絶飲食ガイドライン」/ Joshi GP, et al. Anesthesiology 2023;138:132-151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Perlas A, et al. Anesth Analg 2013;116:357-363</a:t>
            </a:r>
            <a:endParaRPr lang="ja-JP" sz="1600" dirty="0"/>
          </a:p>
        </p:txBody>
      </p:sp>
      <p:sp>
        <p:nvSpPr>
          <p:cNvPr id="11" name="Text 9"/>
          <p:cNvSpPr txBox="1"/>
          <p:nvPr/>
        </p:nvSpPr>
        <p:spPr>
          <a:xfrm>
            <a:off x="502920" y="1883664"/>
            <a:ext cx="36576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2" name="Text 10"/>
          <p:cNvSpPr txBox="1"/>
          <p:nvPr/>
        </p:nvSpPr>
        <p:spPr>
          <a:xfrm>
            <a:off x="868680" y="1883664"/>
            <a:ext cx="1078992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清澄水 </a:t>
            </a:r>
            <a:r>
              <a:rPr lang="ja-JP" altLang="en-US" sz="2400" b="1" dirty="0">
                <a:solidFill>
                  <a:srgbClr val="0072B2"/>
                </a:solidFill>
                <a:latin typeface="メイリオ" pitchFamily="34" charset="0"/>
                <a:ea typeface="メイリオ" pitchFamily="34" charset="-122"/>
                <a:cs typeface="メイリオ" pitchFamily="34" charset="-120"/>
              </a:rPr>
              <a:t>2 時間</a:t>
            </a:r>
            <a:r>
              <a:rPr lang="ja-JP" altLang="en-US" sz="2400" dirty="0">
                <a:solidFill>
                  <a:srgbClr val="262626"/>
                </a:solidFill>
                <a:latin typeface="メイリオ" pitchFamily="34" charset="0"/>
                <a:ea typeface="メイリオ" pitchFamily="34" charset="-122"/>
                <a:cs typeface="メイリオ" pitchFamily="34" charset="-120"/>
              </a:rPr>
              <a:t>、母乳 </a:t>
            </a:r>
            <a:r>
              <a:rPr lang="ja-JP" altLang="en-US" sz="2400" b="1" dirty="0">
                <a:solidFill>
                  <a:srgbClr val="0072B2"/>
                </a:solidFill>
                <a:latin typeface="メイリオ" pitchFamily="34" charset="0"/>
                <a:ea typeface="メイリオ" pitchFamily="34" charset="-122"/>
                <a:cs typeface="メイリオ" pitchFamily="34" charset="-120"/>
              </a:rPr>
              <a:t>4 時間</a:t>
            </a:r>
            <a:r>
              <a:rPr lang="ja-JP" altLang="en-US" sz="2400" dirty="0">
                <a:solidFill>
                  <a:srgbClr val="262626"/>
                </a:solidFill>
                <a:latin typeface="メイリオ" pitchFamily="34" charset="0"/>
                <a:ea typeface="メイリオ" pitchFamily="34" charset="-122"/>
                <a:cs typeface="メイリオ" pitchFamily="34" charset="-120"/>
              </a:rPr>
              <a:t>、人工乳・牛乳 </a:t>
            </a:r>
            <a:r>
              <a:rPr lang="ja-JP" altLang="en-US" sz="2400" b="1" dirty="0">
                <a:solidFill>
                  <a:srgbClr val="0072B2"/>
                </a:solidFill>
                <a:latin typeface="メイリオ" pitchFamily="34" charset="0"/>
                <a:ea typeface="メイリオ" pitchFamily="34" charset="-122"/>
                <a:cs typeface="メイリオ" pitchFamily="34" charset="-120"/>
              </a:rPr>
              <a:t>6 時間</a:t>
            </a:r>
            <a:endParaRPr lang="ja-JP" sz="2400" dirty="0"/>
          </a:p>
        </p:txBody>
      </p:sp>
      <p:sp>
        <p:nvSpPr>
          <p:cNvPr id="13" name="Text 11"/>
          <p:cNvSpPr txBox="1"/>
          <p:nvPr/>
        </p:nvSpPr>
        <p:spPr>
          <a:xfrm>
            <a:off x="502920" y="2724912"/>
            <a:ext cx="36576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4" name="Text 12"/>
          <p:cNvSpPr txBox="1"/>
          <p:nvPr/>
        </p:nvSpPr>
        <p:spPr>
          <a:xfrm>
            <a:off x="715975" y="2724912"/>
            <a:ext cx="10942625"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『0 時から絶飲食』</a:t>
            </a:r>
            <a:r>
              <a:rPr lang="ja-JP" altLang="en-US" sz="2400" b="1" dirty="0">
                <a:solidFill>
                  <a:srgbClr val="D55E00"/>
                </a:solidFill>
                <a:latin typeface="メイリオ" pitchFamily="34" charset="0"/>
                <a:ea typeface="メイリオ" pitchFamily="34" charset="-122"/>
                <a:cs typeface="メイリオ" pitchFamily="34" charset="-120"/>
              </a:rPr>
              <a:t>はやめる</a:t>
            </a:r>
            <a:r>
              <a:rPr lang="ja-JP" altLang="en-US" sz="2400" dirty="0">
                <a:solidFill>
                  <a:srgbClr val="262626"/>
                </a:solidFill>
                <a:latin typeface="メイリオ" pitchFamily="34" charset="0"/>
                <a:ea typeface="メイリオ" pitchFamily="34" charset="-122"/>
                <a:cs typeface="メイリオ" pitchFamily="34" charset="-120"/>
              </a:rPr>
              <a:t>。時刻で書き、水を勧める</a:t>
            </a:r>
            <a:endParaRPr lang="ja-JP" sz="2400" dirty="0"/>
          </a:p>
        </p:txBody>
      </p:sp>
      <p:sp>
        <p:nvSpPr>
          <p:cNvPr id="15" name="Text 13"/>
          <p:cNvSpPr txBox="1"/>
          <p:nvPr/>
        </p:nvSpPr>
        <p:spPr>
          <a:xfrm>
            <a:off x="502920" y="3566160"/>
            <a:ext cx="36576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6" name="Text 14"/>
          <p:cNvSpPr txBox="1"/>
          <p:nvPr/>
        </p:nvSpPr>
        <p:spPr>
          <a:xfrm>
            <a:off x="868680" y="3566160"/>
            <a:ext cx="1078992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時間を守っても</a:t>
            </a:r>
            <a:r>
              <a:rPr lang="ja-JP" altLang="en-US" sz="2400" b="1" dirty="0">
                <a:solidFill>
                  <a:srgbClr val="D55E00"/>
                </a:solidFill>
                <a:latin typeface="メイリオ" pitchFamily="34" charset="0"/>
                <a:ea typeface="メイリオ" pitchFamily="34" charset="-122"/>
                <a:cs typeface="メイリオ" pitchFamily="34" charset="-120"/>
              </a:rPr>
              <a:t>胃が空でない</a:t>
            </a:r>
            <a:r>
              <a:rPr lang="ja-JP" altLang="en-US" sz="2400" dirty="0">
                <a:solidFill>
                  <a:srgbClr val="262626"/>
                </a:solidFill>
                <a:latin typeface="メイリオ" pitchFamily="34" charset="0"/>
                <a:ea typeface="メイリオ" pitchFamily="34" charset="-122"/>
                <a:cs typeface="メイリオ" pitchFamily="34" charset="-120"/>
              </a:rPr>
              <a:t>患者がいる（緊急、外傷、DM、陣痛）</a:t>
            </a:r>
            <a:endParaRPr lang="ja-JP" sz="2400" dirty="0"/>
          </a:p>
        </p:txBody>
      </p:sp>
      <p:sp>
        <p:nvSpPr>
          <p:cNvPr id="17" name="Text 15"/>
          <p:cNvSpPr txBox="1"/>
          <p:nvPr/>
        </p:nvSpPr>
        <p:spPr>
          <a:xfrm>
            <a:off x="502920" y="4407408"/>
            <a:ext cx="36576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8" name="Text 16"/>
          <p:cNvSpPr txBox="1"/>
          <p:nvPr/>
        </p:nvSpPr>
        <p:spPr>
          <a:xfrm>
            <a:off x="868680" y="4407408"/>
            <a:ext cx="1078992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GLP-1：名前・用量・</a:t>
            </a:r>
            <a:r>
              <a:rPr lang="ja-JP" altLang="en-US" sz="2400" b="1" dirty="0">
                <a:solidFill>
                  <a:srgbClr val="0072B2"/>
                </a:solidFill>
                <a:latin typeface="メイリオ" pitchFamily="34" charset="0"/>
                <a:ea typeface="メイリオ" pitchFamily="34" charset="-122"/>
                <a:cs typeface="メイリオ" pitchFamily="34" charset="-120"/>
              </a:rPr>
              <a:t>最後の投与日</a:t>
            </a:r>
            <a:r>
              <a:rPr lang="ja-JP" altLang="en-US" sz="2400" dirty="0">
                <a:solidFill>
                  <a:srgbClr val="262626"/>
                </a:solidFill>
                <a:latin typeface="メイリオ" pitchFamily="34" charset="0"/>
                <a:ea typeface="メイリオ" pitchFamily="34" charset="-122"/>
                <a:cs typeface="メイリオ" pitchFamily="34" charset="-120"/>
              </a:rPr>
              <a:t>を聞く。症状があれば延期を検討</a:t>
            </a:r>
            <a:endParaRPr lang="ja-JP" sz="2400" dirty="0"/>
          </a:p>
        </p:txBody>
      </p:sp>
      <p:sp>
        <p:nvSpPr>
          <p:cNvPr id="19" name="Text 17"/>
          <p:cNvSpPr txBox="1"/>
          <p:nvPr/>
        </p:nvSpPr>
        <p:spPr>
          <a:xfrm>
            <a:off x="502920" y="5248656"/>
            <a:ext cx="36576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0" name="Text 18"/>
          <p:cNvSpPr txBox="1"/>
          <p:nvPr/>
        </p:nvSpPr>
        <p:spPr>
          <a:xfrm>
            <a:off x="868680" y="5248656"/>
            <a:ext cx="10789920" cy="41148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迷ったら</a:t>
            </a:r>
            <a:r>
              <a:rPr lang="ja-JP" altLang="en-US" sz="2400" b="1" dirty="0">
                <a:solidFill>
                  <a:srgbClr val="0072B2"/>
                </a:solidFill>
                <a:latin typeface="メイリオ" pitchFamily="34" charset="0"/>
                <a:ea typeface="メイリオ" pitchFamily="34" charset="-122"/>
                <a:cs typeface="メイリオ" pitchFamily="34" charset="-120"/>
              </a:rPr>
              <a:t>胃エコー</a:t>
            </a:r>
            <a:r>
              <a:rPr lang="ja-JP" altLang="en-US" sz="2400" dirty="0">
                <a:solidFill>
                  <a:srgbClr val="262626"/>
                </a:solidFill>
                <a:latin typeface="メイリオ" pitchFamily="34" charset="0"/>
                <a:ea typeface="メイリオ" pitchFamily="34" charset="-122"/>
                <a:cs typeface="メイリオ" pitchFamily="34" charset="-120"/>
              </a:rPr>
              <a:t>。満腹なら延期か迅速導入</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4-3 術前絶飲食と誤嚥リスク</dc:title>
  <dc:subject/>
  <dc:creator>Anes-lecture</dc:creator>
  <cp:lastModifiedBy>Anes-lecture</cp:lastModifiedBy>
  <cp:revision>1</cp:revision>
  <dcterms:created xsi:type="dcterms:W3CDTF">2026-10-16T00:06:43Z</dcterms:created>
  <dcterms:modified xsi:type="dcterms:W3CDTF">2026-10-16T00:06:43Z</dcterms:modified>
</cp:coreProperties>
</file>