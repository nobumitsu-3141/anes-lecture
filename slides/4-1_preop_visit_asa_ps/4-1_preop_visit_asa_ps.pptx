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術前診察は「検査を出す作業」ではなく、問診と診察でリスクを見つけ、減らせるものを減らし、その患者に合う麻酔の計画を立てて説明するところまでが一つの仕事である。この講義では、流れ、必ず聞くこと・見ること、ASA-PS 分類、延期を考える所見と相談先、記録の仕方を扱う。気道（4-2）、絶飲食（4-3）、心血管（4-7）、常用薬（4-12〜14）は別の講義で深める。</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目的は 3 つ。(1) リスクの発見と軽減: 併存疾患、気道、誤嚥、常用薬、アレルギーなど、麻酔中に問題になりうることを前もって見つけ、調整できるもの（血糖、血圧、休薬、禁煙、呼吸リハ）を調整する。(2) 計画: 全身麻酔か区域麻酔か、気道の道具、モニターの追加（動脈ライン）、術後の鎮痛と行き先（ICU か病棟か）。(3) 説明と同意、不安の軽減: 麻酔科医が術前に訪問し、手術当日の流れと麻酔の内容を説明した患者は、前投薬（ペントバルビタール）を受けた患者と違って眠くならず、手術当日に落ち着いている傾向が強かった（Egbert 1963 の古典的研究。前投薬の患者は眠くなったが、落ち着いたとは示せなかった）。説明そのものに患者を落ち着かせる効果がある。</a:t>
            </a:r>
          </a:p>
          <a:p>
            <a:r>
              <a:rPr lang="ja-JP" altLang="en-US" dirty="0"/>
              <a:t>検査について: 問診と診察でリスクの大筋は決まる。ルーチンの検査は、問診・診察で疑ったことの確認か、麻酔・手術の計画に影響するときだけ出す（→ 4-4）。</a:t>
            </a:r>
          </a:p>
          <a:p>
            <a:r>
              <a:rPr lang="ja-JP" altLang="en-US" dirty="0"/>
              <a:t>国内の位置づけ: 麻酔管理料（Ⅰ）（L009）は、麻酔科標榜医が麻酔前後の診察を行い、診察と麻酔の内容を診療録に記載することを算定要件とする（緊急の場合を除き、麻酔前後の診察は麻酔を実施した日以外に行う。麻酔記録の添付で記載に代えられる）。麻酔管理料（Ⅱ）（L010）は麻酔の実施者の要件が違うので、（Ⅰ）の要件を一般化しない【要確認: 厚生労働省の告示・留意事項通知（令和 8 年度）の L009 の原文。現在は診療報酬の解説サイト 2 つの転載で確認。当院の運用】。</a:t>
            </a:r>
          </a:p>
          <a:p>
            <a:r>
              <a:rPr lang="ja-JP" altLang="en-US" dirty="0"/>
              <a:t>参考: 米国麻酔科学会 Practice Advisory for Preanesthesia Evaluation（Apfelbaum 2012、Anesthesiology 2012;116:522-538）は、麻酔前の診察で最低限、気道・肺・心臓を評価しバイタルサインを記録すること、術前検査はルーチンで出さず適応を記録して選ぶことを挙げる。なお、この文書は advisory（推奨の要約）で、ガイドラインや基準ではない。ASA の Basic Standards for Preanesthesia Care（1987 年 10 月承認、2020 年 12 月 13 日再確認）は、診療録の確認、問診（既往歴、麻酔歴、治療内容）、周術期の判断に影響する身体所見の評価を麻酔科医の責任としている。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カルテを読む: 診察の前に、主科の記録（診断、術式、予定時間、体位、出血の見込み）、既往歴、過去の麻酔記録（挿管の難易度、使った薬、問題）、内服薬の一覧、最近の検査を読む。過去の麻酔記録は最も信頼できる情報源で、「前回は問題なく挿管できた」は大きな安心材料になる（ただし体重や病状が変わっていれば別）。</a:t>
            </a:r>
          </a:p>
          <a:p>
            <a:r>
              <a:rPr lang="ja-JP" altLang="en-US" dirty="0"/>
              <a:t>問診と診察: S4〜S5。診察室では、患者が歩いて入ってくる様子、会話の息切れ、声、顔色、首の太さなど、座る前から観察が始まる。</a:t>
            </a:r>
          </a:p>
          <a:p>
            <a:r>
              <a:rPr lang="ja-JP" altLang="en-US" dirty="0"/>
              <a:t>検査を選ぶ: 問診・診察で疑ったことを確かめるため、または手術の侵襲と患者のリスクに応じて選ぶ（→ 4-4）。</a:t>
            </a:r>
          </a:p>
          <a:p>
            <a:r>
              <a:rPr lang="ja-JP" altLang="en-US" dirty="0"/>
              <a:t>計画と説明: 麻酔方法、気道の計画、ルート・モニター、術後鎮痛、行き先を決め、患者に説明して同意を得る（→ 4-5）。決めたことと未解決の問題を記録し、手術室スタッフと主科に申し送る（→ S9）。</a:t>
            </a:r>
          </a:p>
          <a:p>
            <a:r>
              <a:rPr lang="ja-JP" altLang="en-US" dirty="0"/>
              <a:t>時間配分: 時間の目安を数値で示した資料は見当たらない。待機手術でも、問診・診察・説明のそれぞれに時間を確保し、説明を省かない（講師の運用提案）。緊急手術では、最低限、最終の飲食時刻、アレルギー、抗血栓薬、気道、循環を確認する（講師の推奨）。外傷なら AMPLE（Allergies、Medications、Past history/Pregnancy、Last meal、Events）で聞く方法もある（ATLS）【要確認: ATLS 学生用マニュアル（第 10 版）の Secondary Survey の章で、AMPLE の項目と出典】。</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麻酔歴: 本人の過去の麻酔で、挿管が難しかった、術後に吐いた、覚めが悪かった、歯が欠けた、予定外に ICU に入った、などを聞く。血縁者で「麻酔中に高熱が出た・亡くなった」は悪性高熱症（常染色体顕性遺伝＝優性遺伝。主に RYR1、まれに CACNA1S の変異）、「術後に長く呼吸が戻らなかった」は偽コリンエステラーゼ（ブチリルコリンエステラーゼ）異常を疑う手がかりになる（→ 3-5）。日本麻酔科学会の悪性高熱症管理ガイドライン（2025 年改訂）は、術前に、本人の麻酔中・麻酔後の高熱、筋強直、コーラ色の尿、筋肉痛、熱中症や運動後の横紋筋融解の既往、特発性高 CK 血症、家族歴（悪性高熱症、熱中症、RYR1 変異）、先天性ミオパチーを疑う所見（歩き始めが遅い、近位筋力低下、高口蓋、側弯、眼瞼下垂、関節拘縮）を確認するよう求めている。RYR1 の診断的変異をもつ人の浸透率は 40.6%（Ibarra Moreno 2019）なので、過去に問題なく麻酔を受けていても否定できない。疑えばすぐ上級医に相談し、揮発性麻酔薬とスキサメトニウムを避け、ダントロレンの在庫を確かめる（JSA 2025 は備蓄本数を指定せず施設の事情に応じて決めるとし、総量 7.0 mg/kg 分の確保を求める。離島では在庫が少ないことがある）。</a:t>
            </a:r>
          </a:p>
          <a:p>
            <a:r>
              <a:rPr lang="ja-JP" altLang="en-US" dirty="0"/>
              <a:t>アレルギー: 薬名だけでなく、何が起きたか（発疹、呼吸困難、血圧低下）、いつかを聞く。「ペニシリンアレルギー」の多くは実際には軽い反応や別の原因で、問診で中身を聞くと使える抗菌薬が広がる（→ 3-12）。ラテックス、造影剤、食物も聞く。食物（卵・大豆）アレルギーだけを理由にプロポフォールを避ける根拠は乏しい（成人で関連なし：Asserhøj 2016）。ただし国内の添付文書は「本剤又は本剤の成分に対し過敏症の既往歴のある患者」を禁忌とし、成分にダイズ油と精製卵黄レシチンを含む。過去にプロポフォールを問題なく使えたかを聞き、添付文書と施設の方針を確認する（→ 3-2）【要確認: PMDA の 1% ディプリバン注 電子添文の「2. 禁忌」と「3. 組成・性状」の添加剤欄】。</a:t>
            </a:r>
          </a:p>
          <a:p>
            <a:r>
              <a:rPr lang="ja-JP" altLang="en-US" dirty="0"/>
              <a:t>内服: 抗血栓薬（→ 4-12）、糖尿病薬（→ 4-13）、降圧薬・ステロイド・精神科の薬（→ 4-14）は、当日飲むか止めるかを決める必要がある。市販薬、サプリメント、漢方も聞く（患者は「薬」と思っていないことが多い）。</a:t>
            </a:r>
          </a:p>
          <a:p>
            <a:r>
              <a:rPr lang="ja-JP" altLang="en-US" dirty="0"/>
              <a:t>喫煙: 喫煙者は非喫煙者より術後の肺炎、再挿管、心筋梗塞、死亡が多い（JSA 周術期禁煙プラクティカルガイド 2021）。術前の禁煙は合併症を減らし、禁煙期間が長いほど効果が大きい（RCT のメタ解析で相対リスク 41% 減、1 週長いごとに効果が 19% 増、4 週以上で明らか：Mills 2011）。手術 8 週以内の禁煙でも合併症は増えない（Myers 2011）ので、「今さらやめても遅い・かえって危ない」とは言わない。手術は禁煙の好機（teachable moment）と位置づける。</a:t>
            </a:r>
          </a:p>
          <a:p>
            <a:r>
              <a:rPr lang="ja-JP" altLang="en-US" dirty="0"/>
              <a:t>飲酒: 量と頻度を聞いて純アルコール量（g/日）に換算する（ビール 500 mL ≈ 20 g、日本酒 1 合 ≈ 20 g）。厚生労働省「健康に配慮した飲酒に関するガイドライン」（2024 年 2 月）は、生活習慣病のリスクを高める量を、1 日あたりの純アルコール量で男性 40 g 以上、女性 20 g 以上とする【要確認: 厚生労働省の同ガイドライン原典 PDF で、男性 40 g・女性 20 g の数値】。術前の飲酒は術後合併症と関連する（全般 RR 1.56、感染 1.73、肺合併症 1.80、在院日数の延長 1.24、ICU 入室 1.29：Eliasen 2013。研究ごとに飲酒量の定義は違う）。周術期の研究では、純アルコールで 1 日 36 g 超または週 252 g 超（12 g を 1 単位として 1 日 3 単位超・週 21 単位超）を「リスクのある飲酒」とすることが多い（Cochrane, Egholm 2018）。「単位」は資料によって g 数が違うので、記録は g で書く。離脱せん妄にも備え、最後に飲んだ時刻も記録する。</a:t>
            </a:r>
          </a:p>
          <a:p>
            <a:r>
              <a:rPr lang="ja-JP" altLang="en-US" dirty="0"/>
              <a:t>運動耐容能: 「階段を 2 フロア分（2 flights）休まず上れますか」は、4 METs を超える活動の目安としてよく使われる質問で、心血管リスク評価の入口になる（→ 4-7）。ただし 2024 AHA/ACC は、主観的な質問より、DASI のような構造化した評価でリスクを層別化するのが妥当とする（Class 2a。要約論文 Kothari 2025 経由）。日本語の「2 階まで」は 1 フロア分とも読めるので使わない。METs（metabolic equivalents：代謝当量）は安静時の酸素消費量を 1 とした運動強度の単位。実際、麻酔科医の主観的な評価は、心肺運動負荷試験で 4 METs に達しない患者の 2 割しか拾えなかった（METS 研究、Wijeysundera 2018：感度 19.2%、特異度 94.7%）。DASI（Duke Activity Status Index：デューク活動状態指数。12 項目、0〜58 点）のような構造化した質問票のほうが予後と関係し、34 点未満で死亡・心筋梗塞が増える（Wijeysundera 2020 → 4-7）。「階段は上れますか」で済ませず、具体的な活動（階段 2 フロア分、坂道、小走り、重い荷物）で聞く。</a:t>
            </a:r>
          </a:p>
          <a:p>
            <a:r>
              <a:rPr lang="ja-JP" altLang="en-US" dirty="0"/>
              <a:t>併存疾患: 診断名だけでなく、最近の変化（新しい胸痛、息切れの悪化、失神、動悸）を聞く。「最近の変化」が延期を考える主な理由になる（→ S8）。</a:t>
            </a:r>
          </a:p>
          <a:p>
            <a:r>
              <a:rPr lang="ja-JP" altLang="en-US" dirty="0"/>
              <a:t>その他: 妊娠の可能性（最終月経）、動揺歯・義歯・差し歯（→ 4-2）、いびき・日中の眠気・無呼吸の指摘（閉塞性睡眠時無呼吸 → 4-9）、胸やけ・逆流（誤嚥リスク → 4-3）。</a:t>
            </a:r>
          </a:p>
          <a:p>
            <a:r>
              <a:rPr lang="ja-JP" altLang="en-US" dirty="0"/>
              <a:t>参考: JSA guideline for management of malignant hyperthermia in 2025. J Anesth 2026;40:4-12 / Ibarra Moreno CA, et al. Anesthesiology 2019;131:983-991 / Asserhøj LL, et al. Br J Anaesth 2016;116:77-82 / Mills E, et al. Am J Med 2011;124:144-154 / Myers K, et al. Arch Intern Med 2011;171:983-989 / Eliasen M, et al. Ann Surg 2013;258:930-942 / Egholm JW, et al. Cochrane Database Syst Rev 2018;11:CD008343 / Wijeysundera DN, et al. Lancet 2018;391:2631-2640（METS） / Wijeysundera DN, et al. Br J Anaesth 2020;124:261-270（DASI） / Kothari P, et al. J Cardiothorac Vasc Anesth 2025;39:2408-2420（2024 AHA/ACC の要約）</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気道: 4-2 で詳しく扱う。開口（3 横指）、修正 Mallampati 分類、頸部の伸展・屈曲、甲状オトガイ間距離、歯の状態（動揺歯、義歯、差し歯、前歯の突出）、首の太さ、ひげ、過去の挿管困難の記録。</a:t>
            </a:r>
          </a:p>
          <a:p>
            <a:r>
              <a:rPr lang="ja-JP" altLang="en-US" dirty="0"/>
              <a:t>心肺: 座った状態での血圧・脈拍・SpO2（室内気）を自分で確かめる。聴診で心雑音（大動脈弁狭窄症は収縮期雑音で、無症状でも重症のことがある → 4-8）、ラ音（心不全、肺炎）、喘鳴（喘息、COPD）。頸静脈の怒張と下肢の浮腫は心不全の手がかり。会話中の息切れや、診察室まで歩いてきたときの様子は、運動耐容能の客観的な情報になる。</a:t>
            </a:r>
          </a:p>
          <a:p>
            <a:r>
              <a:rPr lang="ja-JP" altLang="en-US" dirty="0"/>
              <a:t>全身: BMI は薬の用量（→ 3-1）、気道、誤嚥、体位の計画に関わる。静脈ルートの取りやすさは当日の段取りに直結する（取りにくければ超音波の準備）。区域麻酔を考えるなら脊椎の変形・手術痕・皮膚の状態を見る。術前からの麻痺や感覚障害は、区域麻酔後の神経障害と区別するために記録しておく。</a:t>
            </a:r>
          </a:p>
          <a:p>
            <a:r>
              <a:rPr lang="ja-JP" altLang="en-US" dirty="0"/>
              <a:t>記録: 「異常なし」ではなく、見た項目と所見を書く（→ S9）。</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ASA-PS（ASA Physical Status Classification System：米国麻酔科学会 全身状態分類）は 1941 年に始まり、現行は 2020 年 12 月 13 日改訂版。2014 年に ASA 承認の例（主に成人）が定義に付き（この時点で、妊娠は II、受胎後 60 週未満の早産児は III の例にすでに入っていた）、2020 年 12 月の改訂で、小児と産科の例が別の列として加わった。妊娠を II とする理由（妊娠は疾患ではないが、生理状態が大きく変わる）は 2020 年版の脚注にある。表は成人の例の一部で、全文は ASA のサイトにある【要確認: ASA のサイト（asahq.org）の Statement on ASA Physical Status Classification System で、最終改訂日（2020 年 12 月 13 日）とそれ以後の改訂の有無、成人の例の文言（特に IV の ARD の展開）、小児・産科の列が 2020 年に加わったという改訂履歴を確かめる。現在は論文の転載表で確認】。</a:t>
            </a:r>
          </a:p>
          <a:p>
            <a:r>
              <a:rPr lang="ja-JP" altLang="en-US" dirty="0"/>
              <a:t>定義: I 健康。II 軽い全身疾患で、機能制限がない（現在の喫煙、社交的飲酒、妊娠、BMI 30 超 40 未満、コントロール良好な糖尿病・高血圧、軽い肺疾患）。III 重い全身疾患で、機能制限がある（コントロール不良の糖尿病・高血圧、COPD、BMI 40 以上、活動性肝炎、アルコール依存、ペースメーカー、中等度の駆出率低下、定期透析中の末期腎不全、3 か月より前の心筋梗塞・脳血管障害・一過性脳虚血発作・冠動脈疾患／ステント）。IV 常に生命を脅かす重い全身疾患（3 か月以内の心筋梗塞・脳血管障害・一過性脳虚血発作・冠動脈疾患／ステント、進行中の心筋虚血や重症弁機能不全、重度の駆出率低下、ショック、敗血症、播種性血管内凝固、ARD〔略語の展開は資料で違う：急性呼吸窮迫（acute respiratory distress）と読む資料と、急性腎疾患（acute renal disease）と読む資料がある〕、定期透析をしていない末期腎不全）。V 手術をしなければ生存が見込めない瀕死の患者（破裂した腹部・胸部大動脈瘤、大量外傷、mass effect のある頭蓋内出血、重い心疾患や多臓器不全を伴う虚血腸管）。VI 脳死と判定され臓器提供のために臓器を摘出される患者。</a:t>
            </a:r>
          </a:p>
          <a:p>
            <a:r>
              <a:rPr lang="ja-JP" altLang="en-US" dirty="0"/>
              <a:t>E: 緊急手術。治療の遅れが生命または身体の一部への脅威を大きく増すときに付ける。分類に E を添える（例 ASA III E）。</a:t>
            </a:r>
          </a:p>
          <a:p>
            <a:r>
              <a:rPr lang="ja-JP" altLang="en-US" dirty="0"/>
              <a:t>日本語の読み: 「ASA-PS 3」「ASA 3」と読むことが多い。カルテには数字とともに根拠（例「ASA III：定期透析中、糖尿病」）を書くと、あとで読む人に伝わる。</a:t>
            </a:r>
          </a:p>
          <a:p>
            <a:r>
              <a:rPr lang="ja-JP" altLang="en-US" dirty="0"/>
              <a:t>参考: ASA. Statement on ASA Physical Status Classification System（2020 年 12 月 13 日改訂）</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何を表すか: 患者の全身状態（併存疾患の重さ）の分類で、手術そのもののリスクは含まない。同じ ASA III でも、白内障手術と開腹手術ではリスクがまったく違う。手術リスクは別に評価する（→ 4-7：手術リスク &lt;1% と ≥1%）。</a:t>
            </a:r>
          </a:p>
          <a:p>
            <a:r>
              <a:rPr lang="ja-JP" altLang="en-US" dirty="0"/>
              <a:t>含まないもの: 成人では年齢そのもの（高齢でも健康なら I または II。ただし 2020 年版の小児の例では、受胎後 60 週未満の早産児と生後 6 週未満の正期産児が III の例に入る）、手術部位、術者、麻酔方法。緊急度は E として添える。</a:t>
            </a:r>
          </a:p>
          <a:p>
            <a:r>
              <a:rPr lang="ja-JP" altLang="en-US" dirty="0"/>
              <a:t>ばらつき: 架空の患者 8 例を麻酔科医と専攻医 601 人に分類させた研究では、評価者間の一致度は κ=0.38 と低かった（De Cassai 2019）。ASA が 2014 年に例を付けたのは一致率を上げるためで、例を見ながら分類すると正答数が 10 例中 5.8 から 7.7 に上がった（Hurwitz 2017）。ASA は施設が独自の例を加えることを認めている。施設独自の例を作って教育すると、術前外来と手術当日の ASA-PS の一致率が成人で 74% から 91% に、重み付き κ（全体）が 0.62 から 0.85 に上がった（Abouleish 2020）。離島の病院でも、よくある疾患（透析、COPD、閉塞性睡眠時無呼吸）の院内の例の表を作っておくとよい（講師の運用提案）。研修医は定義だけで決めず、例の表と照らし、迷えば上級医と一緒に分類する。ASA 自身も、分類単独では周術期リスクを予測できず、手術の種類、フレイル、身体機能の低下と組み合わせて使うものだとしている【要確認: ASA のサイトの Statement on ASA Physical Status Classification System 原文で、「単独では周術期リスクを予測しない（alone does not predict the perioperative risks）」の一文】。フレイルについては、2024 AHA/ACC が、65 歳以上（またはフレイルが疑われる 64 歳以下）でリスクの上がる非心臓手術を受ける患者に、検証済みの道具でフレイルを評価することを Class 2a としている（要約論文 Kothari 2025 経由 → 4-11）。</a:t>
            </a:r>
          </a:p>
          <a:p>
            <a:r>
              <a:rPr lang="ja-JP" altLang="en-US" dirty="0"/>
              <a:t>予後との関係: 日本麻酔科学会の麻酔関連偶発症例調査（2000 年、897,733 例）では、1 万麻酔あたりの死亡率が ASA-PS I 0.32、II 1.38、III 9.75、IV 70.20 で、緊急（E）が付くと IIIE 29.15、IVE 353.02 と大きく上がった（入田 2002）。この調査が数えている死亡は、JSA 認定病院（回答率 67.6%）の手術室で起きた危機的偶発症（心停止、高度低血圧、高度低酸素血症など）に伴う、麻酔中から術後 7 日以内の死亡で、周術期の全死亡率ではない。全身状態のよい患者（I・II・IE・IIE）では、危機的偶発症の主な原因は麻酔管理だったが、死亡の主な原因は手術の問題（手技と大量出血）だった。この群で麻酔だけが原因の死亡は 0.05/1 万。全身状態の悪い患者では、危機的偶発症の主な原因は術前合併症だった（入田 2002）。1999〜2002 年の調査では、手術室内の危機的偶発症による死亡 6.85/1 万のうち、原因は術前合併症 64.7%、手術 23.9%、麻酔管理 1.5% だった（入田 2004）。ASA I の待機手術でも死亡はゼロではない（3.12/10 万、入田 2005）。</a:t>
            </a:r>
          </a:p>
          <a:p>
            <a:r>
              <a:rPr lang="ja-JP" altLang="en-US" dirty="0"/>
              <a:t>目的: 分類は共通言語であり、リスクの説明（→ 4-5）、麻酔計画、学会の統計に使う。「ASA III だから何をするか」まで考えて初めて意味がある。</a:t>
            </a:r>
          </a:p>
          <a:p>
            <a:r>
              <a:rPr lang="ja-JP" altLang="en-US" dirty="0"/>
              <a:t>参考: De Cassai A, et al. Korean J Anesthesiol 2019;72:53-59 / Hurwitz EE, et al. Anesthesiology 2017;126:614-622 / Abouleish AE, et al. Perioper Med (Lond) 2020;9:34 / Kothari P, et al. J Cardiothorac Vasc Anesth 2025;39:2408-2420 / 入田和男ほか. 麻酔 2002;51:71-85 / 入田和男ほか. 麻酔 2004;53:320-335 / 入田和男ほか. 麻酔 2005;54:939-948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延期の考え方: 待機手術では「延期して評価・治療すると、手術のリスクが下がる」ときに延期する。延期しても下がらないこと（例: 安定した慢性疾患の追加検査）のために延期しない。</a:t>
            </a:r>
          </a:p>
          <a:p>
            <a:r>
              <a:rPr lang="ja-JP" altLang="en-US" dirty="0"/>
              <a:t>新しい症状: 新しい胸痛、失神、息切れの悪化、動悸は、急性冠症候群、心不全の増悪、重症弁膜症、不整脈のサインで、評価が終わるまで待機手術は延期する（2024 年 AHA/ACC 周術期心血管評価ガイドライン → 4-7）。未評価の心雑音は心エコーを先に。脳卒中・一過性脳虚血発作（TIA）のあとは、待機的な非心臓手術を 3 か月以上延期するのが妥当とされる（2024 AHA/ACC、Class 2a）。3 か月以内の心筋梗塞・脳卒中・ステントは ASA IV の例でもある。HbA1c が 3 か月以内に測られていなければ術前に測るのが妥当（同、2a）【要確認: 2024 AHA/ACC ガイドライン本文（Circulation 2024;150:e351-e442）の推奨表で、脳卒中・TIA 後 3 か月以上の延期（2a）、HbA1c の測定（2a）、血圧 180/110 mmHg 未満（2b）、DASI などの構造化した運動耐容能評価（2a、S4）、フレイル評価（2a、S7）の推奨文とクラス。現在は要約論文（Kothari 2025）経由で確認】。</a:t>
            </a:r>
          </a:p>
          <a:p>
            <a:r>
              <a:rPr lang="ja-JP" altLang="en-US" dirty="0"/>
              <a:t>高血圧: 1 回の高値（白衣高血圧を含む）で延期を決めない。初回が 140/90 mmHg 以上なら 1 分以上空けてさらに 2 回測り、後半 2 回のうち低いほうを記録する。脈が不整なら自動血圧計は不正確なので、上腕動脈の聴診で測る（AAGBI/BHS 2016）。英国の AAGBI/BHS 2016 ガイドラインは、一次診療で 160/100 mmHg 未満に管理しておくこと、一次診療の記録がない患者は術前外来の血圧が 180/110 mmHg 未満なら待機手術を進め、それを超えれば評価・治療のためかかりつけ医に戻す（延期を考える）ことを求める。140〜179/90〜109 mmHg なら延期しない。緊急・準緊急手術はこの指針の対象外で、ほぼ常に進める。前提は英国の一次診療（GP）制度で、国内、特に離島では術前外来で初めて高血圧が見つかることが多く、そのまま当てはめられない。2024 AHA/ACC は、RCRI のリスク因子がなければ 180/110 mmHg 未満で周術期合併症が増える有意な根拠はない（Class 2b）とし、手術の時期は多職種で決めるとする（要約論文経由）。「180/110 以上なら必ず延期」というルールではなく、主科・内科と相談して決める。</a:t>
            </a:r>
          </a:p>
          <a:p>
            <a:r>
              <a:rPr lang="ja-JP" altLang="en-US" dirty="0"/>
              <a:t>小児の上気道炎: 発熱、湿った咳、膿性鼻汁、全身症状があれば延期を考える。鼻水だけの軽い上気道炎は進めることが多い（→ 4-9）。</a:t>
            </a:r>
          </a:p>
          <a:p>
            <a:r>
              <a:rPr lang="ja-JP" altLang="en-US" dirty="0"/>
              <a:t>血糖・カリウム: 著しい高血糖（ケトアシドーシスの疑い）、低血糖、著しい高カリウム（透析患者 → 4-10。閾値は施設の基準に従う）や著しい低カリウムは、待機手術では是正してから。</a:t>
            </a:r>
          </a:p>
          <a:p>
            <a:r>
              <a:rPr lang="ja-JP" altLang="en-US" dirty="0"/>
              <a:t>常用薬: 抗血栓薬が休薬されていない（または不要に休薬されている）、SGLT2 阻害薬が続いている、などは、手術の種類によっては延期の理由になる（→ 4-12、4-13）。</a:t>
            </a:r>
          </a:p>
          <a:p>
            <a:r>
              <a:rPr lang="ja-JP" altLang="en-US" dirty="0"/>
              <a:t>相談先: 離島の一人麻酔科医でも、電話やオンラインで上級医・麻酔科の仲間に相談できる体制を作っておく。延期の不利益（がんの進行、骨折の合併症、患者の生活）は主科と一緒に考え、評価と治療は内科・循環器内科に依頼する。最後は患者・家族と利益と危険を共有して決める（→ 4-5）。</a:t>
            </a:r>
          </a:p>
          <a:p>
            <a:r>
              <a:rPr lang="ja-JP" altLang="en-US" dirty="0"/>
              <a:t>参考: Hartle A, et al. Anaesthesia 2016;71:326-337（AAGBI/BHS 術前高血圧ガイドライン） / 2024 AHA/ACC 周術期心血管評価ガイドライン（Circulation 2024;150:e351-e442） / Kothari P, et al. J Cardiothorac Vasc Anesth 2025;39:2408-2420（2024 AHA/ACC の要約）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記録する項目: ASA-PS とその根拠、気道所見（開口、Mallampati、頸部、歯）と気道の計画（道具、応援）、麻酔方法、ルートとモニター、術後鎮痛と行き先、説明した内容と同意、未解決の問題（結果待ちの検査、相談中の休薬）。</a:t>
            </a:r>
          </a:p>
          <a:p>
            <a:r>
              <a:rPr lang="ja-JP" altLang="en-US" dirty="0"/>
              <a:t>申し送り: 手術室の看護師、主科、必要なら ICU・病棟に伝える。「困難気道の可能性」「抗血栓薬の再開時期」「ステロイドカバー」のように、自分以外の人が動く必要がある情報を優先する。</a:t>
            </a:r>
          </a:p>
          <a:p>
            <a:r>
              <a:rPr lang="ja-JP" altLang="en-US" dirty="0"/>
              <a:t>一人麻酔科医: 自分が急に対応できなくなったとき、代わりの医師（応援の麻酔科医や外科医）が読んで理解できる記録を残すことが、患者の安全に直結する。略語や「異常なし」だけの記録は避ける。</a:t>
            </a:r>
          </a:p>
          <a:p>
            <a:r>
              <a:rPr lang="ja-JP" altLang="en-US" dirty="0"/>
              <a:t>当日朝: 絶飲食の実際（最後に食べた・飲んだ時刻と内容 → 4-3）、指示した内服が飲まれたか、バイタル、術前診察からの変化（発熱、咳、胸痛）を確認する。変化があれば計画を見直す。</a:t>
            </a:r>
          </a:p>
          <a:p>
            <a:r>
              <a:rPr lang="ja-JP" altLang="en-US" dirty="0"/>
              <a:t>国内: 麻酔管理料（Ⅰ）（L009）を算定するなら、緊急の場合を除き、術前診察は麻酔の前日まで、術後診察は麻酔の翌日以降に行う（麻酔を実施した日以外。麻酔科標榜医が行い、診療録に記載するか、麻酔記録の添付で代える）。当日朝は再確認にあてる。これは算定要件から導いた運用で、臨床の基準としては、ASA Practice Advisory 2012 は、重症度が低く侵襲が中〜低の手術なら、初回の問診・診察を手術当日に行ってもよいとしている【要確認: 厚生労働省の告示・留意事項通知（令和 8 年度）の L009 の原文。Practice Advisory 2012 本文の診察時期の記載。当院の麻酔記録の様式と運用】。</a:t>
            </a:r>
          </a:p>
          <a:p>
            <a:r>
              <a:rPr lang="ja-JP" altLang="en-US" dirty="0"/>
              <a:t>国内のデータ: 奈良医大（予定手術 48,089 件）では、術前外来の開設前、手術室入室から執刀までの手術中止の理由の 46.1% が術前の麻酔評価の不足だった。開設後はこの理由による中止はなくなった（中止率そのものは 0.051% と 0.022% で有意差なし：Sato 2020）。前日までに診察しておくと、当日の中止の一因を減らせる。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術前診察は、リスクを見つけ、減らせるものを減らし、計画を立てて説明するまでが一つの仕事である。問診では麻酔歴（本人と血縁者）、アレルギーの中身、内服（抗血栓薬・糖尿病薬・ステロイド）、運動耐容能（階段 2 フロア分 ≈ 4 METs 超）、最近の変化を必ず聞く。診察では気道、心肺、全身を自分で確かめる。ASA-PS は全身状態の共通言語で、手術のリスクは含まないので別に評価する。新しい症状や未評価の異常は延期して相談し、決めたことと未解決の問題を、自分以外の人が読んでわかる形で記録する。次は 4-2（気道評価）。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術前診察の流れと ASA-PS</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4-1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術前診察は何のため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流れ</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ASA-PS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延期と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相談</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Practice Advisory for Preanesthesia Evaluation. Anesthesiology 2012;116:522-538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Egbert LD, et al. JAMA 1963;185:553-555</a:t>
            </a:r>
            <a:endParaRPr lang="ja-JP" sz="1600" dirty="0"/>
          </a:p>
        </p:txBody>
      </p:sp>
      <p:sp>
        <p:nvSpPr>
          <p:cNvPr id="11" name="Text 9"/>
          <p:cNvSpPr txBox="1"/>
          <p:nvPr/>
        </p:nvSpPr>
        <p:spPr>
          <a:xfrm>
            <a:off x="502920" y="1810512"/>
            <a:ext cx="11155680" cy="2825496"/>
          </a:xfrm>
          <a:prstGeom prst="rect">
            <a:avLst/>
          </a:prstGeom>
          <a:noFill/>
          <a:ln/>
        </p:spPr>
        <p:txBody>
          <a:bodyPr wrap="square" lIns="0" tIns="0" rIns="0" bIns="0" rtlCol="0" anchor="t"/>
          <a:lstStyle/>
          <a:p>
            <a:pPr algn="l" marL="406400" indent="-406400">
              <a:spcAft>
                <a:spcPts val="18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リスクを見つけ、減らせるものは減らす</a:t>
            </a:r>
            <a:endParaRPr lang="ja-JP" sz="2800" dirty="0"/>
          </a:p>
          <a:p>
            <a:pPr algn="l" marL="406400" indent="-406400">
              <a:spcAft>
                <a:spcPts val="18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その患者に合う麻酔の計画を立てる</a:t>
            </a:r>
            <a:endParaRPr lang="ja-JP" sz="2800" dirty="0"/>
          </a:p>
          <a:p>
            <a:pPr algn="l" marL="406400" indent="-406400">
              <a:spcAft>
                <a:spcPts val="18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説明して同意を得る。不安を減らす</a:t>
            </a:r>
            <a:endParaRPr lang="ja-JP" sz="2800" dirty="0"/>
          </a:p>
          <a:p>
            <a:pPr algn="l" marL="406400" indent="-406400">
              <a:spcAft>
                <a:spcPts val="18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検査を『出す』ための時間ではない</a:t>
            </a:r>
            <a:endParaRPr lang="ja-JP" sz="2800" dirty="0"/>
          </a:p>
        </p:txBody>
      </p:sp>
      <p:sp>
        <p:nvSpPr>
          <p:cNvPr id="12" name="Text 10"/>
          <p:cNvSpPr/>
          <p:nvPr/>
        </p:nvSpPr>
        <p:spPr>
          <a:xfrm>
            <a:off x="502920" y="4946904"/>
            <a:ext cx="11183112" cy="786384"/>
          </a:xfrm>
          <a:prstGeom prst="roundRect">
            <a:avLst>
              <a:gd name="adj" fmla="val 11628"/>
            </a:avLst>
          </a:prstGeom>
          <a:solidFill>
            <a:srgbClr val="FFFFFF"/>
          </a:solidFill>
          <a:ln w="38100">
            <a:solidFill>
              <a:srgbClr val="00A8AA"/>
            </a:solidFill>
          </a:ln>
        </p:spPr>
        <p:txBody>
          <a:bodyPr wrap="square" lIns="109728" tIns="109728" rIns="109728" bIns="109728"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問診と診察で大筋が決まる。検査は確認のため</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診察の流れ（5 ステップ）</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流れ</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ASA-PS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延期と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相談</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Practice Advisory for Preanesthesia Evaluation. Anesthesiology 2012;116:522-538</a:t>
            </a:r>
            <a:endParaRPr lang="ja-JP" sz="1600" dirty="0"/>
          </a:p>
        </p:txBody>
      </p:sp>
      <p:sp>
        <p:nvSpPr>
          <p:cNvPr id="11" name="Text 9"/>
          <p:cNvSpPr/>
          <p:nvPr/>
        </p:nvSpPr>
        <p:spPr>
          <a:xfrm>
            <a:off x="658368" y="2615184"/>
            <a:ext cx="1883664" cy="914400"/>
          </a:xfrm>
          <a:prstGeom prst="roundRect">
            <a:avLst>
              <a:gd name="adj" fmla="val 10000"/>
            </a:avLst>
          </a:prstGeom>
          <a:solidFill>
            <a:srgbClr val="0072B2"/>
          </a:solidFill>
          <a:ln/>
        </p:spPr>
        <p:txBody>
          <a:bodyPr wrap="square" lIns="0" tIns="0" rIns="0" bIns="0"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カルテを読む</a:t>
            </a:r>
            <a:endParaRPr lang="ja-JP" sz="2200" dirty="0"/>
          </a:p>
        </p:txBody>
      </p:sp>
      <p:sp>
        <p:nvSpPr>
          <p:cNvPr id="12" name="Text 10"/>
          <p:cNvSpPr txBox="1"/>
          <p:nvPr/>
        </p:nvSpPr>
        <p:spPr>
          <a:xfrm>
            <a:off x="502920" y="3803904"/>
            <a:ext cx="2194560" cy="1362456"/>
          </a:xfrm>
          <a:prstGeom prst="rect">
            <a:avLst/>
          </a:prstGeom>
          <a:noFill/>
          <a:ln/>
        </p:spPr>
        <p:txBody>
          <a:bodyPr wrap="square" lIns="0" tIns="0" rIns="0" bIns="0" rtlCol="0" anchor="t"/>
          <a:lstStyle/>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主科の記録、</a:t>
            </a:r>
            <a:endParaRPr lang="ja-JP" sz="2200" dirty="0"/>
          </a:p>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既往、</a:t>
            </a:r>
            <a:endParaRPr lang="ja-JP" sz="2200" dirty="0"/>
          </a:p>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検査、内服</a:t>
            </a:r>
            <a:endParaRPr lang="ja-JP" sz="2200" dirty="0"/>
          </a:p>
        </p:txBody>
      </p:sp>
      <p:sp>
        <p:nvSpPr>
          <p:cNvPr id="13" name="Shape 11"/>
          <p:cNvSpPr/>
          <p:nvPr/>
        </p:nvSpPr>
        <p:spPr>
          <a:xfrm>
            <a:off x="2633472" y="3072384"/>
            <a:ext cx="88697" cy="0"/>
          </a:xfrm>
          <a:prstGeom prst="line">
            <a:avLst/>
          </a:prstGeom>
          <a:noFill/>
          <a:ln w="38100">
            <a:solidFill>
              <a:srgbClr val="404040"/>
            </a:solidFill>
            <a:prstDash val="solid"/>
          </a:ln>
        </p:spPr>
      </p:sp>
      <p:sp>
        <p:nvSpPr>
          <p:cNvPr id="14" name="Shape 12"/>
          <p:cNvSpPr/>
          <p:nvPr/>
        </p:nvSpPr>
        <p:spPr>
          <a:xfrm>
            <a:off x="2704795" y="2971800"/>
            <a:ext cx="109728" cy="201168"/>
          </a:xfrm>
          <a:custGeom>
            <a:avLst/>
            <a:gdLst/>
            <a:ahLst/>
            <a:cxnLst/>
            <a:rect l="l" t="t" r="r" b="b"/>
            <a:pathLst>
              <a:path w="109728" h="201168">
                <a:moveTo>
                  <a:pt x="109728" y="100584"/>
                </a:moveTo>
                <a:lnTo>
                  <a:pt x="0" y="201168"/>
                </a:lnTo>
                <a:lnTo>
                  <a:pt x="0" y="0"/>
                </a:lnTo>
                <a:close/>
              </a:path>
            </a:pathLst>
          </a:custGeom>
          <a:solidFill>
            <a:srgbClr val="404040"/>
          </a:solidFill>
          <a:ln w="12700">
            <a:solidFill>
              <a:srgbClr val="404040"/>
            </a:solidFill>
            <a:prstDash val="solid"/>
          </a:ln>
        </p:spPr>
      </p:sp>
      <p:sp>
        <p:nvSpPr>
          <p:cNvPr id="15" name="Text 13"/>
          <p:cNvSpPr/>
          <p:nvPr/>
        </p:nvSpPr>
        <p:spPr>
          <a:xfrm>
            <a:off x="2905963" y="2615184"/>
            <a:ext cx="1883664" cy="914400"/>
          </a:xfrm>
          <a:prstGeom prst="roundRect">
            <a:avLst>
              <a:gd name="adj" fmla="val 10000"/>
            </a:avLst>
          </a:prstGeom>
          <a:solidFill>
            <a:srgbClr val="0072B2"/>
          </a:solidFill>
          <a:ln/>
        </p:spPr>
        <p:txBody>
          <a:bodyPr wrap="square" lIns="0" tIns="0" rIns="0" bIns="0"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問診</a:t>
            </a:r>
            <a:endParaRPr lang="ja-JP" sz="2200" dirty="0"/>
          </a:p>
        </p:txBody>
      </p:sp>
      <p:sp>
        <p:nvSpPr>
          <p:cNvPr id="16" name="Text 14"/>
          <p:cNvSpPr txBox="1"/>
          <p:nvPr/>
        </p:nvSpPr>
        <p:spPr>
          <a:xfrm>
            <a:off x="2750515" y="3803904"/>
            <a:ext cx="2194560" cy="896112"/>
          </a:xfrm>
          <a:prstGeom prst="rect">
            <a:avLst/>
          </a:prstGeom>
          <a:noFill/>
          <a:ln/>
        </p:spPr>
        <p:txBody>
          <a:bodyPr wrap="square" lIns="0" tIns="0" rIns="0" bIns="0" rtlCol="0" anchor="t"/>
          <a:lstStyle/>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麻酔歴、薬、</a:t>
            </a:r>
            <a:endParaRPr lang="ja-JP" sz="2200" dirty="0"/>
          </a:p>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運動耐容能</a:t>
            </a:r>
            <a:endParaRPr lang="ja-JP" sz="2200" dirty="0"/>
          </a:p>
        </p:txBody>
      </p:sp>
      <p:sp>
        <p:nvSpPr>
          <p:cNvPr id="17" name="Shape 15"/>
          <p:cNvSpPr/>
          <p:nvPr/>
        </p:nvSpPr>
        <p:spPr>
          <a:xfrm>
            <a:off x="4881067" y="3072384"/>
            <a:ext cx="89611" cy="0"/>
          </a:xfrm>
          <a:prstGeom prst="line">
            <a:avLst/>
          </a:prstGeom>
          <a:noFill/>
          <a:ln w="38100">
            <a:solidFill>
              <a:srgbClr val="404040"/>
            </a:solidFill>
            <a:prstDash val="solid"/>
          </a:ln>
        </p:spPr>
      </p:sp>
      <p:sp>
        <p:nvSpPr>
          <p:cNvPr id="18" name="Shape 16"/>
          <p:cNvSpPr/>
          <p:nvPr/>
        </p:nvSpPr>
        <p:spPr>
          <a:xfrm>
            <a:off x="4952390" y="2971800"/>
            <a:ext cx="109728" cy="201168"/>
          </a:xfrm>
          <a:custGeom>
            <a:avLst/>
            <a:gdLst/>
            <a:ahLst/>
            <a:cxnLst/>
            <a:rect l="l" t="t" r="r" b="b"/>
            <a:pathLst>
              <a:path w="109728" h="201168">
                <a:moveTo>
                  <a:pt x="109728" y="100584"/>
                </a:moveTo>
                <a:lnTo>
                  <a:pt x="0" y="201168"/>
                </a:lnTo>
                <a:lnTo>
                  <a:pt x="0" y="0"/>
                </a:lnTo>
                <a:close/>
              </a:path>
            </a:pathLst>
          </a:custGeom>
          <a:solidFill>
            <a:srgbClr val="404040"/>
          </a:solidFill>
          <a:ln w="12700">
            <a:solidFill>
              <a:srgbClr val="404040"/>
            </a:solidFill>
            <a:prstDash val="solid"/>
          </a:ln>
        </p:spPr>
      </p:sp>
      <p:sp>
        <p:nvSpPr>
          <p:cNvPr id="19" name="Text 17"/>
          <p:cNvSpPr/>
          <p:nvPr/>
        </p:nvSpPr>
        <p:spPr>
          <a:xfrm>
            <a:off x="5152644" y="2615184"/>
            <a:ext cx="1883664" cy="914400"/>
          </a:xfrm>
          <a:prstGeom prst="roundRect">
            <a:avLst>
              <a:gd name="adj" fmla="val 10000"/>
            </a:avLst>
          </a:prstGeom>
          <a:solidFill>
            <a:srgbClr val="0072B2"/>
          </a:solidFill>
          <a:ln/>
        </p:spPr>
        <p:txBody>
          <a:bodyPr wrap="square" lIns="0" tIns="0" rIns="0" bIns="0"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診察</a:t>
            </a:r>
            <a:endParaRPr lang="ja-JP" sz="2200" dirty="0"/>
          </a:p>
        </p:txBody>
      </p:sp>
      <p:sp>
        <p:nvSpPr>
          <p:cNvPr id="20" name="Text 18"/>
          <p:cNvSpPr txBox="1"/>
          <p:nvPr/>
        </p:nvSpPr>
        <p:spPr>
          <a:xfrm>
            <a:off x="4997196" y="3803904"/>
            <a:ext cx="2194560" cy="896112"/>
          </a:xfrm>
          <a:prstGeom prst="rect">
            <a:avLst/>
          </a:prstGeom>
          <a:noFill/>
          <a:ln/>
        </p:spPr>
        <p:txBody>
          <a:bodyPr wrap="square" lIns="0" tIns="0" rIns="0" bIns="0" rtlCol="0" anchor="t"/>
          <a:lstStyle/>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気道、心肺、</a:t>
            </a:r>
            <a:endParaRPr lang="ja-JP" sz="2200" dirty="0"/>
          </a:p>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全身</a:t>
            </a:r>
            <a:endParaRPr lang="ja-JP" sz="2200" dirty="0"/>
          </a:p>
        </p:txBody>
      </p:sp>
      <p:sp>
        <p:nvSpPr>
          <p:cNvPr id="21" name="Shape 19"/>
          <p:cNvSpPr/>
          <p:nvPr/>
        </p:nvSpPr>
        <p:spPr>
          <a:xfrm>
            <a:off x="7127748" y="3072384"/>
            <a:ext cx="89611" cy="0"/>
          </a:xfrm>
          <a:prstGeom prst="line">
            <a:avLst/>
          </a:prstGeom>
          <a:noFill/>
          <a:ln w="38100">
            <a:solidFill>
              <a:srgbClr val="404040"/>
            </a:solidFill>
            <a:prstDash val="solid"/>
          </a:ln>
        </p:spPr>
      </p:sp>
      <p:sp>
        <p:nvSpPr>
          <p:cNvPr id="22" name="Shape 20"/>
          <p:cNvSpPr/>
          <p:nvPr/>
        </p:nvSpPr>
        <p:spPr>
          <a:xfrm>
            <a:off x="7199071" y="2971800"/>
            <a:ext cx="109728" cy="201168"/>
          </a:xfrm>
          <a:custGeom>
            <a:avLst/>
            <a:gdLst/>
            <a:ahLst/>
            <a:cxnLst/>
            <a:rect l="l" t="t" r="r" b="b"/>
            <a:pathLst>
              <a:path w="109728" h="201168">
                <a:moveTo>
                  <a:pt x="109728" y="100584"/>
                </a:moveTo>
                <a:lnTo>
                  <a:pt x="0" y="201168"/>
                </a:lnTo>
                <a:lnTo>
                  <a:pt x="0" y="0"/>
                </a:lnTo>
                <a:close/>
              </a:path>
            </a:pathLst>
          </a:custGeom>
          <a:solidFill>
            <a:srgbClr val="404040"/>
          </a:solidFill>
          <a:ln w="12700">
            <a:solidFill>
              <a:srgbClr val="404040"/>
            </a:solidFill>
            <a:prstDash val="solid"/>
          </a:ln>
        </p:spPr>
      </p:sp>
      <p:sp>
        <p:nvSpPr>
          <p:cNvPr id="23" name="Text 21"/>
          <p:cNvSpPr/>
          <p:nvPr/>
        </p:nvSpPr>
        <p:spPr>
          <a:xfrm>
            <a:off x="7400239" y="2615184"/>
            <a:ext cx="1883664" cy="914400"/>
          </a:xfrm>
          <a:prstGeom prst="roundRect">
            <a:avLst>
              <a:gd name="adj" fmla="val 10000"/>
            </a:avLst>
          </a:prstGeom>
          <a:solidFill>
            <a:srgbClr val="0072B2"/>
          </a:solidFill>
          <a:ln/>
        </p:spPr>
        <p:txBody>
          <a:bodyPr wrap="square" lIns="0" tIns="0" rIns="0" bIns="0"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検査を選ぶ</a:t>
            </a:r>
            <a:endParaRPr lang="ja-JP" sz="2200" dirty="0"/>
          </a:p>
        </p:txBody>
      </p:sp>
      <p:sp>
        <p:nvSpPr>
          <p:cNvPr id="24" name="Text 22"/>
          <p:cNvSpPr txBox="1"/>
          <p:nvPr/>
        </p:nvSpPr>
        <p:spPr>
          <a:xfrm>
            <a:off x="7244791" y="3803904"/>
            <a:ext cx="2194560" cy="420624"/>
          </a:xfrm>
          <a:prstGeom prst="rect">
            <a:avLst/>
          </a:prstGeom>
          <a:noFill/>
          <a:ln/>
        </p:spPr>
        <p:txBody>
          <a:bodyPr wrap="square" lIns="0" tIns="0" rIns="0" bIns="0" rtlCol="0" anchor="t"/>
          <a:lstStyle/>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必要なものだけ</a:t>
            </a:r>
            <a:endParaRPr lang="ja-JP" sz="2200" dirty="0"/>
          </a:p>
        </p:txBody>
      </p:sp>
      <p:sp>
        <p:nvSpPr>
          <p:cNvPr id="25" name="Shape 23"/>
          <p:cNvSpPr/>
          <p:nvPr/>
        </p:nvSpPr>
        <p:spPr>
          <a:xfrm>
            <a:off x="9375343" y="3072384"/>
            <a:ext cx="89611" cy="0"/>
          </a:xfrm>
          <a:prstGeom prst="line">
            <a:avLst/>
          </a:prstGeom>
          <a:noFill/>
          <a:ln w="38100">
            <a:solidFill>
              <a:srgbClr val="404040"/>
            </a:solidFill>
            <a:prstDash val="solid"/>
          </a:ln>
        </p:spPr>
      </p:sp>
      <p:sp>
        <p:nvSpPr>
          <p:cNvPr id="26" name="Shape 24"/>
          <p:cNvSpPr/>
          <p:nvPr/>
        </p:nvSpPr>
        <p:spPr>
          <a:xfrm>
            <a:off x="9446666" y="2971800"/>
            <a:ext cx="109728" cy="201168"/>
          </a:xfrm>
          <a:custGeom>
            <a:avLst/>
            <a:gdLst/>
            <a:ahLst/>
            <a:cxnLst/>
            <a:rect l="l" t="t" r="r" b="b"/>
            <a:pathLst>
              <a:path w="109728" h="201168">
                <a:moveTo>
                  <a:pt x="109728" y="100584"/>
                </a:moveTo>
                <a:lnTo>
                  <a:pt x="0" y="201168"/>
                </a:lnTo>
                <a:lnTo>
                  <a:pt x="0" y="0"/>
                </a:lnTo>
                <a:close/>
              </a:path>
            </a:pathLst>
          </a:custGeom>
          <a:solidFill>
            <a:srgbClr val="404040"/>
          </a:solidFill>
          <a:ln w="12700">
            <a:solidFill>
              <a:srgbClr val="404040"/>
            </a:solidFill>
            <a:prstDash val="solid"/>
          </a:ln>
        </p:spPr>
      </p:sp>
      <p:sp>
        <p:nvSpPr>
          <p:cNvPr id="27" name="Text 25"/>
          <p:cNvSpPr/>
          <p:nvPr/>
        </p:nvSpPr>
        <p:spPr>
          <a:xfrm>
            <a:off x="9646920" y="2615184"/>
            <a:ext cx="1883664" cy="914400"/>
          </a:xfrm>
          <a:prstGeom prst="roundRect">
            <a:avLst>
              <a:gd name="adj" fmla="val 10000"/>
            </a:avLst>
          </a:prstGeom>
          <a:solidFill>
            <a:srgbClr val="0072B2"/>
          </a:solidFill>
          <a:ln/>
        </p:spPr>
        <p:txBody>
          <a:bodyPr wrap="square" lIns="0" tIns="0" rIns="0" bIns="0"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計画と説明</a:t>
            </a:r>
            <a:endParaRPr lang="ja-JP" sz="2200" dirty="0"/>
          </a:p>
        </p:txBody>
      </p:sp>
      <p:sp>
        <p:nvSpPr>
          <p:cNvPr id="28" name="Text 26"/>
          <p:cNvSpPr txBox="1"/>
          <p:nvPr/>
        </p:nvSpPr>
        <p:spPr>
          <a:xfrm>
            <a:off x="9491472" y="3803904"/>
            <a:ext cx="2194560" cy="896112"/>
          </a:xfrm>
          <a:prstGeom prst="rect">
            <a:avLst/>
          </a:prstGeom>
          <a:noFill/>
          <a:ln/>
        </p:spPr>
        <p:txBody>
          <a:bodyPr wrap="square" lIns="0" tIns="0" rIns="0" bIns="0" rtlCol="0" anchor="t"/>
          <a:lstStyle/>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同意、</a:t>
            </a:r>
            <a:endParaRPr lang="ja-JP" sz="2200" dirty="0"/>
          </a:p>
          <a:p>
            <a:pPr algn="ctr" indent="0" marL="0">
              <a:spcAft>
                <a:spcPts val="400"/>
              </a:spcAft>
              <a:buNone/>
            </a:pPr>
            <a:r>
              <a:rPr lang="ja-JP" altLang="en-US" sz="2200" dirty="0">
                <a:solidFill>
                  <a:srgbClr val="262626"/>
                </a:solidFill>
                <a:latin typeface="メイリオ" pitchFamily="34" charset="0"/>
                <a:ea typeface="メイリオ" pitchFamily="34" charset="-122"/>
                <a:cs typeface="メイリオ" pitchFamily="34" charset="-120"/>
              </a:rPr>
              <a:t>申し送り、記録</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問診で必ず聞くこと</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流れ</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問診と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ASA-PS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延期と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相談</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Practice Advisory for Preanesthesia Evaluation. Anesthesiology 2012;116:522-538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 周術期禁煙プラクティカルガイド（2021）・悪性高熱症管理ガイドライン（2025）</a:t>
            </a:r>
            <a:endParaRPr lang="ja-JP" sz="1600" dirty="0"/>
          </a:p>
        </p:txBody>
      </p:sp>
      <p:sp>
        <p:nvSpPr>
          <p:cNvPr id="11" name="Text 9"/>
          <p:cNvSpPr txBox="1"/>
          <p:nvPr/>
        </p:nvSpPr>
        <p:spPr>
          <a:xfrm>
            <a:off x="502920" y="1755648"/>
            <a:ext cx="11155680" cy="4096512"/>
          </a:xfrm>
          <a:prstGeom prst="rect">
            <a:avLst/>
          </a:prstGeom>
          <a:noFill/>
          <a:ln/>
        </p:spPr>
        <p:txBody>
          <a:bodyPr wrap="square" lIns="0" tIns="0" rIns="0" bIns="0" rtlCol="0" anchor="t"/>
          <a:lstStyle/>
          <a:p>
            <a:pPr algn="l" marL="406400" indent="-406400">
              <a:spcAft>
                <a:spcPts val="1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麻酔歴：本人と血縁者の『麻酔で困ったこと』</a:t>
            </a:r>
            <a:endParaRPr lang="ja-JP" sz="2800" dirty="0"/>
          </a:p>
          <a:p>
            <a:pPr algn="l" marL="406400" indent="-406400">
              <a:spcAft>
                <a:spcPts val="1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アレルギー：何で、何が起きたか、いつ</a:t>
            </a:r>
            <a:endParaRPr lang="ja-JP" sz="2800" dirty="0"/>
          </a:p>
          <a:p>
            <a:pPr algn="l" marL="406400" indent="-406400">
              <a:spcAft>
                <a:spcPts val="1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内服：抗血栓薬、糖尿病薬、ステロイド、市販薬・漢方</a:t>
            </a:r>
            <a:endParaRPr lang="ja-JP" sz="2800" dirty="0"/>
          </a:p>
          <a:p>
            <a:pPr algn="l" marL="406400" indent="-406400">
              <a:spcAft>
                <a:spcPts val="1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喫煙・飲酒、運動耐容能（階段 2 フロア分 ≈ 4 METs 超）</a:t>
            </a:r>
            <a:endParaRPr lang="ja-JP" sz="2800" dirty="0"/>
          </a:p>
          <a:p>
            <a:pPr algn="l" marL="406400" indent="-406400">
              <a:spcAft>
                <a:spcPts val="1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併存疾患と</a:t>
            </a:r>
            <a:r>
              <a:rPr lang="ja-JP" altLang="en-US" sz="2800" b="1" dirty="0">
                <a:solidFill>
                  <a:srgbClr val="D55E00"/>
                </a:solidFill>
                <a:latin typeface="メイリオ" pitchFamily="34" charset="0"/>
                <a:ea typeface="メイリオ" pitchFamily="34" charset="-122"/>
                <a:cs typeface="メイリオ" pitchFamily="34" charset="-120"/>
              </a:rPr>
              <a:t>『最近の変化』</a:t>
            </a:r>
            <a:r>
              <a:rPr lang="ja-JP" altLang="en-US" sz="2800" dirty="0">
                <a:solidFill>
                  <a:srgbClr val="262626"/>
                </a:solidFill>
                <a:latin typeface="メイリオ" pitchFamily="34" charset="0"/>
                <a:ea typeface="メイリオ" pitchFamily="34" charset="-122"/>
                <a:cs typeface="メイリオ" pitchFamily="34" charset="-120"/>
              </a:rPr>
              <a:t>（胸痛、息切れ、失神）</a:t>
            </a:r>
            <a:endParaRPr lang="ja-JP" sz="2800" dirty="0"/>
          </a:p>
          <a:p>
            <a:pPr algn="l" marL="406400" indent="-406400">
              <a:spcAft>
                <a:spcPts val="1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妊娠の可能性、歯、いびき・無呼吸、逆流</a:t>
            </a:r>
            <a:endParaRPr lang="ja-JP"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診察で必ず見ること</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流れ</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問診と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ASA-PS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延期と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相談</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Practice Advisory for Preanesthesia Evaluation. Anesthesiology 2012;116:522-538</a:t>
            </a:r>
            <a:endParaRPr lang="ja-JP" sz="1600" dirty="0"/>
          </a:p>
        </p:txBody>
      </p:sp>
      <p:sp>
        <p:nvSpPr>
          <p:cNvPr id="11" name="Shape 9"/>
          <p:cNvSpPr/>
          <p:nvPr/>
        </p:nvSpPr>
        <p:spPr>
          <a:xfrm>
            <a:off x="502920" y="1920240"/>
            <a:ext cx="3581705" cy="4032504"/>
          </a:xfrm>
          <a:prstGeom prst="roundRect">
            <a:avLst>
              <a:gd name="adj" fmla="val 2042"/>
            </a:avLst>
          </a:prstGeom>
          <a:solidFill>
            <a:srgbClr val="F2F2F2"/>
          </a:solidFill>
          <a:ln/>
        </p:spPr>
      </p:sp>
      <p:sp>
        <p:nvSpPr>
          <p:cNvPr id="12" name="Text 10"/>
          <p:cNvSpPr txBox="1"/>
          <p:nvPr/>
        </p:nvSpPr>
        <p:spPr>
          <a:xfrm>
            <a:off x="667512" y="2084832"/>
            <a:ext cx="3252521"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気道（→ 4-2）</a:t>
            </a:r>
            <a:endParaRPr lang="ja-JP" sz="2600" dirty="0"/>
          </a:p>
        </p:txBody>
      </p:sp>
      <p:sp>
        <p:nvSpPr>
          <p:cNvPr id="13" name="Text 11"/>
          <p:cNvSpPr txBox="1"/>
          <p:nvPr/>
        </p:nvSpPr>
        <p:spPr>
          <a:xfrm>
            <a:off x="667512" y="286207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開口、Mallampati</a:t>
            </a:r>
            <a:endParaRPr lang="ja-JP" sz="2400" dirty="0"/>
          </a:p>
        </p:txBody>
      </p:sp>
      <p:sp>
        <p:nvSpPr>
          <p:cNvPr id="14" name="Shape 12"/>
          <p:cNvSpPr/>
          <p:nvPr/>
        </p:nvSpPr>
        <p:spPr>
          <a:xfrm>
            <a:off x="667512" y="3502152"/>
            <a:ext cx="3252521" cy="0"/>
          </a:xfrm>
          <a:prstGeom prst="line">
            <a:avLst/>
          </a:prstGeom>
          <a:noFill/>
          <a:ln w="12700">
            <a:solidFill>
              <a:srgbClr val="BFBFBF"/>
            </a:solidFill>
            <a:prstDash val="solid"/>
          </a:ln>
        </p:spPr>
      </p:sp>
      <p:sp>
        <p:nvSpPr>
          <p:cNvPr id="15" name="Text 13"/>
          <p:cNvSpPr txBox="1"/>
          <p:nvPr/>
        </p:nvSpPr>
        <p:spPr>
          <a:xfrm>
            <a:off x="667512" y="368503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頸部の動き</a:t>
            </a:r>
            <a:endParaRPr lang="ja-JP" sz="2400" dirty="0"/>
          </a:p>
        </p:txBody>
      </p:sp>
      <p:sp>
        <p:nvSpPr>
          <p:cNvPr id="16" name="Shape 14"/>
          <p:cNvSpPr/>
          <p:nvPr/>
        </p:nvSpPr>
        <p:spPr>
          <a:xfrm>
            <a:off x="667512" y="4325112"/>
            <a:ext cx="3252521" cy="0"/>
          </a:xfrm>
          <a:prstGeom prst="line">
            <a:avLst/>
          </a:prstGeom>
          <a:noFill/>
          <a:ln w="12700">
            <a:solidFill>
              <a:srgbClr val="BFBFBF"/>
            </a:solidFill>
            <a:prstDash val="solid"/>
          </a:ln>
        </p:spPr>
      </p:sp>
      <p:sp>
        <p:nvSpPr>
          <p:cNvPr id="17" name="Text 15"/>
          <p:cNvSpPr txBox="1"/>
          <p:nvPr/>
        </p:nvSpPr>
        <p:spPr>
          <a:xfrm>
            <a:off x="667512" y="450799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歯、あご、首の太さ</a:t>
            </a:r>
            <a:endParaRPr lang="ja-JP" sz="2400" dirty="0"/>
          </a:p>
        </p:txBody>
      </p:sp>
      <p:sp>
        <p:nvSpPr>
          <p:cNvPr id="18" name="Shape 16"/>
          <p:cNvSpPr/>
          <p:nvPr/>
        </p:nvSpPr>
        <p:spPr>
          <a:xfrm>
            <a:off x="667512" y="5148072"/>
            <a:ext cx="3252521" cy="0"/>
          </a:xfrm>
          <a:prstGeom prst="line">
            <a:avLst/>
          </a:prstGeom>
          <a:noFill/>
          <a:ln w="12700">
            <a:solidFill>
              <a:srgbClr val="BFBFBF"/>
            </a:solidFill>
            <a:prstDash val="solid"/>
          </a:ln>
        </p:spPr>
      </p:sp>
      <p:sp>
        <p:nvSpPr>
          <p:cNvPr id="19" name="Text 17"/>
          <p:cNvSpPr txBox="1"/>
          <p:nvPr/>
        </p:nvSpPr>
        <p:spPr>
          <a:xfrm>
            <a:off x="667512" y="533095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困難気道の既往</a:t>
            </a:r>
            <a:endParaRPr lang="ja-JP" sz="2400" dirty="0"/>
          </a:p>
        </p:txBody>
      </p:sp>
      <p:sp>
        <p:nvSpPr>
          <p:cNvPr id="20" name="Shape 18"/>
          <p:cNvSpPr/>
          <p:nvPr/>
        </p:nvSpPr>
        <p:spPr>
          <a:xfrm>
            <a:off x="4304081" y="1920240"/>
            <a:ext cx="3581705" cy="4032504"/>
          </a:xfrm>
          <a:prstGeom prst="roundRect">
            <a:avLst>
              <a:gd name="adj" fmla="val 2042"/>
            </a:avLst>
          </a:prstGeom>
          <a:solidFill>
            <a:srgbClr val="F2F2F2"/>
          </a:solidFill>
          <a:ln/>
        </p:spPr>
      </p:sp>
      <p:sp>
        <p:nvSpPr>
          <p:cNvPr id="21" name="Text 19"/>
          <p:cNvSpPr txBox="1"/>
          <p:nvPr/>
        </p:nvSpPr>
        <p:spPr>
          <a:xfrm>
            <a:off x="4468673" y="2084832"/>
            <a:ext cx="3252521"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心肺</a:t>
            </a:r>
            <a:endParaRPr lang="ja-JP" sz="2600" dirty="0"/>
          </a:p>
        </p:txBody>
      </p:sp>
      <p:sp>
        <p:nvSpPr>
          <p:cNvPr id="22" name="Text 20"/>
          <p:cNvSpPr txBox="1"/>
          <p:nvPr/>
        </p:nvSpPr>
        <p:spPr>
          <a:xfrm>
            <a:off x="4468673" y="286207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血圧、脈、SpO2</a:t>
            </a:r>
            <a:endParaRPr lang="ja-JP" sz="2400" dirty="0"/>
          </a:p>
        </p:txBody>
      </p:sp>
      <p:sp>
        <p:nvSpPr>
          <p:cNvPr id="23" name="Shape 21"/>
          <p:cNvSpPr/>
          <p:nvPr/>
        </p:nvSpPr>
        <p:spPr>
          <a:xfrm>
            <a:off x="4468673" y="3502152"/>
            <a:ext cx="3252521" cy="0"/>
          </a:xfrm>
          <a:prstGeom prst="line">
            <a:avLst/>
          </a:prstGeom>
          <a:noFill/>
          <a:ln w="12700">
            <a:solidFill>
              <a:srgbClr val="BFBFBF"/>
            </a:solidFill>
            <a:prstDash val="solid"/>
          </a:ln>
        </p:spPr>
      </p:sp>
      <p:sp>
        <p:nvSpPr>
          <p:cNvPr id="24" name="Text 22"/>
          <p:cNvSpPr txBox="1"/>
          <p:nvPr/>
        </p:nvSpPr>
        <p:spPr>
          <a:xfrm>
            <a:off x="4468673" y="368503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心雑音、ラ音、喘鳴</a:t>
            </a:r>
            <a:endParaRPr lang="ja-JP" sz="2400" dirty="0"/>
          </a:p>
        </p:txBody>
      </p:sp>
      <p:sp>
        <p:nvSpPr>
          <p:cNvPr id="25" name="Shape 23"/>
          <p:cNvSpPr/>
          <p:nvPr/>
        </p:nvSpPr>
        <p:spPr>
          <a:xfrm>
            <a:off x="4468673" y="4325112"/>
            <a:ext cx="3252521" cy="0"/>
          </a:xfrm>
          <a:prstGeom prst="line">
            <a:avLst/>
          </a:prstGeom>
          <a:noFill/>
          <a:ln w="12700">
            <a:solidFill>
              <a:srgbClr val="BFBFBF"/>
            </a:solidFill>
            <a:prstDash val="solid"/>
          </a:ln>
        </p:spPr>
      </p:sp>
      <p:sp>
        <p:nvSpPr>
          <p:cNvPr id="26" name="Text 24"/>
          <p:cNvSpPr txBox="1"/>
          <p:nvPr/>
        </p:nvSpPr>
        <p:spPr>
          <a:xfrm>
            <a:off x="4468673" y="450799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頸静脈、下肢の浮腫</a:t>
            </a:r>
            <a:endParaRPr lang="ja-JP" sz="2400" dirty="0"/>
          </a:p>
        </p:txBody>
      </p:sp>
      <p:sp>
        <p:nvSpPr>
          <p:cNvPr id="27" name="Shape 25"/>
          <p:cNvSpPr/>
          <p:nvPr/>
        </p:nvSpPr>
        <p:spPr>
          <a:xfrm>
            <a:off x="4468673" y="5148072"/>
            <a:ext cx="3252521" cy="0"/>
          </a:xfrm>
          <a:prstGeom prst="line">
            <a:avLst/>
          </a:prstGeom>
          <a:noFill/>
          <a:ln w="12700">
            <a:solidFill>
              <a:srgbClr val="BFBFBF"/>
            </a:solidFill>
            <a:prstDash val="solid"/>
          </a:ln>
        </p:spPr>
      </p:sp>
      <p:sp>
        <p:nvSpPr>
          <p:cNvPr id="28" name="Text 26"/>
          <p:cNvSpPr txBox="1"/>
          <p:nvPr/>
        </p:nvSpPr>
        <p:spPr>
          <a:xfrm>
            <a:off x="4468673" y="533095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会話での息切れ</a:t>
            </a:r>
            <a:endParaRPr lang="ja-JP" sz="2400" dirty="0"/>
          </a:p>
        </p:txBody>
      </p:sp>
      <p:sp>
        <p:nvSpPr>
          <p:cNvPr id="29" name="Shape 27"/>
          <p:cNvSpPr/>
          <p:nvPr/>
        </p:nvSpPr>
        <p:spPr>
          <a:xfrm>
            <a:off x="8105242" y="1920240"/>
            <a:ext cx="3581705" cy="4032504"/>
          </a:xfrm>
          <a:prstGeom prst="roundRect">
            <a:avLst>
              <a:gd name="adj" fmla="val 2042"/>
            </a:avLst>
          </a:prstGeom>
          <a:solidFill>
            <a:srgbClr val="F2F2F2"/>
          </a:solidFill>
          <a:ln/>
        </p:spPr>
      </p:sp>
      <p:sp>
        <p:nvSpPr>
          <p:cNvPr id="30" name="Text 28"/>
          <p:cNvSpPr txBox="1"/>
          <p:nvPr/>
        </p:nvSpPr>
        <p:spPr>
          <a:xfrm>
            <a:off x="8269834" y="2084832"/>
            <a:ext cx="3252521"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全身</a:t>
            </a:r>
            <a:endParaRPr lang="ja-JP" sz="2600" dirty="0"/>
          </a:p>
        </p:txBody>
      </p:sp>
      <p:sp>
        <p:nvSpPr>
          <p:cNvPr id="31" name="Text 29"/>
          <p:cNvSpPr txBox="1"/>
          <p:nvPr/>
        </p:nvSpPr>
        <p:spPr>
          <a:xfrm>
            <a:off x="8269834" y="286207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身長・体重・BMI</a:t>
            </a:r>
            <a:endParaRPr lang="ja-JP" sz="2400" dirty="0"/>
          </a:p>
        </p:txBody>
      </p:sp>
      <p:sp>
        <p:nvSpPr>
          <p:cNvPr id="32" name="Shape 30"/>
          <p:cNvSpPr/>
          <p:nvPr/>
        </p:nvSpPr>
        <p:spPr>
          <a:xfrm>
            <a:off x="8269834" y="3502152"/>
            <a:ext cx="3252521" cy="0"/>
          </a:xfrm>
          <a:prstGeom prst="line">
            <a:avLst/>
          </a:prstGeom>
          <a:noFill/>
          <a:ln w="12700">
            <a:solidFill>
              <a:srgbClr val="BFBFBF"/>
            </a:solidFill>
            <a:prstDash val="solid"/>
          </a:ln>
        </p:spPr>
      </p:sp>
      <p:sp>
        <p:nvSpPr>
          <p:cNvPr id="33" name="Text 31"/>
          <p:cNvSpPr txBox="1"/>
          <p:nvPr/>
        </p:nvSpPr>
        <p:spPr>
          <a:xfrm>
            <a:off x="8269834" y="368503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静脈路の取りやすさ</a:t>
            </a:r>
            <a:endParaRPr lang="ja-JP" sz="2400" dirty="0"/>
          </a:p>
        </p:txBody>
      </p:sp>
      <p:sp>
        <p:nvSpPr>
          <p:cNvPr id="34" name="Shape 32"/>
          <p:cNvSpPr/>
          <p:nvPr/>
        </p:nvSpPr>
        <p:spPr>
          <a:xfrm>
            <a:off x="8269834" y="4325112"/>
            <a:ext cx="3252521" cy="0"/>
          </a:xfrm>
          <a:prstGeom prst="line">
            <a:avLst/>
          </a:prstGeom>
          <a:noFill/>
          <a:ln w="12700">
            <a:solidFill>
              <a:srgbClr val="BFBFBF"/>
            </a:solidFill>
            <a:prstDash val="solid"/>
          </a:ln>
        </p:spPr>
      </p:sp>
      <p:sp>
        <p:nvSpPr>
          <p:cNvPr id="35" name="Text 33"/>
          <p:cNvSpPr txBox="1"/>
          <p:nvPr/>
        </p:nvSpPr>
        <p:spPr>
          <a:xfrm>
            <a:off x="8269834" y="450799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脊椎（区域麻酔）</a:t>
            </a:r>
            <a:endParaRPr lang="ja-JP" sz="2400" dirty="0"/>
          </a:p>
        </p:txBody>
      </p:sp>
      <p:sp>
        <p:nvSpPr>
          <p:cNvPr id="36" name="Shape 34"/>
          <p:cNvSpPr/>
          <p:nvPr/>
        </p:nvSpPr>
        <p:spPr>
          <a:xfrm>
            <a:off x="8269834" y="5148072"/>
            <a:ext cx="3252521" cy="0"/>
          </a:xfrm>
          <a:prstGeom prst="line">
            <a:avLst/>
          </a:prstGeom>
          <a:noFill/>
          <a:ln w="12700">
            <a:solidFill>
              <a:srgbClr val="BFBFBF"/>
            </a:solidFill>
            <a:prstDash val="solid"/>
          </a:ln>
        </p:spPr>
      </p:sp>
      <p:sp>
        <p:nvSpPr>
          <p:cNvPr id="37" name="Text 35"/>
          <p:cNvSpPr txBox="1"/>
          <p:nvPr/>
        </p:nvSpPr>
        <p:spPr>
          <a:xfrm>
            <a:off x="8269834" y="5330952"/>
            <a:ext cx="3252521" cy="457200"/>
          </a:xfrm>
          <a:prstGeom prst="rect">
            <a:avLst/>
          </a:prstGeom>
          <a:noFill/>
          <a:ln/>
        </p:spPr>
        <p:txBody>
          <a:bodyPr wrap="square" lIns="0" tIns="0" rIns="0" bIns="0" rtlCol="0" anchor="t"/>
          <a:lstStyle/>
          <a:p>
            <a:pPr algn="l" indent="0" marL="0">
              <a:spcAft>
                <a:spcPts val="100"/>
              </a:spcAft>
              <a:buNone/>
            </a:pPr>
            <a:r>
              <a:rPr lang="ja-JP" altLang="en-US" sz="2400" dirty="0">
                <a:solidFill>
                  <a:srgbClr val="262626"/>
                </a:solidFill>
                <a:latin typeface="メイリオ" pitchFamily="34" charset="0"/>
                <a:ea typeface="メイリオ" pitchFamily="34" charset="-122"/>
                <a:cs typeface="メイリオ" pitchFamily="34" charset="-120"/>
              </a:rPr>
              <a:t>麻痺・感覚の左右差</a:t>
            </a:r>
            <a:endParaRPr 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ASA-PS 分類（2020）</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流れ</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ASA-PS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延期と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相談</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Statement on ASA Physical Status Classification System（2020）</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914400"/>
                <a:gridCol w="2679192"/>
                <a:gridCol w="7562088"/>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分類</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定義</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例（ASA 2020 の例から）</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411480">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I</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健康な患者</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非喫煙、飲酒なしかごく少量</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II</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軽い全身疾患</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喫煙、妊娠、BMI 30〜40、良好な糖尿病・高血圧</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III</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重い全身疾患</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（機能制限あり）</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不良な糖尿病・高血圧、BMI 40 以上、定期透析中、</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COPD、3 か月より前の心筋梗塞・脳卒中・ステント</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IV</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常に生命を脅かす</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重い疾患</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 か月以内の心筋梗塞・脳卒中・ステント、</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進行中の虚血・重症弁膜症、敗血症、ショック</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V</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手術なしでは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生存が見込めない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破裂した大動脈瘤、大量外傷、</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mass effect のある頭蓋内出血</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VI</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脳死の臓器提供者</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2" name="Text 9"/>
          <p:cNvSpPr txBox="1"/>
          <p:nvPr/>
        </p:nvSpPr>
        <p:spPr>
          <a:xfrm>
            <a:off x="502920" y="5806440"/>
            <a:ext cx="11183112" cy="365760"/>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E：</a:t>
            </a:r>
            <a:r>
              <a:rPr lang="ja-JP" altLang="en-US" sz="2200" dirty="0">
                <a:solidFill>
                  <a:srgbClr val="262626"/>
                </a:solidFill>
                <a:latin typeface="メイリオ" pitchFamily="34" charset="0"/>
                <a:ea typeface="メイリオ" pitchFamily="34" charset="-122"/>
                <a:cs typeface="メイリオ" pitchFamily="34" charset="-120"/>
              </a:rPr>
              <a:t>緊急。遅れると生命・身体の危険が大きく増すとき（例 III E）</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ASA-PS の使い方と限界</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流れ</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ASA-PS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延期と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相談</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Statement on ASA Physical Status Classification System（2020）</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入田和男ほか. 麻酔 2002;51:71-85（日本麻酔科学会 麻酔関連偶発症例調査）</a:t>
            </a:r>
            <a:endParaRPr lang="ja-JP" sz="1600" dirty="0"/>
          </a:p>
        </p:txBody>
      </p:sp>
      <p:sp>
        <p:nvSpPr>
          <p:cNvPr id="11" name="Text 9"/>
          <p:cNvSpPr txBox="1"/>
          <p:nvPr/>
        </p:nvSpPr>
        <p:spPr>
          <a:xfrm>
            <a:off x="502920" y="1810512"/>
            <a:ext cx="11155680" cy="4023360"/>
          </a:xfrm>
          <a:prstGeom prst="rect">
            <a:avLst/>
          </a:prstGeom>
          <a:noFill/>
          <a:ln/>
        </p:spPr>
        <p:txBody>
          <a:bodyPr wrap="square" lIns="0" tIns="0" rIns="0" bIns="0" rtlCol="0" anchor="t"/>
          <a:lstStyle/>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患者の全身状態の分類。</a:t>
            </a:r>
            <a:r>
              <a:rPr lang="ja-JP" altLang="en-US" sz="2400" b="1" dirty="0">
                <a:solidFill>
                  <a:srgbClr val="D55E00"/>
                </a:solidFill>
                <a:latin typeface="メイリオ" pitchFamily="34" charset="0"/>
                <a:ea typeface="メイリオ" pitchFamily="34" charset="-122"/>
                <a:cs typeface="メイリオ" pitchFamily="34" charset="-120"/>
              </a:rPr>
              <a:t>手術の危険度は含まない</a:t>
            </a:r>
            <a:endParaRPr lang="ja-JP" sz="2400" dirty="0"/>
          </a:p>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年齢、手術部位、術者の腕、緊急度（E 以外）は入らない</a:t>
            </a:r>
            <a:endParaRPr lang="ja-JP" sz="2400" dirty="0"/>
          </a:p>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評価者でばらつく。公式の『例』を見て合わせる</a:t>
            </a:r>
            <a:endParaRPr lang="ja-JP" sz="2400" dirty="0"/>
          </a:p>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危機的偶発症の死亡 </a:t>
            </a:r>
            <a:r>
              <a:rPr lang="ja-JP" altLang="en-US" sz="2400" b="1" dirty="0">
                <a:solidFill>
                  <a:srgbClr val="0072B2"/>
                </a:solidFill>
                <a:latin typeface="メイリオ" pitchFamily="34" charset="0"/>
                <a:ea typeface="メイリオ" pitchFamily="34" charset="-122"/>
                <a:cs typeface="メイリオ" pitchFamily="34" charset="-120"/>
              </a:rPr>
              <a:t>I 0.32</a:t>
            </a:r>
            <a:r>
              <a:rPr lang="ja-JP" altLang="en-US" sz="2400" dirty="0">
                <a:solidFill>
                  <a:srgbClr val="262626"/>
                </a:solidFill>
                <a:latin typeface="メイリオ" pitchFamily="34" charset="0"/>
                <a:ea typeface="メイリオ" pitchFamily="34" charset="-122"/>
                <a:cs typeface="メイリオ" pitchFamily="34" charset="-120"/>
              </a:rPr>
              <a:t> → </a:t>
            </a:r>
            <a:r>
              <a:rPr lang="ja-JP" altLang="en-US" sz="2400" b="1" dirty="0">
                <a:solidFill>
                  <a:srgbClr val="D55E00"/>
                </a:solidFill>
                <a:latin typeface="メイリオ" pitchFamily="34" charset="0"/>
                <a:ea typeface="メイリオ" pitchFamily="34" charset="-122"/>
                <a:cs typeface="メイリオ" pitchFamily="34" charset="-120"/>
              </a:rPr>
              <a:t>IV 70.20</a:t>
            </a:r>
            <a:r>
              <a:rPr lang="ja-JP" altLang="en-US" sz="2400" dirty="0">
                <a:solidFill>
                  <a:srgbClr val="262626"/>
                </a:solidFill>
                <a:latin typeface="メイリオ" pitchFamily="34" charset="0"/>
                <a:ea typeface="メイリオ" pitchFamily="34" charset="-122"/>
                <a:cs typeface="メイリオ" pitchFamily="34" charset="-120"/>
              </a:rPr>
              <a:t>／1 万麻酔（JSA 2000 年）</a:t>
            </a:r>
            <a:endParaRPr lang="ja-JP" sz="2400" dirty="0"/>
          </a:p>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分類が目的ではない。計画と説明につなぐ</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延期を考える所見と相談先</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流れ</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ASA-PS</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延期と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相談</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Hartle A, et al. Anaesthesia 2016;71:326-337 / Thompson A, et al. Circulation</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2024;150:e351-e442 / Kothari P, et al. J Cardiothorac Vasc Anesth 2025;39:2408-2420</a:t>
            </a:r>
            <a:endParaRPr lang="ja-JP" sz="1600" dirty="0"/>
          </a:p>
        </p:txBody>
      </p:sp>
      <p:sp>
        <p:nvSpPr>
          <p:cNvPr id="11" name="Shape 9"/>
          <p:cNvSpPr/>
          <p:nvPr/>
        </p:nvSpPr>
        <p:spPr>
          <a:xfrm>
            <a:off x="502920" y="1691640"/>
            <a:ext cx="5481828" cy="4178808"/>
          </a:xfrm>
          <a:prstGeom prst="roundRect">
            <a:avLst>
              <a:gd name="adj" fmla="val 1751"/>
            </a:avLst>
          </a:prstGeom>
          <a:solidFill>
            <a:srgbClr val="F2F2F2"/>
          </a:solidFill>
          <a:ln/>
        </p:spPr>
      </p:sp>
      <p:sp>
        <p:nvSpPr>
          <p:cNvPr id="12" name="Text 10"/>
          <p:cNvSpPr txBox="1"/>
          <p:nvPr/>
        </p:nvSpPr>
        <p:spPr>
          <a:xfrm>
            <a:off x="640080" y="1828800"/>
            <a:ext cx="5326380" cy="502920"/>
          </a:xfrm>
          <a:prstGeom prst="rect">
            <a:avLst/>
          </a:prstGeom>
          <a:noFill/>
          <a:ln/>
        </p:spPr>
        <p:txBody>
          <a:bodyPr wrap="square" lIns="0" tIns="0" rIns="0" bIns="0" rtlCol="0" anchor="t"/>
          <a:lstStyle/>
          <a:p>
            <a:pPr algn="l" indent="0" marL="0">
              <a:buNone/>
            </a:pPr>
            <a:r>
              <a:rPr lang="ja-JP" altLang="en-US" sz="2600" b="1" dirty="0">
                <a:solidFill>
                  <a:srgbClr val="D55E00"/>
                </a:solidFill>
                <a:latin typeface="メイリオ" pitchFamily="34" charset="0"/>
                <a:ea typeface="メイリオ" pitchFamily="34" charset="-122"/>
                <a:cs typeface="メイリオ" pitchFamily="34" charset="-120"/>
              </a:rPr>
              <a:t>延期して評価・治療する</a:t>
            </a:r>
            <a:endParaRPr lang="ja-JP" sz="2600" dirty="0"/>
          </a:p>
        </p:txBody>
      </p:sp>
      <p:sp>
        <p:nvSpPr>
          <p:cNvPr id="13" name="Text 11"/>
          <p:cNvSpPr txBox="1"/>
          <p:nvPr/>
        </p:nvSpPr>
        <p:spPr>
          <a:xfrm>
            <a:off x="640080" y="2404872"/>
            <a:ext cx="5326380" cy="3319272"/>
          </a:xfrm>
          <a:prstGeom prst="rect">
            <a:avLst/>
          </a:prstGeom>
          <a:noFill/>
          <a:ln/>
        </p:spPr>
        <p:txBody>
          <a:bodyPr wrap="square" lIns="0" tIns="0" rIns="0" bIns="0" rtlCol="0" anchor="t"/>
          <a:lstStyle/>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新しい胸痛・失神・息切れの悪化</a:t>
            </a:r>
            <a:endParaRPr lang="ja-JP" sz="2200" dirty="0"/>
          </a:p>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未評価の心雑音、新しい不整脈</a:t>
            </a:r>
            <a:endParaRPr lang="ja-JP" sz="2200" dirty="0"/>
          </a:p>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脳卒中・TIA から 3 か月以内</a:t>
            </a:r>
            <a:endParaRPr lang="ja-JP" sz="2200" dirty="0"/>
          </a:p>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再測定で血圧 180/110 mmHg 以上</a:t>
            </a:r>
            <a:endParaRPr lang="ja-JP" sz="2200" dirty="0"/>
          </a:p>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小児の上気道炎（→ 4-9）</a:t>
            </a:r>
            <a:endParaRPr lang="ja-JP" sz="2200" dirty="0"/>
          </a:p>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血糖・カリウムの大きな異常</a:t>
            </a:r>
            <a:endParaRPr lang="ja-JP" sz="2200" dirty="0"/>
          </a:p>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抗血栓薬・糖尿病薬が未調整</a:t>
            </a:r>
            <a:endParaRPr lang="ja-JP" sz="2200" dirty="0"/>
          </a:p>
        </p:txBody>
      </p:sp>
      <p:sp>
        <p:nvSpPr>
          <p:cNvPr id="14" name="Shape 12"/>
          <p:cNvSpPr/>
          <p:nvPr/>
        </p:nvSpPr>
        <p:spPr>
          <a:xfrm>
            <a:off x="6204204" y="1691640"/>
            <a:ext cx="5481828" cy="4178808"/>
          </a:xfrm>
          <a:prstGeom prst="roundRect">
            <a:avLst>
              <a:gd name="adj" fmla="val 1751"/>
            </a:avLst>
          </a:prstGeom>
          <a:solidFill>
            <a:srgbClr val="F2F2F2"/>
          </a:solidFill>
          <a:ln/>
        </p:spPr>
      </p:sp>
      <p:sp>
        <p:nvSpPr>
          <p:cNvPr id="15" name="Text 13"/>
          <p:cNvSpPr txBox="1"/>
          <p:nvPr/>
        </p:nvSpPr>
        <p:spPr>
          <a:xfrm>
            <a:off x="6341364" y="1828800"/>
            <a:ext cx="5326380"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相談する相手</a:t>
            </a:r>
            <a:endParaRPr lang="ja-JP" sz="2600" dirty="0"/>
          </a:p>
        </p:txBody>
      </p:sp>
      <p:sp>
        <p:nvSpPr>
          <p:cNvPr id="16" name="Text 14"/>
          <p:cNvSpPr txBox="1"/>
          <p:nvPr/>
        </p:nvSpPr>
        <p:spPr>
          <a:xfrm>
            <a:off x="6341364" y="2404872"/>
            <a:ext cx="5326380" cy="1874520"/>
          </a:xfrm>
          <a:prstGeom prst="rect">
            <a:avLst/>
          </a:prstGeom>
          <a:noFill/>
          <a:ln/>
        </p:spPr>
        <p:txBody>
          <a:bodyPr wrap="square" lIns="0" tIns="0" rIns="0" bIns="0" rtlCol="0" anchor="t"/>
          <a:lstStyle/>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上級医（遠隔でも相談できる）</a:t>
            </a:r>
            <a:endParaRPr lang="ja-JP" sz="2200" dirty="0"/>
          </a:p>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主科：延期の不利益を一緒に考える</a:t>
            </a:r>
            <a:endParaRPr lang="ja-JP" sz="2200" dirty="0"/>
          </a:p>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内科・循環器内科：評価と治療</a:t>
            </a:r>
            <a:endParaRPr lang="ja-JP" sz="2200" dirty="0"/>
          </a:p>
          <a:p>
            <a:pPr algn="l" marL="317500" indent="-317500">
              <a:spcAft>
                <a:spcPts val="5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患者・家族：利益と危険を共有</a:t>
            </a:r>
            <a:endParaRPr lang="ja-JP"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記録と申し送り</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流れ</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ASA-PS</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延期と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相談</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Practice Advisory for Preanesthesia Evaluation. Anesthesiology 2012;116:522-538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Sato M, et al. J Anesth 2020;34:892-897</a:t>
            </a:r>
            <a:endParaRPr lang="ja-JP" sz="1600" dirty="0"/>
          </a:p>
        </p:txBody>
      </p:sp>
      <p:sp>
        <p:nvSpPr>
          <p:cNvPr id="11" name="Text 9"/>
          <p:cNvSpPr txBox="1"/>
          <p:nvPr/>
        </p:nvSpPr>
        <p:spPr>
          <a:xfrm>
            <a:off x="502920" y="1783080"/>
            <a:ext cx="11155680" cy="3090672"/>
          </a:xfrm>
          <a:prstGeom prst="rect">
            <a:avLst/>
          </a:prstGeom>
          <a:noFill/>
          <a:ln/>
        </p:spPr>
        <p:txBody>
          <a:bodyPr wrap="square" lIns="0" tIns="0" rIns="0" bIns="0" rtlCol="0" anchor="t"/>
          <a:lstStyle/>
          <a:p>
            <a:pPr algn="l" marL="381000" indent="-381000">
              <a:spcAft>
                <a:spcPts val="1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ASA-PS と、その根拠になった所見</a:t>
            </a:r>
            <a:endParaRPr lang="ja-JP" sz="2600" dirty="0"/>
          </a:p>
          <a:p>
            <a:pPr algn="l" marL="381000" indent="-381000">
              <a:spcAft>
                <a:spcPts val="1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気道所見と気道の計画（道具、人）</a:t>
            </a:r>
            <a:endParaRPr lang="ja-JP" sz="2600" dirty="0"/>
          </a:p>
          <a:p>
            <a:pPr algn="l" marL="381000" indent="-381000">
              <a:spcAft>
                <a:spcPts val="1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麻酔方法、ルート・モニター、術後鎮痛と行き先</a:t>
            </a:r>
            <a:endParaRPr lang="ja-JP" sz="2600" dirty="0"/>
          </a:p>
          <a:p>
            <a:pPr algn="l" marL="381000" indent="-381000">
              <a:spcAft>
                <a:spcPts val="1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説明した内容と同意。未解決の問題</a:t>
            </a:r>
            <a:endParaRPr lang="ja-JP" sz="2600" dirty="0"/>
          </a:p>
          <a:p>
            <a:pPr algn="l" marL="381000" indent="-381000">
              <a:spcAft>
                <a:spcPts val="1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当日朝：絶飲食、内服、バイタル、『変わったこと』</a:t>
            </a:r>
            <a:endParaRPr lang="ja-JP" sz="2600" dirty="0"/>
          </a:p>
        </p:txBody>
      </p:sp>
      <p:sp>
        <p:nvSpPr>
          <p:cNvPr id="12" name="Text 10"/>
          <p:cNvSpPr/>
          <p:nvPr/>
        </p:nvSpPr>
        <p:spPr>
          <a:xfrm>
            <a:off x="502920" y="5129784"/>
            <a:ext cx="11183112" cy="740664"/>
          </a:xfrm>
          <a:prstGeom prst="roundRect">
            <a:avLst>
              <a:gd name="adj" fmla="val 12346"/>
            </a:avLst>
          </a:prstGeom>
          <a:solidFill>
            <a:srgbClr val="FFFFFF"/>
          </a:solidFill>
          <a:ln w="38100">
            <a:solidFill>
              <a:srgbClr val="00A8AA"/>
            </a:solidFill>
          </a:ln>
        </p:spPr>
        <p:txBody>
          <a:bodyPr wrap="square" lIns="109728" tIns="109728" rIns="109728" bIns="109728"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自分がいなくても、読めばわかる記録に</a:t>
            </a:r>
            <a:endParaRPr lang="ja-JP"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流れ</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ASA-PS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延期と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相談</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Statement on ASA Physical Status Classification System（2020）</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Practice Advisory for Preanesthesia Evaluation. Anesthesiology 2012;116:522-538</a:t>
            </a:r>
            <a:endParaRPr lang="ja-JP" sz="1600" dirty="0"/>
          </a:p>
        </p:txBody>
      </p:sp>
      <p:sp>
        <p:nvSpPr>
          <p:cNvPr id="11" name="Text 9"/>
          <p:cNvSpPr txBox="1"/>
          <p:nvPr/>
        </p:nvSpPr>
        <p:spPr>
          <a:xfrm>
            <a:off x="502920" y="1810512"/>
            <a:ext cx="11155680" cy="4005072"/>
          </a:xfrm>
          <a:prstGeom prst="rect">
            <a:avLst/>
          </a:prstGeom>
          <a:noFill/>
          <a:ln/>
        </p:spPr>
        <p:txBody>
          <a:bodyPr wrap="square" lIns="0" tIns="0" rIns="0" bIns="0" rtlCol="0" anchor="t"/>
          <a:lstStyle/>
          <a:p>
            <a:pPr algn="l" marL="406400" indent="-406400">
              <a:spcAft>
                <a:spcPts val="25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術前診察＝リスクを見つけ減らし、計画し、説明する</a:t>
            </a:r>
            <a:endParaRPr lang="ja-JP" sz="2800" dirty="0"/>
          </a:p>
          <a:p>
            <a:pPr algn="l" marL="406400" indent="-406400">
              <a:spcAft>
                <a:spcPts val="25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問診：麻酔歴、アレルギー、内服、METs、最近の変化</a:t>
            </a:r>
            <a:endParaRPr lang="ja-JP" sz="2800" dirty="0"/>
          </a:p>
          <a:p>
            <a:pPr algn="l" marL="406400" indent="-406400">
              <a:spcAft>
                <a:spcPts val="25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診察：気道、心肺、全身。自分の目と手で確かめる</a:t>
            </a:r>
            <a:endParaRPr lang="ja-JP" sz="2800" dirty="0"/>
          </a:p>
          <a:p>
            <a:pPr algn="l" marL="406400" indent="-406400">
              <a:spcAft>
                <a:spcPts val="25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ASA-PS は全身状態の分類。手術リスクは別に評価</a:t>
            </a:r>
            <a:endParaRPr lang="ja-JP" sz="2800" dirty="0"/>
          </a:p>
          <a:p>
            <a:pPr algn="l" marL="406400" indent="-406400">
              <a:spcAft>
                <a:spcPts val="25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新しい症状・未評価の異常は延期して相談。記録を残す</a:t>
            </a:r>
            <a:endParaRPr lang="ja-JP"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 術前診察の流れと ASA-PS</dc:title>
  <dc:subject/>
  <dc:creator>初期研修医向け麻酔講義</dc:creator>
  <cp:lastModifiedBy>初期研修医向け麻酔講義</cp:lastModifiedBy>
  <cp:revision>1</cp:revision>
  <dcterms:created xsi:type="dcterms:W3CDTF">2026-10-15T23:49:45Z</dcterms:created>
  <dcterms:modified xsi:type="dcterms:W3CDTF">2026-10-15T23:49:45Z</dcterms:modified>
</cp:coreProperties>
</file>