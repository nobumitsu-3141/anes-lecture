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静脈麻酔薬は、全身麻酔の導入（眠らせる）と維持（眠らせ続ける）、鎮静に使う。この回では、国内で使う4つの薬（プロポフォール、レミマゾラム、ミダゾラム、ケタミン）について、添付文書の用量、特徴、注意点、使い分けを扱う。用量は添付文書の数値で、実際には患者の反応を見て調節する（→ 3-1）。鎮静の適応は薬ごとに限られている（例: プロポフォールの鎮静の適応は集中治療における人工呼吸中だけ。4 つのうち消化器内視鏡の鎮静の適応をもつのは、2025 年 6 月に承認されたレミマゾラムだけ：Ichijima 2026）。添付文書外の用量や使い方は、本文でそう明記する。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作用機序: プロポフォール、レミマゾラム、ミダゾラムは GABA_A 受容体に作用して中枢を抑制し、意識を消す。ケタミンは NMDA 受容体を遮断し、解離性の麻酔状態を作る。ケタミン以外に鎮痛作用はないので、手術にはオピオイドや局所麻酔を併用する。</a:t>
            </a:r>
          </a:p>
          <a:p>
            <a:r>
              <a:rPr lang="ja-JP" altLang="en-US" dirty="0"/>
              <a:t>共通の副作用: 血管拡張と心抑制による血圧低下（プロポフォールで最も強い）、呼吸抑制と無呼吸（オピオイド併用で増強）、意識消失に伴う上気道閉塞。ケタミンは例外的に血圧と呼吸が保たれやすいが、絶対ではない。</a:t>
            </a:r>
          </a:p>
          <a:p>
            <a:r>
              <a:rPr lang="ja-JP" altLang="en-US" dirty="0"/>
              <a:t>使い方の原則: 効果部位の濃度が上がるまで数十秒〜数分かかる。待たずに追加すると効きすぎる。高齢者、循環不全、脱水の患者では少量からゆっくり入れる（→ 3-1）。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用量: 添付文書では、導入は 0.05 mL/kg/10 秒（プロポフォールとして 0.5 mg/kg/10 秒）の速度で、全身状態を観察しながら就眠が得られるまで静注する。通常、成人は 2.0〜2.5 mg/kg で就眠が得られ、高齢者ではより少量で就眠が得られる場合がある。ASA III 及び IV の患者には、より緩徐に投与する【要確認: 1% ディプリバン注 添付文書「6. 用法及び用量」の原文（導入速度、就眠量 2.0〜2.5 mg/kg、ASA III 及び IV の記載）】。維持は 4〜10 mg/kg/時（0.4〜1.0 mL/kg/時）の持続投与で深さを調節する。酸素または酸素・亜酸化窒素と併用し、鎮痛剤（麻薬性鎮痛剤、局所麻酔剤等）を併用する（プロポフォールに鎮痛作用はない）【要確認: 同「6. 用法及び用量」の維持の原文】。レミマゾラムの国内第 IIb/III 相試験のプロポフォール群も、導入 2.0〜2.5 mg/kg、維持 4〜10 mg/kg/時だった（Doi 2020）。鎮静の適応は「集中治療における人工呼吸中の鎮静」（成人）だけ。持続注入で 0.3 mg/kg/時から始め、通常 0.3〜3.0 mg/kg/時で調節する【要確認: 同「6. 用法及び用量」の鎮静の原文】。消化器内視鏡などの処置時鎮静は添付文書の適応外（Ichijima 2026）。高齢者は減量する。</a:t>
            </a:r>
          </a:p>
          <a:p>
            <a:r>
              <a:rPr lang="ja-JP" altLang="en-US" dirty="0"/>
              <a:t>特徴: 作用発現が速く、再分布で速やかに切れ、覚醒が速くてすっきりしている。制吐作用があり、TIVA（全静脈麻酔）では PONV が少ない。一方、血管拡張と心抑制による血圧低下と、呼吸抑制が強い。注射痛は、太い静脈を選ぶ、リドカインを先に静注する、で減らせる（Cochrane レビューで、前投与 OR 0.13、混合 OR 0.19 で、どちらも有効：Euasobhon 2016）。リドカインを混ぜると乳剤が不安定になる（1% プロポフォール 20 mL にリドカイン 40 mg で 3 時間後、20 mg で 24 時間後に油層が分離：Masaki 2003）。混ぜるなら投与直前に少量にとどめ、添付文書の他剤混合の記載を確かめる【要確認: 同「14. 適用上の注意」の原文（他剤との混合）】。</a:t>
            </a:r>
          </a:p>
          <a:p>
            <a:r>
              <a:rPr lang="ja-JP" altLang="en-US" dirty="0"/>
              <a:t>注意: 防腐剤を含まない脂肪乳剤で、細菌が増えやすい。開封後は無菌的に扱ってすぐ使う。残液と、投与に使った注射器・チューブは、手術終了時と開封後 12 時間のうち早いほうで廃棄する【要確認: 同「14. 適用上の注意」の原文（時間と対象）】。禁忌: 小児等の集中治療における人工呼吸中の鎮静。海外で小児の ICU 鎮静中に死亡例が報告され、プロポフォール注入症候群（PRIS）のリスクが理由とされる【要確認: 同「2. 禁忌」「9.7 小児等」の原文】。「本剤又は本剤の成分に対し過敏症の既往歴のある患者」も禁忌【要確認: 同「2. 禁忌」の原文】。成分に精製ダイズ油・精製卵黄レシチンを含む。卵・大豆の食物アレルギーがあるだけでプロポフォールへの反応が増えるという根拠は乏しい。Asserhøj 2016 では、卵・大豆・ピーナッツの特異的 IgE 陽性 99 人（171 麻酔）で反応がなかった。国内の Iwakiri 2023 では、卵・大豆アレルギー患者でプロポフォールを使った 151 麻酔記録（使わなかった 86 記録と比較）で、アレルギー反応の相対リスク 1.14（95%CI 0.10–12.4）だった。ただし国内には卵アレルギーを禁忌と読む立場もあり（Inoue 2024）、施設の方針に従って説明する。妊産婦も禁忌に挙げられている【要確認: 同「2. 禁忌」「9.5 妊婦」の原文（妊産婦の記載の有無と範囲）】。長時間・高用量の持続投与では、代謝性アシドーシス、横紋筋融解、高脂血症などの注入症候群に注意する。</a:t>
            </a:r>
          </a:p>
          <a:p>
            <a:r>
              <a:rPr lang="ja-JP" altLang="en-US" dirty="0"/>
              <a:t>参考: Doi M, et al. J Anesth 2020;34:543-553 / Ichijima R, et al. DEN Open 2026;7:e70402 / Euasobhon P, et al. Cochrane Database Syst Rev 2016;2:CD007874 / Masaki Y, et al. Anesth Analg 2003;97:1646-1651 / Iwakiri M, et al. JA Clin Rep 2023;9:1 / Inoue M, Morita M. Saudi J Anaesth 2024;18:573-575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用量: 添付文書では、全身麻酔の導入は 12 mg/kg/時の速度で意識消失が得られるまで持続注入し、患者の年齢・状態に応じて投与速度を適宜減速する。高齢者では減速を考慮する（具体的な速度は示されていない：Yokose 2022 が添付文書の記載として引用）【要確認: アネレム静注用 添付文書「6. 用法及び用量」「9.8 高齢者」の原文。ASA III 以上を名指しした記載があるかも確認】。維持は 1 mg/kg/時で開始し、上限 2 mg/kg/時の範囲で調節する。覚醒徴候が認められた場合は、最大 0.2 mg/kg を静注で追加できる（Obara 2026 が国内添付文書の記載として引用）【要確認: 同「6. 用法及び用量」の原文】。減速だけでは血圧低下を防げない（下の ASA III の国内試験）。</a:t>
            </a:r>
          </a:p>
          <a:p>
            <a:r>
              <a:rPr lang="ja-JP" altLang="en-US" dirty="0"/>
              <a:t>特徴: ベンゾジアゼピン系の全身麻酔薬。主に肝のカルボキシルエステラーゼ 1（CES1）で、不活性代謝物（CNS 7054）に加水分解される（ヒト血清や腸では分解されず、肝でだけ分解された：Wang 2025）。CYP に依存しないので相互作用は少なく、持続投与しても切れ方が大きく変わらない。腎障害ではクリアランスは変わらない。重度の肝障害ではクリアランスが 38.1% 下がり、覚醒が遅れる（健常 8.0 分、中等度 12.1 分、重度 16.7 分：Stöhr 2021。ボーラス後の最高血中濃度は変わらず、同研究は用量調整は不要とした）。肝機能障害、特に重度では作用が遷延しうるので、慎重に調節する【要確認: 同「9.3 肝機能障害患者」の原文】。国内第 IIb/III 相試験（ASA I–II）では、血圧低下が 6 mg/kg/時で 20.0%、12 mg/kg/時で 24.0%、プロポフォールで 49.3%。注射痛は 0% 対 18.7%（Doi 2020）。ただし ASA III の国内試験（67 例）では、6 mg/kg/時で 54.8%、12 mg/kg/時で 67.7% に血圧低下が起き、有意差はなかった（Doi 2020、ASA III の試験）。プロポフォールより少ないが、起きないわけではない。フルマゼニルで拮抗できる（→ 3-7）。2025 年 6 月には、消化器内視鏡診療時の鎮静の適応も国内で承認された（Ichijima 2026）。用法は 3 mg を 15 秒以上かけて静注し、追加は 1 mg ずつ 2 分以上の間隔をあける（Obara 2026 が国内添付文書の記載として引用）【要確認: 同「6. 用法及び用量」（消化器内視鏡診療時の鎮静）の原文と対象製剤】。</a:t>
            </a:r>
          </a:p>
          <a:p>
            <a:r>
              <a:rPr lang="ja-JP" altLang="en-US" dirty="0"/>
              <a:t>注意: 酢酸リンゲル液・乳酸リンゲル液など、緩衝剤を含む輸液と混ざると白濁・沈殿し、ルートが完全に閉塞した報告がある（Matsuo 2021：5 mg/mL 溶液と酢酸リンゲル液 Physio140、Sasaki 2021）。pH の高い薬剤（ヘパリン、フロセミド、デキサメタゾン、メロペネムなど、65 剤中 17 剤）でも沈殿する（Hofmann 2024）。添付文書の調製濃度に従う（緩衝剤を含む輸液と同じラインなら 1 mg/mL 以下、別ラインなら 5 mg/mL までとされる：Kimura 2026）【要確認: 同「14. 適用上の注意」の原文】。可能なら専用ラインにする（添付文書より厳しい施設の方針）。プロポフォールより覚醒がやや遅れることがあり（第 IIb/III 相試験で抜管までの時間が長かった：Doi 2020）、高齢者では特に注意する。フルマゼニルは作用時間が短く、拮抗したあとに再鎮静が起こりうる（Takemori 2022）。拮抗薬を使っていない例でも、病棟に移ってから再鎮静した報告がある（Lee 2024）。拮抗後も、病棟に移るまで意識と呼吸の観察を続ける。ベンゾジアゼピン系なので、呼吸抑制はオピオイド併用で強まる。禁忌として、本剤の成分への過敏症、急性閉塞隅角緑内障、重症筋無力症、ショック・昏睡・バイタルサインの抑制がみられる急性アルコール中毒の患者が挙げられている【要確認: 同「2. 禁忌」の原文】。レミマゾラムによるアナフィラキシー（心停止に至った例を含む）の報告があり、製剤には添加剤としてデキストラン 40 が含まれる（Kim 2022、Hasushita 2022）。</a:t>
            </a:r>
          </a:p>
          <a:p>
            <a:r>
              <a:rPr lang="ja-JP" altLang="en-US" dirty="0"/>
              <a:t>参考: 日本麻酔科学会「麻酔薬および麻酔関連薬使用ガイドライン 第4版」（2025） / Doi M, et al. J Anesth 2020;34:491-501（ASA III） / Yokose M, et al. PLoS One 2022;17:e0275451 / Obara S, et al. J Intensive Care 2026;14:16 / Wang Z, et al. Drug Metab Dispos 2025;53:100023 / Ichijima R, et al. DEN Open 2026;7:e70402 / Matsuo M, et al. BMJ Case Rep 2021;14:e241622 / Sasaki H, et al. Br J Anaesth 2021;126:e87-e89 / Hofmann P, et al. BMC Anesthesiol 2024;24:233 / Kimura S, Egi M. J Intensive Care 2026;14:46 / Takemori T, et al. JA Clin Rep 2022;8:86 / Lee SJ, et al. Anesth Pain Med (Seoul) 2024;19:320-325 / Kim KM, et al. Br J Anaesth 2022;129:e122-e124 / Hasushita Y, et al. A A Pract 2022;16:e01616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用量: 添付文書では、麻酔前投薬は通常、成人には 0.08〜0.10 mg/kg を手術前 30 分〜1 時間に筋注する。全身麻酔の導入は 0.15〜0.30 mg/kg を静注し、必要に応じて初回量の半量ないし同量を追加する。なるべく太い静脈から、1 分以上かけて緩徐に注射する【要確認: ドルミカム注射液 添付文書「6. 用法及び用量」の原文（前投薬・導入）】。添付文書の鎮静の用法は 2 つ【要確認: 同「6. 用法及び用量」の原文（鎮静の各数値）】。(1) 集中治療における人工呼吸中の鎮静：初回 0.03 mg/kg を 1 分以上かけて、最大 0.06 mg/kg。追加は 0.03 mg/kg を 5 分以上空けて、総量 0.30 mg/kg まで。維持は 0.03〜0.06 mg/kg/時で開始し、0.03〜0.18 mg/kg/時。(2) 歯科・口腔外科領域の手術・処置時の鎮静：初回 1〜2 mg を 1〜2 mg/分で緩徐に。追加は 0.5〜1 mg を 2 分以上空けて、総量 5 mg まで。消化器内視鏡など、それ以外の処置で 1〜2 mg ずつ使うのは添付文書外の使い方（実地の目安）で、施設の方式に従う（Ichijima 2026）。なお消化器内視鏡の鎮静には、2025 年 6 月にレミマゾラムが国内で承認された（→ S4）。</a:t>
            </a:r>
          </a:p>
          <a:p>
            <a:r>
              <a:rPr lang="ja-JP" altLang="en-US" dirty="0"/>
              <a:t>特徴: 前向性健忘と抗不安作用があり、前投薬や鎮静に向く。作用時間はレミマゾラムより長い。肝臓の CYP3A4 で代謝されるので、肝機能低下や CYP3A4 阻害薬（アゾール系抗真菌薬、エリスロマイシンなど）で消失が遅れる。静注ミダゾラムのクリアランスは、イトラコナゾールで 69%、フルコナゾールで 51%、エリスロマイシンで 54% 下がる（Olkkola 1993, 1996）。単回の少量静注より、持続投与や大量投与で遷延が問題になる。リトナビル含有製剤など一部の抗ウイルス薬との併用は禁忌【要確認: 同「2. 禁忌」「10.1 併用禁忌」「10.2 併用注意」の原文】。</a:t>
            </a:r>
          </a:p>
          <a:p>
            <a:r>
              <a:rPr lang="ja-JP" altLang="en-US" dirty="0"/>
              <a:t>注意: オピオイドとの併用で呼吸抑制が強く出る。高齢者は感受性が高く、少量から。ベンゾジアゼピン系なので、フルマゼニルで拮抗できる（→ 3-7）。ただしフルマゼニルは作用時間が短く、拮抗後に再鎮静が起こりうるので、観察を続ける。禁忌: 急性閉塞隅角緑内障、重症筋無力症、ショック・昏睡・バイタルサインの抑制がみられる急性アルコール中毒の患者、本剤の成分への過敏症。併用禁忌の薬（HIV プロテアーゼ阻害剤〈リトナビル含有製剤など〉、エファビレンツ、コビシスタット含有製剤、ニルマトレルビル・リトナビル、エンシトレルビル）を投与中の患者も禁忌【要確認: ドルミカム注射液 添付文書「2. 禁忌」「10.1 併用禁忌」の原文と、最新の併用禁忌薬の一覧】。新型コロナウイルス感染症の治療薬（ニルマトレルビル・リトナビル、エンシトレルビル）は内服中の患者がいるので、術前に確認する。</a:t>
            </a:r>
          </a:p>
          <a:p>
            <a:r>
              <a:rPr lang="ja-JP" altLang="en-US" dirty="0"/>
              <a:t>参考: Ichijima R, et al. DEN Open 2026;7:e70402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用量: 添付文書では、初回体重 1 kg 当り 1〜2 mg を静脈内に緩徐（1 分間以上）に投与し、必要に応じて初回量と同量又は半量を追加投与する【要確認: ケタラール静注用 添付文書「6. 用法及び用量」の原文と一字一句照合】。筋注用製剤（ケタラール筋注用 500 mg）もある。静注用と濃度が違うので、取り違えに注意する【要確認: ケタラール筋注用 添付文書「6. 用法及び用量」と、静注用・筋注用それぞれの濃度】。</a:t>
            </a:r>
          </a:p>
          <a:p>
            <a:r>
              <a:rPr lang="ja-JP" altLang="en-US" dirty="0"/>
              <a:t>特徴: NMDA 受容体を遮断し、鎮痛と解離性の麻酔状態を作る。交感神経を刺激するので、血圧と心拍数が保たれやすく（上がることもある）、呼吸抑制が少なく、気道反射が比較的保たれる。ただし、交感神経の予備がない重症のショックでは、直接の心抑制作用が出て血圧が下がりうる。気管支拡張作用があり、喘息の患者にも使いやすい。</a:t>
            </a:r>
          </a:p>
          <a:p>
            <a:r>
              <a:rPr lang="ja-JP" altLang="en-US" dirty="0"/>
              <a:t>注意: 唾液や気道分泌物が増える（抗コリン薬を併用することがある）。覚醒時に夢や興奮が出るので、ベンゾジアゼピンを併用する。従来、頭蓋内圧や眼圧の上昇が懸念されてきた。鎮静・人工呼吸下の重症頭部外傷では ICP を上げないとする系統的レビューがある（Zeiler 2014、GRADE C）。一方、ICP が上がったとする研究も 2 件ある（Cohen 2015）。眼圧は軽く上がる（小児の鎮静で中央値 3 mmHg、60 人中 15 人で一過性に 5 mmHg 以上：Wadia 2014）。国内添付文書では、脳血管障害、高血圧（収縮期圧 160 mmHg 以上、拡張期圧 100 mmHg 以上）、脳圧亢進症、重症の心代償不全、痙攣発作の既往歴は禁忌【要確認: ケタラール静注用 添付文書「2. 禁忌」の原文（「外来患者」の記載の有無も）】。2007 年から麻薬に指定されており、麻薬として管理する（→ 3-4 の麻薬の取り扱い）。</a:t>
            </a:r>
          </a:p>
          <a:p>
            <a:r>
              <a:rPr lang="ja-JP" altLang="en-US" dirty="0"/>
              <a:t>離島での位置づけ: 循環が不安定な患者や出血患者の導入で選択肢になる（ただし重症の心代償不全は禁忌）。小児の処置や搬送中に使うときは、鎮静ではなく全身麻酔として扱う（国内の効能は全身麻酔と吸入麻酔の導入）。気道確保の準備をし、処置する人とは別に監視する人を置く【要確認: ケタラール静注用 添付文書「4. 効能又は効果」と「2. 禁忌」（外来患者）の原文】。</a:t>
            </a:r>
          </a:p>
          <a:p>
            <a:r>
              <a:rPr lang="ja-JP" altLang="en-US" dirty="0"/>
              <a:t>参考: Cohen L, et al. Ann Emerg Med 2015;65:43-51 / Wadia S, et al. Ann Emerg Med 2014;64:385-388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通常の導入: プロポフォールかレミマゾラム。覚醒の速さとすっきりした覚醒を重視するならプロポフォール、血圧低下を避けたい、拮抗薬で戻せる安心が欲しいならレミマゾラム。</a:t>
            </a:r>
          </a:p>
          <a:p>
            <a:r>
              <a:rPr lang="ja-JP" altLang="en-US" dirty="0"/>
              <a:t>循環が不安定・出血: プロポフォールの通常量は危険。ケタミンを 0.5〜1 mg/kg 程度に減らして、少量から入れる（添付文書の初回量は 1〜2 mg/kg。0.5〜1 mg/kg は添付文書より少ない、添付文書外の教科書的な目安）。交感神経の予備がないショックでは、ケタミンでも血圧が下がりうる。重症の心代償不全は添付文書で禁忌【要確認: ケタラール静注用 添付文書「2. 禁忌」の原文】。または、レミマゾラムを減速して入れる。減速しても血圧低下は起こる（ASA III の国内試験〈67 例〉で、導入 6 mg/kg/時で 54.8%、12 mg/kg/時で 67.7%、有意差なし：Doi 2020）。どの薬でも「少量から、待って、追加」。昇圧薬を手元に置く（→ 3-8）。</a:t>
            </a:r>
          </a:p>
          <a:p>
            <a:r>
              <a:rPr lang="ja-JP" altLang="en-US" dirty="0"/>
              <a:t>高齢者: 感受性が高く、血圧も下がりやすい。すべての薬を減量し、ゆっくり入れる。</a:t>
            </a:r>
          </a:p>
          <a:p>
            <a:r>
              <a:rPr lang="ja-JP" altLang="en-US" dirty="0"/>
              <a:t>PONV: プロポフォールによる維持（TIVA）は吸入麻酔より PONV が少ない（→ 5-4）。</a:t>
            </a:r>
          </a:p>
          <a:p>
            <a:r>
              <a:rPr lang="ja-JP" altLang="en-US" dirty="0"/>
              <a:t>拮抗: レミマゾラムとミダゾラムはフルマゼニルで拮抗できる。ただしフルマゼニルは作用時間が短く、拮抗後に再鎮静が起こりうるので、観察を続ける（→ 3-7）。プロポフォールとケタミンに拮抗薬はない。</a:t>
            </a:r>
          </a:p>
          <a:p>
            <a:r>
              <a:rPr lang="ja-JP" altLang="en-US" dirty="0"/>
              <a:t>喘息: プロポフォールは、バルビツレートより挿管後の喘鳴と気道抵抗が少ない（喘息患者で喘鳴 0% vs チオバルビツレート 45%：Pizov 1995。挿管後の気道抵抗もチオペンタールやエトミデートより低い：Eames 1996）。ケタミンには気管支拡張作用がある（Goyal 2013。ただし質の高い RCT は少ない）。ケタミンは分泌物を増やすので注意。</a:t>
            </a:r>
          </a:p>
          <a:p>
            <a:r>
              <a:rPr lang="ja-JP" altLang="en-US" dirty="0"/>
              <a:t>参考: Eames WO, et al. Anesthesiology 1996;84:1307-11 / Goyal S, Agrawal A. Indian J Crit Care Med 2013;17:154-61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導入時の低血圧: 静脈麻酔薬の血管拡張と心抑制に、オピオイドによる交感神経抑制と、陽圧換気による静脈還流の減少が重なる（→ 9-2 前負荷）。術前からの脱水（絶飲食）、高齢、ARB や ACE 阻害薬の内服、出血があると強く出る。</a:t>
            </a:r>
          </a:p>
          <a:p>
            <a:r>
              <a:rPr lang="ja-JP" altLang="en-US" dirty="0"/>
              <a:t>備え: 導入前に輸液を進めておく、少量ずつ分けて投与する、昇圧薬（エフェドリン、フェニレフリン）をすぐ使える形で準備する（→ 3-8）。モニター指針は血圧を「原則として 5 分間隔で測定し、必要ならば頻回に測定すること」としている【要確認: 日本麻酔科学会「安全な麻酔のためのモニター指針」2025年8月改訂版の本文で、血圧の項の文言が変わっていないか】。導入直後は非観血的血圧の間隔を 1〜2 分に短くするのが本講義の推奨（指針の数値ではない）。</a:t>
            </a:r>
          </a:p>
          <a:p>
            <a:r>
              <a:rPr lang="ja-JP" altLang="en-US" dirty="0"/>
              <a:t>時間経過: 挿管の刺激で一時的に血圧が上がり、そのあと刺激がない間（挿管後〜執刀前）に再び下がりやすい。非心臓手術 42,825 例では、53% の患者が執刀前に MAP &lt; 65 mmHg になり、低血圧の測定値の中央値 36% は執刀前に起きていた（Maheshwari 2018）。導入後 0〜10 分では、後半の 5〜10 分に多い（Reich 2005）。</a:t>
            </a:r>
          </a:p>
          <a:p>
            <a:r>
              <a:rPr lang="ja-JP" altLang="en-US" dirty="0"/>
              <a:t>参考: Reich DL, et al. Anesth Analg 2005;101:622-628 / 日本麻酔科学会「麻酔薬および麻酔関連薬使用ガイドライン 第4版」（2025）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まとめ（約 1 分）。4 つの薬の用量と特徴を一言ずつ。数値は添付文書の値（プロポフォールは 0.5 mg/kg/10 秒の速度で就眠まで入れ、通常 2.0〜2.5 mg/kg で就眠が得られる。高齢者ではより少量。ASA III・IV ではより緩徐に）。ケタミンは脳圧亢進・高血圧・重症の心代償不全などで禁忌。共通の原則は、少量から、効果を待って、反応を見て追加すること。導入後の低血圧に備えて、血圧の測定間隔を短くし、昇圧薬を準備し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WAZO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WAZOE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502920" y="150876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ctr" indent="0" marL="0">
              <a:buNone/>
              <a:defRPr 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150876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静脈麻酔薬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3749040"/>
            <a:ext cx="11183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3-2 麻酔薬理</a:t>
            </a:r>
            <a:endParaRPr lang="ja-JP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69392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初期研修医向け麻酔講義</a:t>
            </a:r>
            <a:endParaRPr lang="ja-JP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静脈麻酔薬に共通すること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フォール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ゾラム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ミダ・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第4版」（2025）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5481828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1874520"/>
            <a:ext cx="51526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8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作用</a:t>
            </a:r>
            <a:endParaRPr lang="ja-JP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596896"/>
            <a:ext cx="5152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GABA 受容体を介して意識を消す</a:t>
            </a:r>
            <a:endParaRPr lang="ja-JP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3054096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（ケタミンは NMDA 受容体）</a:t>
            </a:r>
            <a:endParaRPr lang="ja-JP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785616"/>
            <a:ext cx="5152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鎮痛作用はない</a:t>
            </a:r>
            <a:endParaRPr lang="ja-JP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242816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（ケタミンを除く）</a:t>
            </a:r>
            <a:endParaRPr lang="ja-JP" sz="2400" dirty="0"/>
          </a:p>
        </p:txBody>
      </p:sp>
      <p:sp>
        <p:nvSpPr>
          <p:cNvPr id="17" name="Shape 15"/>
          <p:cNvSpPr/>
          <p:nvPr/>
        </p:nvSpPr>
        <p:spPr>
          <a:xfrm>
            <a:off x="6204204" y="1691640"/>
            <a:ext cx="5481828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68796" y="1874520"/>
            <a:ext cx="51526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8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共通の副作用</a:t>
            </a:r>
            <a:endParaRPr lang="ja-JP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368796" y="2596896"/>
            <a:ext cx="5152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血圧低下（血管拡張・心抑制）</a:t>
            </a:r>
            <a:endParaRPr lang="ja-JP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68796" y="3328416"/>
            <a:ext cx="5152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呼吸抑制・無呼吸</a:t>
            </a:r>
            <a:endParaRPr lang="ja-JP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68796" y="4059936"/>
            <a:ext cx="5152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上気道の閉塞（舌根沈下）</a:t>
            </a:r>
            <a:endParaRPr lang="ja-JP" sz="2400" dirty="0"/>
          </a:p>
        </p:txBody>
      </p:sp>
      <p:sp>
        <p:nvSpPr>
          <p:cNvPr id="22" name="Text 20"/>
          <p:cNvSpPr/>
          <p:nvPr/>
        </p:nvSpPr>
        <p:spPr>
          <a:xfrm>
            <a:off x="502920" y="5184648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31750">
            <a:solidFill>
              <a:srgbClr val="00A8AA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入れたら効果のピークまで待ち、反応を見て追加する</a:t>
            </a:r>
            <a:endParaRPr lang="ja-JP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プロポフォール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フォール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ゾラム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ミダ・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1% ディプリバン注 添付文書 / Asserhøj LL, et al. Br J Anaesth 2016;116:77-82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第4版」（2025）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4000541" cy="4032504"/>
          </a:xfrm>
          <a:prstGeom prst="roundRect">
            <a:avLst>
              <a:gd name="adj" fmla="val 182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" y="1819656"/>
            <a:ext cx="3781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用量（添付文書）</a:t>
            </a:r>
            <a:endParaRPr lang="ja-JP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2386584"/>
            <a:ext cx="37810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導入：</a:t>
            </a: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0.5 mg/kg/10 秒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の</a:t>
            </a:r>
            <a:endParaRPr lang="ja-JP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2807208"/>
            <a:ext cx="35067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速度で、就眠まで</a:t>
            </a:r>
            <a:endParaRPr lang="ja-JP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3502152"/>
            <a:ext cx="37810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維持：</a:t>
            </a: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4〜10 mg/kg/時</a:t>
            </a:r>
            <a:endParaRPr lang="ja-JP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197096"/>
            <a:ext cx="37810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ASA III・IV はより緩徐に</a:t>
            </a:r>
            <a:endParaRPr lang="ja-JP" sz="2200" dirty="0"/>
          </a:p>
        </p:txBody>
      </p:sp>
      <p:sp>
        <p:nvSpPr>
          <p:cNvPr id="17" name="Shape 15"/>
          <p:cNvSpPr/>
          <p:nvPr/>
        </p:nvSpPr>
        <p:spPr>
          <a:xfrm>
            <a:off x="4722917" y="1691640"/>
            <a:ext cx="2806761" cy="4032504"/>
          </a:xfrm>
          <a:prstGeom prst="roundRect">
            <a:avLst>
              <a:gd name="adj" fmla="val 260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32645" y="1819656"/>
            <a:ext cx="2587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特徴</a:t>
            </a:r>
            <a:endParaRPr lang="ja-JP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832645" y="2386584"/>
            <a:ext cx="25873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覚醒が速く、</a:t>
            </a:r>
            <a:endParaRPr lang="ja-JP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106965" y="2807208"/>
            <a:ext cx="23129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すっきり</a:t>
            </a:r>
            <a:endParaRPr lang="ja-JP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832645" y="3456432"/>
            <a:ext cx="25873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PONV が少ない</a:t>
            </a:r>
            <a:endParaRPr lang="ja-JP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832645" y="4105656"/>
            <a:ext cx="25873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血圧低下・</a:t>
            </a:r>
            <a:endParaRPr lang="ja-JP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106965" y="4526280"/>
            <a:ext cx="23129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呼吸抑制が強い</a:t>
            </a:r>
            <a:endParaRPr lang="ja-JP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832645" y="5175504"/>
            <a:ext cx="25873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注射痛</a:t>
            </a:r>
            <a:endParaRPr lang="ja-JP" sz="2200" dirty="0"/>
          </a:p>
        </p:txBody>
      </p:sp>
      <p:sp>
        <p:nvSpPr>
          <p:cNvPr id="25" name="Shape 23"/>
          <p:cNvSpPr/>
          <p:nvPr/>
        </p:nvSpPr>
        <p:spPr>
          <a:xfrm>
            <a:off x="7749134" y="1691640"/>
            <a:ext cx="3936898" cy="4032504"/>
          </a:xfrm>
          <a:prstGeom prst="roundRect">
            <a:avLst>
              <a:gd name="adj" fmla="val 1858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58862" y="1819656"/>
            <a:ext cx="3717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注意</a:t>
            </a:r>
            <a:endParaRPr lang="ja-JP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858862" y="2386584"/>
            <a:ext cx="3717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脂肪乳剤：清潔操作、</a:t>
            </a:r>
            <a:endParaRPr lang="ja-JP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133182" y="2807208"/>
            <a:ext cx="34431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開封後すぐ使う</a:t>
            </a:r>
            <a:endParaRPr lang="ja-JP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858862" y="3502152"/>
            <a:ext cx="3717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小児の ICU</a:t>
            </a:r>
            <a:endParaRPr lang="ja-JP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133182" y="3922776"/>
            <a:ext cx="34431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人工呼吸中の鎮静は</a:t>
            </a:r>
            <a:r>
              <a:rPr lang="ja-JP" altLang="en-US" sz="2200" b="1" dirty="0">
                <a:solidFill>
                  <a:srgbClr val="C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禁忌</a:t>
            </a:r>
            <a:endParaRPr lang="ja-JP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7858862" y="4617720"/>
            <a:ext cx="3717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本剤・成分への</a:t>
            </a:r>
            <a:endParaRPr lang="ja-JP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133182" y="5038344"/>
            <a:ext cx="34431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過敏症の既往（</a:t>
            </a:r>
            <a:r>
              <a:rPr lang="ja-JP" altLang="en-US" sz="2200" b="1" dirty="0">
                <a:solidFill>
                  <a:srgbClr val="C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禁忌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）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レミマゾラム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フォール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ゾラム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ミダ・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アネレム静注用 添付文書 / Doi M, et al. J Anesth 2020;34:543-553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Stöhr T, et al. Br J Anaesth 2021;127:415-423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3731423" cy="4032504"/>
          </a:xfrm>
          <a:prstGeom prst="roundRect">
            <a:avLst>
              <a:gd name="adj" fmla="val 196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" y="1819656"/>
            <a:ext cx="3511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用量（添付文書）</a:t>
            </a:r>
            <a:endParaRPr lang="ja-JP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2386584"/>
            <a:ext cx="35119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導入：</a:t>
            </a: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12 mg/kg/時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で、</a:t>
            </a:r>
            <a:endParaRPr lang="ja-JP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2807208"/>
            <a:ext cx="32376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意識消失まで</a:t>
            </a:r>
            <a:endParaRPr lang="ja-JP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3502152"/>
            <a:ext cx="35119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維持：</a:t>
            </a: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mg/kg/時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から、</a:t>
            </a:r>
            <a:endParaRPr lang="ja-JP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922776"/>
            <a:ext cx="32376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上限 </a:t>
            </a: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mg/kg/時</a:t>
            </a:r>
            <a:endParaRPr lang="ja-JP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617720"/>
            <a:ext cx="35119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年齢・状態に応じて減速</a:t>
            </a:r>
            <a:endParaRPr lang="ja-JP" sz="2200" dirty="0"/>
          </a:p>
        </p:txBody>
      </p:sp>
      <p:sp>
        <p:nvSpPr>
          <p:cNvPr id="18" name="Shape 16"/>
          <p:cNvSpPr/>
          <p:nvPr/>
        </p:nvSpPr>
        <p:spPr>
          <a:xfrm>
            <a:off x="4453799" y="1691640"/>
            <a:ext cx="3350199" cy="4032504"/>
          </a:xfrm>
          <a:prstGeom prst="roundRect">
            <a:avLst>
              <a:gd name="adj" fmla="val 218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3527" y="1819656"/>
            <a:ext cx="3130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特徴</a:t>
            </a:r>
            <a:endParaRPr lang="ja-JP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563527" y="2386584"/>
            <a:ext cx="31307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超短時間作用型</a:t>
            </a:r>
            <a:endParaRPr lang="ja-JP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837847" y="2807208"/>
            <a:ext cx="28564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ベンゾジアゼピン</a:t>
            </a:r>
            <a:endParaRPr lang="ja-JP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63527" y="3316224"/>
            <a:ext cx="31307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主に肝のエステラーゼ</a:t>
            </a:r>
            <a:endParaRPr lang="ja-JP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837847" y="3736848"/>
            <a:ext cx="28564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（CES1）で分解</a:t>
            </a:r>
            <a:endParaRPr lang="ja-JP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563527" y="4245864"/>
            <a:ext cx="31307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プロポフォールより</a:t>
            </a:r>
            <a:endParaRPr lang="ja-JP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837847" y="4666488"/>
            <a:ext cx="28564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血圧低下が少ない</a:t>
            </a:r>
            <a:endParaRPr lang="ja-JP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4563527" y="5175504"/>
            <a:ext cx="31307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フルマゼニルで拮抗</a:t>
            </a:r>
            <a:endParaRPr lang="ja-JP" sz="2200" dirty="0"/>
          </a:p>
        </p:txBody>
      </p:sp>
      <p:sp>
        <p:nvSpPr>
          <p:cNvPr id="27" name="Shape 25"/>
          <p:cNvSpPr/>
          <p:nvPr/>
        </p:nvSpPr>
        <p:spPr>
          <a:xfrm>
            <a:off x="8023454" y="1691640"/>
            <a:ext cx="3662578" cy="4032504"/>
          </a:xfrm>
          <a:prstGeom prst="roundRect">
            <a:avLst>
              <a:gd name="adj" fmla="val 1997"/>
            </a:avLst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3182" y="1819656"/>
            <a:ext cx="3443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注意</a:t>
            </a:r>
            <a:endParaRPr lang="ja-JP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133182" y="2386584"/>
            <a:ext cx="34431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リンゲル液で白濁・閉塞</a:t>
            </a:r>
            <a:endParaRPr lang="ja-JP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407502" y="2807208"/>
            <a:ext cx="31688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（配合変化）</a:t>
            </a:r>
            <a:endParaRPr lang="ja-JP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133182" y="3502152"/>
            <a:ext cx="34431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覚醒が遅れることがある</a:t>
            </a:r>
            <a:endParaRPr lang="ja-JP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133182" y="4197096"/>
            <a:ext cx="34431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拮抗後の再鎮静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ミダゾラム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フォール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ゾラム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ミダ・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ドルミカム注射液 添付文書 / Olkkola KT, et al. Clin Pharmacol Ther 1993;53:298-305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Olkkola KT, et al. Anesth Analg 1996;82:511-6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3899347" cy="4032504"/>
          </a:xfrm>
          <a:prstGeom prst="roundRect">
            <a:avLst>
              <a:gd name="adj" fmla="val 187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" y="1819656"/>
            <a:ext cx="3679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用量（添付文書）</a:t>
            </a:r>
            <a:endParaRPr lang="ja-JP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2386584"/>
            <a:ext cx="36798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前投薬：</a:t>
            </a:r>
            <a:endParaRPr lang="ja-JP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2807208"/>
            <a:ext cx="34055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0.08〜0.10 mg/kg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筋注</a:t>
            </a:r>
            <a:endParaRPr lang="ja-JP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3502152"/>
            <a:ext cx="36798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導入：</a:t>
            </a:r>
            <a:endParaRPr lang="ja-JP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922776"/>
            <a:ext cx="34055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0.15〜0.30 mg/kg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静注</a:t>
            </a:r>
            <a:endParaRPr lang="ja-JP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617720"/>
            <a:ext cx="36798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鎮静：少量ずつ</a:t>
            </a:r>
            <a:endParaRPr lang="ja-JP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5038344"/>
            <a:ext cx="34055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（ICU・歯科が適応）</a:t>
            </a:r>
            <a:endParaRPr lang="ja-JP" sz="2200" dirty="0"/>
          </a:p>
        </p:txBody>
      </p:sp>
      <p:sp>
        <p:nvSpPr>
          <p:cNvPr id="19" name="Shape 17"/>
          <p:cNvSpPr/>
          <p:nvPr/>
        </p:nvSpPr>
        <p:spPr>
          <a:xfrm>
            <a:off x="4621723" y="1691640"/>
            <a:ext cx="2869347" cy="4032504"/>
          </a:xfrm>
          <a:prstGeom prst="roundRect">
            <a:avLst>
              <a:gd name="adj" fmla="val 2549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31451" y="1819656"/>
            <a:ext cx="2649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特徴</a:t>
            </a:r>
            <a:endParaRPr lang="ja-JP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731451" y="2386584"/>
            <a:ext cx="26498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健忘・抗不安</a:t>
            </a:r>
            <a:endParaRPr lang="ja-JP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731451" y="3081528"/>
            <a:ext cx="26498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作用がやや長い</a:t>
            </a:r>
            <a:endParaRPr lang="ja-JP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731451" y="3776472"/>
            <a:ext cx="26498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肝代謝（CYP3A4）</a:t>
            </a:r>
            <a:endParaRPr lang="ja-JP" sz="2200" dirty="0"/>
          </a:p>
        </p:txBody>
      </p:sp>
      <p:sp>
        <p:nvSpPr>
          <p:cNvPr id="24" name="Shape 22"/>
          <p:cNvSpPr/>
          <p:nvPr/>
        </p:nvSpPr>
        <p:spPr>
          <a:xfrm>
            <a:off x="7710526" y="1691640"/>
            <a:ext cx="3975506" cy="4032504"/>
          </a:xfrm>
          <a:prstGeom prst="roundRect">
            <a:avLst>
              <a:gd name="adj" fmla="val 1840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20254" y="1819656"/>
            <a:ext cx="3756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注意</a:t>
            </a:r>
            <a:endParaRPr lang="ja-JP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820254" y="2386584"/>
            <a:ext cx="37560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オピオイド併用で呼吸抑制</a:t>
            </a:r>
            <a:endParaRPr lang="ja-JP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820254" y="3081528"/>
            <a:ext cx="37560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高齢者は少量から</a:t>
            </a:r>
            <a:endParaRPr lang="ja-JP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820254" y="3776472"/>
            <a:ext cx="37560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フルマゼニルで拮抗</a:t>
            </a:r>
            <a:endParaRPr lang="ja-JP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820254" y="4471416"/>
            <a:ext cx="37560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C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併用禁忌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：</a:t>
            </a:r>
            <a:endParaRPr lang="ja-JP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094574" y="4892040"/>
            <a:ext cx="3481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リトナビル含有製剤など</a:t>
            </a:r>
            <a:endParaRPr lang="ja-JP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ケタミン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フォール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ゾラム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ミダ・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ケタラール静注用 添付文書 / Zeiler FA, et al. Neurocrit Care 2014;21:163-73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第4版」（2025）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3267232" cy="4032504"/>
          </a:xfrm>
          <a:prstGeom prst="roundRect">
            <a:avLst>
              <a:gd name="adj" fmla="val 223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" y="1819656"/>
            <a:ext cx="3047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用量（添付文書）</a:t>
            </a:r>
            <a:endParaRPr lang="ja-JP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2386584"/>
            <a:ext cx="3047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初回 </a:t>
            </a: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1〜2 mg/kg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を</a:t>
            </a:r>
            <a:endParaRPr lang="ja-JP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2807208"/>
            <a:ext cx="2773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分以上かけて静注</a:t>
            </a:r>
            <a:endParaRPr lang="ja-JP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3502152"/>
            <a:ext cx="3047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追加：初回量と</a:t>
            </a:r>
            <a:endParaRPr lang="ja-JP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922776"/>
            <a:ext cx="2773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同量または半量</a:t>
            </a:r>
            <a:endParaRPr lang="ja-JP" sz="2200" dirty="0"/>
          </a:p>
        </p:txBody>
      </p:sp>
      <p:sp>
        <p:nvSpPr>
          <p:cNvPr id="17" name="Shape 15"/>
          <p:cNvSpPr/>
          <p:nvPr/>
        </p:nvSpPr>
        <p:spPr>
          <a:xfrm>
            <a:off x="3989608" y="1691640"/>
            <a:ext cx="3227141" cy="4032504"/>
          </a:xfrm>
          <a:prstGeom prst="roundRect">
            <a:avLst>
              <a:gd name="adj" fmla="val 2267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99336" y="1819656"/>
            <a:ext cx="30076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特徴</a:t>
            </a:r>
            <a:endParaRPr lang="ja-JP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099336" y="2386584"/>
            <a:ext cx="30076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鎮痛作用がある</a:t>
            </a:r>
            <a:endParaRPr lang="ja-JP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099336" y="3081528"/>
            <a:ext cx="30076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血圧・呼吸が</a:t>
            </a:r>
            <a:endParaRPr lang="ja-JP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373656" y="3502152"/>
            <a:ext cx="27333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保たれやすい</a:t>
            </a:r>
            <a:endParaRPr lang="ja-JP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099336" y="4197096"/>
            <a:ext cx="30076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気道反射が</a:t>
            </a:r>
            <a:endParaRPr lang="ja-JP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373656" y="4617720"/>
            <a:ext cx="27333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比較的保たれる</a:t>
            </a:r>
            <a:endParaRPr lang="ja-JP" sz="2200" dirty="0"/>
          </a:p>
        </p:txBody>
      </p:sp>
      <p:sp>
        <p:nvSpPr>
          <p:cNvPr id="24" name="Shape 22"/>
          <p:cNvSpPr/>
          <p:nvPr/>
        </p:nvSpPr>
        <p:spPr>
          <a:xfrm>
            <a:off x="7436206" y="1691640"/>
            <a:ext cx="4249826" cy="4032504"/>
          </a:xfrm>
          <a:prstGeom prst="roundRect">
            <a:avLst>
              <a:gd name="adj" fmla="val 181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45934" y="1819656"/>
            <a:ext cx="4030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注意</a:t>
            </a:r>
            <a:endParaRPr lang="ja-JP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545934" y="2386584"/>
            <a:ext cx="40303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分泌物の増加</a:t>
            </a:r>
            <a:endParaRPr lang="ja-JP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545934" y="3081528"/>
            <a:ext cx="40303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覚醒時の夢・興奮</a:t>
            </a:r>
            <a:endParaRPr lang="ja-JP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820254" y="3502152"/>
            <a:ext cx="37560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（ベンゾジアゼピン併用）</a:t>
            </a:r>
            <a:endParaRPr lang="ja-JP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545934" y="4197096"/>
            <a:ext cx="40303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麻薬として管理</a:t>
            </a:r>
            <a:endParaRPr lang="ja-JP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545934" y="4892040"/>
            <a:ext cx="40303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脳圧亢進・高血圧は</a:t>
            </a:r>
            <a:r>
              <a:rPr lang="ja-JP" altLang="en-US" sz="2200" b="1" dirty="0">
                <a:solidFill>
                  <a:srgbClr val="C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禁忌</a:t>
            </a:r>
            <a:endParaRPr lang="ja-JP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フォール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ゾラム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ミダ・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Doi M, et al. J Anesth 2020;34:491-501 / Pizov R, et al. Anesthesiology 1995;82:1111-6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第4版」（2025）</a:t>
            </a:r>
            <a:endParaRPr lang="ja-JP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52551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状況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選び方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通常の導入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プロポフォール、またはレミマゾラム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循環が不安定・出血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ケタミン減量、またはレミマゾラムを減速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高齢者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どの薬も減量し、ゆっくり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PONV のリスクが高い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プロポフォールで維持（TIVA）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拮抗薬が欲しい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レミマゾラム（フルマゼニル）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喘息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プロポフォール、ケタミン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導入時の低血圧に備える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フォール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ゾラム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ミダ・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7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日本麻酔科学会「安全な麻酔のためのモニター指針」（2025年8月改訂）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Maheshwari K, et al. Anaesthesia 2018;73:1223-1228</a:t>
            </a:r>
            <a:endParaRPr lang="ja-JP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783080"/>
            <a:ext cx="1115568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06400" indent="-406400">
              <a:spcAft>
                <a:spcPts val="16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静脈麻酔薬は血管拡張と心抑制で血圧を下げる</a:t>
            </a:r>
            <a:endParaRPr lang="ja-JP" sz="2800" dirty="0"/>
          </a:p>
          <a:p>
            <a:pPr algn="l" marL="406400" indent="-406400">
              <a:spcAft>
                <a:spcPts val="16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脱水、高齢、ARB・ACE 阻害薬の内服、出血で強く出る</a:t>
            </a:r>
            <a:endParaRPr lang="ja-JP" sz="2800" dirty="0"/>
          </a:p>
          <a:p>
            <a:pPr algn="l" marL="406400" indent="-406400">
              <a:spcAft>
                <a:spcPts val="16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ゆっくり分割投与し、輸液を進め、昇圧薬を手元に</a:t>
            </a:r>
            <a:endParaRPr lang="ja-JP" sz="2800" dirty="0"/>
          </a:p>
          <a:p>
            <a:pPr algn="l" marL="406400" indent="-406400">
              <a:spcAft>
                <a:spcPts val="16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挿管の刺激で一時的に上がり、そのあとまた下がる</a:t>
            </a:r>
            <a:endParaRPr lang="ja-JP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4855464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31750">
            <a:solidFill>
              <a:srgbClr val="00A8AA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導入薬を入れたら、血圧は </a:t>
            </a:r>
            <a:r>
              <a:rPr lang="ja-JP" altLang="en-US" sz="28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1〜2 分ごと</a:t>
            </a: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に測る</a:t>
            </a:r>
            <a:endParaRPr lang="ja-JP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フォール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ゾラム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ミダ・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使い分け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各薬剤の添付文書 / 日本麻酔科学会「麻酔薬および麻酔関連薬使用ガイドライン 第4版」（2025）</a:t>
            </a:r>
            <a:endParaRPr lang="ja-JP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28800"/>
            <a:ext cx="11155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プロポフォール</a:t>
            </a: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：0.5 mg/kg/10 秒で導入、維持 4〜10 mg/kg/時</a:t>
            </a:r>
            <a:endParaRPr lang="ja-JP" sz="2400" dirty="0"/>
          </a:p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レミマゾラム</a:t>
            </a: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：12 mg/kg/時で導入、維持 1 mg/kg/時</a:t>
            </a:r>
            <a:endParaRPr lang="ja-JP" sz="2400" dirty="0"/>
          </a:p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ケタミン</a:t>
            </a: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：1〜2 mg/kg、鎮痛あり、循環が保たれやすい</a:t>
            </a:r>
            <a:endParaRPr lang="ja-JP" sz="2400" dirty="0"/>
          </a:p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どの薬も、少量から、待って、反応を見て追加</a:t>
            </a:r>
            <a:endParaRPr lang="ja-JP" sz="2400" dirty="0"/>
          </a:p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導入後は血圧を 1〜2 分ごとに、昇圧薬を手元に</a:t>
            </a:r>
            <a:endParaRPr lang="ja-JP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メイリオ"/>
        <a:ea typeface="メイリオ"/>
        <a:cs typeface=""/>
        <a:font script="Jpan" typeface="メイリオ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メイリオ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3-2 静脈麻酔薬</dc:title>
  <dc:subject/>
  <dc:creator>初期研修医向け麻酔講義</dc:creator>
  <cp:lastModifiedBy>初期研修医向け麻酔講義</cp:lastModifiedBy>
  <cp:revision>1</cp:revision>
  <dcterms:created xsi:type="dcterms:W3CDTF">2026-10-13T18:05:03Z</dcterms:created>
  <dcterms:modified xsi:type="dcterms:W3CDTF">2026-10-13T18:05:03Z</dcterms:modified>
</cp:coreProperties>
</file>