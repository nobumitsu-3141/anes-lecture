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持続投与の指示は「γ（ガンマ）」で出るが、シリンジポンプに入力するのは mL/時。この橋渡しを自分で計算できるようにするのがこの回の目的。式は 1 つだけ。演習 3 問を研修医自身に解いてもらい、最後に桁の検算と落とし穴を扱う。希釈はこの講義では一般的な例を使うが、実際には院内の標準希釈表に従う。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γ（ガンマ）は μg/kg/分の俗称。体重あたり・時間あたりの量なので、体重の違う患者に同じ数字で指示できる。「ノルアドレナリン 0.05 γ」は、体重 50 kg なら毎分 2.5 μg、体重 100 kg なら毎分 5 μg を意味する。</a:t>
            </a:r>
          </a:p>
          <a:p>
            <a:r>
              <a:rPr lang="ja-JP" altLang="en-US" dirty="0"/>
              <a:t>ポンプは mL/時で動く。γ から mL/時に直すには、注射器の中の薬の濃度（1 mL に何 μg 入っているか）が要る。濃度は希釈のしかたで決まるので、同じ γ でも希釈が違えば mL/時は違う。ここが間違いの元になる。</a:t>
            </a:r>
          </a:p>
          <a:p>
            <a:r>
              <a:rPr lang="ja-JP" altLang="en-US" dirty="0"/>
              <a:t>γ は正式な単位ではない。指示書やポンプの登録は μg/kg/分で書く施設が多い。【要確認: 日本麻酔科学会「麻酔薬および麻酔関連薬使用ガイドライン 第4版」の本文に「γ」の語か μg/kg/分の定義の記載があるか、その該当頁。なければこのスライドの sources を「（定義。特定の出典なし）」に替える】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導き方: γ × 体重 で「1 分あたりの μg」が出る。60 倍して「1 時間あたりの μg」にする。それを濃度（1 mL あたりの μg）で割れば「1 時間あたりの mL」になる。</a:t>
            </a:r>
          </a:p>
          <a:p>
            <a:r>
              <a:rPr lang="ja-JP" altLang="en-US" dirty="0"/>
              <a:t>逆の式は、ポンプの mL/時を見て「今、何 γ 入っているか」を知るためのもの。上級医に「今何 γ？」と聞かれたときに使う。</a:t>
            </a:r>
          </a:p>
          <a:p>
            <a:r>
              <a:rPr lang="ja-JP" altLang="en-US" dirty="0"/>
              <a:t>覚え方は式そのものより「μg/分 → μg/時 → mL/時」の順で単位を追うこと。単位を書きながら計算すれば、mg と μg、分と時の取り違えに気づける。</a:t>
            </a:r>
          </a:p>
          <a:p>
            <a:r>
              <a:rPr lang="ja-JP" altLang="en-US" dirty="0"/>
              <a:t>この式は単位の換算（算術）なので、特定の出典はない。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mg を μg に直す（×1,000）のを忘れると 1,000 倍の間違いになる。総量は溶液全体の量で、薬液の体積も含む（5 mg/5 mL を 45 mL の生理食塩液と混ぜれば総量 50 mL）。</a:t>
            </a:r>
          </a:p>
          <a:p>
            <a:r>
              <a:rPr lang="ja-JP" altLang="en-US" dirty="0"/>
              <a:t>この 3 例は一般的な希釈で、施設によって違う（レミフェンタニル 2 mg/20 mL = 100 μg/mL、ノルアドレナリン 1 mg/50 mL = 20 μg/mL など）。院内の標準希釈表を必ず確認する【要確認: 院内の標準希釈表の 3 剤の濃度。変えたら S5 の問題文と S6〜S10 の答えを計算し直す（冒頭の一覧）】。</a:t>
            </a:r>
          </a:p>
          <a:p>
            <a:r>
              <a:rPr lang="ja-JP" altLang="en-US" dirty="0"/>
              <a:t>レミフェンタニルの溶解液と希釈後の濃度は、添付文書「14. 適用上の注意（薬剤調製時の注意）」で確認する【要確認: アルチバ静注用 添付文書「14. 適用上の注意」で、50 μg/mL が記載の濃度の範囲内か】。</a:t>
            </a:r>
          </a:p>
          <a:p>
            <a:r>
              <a:rPr lang="ja-JP" altLang="en-US" dirty="0"/>
              <a:t>ニカルジピンは 10 mg/10 mL（1 mg/mL）を原液で使うことが多いが、希釈して使う施設もある。添付文書では、持続投与は生理食塩液か 5% ブドウ糖液で 0.01〜0.02%（0.1〜0.2 mg/mL）に希釈して点滴静注する。原液をそのまま使うのは急速降圧の単回静注（10〜30 μg/kg）。シリンジポンプで原液 1 mg/mL を持続する施設は多いが、これは添付文書の調製法と違う施設の方法である【要確認: ペルジピン注射液 添付文書「6. 用法及び用量」の原文（希釈濃度 0.01〜0.02%、急速降圧は原液のまま 10〜30 μg/kg）】。</a:t>
            </a:r>
          </a:p>
          <a:p>
            <a:r>
              <a:rPr lang="ja-JP" altLang="en-US" dirty="0"/>
              <a:t>原液を末梢静脈から持続すると静脈炎を起こしやすい。配合変化（沈殿）を起こす薬があるので、単独のラインで投与する【要確認: ペルジピン注射液 添付文書「14. 適用上の注意」に静脈炎と配合変化の記載があるか】。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ここで 3〜5 分取り、研修医に紙と電卓で解いてもらう。答えは次の 3 枚。先に式を見ないで解かせ、解けなかったら式（S3、S4）に戻る。</a:t>
            </a:r>
          </a:p>
          <a:p>
            <a:r>
              <a:rPr lang="ja-JP" altLang="en-US" dirty="0"/>
              <a:t>問 2 の後半は逆の式、問 3 の後半は γ ではなく体重あたりのボーラス量の計算で、同じ「単位を追う」練習になる。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単位を追う。0.25 γ × 60 kg = 15 μg/分。×60 で 900 μg/時。50 μg/mL で割って 18 mL/時。</a:t>
            </a:r>
          </a:p>
          <a:p>
            <a:r>
              <a:rPr lang="ja-JP" altLang="en-US" dirty="0"/>
              <a:t>確認: レミフェンタニルの麻酔維持は、添付文書では 0.25 μg/kg/分で持続投与し、2〜5 分間隔で 25〜100% の範囲で加速、または 25〜50% の範囲で減速できるが、最大でも 2.0 μg/kg/分を超えない【要確認: アルチバ静注用 添付文書「6. 用法及び用量」の原文（維持 0.25 μg/kg/分、調節の幅、最大 2.0 μg/kg/分）】。18 mL/時は「普通の量」（同じ条件で上限の 2.0 μg/kg/分は 144 mL/時）。これが 1.8 や 180 なら桁を間違えている。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前半: 1.5 mL/時。ノルアドレナリンは少ない流量になるので、ライン内の死腔と薬が届くまでの遅れが問題になる（→ S10）。</a:t>
            </a:r>
          </a:p>
          <a:p>
            <a:r>
              <a:rPr lang="ja-JP" altLang="en-US" dirty="0"/>
              <a:t>後半: 逆の式。3 mL/時 × 100 = 300 μg/時 → 5 μg/分 → 体重で割って 0.1 γ。「今 3 mL/時で入っている」と言われたら 0.1 γ と即答できるようにする。</a:t>
            </a:r>
          </a:p>
          <a:p>
            <a:r>
              <a:rPr lang="ja-JP" altLang="en-US" dirty="0"/>
              <a:t>希釈が 1 mg/50 mL（20 μg/mL）の施設なら、同じ 0.05 γ で 7.5 mL/時になる。濃度が違えば mL/時は 5 倍違う。</a:t>
            </a:r>
          </a:p>
          <a:p>
            <a:r>
              <a:rPr lang="ja-JP" altLang="en-US" dirty="0"/>
              <a:t>添付文書の点滴静注は、1 回 1 mg を 250 mL の生理食塩液などに溶解し（4 μg/mL）、1 分間に 0.5〜1.0 mL（2〜4 μg/分）で、血圧を絶えず観察して適宜調節する【要確認: ノルアドリナリン注 1mg 添付文書「6. 用法及び用量」の原文】。γ での指示と 5 mg/50 mL の希釈は添付文書の記載ではなく、麻酔・集中治療の慣用と施設の希釈。問 2 の 0.05 γ × 50 kg = 2.5 μg/分は添付文書の速度の範囲に入る。3 mL/時（5 μg/分）はその範囲を上回る。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前半: 添付文書（手術時の異常高血圧の救急処置）の開始速度 2〜10 μg/kg/分の下限で 8.4 mL/時。開始範囲の上限 10 μg/kg/分なら 42 mL/時。10 は開始範囲の上限で、投与量の上限ではない。その後は血圧を見て速度を調節する。添付文書は点滴静注を 0.01〜0.02%（0.1〜0.2 mg/mL）に希釈して行うと記載している【要確認: ペルジピン注射液 添付文書「6. 用法及び用量」の原文（開始速度 2〜10 μg/kg/分、希釈濃度 0.01〜0.02%）】。原液 1 mg/mL のシリンジポンプ投与は施設の方法。添付文書どおり 0.1 mg/mL に希釈すると、同じ 2 γ（70 kg）は 84 mL/時、0.2 mg/mL なら 42 mL/時。濃度で流量が 10 倍変わる。</a:t>
            </a:r>
          </a:p>
          <a:p>
            <a:r>
              <a:rPr lang="ja-JP" altLang="en-US" dirty="0"/>
              <a:t>後半: 急速降圧（添付文書では 10〜30 μg/kg を原液のまま静注）の下限で、70 kg なら 700 μg = 0.7 mL。原液 1 mg/mL は濃いので、1 mL 単位で入れると 1,000 μg（14 μg/kg）になる。0.1 mL 刻みで扱うには、10 倍に希釈（0.1 mg/mL）して 7 mL にする方が安全な場合もある。施設の方法に従う。</a:t>
            </a:r>
          </a:p>
          <a:p>
            <a:r>
              <a:rPr lang="ja-JP" altLang="en-US" dirty="0"/>
              <a:t>添付文書では急速降圧時は「本剤をそのまま…静脈内投与」とあり、投与速度の指定はない【要確認: ペルジピン注射液 添付文書「6. 用法及び用量」の急速降圧の記載（10〜30 μg/kg、原液のまま、速度の指定の有無）】。「ゆっくり」は臨床の慣習。10 倍希釈（0.1 mg/mL で 7 mL）は量を正確にするための施設の方法で、添付文書の方法（原液のまま）とは違う。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桁: 各薬の「普通の mL/時」を体で覚える。レミフェンタニル 50 μg/mL なら 10〜30 mL/時、ノルアドレナリン 100 μg/mL なら 1〜5 mL/時。答えがその範囲から大きく外れたら計算を疑う。</a:t>
            </a:r>
          </a:p>
          <a:p>
            <a:r>
              <a:rPr lang="ja-JP" altLang="en-US" dirty="0"/>
              <a:t>単位: 式を暗記するより、単位を書いて追う方が間違いに気づける。</a:t>
            </a:r>
          </a:p>
          <a:p>
            <a:r>
              <a:rPr lang="ja-JP" altLang="en-US" dirty="0"/>
              <a:t>便利な希釈: 「体重(kg) × 3 mg を 50 mL に溶かす」と、1 mL/時がちょうど 1 γ になる（濃度 = 60 × 体重 μg/mL なので、1 mL/時 = 60 × 体重 μg/時 = 体重 μg/分 = 1 γ）。体重 60 kg なら 180 mg/50 mL。ドブタミンなどで使われる方法だが、施設の標準希釈と混在すると危険なので、施設の方式に従う。</a:t>
            </a:r>
          </a:p>
          <a:p>
            <a:r>
              <a:rPr lang="ja-JP" altLang="en-US" dirty="0"/>
              <a:t>確認: 希釈とポンプの設定は、注射器に薬名・濃度・希釈者を書き、2 人で確認する。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mg/μg と分/時: 最も多い間違い。単位を書く。デクスメデトミジン（μg/kg/時）やプロポフォール（mg/kg/時）のように時間あたりで指示する薬に ×60 をかけると、60 倍の誤りになる。分あたり（γ）の薬か、時間あたりの薬かを先に確かめる。</a:t>
            </a:r>
          </a:p>
          <a:p>
            <a:r>
              <a:rPr lang="ja-JP" altLang="en-US" dirty="0"/>
              <a:t>総量: 5 mg/5 mL を 50 mL の生理食塩液に混ぜると総量は 55 mL で、濃度は 100 ではなく約 91 μg/mL。</a:t>
            </a:r>
          </a:p>
          <a:p>
            <a:r>
              <a:rPr lang="ja-JP" altLang="en-US" dirty="0"/>
              <a:t>ポンプ: 最近のポンプは γ や mg/時で直接設定できるものがある。設定モードと希釈濃度の登録が合っているかを確かめる。別の施設のポンプでは違う。シリンジを交換したときや濃度を変えたときは、新しい濃度をポンプにも登録し直す。γ モードでは、体重と濃度の入力間違いがそのまま投与量の間違いになる。</a:t>
            </a:r>
          </a:p>
          <a:p>
            <a:r>
              <a:rPr lang="ja-JP" altLang="en-US" dirty="0"/>
              <a:t>死腔: 1.5 mL/時 で延長チューブの死腔が 1 mL あれば、薬が患者に届くまで 40 分かかる。開始時は死腔を薬で満たしておく（プライミング）。遅いからといって側管からフラッシュで押し込まない。キャリア輸液と合流させれば早く届くが、キャリアの速度を変えたりフラッシュしたりすると、死腔にたまった薬が一気に入る。シリンジポンプは動き始めにも遅れがある（Bartels 2009）。死腔が大きいほど開始・中止の遅れが大きく、重要な薬は患者に近い側管から入れる（Moss 2009）。</a:t>
            </a:r>
          </a:p>
          <a:p>
            <a:r>
              <a:rPr lang="ja-JP" altLang="en-US" dirty="0"/>
              <a:t>体重: レミフェンタニルは、肥満患者で実体重で計算すると血中濃度が過度に高くなる。理想体重か除脂肪体重で計算する（Egan 1998）。ノルアドレナリンは血圧を見て滴定する薬。敗血症性ショックの観察研究では、肥満患者は体重あたりの量が少なく（0.09 vs 0.13 μg/kg/分）、μg/分の総量は同程度だった（9 vs 8 μg/分、Radosevich 2016）。γ の数字だけで多い・少ないを判断しない。体重の使い分けは 3-1 で扱った。</a:t>
            </a:r>
          </a:p>
          <a:p>
            <a:r>
              <a:rPr lang="ja-JP" altLang="en-US" dirty="0"/>
              <a:t>参考: Radosevich JJ, et al. Am J Crit Care 2016;25:27-32（肥満と非肥満の敗血症性ショックでのノルアドレナリン量）。Moss DR, et al. Anesth Analg 2009;109:1524-9（多連活栓の側管の位置と死腔）。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まとめ（約 1 分）。式は 1 つ、濃度の式が 1 つ。演習の 3 問を自力で解けたら合格。次に実際のポンプを触るときは、注射器に書いてある濃度と、ポンプの設定単位を必ず声に出して確認する。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WAZO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indent="0" marL="0">
              <a:buNone/>
              <a:defRPr 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WAZOE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502920" y="1508760"/>
            <a:ext cx="11183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ctr" indent="0" marL="0">
              <a:buNone/>
              <a:defRPr 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1508760"/>
            <a:ext cx="11183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γ計算の演習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3474720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3749040"/>
            <a:ext cx="111831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3-10 麻酔薬理</a:t>
            </a:r>
            <a:endParaRPr lang="ja-JP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69392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2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初期研修医向け麻酔講義</a:t>
            </a:r>
            <a:endParaRPr lang="ja-JP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γ とは何か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00A8A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定義</a:t>
            </a:r>
            <a:endParaRPr lang="ja-JP" sz="105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式</a:t>
            </a:r>
            <a:endParaRPr lang="ja-JP" sz="105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演習</a:t>
            </a:r>
            <a:endParaRPr lang="ja-JP" sz="105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検算</a:t>
            </a:r>
            <a:endParaRPr lang="ja-JP" sz="105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落とし穴</a:t>
            </a:r>
            <a:endParaRPr lang="ja-JP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263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日本麻酔科学会「麻酔薬および麻酔関連薬使用ガイドライン 第4版」（2025）</a:t>
            </a:r>
            <a:endParaRPr lang="ja-JP" sz="1600" dirty="0"/>
          </a:p>
        </p:txBody>
      </p:sp>
      <p:sp>
        <p:nvSpPr>
          <p:cNvPr id="11" name="Text 9"/>
          <p:cNvSpPr/>
          <p:nvPr/>
        </p:nvSpPr>
        <p:spPr>
          <a:xfrm>
            <a:off x="2436876" y="1874520"/>
            <a:ext cx="7315200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ja-JP" altLang="en-US" sz="44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 γ = 1 μg/kg/分</a:t>
            </a:r>
            <a:endParaRPr lang="ja-JP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547872"/>
            <a:ext cx="11155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spcAft>
                <a:spcPts val="2600"/>
              </a:spcAft>
              <a:buSzPct val="100000"/>
              <a:buChar char="•"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体重 1 kg あたり、1 分あたり、1 μg</a:t>
            </a:r>
            <a:endParaRPr lang="ja-JP" sz="2600" dirty="0"/>
          </a:p>
          <a:p>
            <a:pPr algn="l" marL="381000" indent="-381000">
              <a:spcAft>
                <a:spcPts val="2600"/>
              </a:spcAft>
              <a:buSzPct val="100000"/>
              <a:buChar char="•"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体重で割っているので、患者が違っても同じ数で指示できる</a:t>
            </a:r>
            <a:endParaRPr lang="ja-JP" sz="2600" dirty="0"/>
          </a:p>
          <a:p>
            <a:pPr algn="l" marL="381000" indent="-381000">
              <a:spcAft>
                <a:spcPts val="2600"/>
              </a:spcAft>
              <a:buSzPct val="100000"/>
              <a:buChar char="•"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ポンプに入れるのは mL/時。橋渡しが</a:t>
            </a:r>
            <a:r>
              <a:rPr lang="ja-JP" altLang="en-US" sz="26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『希釈濃度』</a:t>
            </a:r>
            <a:endParaRPr lang="ja-JP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換算の式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定義</a:t>
            </a:r>
            <a:endParaRPr lang="ja-JP" sz="105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00A8A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式</a:t>
            </a:r>
            <a:endParaRPr lang="ja-JP" sz="105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演習</a:t>
            </a:r>
            <a:endParaRPr lang="ja-JP" sz="105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検算</a:t>
            </a:r>
            <a:endParaRPr lang="ja-JP" sz="105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落とし穴</a:t>
            </a:r>
            <a:endParaRPr lang="ja-JP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263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（算術による導出。特定の出典なし）</a:t>
            </a:r>
            <a:endParaRPr lang="ja-JP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11183112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ja-JP" altLang="en-US" sz="34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mL/時 = γ × 体重(kg) × </a:t>
            </a:r>
            <a:r>
              <a:rPr lang="ja-JP" altLang="en-US" sz="34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60</a:t>
            </a:r>
            <a:r>
              <a:rPr lang="ja-JP" altLang="en-US" sz="34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÷ 濃度(μg/mL)</a:t>
            </a:r>
            <a:endParaRPr lang="ja-JP" sz="3400" dirty="0"/>
          </a:p>
        </p:txBody>
      </p:sp>
      <p:sp>
        <p:nvSpPr>
          <p:cNvPr id="12" name="Text 10"/>
          <p:cNvSpPr/>
          <p:nvPr/>
        </p:nvSpPr>
        <p:spPr>
          <a:xfrm>
            <a:off x="1431036" y="3429000"/>
            <a:ext cx="9326880" cy="960120"/>
          </a:xfrm>
          <a:prstGeom prst="roundRect">
            <a:avLst>
              <a:gd name="adj" fmla="val 9524"/>
            </a:avLst>
          </a:prstGeom>
          <a:noFill/>
          <a:ln w="19050">
            <a:solidFill>
              <a:srgbClr val="BFBFBF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γ = mL/時 × 濃度(μg/mL) ÷ (体重(kg) × </a:t>
            </a:r>
            <a:r>
              <a:rPr lang="ja-JP" altLang="en-US" sz="28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60</a:t>
            </a: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)</a:t>
            </a:r>
            <a:endParaRPr lang="ja-JP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846320"/>
            <a:ext cx="111831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8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60</a:t>
            </a: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は『分』を『時』に直す数</a:t>
            </a:r>
            <a:endParaRPr lang="ja-JP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希釈濃度の出し方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定義</a:t>
            </a:r>
            <a:endParaRPr lang="ja-JP" sz="105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00A8A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式</a:t>
            </a:r>
            <a:endParaRPr lang="ja-JP" sz="105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演習</a:t>
            </a:r>
            <a:endParaRPr lang="ja-JP" sz="105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検算</a:t>
            </a:r>
            <a:endParaRPr lang="ja-JP" sz="105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落とし穴</a:t>
            </a:r>
            <a:endParaRPr lang="ja-JP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263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各薬剤の添付文書 / 院内の標準希釈表</a:t>
            </a:r>
            <a:endParaRPr lang="ja-JP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11183112" cy="1005840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ja-JP" altLang="en-US" sz="32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濃度(μg/mL) = 薬の量(mg) </a:t>
            </a:r>
            <a:r>
              <a:rPr lang="ja-JP" altLang="en-US" sz="32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× 1,000</a:t>
            </a:r>
            <a:r>
              <a:rPr lang="ja-JP" altLang="en-US" sz="32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÷ 総量(mL)</a:t>
            </a:r>
            <a:endParaRPr lang="ja-JP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00400"/>
          <a:ext cx="11183112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5486400"/>
                <a:gridCol w="2542032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薬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希釈（例）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濃度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レミフェンタニル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2 mg を 40 mL に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0072B2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50 μg/mL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ノルアドレナリン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5 mg を 50 mL に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0072B2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100 μg/mL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ニカルジピン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10 mg/10 mL 原液（施設の方法）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0072B2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1,000 μg/mL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52400" marR="1270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演習（3 問）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定義</a:t>
            </a:r>
            <a:endParaRPr lang="ja-JP" sz="105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式</a:t>
            </a:r>
            <a:endParaRPr lang="ja-JP" sz="105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00A8A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演習</a:t>
            </a:r>
            <a:endParaRPr lang="ja-JP" sz="105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検算</a:t>
            </a:r>
            <a:endParaRPr lang="ja-JP" sz="105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落とし穴</a:t>
            </a:r>
            <a:endParaRPr lang="ja-JP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263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院内の標準希釈表</a:t>
            </a:r>
            <a:endParaRPr lang="ja-JP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169164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1979676"/>
            <a:ext cx="960120" cy="658368"/>
          </a:xfrm>
          <a:prstGeom prst="roundRect">
            <a:avLst>
              <a:gd name="adj" fmla="val 11111"/>
            </a:avLst>
          </a:prstGeom>
          <a:solidFill>
            <a:srgbClr val="0072B2"/>
          </a:solidFill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問 1</a:t>
            </a:r>
            <a:endParaRPr lang="ja-JP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1810512"/>
            <a:ext cx="96743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体重 60 kg。レミフェンタニル 2 mg を 40 mL に希釈。</a:t>
            </a:r>
            <a:endParaRPr lang="ja-JP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0.25 γ は何 mL/時？</a:t>
            </a:r>
            <a:endParaRPr lang="ja-JP" sz="24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3488436"/>
            <a:ext cx="960120" cy="658368"/>
          </a:xfrm>
          <a:prstGeom prst="roundRect">
            <a:avLst>
              <a:gd name="adj" fmla="val 11111"/>
            </a:avLst>
          </a:prstGeom>
          <a:solidFill>
            <a:srgbClr val="0072B2"/>
          </a:solidFill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問 2</a:t>
            </a:r>
            <a:endParaRPr lang="ja-JP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847088" y="3319272"/>
            <a:ext cx="96743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体重 50 kg。ノルアドレナリン 5 mg を 50 mL に希釈。</a:t>
            </a:r>
            <a:endParaRPr lang="ja-JP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0.05 γ は何 mL/時？　また、3 mL/時 なら何 γ？</a:t>
            </a:r>
            <a:endParaRPr lang="ja-JP" sz="2400" dirty="0"/>
          </a:p>
        </p:txBody>
      </p:sp>
      <p:sp>
        <p:nvSpPr>
          <p:cNvPr id="17" name="Shape 15"/>
          <p:cNvSpPr/>
          <p:nvPr/>
        </p:nvSpPr>
        <p:spPr>
          <a:xfrm>
            <a:off x="502920" y="470916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4997196"/>
            <a:ext cx="960120" cy="658368"/>
          </a:xfrm>
          <a:prstGeom prst="roundRect">
            <a:avLst>
              <a:gd name="adj" fmla="val 11111"/>
            </a:avLst>
          </a:prstGeom>
          <a:solidFill>
            <a:srgbClr val="0072B2"/>
          </a:solidFill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問 3</a:t>
            </a:r>
            <a:endParaRPr lang="ja-JP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847088" y="4828032"/>
            <a:ext cx="96743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体重 70 kg。ニカルジピン 10 mg/10 mL 原液。</a:t>
            </a:r>
            <a:endParaRPr lang="ja-JP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 γ は何 mL/時？　また、10 μg/kg のボーラスは何 mL？</a:t>
            </a:r>
            <a:endParaRPr lang="ja-JP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解答 1：レミフェンタニル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定義</a:t>
            </a:r>
            <a:endParaRPr lang="ja-JP" sz="105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式</a:t>
            </a:r>
            <a:endParaRPr lang="ja-JP" sz="105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00A8A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演習</a:t>
            </a:r>
            <a:endParaRPr lang="ja-JP" sz="105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検算</a:t>
            </a:r>
            <a:endParaRPr lang="ja-JP" sz="105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落とし穴</a:t>
            </a:r>
            <a:endParaRPr lang="ja-JP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263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アルチバ静注用 添付文書 / 院内の標準希釈表</a:t>
            </a:r>
            <a:endParaRPr lang="ja-JP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011680"/>
            <a:ext cx="73170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6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濃度：</a:t>
            </a: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 mg × 1,000 ÷ 40 mL = 50 μg/mL</a:t>
            </a:r>
            <a:endParaRPr lang="ja-JP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944368"/>
            <a:ext cx="73170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6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 分あたり：</a:t>
            </a: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0.25 × 60 kg = 15 μg/分</a:t>
            </a:r>
            <a:endParaRPr lang="ja-JP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877056"/>
            <a:ext cx="73170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6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 時間あたり：</a:t>
            </a: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15 × 60 = 900 μg/時</a:t>
            </a:r>
            <a:endParaRPr lang="ja-JP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809744"/>
            <a:ext cx="73170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6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ポンプ：</a:t>
            </a: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900 ÷ 50 = 18 mL/時</a:t>
            </a:r>
            <a:endParaRPr lang="ja-JP" sz="2600" dirty="0"/>
          </a:p>
        </p:txBody>
      </p:sp>
      <p:sp>
        <p:nvSpPr>
          <p:cNvPr id="15" name="Shape 13"/>
          <p:cNvSpPr/>
          <p:nvPr/>
        </p:nvSpPr>
        <p:spPr>
          <a:xfrm>
            <a:off x="7874813" y="2066544"/>
            <a:ext cx="109728" cy="3191256"/>
          </a:xfrm>
          <a:custGeom>
            <a:avLst/>
            <a:gdLst/>
            <a:ahLst/>
            <a:cxnLst/>
            <a:rect l="l" t="t" r="r" b="b"/>
            <a:pathLst>
              <a:path w="109728" h="3191256">
                <a:moveTo>
                  <a:pt x="0" y="0"/>
                </a:moveTo>
                <a:lnTo>
                  <a:pt x="109728" y="0"/>
                </a:lnTo>
                <a:lnTo>
                  <a:pt x="109728" y="3191256"/>
                </a:lnTo>
                <a:lnTo>
                  <a:pt x="0" y="3191256"/>
                </a:lnTo>
              </a:path>
            </a:pathLst>
          </a:custGeom>
          <a:noFill/>
          <a:ln w="31750">
            <a:solidFill>
              <a:srgbClr val="404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84541" y="3662172"/>
            <a:ext cx="592531" cy="0"/>
          </a:xfrm>
          <a:prstGeom prst="line">
            <a:avLst/>
          </a:prstGeom>
          <a:noFill/>
          <a:ln w="3810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668512" y="2976372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8100">
            <a:solidFill>
              <a:srgbClr val="D55E00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ja-JP" altLang="en-US" sz="48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18 mL/時</a:t>
            </a:r>
            <a:endParaRPr lang="ja-JP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解答 2：ノルアドレナリン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定義</a:t>
            </a:r>
            <a:endParaRPr lang="ja-JP" sz="105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式</a:t>
            </a:r>
            <a:endParaRPr lang="ja-JP" sz="105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00A8A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演習</a:t>
            </a:r>
            <a:endParaRPr lang="ja-JP" sz="105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検算</a:t>
            </a:r>
            <a:endParaRPr lang="ja-JP" sz="105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落とし穴</a:t>
            </a:r>
            <a:endParaRPr lang="ja-JP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263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ノルアドリナリン注 1mg 添付文書（用法の確認）/ 院内の標準希釈表（希釈と γ）</a:t>
            </a:r>
            <a:endParaRPr lang="ja-JP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1691640"/>
            <a:ext cx="5481828" cy="4352544"/>
          </a:xfrm>
          <a:prstGeom prst="roundRect">
            <a:avLst>
              <a:gd name="adj" fmla="val 1681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" y="1837944"/>
            <a:ext cx="51892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8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0.05 γ → mL/時</a:t>
            </a:r>
            <a:endParaRPr lang="ja-JP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" y="2505456"/>
            <a:ext cx="51892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濃度：5 mg × 1,000 ÷ 50</a:t>
            </a:r>
            <a:endParaRPr lang="ja-JP" sz="2600" dirty="0"/>
          </a:p>
          <a:p>
            <a:pPr algn="l" indent="0" marL="0">
              <a:spcAft>
                <a:spcPts val="100"/>
              </a:spcAft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= 100 μg/mL</a:t>
            </a:r>
            <a:endParaRPr lang="ja-JP" sz="2600" dirty="0"/>
          </a:p>
        </p:txBody>
      </p:sp>
      <p:sp>
        <p:nvSpPr>
          <p:cNvPr id="14" name="Shape 12"/>
          <p:cNvSpPr/>
          <p:nvPr/>
        </p:nvSpPr>
        <p:spPr>
          <a:xfrm>
            <a:off x="649224" y="3726180"/>
            <a:ext cx="51892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" y="3941064"/>
            <a:ext cx="51892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0.05 × 50 kg × 60</a:t>
            </a:r>
            <a:endParaRPr lang="ja-JP" sz="2600" dirty="0"/>
          </a:p>
          <a:p>
            <a:pPr algn="l" indent="0" marL="0">
              <a:spcAft>
                <a:spcPts val="100"/>
              </a:spcAft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= 150 μg/時</a:t>
            </a:r>
            <a:endParaRPr lang="ja-JP" sz="2600" dirty="0"/>
          </a:p>
        </p:txBody>
      </p:sp>
      <p:sp>
        <p:nvSpPr>
          <p:cNvPr id="16" name="Shape 14"/>
          <p:cNvSpPr/>
          <p:nvPr/>
        </p:nvSpPr>
        <p:spPr>
          <a:xfrm>
            <a:off x="649224" y="5161788"/>
            <a:ext cx="51892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" y="5376672"/>
            <a:ext cx="5189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150 ÷ 100 = </a:t>
            </a:r>
            <a:r>
              <a:rPr lang="ja-JP" altLang="en-US" sz="26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1.5 mL/時</a:t>
            </a:r>
            <a:endParaRPr lang="ja-JP" sz="2600" dirty="0"/>
          </a:p>
        </p:txBody>
      </p:sp>
      <p:sp>
        <p:nvSpPr>
          <p:cNvPr id="18" name="Shape 16"/>
          <p:cNvSpPr/>
          <p:nvPr/>
        </p:nvSpPr>
        <p:spPr>
          <a:xfrm>
            <a:off x="6204204" y="1691640"/>
            <a:ext cx="5481828" cy="4352544"/>
          </a:xfrm>
          <a:prstGeom prst="roundRect">
            <a:avLst>
              <a:gd name="adj" fmla="val 1681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0508" y="1837944"/>
            <a:ext cx="51892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8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 mL/時 → γ</a:t>
            </a:r>
            <a:endParaRPr lang="ja-JP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350508" y="2505456"/>
            <a:ext cx="51892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 mL/時 × 100 μg/mL</a:t>
            </a:r>
            <a:endParaRPr lang="ja-JP" sz="2600" dirty="0"/>
          </a:p>
          <a:p>
            <a:pPr algn="l" indent="0" marL="0">
              <a:spcAft>
                <a:spcPts val="100"/>
              </a:spcAft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= 300 μg/時</a:t>
            </a:r>
            <a:endParaRPr lang="ja-JP" sz="2600" dirty="0"/>
          </a:p>
        </p:txBody>
      </p:sp>
      <p:sp>
        <p:nvSpPr>
          <p:cNvPr id="21" name="Shape 19"/>
          <p:cNvSpPr/>
          <p:nvPr/>
        </p:nvSpPr>
        <p:spPr>
          <a:xfrm>
            <a:off x="6350508" y="3726180"/>
            <a:ext cx="51892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0508" y="4192524"/>
            <a:ext cx="5189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300 ÷ 60 = 5 μg/分</a:t>
            </a:r>
            <a:endParaRPr lang="ja-JP" sz="2600" dirty="0"/>
          </a:p>
        </p:txBody>
      </p:sp>
      <p:sp>
        <p:nvSpPr>
          <p:cNvPr id="23" name="Shape 21"/>
          <p:cNvSpPr/>
          <p:nvPr/>
        </p:nvSpPr>
        <p:spPr>
          <a:xfrm>
            <a:off x="6350508" y="5161788"/>
            <a:ext cx="51892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50508" y="5376672"/>
            <a:ext cx="5189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 ÷ 50 kg = </a:t>
            </a:r>
            <a:r>
              <a:rPr lang="ja-JP" altLang="en-US" sz="26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0.1 γ</a:t>
            </a:r>
            <a:endParaRPr lang="ja-JP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解答 3：ニカルジピン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定義</a:t>
            </a:r>
            <a:endParaRPr lang="ja-JP" sz="105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式</a:t>
            </a:r>
            <a:endParaRPr lang="ja-JP" sz="105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00A8A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演習</a:t>
            </a:r>
            <a:endParaRPr lang="ja-JP" sz="105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検算</a:t>
            </a:r>
            <a:endParaRPr lang="ja-JP" sz="105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落とし穴</a:t>
            </a:r>
            <a:endParaRPr lang="ja-JP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7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263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ペルジピン注射液 添付文書 / 院内の標準希釈表</a:t>
            </a:r>
            <a:endParaRPr lang="ja-JP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1691640"/>
            <a:ext cx="5481828" cy="4352544"/>
          </a:xfrm>
          <a:prstGeom prst="roundRect">
            <a:avLst>
              <a:gd name="adj" fmla="val 1681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" y="1837944"/>
            <a:ext cx="51892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8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 γ → mL/時</a:t>
            </a:r>
            <a:endParaRPr lang="ja-JP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" y="2505456"/>
            <a:ext cx="51892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濃度：1 mg/mL</a:t>
            </a:r>
            <a:endParaRPr lang="ja-JP" sz="2600" dirty="0"/>
          </a:p>
          <a:p>
            <a:pPr algn="l" indent="0" marL="0">
              <a:spcAft>
                <a:spcPts val="100"/>
              </a:spcAft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= 1,000 μg/mL</a:t>
            </a:r>
            <a:endParaRPr lang="ja-JP" sz="2600" dirty="0"/>
          </a:p>
        </p:txBody>
      </p:sp>
      <p:sp>
        <p:nvSpPr>
          <p:cNvPr id="14" name="Shape 12"/>
          <p:cNvSpPr/>
          <p:nvPr/>
        </p:nvSpPr>
        <p:spPr>
          <a:xfrm>
            <a:off x="649224" y="3726180"/>
            <a:ext cx="51892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" y="3941064"/>
            <a:ext cx="51892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 × 70 kg × 60</a:t>
            </a:r>
            <a:endParaRPr lang="ja-JP" sz="2600" dirty="0"/>
          </a:p>
          <a:p>
            <a:pPr algn="l" indent="0" marL="0">
              <a:spcAft>
                <a:spcPts val="100"/>
              </a:spcAft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= 8,400 μg/時</a:t>
            </a:r>
            <a:endParaRPr lang="ja-JP" sz="2600" dirty="0"/>
          </a:p>
        </p:txBody>
      </p:sp>
      <p:sp>
        <p:nvSpPr>
          <p:cNvPr id="16" name="Shape 14"/>
          <p:cNvSpPr/>
          <p:nvPr/>
        </p:nvSpPr>
        <p:spPr>
          <a:xfrm>
            <a:off x="649224" y="5161788"/>
            <a:ext cx="51892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" y="5376672"/>
            <a:ext cx="5189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8,400 ÷ 1,000 = </a:t>
            </a:r>
            <a:r>
              <a:rPr lang="ja-JP" altLang="en-US" sz="26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8.4 mL/時</a:t>
            </a:r>
            <a:endParaRPr lang="ja-JP" sz="2600" dirty="0"/>
          </a:p>
        </p:txBody>
      </p:sp>
      <p:sp>
        <p:nvSpPr>
          <p:cNvPr id="18" name="Shape 16"/>
          <p:cNvSpPr/>
          <p:nvPr/>
        </p:nvSpPr>
        <p:spPr>
          <a:xfrm>
            <a:off x="6204204" y="1691640"/>
            <a:ext cx="5481828" cy="4352544"/>
          </a:xfrm>
          <a:prstGeom prst="roundRect">
            <a:avLst>
              <a:gd name="adj" fmla="val 1681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0508" y="1837944"/>
            <a:ext cx="51892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8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10 μg/kg のボーラス</a:t>
            </a:r>
            <a:endParaRPr lang="ja-JP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350508" y="2756916"/>
            <a:ext cx="5189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10 × 70 kg = 700 μg</a:t>
            </a:r>
            <a:endParaRPr lang="ja-JP" sz="2600" dirty="0"/>
          </a:p>
        </p:txBody>
      </p:sp>
      <p:sp>
        <p:nvSpPr>
          <p:cNvPr id="21" name="Shape 19"/>
          <p:cNvSpPr/>
          <p:nvPr/>
        </p:nvSpPr>
        <p:spPr>
          <a:xfrm>
            <a:off x="6350508" y="3726180"/>
            <a:ext cx="51892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0508" y="4192524"/>
            <a:ext cx="5189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700 ÷ 1,000 = </a:t>
            </a:r>
            <a:r>
              <a:rPr lang="ja-JP" altLang="en-US" sz="26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0.7 mL</a:t>
            </a:r>
            <a:endParaRPr lang="ja-JP" sz="2600" dirty="0"/>
          </a:p>
        </p:txBody>
      </p:sp>
      <p:sp>
        <p:nvSpPr>
          <p:cNvPr id="23" name="Shape 21"/>
          <p:cNvSpPr/>
          <p:nvPr/>
        </p:nvSpPr>
        <p:spPr>
          <a:xfrm>
            <a:off x="6350508" y="5161788"/>
            <a:ext cx="51892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50508" y="5376672"/>
            <a:ext cx="5189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ja-JP" altLang="en-US" sz="2600" b="1" dirty="0">
                <a:solidFill>
                  <a:srgbClr val="C00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ゆっくり静注</a:t>
            </a:r>
            <a:endParaRPr lang="ja-JP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検算の習慣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定義</a:t>
            </a:r>
            <a:endParaRPr lang="ja-JP" sz="105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式</a:t>
            </a:r>
            <a:endParaRPr lang="ja-JP" sz="105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演習</a:t>
            </a:r>
            <a:endParaRPr lang="ja-JP" sz="105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00A8A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検算</a:t>
            </a:r>
            <a:endParaRPr lang="ja-JP" sz="105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落とし穴</a:t>
            </a:r>
            <a:endParaRPr lang="ja-JP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263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院内の標準希釈表</a:t>
            </a:r>
            <a:endParaRPr lang="ja-JP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810512"/>
            <a:ext cx="3813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</a:t>
            </a:r>
            <a:endParaRPr lang="ja-JP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84225" y="1810512"/>
            <a:ext cx="10774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答えの桁を疑う：1.5 と 15 と 150 のどれが『普通』か</a:t>
            </a:r>
            <a:endParaRPr lang="ja-JP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587752"/>
            <a:ext cx="3813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</a:t>
            </a:r>
            <a:endParaRPr lang="ja-JP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84225" y="2587752"/>
            <a:ext cx="10774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単位を書いて追う：μg/分 → μg/時 → mL/時</a:t>
            </a:r>
            <a:endParaRPr lang="ja-JP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364992"/>
            <a:ext cx="3813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</a:t>
            </a:r>
            <a:endParaRPr lang="ja-JP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35178" y="3364992"/>
            <a:ext cx="109234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『体重 × 3 mg を 50 mL に』なら </a:t>
            </a:r>
            <a:r>
              <a:rPr lang="ja-JP" altLang="en-US" sz="26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 mL/時 = 1 γ</a:t>
            </a:r>
            <a:endParaRPr lang="ja-JP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142232"/>
            <a:ext cx="3813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</a:t>
            </a:r>
            <a:endParaRPr lang="ja-JP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84225" y="4142232"/>
            <a:ext cx="10774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6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院内の標準希釈表と、2 人での確認</a:t>
            </a:r>
            <a:endParaRPr lang="ja-JP" sz="2600" dirty="0"/>
          </a:p>
        </p:txBody>
      </p:sp>
      <p:sp>
        <p:nvSpPr>
          <p:cNvPr id="19" name="Text 17"/>
          <p:cNvSpPr/>
          <p:nvPr/>
        </p:nvSpPr>
        <p:spPr>
          <a:xfrm>
            <a:off x="502920" y="5038344"/>
            <a:ext cx="11183112" cy="1005840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ja-JP" altLang="en-US" sz="3000" b="1" dirty="0">
                <a:solidFill>
                  <a:srgbClr val="C00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計算が合っていても、濃度の前提が違えば全部違う</a:t>
            </a:r>
            <a:endParaRPr lang="ja-JP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落とし穴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定義</a:t>
            </a:r>
            <a:endParaRPr lang="ja-JP" sz="105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式</a:t>
            </a:r>
            <a:endParaRPr lang="ja-JP" sz="105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演習</a:t>
            </a:r>
            <a:endParaRPr lang="ja-JP" sz="105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検算</a:t>
            </a:r>
            <a:endParaRPr lang="ja-JP" sz="105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00A8A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落とし穴</a:t>
            </a:r>
            <a:endParaRPr lang="ja-JP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9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943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Bartels K, et al. Anesth Analg 2009;109:1156-61</a:t>
            </a:r>
            <a:endParaRPr lang="ja-JP" sz="1600" dirty="0"/>
          </a:p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Egan TD, et al. Anesthesiology 1998;89:562-73</a:t>
            </a:r>
            <a:endParaRPr lang="ja-JP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828800"/>
            <a:ext cx="1115568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06400" indent="-406400">
              <a:spcAft>
                <a:spcPts val="2200"/>
              </a:spcAft>
              <a:buSzPct val="100000"/>
              <a:buChar char="•"/>
            </a:pPr>
            <a:r>
              <a:rPr lang="ja-JP" altLang="en-US" sz="28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mg と μg</a:t>
            </a: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</a:t>
            </a:r>
            <a:r>
              <a:rPr lang="ja-JP" altLang="en-US" sz="28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1,000 倍</a:t>
            </a: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）、</a:t>
            </a:r>
            <a:r>
              <a:rPr lang="ja-JP" altLang="en-US" sz="28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分と時</a:t>
            </a: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</a:t>
            </a:r>
            <a:r>
              <a:rPr lang="ja-JP" altLang="en-US" sz="28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60 倍</a:t>
            </a: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）</a:t>
            </a:r>
            <a:endParaRPr lang="ja-JP" sz="2800" dirty="0"/>
          </a:p>
          <a:p>
            <a:pPr algn="l" marL="406400" indent="-406400">
              <a:spcAft>
                <a:spcPts val="2200"/>
              </a:spcAft>
              <a:buSzPct val="100000"/>
              <a:buChar char="•"/>
            </a:pPr>
            <a:r>
              <a:rPr lang="ja-JP" altLang="en-US" sz="28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総量：</a:t>
            </a: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薬液の体積を入れ忘れる</a:t>
            </a:r>
            <a:endParaRPr lang="ja-JP" sz="2800" dirty="0"/>
          </a:p>
          <a:p>
            <a:pPr algn="l" marL="406400" indent="-406400">
              <a:spcAft>
                <a:spcPts val="2200"/>
              </a:spcAft>
              <a:buSzPct val="100000"/>
              <a:buChar char="•"/>
            </a:pPr>
            <a:r>
              <a:rPr lang="ja-JP" altLang="en-US" sz="28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ポンプの設定単位</a:t>
            </a: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（mL/時か、γか、mg/時か）</a:t>
            </a:r>
            <a:endParaRPr lang="ja-JP" sz="2800" dirty="0"/>
          </a:p>
          <a:p>
            <a:pPr algn="l" marL="406400" indent="-406400">
              <a:spcAft>
                <a:spcPts val="2200"/>
              </a:spcAft>
              <a:buSzPct val="100000"/>
              <a:buChar char="•"/>
            </a:pPr>
            <a:r>
              <a:rPr lang="ja-JP" altLang="en-US" sz="28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ライン内の死腔：</a:t>
            </a: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流量が少ないと届くまで時間がかかる</a:t>
            </a:r>
            <a:endParaRPr lang="ja-JP" sz="2800" dirty="0"/>
          </a:p>
          <a:p>
            <a:pPr algn="l" marL="406400" indent="-406400">
              <a:spcAft>
                <a:spcPts val="2200"/>
              </a:spcAft>
              <a:buSzPct val="100000"/>
              <a:buChar char="•"/>
            </a:pPr>
            <a:r>
              <a:rPr lang="ja-JP" altLang="en-US" sz="28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体重：</a:t>
            </a: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実測か推定か、肥満では何を使うか（→ 3-1）</a:t>
            </a:r>
            <a:endParaRPr lang="ja-JP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まとめ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定義</a:t>
            </a:r>
            <a:endParaRPr lang="ja-JP" sz="105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式</a:t>
            </a:r>
            <a:endParaRPr lang="ja-JP" sz="105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演習</a:t>
            </a:r>
            <a:endParaRPr lang="ja-JP" sz="105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D9D9D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検算</a:t>
            </a:r>
            <a:endParaRPr lang="ja-JP" sz="105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7813"/>
            </a:avLst>
          </a:prstGeom>
          <a:solidFill>
            <a:srgbClr val="00A8A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落とし穴</a:t>
            </a:r>
            <a:endParaRPr lang="ja-JP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10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263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院内の標準希釈表 / （式は算術。特定の出典なし）</a:t>
            </a:r>
            <a:endParaRPr lang="ja-JP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810512"/>
            <a:ext cx="11155680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06400" indent="-406400">
              <a:spcAft>
                <a:spcPts val="2400"/>
              </a:spcAft>
              <a:buSzPct val="100000"/>
              <a:buChar char="•"/>
            </a:pPr>
            <a:r>
              <a:rPr lang="ja-JP" altLang="en-US" sz="28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 γ = 1 μg/kg/分</a:t>
            </a:r>
            <a:endParaRPr lang="ja-JP" sz="2800" dirty="0"/>
          </a:p>
          <a:p>
            <a:pPr algn="l" marL="406400" indent="-406400">
              <a:spcAft>
                <a:spcPts val="2400"/>
              </a:spcAft>
              <a:buSzPct val="100000"/>
              <a:buChar char="•"/>
            </a:pPr>
            <a:r>
              <a:rPr lang="ja-JP" altLang="en-US" sz="28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mL/時 = γ × 体重 × 60 ÷ 濃度(μg/mL)</a:t>
            </a:r>
            <a:endParaRPr lang="ja-JP" sz="2800" dirty="0"/>
          </a:p>
          <a:p>
            <a:pPr algn="l" marL="406400" indent="-406400">
              <a:spcAft>
                <a:spcPts val="2400"/>
              </a:spcAft>
              <a:buSzPct val="100000"/>
              <a:buChar char="•"/>
            </a:pPr>
            <a:r>
              <a:rPr lang="ja-JP" altLang="en-US" sz="28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濃度 = 薬(mg) × 1,000 ÷ 総量(mL)</a:t>
            </a:r>
            <a:endParaRPr lang="ja-JP" sz="2800" dirty="0"/>
          </a:p>
          <a:p>
            <a:pPr algn="l" marL="406400" indent="-406400">
              <a:spcAft>
                <a:spcPts val="2400"/>
              </a:spcAft>
              <a:buSzPct val="100000"/>
              <a:buChar char="•"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答えの桁を疑い、単位を書いて追う</a:t>
            </a:r>
            <a:endParaRPr lang="ja-JP" sz="2800" dirty="0"/>
          </a:p>
          <a:p>
            <a:pPr algn="l" marL="406400" indent="-406400">
              <a:spcAft>
                <a:spcPts val="2400"/>
              </a:spcAft>
              <a:buSzPct val="100000"/>
              <a:buChar char="•"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院内の標準希釈表に従い、2 人で確認する</a:t>
            </a:r>
            <a:endParaRPr lang="ja-JP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メイリオ"/>
        <a:ea typeface="メイリオ"/>
        <a:cs typeface=""/>
        <a:font script="Jpan" typeface="メイリオ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メイリオ"/>
        <a:ea typeface="メイリオ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3-10 γ計算の演習</dc:title>
  <dc:subject/>
  <dc:creator>初期研修医向け麻酔講義</dc:creator>
  <cp:lastModifiedBy>初期研修医向け麻酔講義</cp:lastModifiedBy>
  <cp:revision>1</cp:revision>
  <dcterms:created xsi:type="dcterms:W3CDTF">2026-10-14T01:04:25Z</dcterms:created>
  <dcterms:modified xsi:type="dcterms:W3CDTF">2026-10-14T01:04:25Z</dcterms:modified>
</cp:coreProperties>
</file>