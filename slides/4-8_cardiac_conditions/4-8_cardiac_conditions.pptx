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4-7 で「活動性の心疾患は延期」「上昇リスクには段階的に」を学んだ。この講義では、離島で出会う頻度が高い心疾患別に、何を確かめ、いつ延期し、麻酔で何に気をつけ、誰に相談するかを扱う。心不全、大動脈弁狭窄症、冠動脈ステント後、ペースメーカー・ICD、心房細動、肺高血圧。</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危険度: 65 歳以上の大手術 159,327 件（Hammill 2008）で、心不全の手術死亡の調整ハザード比は 1.63、冠動脈疾患は 1.08 で、心不全のほうが危ない。米国退役軍人の待機的非心臓手術 609,735 例（Lerman 2019）では 90 日死亡が心不全 5.49%、非心不全 1.22%、症候性心不全 10.11%。無症候性で左室収縮能が保たれた心不全（HFpEF 相当）でも 4.42%（調整オッズ比 1.46）で、「EF が保たれていれば安全」ではない。</a:t>
            </a:r>
          </a:p>
          <a:p>
            <a:r>
              <a:rPr lang="ja-JP" altLang="en-US" dirty="0"/>
              <a:t>非代償の所見: 起座呼吸、夜間発作性呼吸困難、頸静脈怒張、III 音、両側ラ音、浮腫・体重増加、安静時の息切れ。非代償性心不全は活動性の心疾患として待機手術を延期し、安定させてから（2024 AHA/ACC）。</a:t>
            </a:r>
          </a:p>
          <a:p>
            <a:r>
              <a:rPr lang="ja-JP" altLang="en-US" dirty="0"/>
              <a:t>検査（2024 AHA/ACC）: 新たな呼吸困難、心不全を示す身体所見、心機能悪化の疑いがあれば術前に左室機能を評価する（Class I）。既知の心不全で臨床状態が変わった場合も妥当（2a）。無症状で安定していればルーチンの評価は推奨しない（Class 3）。BNP/NT-proBNP は既知の心血管疾患・65 歳以上・45 歳以上で症状がある患者の上昇リスク手術で、リスク評価を補うのに妥当（2a → 4-7）。周術期に「この値なら延期」という確立したカットオフはない。日本心不全学会のステートメント（2023 改訂）は外来の診断カットオフを BNP 35 pg/mL、NT-proBNP 125 pg/mL、心不全の可能性が高い値を BNP 100 以上、NT-proBNP 300 以上としている。これは外来での診断・紹介の目安で、周術期リスク層別化の閾値ではない。周術期の研究では、VISION のコホート（45 歳以上の入院非心臓手術 10,402 例、Duceppe 2020）で術前 NT-proBNP が 100 未満／100〜200 未満／200〜1500 未満／1500 pg/mL 以上と上がるほど、30 日の血管死・術後心筋傷害（MINS）が段階的に増えた（100 未満に対する調整ハザード比 2.27、3.63、5.82）。BNP・NT-proBNP が正常でも HFpEF は否定できず、肥満では偽性に低くなる（第 2 版 心不全の普遍的定義 2026）。NT-proBNP は腎機能低下で上がる。</a:t>
            </a:r>
          </a:p>
          <a:p>
            <a:r>
              <a:rPr lang="ja-JP" altLang="en-US" dirty="0"/>
              <a:t>薬（2024 AHA/ACC）: 代償された心不全では、SGLT2 阻害薬を除くガイドライン推奨薬（β遮断薬、ACE 阻害薬・ARB・ARNI、MRA）を周術期も継続するのが妥当（2a）。長期服用中の β遮断薬（Class 1）とスタチン（Class 1）は、心不全の有無にかかわらず継続する（スタチンは心不全のガイドライン推奨薬ではなく、別の推奨）。RAAS 阻害薬（ACE 阻害薬・ARB・ARNI）の継続が推奨されるのは HFrEF（2a）。高血圧目的で血圧が管理されている患者が上昇リスク手術を受けるなら、術中低血圧を減らすため 24 時間前の休薬を考慮してよい（2b → 4-14）。</a:t>
            </a:r>
          </a:p>
          <a:p>
            <a:r>
              <a:rPr lang="ja-JP" altLang="en-US" dirty="0"/>
              <a:t>SGLT2 阻害薬は周術期ケトアシドーシスを避けるため休薬する。日本糖尿病学会は術前 3 日前から、2024 AHA/ACC は可能なら 3〜4 日前（Class 1、LOE C-LD）。スライドの「3 日前」は国内基準（→ 4-13）。心不全目的で非糖尿病患者が服用しているダパグリフロジン・エンパグリフロジンも対象。休薬できなかった緊急手術でも術後 DKA は増えなかったという後ろ向き研究（2 型糖尿病 34,671 例、Dixit 2025）もあるが、正常血糖ケトアシドーシスは血糖では見抜けないので、術後の悪心・倦怠感では血液ガスと血中ケトンを確認する。</a:t>
            </a:r>
          </a:p>
          <a:p>
            <a:r>
              <a:rPr lang="ja-JP" altLang="en-US" dirty="0"/>
              <a:t>利尿薬: 手術当日の扱いに統一された推奨はない。体液量と血圧をみて続けるか休むかを個別に決め、体液過剰があれば続ける（施設と循環器内科の方針に合わせる）。</a:t>
            </a:r>
          </a:p>
          <a:p>
            <a:r>
              <a:rPr lang="ja-JP" altLang="en-US" dirty="0"/>
              <a:t>分類（心不全の普遍的定義 2021〔日本心不全学会共著〕、JCS/JHFS 2025 心不全診療ガイドライン）: 左室駆出率で HFrEF（40% 以下）、HFmrEF（41〜49%）、HFpEF（50% 以上）。2026 年の第 2 版 普遍的定義は EF の固定カットオフをやめ、HFrEF・HFpEF・HFimpEF（改善した EF）に分けている。</a:t>
            </a:r>
          </a:p>
          <a:p>
            <a:r>
              <a:rPr lang="ja-JP" altLang="en-US" dirty="0"/>
              <a:t>参考: Hammill BG, et al. Anesthesiology 2008;108:559-567 / Lerman BJ, et al. JAMA 2019;321:572-579 / Thompson A, et al. Circulation 2024;150:e351-e442（2024 AHA/ACC） / Duceppe E, et al. Ann Intern Med 2020;172:96-104（VISION、NT-proBNP） / Bozkurt B, et al. J Card Fail 2021;27:387-413（心不全の普遍的定義） / Kitai T, et al. Circ J 2025;89:1278-1444（JCS/JHFS 2025） / Walsh MN, et al. Glob Heart 2026;21:51（第 2 版 普遍的定義） / Dixit AA, et al. JAMA Surg 2025;160:423-430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定義: 日本循環器学会 弁膜症治療のガイドライン（2020 年改訂版）と ESC では、重症 AS は最高血流速度（Vmax）4.0 m/s 以上、平均圧較差 40 mmHg 以上、弁口面積 1.0 cm² 未満（弁口面積係数 0.6 cm²/m² 未満）。超重症は Vmax 5.0 m/s 以上、平均圧較差 60 mmHg 以上、または弁口面積 0.6 cm² 未満（国内エキスパートパネルの AS 適正使用基準、Inohara 2023）【要確認: JCS 2020 弁膜症ガイドライン（Circ J 2020;84:2037-2119）の AS 重症度の表で「以上／未満」の表記と、超重症に弁口面積 0.6 cm² 未満の基準があるか】。ACC/AHA 2020 は、重症 AS を Vmax 4 m/s 以上または平均圧較差 40 mmHg 以上で定義する。弁口面積は「通常 1.0 cm² 以下（係数 0.6 cm²/m² 以下）」とされ、定義に必須ではない。超重症は Vmax 5 m/s 以上または平均圧較差 60 mmHg 以上。</a:t>
            </a:r>
          </a:p>
          <a:p>
            <a:r>
              <a:rPr lang="ja-JP" altLang="en-US" dirty="0"/>
              <a:t>無症状の落とし穴: 高齢者は活動を自分で制限していて症状が出ないことがある。4-1 の診察で収縮期雑音を聴いたら、心エコーで重症度を確かめる（中等度以上の AS が疑われ上昇リスク手術を受けるなら心エコーは Class I〔2024 AHA/ACC〕）。</a:t>
            </a:r>
          </a:p>
          <a:p>
            <a:r>
              <a:rPr lang="ja-JP" altLang="en-US" dirty="0"/>
              <a:t>リスク: 中等度または重症の AS 634 例と対照 2,536 例の傾向スコア適合（Agarwal 2013）で、30 日死亡 2.1% 対 1.0%、術後心筋梗塞 3.0% 対 1.1%（スライドの値は中等度＋重症を合わせたもの）。死亡・心筋梗塞の複合は中等度 AS 4.4%、重症 AS 5.7%（対照 1.7〜2.7%）。中〜高リスク手術を受けた重症 AS 256 例（Tashiro 2014）では、30 日死亡は 5.9% 対 3.1% で有意差はなかった（P=0.13）。MACE は 18.8% 対 10.5% と多く（P=0.01）、主に心不全によるものだった。緊急手術は、重症 AS 群でも対照群でも 30 日死亡の最も強い予測因子だった。国内の CURRENT AS レジストリ（Taniguchi 2020）では、待機的非心臓手術 348 例のうち未治療の重症 AS（187 例）の 30 日死亡が 4.3%（症状あり 7.2%、なし 3.1%）、先行 AVR 群（161 例）は 0% だった。</a:t>
            </a:r>
          </a:p>
          <a:p>
            <a:r>
              <a:rPr lang="ja-JP" altLang="en-US" dirty="0"/>
              <a:t>介入: 2024 AHA/ACC は、弁介入の適応がある重症 AS（症候性、または LVEF 50% 未満の無症候性）に対し、待機的非心臓手術の前に大動脈弁介入（SAVR または TAVI）を評価して行うと周術期リスクが下がるとしている（Class 1）。方法はハートチームで決める。左室機能が正常な無症候性の中等度〜重症 AS は、適切な血行動態モニタリングのもとで手術に進むのが妥当（2a）【要確認: 2024 AHA/ACC 本文（Circulation 2024;150:e351-e442）の AS の項で、2a の対象が低リスク手術か上昇リスク手術か。要約（Kothari 2025）は低リスク手術、2014 年版は上昇リスク手術と書いており食い違う】。JCS 2022 非心臓手術ガイドラインにも CQ4「重症 AS を合併した患者の非心臓手術前に AVR を施行することは推奨されるか」があるが、推奨の向きと強さは確認できていないので講義では述べない【要確認: 本文 PDF（JCS2022_hiraoka.pdf、英語版 Circ J 2023;87:1253-1337）の CQ4 で推奨文、推奨の強さ、エビデンスの確実性】。</a:t>
            </a:r>
          </a:p>
          <a:p>
            <a:r>
              <a:rPr lang="ja-JP" altLang="en-US" dirty="0"/>
              <a:t>先に弁介入をする場合の時間: 国内単施設の報告では、TAVI を先に行った 12 例で非心臓手術まで 27±15 日かかった（Omoto 2020）。外科・患者への説明と、離島からの紹介・搬送の段取りに約 1 か月を見込む。AVR が難しい例では、経皮的バルーン大動脈弁形成術（PTAV）を橋渡しにした国内の単施設報告がある（14 例、平均 82.2 歳。PTAV から平均 8.4±3.9 日後に腹部・整形外科手術。重大有害事象・院内死亡なし。ほぼ全例が無症候性）。ただし 6〜12 か月以内の再狭窄や増悪が多く、AVR の代わりにはならない。離島では施行施設への搬送が前提。</a:t>
            </a:r>
          </a:p>
          <a:p>
            <a:r>
              <a:rPr lang="ja-JP" altLang="en-US" dirty="0"/>
              <a:t>参考: Agarwal S, et al. Circ Cardiovasc Qual Outcomes 2013;6:193-200 / Tashiro T, et al. Eur Heart J 2014;35:2372-2381 / Taniguchi T, et al. Circ J 2020;84:1173-1182（CURRENT AS） / Otto CM, et al. Circulation 2021;143:e72-e227（2020 ACC/AHA 弁膜症） / Inohara T, et al. JACC Asia 2023;3:255-267 / Omoto T, et al. J Cardiothorac Surg 2020;15:198 / Takafuji H, et al. Cardiovasc Interv Ther 2019;34:352-357 / Herrera RA, et al. Front Cardiovasc Med 2023;10:1145290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生理: 狭い弁を通す固定された一回拍出量と肥大した左室が前提。前負荷が落ちると拍出量が落ち、頻脈では拡張期が短くなって充満と冠灌流が減り、体血管抵抗が落ちると拡張期圧が下がって肥大心筋の冠灌流が落ち、虚血から循環破綻へ進む悪循環になる。心房収縮の寄与が大きいので、心房細動は早く治療する。</a:t>
            </a:r>
          </a:p>
          <a:p>
            <a:r>
              <a:rPr lang="ja-JP" altLang="en-US" dirty="0"/>
              <a:t>昇圧: 低血圧にはフェニレフリンなど α 作動薬を優先し、頻脈を起こすエフェドリンやドブタミンをまず使わない（教科書的な原則）。ノルアドレナリンの少量持続も選択肢になる（国内の TAVR 181 例の後ろ向き研究で、導入時から 0.1 μg/kg/分を予防投与すると執刀前の最低平均血圧が 63±15 対 47±13 mmHg と高く保たれた。Onishi 2024）。2024 AHA/ACC は、AS に限らず非心臓手術全般で、心筋傷害を減らすための最低ラインとして術中の平均動脈圧 60〜65 mmHg 以上または収縮期血圧 90 mmHg 以上の維持を推奨している（Class 1）。AS 専用の目標値ではない。重症 AS ではこの下限を割らせず、術前の血圧に近く保つ（専門家意見）。重症 AS では除細動パッドを導入前に貼っておくことが総説で勧められており（Singh 2025）、動脈ラインも導入前に入れる【要確認: 導入前の動脈ラインはガイドラインではなく教科書・総説レベルの推奨。Singh 2025 の本文か麻酔科の教科書で記載を確かめる】。</a:t>
            </a:r>
          </a:p>
          <a:p>
            <a:r>
              <a:rPr lang="ja-JP" altLang="en-US" dirty="0"/>
              <a:t>区域麻酔: 「AS では区域麻酔は禁忌」は専門家の予防的意見によるもので、AS 患者の区域麻酔 61 研究 3,228 例のシステマティックレビュー（Tabrizi 2024）では、最も多い術中合併症は昇圧薬を要する低血圧（非心臓手術で 9.9%。合併症の報告があった症例の中での割合）で、慎重に選んだ患者では禁忌ではない可能性がある。ただしデータが不均一でメタ解析はできず、AS の重症度別のリスクや至適な用量はわかっていない（根拠は観察研究のみ）。単回大量の脊髄くも膜下麻酔で急に交感神経が遮断されるのは危険で、低用量、片側脊麻、持続硬膜外での分割投与、動脈ライン、フェニレフリンの準備が前提。2024 AHA/ACC は一般の心血管リスク患者で区域麻酔と全身麻酔に心血管イベントの差はなく、どちらも妥当（2a）としている。</a:t>
            </a:r>
          </a:p>
          <a:p>
            <a:r>
              <a:rPr lang="ja-JP" altLang="en-US" dirty="0"/>
              <a:t>参考: Tabrizi NS, et al. J Cardiothorac Vasc Anesth 2024;38:505-516（AS と区域麻酔のシステマティックレビュー） / Herrera RA, et al. Front Cardiovasc Med 2023;10:1145290（AS 患者の非心臓手術のレビュー） / Onishi K, et al. JA Clin Rep 2024;10:39 / Singh M, et al. J Anaesthesiol Clin Pharmacol 2025;41:384-395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時期とリスク: 冠動脈ステント留置後 24 か月以内の非心臓手術 41,989 件（Hawn 2013）で、30 日 MACE は留置から 6 週未満 11.6%、6 週〜6 か月未満 6.4%、6〜12 か月 4.2%、12 か月超 3.5% で、6 か月以降は安定し、ステントの種類（DES と BMS）との関連はなかった。最も強い因子は緊急入院の手術（調整オッズ比 4.77）。</a:t>
            </a:r>
          </a:p>
          <a:p>
            <a:r>
              <a:rPr lang="ja-JP" altLang="en-US" dirty="0"/>
              <a:t>延期の目安（2024 AHA/ACC）: バルーン形成のみなら 14 日以上（Class I）。BMS・DES とも留置後 30 日以内の待機手術は行わない。DAPT（P2Y12 阻害薬）の中断が必要な待機手術では、急性冠症候群に対する PCI 後は 12 か月延期（Class I）、慢性冠動脈疾患に対する PCI 後は 6 か月（2a）、時間的猶予の限られた手術は PCI の 3 か月後から考慮可（2b）。DAPT を続けたまま行える手術まで一律に延期するという意味ではない。ESC 2022 も待機的 PCI 後 6 か月、ACS 後 12 か月、延期できない手術では 1 か月・3 か月の DAPT 後。国際的な参考として、ESC（2017 DAPT フォーカスアップデート／2020 NSTE-ACS）は、アスピリンを続けられればステントの種類によらず PCI の 1 か月後から手術を考慮できるとしている（IIa、B。二次資料で確認）。JCS 2022 非心臓手術ガイドラインの CQ2 は「PCI 後 1〜1.5 か月以降に手術を行う」ことの益を検討している（表 42「冠動脈ステント留置後患者の手術時期」）が、推奨文と強さを確かめるまで「国内の区切りは欧米より短い」とは言わない【要確認: 本文 PDF（JCS2022_hiraoka.pdf、英語版 Circ J 2023;87:1253-1337）の CQ2 の推奨文、推奨の強さ、エビデンスの確実性】。手術の時期と P2Y12 阻害薬の扱いは PCI 施行医と決める。</a:t>
            </a:r>
          </a:p>
          <a:p>
            <a:r>
              <a:rPr lang="ja-JP" altLang="en-US" dirty="0"/>
              <a:t>DAPT 期間と延期期間は別: JCS 2020 の抗血栓療法フォーカスアップデートで高出血リスクなら DAPT 1〜3 か月とされるのは二次予防としての DAPT 継続期間で、手術を延期する期間の推奨ではない。混同しない。</a:t>
            </a:r>
          </a:p>
          <a:p>
            <a:r>
              <a:rPr lang="ja-JP" altLang="en-US" dirty="0"/>
              <a:t>抗血小板薬（2024 AHA/ACC）: PCI 既往があればアスピリン（75〜100 mg）を周術期も継続する（Class I）。BMS 後 30 日以内・DES 後 3 か月以内に手術が避けられなければ、出血リスクが大きくない限り DAPT を継続する（Class I）。P2Y12 阻害薬を止めるかは PCI 施行医・循環器内科に必ず相談する。休薬するならクロピドグレル 5 日、プラスグレル 7 日、チカグレロル 3〜5 日前（ESC、国内資料も 5 日・7 日）。国内の添付文書は、血小板凝集抑制が問題となる手術ではクロピドグレル・プラスグレルとも「14 日以上前に中止が望ましい」、チカグレロルは 5 日以上前としている【要確認: PMDA 電子添文（クロピドグレル、プラスグレル、チカグレロル）の「8. 重要な基本的注意」の日数。査読では後発品の添付文書と病院資料の検索スニペットでのみ確認】。どの日数を採るかは院内の取り決めと PCI 施行医に確認（→ 4-12）。</a:t>
            </a:r>
          </a:p>
          <a:p>
            <a:r>
              <a:rPr lang="ja-JP" altLang="en-US" dirty="0"/>
              <a:t>再開: 止血を確認してから、できるだけ早く（目安 24〜72 時間以内）。負荷量で再開するかは出血リスクを見て PCI 施行医と相談する。硬膜外カテーテルがあれば、抜去と再開の間隔を区域麻酔の指針で確認（→ 4-12）。</a:t>
            </a:r>
          </a:p>
          <a:p>
            <a:r>
              <a:rPr lang="ja-JP" altLang="en-US" dirty="0"/>
              <a:t>ヘパリン置換は代わりにならない: 抗血小板薬を止めている間のヘパリン置換は抗血小板作用の代わりにならず、推奨されない。国内には全抗血小板薬を止めてヘパリンで置換する慣行が残っている（DES 後の待機手術 210 件の後ろ向き報告、Tanaka 2016。著者自身が「推奨されていない」と前置きしている）。2024 AHA/ACC で考慮できるのは、高血栓リスク例への静注抗血小板薬によるブリッジ（2b）だけ。</a:t>
            </a:r>
          </a:p>
          <a:p>
            <a:r>
              <a:rPr lang="ja-JP" altLang="en-US" dirty="0"/>
              <a:t>PCI 後 1 か月未満の手術は DAPT を続けたまま行い、出血リスクは高いと考えて対応する（日本麻酔科学会「冠ステント留置患者と非心臓手術 Q&amp;A」。PDF 本体はプロキシで遮断され、査読では検索スニペットで文言を確認）。それ以降の休薬の可否は JCS 2020 フォーカスアップデートの図に沿って判断する。</a:t>
            </a:r>
          </a:p>
          <a:p>
            <a:r>
              <a:rPr lang="ja-JP" altLang="en-US" dirty="0"/>
              <a:t>参考: Hawn MT, et al. JAMA 2013;310:1462-1472 / Thompson A, et al. Circulation 2024;150:e351-e442 / Halvorsen S, et al. Eur Heart J 2022;43:3826-3924（ESC 2022） / 日本循環器学会 2020 年 JCS ガイドライン フォーカスアップデート版 冠動脈疾患患者における抗血栓療法 / Tanaka A, et al. Intern Med 2016;55:333-337 / 日本麻酔科学会 冠ステント留置患者と非心臓手術 Q&amp;A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CIED（cardiac implantable electronic device：植込み型心臓電子デバイス）: 術前にデバイス手帳で機種、メーカー、植込み理由、ペーシング依存の有無、最終点検日を確認する。2024 AHA/ACC は、電磁干渉が予想される待機手術では直近の点検（ペースメーカー 12 か月以内、ICD 6 か月以内）と管理計画を求め（Class I）、ペーシング依存で臍より上の手術なら再プログラムか磁石で非同期ペーシングにする（Class I）。ICD の頻拍治療を止めた場合は、監視下を離れる前に戻す。そのほかの設定変更も遅くとも退院前に戻す（2024 AHA/ACC）。強調ボックスの「監視下を離れる前に戻す」は、これより安全側の運用。普段はペーシング非依存の患者も、鎮静・迷走神経反射・高用量オピオイドで術中に依存状態になり得るので、経皮ペーシングを用意する。心拍応答（レート応答）センサーは、用手換気などで不適切に高いレートのペーシングを起こすことがある（Kim 2024）。相談先は植込み施設のデバイス外来、循環器内科、臨床工学技士、メーカー担当者。</a:t>
            </a:r>
          </a:p>
          <a:p>
            <a:r>
              <a:rPr lang="ja-JP" altLang="en-US" dirty="0"/>
              <a:t>磁石: ペースメーカーに磁石を置くと非同期モード（AOO/VOO/DOO）になり、レートは機種で違う（Medtronic 85、Boston Scientific 100、Abbott 100、MicroPort 96、Biotronik 90。Biotronik は設定によって反応しないか、Auto モードでは非同期 10 拍のあと同期に戻るので、磁石で非同期を保てない）。電池が交換時期に近いとレートは下がる。ICD に磁石を置くと、多くの機種では頻拍の検出と治療（ATP・ショック）が止まり、ペーシングモードは変わらない。例外として、MicroPort（Sorin）の ICD は磁石で非同期 96/分になる。Boston Scientific と Abbott は磁石への反応を切る設定ができ、Biotronik は 8 時間で頻拍治療が再開する（Kim 2024 の表 3）。磁石を使う前に機種とメーカーの情報で確かめる。ペーシング依存の ICD 患者は磁石では電磁干渉によるペーシング抑制を防げず、プログラマーで再設定が要る。リードレスペースメーカーは磁石に反応しない（磁石で非同期にならない。設定変更はプログラマーで）。頻拍治療を止めている間は除細動器を手元に置いて連続監視し、監視下を離れる前に機能を戻す。</a:t>
            </a:r>
          </a:p>
          <a:p>
            <a:r>
              <a:rPr lang="ja-JP" altLang="en-US" dirty="0"/>
              <a:t>電磁干渉: 可能ならバイポーラ電気メス。モノポーラなら対極板を電流経路が本体とリードを横切らない位置に貼り、通電は 5 秒未満の短い間欠で。体外式除細動のパッドは本体から 8 cm 以上離して前後に貼る。臍より下の手術やバイポーラのみを本体から 15 cm 以上離して使う場合は再プログラム不要とされる（HRS/ASA 2011 コンセンサス。Kim 2024 が引用）【要確認: ASA 2020 Practice Advisory（Anesthesiology 2020;132:225-252）の原文で、この 15 cm と臍より下の条件の記載。国内の学会（日本不整脈心電学会など）に CIED の周術期管理の推奨があるか】。</a:t>
            </a:r>
          </a:p>
          <a:p>
            <a:r>
              <a:rPr lang="ja-JP" altLang="en-US" dirty="0"/>
              <a:t>心房細動: 心房細動の既往がある患者は術後 30 日以内の全死亡リスクが高い。心拍数 100 超のレート管理不十分な例は術前に薬で最適化し、周術期に新たに出た心房細動は外来でのフォローと血栓塞栓リスクの層別化が必要（2024 AHA/ACC、Class I）。安定した慢性心房細動の外来の目標は安静時 110/分未満の緩やかな管理でよい（RACE II）。β遮断薬・Ca 拮抗薬は当日も続ける（→ 4-14）。抗凝固薬の休薬とブリッジは 4-12。</a:t>
            </a:r>
          </a:p>
          <a:p>
            <a:r>
              <a:rPr lang="ja-JP" altLang="en-US" dirty="0"/>
              <a:t>参考: Kim M, Kwon CH. Korean J Anesthesiol 2024;77:306-315（CIED 周術期管理のレビュー。HRS/ASA 2011 ほかを引用） / Van Gelder IC, et al. N Engl J Med 2010;362:1363-1373（RACE II） / Thompson A, et al. Circulation 2024;150:e351-e442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定義: 2022 年 ESC/ERS ガイドラインで、肺高血圧は安静時の平均肺動脈圧 20 mmHg 超（旧定義 25 mmHg 以上）。前毛細血管性はさらに肺動脈楔入圧 15 mmHg 以下かつ肺血管抵抗 2 Wood 単位超。心エコーの推定値では確定診断できない。国内では JCS/JPCPHS 2025 肺高血圧症および肺血栓塞栓症・深部静脈血栓症ガイドライン（Tamura 2026）が出ている【要確認: 同ガイドライン（Circ J 2026;90:1484-1570）の定義の項が平均肺動脈圧 20 mmHg 超を採用しているか。採用していればスライドの出典に国内ガイドラインを併記する】。</a:t>
            </a:r>
          </a:p>
          <a:p>
            <a:r>
              <a:rPr lang="ja-JP" altLang="en-US" dirty="0"/>
              <a:t>リスク: 左心疾患以外の肺高血圧 145 例の非心臓手術（Ramakrishna 2005）で、42% に術後早期の合併症、早期死亡 7%。合併症の独立予測因子は肺塞栓の既往、NYHA II 度以上、中〜高リスク手術、麻酔時間 3 時間超。肺動脈性肺高血圧の非心臓・非産科手術 114 例の国際前向き調査（Meyer 2013）では重大合併症 6.1%、周術期死亡 3.5% で、死亡は緊急手術 15%（13 例中 2 例）、待機手術 2%（101 例中 2 例）。重大合併症の危険因子は右房圧の上昇、6 分間歩行 399 m 未満、周術期の昇圧薬使用、緊急手術（スライドでは「合併症を増やす」とまとめた）。</a:t>
            </a:r>
          </a:p>
          <a:p>
            <a:r>
              <a:rPr lang="ja-JP" altLang="en-US" dirty="0"/>
              <a:t>管理: 2024 AHA/ACC は肺高血圧を病型にかかわらず周術期 MACE のリスク修飾因子とし、多職種で検討し、安定した肺高血圧の特異的治療薬は周術期も継続（Class I）、最適化とリスク層別化に心エコーと右心カテーテルを用いるとしている。AHA の 2023 年 Scientific Statement は群分類、術前リスク評価、術前最適化、右室機能不全を避ける術中管理、術後管理の 5 段階を提唱。術中は低酸素、高二酸化炭素、アシドーシス、低体温、疼痛（交感神経の緊張）、高い気道内圧・肺の過膨張、体血管抵抗の急な低下（導入時の低血圧）を避け、右室の冠灌流を保つ【要確認: これらは教科書的な一般論。AHA 2023 Scientific Statement（Rajagopal 2023）の術中管理の項で各項目を確かめる】。</a:t>
            </a:r>
          </a:p>
          <a:p>
            <a:r>
              <a:rPr lang="ja-JP" altLang="en-US" dirty="0"/>
              <a:t>離島: 肺高血圧の患者の待機手術は、肺高血圧の診療経験がある施設への紹介を考える。緊急手術でも専門医に電話してから導入する。</a:t>
            </a:r>
          </a:p>
          <a:p>
            <a:r>
              <a:rPr lang="ja-JP" altLang="en-US" dirty="0"/>
              <a:t>参考: Ramakrishna G, et al. J Am Coll Cardiol 2005;45:1691-1699 / Meyer S, et al. Eur Respir J 2013;41:1302-1307 / Rajagopal S, et al. Circulation 2023;147:1317-1343（AHA Scientific Statement） / Humbert M, et al. Eur Heart J 2022;43:3618-3731（2022 ESC/ERS） / Tamura Y, et al. Circ J 2026;90:1484-1570（JCS/JPCPHS 2025）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分）。心不全は冠動脈疾患より危険で、非代償なら延期し、EF が保たれていてもリスクは上がる。β遮断薬・RAAS 阻害薬（HFrEF）・スタチンは続け、SGLT2 阻害薬は 3 日前から休薬する（日本糖尿病学会。2024 AHA/ACC は可能なら 3〜4 日前）。高血圧目的の RAAS 阻害薬は、血圧が管理された患者の上昇リスク手術なら 24 時間前の休薬を考慮でき（2024 AHA/ACC、2b）、利尿薬は体液量と血圧をみて個別に決める（→ 4-14）。大動脈弁狭窄症は収縮期雑音から心エコーで重症度を確かめ、症候性または EF 50% 未満の重症 AS は手術前にハートチームへ相談し、麻酔では前負荷・洞調律・体血管抵抗を保って低血圧を放置しない。ステント後は 30 日以内の待機手術をしない。DAPT（P2Y12 阻害薬）の中断が必要な待機手術なら、安定狭心症で 6 か月、急性冠症候群で 12 か月を目安に延期する（2024 AHA/ACC。ACS 12 か月は Class 1、慢性冠動脈疾患 6 か月は 2a、時間的猶予の限られた手術は 3 か月で 2b）。ESC は時間的猶予の限られた手術で 1 か月・3 か月の区切りも示し、JCS 2022 は CQ2 で PCI 後 1〜1.5 か月以降の手術を検討している【要確認: JCS 2022 CQ2 の推奨文と推奨の強さ（本文 PDF）。確かめるまで国内の推奨期間としては述べない】。アスピリンは続け、手術の時期と P2Y12 阻害薬の扱いは PCI 施行医と決める。CIED はデバイス手帳で確認し、磁石の意味（ペースメーカーは非同期、ICD は多くの機種で頻拍治療の停止のみ）を知り、設定を戻す。肺高血圧は緊急手術の死亡率が高く、専門施設への紹介と相談を先にする。次は 4-9（呼吸器リスク評価）。</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心疾患別の注意点</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4-8 術前評価</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心不全：代償か、非代償か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心不全</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AS</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ステント</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CIED・</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AF</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Hammill BG, et al. Anesthesiology 2008;108:559-567 / Lerman BJ, et al. JAMA</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2019;321:572-579 / Thompson A, et al. Circulation 2024;150:e351-e442（2024 AHA/ACC）</a:t>
            </a:r>
            <a:endParaRPr lang="ja-JP" sz="1600" dirty="0"/>
          </a:p>
        </p:txBody>
      </p:sp>
      <p:sp>
        <p:nvSpPr>
          <p:cNvPr id="11" name="Shape 9"/>
          <p:cNvSpPr/>
          <p:nvPr/>
        </p:nvSpPr>
        <p:spPr>
          <a:xfrm>
            <a:off x="502920" y="1691640"/>
            <a:ext cx="5009083" cy="3591763"/>
          </a:xfrm>
          <a:prstGeom prst="roundRect">
            <a:avLst>
              <a:gd name="adj" fmla="val 2037"/>
            </a:avLst>
          </a:prstGeom>
          <a:solidFill>
            <a:srgbClr val="F2F2F2"/>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 y="1773936"/>
          <a:ext cx="4826203" cy="914400"/>
        </p:xfrm>
        <a:graphic>
          <a:graphicData uri="http://schemas.openxmlformats.org/drawingml/2006/table">
            <a:tbl>
              <a:tblPr/>
              <a:tblGrid>
                <a:gridCol w="4826203"/>
              </a:tblGrid>
              <a:tr h="365760">
                <a:tc>
                  <a:txBody>
                    <a:bodyPr/>
                    <a:lstStyle/>
                    <a:p>
                      <a:pPr algn="l" indent="0" marL="0">
                        <a:lnSpc>
                          <a:spcPts val="2880"/>
                        </a:lnSpc>
                        <a:buNone/>
                      </a:pPr>
                      <a:r>
                        <a:rPr lang="ja-JP" altLang="en-US" sz="2400" b="1" dirty="0">
                          <a:solidFill>
                            <a:srgbClr val="D55E00"/>
                          </a:solidFill>
                          <a:latin typeface="メイリオ" pitchFamily="34" charset="0"/>
                          <a:ea typeface="メイリオ" pitchFamily="34" charset="-122"/>
                          <a:cs typeface="メイリオ" pitchFamily="34" charset="-120"/>
                        </a:rPr>
                        <a:t>どれだけ危ないか</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94360" y="2157984"/>
          <a:ext cx="4826203" cy="914400"/>
        </p:xfrm>
        <a:graphic>
          <a:graphicData uri="http://schemas.openxmlformats.org/drawingml/2006/table">
            <a:tbl>
              <a:tblPr/>
              <a:tblGrid>
                <a:gridCol w="219456"/>
                <a:gridCol w="4606747"/>
              </a:tblGrid>
              <a:tr h="696773">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26518"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心不全は冠動脈疾患より危険</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（死亡 HR 1.63 対 1.08）</a:t>
                      </a:r>
                      <a:endParaRPr lang="en-US" sz="2200" dirty="0">
                        <a:latin typeface="メイリオ" charset="0"/>
                        <a:ea typeface="メイリオ" charset="0"/>
                        <a:cs typeface="メイリオ" charset="0"/>
                      </a:endParaRPr>
                    </a:p>
                  </a:txBody>
                  <a:tcPr marL="0" marR="0" marT="0" marB="26518" anchor="t">
                    <a:lnL w="0" cap="flat" cmpd="sng" algn="ctr">
                      <a:noFill/>
                    </a:lnL>
                    <a:lnR w="0" cap="flat" cmpd="sng" algn="ctr">
                      <a:noFill/>
                    </a:lnR>
                    <a:lnT w="0" cap="flat" cmpd="sng" algn="ctr">
                      <a:noFill/>
                    </a:lnT>
                    <a:lnB w="0" cap="flat" cmpd="sng" algn="ctr">
                      <a:noFill/>
                    </a:lnB>
                  </a:tcPr>
                </a:tc>
              </a:tr>
              <a:tr h="103235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26518"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90 日死亡 5.5%</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（心不全なし 1.2%）、</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症状があれば 10%</a:t>
                      </a:r>
                      <a:endParaRPr lang="en-US" sz="2200" dirty="0">
                        <a:latin typeface="メイリオ" charset="0"/>
                        <a:ea typeface="メイリオ" charset="0"/>
                        <a:cs typeface="メイリオ" charset="0"/>
                      </a:endParaRPr>
                    </a:p>
                  </a:txBody>
                  <a:tcPr marL="0" marR="0" marT="0" marB="26518" anchor="t">
                    <a:lnL w="0" cap="flat" cmpd="sng" algn="ctr">
                      <a:noFill/>
                    </a:lnL>
                    <a:lnR w="0" cap="flat" cmpd="sng" algn="ctr">
                      <a:noFill/>
                    </a:lnR>
                    <a:lnT w="0" cap="flat" cmpd="sng" algn="ctr">
                      <a:noFill/>
                    </a:lnT>
                    <a:lnB w="0" cap="flat" cmpd="sng" algn="ctr">
                      <a:noFill/>
                    </a:lnB>
                  </a:tcPr>
                </a:tc>
              </a:tr>
              <a:tr h="696773">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26518"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EF が保たれていても（HFpEF）</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リスクは上がる</a:t>
                      </a:r>
                      <a:endParaRPr lang="en-US" sz="2200" dirty="0">
                        <a:latin typeface="メイリオ" charset="0"/>
                        <a:ea typeface="メイリオ" charset="0"/>
                        <a:cs typeface="メイリオ" charset="0"/>
                      </a:endParaRPr>
                    </a:p>
                  </a:txBody>
                  <a:tcPr marL="0" marR="0" marT="0" marB="26518" anchor="t">
                    <a:lnL w="0" cap="flat" cmpd="sng" algn="ctr">
                      <a:noFill/>
                    </a:lnL>
                    <a:lnR w="0" cap="flat" cmpd="sng" algn="ctr">
                      <a:noFill/>
                    </a:lnR>
                    <a:lnT w="0" cap="flat" cmpd="sng" algn="ctr">
                      <a:noFill/>
                    </a:lnT>
                    <a:lnB w="0" cap="flat" cmpd="sng" algn="ctr">
                      <a:noFill/>
                    </a:lnB>
                  </a:tcPr>
                </a:tc>
              </a:tr>
              <a:tr h="67025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非代償（起座呼吸、浮腫、</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体重増加）は</a:t>
                      </a:r>
                      <a:r>
                        <a:rPr lang="ja-JP" altLang="en-US" sz="2200" b="1" dirty="0">
                          <a:solidFill>
                            <a:srgbClr val="D55E00"/>
                          </a:solidFill>
                          <a:latin typeface="メイリオ" pitchFamily="34" charset="0"/>
                          <a:ea typeface="メイリオ" pitchFamily="34" charset="-122"/>
                          <a:cs typeface="メイリオ" pitchFamily="34" charset="-120"/>
                        </a:rPr>
                        <a:t>延期</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
        <p:nvSpPr>
          <p:cNvPr id="14" name="Shape 10"/>
          <p:cNvSpPr/>
          <p:nvPr/>
        </p:nvSpPr>
        <p:spPr>
          <a:xfrm>
            <a:off x="5731459" y="1691640"/>
            <a:ext cx="5954573" cy="3591763"/>
          </a:xfrm>
          <a:prstGeom prst="roundRect">
            <a:avLst>
              <a:gd name="adj" fmla="val 2037"/>
            </a:avLst>
          </a:prstGeom>
          <a:solidFill>
            <a:srgbClr val="F2F2F2"/>
          </a:solidFill>
          <a:ln/>
        </p:spPr>
      </p:sp>
      <p:graphicFrame>
        <p:nvGraphicFramePr>
          <p:cNvPr id="15" name="Table 2"/>
          <p:cNvGraphicFramePr>
            <a:graphicFrameLocks noGrp="1"/>
          </p:cNvGraphicFramePr>
          <p:nvPr>
            <p:extLst>
              <p:ext uri="{D42A27DB-BD31-4B8C-83A1-F6EECF244321}">
                <p14:modId xmlns:p14="http://schemas.microsoft.com/office/powerpoint/2010/main" val="1579011935"/>
              </p:ext>
            </p:extLst>
          </p:nvPr>
        </p:nvGraphicFramePr>
        <p:xfrm>
          <a:off x="5822899" y="1773936"/>
          <a:ext cx="5771693" cy="914400"/>
        </p:xfrm>
        <a:graphic>
          <a:graphicData uri="http://schemas.openxmlformats.org/drawingml/2006/table">
            <a:tbl>
              <a:tblPr/>
              <a:tblGrid>
                <a:gridCol w="5771693"/>
              </a:tblGrid>
              <a:tr h="365760">
                <a:tc>
                  <a:txBody>
                    <a:bodyPr/>
                    <a:lstStyle/>
                    <a:p>
                      <a:pPr algn="l" indent="0" marL="0">
                        <a:lnSpc>
                          <a:spcPts val="2880"/>
                        </a:lnSpc>
                        <a:buNone/>
                      </a:pPr>
                      <a:r>
                        <a:rPr lang="ja-JP" altLang="en-US" sz="2400" b="1" dirty="0">
                          <a:solidFill>
                            <a:srgbClr val="0072B2"/>
                          </a:solidFill>
                          <a:latin typeface="メイリオ" pitchFamily="34" charset="0"/>
                          <a:ea typeface="メイリオ" pitchFamily="34" charset="-122"/>
                          <a:cs typeface="メイリオ" pitchFamily="34" charset="-120"/>
                        </a:rPr>
                        <a:t>術前にすること</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graphicFrame>
        <p:nvGraphicFramePr>
          <p:cNvPr id="16" name="Table 3"/>
          <p:cNvGraphicFramePr>
            <a:graphicFrameLocks noGrp="1"/>
          </p:cNvGraphicFramePr>
          <p:nvPr>
            <p:extLst>
              <p:ext uri="{D42A27DB-BD31-4B8C-83A1-F6EECF244321}">
                <p14:modId xmlns:p14="http://schemas.microsoft.com/office/powerpoint/2010/main" val="1579011935"/>
              </p:ext>
            </p:extLst>
          </p:nvPr>
        </p:nvGraphicFramePr>
        <p:xfrm>
          <a:off x="5822899" y="2157984"/>
          <a:ext cx="5771693" cy="914400"/>
        </p:xfrm>
        <a:graphic>
          <a:graphicData uri="http://schemas.openxmlformats.org/drawingml/2006/table">
            <a:tbl>
              <a:tblPr/>
              <a:tblGrid>
                <a:gridCol w="219456"/>
                <a:gridCol w="5552237"/>
              </a:tblGrid>
              <a:tr h="80833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38074"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新しい息切れ・所見があれば</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心エコー（I）。安定なら不要（III）</a:t>
                      </a:r>
                      <a:endParaRPr lang="en-US" sz="2200" dirty="0">
                        <a:latin typeface="メイリオ" charset="0"/>
                        <a:ea typeface="メイリオ" charset="0"/>
                        <a:cs typeface="メイリオ" charset="0"/>
                      </a:endParaRPr>
                    </a:p>
                  </a:txBody>
                  <a:tcPr marL="0" marR="0" marT="0" marB="138074" anchor="t">
                    <a:lnL w="0" cap="flat" cmpd="sng" algn="ctr">
                      <a:noFill/>
                    </a:lnL>
                    <a:lnR w="0" cap="flat" cmpd="sng" algn="ctr">
                      <a:noFill/>
                    </a:lnR>
                    <a:lnT w="0" cap="flat" cmpd="sng" algn="ctr">
                      <a:noFill/>
                    </a:lnT>
                    <a:lnB w="0" cap="flat" cmpd="sng" algn="ctr">
                      <a:noFill/>
                    </a:lnB>
                  </a:tcPr>
                </a:tc>
              </a:tr>
              <a:tr h="80833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38074"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BNP/NT-proBNP で</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リスクを補う（2a）</a:t>
                      </a:r>
                      <a:endParaRPr lang="en-US" sz="2200" dirty="0">
                        <a:latin typeface="メイリオ" charset="0"/>
                        <a:ea typeface="メイリオ" charset="0"/>
                        <a:cs typeface="メイリオ" charset="0"/>
                      </a:endParaRPr>
                    </a:p>
                  </a:txBody>
                  <a:tcPr marL="0" marR="0" marT="0" marB="138074" anchor="t">
                    <a:lnL w="0" cap="flat" cmpd="sng" algn="ctr">
                      <a:noFill/>
                    </a:lnL>
                    <a:lnR w="0" cap="flat" cmpd="sng" algn="ctr">
                      <a:noFill/>
                    </a:lnR>
                    <a:lnT w="0" cap="flat" cmpd="sng" algn="ctr">
                      <a:noFill/>
                    </a:lnT>
                    <a:lnB w="0" cap="flat" cmpd="sng" algn="ctr">
                      <a:noFill/>
                    </a:lnB>
                  </a:tcPr>
                </a:tc>
              </a:tr>
              <a:tr h="80833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38074"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β遮断薬・RAAS 阻害薬</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（HFrEF）・スタチンは継続</a:t>
                      </a:r>
                      <a:endParaRPr lang="en-US" sz="2200" dirty="0">
                        <a:latin typeface="メイリオ" charset="0"/>
                        <a:ea typeface="メイリオ" charset="0"/>
                        <a:cs typeface="メイリオ" charset="0"/>
                      </a:endParaRPr>
                    </a:p>
                  </a:txBody>
                  <a:tcPr marL="0" marR="0" marT="0" marB="138074" anchor="t">
                    <a:lnL w="0" cap="flat" cmpd="sng" algn="ctr">
                      <a:noFill/>
                    </a:lnL>
                    <a:lnR w="0" cap="flat" cmpd="sng" algn="ctr">
                      <a:noFill/>
                    </a:lnR>
                    <a:lnT w="0" cap="flat" cmpd="sng" algn="ctr">
                      <a:noFill/>
                    </a:lnT>
                    <a:lnB w="0" cap="flat" cmpd="sng" algn="ctr">
                      <a:noFill/>
                    </a:lnB>
                  </a:tcPr>
                </a:tc>
              </a:tr>
              <a:tr h="67025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SGLT2 阻害薬は 3 日前から休薬</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 4-13）</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
        <p:nvSpPr>
          <p:cNvPr id="17" name="Shape 11"/>
          <p:cNvSpPr/>
          <p:nvPr/>
        </p:nvSpPr>
        <p:spPr>
          <a:xfrm>
            <a:off x="502920" y="5502859"/>
            <a:ext cx="11183112" cy="408737"/>
          </a:xfrm>
          <a:prstGeom prst="roundRect">
            <a:avLst>
              <a:gd name="adj" fmla="val 17897"/>
            </a:avLst>
          </a:prstGeom>
          <a:solidFill>
            <a:srgbClr val="FFFFFF"/>
          </a:solidFill>
          <a:ln w="31750">
            <a:solidFill>
              <a:srgbClr val="00A8AA"/>
            </a:solidFill>
            <a:prstDash val="solid"/>
          </a:ln>
        </p:spPr>
      </p:sp>
      <p:graphicFrame>
        <p:nvGraphicFramePr>
          <p:cNvPr id="18" name="Table 4"/>
          <p:cNvGraphicFramePr>
            <a:graphicFrameLocks noGrp="1"/>
          </p:cNvGraphicFramePr>
          <p:nvPr>
            <p:extLst>
              <p:ext uri="{D42A27DB-BD31-4B8C-83A1-F6EECF244321}">
                <p14:modId xmlns:p14="http://schemas.microsoft.com/office/powerpoint/2010/main" val="1579011935"/>
              </p:ext>
            </p:extLst>
          </p:nvPr>
        </p:nvGraphicFramePr>
        <p:xfrm>
          <a:off x="539496" y="5539435"/>
          <a:ext cx="11109960" cy="914400"/>
        </p:xfrm>
        <a:graphic>
          <a:graphicData uri="http://schemas.openxmlformats.org/drawingml/2006/table">
            <a:tbl>
              <a:tblPr/>
              <a:tblGrid>
                <a:gridCol w="11109960"/>
              </a:tblGrid>
              <a:tr h="335585">
                <a:tc>
                  <a:txBody>
                    <a:bodyPr/>
                    <a:lstStyle/>
                    <a:p>
                      <a:pPr algn="ctr"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『心不全の既往』ではなく</a:t>
                      </a:r>
                      <a:r>
                        <a:rPr lang="ja-JP" altLang="en-US" sz="2200" b="1" dirty="0">
                          <a:solidFill>
                            <a:srgbClr val="0072B2"/>
                          </a:solidFill>
                          <a:latin typeface="メイリオ" pitchFamily="34" charset="0"/>
                          <a:ea typeface="メイリオ" pitchFamily="34" charset="-122"/>
                          <a:cs typeface="メイリオ" pitchFamily="34" charset="-120"/>
                        </a:rPr>
                        <a:t>『今、代償されているか』</a:t>
                      </a:r>
                      <a:r>
                        <a:rPr lang="ja-JP" altLang="en-US" sz="2200" b="1" dirty="0">
                          <a:solidFill>
                            <a:srgbClr val="262626"/>
                          </a:solidFill>
                          <a:latin typeface="メイリオ" pitchFamily="34" charset="0"/>
                          <a:ea typeface="メイリオ" pitchFamily="34" charset="-122"/>
                          <a:cs typeface="メイリオ" pitchFamily="34" charset="-120"/>
                        </a:rPr>
                        <a:t>を問診と診察で確かめる</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AS：重症の定義と危険</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心不全</a:t>
            </a:r>
            <a:endParaRPr lang="ja-JP" sz="1050" dirty="0"/>
          </a:p>
        </p:txBody>
      </p:sp>
      <p:sp>
        <p:nvSpPr>
          <p:cNvPr id="5" name="Text 3"/>
          <p:cNvSpPr/>
          <p:nvPr/>
        </p:nvSpPr>
        <p:spPr>
          <a:xfrm>
            <a:off x="9354312"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AS</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ステント</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CIED・</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AF</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日本循環器学会 2020 年改訂版 弁膜症治療のガイドライン / Taniguchi T, et al. Circ J</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2020;84:1173-1182 / Thompson A, et al. Circulation 2024;150:e351-e442（2024 AHA/ACC）</a:t>
            </a:r>
            <a:endParaRPr lang="ja-JP" sz="1600" dirty="0"/>
          </a:p>
        </p:txBody>
      </p:sp>
      <p:sp>
        <p:nvSpPr>
          <p:cNvPr id="11" name="Shape 9"/>
          <p:cNvSpPr/>
          <p:nvPr/>
        </p:nvSpPr>
        <p:spPr>
          <a:xfrm>
            <a:off x="502920" y="1691640"/>
            <a:ext cx="4982566" cy="3067812"/>
          </a:xfrm>
          <a:prstGeom prst="roundRect">
            <a:avLst>
              <a:gd name="adj" fmla="val 2385"/>
            </a:avLst>
          </a:prstGeom>
          <a:solidFill>
            <a:srgbClr val="F2F2F2"/>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30936" y="1764792"/>
          <a:ext cx="4726534" cy="914400"/>
        </p:xfrm>
        <a:graphic>
          <a:graphicData uri="http://schemas.openxmlformats.org/drawingml/2006/table">
            <a:tbl>
              <a:tblPr/>
              <a:tblGrid>
                <a:gridCol w="4726534"/>
              </a:tblGrid>
              <a:tr h="365760">
                <a:tc>
                  <a:txBody>
                    <a:bodyPr/>
                    <a:lstStyle/>
                    <a:p>
                      <a:pPr algn="l" indent="0" marL="0">
                        <a:lnSpc>
                          <a:spcPts val="2880"/>
                        </a:lnSpc>
                        <a:buNone/>
                      </a:pPr>
                      <a:r>
                        <a:rPr lang="ja-JP" altLang="en-US" sz="2400" b="1" dirty="0">
                          <a:solidFill>
                            <a:srgbClr val="0072B2"/>
                          </a:solidFill>
                          <a:latin typeface="メイリオ" pitchFamily="34" charset="0"/>
                          <a:ea typeface="メイリオ" pitchFamily="34" charset="-122"/>
                          <a:cs typeface="メイリオ" pitchFamily="34" charset="-120"/>
                        </a:rPr>
                        <a:t>重症 AS の定義</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30936" y="2185416"/>
          <a:ext cx="4726534" cy="914400"/>
        </p:xfrm>
        <a:graphic>
          <a:graphicData uri="http://schemas.openxmlformats.org/drawingml/2006/table">
            <a:tbl>
              <a:tblPr/>
              <a:tblGrid>
                <a:gridCol w="237744"/>
                <a:gridCol w="4488790"/>
              </a:tblGrid>
              <a:tr h="49834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62763"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最高血流速度 4.0 m/s 以上</a:t>
                      </a:r>
                      <a:endParaRPr lang="en-US" sz="2200" dirty="0">
                        <a:latin typeface="メイリオ" charset="0"/>
                        <a:ea typeface="メイリオ" charset="0"/>
                        <a:cs typeface="メイリオ" charset="0"/>
                      </a:endParaRPr>
                    </a:p>
                  </a:txBody>
                  <a:tcPr marL="0" marR="0" marT="0" marB="162763" anchor="t">
                    <a:lnL w="0" cap="flat" cmpd="sng" algn="ctr">
                      <a:noFill/>
                    </a:lnL>
                    <a:lnR w="0" cap="flat" cmpd="sng" algn="ctr">
                      <a:noFill/>
                    </a:lnR>
                    <a:lnT w="0" cap="flat" cmpd="sng" algn="ctr">
                      <a:noFill/>
                    </a:lnT>
                    <a:lnB w="0" cap="flat" cmpd="sng" algn="ctr">
                      <a:noFill/>
                    </a:lnB>
                  </a:tcPr>
                </a:tc>
              </a:tr>
              <a:tr h="49834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62763"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平均圧較差 40 mmHg 以上</a:t>
                      </a:r>
                      <a:endParaRPr lang="en-US" sz="2200" dirty="0">
                        <a:latin typeface="メイリオ" charset="0"/>
                        <a:ea typeface="メイリオ" charset="0"/>
                        <a:cs typeface="メイリオ" charset="0"/>
                      </a:endParaRPr>
                    </a:p>
                  </a:txBody>
                  <a:tcPr marL="0" marR="0" marT="0" marB="162763" anchor="t">
                    <a:lnL w="0" cap="flat" cmpd="sng" algn="ctr">
                      <a:noFill/>
                    </a:lnL>
                    <a:lnR w="0" cap="flat" cmpd="sng" algn="ctr">
                      <a:noFill/>
                    </a:lnR>
                    <a:lnT w="0" cap="flat" cmpd="sng" algn="ctr">
                      <a:noFill/>
                    </a:lnT>
                    <a:lnB w="0" cap="flat" cmpd="sng" algn="ctr">
                      <a:noFill/>
                    </a:lnB>
                  </a:tcPr>
                </a:tc>
              </a:tr>
              <a:tr h="83301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62763"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弁口面積 1.0 cm² 未満</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（係数 0.6 cm²/m² 未満）</a:t>
                      </a:r>
                      <a:endParaRPr lang="en-US" sz="2200" dirty="0">
                        <a:latin typeface="メイリオ" charset="0"/>
                        <a:ea typeface="メイリオ" charset="0"/>
                        <a:cs typeface="メイリオ" charset="0"/>
                      </a:endParaRPr>
                    </a:p>
                  </a:txBody>
                  <a:tcPr marL="0" marR="0" marT="0" marB="162763" anchor="t">
                    <a:lnL w="0" cap="flat" cmpd="sng" algn="ctr">
                      <a:noFill/>
                    </a:lnL>
                    <a:lnR w="0" cap="flat" cmpd="sng" algn="ctr">
                      <a:noFill/>
                    </a:lnR>
                    <a:lnT w="0" cap="flat" cmpd="sng" algn="ctr">
                      <a:noFill/>
                    </a:lnT>
                    <a:lnB w="0" cap="flat" cmpd="sng" algn="ctr">
                      <a:noFill/>
                    </a:lnB>
                  </a:tcPr>
                </a:tc>
              </a:tr>
              <a:tr h="67025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b="1" dirty="0">
                          <a:solidFill>
                            <a:srgbClr val="D55E00"/>
                          </a:solidFill>
                          <a:latin typeface="メイリオ" pitchFamily="34" charset="0"/>
                          <a:ea typeface="メイリオ" pitchFamily="34" charset="-122"/>
                          <a:cs typeface="メイリオ" pitchFamily="34" charset="-120"/>
                        </a:rPr>
                        <a:t>超重症：</a:t>
                      </a:r>
                      <a:r>
                        <a:rPr lang="ja-JP" altLang="en-US" sz="2200" dirty="0">
                          <a:solidFill>
                            <a:srgbClr val="262626"/>
                          </a:solidFill>
                          <a:latin typeface="メイリオ" pitchFamily="34" charset="0"/>
                          <a:ea typeface="メイリオ" pitchFamily="34" charset="-122"/>
                          <a:cs typeface="メイリオ" pitchFamily="34" charset="-120"/>
                        </a:rPr>
                        <a:t>5.0 m/s 以上、</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60 mmHg 以上、0.6 cm² 未満</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
        <p:nvSpPr>
          <p:cNvPr id="14" name="Shape 10"/>
          <p:cNvSpPr/>
          <p:nvPr/>
        </p:nvSpPr>
        <p:spPr>
          <a:xfrm>
            <a:off x="5714086" y="1691640"/>
            <a:ext cx="5971946" cy="3067812"/>
          </a:xfrm>
          <a:prstGeom prst="roundRect">
            <a:avLst>
              <a:gd name="adj" fmla="val 2385"/>
            </a:avLst>
          </a:prstGeom>
          <a:solidFill>
            <a:srgbClr val="F2F2F2"/>
          </a:solidFill>
          <a:ln/>
        </p:spPr>
      </p:sp>
      <p:graphicFrame>
        <p:nvGraphicFramePr>
          <p:cNvPr id="15" name="Table 2"/>
          <p:cNvGraphicFramePr>
            <a:graphicFrameLocks noGrp="1"/>
          </p:cNvGraphicFramePr>
          <p:nvPr>
            <p:extLst>
              <p:ext uri="{D42A27DB-BD31-4B8C-83A1-F6EECF244321}">
                <p14:modId xmlns:p14="http://schemas.microsoft.com/office/powerpoint/2010/main" val="1579011935"/>
              </p:ext>
            </p:extLst>
          </p:nvPr>
        </p:nvGraphicFramePr>
        <p:xfrm>
          <a:off x="5842102" y="1764792"/>
          <a:ext cx="5715914" cy="914400"/>
        </p:xfrm>
        <a:graphic>
          <a:graphicData uri="http://schemas.openxmlformats.org/drawingml/2006/table">
            <a:tbl>
              <a:tblPr/>
              <a:tblGrid>
                <a:gridCol w="5715914"/>
              </a:tblGrid>
              <a:tr h="365760">
                <a:tc>
                  <a:txBody>
                    <a:bodyPr/>
                    <a:lstStyle/>
                    <a:p>
                      <a:pPr algn="l" indent="0" marL="0">
                        <a:lnSpc>
                          <a:spcPts val="2880"/>
                        </a:lnSpc>
                        <a:buNone/>
                      </a:pPr>
                      <a:r>
                        <a:rPr lang="ja-JP" altLang="en-US" sz="2400" b="1" dirty="0">
                          <a:solidFill>
                            <a:srgbClr val="D55E00"/>
                          </a:solidFill>
                          <a:latin typeface="メイリオ" pitchFamily="34" charset="0"/>
                          <a:ea typeface="メイリオ" pitchFamily="34" charset="-122"/>
                          <a:cs typeface="メイリオ" pitchFamily="34" charset="-120"/>
                        </a:rPr>
                        <a:t>非心臓手術のリスク</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graphicFrame>
        <p:nvGraphicFramePr>
          <p:cNvPr id="16" name="Table 3"/>
          <p:cNvGraphicFramePr>
            <a:graphicFrameLocks noGrp="1"/>
          </p:cNvGraphicFramePr>
          <p:nvPr>
            <p:extLst>
              <p:ext uri="{D42A27DB-BD31-4B8C-83A1-F6EECF244321}">
                <p14:modId xmlns:p14="http://schemas.microsoft.com/office/powerpoint/2010/main" val="1579011935"/>
              </p:ext>
            </p:extLst>
          </p:nvPr>
        </p:nvGraphicFramePr>
        <p:xfrm>
          <a:off x="5842102" y="2185416"/>
          <a:ext cx="5715914" cy="914400"/>
        </p:xfrm>
        <a:graphic>
          <a:graphicData uri="http://schemas.openxmlformats.org/drawingml/2006/table">
            <a:tbl>
              <a:tblPr/>
              <a:tblGrid>
                <a:gridCol w="237744"/>
                <a:gridCol w="5478170"/>
              </a:tblGrid>
              <a:tr h="721462">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51206"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中等度以上の AS：30 日死亡 2.1%</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（対照 1.0%）、心筋梗塞 3.0%</a:t>
                      </a:r>
                      <a:endParaRPr lang="en-US" sz="2200" dirty="0">
                        <a:latin typeface="メイリオ" charset="0"/>
                        <a:ea typeface="メイリオ" charset="0"/>
                        <a:cs typeface="メイリオ" charset="0"/>
                      </a:endParaRPr>
                    </a:p>
                  </a:txBody>
                  <a:tcPr marL="0" marR="0" marT="0" marB="51206" anchor="t">
                    <a:lnL w="0" cap="flat" cmpd="sng" algn="ctr">
                      <a:noFill/>
                    </a:lnL>
                    <a:lnR w="0" cap="flat" cmpd="sng" algn="ctr">
                      <a:noFill/>
                    </a:lnR>
                    <a:lnT w="0" cap="flat" cmpd="sng" algn="ctr">
                      <a:noFill/>
                    </a:lnT>
                    <a:lnB w="0" cap="flat" cmpd="sng" algn="ctr">
                      <a:noFill/>
                    </a:lnB>
                  </a:tcPr>
                </a:tc>
              </a:tr>
              <a:tr h="721462">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51206"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国内：未治療の重症 AS で</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30 日死亡 4.3%、AVR 後は 0%</a:t>
                      </a:r>
                      <a:endParaRPr lang="en-US" sz="2200" dirty="0">
                        <a:latin typeface="メイリオ" charset="0"/>
                        <a:ea typeface="メイリオ" charset="0"/>
                        <a:cs typeface="メイリオ" charset="0"/>
                      </a:endParaRPr>
                    </a:p>
                  </a:txBody>
                  <a:tcPr marL="0" marR="0" marT="0" marB="51206" anchor="t">
                    <a:lnL w="0" cap="flat" cmpd="sng" algn="ctr">
                      <a:noFill/>
                    </a:lnL>
                    <a:lnR w="0" cap="flat" cmpd="sng" algn="ctr">
                      <a:noFill/>
                    </a:lnR>
                    <a:lnT w="0" cap="flat" cmpd="sng" algn="ctr">
                      <a:noFill/>
                    </a:lnT>
                    <a:lnB w="0" cap="flat" cmpd="sng" algn="ctr">
                      <a:noFill/>
                    </a:lnB>
                  </a:tcPr>
                </a:tc>
              </a:tr>
              <a:tr h="386791">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51206"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症状があれば 7.2%、なくても 3.1%</a:t>
                      </a:r>
                      <a:endParaRPr lang="en-US" sz="2200" dirty="0">
                        <a:latin typeface="メイリオ" charset="0"/>
                        <a:ea typeface="メイリオ" charset="0"/>
                        <a:cs typeface="メイリオ" charset="0"/>
                      </a:endParaRPr>
                    </a:p>
                  </a:txBody>
                  <a:tcPr marL="0" marR="0" marT="0" marB="51206" anchor="t">
                    <a:lnL w="0" cap="flat" cmpd="sng" algn="ctr">
                      <a:noFill/>
                    </a:lnL>
                    <a:lnR w="0" cap="flat" cmpd="sng" algn="ctr">
                      <a:noFill/>
                    </a:lnR>
                    <a:lnT w="0" cap="flat" cmpd="sng" algn="ctr">
                      <a:noFill/>
                    </a:lnT>
                    <a:lnB w="0" cap="flat" cmpd="sng" algn="ctr">
                      <a:noFill/>
                    </a:lnB>
                  </a:tcPr>
                </a:tc>
              </a:tr>
              <a:tr h="67025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術後の心不全が多く、</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D55E00"/>
                          </a:solidFill>
                          <a:latin typeface="メイリオ" pitchFamily="34" charset="0"/>
                          <a:ea typeface="メイリオ" pitchFamily="34" charset="-122"/>
                          <a:cs typeface="メイリオ" pitchFamily="34" charset="-120"/>
                        </a:rPr>
                        <a:t>緊急手術が最も危ない</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
        <p:nvSpPr>
          <p:cNvPr id="17" name="Shape 11"/>
          <p:cNvSpPr/>
          <p:nvPr/>
        </p:nvSpPr>
        <p:spPr>
          <a:xfrm>
            <a:off x="502920" y="5033772"/>
            <a:ext cx="11183112" cy="877824"/>
          </a:xfrm>
          <a:prstGeom prst="roundRect">
            <a:avLst>
              <a:gd name="adj" fmla="val 8333"/>
            </a:avLst>
          </a:prstGeom>
          <a:solidFill>
            <a:srgbClr val="FFFFFF"/>
          </a:solidFill>
          <a:ln w="31750">
            <a:solidFill>
              <a:srgbClr val="00A8AA"/>
            </a:solidFill>
            <a:prstDash val="solid"/>
          </a:ln>
        </p:spPr>
      </p:sp>
      <p:graphicFrame>
        <p:nvGraphicFramePr>
          <p:cNvPr id="18" name="Table 4"/>
          <p:cNvGraphicFramePr>
            <a:graphicFrameLocks noGrp="1"/>
          </p:cNvGraphicFramePr>
          <p:nvPr>
            <p:extLst>
              <p:ext uri="{D42A27DB-BD31-4B8C-83A1-F6EECF244321}">
                <p14:modId xmlns:p14="http://schemas.microsoft.com/office/powerpoint/2010/main" val="1579011935"/>
              </p:ext>
            </p:extLst>
          </p:nvPr>
        </p:nvGraphicFramePr>
        <p:xfrm>
          <a:off x="576072" y="5106924"/>
          <a:ext cx="11036808" cy="914400"/>
        </p:xfrm>
        <a:graphic>
          <a:graphicData uri="http://schemas.openxmlformats.org/drawingml/2006/table">
            <a:tbl>
              <a:tblPr/>
              <a:tblGrid>
                <a:gridCol w="11036808"/>
              </a:tblGrid>
              <a:tr h="365760">
                <a:tc>
                  <a:txBody>
                    <a:bodyPr/>
                    <a:lstStyle/>
                    <a:p>
                      <a:pPr algn="ctr" indent="0" marL="0">
                        <a:lnSpc>
                          <a:spcPts val="2880"/>
                        </a:lnSpc>
                        <a:buNone/>
                      </a:pPr>
                      <a:r>
                        <a:rPr lang="ja-JP" altLang="en-US" sz="2400" b="1" dirty="0">
                          <a:solidFill>
                            <a:srgbClr val="262626"/>
                          </a:solidFill>
                          <a:latin typeface="メイリオ" pitchFamily="34" charset="0"/>
                          <a:ea typeface="メイリオ" pitchFamily="34" charset="-122"/>
                          <a:cs typeface="メイリオ" pitchFamily="34" charset="-120"/>
                        </a:rPr>
                        <a:t>収縮期雑音を聴いたら心エコー。</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r h="365760">
                <a:tc>
                  <a:txBody>
                    <a:bodyPr/>
                    <a:lstStyle/>
                    <a:p>
                      <a:pPr algn="ctr" indent="0" marL="0">
                        <a:lnSpc>
                          <a:spcPts val="2880"/>
                        </a:lnSpc>
                        <a:buNone/>
                      </a:pPr>
                      <a:r>
                        <a:rPr lang="ja-JP" altLang="en-US" sz="2400" b="1" dirty="0">
                          <a:solidFill>
                            <a:srgbClr val="262626"/>
                          </a:solidFill>
                          <a:latin typeface="メイリオ" pitchFamily="34" charset="0"/>
                          <a:ea typeface="メイリオ" pitchFamily="34" charset="-122"/>
                          <a:cs typeface="メイリオ" pitchFamily="34" charset="-120"/>
                        </a:rPr>
                        <a:t>症候性の重症 AS、EF 50% 未満の重症 AS は手術前に</a:t>
                      </a:r>
                      <a:r>
                        <a:rPr lang="ja-JP" altLang="en-US" sz="2400" b="1" dirty="0">
                          <a:solidFill>
                            <a:srgbClr val="D55E00"/>
                          </a:solidFill>
                          <a:latin typeface="メイリオ" pitchFamily="34" charset="0"/>
                          <a:ea typeface="メイリオ" pitchFamily="34" charset="-122"/>
                          <a:cs typeface="メイリオ" pitchFamily="34" charset="-120"/>
                        </a:rPr>
                        <a:t>ハートチームへ</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AS の麻酔：4 つの原則</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心不全</a:t>
            </a:r>
            <a:endParaRPr lang="ja-JP" sz="1050" dirty="0"/>
          </a:p>
        </p:txBody>
      </p:sp>
      <p:sp>
        <p:nvSpPr>
          <p:cNvPr id="5" name="Text 3"/>
          <p:cNvSpPr/>
          <p:nvPr/>
        </p:nvSpPr>
        <p:spPr>
          <a:xfrm>
            <a:off x="9354312"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AS</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ステント</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CIED・</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AF</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Tabrizi NS, et al. J Cardiothorac Vasc Anesth 2024;38:505-516</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Thompson A, et al. Circulation 2024;150:e351-e442（2024 AHA/ACC）</a:t>
            </a:r>
            <a:endParaRPr lang="ja-JP" sz="1600" dirty="0"/>
          </a:p>
        </p:txBody>
      </p:sp>
      <p:sp>
        <p:nvSpPr>
          <p:cNvPr id="11" name="Shape 9"/>
          <p:cNvSpPr/>
          <p:nvPr/>
        </p:nvSpPr>
        <p:spPr>
          <a:xfrm>
            <a:off x="502920" y="1755648"/>
            <a:ext cx="2624328" cy="2761488"/>
          </a:xfrm>
          <a:prstGeom prst="roundRect">
            <a:avLst>
              <a:gd name="adj" fmla="val 2787"/>
            </a:avLst>
          </a:prstGeom>
          <a:solidFill>
            <a:srgbClr val="F2F2F2"/>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 y="1883664"/>
          <a:ext cx="2441448" cy="914400"/>
        </p:xfrm>
        <a:graphic>
          <a:graphicData uri="http://schemas.openxmlformats.org/drawingml/2006/table">
            <a:tbl>
              <a:tblPr/>
              <a:tblGrid>
                <a:gridCol w="2441448"/>
              </a:tblGrid>
              <a:tr h="365760">
                <a:tc>
                  <a:txBody>
                    <a:bodyPr/>
                    <a:lstStyle/>
                    <a:p>
                      <a:pPr algn="l" indent="0" marL="0">
                        <a:lnSpc>
                          <a:spcPts val="2880"/>
                        </a:lnSpc>
                        <a:buNone/>
                      </a:pPr>
                      <a:r>
                        <a:rPr lang="ja-JP" altLang="en-US" sz="2400" b="1" dirty="0">
                          <a:solidFill>
                            <a:srgbClr val="0072B2"/>
                          </a:solidFill>
                          <a:latin typeface="メイリオ" pitchFamily="34" charset="0"/>
                          <a:ea typeface="メイリオ" pitchFamily="34" charset="-122"/>
                          <a:cs typeface="メイリオ" pitchFamily="34" charset="-120"/>
                        </a:rPr>
                        <a:t>前負荷を</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r h="365760">
                <a:tc>
                  <a:txBody>
                    <a:bodyPr/>
                    <a:lstStyle/>
                    <a:p>
                      <a:pPr algn="l" indent="0" marL="0">
                        <a:lnSpc>
                          <a:spcPts val="2880"/>
                        </a:lnSpc>
                        <a:buNone/>
                      </a:pPr>
                      <a:r>
                        <a:rPr lang="ja-JP" altLang="en-US" sz="2400" b="1" dirty="0">
                          <a:solidFill>
                            <a:srgbClr val="0072B2"/>
                          </a:solidFill>
                          <a:latin typeface="メイリオ" pitchFamily="34" charset="0"/>
                          <a:ea typeface="メイリオ" pitchFamily="34" charset="-122"/>
                          <a:cs typeface="メイリオ" pitchFamily="34" charset="-120"/>
                        </a:rPr>
                        <a:t>保つ</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94360" y="2761488"/>
          <a:ext cx="2441448" cy="914400"/>
        </p:xfrm>
        <a:graphic>
          <a:graphicData uri="http://schemas.openxmlformats.org/drawingml/2006/table">
            <a:tbl>
              <a:tblPr/>
              <a:tblGrid>
                <a:gridCol w="219456"/>
                <a:gridCol w="2221992"/>
              </a:tblGrid>
              <a:tr h="51297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脱水を避ける</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r>
              <a:tr h="67025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急な静脈拡張を</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避ける</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
        <p:nvSpPr>
          <p:cNvPr id="14" name="Shape 10"/>
          <p:cNvSpPr/>
          <p:nvPr/>
        </p:nvSpPr>
        <p:spPr>
          <a:xfrm>
            <a:off x="3355848" y="1755648"/>
            <a:ext cx="2624328" cy="2761488"/>
          </a:xfrm>
          <a:prstGeom prst="roundRect">
            <a:avLst>
              <a:gd name="adj" fmla="val 2787"/>
            </a:avLst>
          </a:prstGeom>
          <a:solidFill>
            <a:srgbClr val="F2F2F2"/>
          </a:solidFill>
          <a:ln/>
        </p:spPr>
      </p:sp>
      <p:graphicFrame>
        <p:nvGraphicFramePr>
          <p:cNvPr id="15" name="Table 2"/>
          <p:cNvGraphicFramePr>
            <a:graphicFrameLocks noGrp="1"/>
          </p:cNvGraphicFramePr>
          <p:nvPr>
            <p:extLst>
              <p:ext uri="{D42A27DB-BD31-4B8C-83A1-F6EECF244321}">
                <p14:modId xmlns:p14="http://schemas.microsoft.com/office/powerpoint/2010/main" val="1579011935"/>
              </p:ext>
            </p:extLst>
          </p:nvPr>
        </p:nvGraphicFramePr>
        <p:xfrm>
          <a:off x="3447288" y="1883664"/>
          <a:ext cx="2441448" cy="914400"/>
        </p:xfrm>
        <a:graphic>
          <a:graphicData uri="http://schemas.openxmlformats.org/drawingml/2006/table">
            <a:tbl>
              <a:tblPr/>
              <a:tblGrid>
                <a:gridCol w="2441448"/>
              </a:tblGrid>
              <a:tr h="365760">
                <a:tc>
                  <a:txBody>
                    <a:bodyPr/>
                    <a:lstStyle/>
                    <a:p>
                      <a:pPr algn="l" indent="0" marL="0">
                        <a:lnSpc>
                          <a:spcPts val="2880"/>
                        </a:lnSpc>
                        <a:buNone/>
                      </a:pPr>
                      <a:r>
                        <a:rPr lang="ja-JP" altLang="en-US" sz="2400" b="1" dirty="0">
                          <a:solidFill>
                            <a:srgbClr val="0072B2"/>
                          </a:solidFill>
                          <a:latin typeface="メイリオ" pitchFamily="34" charset="0"/>
                          <a:ea typeface="メイリオ" pitchFamily="34" charset="-122"/>
                          <a:cs typeface="メイリオ" pitchFamily="34" charset="-120"/>
                        </a:rPr>
                        <a:t>洞調律・</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r h="365760">
                <a:tc>
                  <a:txBody>
                    <a:bodyPr/>
                    <a:lstStyle/>
                    <a:p>
                      <a:pPr algn="l" indent="0" marL="0">
                        <a:lnSpc>
                          <a:spcPts val="2880"/>
                        </a:lnSpc>
                        <a:buNone/>
                      </a:pPr>
                      <a:r>
                        <a:rPr lang="ja-JP" altLang="en-US" sz="2400" b="1" dirty="0">
                          <a:solidFill>
                            <a:srgbClr val="0072B2"/>
                          </a:solidFill>
                          <a:latin typeface="メイリオ" pitchFamily="34" charset="0"/>
                          <a:ea typeface="メイリオ" pitchFamily="34" charset="-122"/>
                          <a:cs typeface="メイリオ" pitchFamily="34" charset="-120"/>
                        </a:rPr>
                        <a:t>徐脈寄り</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graphicFrame>
        <p:nvGraphicFramePr>
          <p:cNvPr id="16" name="Table 3"/>
          <p:cNvGraphicFramePr>
            <a:graphicFrameLocks noGrp="1"/>
          </p:cNvGraphicFramePr>
          <p:nvPr>
            <p:extLst>
              <p:ext uri="{D42A27DB-BD31-4B8C-83A1-F6EECF244321}">
                <p14:modId xmlns:p14="http://schemas.microsoft.com/office/powerpoint/2010/main" val="1579011935"/>
              </p:ext>
            </p:extLst>
          </p:nvPr>
        </p:nvGraphicFramePr>
        <p:xfrm>
          <a:off x="3447288" y="2761488"/>
          <a:ext cx="2441448" cy="914400"/>
        </p:xfrm>
        <a:graphic>
          <a:graphicData uri="http://schemas.openxmlformats.org/drawingml/2006/table">
            <a:tbl>
              <a:tblPr/>
              <a:tblGrid>
                <a:gridCol w="219456"/>
                <a:gridCol w="2221992"/>
              </a:tblGrid>
              <a:tr h="51297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頻脈を避ける</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r>
              <a:tr h="67025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心房細動は</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早く治療</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
        <p:nvSpPr>
          <p:cNvPr id="17" name="Shape 11"/>
          <p:cNvSpPr/>
          <p:nvPr/>
        </p:nvSpPr>
        <p:spPr>
          <a:xfrm>
            <a:off x="6208776" y="1755648"/>
            <a:ext cx="2624328" cy="2761488"/>
          </a:xfrm>
          <a:prstGeom prst="roundRect">
            <a:avLst>
              <a:gd name="adj" fmla="val 2787"/>
            </a:avLst>
          </a:prstGeom>
          <a:solidFill>
            <a:srgbClr val="F2F2F2"/>
          </a:solidFill>
          <a:ln/>
        </p:spPr>
      </p:sp>
      <p:graphicFrame>
        <p:nvGraphicFramePr>
          <p:cNvPr id="18" name="Table 4"/>
          <p:cNvGraphicFramePr>
            <a:graphicFrameLocks noGrp="1"/>
          </p:cNvGraphicFramePr>
          <p:nvPr>
            <p:extLst>
              <p:ext uri="{D42A27DB-BD31-4B8C-83A1-F6EECF244321}">
                <p14:modId xmlns:p14="http://schemas.microsoft.com/office/powerpoint/2010/main" val="1579011935"/>
              </p:ext>
            </p:extLst>
          </p:nvPr>
        </p:nvGraphicFramePr>
        <p:xfrm>
          <a:off x="6300216" y="1883664"/>
          <a:ext cx="2441448" cy="914400"/>
        </p:xfrm>
        <a:graphic>
          <a:graphicData uri="http://schemas.openxmlformats.org/drawingml/2006/table">
            <a:tbl>
              <a:tblPr/>
              <a:tblGrid>
                <a:gridCol w="2441448"/>
              </a:tblGrid>
              <a:tr h="365760">
                <a:tc>
                  <a:txBody>
                    <a:bodyPr/>
                    <a:lstStyle/>
                    <a:p>
                      <a:pPr algn="l" indent="0" marL="0">
                        <a:lnSpc>
                          <a:spcPts val="2880"/>
                        </a:lnSpc>
                        <a:buNone/>
                      </a:pPr>
                      <a:r>
                        <a:rPr lang="ja-JP" altLang="en-US" sz="2400" b="1" dirty="0">
                          <a:solidFill>
                            <a:srgbClr val="0072B2"/>
                          </a:solidFill>
                          <a:latin typeface="メイリオ" pitchFamily="34" charset="0"/>
                          <a:ea typeface="メイリオ" pitchFamily="34" charset="-122"/>
                          <a:cs typeface="メイリオ" pitchFamily="34" charset="-120"/>
                        </a:rPr>
                        <a:t>体血管抵抗を</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r h="365760">
                <a:tc>
                  <a:txBody>
                    <a:bodyPr/>
                    <a:lstStyle/>
                    <a:p>
                      <a:pPr algn="l" indent="0" marL="0">
                        <a:lnSpc>
                          <a:spcPts val="2880"/>
                        </a:lnSpc>
                        <a:buNone/>
                      </a:pPr>
                      <a:r>
                        <a:rPr lang="ja-JP" altLang="en-US" sz="2400" b="1" dirty="0">
                          <a:solidFill>
                            <a:srgbClr val="0072B2"/>
                          </a:solidFill>
                          <a:latin typeface="メイリオ" pitchFamily="34" charset="0"/>
                          <a:ea typeface="メイリオ" pitchFamily="34" charset="-122"/>
                          <a:cs typeface="メイリオ" pitchFamily="34" charset="-120"/>
                        </a:rPr>
                        <a:t>保つ</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graphicFrame>
        <p:nvGraphicFramePr>
          <p:cNvPr id="19" name="Table 5"/>
          <p:cNvGraphicFramePr>
            <a:graphicFrameLocks noGrp="1"/>
          </p:cNvGraphicFramePr>
          <p:nvPr>
            <p:extLst>
              <p:ext uri="{D42A27DB-BD31-4B8C-83A1-F6EECF244321}">
                <p14:modId xmlns:p14="http://schemas.microsoft.com/office/powerpoint/2010/main" val="1579011935"/>
              </p:ext>
            </p:extLst>
          </p:nvPr>
        </p:nvGraphicFramePr>
        <p:xfrm>
          <a:off x="6300216" y="2761488"/>
          <a:ext cx="2441448" cy="914400"/>
        </p:xfrm>
        <a:graphic>
          <a:graphicData uri="http://schemas.openxmlformats.org/drawingml/2006/table">
            <a:tbl>
              <a:tblPr/>
              <a:tblGrid>
                <a:gridCol w="219456"/>
                <a:gridCol w="2221992"/>
              </a:tblGrid>
              <a:tr h="847649">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低血圧には</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フェニレフリン</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r>
              <a:tr h="67025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エフェドリンは</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頻脈に注意</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
        <p:nvSpPr>
          <p:cNvPr id="20" name="Shape 12"/>
          <p:cNvSpPr/>
          <p:nvPr/>
        </p:nvSpPr>
        <p:spPr>
          <a:xfrm>
            <a:off x="9061704" y="1755648"/>
            <a:ext cx="2624328" cy="2761488"/>
          </a:xfrm>
          <a:prstGeom prst="roundRect">
            <a:avLst>
              <a:gd name="adj" fmla="val 2787"/>
            </a:avLst>
          </a:prstGeom>
          <a:solidFill>
            <a:srgbClr val="F2F2F2"/>
          </a:solidFill>
          <a:ln/>
        </p:spPr>
      </p:sp>
      <p:graphicFrame>
        <p:nvGraphicFramePr>
          <p:cNvPr id="21" name="Table 6"/>
          <p:cNvGraphicFramePr>
            <a:graphicFrameLocks noGrp="1"/>
          </p:cNvGraphicFramePr>
          <p:nvPr>
            <p:extLst>
              <p:ext uri="{D42A27DB-BD31-4B8C-83A1-F6EECF244321}">
                <p14:modId xmlns:p14="http://schemas.microsoft.com/office/powerpoint/2010/main" val="1579011935"/>
              </p:ext>
            </p:extLst>
          </p:nvPr>
        </p:nvGraphicFramePr>
        <p:xfrm>
          <a:off x="9153144" y="1883664"/>
          <a:ext cx="2441448" cy="914400"/>
        </p:xfrm>
        <a:graphic>
          <a:graphicData uri="http://schemas.openxmlformats.org/drawingml/2006/table">
            <a:tbl>
              <a:tblPr/>
              <a:tblGrid>
                <a:gridCol w="2441448"/>
              </a:tblGrid>
              <a:tr h="365760">
                <a:tc>
                  <a:txBody>
                    <a:bodyPr/>
                    <a:lstStyle/>
                    <a:p>
                      <a:pPr algn="l" indent="0" marL="0">
                        <a:lnSpc>
                          <a:spcPts val="2880"/>
                        </a:lnSpc>
                        <a:buNone/>
                      </a:pPr>
                      <a:r>
                        <a:rPr lang="ja-JP" altLang="en-US" sz="2400" b="1" dirty="0">
                          <a:solidFill>
                            <a:srgbClr val="0072B2"/>
                          </a:solidFill>
                          <a:latin typeface="メイリオ" pitchFamily="34" charset="0"/>
                          <a:ea typeface="メイリオ" pitchFamily="34" charset="-122"/>
                          <a:cs typeface="メイリオ" pitchFamily="34" charset="-120"/>
                        </a:rPr>
                        <a:t>低血圧を</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r h="365760">
                <a:tc>
                  <a:txBody>
                    <a:bodyPr/>
                    <a:lstStyle/>
                    <a:p>
                      <a:pPr algn="l" indent="0" marL="0">
                        <a:lnSpc>
                          <a:spcPts val="2880"/>
                        </a:lnSpc>
                        <a:buNone/>
                      </a:pPr>
                      <a:r>
                        <a:rPr lang="ja-JP" altLang="en-US" sz="2400" b="1" dirty="0">
                          <a:solidFill>
                            <a:srgbClr val="0072B2"/>
                          </a:solidFill>
                          <a:latin typeface="メイリオ" pitchFamily="34" charset="0"/>
                          <a:ea typeface="メイリオ" pitchFamily="34" charset="-122"/>
                          <a:cs typeface="メイリオ" pitchFamily="34" charset="-120"/>
                        </a:rPr>
                        <a:t>放置しない</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graphicFrame>
        <p:nvGraphicFramePr>
          <p:cNvPr id="22" name="Table 7"/>
          <p:cNvGraphicFramePr>
            <a:graphicFrameLocks noGrp="1"/>
          </p:cNvGraphicFramePr>
          <p:nvPr>
            <p:extLst>
              <p:ext uri="{D42A27DB-BD31-4B8C-83A1-F6EECF244321}">
                <p14:modId xmlns:p14="http://schemas.microsoft.com/office/powerpoint/2010/main" val="1579011935"/>
              </p:ext>
            </p:extLst>
          </p:nvPr>
        </p:nvGraphicFramePr>
        <p:xfrm>
          <a:off x="9153144" y="2761488"/>
          <a:ext cx="2441448" cy="914400"/>
        </p:xfrm>
        <a:graphic>
          <a:graphicData uri="http://schemas.openxmlformats.org/drawingml/2006/table">
            <a:tbl>
              <a:tblPr/>
              <a:tblGrid>
                <a:gridCol w="219456"/>
                <a:gridCol w="2221992"/>
              </a:tblGrid>
              <a:tr h="847649">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肥大心筋の</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冠灌流が落ちる</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r>
              <a:tr h="67025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動脈ラインで</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早く気づく</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
        <p:nvSpPr>
          <p:cNvPr id="23" name="Shape 13"/>
          <p:cNvSpPr/>
          <p:nvPr/>
        </p:nvSpPr>
        <p:spPr>
          <a:xfrm>
            <a:off x="502920" y="4928616"/>
            <a:ext cx="11183112" cy="914400"/>
          </a:xfrm>
          <a:prstGeom prst="roundRect">
            <a:avLst>
              <a:gd name="adj" fmla="val 8000"/>
            </a:avLst>
          </a:prstGeom>
          <a:solidFill>
            <a:srgbClr val="FFFFFF"/>
          </a:solidFill>
          <a:ln w="31750">
            <a:solidFill>
              <a:srgbClr val="00A8AA"/>
            </a:solidFill>
            <a:prstDash val="solid"/>
          </a:ln>
        </p:spPr>
      </p:sp>
      <p:graphicFrame>
        <p:nvGraphicFramePr>
          <p:cNvPr id="24" name="Table 8"/>
          <p:cNvGraphicFramePr>
            <a:graphicFrameLocks noGrp="1"/>
          </p:cNvGraphicFramePr>
          <p:nvPr>
            <p:extLst>
              <p:ext uri="{D42A27DB-BD31-4B8C-83A1-F6EECF244321}">
                <p14:modId xmlns:p14="http://schemas.microsoft.com/office/powerpoint/2010/main" val="1579011935"/>
              </p:ext>
            </p:extLst>
          </p:nvPr>
        </p:nvGraphicFramePr>
        <p:xfrm>
          <a:off x="594360" y="5020056"/>
          <a:ext cx="11000232" cy="914400"/>
        </p:xfrm>
        <a:graphic>
          <a:graphicData uri="http://schemas.openxmlformats.org/drawingml/2006/table">
            <a:tbl>
              <a:tblPr/>
              <a:tblGrid>
                <a:gridCol w="11000232"/>
              </a:tblGrid>
              <a:tr h="365760">
                <a:tc>
                  <a:txBody>
                    <a:bodyPr/>
                    <a:lstStyle/>
                    <a:p>
                      <a:pPr algn="ctr" indent="0" marL="0">
                        <a:lnSpc>
                          <a:spcPts val="2880"/>
                        </a:lnSpc>
                        <a:buNone/>
                      </a:pPr>
                      <a:r>
                        <a:rPr lang="ja-JP" altLang="en-US" sz="2400" b="1" dirty="0">
                          <a:solidFill>
                            <a:srgbClr val="D55E00"/>
                          </a:solidFill>
                          <a:latin typeface="メイリオ" pitchFamily="34" charset="0"/>
                          <a:ea typeface="メイリオ" pitchFamily="34" charset="-122"/>
                          <a:cs typeface="メイリオ" pitchFamily="34" charset="-120"/>
                        </a:rPr>
                        <a:t>単回大量の脊髄くも膜下麻酔は避ける</a:t>
                      </a:r>
                      <a:r>
                        <a:rPr lang="ja-JP" altLang="en-US" sz="2400" b="1" dirty="0">
                          <a:solidFill>
                            <a:srgbClr val="262626"/>
                          </a:solidFill>
                          <a:latin typeface="メイリオ" pitchFamily="34" charset="0"/>
                          <a:ea typeface="メイリオ" pitchFamily="34" charset="-122"/>
                          <a:cs typeface="メイリオ" pitchFamily="34" charset="-120"/>
                        </a:rPr>
                        <a:t>。</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r h="365760">
                <a:tc>
                  <a:txBody>
                    <a:bodyPr/>
                    <a:lstStyle/>
                    <a:p>
                      <a:pPr algn="ctr" indent="0" marL="0">
                        <a:lnSpc>
                          <a:spcPts val="2880"/>
                        </a:lnSpc>
                        <a:buNone/>
                      </a:pPr>
                      <a:r>
                        <a:rPr lang="ja-JP" altLang="en-US" sz="2400" b="1" dirty="0">
                          <a:solidFill>
                            <a:srgbClr val="262626"/>
                          </a:solidFill>
                          <a:latin typeface="メイリオ" pitchFamily="34" charset="0"/>
                          <a:ea typeface="メイリオ" pitchFamily="34" charset="-122"/>
                          <a:cs typeface="メイリオ" pitchFamily="34" charset="-120"/>
                        </a:rPr>
                        <a:t>低用量・持続硬膜外の分割投与なら選択肢（根拠は観察研究のみ）</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ステント後：いつ手術か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心不全</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AS</a:t>
            </a:r>
            <a:endParaRPr lang="ja-JP" sz="1050" dirty="0"/>
          </a:p>
        </p:txBody>
      </p:sp>
      <p:sp>
        <p:nvSpPr>
          <p:cNvPr id="6" name="Text 4"/>
          <p:cNvSpPr/>
          <p:nvPr/>
        </p:nvSpPr>
        <p:spPr>
          <a:xfrm>
            <a:off x="10030968"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ステント</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CIED・</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AF</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Hawn MT, et al. JAMA 2013;310:1462-1472/Thompson A, et al. Circulation</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2024;150:e351-e442/日本循環器学会 2022 年改訂版 非心臓手術における合併心疾患ガイドライン</a:t>
            </a:r>
            <a:endParaRPr lang="ja-JP" sz="1600" dirty="0"/>
          </a:p>
        </p:txBody>
      </p:sp>
      <p:sp>
        <p:nvSpPr>
          <p:cNvPr id="11" name="Text 9"/>
          <p:cNvSpPr txBox="1"/>
          <p:nvPr/>
        </p:nvSpPr>
        <p:spPr>
          <a:xfrm>
            <a:off x="502920" y="1892808"/>
            <a:ext cx="4645152"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留置からの期間別 30 日 MACE</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（Hawn 2013）</a:t>
            </a:r>
            <a:endParaRPr lang="ja-JP" sz="2200" dirty="0"/>
          </a:p>
        </p:txBody>
      </p:sp>
      <p:sp>
        <p:nvSpPr>
          <p:cNvPr id="12" name="Shape 10"/>
          <p:cNvSpPr/>
          <p:nvPr/>
        </p:nvSpPr>
        <p:spPr>
          <a:xfrm>
            <a:off x="2532888" y="2898648"/>
            <a:ext cx="0" cy="2926080"/>
          </a:xfrm>
          <a:prstGeom prst="line">
            <a:avLst/>
          </a:prstGeom>
          <a:noFill/>
          <a:ln w="19050">
            <a:solidFill>
              <a:srgbClr val="7F7F7F"/>
            </a:solidFill>
            <a:prstDash val="solid"/>
          </a:ln>
        </p:spPr>
      </p:sp>
      <p:sp>
        <p:nvSpPr>
          <p:cNvPr id="13" name="Text 11"/>
          <p:cNvSpPr txBox="1"/>
          <p:nvPr/>
        </p:nvSpPr>
        <p:spPr>
          <a:xfrm>
            <a:off x="502920" y="3027578"/>
            <a:ext cx="1865376" cy="418795"/>
          </a:xfrm>
          <a:prstGeom prst="rect">
            <a:avLst/>
          </a:prstGeom>
          <a:noFill/>
          <a:ln/>
        </p:spPr>
        <p:txBody>
          <a:bodyPr wrap="square" lIns="0" tIns="0" rIns="0" bIns="0" rtlCol="0" anchor="t"/>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6 週未満</a:t>
            </a:r>
            <a:endParaRPr lang="ja-JP" sz="2200" dirty="0"/>
          </a:p>
        </p:txBody>
      </p:sp>
      <p:sp>
        <p:nvSpPr>
          <p:cNvPr id="14" name="Shape 12"/>
          <p:cNvSpPr/>
          <p:nvPr/>
        </p:nvSpPr>
        <p:spPr>
          <a:xfrm>
            <a:off x="2532888" y="3008376"/>
            <a:ext cx="1499616" cy="457200"/>
          </a:xfrm>
          <a:prstGeom prst="rect">
            <a:avLst/>
          </a:prstGeom>
          <a:solidFill>
            <a:srgbClr val="D55E00"/>
          </a:solidFill>
          <a:ln/>
        </p:spPr>
      </p:sp>
      <p:sp>
        <p:nvSpPr>
          <p:cNvPr id="15" name="Text 13"/>
          <p:cNvSpPr txBox="1"/>
          <p:nvPr/>
        </p:nvSpPr>
        <p:spPr>
          <a:xfrm>
            <a:off x="4197096" y="3027578"/>
            <a:ext cx="950976" cy="418795"/>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11.6%</a:t>
            </a:r>
            <a:endParaRPr lang="ja-JP" sz="2200" dirty="0"/>
          </a:p>
        </p:txBody>
      </p:sp>
      <p:sp>
        <p:nvSpPr>
          <p:cNvPr id="16" name="Text 14"/>
          <p:cNvSpPr txBox="1"/>
          <p:nvPr/>
        </p:nvSpPr>
        <p:spPr>
          <a:xfrm>
            <a:off x="502920" y="3777386"/>
            <a:ext cx="1865376" cy="418795"/>
          </a:xfrm>
          <a:prstGeom prst="rect">
            <a:avLst/>
          </a:prstGeom>
          <a:noFill/>
          <a:ln/>
        </p:spPr>
        <p:txBody>
          <a:bodyPr wrap="square" lIns="0" tIns="0" rIns="0" bIns="0" rtlCol="0" anchor="t"/>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6 週〜6 か月</a:t>
            </a:r>
            <a:endParaRPr lang="ja-JP" sz="2200" dirty="0"/>
          </a:p>
        </p:txBody>
      </p:sp>
      <p:sp>
        <p:nvSpPr>
          <p:cNvPr id="17" name="Shape 15"/>
          <p:cNvSpPr/>
          <p:nvPr/>
        </p:nvSpPr>
        <p:spPr>
          <a:xfrm>
            <a:off x="2532888" y="3758184"/>
            <a:ext cx="827532" cy="457200"/>
          </a:xfrm>
          <a:prstGeom prst="rect">
            <a:avLst/>
          </a:prstGeom>
          <a:solidFill>
            <a:srgbClr val="0072B2"/>
          </a:solidFill>
          <a:ln/>
        </p:spPr>
      </p:sp>
      <p:sp>
        <p:nvSpPr>
          <p:cNvPr id="18" name="Text 16"/>
          <p:cNvSpPr txBox="1"/>
          <p:nvPr/>
        </p:nvSpPr>
        <p:spPr>
          <a:xfrm>
            <a:off x="3525012" y="3777386"/>
            <a:ext cx="950976" cy="418795"/>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6.4%</a:t>
            </a:r>
            <a:endParaRPr lang="ja-JP" sz="2200" dirty="0"/>
          </a:p>
        </p:txBody>
      </p:sp>
      <p:sp>
        <p:nvSpPr>
          <p:cNvPr id="19" name="Text 17"/>
          <p:cNvSpPr txBox="1"/>
          <p:nvPr/>
        </p:nvSpPr>
        <p:spPr>
          <a:xfrm>
            <a:off x="502920" y="4527194"/>
            <a:ext cx="1865376" cy="418795"/>
          </a:xfrm>
          <a:prstGeom prst="rect">
            <a:avLst/>
          </a:prstGeom>
          <a:noFill/>
          <a:ln/>
        </p:spPr>
        <p:txBody>
          <a:bodyPr wrap="square" lIns="0" tIns="0" rIns="0" bIns="0" rtlCol="0" anchor="t"/>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6〜12 か月</a:t>
            </a:r>
            <a:endParaRPr lang="ja-JP" sz="2200" dirty="0"/>
          </a:p>
        </p:txBody>
      </p:sp>
      <p:sp>
        <p:nvSpPr>
          <p:cNvPr id="20" name="Shape 18"/>
          <p:cNvSpPr/>
          <p:nvPr/>
        </p:nvSpPr>
        <p:spPr>
          <a:xfrm>
            <a:off x="2532888" y="4507992"/>
            <a:ext cx="543154" cy="457200"/>
          </a:xfrm>
          <a:prstGeom prst="rect">
            <a:avLst/>
          </a:prstGeom>
          <a:solidFill>
            <a:srgbClr val="0072B2"/>
          </a:solidFill>
          <a:ln/>
        </p:spPr>
      </p:sp>
      <p:sp>
        <p:nvSpPr>
          <p:cNvPr id="21" name="Text 19"/>
          <p:cNvSpPr txBox="1"/>
          <p:nvPr/>
        </p:nvSpPr>
        <p:spPr>
          <a:xfrm>
            <a:off x="3240634" y="4527194"/>
            <a:ext cx="950976" cy="418795"/>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4.2%</a:t>
            </a:r>
            <a:endParaRPr lang="ja-JP" sz="2200" dirty="0"/>
          </a:p>
        </p:txBody>
      </p:sp>
      <p:sp>
        <p:nvSpPr>
          <p:cNvPr id="22" name="Text 20"/>
          <p:cNvSpPr txBox="1"/>
          <p:nvPr/>
        </p:nvSpPr>
        <p:spPr>
          <a:xfrm>
            <a:off x="502920" y="5277002"/>
            <a:ext cx="1865376" cy="418795"/>
          </a:xfrm>
          <a:prstGeom prst="rect">
            <a:avLst/>
          </a:prstGeom>
          <a:noFill/>
          <a:ln/>
        </p:spPr>
        <p:txBody>
          <a:bodyPr wrap="square" lIns="0" tIns="0" rIns="0" bIns="0" rtlCol="0" anchor="t"/>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12〜24 か月</a:t>
            </a:r>
            <a:endParaRPr lang="ja-JP" sz="2200" dirty="0"/>
          </a:p>
        </p:txBody>
      </p:sp>
      <p:sp>
        <p:nvSpPr>
          <p:cNvPr id="23" name="Shape 21"/>
          <p:cNvSpPr/>
          <p:nvPr/>
        </p:nvSpPr>
        <p:spPr>
          <a:xfrm>
            <a:off x="2532888" y="5257800"/>
            <a:ext cx="452628" cy="457200"/>
          </a:xfrm>
          <a:prstGeom prst="rect">
            <a:avLst/>
          </a:prstGeom>
          <a:solidFill>
            <a:srgbClr val="0072B2"/>
          </a:solidFill>
          <a:ln/>
        </p:spPr>
      </p:sp>
      <p:sp>
        <p:nvSpPr>
          <p:cNvPr id="24" name="Text 22"/>
          <p:cNvSpPr txBox="1"/>
          <p:nvPr/>
        </p:nvSpPr>
        <p:spPr>
          <a:xfrm>
            <a:off x="3150108" y="5277002"/>
            <a:ext cx="950976" cy="418795"/>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3.5%</a:t>
            </a:r>
            <a:endParaRPr lang="ja-JP" sz="2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513832" y="1993392"/>
          <a:ext cx="6172200" cy="914400"/>
        </p:xfrm>
        <a:graphic>
          <a:graphicData uri="http://schemas.openxmlformats.org/drawingml/2006/table">
            <a:tbl>
              <a:tblPr/>
              <a:tblGrid>
                <a:gridCol w="256032"/>
                <a:gridCol w="5916168"/>
              </a:tblGrid>
              <a:tr h="1208837">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202997"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AHA/ACC 2024：P2Y12 中止なら</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ACS 12 か月、安定 6 か月、</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急ぐ手術は 3 か月</a:t>
                      </a:r>
                      <a:endParaRPr lang="en-US" sz="2200" dirty="0">
                        <a:latin typeface="メイリオ" charset="0"/>
                        <a:ea typeface="メイリオ" charset="0"/>
                        <a:cs typeface="メイリオ" charset="0"/>
                      </a:endParaRPr>
                    </a:p>
                  </a:txBody>
                  <a:tcPr marL="0" marR="0" marT="0" marB="202997" anchor="t">
                    <a:lnL w="0" cap="flat" cmpd="sng" algn="ctr">
                      <a:noFill/>
                    </a:lnL>
                    <a:lnR w="0" cap="flat" cmpd="sng" algn="ctr">
                      <a:noFill/>
                    </a:lnR>
                    <a:lnT w="0" cap="flat" cmpd="sng" algn="ctr">
                      <a:noFill/>
                    </a:lnT>
                    <a:lnB w="0" cap="flat" cmpd="sng" algn="ctr">
                      <a:noFill/>
                    </a:lnB>
                  </a:tcPr>
                </a:tc>
              </a:tr>
              <a:tr h="873252">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202997"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どのステントも </a:t>
                      </a:r>
                      <a:r>
                        <a:rPr lang="ja-JP" altLang="en-US" sz="2200" b="1" dirty="0">
                          <a:solidFill>
                            <a:srgbClr val="D55E00"/>
                          </a:solidFill>
                          <a:latin typeface="メイリオ" pitchFamily="34" charset="0"/>
                          <a:ea typeface="メイリオ" pitchFamily="34" charset="-122"/>
                          <a:cs typeface="メイリオ" pitchFamily="34" charset="-120"/>
                        </a:rPr>
                        <a:t>30 日以内</a:t>
                      </a:r>
                      <a:r>
                        <a:rPr lang="ja-JP" altLang="en-US" sz="2200" dirty="0">
                          <a:solidFill>
                            <a:srgbClr val="262626"/>
                          </a:solidFill>
                          <a:latin typeface="メイリオ" pitchFamily="34" charset="0"/>
                          <a:ea typeface="メイリオ" pitchFamily="34" charset="-122"/>
                          <a:cs typeface="メイリオ" pitchFamily="34" charset="-120"/>
                        </a:rPr>
                        <a:t>の</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待機手術はしない。バルーンのみは 14 日</a:t>
                      </a:r>
                      <a:endParaRPr lang="en-US" sz="2200" dirty="0">
                        <a:latin typeface="メイリオ" charset="0"/>
                        <a:ea typeface="メイリオ" charset="0"/>
                        <a:cs typeface="メイリオ" charset="0"/>
                      </a:endParaRPr>
                    </a:p>
                  </a:txBody>
                  <a:tcPr marL="0" marR="0" marT="0" marB="202997" anchor="t">
                    <a:lnL w="0" cap="flat" cmpd="sng" algn="ctr">
                      <a:noFill/>
                    </a:lnL>
                    <a:lnR w="0" cap="flat" cmpd="sng" algn="ctr">
                      <a:noFill/>
                    </a:lnR>
                    <a:lnT w="0" cap="flat" cmpd="sng" algn="ctr">
                      <a:noFill/>
                    </a:lnT>
                    <a:lnB w="0" cap="flat" cmpd="sng" algn="ctr">
                      <a:noFill/>
                    </a:lnB>
                  </a:tcPr>
                </a:tc>
              </a:tr>
              <a:tr h="873252">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202997"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JCS 2022 は PCI 後</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1〜1.5 か月以降の手術を CQ2 で検討</a:t>
                      </a:r>
                      <a:endParaRPr lang="en-US" sz="2200" dirty="0">
                        <a:latin typeface="メイリオ" charset="0"/>
                        <a:ea typeface="メイリオ" charset="0"/>
                        <a:cs typeface="メイリオ" charset="0"/>
                      </a:endParaRPr>
                    </a:p>
                  </a:txBody>
                  <a:tcPr marL="0" marR="0" marT="0" marB="202997" anchor="t">
                    <a:lnL w="0" cap="flat" cmpd="sng" algn="ctr">
                      <a:noFill/>
                    </a:lnL>
                    <a:lnR w="0" cap="flat" cmpd="sng" algn="ctr">
                      <a:noFill/>
                    </a:lnR>
                    <a:lnT w="0" cap="flat" cmpd="sng" algn="ctr">
                      <a:noFill/>
                    </a:lnT>
                    <a:lnB w="0" cap="flat" cmpd="sng" algn="ctr">
                      <a:noFill/>
                    </a:lnB>
                  </a:tcPr>
                </a:tc>
              </a:tr>
              <a:tr h="67025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b="1" dirty="0">
                          <a:solidFill>
                            <a:srgbClr val="0072B2"/>
                          </a:solidFill>
                          <a:latin typeface="メイリオ" pitchFamily="34" charset="0"/>
                          <a:ea typeface="メイリオ" pitchFamily="34" charset="-122"/>
                          <a:cs typeface="メイリオ" pitchFamily="34" charset="-120"/>
                        </a:rPr>
                        <a:t>アスピリンは続ける。</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P2Y12 阻害薬を止めるかは PCI 施行医と</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CIED と心房細動</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心不全</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AS</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ステント</a:t>
            </a:r>
            <a:endParaRPr lang="ja-JP" sz="1050" dirty="0"/>
          </a:p>
        </p:txBody>
      </p:sp>
      <p:sp>
        <p:nvSpPr>
          <p:cNvPr id="7" name="Text 5"/>
          <p:cNvSpPr/>
          <p:nvPr/>
        </p:nvSpPr>
        <p:spPr>
          <a:xfrm>
            <a:off x="10707624"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CIED・</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AF</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Thompson A, et al. Circulation 2024;150:e351-e442（2024 AHA/ACC）</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Kim M, Kwon CH. Korean J Anesthesiol 2024;77:306-315</a:t>
            </a:r>
            <a:endParaRPr lang="ja-JP" sz="1600" dirty="0"/>
          </a:p>
        </p:txBody>
      </p:sp>
      <p:sp>
        <p:nvSpPr>
          <p:cNvPr id="11" name="Shape 9"/>
          <p:cNvSpPr/>
          <p:nvPr/>
        </p:nvSpPr>
        <p:spPr>
          <a:xfrm>
            <a:off x="502920" y="1691640"/>
            <a:ext cx="7046366" cy="3256178"/>
          </a:xfrm>
          <a:prstGeom prst="roundRect">
            <a:avLst>
              <a:gd name="adj" fmla="val 2247"/>
            </a:avLst>
          </a:prstGeom>
          <a:solidFill>
            <a:srgbClr val="F2F2F2"/>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 y="1773936"/>
          <a:ext cx="6863486" cy="914400"/>
        </p:xfrm>
        <a:graphic>
          <a:graphicData uri="http://schemas.openxmlformats.org/drawingml/2006/table">
            <a:tbl>
              <a:tblPr/>
              <a:tblGrid>
                <a:gridCol w="6863486"/>
              </a:tblGrid>
              <a:tr h="365760">
                <a:tc>
                  <a:txBody>
                    <a:bodyPr/>
                    <a:lstStyle/>
                    <a:p>
                      <a:pPr algn="l" indent="0" marL="0">
                        <a:lnSpc>
                          <a:spcPts val="2880"/>
                        </a:lnSpc>
                        <a:buNone/>
                      </a:pPr>
                      <a:r>
                        <a:rPr lang="ja-JP" altLang="en-US" sz="2400" b="1" dirty="0">
                          <a:solidFill>
                            <a:srgbClr val="0072B2"/>
                          </a:solidFill>
                          <a:latin typeface="メイリオ" pitchFamily="34" charset="0"/>
                          <a:ea typeface="メイリオ" pitchFamily="34" charset="-122"/>
                          <a:cs typeface="メイリオ" pitchFamily="34" charset="-120"/>
                        </a:rPr>
                        <a:t>CIED（手帳で確かめる）</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94360" y="2157984"/>
          <a:ext cx="6863486" cy="914400"/>
        </p:xfrm>
        <a:graphic>
          <a:graphicData uri="http://schemas.openxmlformats.org/drawingml/2006/table">
            <a:tbl>
              <a:tblPr/>
              <a:tblGrid>
                <a:gridCol w="219456"/>
                <a:gridCol w="6644030"/>
              </a:tblGrid>
              <a:tr h="354787">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9202"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機種、植込みの理由、ペーシング依存か</a:t>
                      </a:r>
                      <a:endParaRPr lang="en-US" sz="2200" dirty="0">
                        <a:latin typeface="メイリオ" charset="0"/>
                        <a:ea typeface="メイリオ" charset="0"/>
                        <a:cs typeface="メイリオ" charset="0"/>
                      </a:endParaRPr>
                    </a:p>
                  </a:txBody>
                  <a:tcPr marL="0" marR="0" marT="0" marB="19202" anchor="t">
                    <a:lnL w="0" cap="flat" cmpd="sng" algn="ctr">
                      <a:noFill/>
                    </a:lnL>
                    <a:lnR w="0" cap="flat" cmpd="sng" algn="ctr">
                      <a:noFill/>
                    </a:lnR>
                    <a:lnT w="0" cap="flat" cmpd="sng" algn="ctr">
                      <a:noFill/>
                    </a:lnT>
                    <a:lnB w="0" cap="flat" cmpd="sng" algn="ctr">
                      <a:noFill/>
                    </a:lnB>
                  </a:tcPr>
                </a:tc>
              </a:tr>
              <a:tr h="68945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9202"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最終点検：ペースメーカー 12 か月、</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ICD 6 か月以内</a:t>
                      </a:r>
                      <a:endParaRPr lang="en-US" sz="2200" dirty="0">
                        <a:latin typeface="メイリオ" charset="0"/>
                        <a:ea typeface="メイリオ" charset="0"/>
                        <a:cs typeface="メイリオ" charset="0"/>
                      </a:endParaRPr>
                    </a:p>
                  </a:txBody>
                  <a:tcPr marL="0" marR="0" marT="0" marB="19202" anchor="t">
                    <a:lnL w="0" cap="flat" cmpd="sng" algn="ctr">
                      <a:noFill/>
                    </a:lnL>
                    <a:lnR w="0" cap="flat" cmpd="sng" algn="ctr">
                      <a:noFill/>
                    </a:lnR>
                    <a:lnT w="0" cap="flat" cmpd="sng" algn="ctr">
                      <a:noFill/>
                    </a:lnT>
                    <a:lnB w="0" cap="flat" cmpd="sng" algn="ctr">
                      <a:noFill/>
                    </a:lnB>
                  </a:tcPr>
                </a:tc>
              </a:tr>
              <a:tr h="354787">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9202"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依存＋臍より上の手術：非同期に再設定か磁石</a:t>
                      </a:r>
                      <a:endParaRPr lang="en-US" sz="2200" dirty="0">
                        <a:latin typeface="メイリオ" charset="0"/>
                        <a:ea typeface="メイリオ" charset="0"/>
                        <a:cs typeface="メイリオ" charset="0"/>
                      </a:endParaRPr>
                    </a:p>
                  </a:txBody>
                  <a:tcPr marL="0" marR="0" marT="0" marB="19202" anchor="t">
                    <a:lnL w="0" cap="flat" cmpd="sng" algn="ctr">
                      <a:noFill/>
                    </a:lnL>
                    <a:lnR w="0" cap="flat" cmpd="sng" algn="ctr">
                      <a:noFill/>
                    </a:lnR>
                    <a:lnT w="0" cap="flat" cmpd="sng" algn="ctr">
                      <a:noFill/>
                    </a:lnT>
                    <a:lnB w="0" cap="flat" cmpd="sng" algn="ctr">
                      <a:noFill/>
                    </a:lnB>
                  </a:tcPr>
                </a:tc>
              </a:tr>
              <a:tr h="68945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9202"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ICD に磁石：頻拍治療が止まる。</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ペーシングは多くの機種で不変</a:t>
                      </a:r>
                      <a:endParaRPr lang="en-US" sz="2200" dirty="0">
                        <a:latin typeface="メイリオ" charset="0"/>
                        <a:ea typeface="メイリオ" charset="0"/>
                        <a:cs typeface="メイリオ" charset="0"/>
                      </a:endParaRPr>
                    </a:p>
                  </a:txBody>
                  <a:tcPr marL="0" marR="0" marT="0" marB="19202" anchor="t">
                    <a:lnL w="0" cap="flat" cmpd="sng" algn="ctr">
                      <a:noFill/>
                    </a:lnL>
                    <a:lnR w="0" cap="flat" cmpd="sng" algn="ctr">
                      <a:noFill/>
                    </a:lnR>
                    <a:lnT w="0" cap="flat" cmpd="sng" algn="ctr">
                      <a:noFill/>
                    </a:lnT>
                    <a:lnB w="0" cap="flat" cmpd="sng" algn="ctr">
                      <a:noFill/>
                    </a:lnB>
                  </a:tcPr>
                </a:tc>
              </a:tr>
              <a:tr h="67025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バイポーラ優先、短い通電、</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対極板の位置、除細動パッド</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
        <p:nvSpPr>
          <p:cNvPr id="14" name="Shape 10"/>
          <p:cNvSpPr/>
          <p:nvPr/>
        </p:nvSpPr>
        <p:spPr>
          <a:xfrm>
            <a:off x="7768742" y="1691640"/>
            <a:ext cx="3917290" cy="3256178"/>
          </a:xfrm>
          <a:prstGeom prst="roundRect">
            <a:avLst>
              <a:gd name="adj" fmla="val 2247"/>
            </a:avLst>
          </a:prstGeom>
          <a:solidFill>
            <a:srgbClr val="F2F2F2"/>
          </a:solidFill>
          <a:ln/>
        </p:spPr>
      </p:sp>
      <p:graphicFrame>
        <p:nvGraphicFramePr>
          <p:cNvPr id="15" name="Table 2"/>
          <p:cNvGraphicFramePr>
            <a:graphicFrameLocks noGrp="1"/>
          </p:cNvGraphicFramePr>
          <p:nvPr>
            <p:extLst>
              <p:ext uri="{D42A27DB-BD31-4B8C-83A1-F6EECF244321}">
                <p14:modId xmlns:p14="http://schemas.microsoft.com/office/powerpoint/2010/main" val="1579011935"/>
              </p:ext>
            </p:extLst>
          </p:nvPr>
        </p:nvGraphicFramePr>
        <p:xfrm>
          <a:off x="7860182" y="1773936"/>
          <a:ext cx="3734410" cy="914400"/>
        </p:xfrm>
        <a:graphic>
          <a:graphicData uri="http://schemas.openxmlformats.org/drawingml/2006/table">
            <a:tbl>
              <a:tblPr/>
              <a:tblGrid>
                <a:gridCol w="3734410"/>
              </a:tblGrid>
              <a:tr h="365760">
                <a:tc>
                  <a:txBody>
                    <a:bodyPr/>
                    <a:lstStyle/>
                    <a:p>
                      <a:pPr algn="l" indent="0" marL="0">
                        <a:lnSpc>
                          <a:spcPts val="2880"/>
                        </a:lnSpc>
                        <a:buNone/>
                      </a:pPr>
                      <a:r>
                        <a:rPr lang="ja-JP" altLang="en-US" sz="2400" b="1" dirty="0">
                          <a:solidFill>
                            <a:srgbClr val="D55E00"/>
                          </a:solidFill>
                          <a:latin typeface="メイリオ" pitchFamily="34" charset="0"/>
                          <a:ea typeface="メイリオ" pitchFamily="34" charset="-122"/>
                          <a:cs typeface="メイリオ" pitchFamily="34" charset="-120"/>
                        </a:rPr>
                        <a:t>心房細動</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graphicFrame>
        <p:nvGraphicFramePr>
          <p:cNvPr id="16" name="Table 3"/>
          <p:cNvGraphicFramePr>
            <a:graphicFrameLocks noGrp="1"/>
          </p:cNvGraphicFramePr>
          <p:nvPr>
            <p:extLst>
              <p:ext uri="{D42A27DB-BD31-4B8C-83A1-F6EECF244321}">
                <p14:modId xmlns:p14="http://schemas.microsoft.com/office/powerpoint/2010/main" val="1579011935"/>
              </p:ext>
            </p:extLst>
          </p:nvPr>
        </p:nvGraphicFramePr>
        <p:xfrm>
          <a:off x="7860182" y="2157984"/>
          <a:ext cx="3734410" cy="914400"/>
        </p:xfrm>
        <a:graphic>
          <a:graphicData uri="http://schemas.openxmlformats.org/drawingml/2006/table">
            <a:tbl>
              <a:tblPr/>
              <a:tblGrid>
                <a:gridCol w="219456"/>
                <a:gridCol w="3514954"/>
              </a:tblGrid>
              <a:tr h="696773">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26518"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心拍数 100 超は</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術前に薬で整える</a:t>
                      </a:r>
                      <a:endParaRPr lang="en-US" sz="2200" dirty="0">
                        <a:latin typeface="メイリオ" charset="0"/>
                        <a:ea typeface="メイリオ" charset="0"/>
                        <a:cs typeface="メイリオ" charset="0"/>
                      </a:endParaRPr>
                    </a:p>
                  </a:txBody>
                  <a:tcPr marL="0" marR="0" marT="0" marB="26518" anchor="t">
                    <a:lnL w="0" cap="flat" cmpd="sng" algn="ctr">
                      <a:noFill/>
                    </a:lnL>
                    <a:lnR w="0" cap="flat" cmpd="sng" algn="ctr">
                      <a:noFill/>
                    </a:lnR>
                    <a:lnT w="0" cap="flat" cmpd="sng" algn="ctr">
                      <a:noFill/>
                    </a:lnT>
                    <a:lnB w="0" cap="flat" cmpd="sng" algn="ctr">
                      <a:noFill/>
                    </a:lnB>
                  </a:tcPr>
                </a:tc>
              </a:tr>
              <a:tr h="103235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26518"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新規の心房細動は術後に</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外来フォローと</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血栓リスク評価（I）</a:t>
                      </a:r>
                      <a:endParaRPr lang="en-US" sz="2200" dirty="0">
                        <a:latin typeface="メイリオ" charset="0"/>
                        <a:ea typeface="メイリオ" charset="0"/>
                        <a:cs typeface="メイリオ" charset="0"/>
                      </a:endParaRPr>
                    </a:p>
                  </a:txBody>
                  <a:tcPr marL="0" marR="0" marT="0" marB="26518" anchor="t">
                    <a:lnL w="0" cap="flat" cmpd="sng" algn="ctr">
                      <a:noFill/>
                    </a:lnL>
                    <a:lnR w="0" cap="flat" cmpd="sng" algn="ctr">
                      <a:noFill/>
                    </a:lnR>
                    <a:lnT w="0" cap="flat" cmpd="sng" algn="ctr">
                      <a:noFill/>
                    </a:lnT>
                    <a:lnB w="0" cap="flat" cmpd="sng" algn="ctr">
                      <a:noFill/>
                    </a:lnB>
                  </a:tcPr>
                </a:tc>
              </a:tr>
              <a:tr h="362102">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26518"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抗凝固薬の休薬は 4-12</a:t>
                      </a:r>
                      <a:endParaRPr lang="en-US" sz="2200" dirty="0">
                        <a:latin typeface="メイリオ" charset="0"/>
                        <a:ea typeface="メイリオ" charset="0"/>
                        <a:cs typeface="メイリオ" charset="0"/>
                      </a:endParaRPr>
                    </a:p>
                  </a:txBody>
                  <a:tcPr marL="0" marR="0" marT="0" marB="26518" anchor="t">
                    <a:lnL w="0" cap="flat" cmpd="sng" algn="ctr">
                      <a:noFill/>
                    </a:lnL>
                    <a:lnR w="0" cap="flat" cmpd="sng" algn="ctr">
                      <a:noFill/>
                    </a:lnR>
                    <a:lnT w="0" cap="flat" cmpd="sng" algn="ctr">
                      <a:noFill/>
                    </a:lnT>
                    <a:lnB w="0" cap="flat" cmpd="sng" algn="ctr">
                      <a:noFill/>
                    </a:lnB>
                  </a:tcPr>
                </a:tc>
              </a:tr>
              <a:tr h="67025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β遮断薬・Ca 拮抗薬は</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当日も続ける</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
        <p:nvSpPr>
          <p:cNvPr id="17" name="Shape 11"/>
          <p:cNvSpPr/>
          <p:nvPr/>
        </p:nvSpPr>
        <p:spPr>
          <a:xfrm>
            <a:off x="502920" y="5167274"/>
            <a:ext cx="11183112" cy="744322"/>
          </a:xfrm>
          <a:prstGeom prst="roundRect">
            <a:avLst>
              <a:gd name="adj" fmla="val 9828"/>
            </a:avLst>
          </a:prstGeom>
          <a:solidFill>
            <a:srgbClr val="FFFFFF"/>
          </a:solidFill>
          <a:ln w="31750">
            <a:solidFill>
              <a:srgbClr val="00A8AA"/>
            </a:solidFill>
            <a:prstDash val="solid"/>
          </a:ln>
        </p:spPr>
      </p:sp>
      <p:graphicFrame>
        <p:nvGraphicFramePr>
          <p:cNvPr id="18" name="Table 4"/>
          <p:cNvGraphicFramePr>
            <a:graphicFrameLocks noGrp="1"/>
          </p:cNvGraphicFramePr>
          <p:nvPr>
            <p:extLst>
              <p:ext uri="{D42A27DB-BD31-4B8C-83A1-F6EECF244321}">
                <p14:modId xmlns:p14="http://schemas.microsoft.com/office/powerpoint/2010/main" val="1579011935"/>
              </p:ext>
            </p:extLst>
          </p:nvPr>
        </p:nvGraphicFramePr>
        <p:xfrm>
          <a:off x="539496" y="5203850"/>
          <a:ext cx="11109960" cy="914400"/>
        </p:xfrm>
        <a:graphic>
          <a:graphicData uri="http://schemas.openxmlformats.org/drawingml/2006/table">
            <a:tbl>
              <a:tblPr/>
              <a:tblGrid>
                <a:gridCol w="11109960"/>
              </a:tblGrid>
              <a:tr h="335585">
                <a:tc>
                  <a:txBody>
                    <a:bodyPr/>
                    <a:lstStyle/>
                    <a:p>
                      <a:pPr algn="ctr"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設定を変えたら、</a:t>
                      </a:r>
                      <a:r>
                        <a:rPr lang="ja-JP" altLang="en-US" sz="2200" b="1" dirty="0">
                          <a:solidFill>
                            <a:srgbClr val="D55E00"/>
                          </a:solidFill>
                          <a:latin typeface="メイリオ" pitchFamily="34" charset="0"/>
                          <a:ea typeface="メイリオ" pitchFamily="34" charset="-122"/>
                          <a:cs typeface="メイリオ" pitchFamily="34" charset="-120"/>
                        </a:rPr>
                        <a:t>監視下を離れる前に戻す</a:t>
                      </a:r>
                      <a:r>
                        <a:rPr lang="ja-JP" altLang="en-US" sz="2200" b="1"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r h="335585">
                <a:tc>
                  <a:txBody>
                    <a:bodyPr/>
                    <a:lstStyle/>
                    <a:p>
                      <a:pPr algn="ctr"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磁石の置き場所を全員が知っておく</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肺高血圧：相談して、送る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心不全</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AS</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ステント</a:t>
            </a:r>
            <a:endParaRPr lang="ja-JP" sz="1050" dirty="0"/>
          </a:p>
        </p:txBody>
      </p:sp>
      <p:sp>
        <p:nvSpPr>
          <p:cNvPr id="7" name="Text 5"/>
          <p:cNvSpPr/>
          <p:nvPr/>
        </p:nvSpPr>
        <p:spPr>
          <a:xfrm>
            <a:off x="10707624"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CIED・</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AF</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Meyer S, et al. Eur Respir J 2013;41:1302-1307 / Ramakrishna G, et al. J Am Coll Cardiol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2005;45:1691-1699 / Thompson A, et al. Circulation 2024;150:e351-e442（2024 AHA/ACC）</a:t>
            </a:r>
            <a:endParaRPr lang="ja-JP" sz="1600" dirty="0"/>
          </a:p>
        </p:txBody>
      </p:sp>
      <p:sp>
        <p:nvSpPr>
          <p:cNvPr id="11" name="Text 9"/>
          <p:cNvSpPr txBox="1"/>
          <p:nvPr/>
        </p:nvSpPr>
        <p:spPr>
          <a:xfrm>
            <a:off x="502920" y="1737360"/>
            <a:ext cx="11155680" cy="2898648"/>
          </a:xfrm>
          <a:prstGeom prst="rect">
            <a:avLst/>
          </a:prstGeom>
          <a:noFill/>
          <a:ln/>
        </p:spPr>
        <p:txBody>
          <a:bodyPr wrap="square" lIns="0" tIns="0" rIns="0" bIns="0" rtlCol="0" anchor="t"/>
          <a:lstStyle/>
          <a:p>
            <a:pPr algn="l" marL="355600" indent="-355600">
              <a:spcAft>
                <a:spcPts val="1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定義：安静時の平均肺動脈圧 20 mmHg 超（2022 ESC/ERS）</a:t>
            </a:r>
            <a:endParaRPr lang="ja-JP" sz="2400" dirty="0"/>
          </a:p>
          <a:p>
            <a:pPr algn="l" marL="355600" indent="-355600">
              <a:spcAft>
                <a:spcPts val="1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非心臓手術の早期死亡 7%。肺動脈性肺高血圧の</a:t>
            </a:r>
            <a:r>
              <a:rPr lang="ja-JP" altLang="en-US" sz="2400" b="1" dirty="0">
                <a:solidFill>
                  <a:srgbClr val="C00000"/>
                </a:solidFill>
                <a:latin typeface="メイリオ" pitchFamily="34" charset="0"/>
                <a:ea typeface="メイリオ" pitchFamily="34" charset="-122"/>
                <a:cs typeface="メイリオ" pitchFamily="34" charset="-120"/>
              </a:rPr>
              <a:t>緊急手術は 15%</a:t>
            </a:r>
            <a:endParaRPr lang="ja-JP" sz="2400" dirty="0"/>
          </a:p>
          <a:p>
            <a:pPr algn="l" marL="355600" indent="-355600">
              <a:spcAft>
                <a:spcPts val="1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合併症を増やす：右房圧上昇、6 分間歩行 399 m 未満、昇圧薬、緊急</a:t>
            </a:r>
            <a:endParaRPr lang="ja-JP" sz="2400" dirty="0"/>
          </a:p>
          <a:p>
            <a:pPr algn="l" marL="355600" indent="-355600">
              <a:spcAft>
                <a:spcPts val="1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肺高血圧の治療薬は続ける（I）。心エコー・右心カテで層別化</a:t>
            </a:r>
            <a:endParaRPr lang="ja-JP" sz="2400" dirty="0"/>
          </a:p>
          <a:p>
            <a:pPr algn="l" marL="355600" indent="-355600">
              <a:spcAft>
                <a:spcPts val="1200"/>
              </a:spcAft>
              <a:buSzPct val="100000"/>
              <a:buChar char="•"/>
            </a:pPr>
            <a:r>
              <a:rPr lang="ja-JP" altLang="en-US" sz="2400" b="1" dirty="0">
                <a:solidFill>
                  <a:srgbClr val="D55E00"/>
                </a:solidFill>
                <a:latin typeface="メイリオ" pitchFamily="34" charset="0"/>
                <a:ea typeface="メイリオ" pitchFamily="34" charset="-122"/>
                <a:cs typeface="メイリオ" pitchFamily="34" charset="-120"/>
              </a:rPr>
              <a:t>避ける：</a:t>
            </a:r>
            <a:r>
              <a:rPr lang="ja-JP" altLang="en-US" sz="2400" dirty="0">
                <a:solidFill>
                  <a:srgbClr val="262626"/>
                </a:solidFill>
                <a:latin typeface="メイリオ" pitchFamily="34" charset="0"/>
                <a:ea typeface="メイリオ" pitchFamily="34" charset="-122"/>
                <a:cs typeface="メイリオ" pitchFamily="34" charset="-120"/>
              </a:rPr>
              <a:t>低酸素、高 CO2、アシドーシス、低体温、低血圧</a:t>
            </a:r>
            <a:endParaRPr lang="ja-JP" sz="2400" dirty="0"/>
          </a:p>
        </p:txBody>
      </p:sp>
      <p:sp>
        <p:nvSpPr>
          <p:cNvPr id="12" name="Shape 10"/>
          <p:cNvSpPr/>
          <p:nvPr/>
        </p:nvSpPr>
        <p:spPr>
          <a:xfrm>
            <a:off x="502920" y="4946904"/>
            <a:ext cx="11183112" cy="914400"/>
          </a:xfrm>
          <a:prstGeom prst="roundRect">
            <a:avLst>
              <a:gd name="adj" fmla="val 8000"/>
            </a:avLst>
          </a:prstGeom>
          <a:solidFill>
            <a:srgbClr val="FFFFFF"/>
          </a:solidFill>
          <a:ln w="31750">
            <a:solidFill>
              <a:srgbClr val="00A8AA"/>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4360" y="5038344"/>
          <a:ext cx="11000232" cy="914400"/>
        </p:xfrm>
        <a:graphic>
          <a:graphicData uri="http://schemas.openxmlformats.org/drawingml/2006/table">
            <a:tbl>
              <a:tblPr/>
              <a:tblGrid>
                <a:gridCol w="11000232"/>
              </a:tblGrid>
              <a:tr h="365760">
                <a:tc>
                  <a:txBody>
                    <a:bodyPr/>
                    <a:lstStyle/>
                    <a:p>
                      <a:pPr algn="ctr" indent="0" marL="0">
                        <a:lnSpc>
                          <a:spcPts val="2880"/>
                        </a:lnSpc>
                        <a:buNone/>
                      </a:pPr>
                      <a:r>
                        <a:rPr lang="ja-JP" altLang="en-US" sz="2400" b="1" dirty="0">
                          <a:solidFill>
                            <a:srgbClr val="262626"/>
                          </a:solidFill>
                          <a:latin typeface="メイリオ" pitchFamily="34" charset="0"/>
                          <a:ea typeface="メイリオ" pitchFamily="34" charset="-122"/>
                          <a:cs typeface="メイリオ" pitchFamily="34" charset="-120"/>
                        </a:rPr>
                        <a:t>待機手術は肺高血圧の診療経験がある施設へ。</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r h="365760">
                <a:tc>
                  <a:txBody>
                    <a:bodyPr/>
                    <a:lstStyle/>
                    <a:p>
                      <a:pPr algn="ctr" indent="0" marL="0">
                        <a:lnSpc>
                          <a:spcPts val="2880"/>
                        </a:lnSpc>
                        <a:buNone/>
                      </a:pPr>
                      <a:r>
                        <a:rPr lang="ja-JP" altLang="en-US" sz="2400" b="1" dirty="0">
                          <a:solidFill>
                            <a:srgbClr val="262626"/>
                          </a:solidFill>
                          <a:latin typeface="メイリオ" pitchFamily="34" charset="0"/>
                          <a:ea typeface="メイリオ" pitchFamily="34" charset="-122"/>
                          <a:cs typeface="メイリオ" pitchFamily="34" charset="-120"/>
                        </a:rPr>
                        <a:t>緊急なら</a:t>
                      </a:r>
                      <a:r>
                        <a:rPr lang="ja-JP" altLang="en-US" sz="2400" b="1" dirty="0">
                          <a:solidFill>
                            <a:srgbClr val="D55E00"/>
                          </a:solidFill>
                          <a:latin typeface="メイリオ" pitchFamily="34" charset="0"/>
                          <a:ea typeface="メイリオ" pitchFamily="34" charset="-122"/>
                          <a:cs typeface="メイリオ" pitchFamily="34" charset="-120"/>
                        </a:rPr>
                        <a:t>専門医に電話してから</a:t>
                      </a:r>
                      <a:endParaRPr lang="en-US" sz="24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心不全</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AS</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ステント</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CIED・</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AF</a:t>
            </a:r>
            <a:endParaRPr lang="ja-JP" sz="1050" dirty="0"/>
          </a:p>
        </p:txBody>
      </p:sp>
      <p:sp>
        <p:nvSpPr>
          <p:cNvPr id="8" name="Text 6"/>
          <p:cNvSpPr/>
          <p:nvPr/>
        </p:nvSpPr>
        <p:spPr>
          <a:xfrm>
            <a:off x="11384280"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Thompson A, et al. Circulation 2024;150:e351-e442/日本循環器学会 2022 年改訂版</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非心臓手術における合併心疾患ガイドライン/Hawn MT, et al. JAMA 2013;310:1462-1472</a:t>
            </a:r>
            <a:endParaRPr lang="ja-JP" sz="1600" dirty="0"/>
          </a:p>
        </p:txBody>
      </p:sp>
      <p:sp>
        <p:nvSpPr>
          <p:cNvPr id="11" name="Text 9"/>
          <p:cNvSpPr txBox="1"/>
          <p:nvPr/>
        </p:nvSpPr>
        <p:spPr>
          <a:xfrm>
            <a:off x="502920" y="1691640"/>
            <a:ext cx="11155680" cy="4206240"/>
          </a:xfrm>
          <a:prstGeom prst="rect">
            <a:avLst/>
          </a:prstGeom>
          <a:noFill/>
          <a:ln/>
        </p:spPr>
        <p:txBody>
          <a:bodyPr wrap="square" lIns="0" tIns="0" rIns="0" bIns="0" rtlCol="0" anchor="ctr"/>
          <a:lstStyle/>
          <a:p>
            <a:pPr algn="l" marL="355600" indent="-355600">
              <a:spcAft>
                <a:spcPts val="2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心不全：</a:t>
            </a:r>
            <a:r>
              <a:rPr lang="ja-JP" altLang="en-US" sz="2400" b="1" dirty="0">
                <a:solidFill>
                  <a:srgbClr val="D55E00"/>
                </a:solidFill>
                <a:latin typeface="メイリオ" pitchFamily="34" charset="0"/>
                <a:ea typeface="メイリオ" pitchFamily="34" charset="-122"/>
                <a:cs typeface="メイリオ" pitchFamily="34" charset="-120"/>
              </a:rPr>
              <a:t>非代償は延期</a:t>
            </a:r>
            <a:r>
              <a:rPr lang="ja-JP" altLang="en-US" sz="2400" dirty="0">
                <a:solidFill>
                  <a:srgbClr val="262626"/>
                </a:solidFill>
                <a:latin typeface="メイリオ" pitchFamily="34" charset="0"/>
                <a:ea typeface="メイリオ" pitchFamily="34" charset="-122"/>
                <a:cs typeface="メイリオ" pitchFamily="34" charset="-120"/>
              </a:rPr>
              <a:t>。β遮断薬は続け、SGLT2 は 3 日前に休薬</a:t>
            </a:r>
            <a:endParaRPr lang="ja-JP" sz="2400" dirty="0"/>
          </a:p>
          <a:p>
            <a:pPr algn="l" marL="355600" indent="-355600">
              <a:spcAft>
                <a:spcPts val="2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AS：雑音→心エコー。症候性・EF 50% 未満の重症は</a:t>
            </a:r>
            <a:r>
              <a:rPr lang="ja-JP" altLang="en-US" sz="2400" b="1" dirty="0">
                <a:solidFill>
                  <a:srgbClr val="0072B2"/>
                </a:solidFill>
                <a:latin typeface="メイリオ" pitchFamily="34" charset="0"/>
                <a:ea typeface="メイリオ" pitchFamily="34" charset="-122"/>
                <a:cs typeface="メイリオ" pitchFamily="34" charset="-120"/>
              </a:rPr>
              <a:t>ハートチームへ</a:t>
            </a:r>
            <a:endParaRPr lang="ja-JP" sz="2400" dirty="0"/>
          </a:p>
          <a:p>
            <a:pPr algn="l" marL="355600" indent="-355600">
              <a:spcAft>
                <a:spcPts val="2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AS の麻酔：前負荷・洞調律・血管抵抗を保ち、</a:t>
            </a:r>
            <a:r>
              <a:rPr lang="ja-JP" altLang="en-US" sz="2400" b="1" dirty="0">
                <a:solidFill>
                  <a:srgbClr val="D55E00"/>
                </a:solidFill>
                <a:latin typeface="メイリオ" pitchFamily="34" charset="0"/>
                <a:ea typeface="メイリオ" pitchFamily="34" charset="-122"/>
                <a:cs typeface="メイリオ" pitchFamily="34" charset="-120"/>
              </a:rPr>
              <a:t>低血圧を放置しない</a:t>
            </a:r>
            <a:endParaRPr lang="ja-JP" sz="2400" dirty="0"/>
          </a:p>
          <a:p>
            <a:pPr algn="l" marL="355600" indent="-355600">
              <a:spcAft>
                <a:spcPts val="2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ステント後：</a:t>
            </a:r>
            <a:r>
              <a:rPr lang="ja-JP" altLang="en-US" sz="2400" b="1" dirty="0">
                <a:solidFill>
                  <a:srgbClr val="D55E00"/>
                </a:solidFill>
                <a:latin typeface="メイリオ" pitchFamily="34" charset="0"/>
                <a:ea typeface="メイリオ" pitchFamily="34" charset="-122"/>
                <a:cs typeface="メイリオ" pitchFamily="34" charset="-120"/>
              </a:rPr>
              <a:t>30 日以内は不可</a:t>
            </a:r>
            <a:r>
              <a:rPr lang="ja-JP" altLang="en-US" sz="2400" dirty="0">
                <a:solidFill>
                  <a:srgbClr val="262626"/>
                </a:solidFill>
                <a:latin typeface="メイリオ" pitchFamily="34" charset="0"/>
                <a:ea typeface="メイリオ" pitchFamily="34" charset="-122"/>
                <a:cs typeface="メイリオ" pitchFamily="34" charset="-120"/>
              </a:rPr>
              <a:t>。P2Y12 中止なら安定 6・ACS 12 か月</a:t>
            </a:r>
            <a:endParaRPr lang="ja-JP" sz="2400" dirty="0"/>
          </a:p>
          <a:p>
            <a:pPr algn="l" marL="355600" indent="-355600">
              <a:spcAft>
                <a:spcPts val="2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CIED は手帳で確認し磁石の意味を知る。肺高血圧は</a:t>
            </a:r>
            <a:r>
              <a:rPr lang="ja-JP" altLang="en-US" sz="2400" b="1" dirty="0">
                <a:solidFill>
                  <a:srgbClr val="0072B2"/>
                </a:solidFill>
                <a:latin typeface="メイリオ" pitchFamily="34" charset="0"/>
                <a:ea typeface="メイリオ" pitchFamily="34" charset="-122"/>
                <a:cs typeface="メイリオ" pitchFamily="34" charset="-120"/>
              </a:rPr>
              <a:t>専門施設へ</a:t>
            </a:r>
            <a:endParaRPr lang="ja-JP"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4-8 心疾患別の注意点</dc:title>
  <dc:subject/>
  <dc:creator>Anes-lecture</dc:creator>
  <cp:lastModifiedBy>Anes-lecture</cp:lastModifiedBy>
  <cp:revision>1</cp:revision>
  <dcterms:created xsi:type="dcterms:W3CDTF">2026-10-16T00:05:36Z</dcterms:created>
  <dcterms:modified xsi:type="dcterms:W3CDTF">2026-10-16T00:05:36Z</dcterms:modified>
</cp:coreProperties>
</file>