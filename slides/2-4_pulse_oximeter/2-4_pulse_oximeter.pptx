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パルスオキシメータは、動脈血の酸素飽和度（SpO2: 経皮的動脈血酸素飽和度）を、指などに光を当てて連続的に測るモニターである。日本麻酔科学会のモニター指針で、酸素化のチェックのために装着が求められている。この回では、原理、数値の意味（PaO2 との関係と精度）、表示の遅れ、誤差の要因、現場での使い方を扱う。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原理: 酸素化ヘモグロビンと還元ヘモグロビンは、光の吸収の仕方が波長で違う。赤色光（約 660 nm）は還元ヘモグロビンがよく吸収し、赤外光（約 940 nm）は酸素化ヘモグロビンがよく吸収する。2つの波長の吸収の比から、酸素飽和度を推定する（赤外の波長は機種により多少異なる）。</a:t>
            </a:r>
          </a:p>
          <a:p>
            <a:r>
              <a:rPr lang="ja-JP" altLang="en-US" dirty="0"/>
              <a:t>脈動成分: 指を通る光は、組織・静脈血・動脈血で吸収される。このうち心拍にあわせて変わる（脈動する）成分だけが動脈血によるもので、変わらない成分（組織・静脈血）と分けて計算する。だから「パルス（脈）」オキシメータという。脈動が弱い（低灌流、冷え）と計算できない。</a:t>
            </a:r>
          </a:p>
          <a:p>
            <a:r>
              <a:rPr lang="ja-JP" altLang="en-US" dirty="0"/>
              <a:t>校正: 吸収の比と SaO2（動脈血ガスで測った実際の飽和度）の関係は、健康なボランティアの血液の酸素を下げて作った校正曲線（通常 70% まで）に基づく。70% 未満は外挿で、精度は保証されない。</a:t>
            </a:r>
          </a:p>
          <a:p>
            <a:r>
              <a:rPr lang="ja-JP" altLang="en-US" dirty="0"/>
              <a:t>機能的飽和度: SpO2 は、酸素化ヘモグロビンと還元ヘモグロビンの合計に対する酸素化ヘモグロビンの割合（機能的飽和度）に相当する。一酸化炭素ヘモグロビンやメトヘモグロビンは区別できない（→ 誤差の章）。</a:t>
            </a:r>
          </a:p>
          <a:p>
            <a:r>
              <a:rPr lang="ja-JP" altLang="en-US" dirty="0"/>
              <a:t>脈波: 脈動成分の波形（プレチスモグラム）も表示される。数値が信頼できるかの判断に使う（→ S8）。</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酸素解離曲線: 動脈血の酸素分圧（PaO2）と酸素飽和度（SaO2）の関係は S 字になる。PaO2 が 60 mmHg のとき SaO2 は約 90%、PaO2 が 90〜100 mmHg のとき約 97〜98%、150 mmHg で約 99% となり、それより上では曲線はほぼ平らになる（200 mmHg で 99.7%）。酸素投与中の患者で PaO2 が 200 mmHg でも 500 mmHg でも SpO2 は 100% と表示される。だから、SpO2 100% の患者で PaO2 が下がり始めても、曲線の肩（PaO2 約 60〜70 mmHg）に来るまで SpO2 は動かない。高濃度の酸素を投与している患者では、SpO2 が下がり始めたときにはすでに大きく悪化している。</a:t>
            </a:r>
          </a:p>
          <a:p>
            <a:r>
              <a:rPr lang="ja-JP" altLang="en-US" dirty="0"/>
              <a:t>曲線の移動: 発熱、アシドーシス、高二酸化炭素血症、2,3-DPG の増加で曲線は右に移動し（同じ PaO2 で SaO2 が低い）、低体温、アルカローシスで左に移動する。一酸化炭素ヘモグロビン、胎児ヘモグロビン、2,3-DPG の減少、低二酸化炭素血症でも左に移動する。だから SpO2 から PaO2 を正確に逆算はできない。</a:t>
            </a:r>
          </a:p>
          <a:p>
            <a:r>
              <a:rPr lang="ja-JP" altLang="en-US" dirty="0"/>
              <a:t>使い方の要点: SpO2 は「酸素化が保たれているか」を見るのに向き、「どれだけ余裕があるか」は分からない。余裕を知りたいときは動脈血ガスで PaO2 を測る。</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精度: 米国 FDA の審査ガイダンス（2013 年 3 月 4 日）では、SaO2 70〜100% の範囲で、動脈血（CO-オキシメトリ）の SaO2 と比べた二乗平均平方根誤差（Arms）が 3.0% 以下（透過型の指クリップなど）、3.5% 以下（反射型など）であることが求められる。国際規格 ISO 80601-2-61（国内は JIS T 80601-2-61）の要求は 4.0% 以下。市販機の公称値は 2〜3% が多い。Arms は、ずれ（バイアス）とばらつきを合わせた指標で、バイアスが小さく誤差が正規分布に近ければ、測定のおよそ 2/3（約 68%）が真の値の ±Arms に入る。「誤差は最大 3%」ではない【要確認: FDA で 3.5% になるセンサーの区分（耳クリップを含むか）】。</a:t>
            </a:r>
          </a:p>
          <a:p>
            <a:r>
              <a:rPr lang="ja-JP" altLang="en-US" dirty="0"/>
              <a:t>皮膚の色: 2020 年の米国の後ろ向き研究（Sjoding ら、NEJM のレター）では、SpO2 が 92〜96% だった測定のうち、10 分以内に採った動脈血ガス（CO-オキシメトリ）で SaO2 が 88% 未満だった「隠れた低酸素血症」の割合が、黒人患者の測定で 11.7%（88/749）、白人患者の測定で 3.6%（99/2778）と約 3 倍だった（ミシガン大学の酸素投与中の入院患者。178 病院の ICU のコホートでは 17.0% 対 6.2%）。人種は自己申告で、皮膚の色そのものは測っていない。皮膚の色が濃いと、低い飽和度で SpO2 が実際より高めに出て、低酸素になるほどずれが大きくなることは、ボランティアの研究（Bickler ら 2005）で示されている。米国 FDA は 2021 年 2 月に安全性情報で注意を促し、2025 年 1 月には、肌の色の異なる被験者を増やした臨床試験などを求める新しい審査ガイダンスの草案を公表した【要確認: FDA の最新の方針（草案の確定）】。</a:t>
            </a:r>
          </a:p>
          <a:p>
            <a:r>
              <a:rPr lang="ja-JP" altLang="en-US" dirty="0"/>
              <a:t>実務: SpO2 と患者の状態（顔色、呼吸、脈波の形）が合わないとき、SpO2 が低めの範囲（90% 台前半）で管理しているときは、動脈血ガスで確かめる。値が合わなければ血ガス（CO-オキシメトリで実測した SaO2。PaO2 からの計算値ではない）を信じる。</a:t>
            </a:r>
          </a:p>
          <a:p>
            <a:r>
              <a:rPr lang="ja-JP" altLang="en-US" dirty="0"/>
              <a:t>出典（全文）: U.S. FDA. Pulse Oximeters – Premarket Notification Submissions [510(k)s]: Guidance (2013) / Sjoding MW, et al. N Engl J Med 2020;383:2477-2478 / Bickler PE, et al. Anesthesiology 2005;102:715-719</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遅れの内訳: 肺で酸素化が落ちてから、その血液が測定部位に届くまでの循環時間（心臓から耳までは短く、指までは長い）と、装置が数拍〜十数秒の値を平均して表示する時間（設定で変えられる機種が多い）の合計。指では、低酸素が始まってから表示に出るまで数十秒かかることがあり、低灌流（ショック、昇圧薬、冷え）や末梢の血管収縮ではさらに遅れる。全身麻酔の導入時の無呼吸で、SpO2 90% を検出するまで額で 94 秒、指で 100 秒かかった（Choi 2010）。軽度の低体温では、指の応答時間が 130 秒から 215 秒に延び、額と耳は変わらなかった（MacLeod 2005）。足趾は手よりさらに約 1 分遅れる（Hamber 1999）。耳や額のセンサーは循環時間が短いぶん早い。</a:t>
            </a:r>
          </a:p>
          <a:p>
            <a:r>
              <a:rPr lang="ja-JP" altLang="en-US" dirty="0"/>
              <a:t>平均化: 平均化の時間を短くすると変化に早く追従するが、体動などのノイズに弱くなる。長くすると安定するが遅れる。</a:t>
            </a:r>
          </a:p>
          <a:p>
            <a:r>
              <a:rPr lang="ja-JP" altLang="en-US" dirty="0"/>
              <a:t>実務: 無呼吸や回路外れは、カプノグラフィが数呼吸で検出する（→ 2-5a）。SpO2 の低下を待っていると対応が遅れる。SpO2 が下がり始めたら、すでに数十秒前から酸素化が落ちていると考える。</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酸素予備: 無呼吸になっても、肺（機能的残気量）に酸素が残っている間は SpO2 は下がらない。前酸素化（100% 酸素を数分吸わせて肺の中の窒素を酸素に置き換える）で、この予備が増える。前酸素化が十分な健康成人では、無呼吸になってから SpO2 が 90% に落ちるまで数分の余裕があるが、肥満、小児、妊婦、肺疾患では機能的残気量が小さい、または酸素消費が多いため、ずっと早く落ちる（Benumof らの計算モデルでは、十分な前酸素化の後に無呼吸になってから SaO2 が 90% に落ちるまで、健康な 70 kg の成人で約 8 分、中等症の 70 kg の成人で約 5 分、肥満［127 kg］の成人で約 3 分、健康な 10 kg の小児で約 4 分【要確認: Benumof 1997 Fig. 1 の数値（肥満は 2.7 分か 3.1 分か）】）。</a:t>
            </a:r>
          </a:p>
          <a:p>
            <a:r>
              <a:rPr lang="ja-JP" altLang="en-US" dirty="0"/>
              <a:t>急な低下: SpO2 は酸素解離曲線の肩を越えると急に下がる。90% を切ってからの低下は速いので、「まだ 90% ある」と考えない。</a:t>
            </a:r>
          </a:p>
          <a:p>
            <a:r>
              <a:rPr lang="ja-JP" altLang="en-US" dirty="0"/>
              <a:t>実務: 前酸素化を省かない、挿管に手間取ったらマスク換気に戻る判断を早くする（→ 7-3、7-6）。</a:t>
            </a:r>
          </a:p>
          <a:p>
            <a:r>
              <a:rPr lang="ja-JP" altLang="en-US" dirty="0"/>
              <a:t>出典（全文）: Benumof JL, et al. Critical hemoglobin desaturation will occur before return to an unparalyzed state following 1 mg/kg intravenous succinylcholine. Anesthesiology 1997;87:979-982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体動・シバリング: 脈動成分にノイズが乗り、値と脈拍数が乱れる。脈拍数が心電図の心拍数と合わないときは、SpO2 の値も信用しない。</a:t>
            </a:r>
          </a:p>
          <a:p>
            <a:r>
              <a:rPr lang="ja-JP" altLang="en-US" dirty="0"/>
              <a:t>低灌流: 脈動が小さいと計算できない。血圧計のカフを巻いた腕では、測定中に値が消える。冷えた手は温める。測定部位を耳や額に変える。</a:t>
            </a:r>
          </a:p>
          <a:p>
            <a:r>
              <a:rPr lang="ja-JP" altLang="en-US" dirty="0"/>
              <a:t>光と電気メス: 周囲の強い光はセンサーを覆って防ぐ。電気メスのノイズは一時的。</a:t>
            </a:r>
          </a:p>
          <a:p>
            <a:r>
              <a:rPr lang="ja-JP" altLang="en-US" dirty="0"/>
              <a:t>マニキュア・人工爪: 濃い色（黒、青、緑、茶、紫など）のマニキュアは光を吸収するため、SpO2 がやや低めに出たり、測れなかったりすることがある。多くの研究で差は小さく（ICU 患者では平均 2% 未満）、臨床的に問題になることは少ないが、最大 6% 程度低く出たという報告もある。アクリルの人工爪でも、機種によっては誤差が出る。落とすのが確実で、できなければ別の指や耳・額につける。指の横（爪を避ける向き）につける方法もあるが、誤差がなくならないことがある。</a:t>
            </a:r>
          </a:p>
          <a:p>
            <a:r>
              <a:rPr lang="ja-JP" altLang="en-US" dirty="0"/>
              <a:t>色素: メチレンブルー、インドシアニングリーンなどの静注後、数分間 SpO2 が低く表示される（実際には低酸素ではない）。メチレンブルーは赤色光（660 nm 付近）をよく吸収するため低下が大きく、ICG は小さい。センチネルリンパ節生検で皮下に注射する色素（パテントブルーなど）でも低く出ることがある【要確認: 出典】。</a:t>
            </a:r>
          </a:p>
          <a:p>
            <a:r>
              <a:rPr lang="ja-JP" altLang="en-US" dirty="0"/>
              <a:t>一酸化炭素ヘモグロビン（CO-Hb）: 通常の2波長のパルスオキシメータは CO-Hb を酸素化ヘモグロビンとほぼ同じに読むため、一酸化炭素中毒や重喫煙者では SpO2 が実際の酸素運搬能より高く出る（犬の実験で、CO-Hb を上げて実際の酸素化ヘモグロビンが 30% 未満になっても、SpO2 は 90% 超を示した。SpO2 ≈ CO-Hb＋酸素化 Hb）。</a:t>
            </a:r>
          </a:p>
          <a:p>
            <a:r>
              <a:rPr lang="ja-JP" altLang="en-US" dirty="0"/>
              <a:t>メトヘモグロビン（Met-Hb）: 2つの波長をほぼ同じだけ吸収するため、Met-Hb が増えると SpO2 は実際の値にかかわらず 85% 付近に近づく（犬の実験で、Met-Hb が高度になると SpO2 は 84〜86% で動かなくなった。真の SaO2 が 85% より高いときは低めに、低いときは高めに出る）。局所麻酔薬（プリロカイン、ベンゾカインなど）や一部の薬で起こる。</a:t>
            </a:r>
          </a:p>
          <a:p>
            <a:r>
              <a:rPr lang="ja-JP" altLang="en-US" dirty="0"/>
              <a:t>静脈の拍動: センサーを強く締めすぎたり、三尖弁逆流で静脈が拍動したりすると、静脈血も脈動成分に入り、低く出る。</a:t>
            </a:r>
          </a:p>
          <a:p>
            <a:r>
              <a:rPr lang="ja-JP" altLang="en-US" dirty="0"/>
              <a:t>皮膚の色: 濃い皮膚で高めに出ることがある（→ S4）。</a:t>
            </a:r>
          </a:p>
          <a:p>
            <a:r>
              <a:rPr lang="ja-JP" altLang="en-US" dirty="0"/>
              <a:t>多波長のパルス CO-オキシメータは CO-Hb や Met-Hb も測れるが、通常の機種では血液ガス（CO-オキシメトリ）で確かめる。</a:t>
            </a:r>
          </a:p>
          <a:p>
            <a:r>
              <a:rPr lang="ja-JP" altLang="en-US" dirty="0"/>
              <a:t>出典（全文）: Barker SJ, Tremper KK. Anesthesiology 1987;66:677-679 / Barker SJ, et al. Anesthesiology 1989;70:112-117 / Coté CJ, et al. Anesth Analg 1988;67:683-686 / Hinkelbein J, et al. Resuscitation 2007;72:82-91 / Scheller MS, et al. Anesthesiology 1986;65:550-552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脈波: 規則的で、立ち上がりが急で、重複切痕のある波形なら、脈動成分がきちんと取れている。不規則、小さい、ノイズが乗っている波形のときは、数値が出ていても信用しない。</a:t>
            </a:r>
          </a:p>
          <a:p>
            <a:r>
              <a:rPr lang="ja-JP" altLang="en-US" dirty="0"/>
              <a:t>脈拍数: パルスオキシメータの脈拍数が心電図の心拍数と一致していれば、脈動を正しく拾っている。合わないときは体動やノイズを疑う。</a:t>
            </a:r>
          </a:p>
          <a:p>
            <a:r>
              <a:rPr lang="ja-JP" altLang="en-US" dirty="0"/>
              <a:t>灌流指標（PI: perfusion index）: 脈動成分と非脈動成分の比。低いと脈動が小さく、値が不安定になる。部位を変える、手を温める、センサーを締めすぎない。</a:t>
            </a:r>
          </a:p>
          <a:p>
            <a:r>
              <a:rPr lang="ja-JP" altLang="en-US" dirty="0"/>
              <a:t>呼吸性変動: 陽圧換気中に脈波の振幅が呼吸にあわせて大きく揺れるときは、循環血液量が足りない可能性がある。判断の仕方は 9-8（輸液反応性の評価）で扱う。</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センサーの位置: 指が基本。血圧計のカフと同じ腕では測定中に値が消えるので、反対側につける。手が使えないときは耳、額（反射型）、足趾（小児）。足趾は表示が遅れる（健康成人で手より約 57 秒、耳より約 63 秒遅れた。小児では足趾と手指の遅れはほぼ同じで、どちらも頬より遅い）。</a:t>
            </a:r>
          </a:p>
          <a:p>
            <a:r>
              <a:rPr lang="ja-JP" altLang="en-US" dirty="0"/>
              <a:t>アラーム: SpO2 の下限は患者ごとに決める。普段から SpO2 が低い患者（COPD など）では、普段の値を基準にする。同期音は可変ピッチ（SpO2 が下がると音程が下がる）で鳴らし、下限アラームが聞こえる状態にしておく（ASA の基本モニタリング基準）。</a:t>
            </a:r>
          </a:p>
          <a:p>
            <a:r>
              <a:rPr lang="ja-JP" altLang="en-US" dirty="0"/>
              <a:t>下がったときの順番: まずセンサー（外れ、ずれ、光の漏れ、脈波の形）、次に患者（胸の動き、呼吸音、顔色、脈）、次に回路（接続、気道内圧、EtCO2）。値が本物の低下なら、酸素濃度を上げ、用手換気に切り替え、原因を探す（→ 6-4 低酸素血症）。</a:t>
            </a:r>
          </a:p>
          <a:p>
            <a:r>
              <a:rPr lang="ja-JP" altLang="en-US" dirty="0"/>
              <a:t>酸素投与中の落とし穴: 酸素を投与している患者では、換気が落ちても SpO2 が保たれる。病棟や鎮静中では、呼吸数と呼吸の深さ、可能ならカプノグラフィで換気を見る（→ 2-5a）。</a:t>
            </a:r>
          </a:p>
          <a:p>
            <a:r>
              <a:rPr lang="ja-JP" altLang="en-US" dirty="0"/>
              <a:t>長時間の装着: 同じ指に長時間つけると、圧迫による皮膚障害や、まれに熱傷が起こる。添付文書の間隔（製品によっては少なくとも 2 時間ごと）で部位を変え、皮膚を観察する（日本医療機能評価機構 医療安全情報 No.161）。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分）。原理は2波長の吸収の比と脈動成分の抽出。SpO2 90% が PaO2 60 mmHg に相当し、100% では酸素の余裕は分からない。精度（Arms）は 2〜3% で、低い値と濃い皮膚で誤差が増える。表示は循環時間と平均化のぶん遅れるので、無呼吸は EtCO2 で気づく。脈波の形と脈拍数が合うときだけ数値を信じ、合わないときは血液ガスで確かめる。</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パルスオキシメータ</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2-4 モニタリング</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何を測っているか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数値</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遅れ</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誤差</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Jubran A. Pulse oximetry. Crit Care 2015;19:272</a:t>
            </a:r>
            <a:endParaRPr lang="ja-JP" sz="1600" dirty="0"/>
          </a:p>
        </p:txBody>
      </p:sp>
      <p:sp>
        <p:nvSpPr>
          <p:cNvPr id="11" name="Shape 9"/>
          <p:cNvSpPr/>
          <p:nvPr/>
        </p:nvSpPr>
        <p:spPr>
          <a:xfrm>
            <a:off x="1737360" y="3543300"/>
            <a:ext cx="2743200" cy="1463040"/>
          </a:xfrm>
          <a:prstGeom prst="roundRect">
            <a:avLst>
              <a:gd name="adj" fmla="val 43750"/>
            </a:avLst>
          </a:prstGeom>
          <a:solidFill>
            <a:srgbClr val="F2F2F2"/>
          </a:solidFill>
          <a:ln w="19050">
            <a:solidFill>
              <a:srgbClr val="7F7F7F"/>
            </a:solidFill>
            <a:prstDash val="solid"/>
          </a:ln>
        </p:spPr>
      </p:sp>
      <p:sp>
        <p:nvSpPr>
          <p:cNvPr id="12" name="Shape 10"/>
          <p:cNvSpPr/>
          <p:nvPr/>
        </p:nvSpPr>
        <p:spPr>
          <a:xfrm>
            <a:off x="2217420" y="3131820"/>
            <a:ext cx="502920" cy="411480"/>
          </a:xfrm>
          <a:prstGeom prst="rect">
            <a:avLst/>
          </a:prstGeom>
          <a:solidFill>
            <a:srgbClr val="D55E00"/>
          </a:solidFill>
          <a:ln/>
        </p:spPr>
      </p:sp>
      <p:sp>
        <p:nvSpPr>
          <p:cNvPr id="13" name="Shape 11"/>
          <p:cNvSpPr/>
          <p:nvPr/>
        </p:nvSpPr>
        <p:spPr>
          <a:xfrm>
            <a:off x="3497580" y="3131820"/>
            <a:ext cx="502920" cy="411480"/>
          </a:xfrm>
          <a:prstGeom prst="rect">
            <a:avLst/>
          </a:prstGeom>
          <a:solidFill>
            <a:srgbClr val="7F7F7F"/>
          </a:solidFill>
          <a:ln/>
        </p:spPr>
      </p:sp>
      <p:sp>
        <p:nvSpPr>
          <p:cNvPr id="14" name="Shape 12"/>
          <p:cNvSpPr/>
          <p:nvPr/>
        </p:nvSpPr>
        <p:spPr>
          <a:xfrm>
            <a:off x="2057400" y="5006340"/>
            <a:ext cx="2103120" cy="384048"/>
          </a:xfrm>
          <a:prstGeom prst="rect">
            <a:avLst/>
          </a:prstGeom>
          <a:solidFill>
            <a:srgbClr val="404040"/>
          </a:solidFill>
          <a:ln/>
        </p:spPr>
      </p:sp>
      <p:sp>
        <p:nvSpPr>
          <p:cNvPr id="15" name="Shape 13"/>
          <p:cNvSpPr/>
          <p:nvPr/>
        </p:nvSpPr>
        <p:spPr>
          <a:xfrm>
            <a:off x="2468880" y="3598164"/>
            <a:ext cx="0" cy="1371600"/>
          </a:xfrm>
          <a:prstGeom prst="line">
            <a:avLst/>
          </a:prstGeom>
          <a:noFill/>
          <a:ln w="44450">
            <a:solidFill>
              <a:srgbClr val="D55E00"/>
            </a:solidFill>
            <a:prstDash val="solid"/>
            <a:tailEnd type="triangle"/>
          </a:ln>
        </p:spPr>
      </p:sp>
      <p:sp>
        <p:nvSpPr>
          <p:cNvPr id="16" name="Shape 14"/>
          <p:cNvSpPr/>
          <p:nvPr/>
        </p:nvSpPr>
        <p:spPr>
          <a:xfrm>
            <a:off x="3749040" y="3598164"/>
            <a:ext cx="0" cy="1371600"/>
          </a:xfrm>
          <a:prstGeom prst="line">
            <a:avLst/>
          </a:prstGeom>
          <a:noFill/>
          <a:ln w="44450">
            <a:solidFill>
              <a:srgbClr val="7F7F7F"/>
            </a:solidFill>
            <a:prstDash val="solid"/>
            <a:tailEnd type="triangle"/>
          </a:ln>
        </p:spPr>
      </p:sp>
      <p:sp>
        <p:nvSpPr>
          <p:cNvPr id="17" name="Text 15"/>
          <p:cNvSpPr txBox="1"/>
          <p:nvPr/>
        </p:nvSpPr>
        <p:spPr>
          <a:xfrm>
            <a:off x="1965960" y="2473452"/>
            <a:ext cx="1005840" cy="420624"/>
          </a:xfrm>
          <a:prstGeom prst="rect">
            <a:avLst/>
          </a:prstGeom>
          <a:noFill/>
          <a:ln/>
        </p:spPr>
        <p:txBody>
          <a:bodyPr wrap="square" lIns="0" tIns="0" rIns="0" bIns="0" rtlCol="0" anchor="ctr"/>
          <a:lstStyle/>
          <a:p>
            <a:pPr algn="ctr" indent="0" marL="0">
              <a:buNone/>
            </a:pPr>
            <a:r>
              <a:rPr lang="ja-JP" altLang="en-US" sz="2200" b="1" dirty="0">
                <a:solidFill>
                  <a:srgbClr val="D55E00"/>
                </a:solidFill>
                <a:latin typeface="メイリオ" pitchFamily="34" charset="0"/>
                <a:ea typeface="メイリオ" pitchFamily="34" charset="-122"/>
                <a:cs typeface="メイリオ" pitchFamily="34" charset="-120"/>
              </a:rPr>
              <a:t>赤色光</a:t>
            </a:r>
            <a:endParaRPr lang="ja-JP" sz="2200" dirty="0"/>
          </a:p>
        </p:txBody>
      </p:sp>
      <p:sp>
        <p:nvSpPr>
          <p:cNvPr id="18" name="Text 16"/>
          <p:cNvSpPr txBox="1"/>
          <p:nvPr/>
        </p:nvSpPr>
        <p:spPr>
          <a:xfrm>
            <a:off x="3246120" y="2473452"/>
            <a:ext cx="1005840" cy="420624"/>
          </a:xfrm>
          <a:prstGeom prst="rect">
            <a:avLst/>
          </a:prstGeom>
          <a:noFill/>
          <a:ln/>
        </p:spPr>
        <p:txBody>
          <a:bodyPr wrap="square" lIns="0" tIns="0" rIns="0" bIns="0" rtlCol="0" anchor="ctr"/>
          <a:lstStyle/>
          <a:p>
            <a:pPr algn="ctr" indent="0" marL="0">
              <a:buNone/>
            </a:pPr>
            <a:r>
              <a:rPr lang="ja-JP" altLang="en-US" sz="2200" b="1" dirty="0">
                <a:solidFill>
                  <a:srgbClr val="595959"/>
                </a:solidFill>
                <a:latin typeface="メイリオ" pitchFamily="34" charset="0"/>
                <a:ea typeface="メイリオ" pitchFamily="34" charset="-122"/>
                <a:cs typeface="メイリオ" pitchFamily="34" charset="-120"/>
              </a:rPr>
              <a:t>赤外光</a:t>
            </a:r>
            <a:endParaRPr lang="ja-JP" sz="2200" dirty="0"/>
          </a:p>
        </p:txBody>
      </p:sp>
      <p:sp>
        <p:nvSpPr>
          <p:cNvPr id="19" name="Text 17"/>
          <p:cNvSpPr txBox="1"/>
          <p:nvPr/>
        </p:nvSpPr>
        <p:spPr>
          <a:xfrm>
            <a:off x="502920" y="3127248"/>
            <a:ext cx="1005840" cy="420624"/>
          </a:xfrm>
          <a:prstGeom prst="rect">
            <a:avLst/>
          </a:prstGeom>
          <a:noFill/>
          <a:ln/>
        </p:spPr>
        <p:txBody>
          <a:bodyPr wrap="square" lIns="0" tIns="0" rIns="0" bIns="0" rtlCol="0" anchor="ctr"/>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発光部</a:t>
            </a:r>
            <a:endParaRPr lang="ja-JP" sz="2200" dirty="0"/>
          </a:p>
        </p:txBody>
      </p:sp>
      <p:sp>
        <p:nvSpPr>
          <p:cNvPr id="20" name="Text 18"/>
          <p:cNvSpPr txBox="1"/>
          <p:nvPr/>
        </p:nvSpPr>
        <p:spPr>
          <a:xfrm>
            <a:off x="502920" y="4064508"/>
            <a:ext cx="1005840" cy="420624"/>
          </a:xfrm>
          <a:prstGeom prst="rect">
            <a:avLst/>
          </a:prstGeom>
          <a:noFill/>
          <a:ln/>
        </p:spPr>
        <p:txBody>
          <a:bodyPr wrap="square" lIns="0" tIns="0" rIns="0" bIns="0" rtlCol="0" anchor="ctr"/>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指</a:t>
            </a:r>
            <a:endParaRPr lang="ja-JP" sz="2200" dirty="0"/>
          </a:p>
        </p:txBody>
      </p:sp>
      <p:sp>
        <p:nvSpPr>
          <p:cNvPr id="21" name="Text 19"/>
          <p:cNvSpPr txBox="1"/>
          <p:nvPr/>
        </p:nvSpPr>
        <p:spPr>
          <a:xfrm>
            <a:off x="502920" y="4988052"/>
            <a:ext cx="1005840" cy="420624"/>
          </a:xfrm>
          <a:prstGeom prst="rect">
            <a:avLst/>
          </a:prstGeom>
          <a:noFill/>
          <a:ln/>
        </p:spPr>
        <p:txBody>
          <a:bodyPr wrap="square" lIns="0" tIns="0" rIns="0" bIns="0" rtlCol="0" anchor="ctr"/>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受光部</a:t>
            </a:r>
            <a:endParaRPr lang="ja-JP" sz="2200" dirty="0"/>
          </a:p>
        </p:txBody>
      </p:sp>
      <p:sp>
        <p:nvSpPr>
          <p:cNvPr id="22" name="Text 20"/>
          <p:cNvSpPr txBox="1"/>
          <p:nvPr/>
        </p:nvSpPr>
        <p:spPr>
          <a:xfrm>
            <a:off x="4800600" y="2011680"/>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3" name="Text 21"/>
          <p:cNvSpPr txBox="1"/>
          <p:nvPr/>
        </p:nvSpPr>
        <p:spPr>
          <a:xfrm>
            <a:off x="5184648" y="2011680"/>
            <a:ext cx="650138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赤色光（660 nm）と</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赤外光（940 nm）の吸収の比</a:t>
            </a:r>
            <a:endParaRPr lang="ja-JP" sz="2400" dirty="0"/>
          </a:p>
        </p:txBody>
      </p:sp>
      <p:sp>
        <p:nvSpPr>
          <p:cNvPr id="24" name="Text 22"/>
          <p:cNvSpPr txBox="1"/>
          <p:nvPr/>
        </p:nvSpPr>
        <p:spPr>
          <a:xfrm>
            <a:off x="4800600" y="3291840"/>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5" name="Text 23"/>
          <p:cNvSpPr txBox="1"/>
          <p:nvPr/>
        </p:nvSpPr>
        <p:spPr>
          <a:xfrm>
            <a:off x="5184648" y="3291840"/>
            <a:ext cx="650138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脈で変わる成分（動脈血）だけを取り出す</a:t>
            </a:r>
            <a:endParaRPr lang="ja-JP" sz="2400" dirty="0"/>
          </a:p>
        </p:txBody>
      </p:sp>
      <p:sp>
        <p:nvSpPr>
          <p:cNvPr id="26" name="Text 24"/>
          <p:cNvSpPr txBox="1"/>
          <p:nvPr/>
        </p:nvSpPr>
        <p:spPr>
          <a:xfrm>
            <a:off x="4800600" y="4114800"/>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7" name="Text 25"/>
          <p:cNvSpPr txBox="1"/>
          <p:nvPr/>
        </p:nvSpPr>
        <p:spPr>
          <a:xfrm>
            <a:off x="5184648" y="4114800"/>
            <a:ext cx="650138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SpO2 ＝ 酸素化ヘモグロビンの割合</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（機能的飽和度）</a:t>
            </a:r>
            <a:endParaRPr lang="ja-JP" sz="2400" dirty="0"/>
          </a:p>
        </p:txBody>
      </p:sp>
      <p:sp>
        <p:nvSpPr>
          <p:cNvPr id="28" name="Text 26"/>
          <p:cNvSpPr txBox="1"/>
          <p:nvPr/>
        </p:nvSpPr>
        <p:spPr>
          <a:xfrm>
            <a:off x="4800600" y="5394960"/>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9" name="Text 27"/>
          <p:cNvSpPr txBox="1"/>
          <p:nvPr/>
        </p:nvSpPr>
        <p:spPr>
          <a:xfrm>
            <a:off x="5184648" y="5394960"/>
            <a:ext cx="650138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脈波（プレチスモグラム）も表示する</a:t>
            </a:r>
            <a:endParaRPr lang="ja-JP"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SpO2 と PaO2 の関係</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数値</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遅れ</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誤差</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Severinghaus JW. J Appl Physiol 1979;46:599-602</a:t>
            </a:r>
            <a:endParaRPr lang="ja-JP" sz="1600" dirty="0"/>
          </a:p>
        </p:txBody>
      </p:sp>
      <p:sp>
        <p:nvSpPr>
          <p:cNvPr id="11" name="Shape 9"/>
          <p:cNvSpPr/>
          <p:nvPr/>
        </p:nvSpPr>
        <p:spPr>
          <a:xfrm flipV="1">
            <a:off x="1234440" y="2586947"/>
            <a:ext cx="0" cy="2515405"/>
          </a:xfrm>
          <a:prstGeom prst="line">
            <a:avLst/>
          </a:prstGeom>
          <a:noFill/>
          <a:ln w="25400">
            <a:solidFill>
              <a:srgbClr val="7F7F7F"/>
            </a:solidFill>
            <a:prstDash val="solid"/>
            <a:tailEnd type="triangle"/>
          </a:ln>
        </p:spPr>
      </p:sp>
      <p:sp>
        <p:nvSpPr>
          <p:cNvPr id="12" name="Shape 10"/>
          <p:cNvSpPr/>
          <p:nvPr/>
        </p:nvSpPr>
        <p:spPr>
          <a:xfrm>
            <a:off x="1234440" y="5102352"/>
            <a:ext cx="5120640" cy="0"/>
          </a:xfrm>
          <a:prstGeom prst="line">
            <a:avLst/>
          </a:prstGeom>
          <a:noFill/>
          <a:ln w="25400">
            <a:solidFill>
              <a:srgbClr val="7F7F7F"/>
            </a:solidFill>
            <a:prstDash val="solid"/>
            <a:tailEnd type="triangle"/>
          </a:ln>
        </p:spPr>
      </p:sp>
      <p:sp>
        <p:nvSpPr>
          <p:cNvPr id="13" name="Shape 11"/>
          <p:cNvSpPr/>
          <p:nvPr/>
        </p:nvSpPr>
        <p:spPr>
          <a:xfrm>
            <a:off x="4142232" y="3200400"/>
            <a:ext cx="0" cy="1901952"/>
          </a:xfrm>
          <a:prstGeom prst="line">
            <a:avLst/>
          </a:prstGeom>
          <a:noFill/>
          <a:ln w="22225">
            <a:solidFill>
              <a:srgbClr val="D55E00"/>
            </a:solidFill>
            <a:prstDash val="dash"/>
          </a:ln>
        </p:spPr>
      </p:sp>
      <p:sp>
        <p:nvSpPr>
          <p:cNvPr id="14" name="Shape 12"/>
          <p:cNvSpPr/>
          <p:nvPr/>
        </p:nvSpPr>
        <p:spPr>
          <a:xfrm>
            <a:off x="1234440" y="3072384"/>
            <a:ext cx="2779776" cy="0"/>
          </a:xfrm>
          <a:prstGeom prst="line">
            <a:avLst/>
          </a:prstGeom>
          <a:noFill/>
          <a:ln w="22225">
            <a:solidFill>
              <a:srgbClr val="D55E00"/>
            </a:solidFill>
            <a:prstDash val="dash"/>
          </a:ln>
        </p:spPr>
      </p:sp>
      <p:sp>
        <p:nvSpPr>
          <p:cNvPr id="15" name="Shape 13"/>
          <p:cNvSpPr/>
          <p:nvPr/>
        </p:nvSpPr>
        <p:spPr>
          <a:xfrm>
            <a:off x="1234440" y="2911769"/>
            <a:ext cx="4846320" cy="2190583"/>
          </a:xfrm>
          <a:custGeom>
            <a:avLst/>
            <a:gdLst/>
            <a:ahLst/>
            <a:cxnLst/>
            <a:rect l="l" t="t" r="r" b="b"/>
            <a:pathLst>
              <a:path w="4846320" h="2190583">
                <a:moveTo>
                  <a:pt x="0" y="2190902"/>
                </a:moveTo>
                <a:lnTo>
                  <a:pt x="48463" y="2176272"/>
                </a:lnTo>
                <a:lnTo>
                  <a:pt x="96926" y="2161642"/>
                </a:lnTo>
                <a:lnTo>
                  <a:pt x="145390" y="2146097"/>
                </a:lnTo>
                <a:lnTo>
                  <a:pt x="193853" y="2128723"/>
                </a:lnTo>
                <a:lnTo>
                  <a:pt x="242316" y="2109521"/>
                </a:lnTo>
                <a:lnTo>
                  <a:pt x="290779" y="2088490"/>
                </a:lnTo>
                <a:lnTo>
                  <a:pt x="339242" y="2064715"/>
                </a:lnTo>
                <a:lnTo>
                  <a:pt x="387706" y="2038198"/>
                </a:lnTo>
                <a:lnTo>
                  <a:pt x="436169" y="2008022"/>
                </a:lnTo>
                <a:lnTo>
                  <a:pt x="484632" y="1974190"/>
                </a:lnTo>
                <a:lnTo>
                  <a:pt x="533095" y="1937614"/>
                </a:lnTo>
                <a:lnTo>
                  <a:pt x="581558" y="1897380"/>
                </a:lnTo>
                <a:lnTo>
                  <a:pt x="630022" y="1853489"/>
                </a:lnTo>
                <a:lnTo>
                  <a:pt x="678485" y="1805940"/>
                </a:lnTo>
                <a:lnTo>
                  <a:pt x="726948" y="1756562"/>
                </a:lnTo>
                <a:lnTo>
                  <a:pt x="775411" y="1703527"/>
                </a:lnTo>
                <a:lnTo>
                  <a:pt x="823874" y="1648663"/>
                </a:lnTo>
                <a:lnTo>
                  <a:pt x="872338" y="1591970"/>
                </a:lnTo>
                <a:lnTo>
                  <a:pt x="920801" y="1533449"/>
                </a:lnTo>
                <a:lnTo>
                  <a:pt x="969264" y="1474013"/>
                </a:lnTo>
                <a:lnTo>
                  <a:pt x="1017727" y="1413662"/>
                </a:lnTo>
                <a:lnTo>
                  <a:pt x="1066190" y="1353312"/>
                </a:lnTo>
                <a:lnTo>
                  <a:pt x="1114654" y="1293876"/>
                </a:lnTo>
                <a:lnTo>
                  <a:pt x="1163117" y="1234440"/>
                </a:lnTo>
                <a:lnTo>
                  <a:pt x="1211580" y="1175918"/>
                </a:lnTo>
                <a:lnTo>
                  <a:pt x="1260043" y="1118311"/>
                </a:lnTo>
                <a:lnTo>
                  <a:pt x="1308506" y="1062533"/>
                </a:lnTo>
                <a:lnTo>
                  <a:pt x="1356970" y="1007669"/>
                </a:lnTo>
                <a:lnTo>
                  <a:pt x="1405433" y="955548"/>
                </a:lnTo>
                <a:lnTo>
                  <a:pt x="1453896" y="904342"/>
                </a:lnTo>
                <a:lnTo>
                  <a:pt x="1502359" y="855878"/>
                </a:lnTo>
                <a:lnTo>
                  <a:pt x="1550822" y="809244"/>
                </a:lnTo>
                <a:lnTo>
                  <a:pt x="1599286" y="765353"/>
                </a:lnTo>
                <a:lnTo>
                  <a:pt x="1647749" y="723290"/>
                </a:lnTo>
                <a:lnTo>
                  <a:pt x="1696212" y="683057"/>
                </a:lnTo>
                <a:lnTo>
                  <a:pt x="1744675" y="644652"/>
                </a:lnTo>
                <a:lnTo>
                  <a:pt x="1793138" y="608076"/>
                </a:lnTo>
                <a:lnTo>
                  <a:pt x="1841602" y="574243"/>
                </a:lnTo>
                <a:lnTo>
                  <a:pt x="1890065" y="541325"/>
                </a:lnTo>
                <a:lnTo>
                  <a:pt x="1938528" y="511150"/>
                </a:lnTo>
                <a:lnTo>
                  <a:pt x="1986991" y="481889"/>
                </a:lnTo>
                <a:lnTo>
                  <a:pt x="2035454" y="454457"/>
                </a:lnTo>
                <a:lnTo>
                  <a:pt x="2083918" y="428854"/>
                </a:lnTo>
                <a:lnTo>
                  <a:pt x="2132381" y="405079"/>
                </a:lnTo>
                <a:lnTo>
                  <a:pt x="2180844" y="382219"/>
                </a:lnTo>
                <a:lnTo>
                  <a:pt x="2229307" y="360274"/>
                </a:lnTo>
                <a:lnTo>
                  <a:pt x="2277770" y="340157"/>
                </a:lnTo>
                <a:lnTo>
                  <a:pt x="2326234" y="320954"/>
                </a:lnTo>
                <a:lnTo>
                  <a:pt x="2374697" y="302666"/>
                </a:lnTo>
                <a:lnTo>
                  <a:pt x="2423160" y="286207"/>
                </a:lnTo>
                <a:lnTo>
                  <a:pt x="2471623" y="269748"/>
                </a:lnTo>
                <a:lnTo>
                  <a:pt x="2520086" y="255118"/>
                </a:lnTo>
                <a:lnTo>
                  <a:pt x="2568550" y="240487"/>
                </a:lnTo>
                <a:lnTo>
                  <a:pt x="2617013" y="226771"/>
                </a:lnTo>
                <a:lnTo>
                  <a:pt x="2665476" y="213970"/>
                </a:lnTo>
                <a:lnTo>
                  <a:pt x="2713939" y="202082"/>
                </a:lnTo>
                <a:lnTo>
                  <a:pt x="2762402" y="191110"/>
                </a:lnTo>
                <a:lnTo>
                  <a:pt x="2810866" y="180137"/>
                </a:lnTo>
                <a:lnTo>
                  <a:pt x="2859329" y="170078"/>
                </a:lnTo>
                <a:lnTo>
                  <a:pt x="2907792" y="160934"/>
                </a:lnTo>
                <a:lnTo>
                  <a:pt x="2956255" y="151790"/>
                </a:lnTo>
                <a:lnTo>
                  <a:pt x="3004718" y="142646"/>
                </a:lnTo>
                <a:lnTo>
                  <a:pt x="3053182" y="134417"/>
                </a:lnTo>
                <a:lnTo>
                  <a:pt x="3101645" y="127102"/>
                </a:lnTo>
                <a:lnTo>
                  <a:pt x="3150108" y="119786"/>
                </a:lnTo>
                <a:lnTo>
                  <a:pt x="3198571" y="113386"/>
                </a:lnTo>
                <a:lnTo>
                  <a:pt x="3247034" y="106070"/>
                </a:lnTo>
                <a:lnTo>
                  <a:pt x="3295498" y="100584"/>
                </a:lnTo>
                <a:lnTo>
                  <a:pt x="3343961" y="94183"/>
                </a:lnTo>
                <a:lnTo>
                  <a:pt x="3392424" y="88697"/>
                </a:lnTo>
                <a:lnTo>
                  <a:pt x="3440887" y="83210"/>
                </a:lnTo>
                <a:lnTo>
                  <a:pt x="3489350" y="78638"/>
                </a:lnTo>
                <a:lnTo>
                  <a:pt x="3537814" y="73152"/>
                </a:lnTo>
                <a:lnTo>
                  <a:pt x="3586277" y="68580"/>
                </a:lnTo>
                <a:lnTo>
                  <a:pt x="3634740" y="64008"/>
                </a:lnTo>
                <a:lnTo>
                  <a:pt x="3683203" y="60350"/>
                </a:lnTo>
                <a:lnTo>
                  <a:pt x="3731666" y="55778"/>
                </a:lnTo>
                <a:lnTo>
                  <a:pt x="3780130" y="52121"/>
                </a:lnTo>
                <a:lnTo>
                  <a:pt x="3828593" y="48463"/>
                </a:lnTo>
                <a:lnTo>
                  <a:pt x="3877056" y="45720"/>
                </a:lnTo>
                <a:lnTo>
                  <a:pt x="3925519" y="42062"/>
                </a:lnTo>
                <a:lnTo>
                  <a:pt x="3973982" y="38405"/>
                </a:lnTo>
                <a:lnTo>
                  <a:pt x="4022446" y="35662"/>
                </a:lnTo>
                <a:lnTo>
                  <a:pt x="4070909" y="32918"/>
                </a:lnTo>
                <a:lnTo>
                  <a:pt x="4119372" y="30175"/>
                </a:lnTo>
                <a:lnTo>
                  <a:pt x="4167835" y="27432"/>
                </a:lnTo>
                <a:lnTo>
                  <a:pt x="4216298" y="24689"/>
                </a:lnTo>
                <a:lnTo>
                  <a:pt x="4264762" y="22860"/>
                </a:lnTo>
                <a:lnTo>
                  <a:pt x="4313225" y="20117"/>
                </a:lnTo>
                <a:lnTo>
                  <a:pt x="4361688" y="18288"/>
                </a:lnTo>
                <a:lnTo>
                  <a:pt x="4410151" y="15545"/>
                </a:lnTo>
                <a:lnTo>
                  <a:pt x="4458614" y="13716"/>
                </a:lnTo>
                <a:lnTo>
                  <a:pt x="4507078" y="11887"/>
                </a:lnTo>
                <a:lnTo>
                  <a:pt x="4555541" y="10058"/>
                </a:lnTo>
                <a:lnTo>
                  <a:pt x="4604004" y="8230"/>
                </a:lnTo>
                <a:lnTo>
                  <a:pt x="4652467" y="6401"/>
                </a:lnTo>
                <a:lnTo>
                  <a:pt x="4700930" y="4572"/>
                </a:lnTo>
                <a:lnTo>
                  <a:pt x="4749394" y="2743"/>
                </a:lnTo>
                <a:lnTo>
                  <a:pt x="4797857" y="1829"/>
                </a:lnTo>
                <a:lnTo>
                  <a:pt x="4846320" y="0"/>
                </a:lnTo>
              </a:path>
            </a:pathLst>
          </a:custGeom>
          <a:noFill/>
          <a:ln w="44450">
            <a:solidFill>
              <a:srgbClr val="0072B2"/>
            </a:solidFill>
            <a:prstDash val="solid"/>
          </a:ln>
        </p:spPr>
      </p:sp>
      <p:sp>
        <p:nvSpPr>
          <p:cNvPr id="16" name="Shape 14"/>
          <p:cNvSpPr/>
          <p:nvPr/>
        </p:nvSpPr>
        <p:spPr>
          <a:xfrm>
            <a:off x="4050792" y="2980944"/>
            <a:ext cx="182880" cy="182880"/>
          </a:xfrm>
          <a:prstGeom prst="ellipse">
            <a:avLst/>
          </a:prstGeom>
          <a:solidFill>
            <a:srgbClr val="D55E00"/>
          </a:solidFill>
          <a:ln/>
        </p:spPr>
      </p:sp>
      <p:sp>
        <p:nvSpPr>
          <p:cNvPr id="17" name="Shape 15"/>
          <p:cNvSpPr/>
          <p:nvPr/>
        </p:nvSpPr>
        <p:spPr>
          <a:xfrm>
            <a:off x="5504688" y="2838298"/>
            <a:ext cx="182880" cy="182880"/>
          </a:xfrm>
          <a:prstGeom prst="ellipse">
            <a:avLst/>
          </a:prstGeom>
          <a:solidFill>
            <a:srgbClr val="00A8AA"/>
          </a:solidFill>
          <a:ln/>
        </p:spPr>
      </p:sp>
      <p:sp>
        <p:nvSpPr>
          <p:cNvPr id="18" name="Text 16"/>
          <p:cNvSpPr txBox="1"/>
          <p:nvPr/>
        </p:nvSpPr>
        <p:spPr>
          <a:xfrm>
            <a:off x="484632" y="2862072"/>
            <a:ext cx="640080" cy="420624"/>
          </a:xfrm>
          <a:prstGeom prst="rect">
            <a:avLst/>
          </a:prstGeom>
          <a:noFill/>
          <a:ln/>
        </p:spPr>
        <p:txBody>
          <a:bodyPr wrap="square" lIns="0" tIns="0" rIns="0" bIns="0" rtlCol="0" anchor="ctr"/>
          <a:lstStyle/>
          <a:p>
            <a:pPr algn="r" indent="0" marL="0">
              <a:buNone/>
            </a:pPr>
            <a:r>
              <a:rPr lang="ja-JP" altLang="en-US" sz="2200" b="1" dirty="0">
                <a:solidFill>
                  <a:srgbClr val="D55E00"/>
                </a:solidFill>
                <a:latin typeface="メイリオ" pitchFamily="34" charset="0"/>
                <a:ea typeface="メイリオ" pitchFamily="34" charset="-122"/>
                <a:cs typeface="メイリオ" pitchFamily="34" charset="-120"/>
              </a:rPr>
              <a:t>90</a:t>
            </a:r>
            <a:endParaRPr lang="ja-JP" sz="2200" dirty="0"/>
          </a:p>
        </p:txBody>
      </p:sp>
      <p:sp>
        <p:nvSpPr>
          <p:cNvPr id="19" name="Text 17"/>
          <p:cNvSpPr txBox="1"/>
          <p:nvPr/>
        </p:nvSpPr>
        <p:spPr>
          <a:xfrm>
            <a:off x="484632" y="4892040"/>
            <a:ext cx="640080" cy="420624"/>
          </a:xfrm>
          <a:prstGeom prst="rect">
            <a:avLst/>
          </a:prstGeom>
          <a:noFill/>
          <a:ln/>
        </p:spPr>
        <p:txBody>
          <a:bodyPr wrap="square" lIns="0" tIns="0" rIns="0" bIns="0" rtlCol="0" anchor="ctr"/>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0</a:t>
            </a:r>
            <a:endParaRPr lang="ja-JP" sz="2200" dirty="0"/>
          </a:p>
        </p:txBody>
      </p:sp>
      <p:sp>
        <p:nvSpPr>
          <p:cNvPr id="20" name="Text 18"/>
          <p:cNvSpPr txBox="1"/>
          <p:nvPr/>
        </p:nvSpPr>
        <p:spPr>
          <a:xfrm>
            <a:off x="3822192" y="5193792"/>
            <a:ext cx="640080" cy="420624"/>
          </a:xfrm>
          <a:prstGeom prst="rect">
            <a:avLst/>
          </a:prstGeom>
          <a:noFill/>
          <a:ln/>
        </p:spPr>
        <p:txBody>
          <a:bodyPr wrap="square" lIns="0" tIns="0" rIns="0" bIns="0" rtlCol="0" anchor="ctr"/>
          <a:lstStyle/>
          <a:p>
            <a:pPr algn="ctr" indent="0" marL="0">
              <a:buNone/>
            </a:pPr>
            <a:r>
              <a:rPr lang="ja-JP" altLang="en-US" sz="2200" b="1" dirty="0">
                <a:solidFill>
                  <a:srgbClr val="D55E00"/>
                </a:solidFill>
                <a:latin typeface="メイリオ" pitchFamily="34" charset="0"/>
                <a:ea typeface="メイリオ" pitchFamily="34" charset="-122"/>
                <a:cs typeface="メイリオ" pitchFamily="34" charset="-120"/>
              </a:rPr>
              <a:t>60</a:t>
            </a:r>
            <a:endParaRPr lang="ja-JP" sz="2200" dirty="0"/>
          </a:p>
        </p:txBody>
      </p:sp>
      <p:sp>
        <p:nvSpPr>
          <p:cNvPr id="21" name="Text 19"/>
          <p:cNvSpPr txBox="1"/>
          <p:nvPr/>
        </p:nvSpPr>
        <p:spPr>
          <a:xfrm>
            <a:off x="5760720" y="5193792"/>
            <a:ext cx="640080" cy="420624"/>
          </a:xfrm>
          <a:prstGeom prst="rect">
            <a:avLst/>
          </a:prstGeom>
          <a:noFill/>
          <a:ln/>
        </p:spPr>
        <p:txBody>
          <a:bodyPr wrap="square" lIns="0" tIns="0" rIns="0" bIns="0" rtlCol="0" anchor="ct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100</a:t>
            </a:r>
            <a:endParaRPr lang="ja-JP" sz="2200" dirty="0"/>
          </a:p>
        </p:txBody>
      </p:sp>
      <p:sp>
        <p:nvSpPr>
          <p:cNvPr id="22" name="Text 20"/>
          <p:cNvSpPr txBox="1"/>
          <p:nvPr/>
        </p:nvSpPr>
        <p:spPr>
          <a:xfrm>
            <a:off x="502920" y="1719072"/>
            <a:ext cx="182880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SaO2（%）</a:t>
            </a:r>
            <a:endParaRPr lang="ja-JP" sz="2200" dirty="0"/>
          </a:p>
        </p:txBody>
      </p:sp>
      <p:sp>
        <p:nvSpPr>
          <p:cNvPr id="23" name="Text 21"/>
          <p:cNvSpPr txBox="1"/>
          <p:nvPr/>
        </p:nvSpPr>
        <p:spPr>
          <a:xfrm>
            <a:off x="3611880" y="5779008"/>
            <a:ext cx="2743200" cy="420624"/>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PaO2（mmHg）</a:t>
            </a:r>
            <a:endParaRPr lang="ja-JP" sz="2200" dirty="0"/>
          </a:p>
        </p:txBody>
      </p:sp>
      <p:sp>
        <p:nvSpPr>
          <p:cNvPr id="24" name="Text 22"/>
          <p:cNvSpPr txBox="1"/>
          <p:nvPr/>
        </p:nvSpPr>
        <p:spPr>
          <a:xfrm>
            <a:off x="1810512" y="2267712"/>
            <a:ext cx="2743200" cy="420624"/>
          </a:xfrm>
          <a:prstGeom prst="rect">
            <a:avLst/>
          </a:prstGeom>
          <a:noFill/>
          <a:ln/>
        </p:spPr>
        <p:txBody>
          <a:bodyPr wrap="square" lIns="0" tIns="0" rIns="0" bIns="0" rtlCol="0" anchor="t"/>
          <a:lstStyle/>
          <a:p>
            <a:pPr algn="r" indent="0" marL="0">
              <a:buNone/>
            </a:pPr>
            <a:r>
              <a:rPr lang="ja-JP" altLang="en-US" sz="2200" b="1" dirty="0">
                <a:solidFill>
                  <a:srgbClr val="D55E00"/>
                </a:solidFill>
                <a:latin typeface="メイリオ" pitchFamily="34" charset="0"/>
                <a:ea typeface="メイリオ" pitchFamily="34" charset="-122"/>
                <a:cs typeface="メイリオ" pitchFamily="34" charset="-120"/>
              </a:rPr>
              <a:t>PaO2 60 / SpO2 90</a:t>
            </a:r>
            <a:endParaRPr lang="ja-JP" sz="2200" dirty="0"/>
          </a:p>
        </p:txBody>
      </p:sp>
      <p:sp>
        <p:nvSpPr>
          <p:cNvPr id="25" name="Text 23"/>
          <p:cNvSpPr txBox="1"/>
          <p:nvPr/>
        </p:nvSpPr>
        <p:spPr>
          <a:xfrm>
            <a:off x="3611880" y="1719072"/>
            <a:ext cx="2743200" cy="420624"/>
          </a:xfrm>
          <a:prstGeom prst="rect">
            <a:avLst/>
          </a:prstGeom>
          <a:noFill/>
          <a:ln/>
        </p:spPr>
        <p:txBody>
          <a:bodyPr wrap="square" lIns="0" tIns="0" rIns="0" bIns="0" rtlCol="0" anchor="t"/>
          <a:lstStyle/>
          <a:p>
            <a:pPr algn="ctr" indent="0" marL="0">
              <a:buNone/>
            </a:pPr>
            <a:r>
              <a:rPr lang="ja-JP" altLang="en-US" sz="2200" b="1" dirty="0">
                <a:solidFill>
                  <a:srgbClr val="00A8AA"/>
                </a:solidFill>
                <a:latin typeface="メイリオ" pitchFamily="34" charset="0"/>
                <a:ea typeface="メイリオ" pitchFamily="34" charset="-122"/>
                <a:cs typeface="メイリオ" pitchFamily="34" charset="-120"/>
              </a:rPr>
              <a:t>PaO2 90 / SpO2 97</a:t>
            </a:r>
            <a:endParaRPr lang="ja-JP" sz="2200" dirty="0"/>
          </a:p>
        </p:txBody>
      </p:sp>
      <p:sp>
        <p:nvSpPr>
          <p:cNvPr id="26" name="Shape 24"/>
          <p:cNvSpPr/>
          <p:nvPr/>
        </p:nvSpPr>
        <p:spPr>
          <a:xfrm>
            <a:off x="4142232" y="2734056"/>
            <a:ext cx="9144" cy="210312"/>
          </a:xfrm>
          <a:custGeom>
            <a:avLst/>
            <a:gdLst/>
            <a:ahLst/>
            <a:cxnLst/>
            <a:rect l="l" t="t" r="r" b="b"/>
            <a:pathLst>
              <a:path w="9144" h="210312">
                <a:moveTo>
                  <a:pt x="0" y="0"/>
                </a:moveTo>
                <a:lnTo>
                  <a:pt x="0" y="210312"/>
                </a:lnTo>
              </a:path>
            </a:pathLst>
          </a:custGeom>
          <a:noFill/>
          <a:ln w="19050">
            <a:solidFill>
              <a:srgbClr val="D55E00"/>
            </a:solidFill>
            <a:prstDash val="solid"/>
          </a:ln>
        </p:spPr>
      </p:sp>
      <p:sp>
        <p:nvSpPr>
          <p:cNvPr id="27" name="Shape 25"/>
          <p:cNvSpPr/>
          <p:nvPr/>
        </p:nvSpPr>
        <p:spPr>
          <a:xfrm>
            <a:off x="5596128" y="2185416"/>
            <a:ext cx="9144" cy="616306"/>
          </a:xfrm>
          <a:custGeom>
            <a:avLst/>
            <a:gdLst/>
            <a:ahLst/>
            <a:cxnLst/>
            <a:rect l="l" t="t" r="r" b="b"/>
            <a:pathLst>
              <a:path w="9144" h="616306">
                <a:moveTo>
                  <a:pt x="0" y="0"/>
                </a:moveTo>
                <a:lnTo>
                  <a:pt x="0" y="616306"/>
                </a:lnTo>
              </a:path>
            </a:pathLst>
          </a:custGeom>
          <a:noFill/>
          <a:ln w="19050">
            <a:solidFill>
              <a:srgbClr val="00A8AA"/>
            </a:solidFill>
            <a:prstDash val="solid"/>
          </a:ln>
        </p:spPr>
      </p:sp>
      <p:sp>
        <p:nvSpPr>
          <p:cNvPr id="28" name="Text 26"/>
          <p:cNvSpPr txBox="1"/>
          <p:nvPr/>
        </p:nvSpPr>
        <p:spPr>
          <a:xfrm>
            <a:off x="6675120" y="1888236"/>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9" name="Text 27"/>
          <p:cNvSpPr txBox="1"/>
          <p:nvPr/>
        </p:nvSpPr>
        <p:spPr>
          <a:xfrm>
            <a:off x="7059168" y="1888236"/>
            <a:ext cx="4626864"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SpO2 90% ≈ PaO2 60 mmHg</a:t>
            </a:r>
            <a:endParaRPr lang="ja-JP" sz="2400" dirty="0"/>
          </a:p>
        </p:txBody>
      </p:sp>
      <p:sp>
        <p:nvSpPr>
          <p:cNvPr id="30" name="Text 28"/>
          <p:cNvSpPr txBox="1"/>
          <p:nvPr/>
        </p:nvSpPr>
        <p:spPr>
          <a:xfrm>
            <a:off x="6675120" y="2729484"/>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31" name="Text 29"/>
          <p:cNvSpPr txBox="1"/>
          <p:nvPr/>
        </p:nvSpPr>
        <p:spPr>
          <a:xfrm>
            <a:off x="7059168" y="2729484"/>
            <a:ext cx="462686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100% では PaO2 は分からない</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（200 でも 500 でも 100%）</a:t>
            </a:r>
            <a:endParaRPr lang="ja-JP" sz="2400" dirty="0"/>
          </a:p>
        </p:txBody>
      </p:sp>
      <p:sp>
        <p:nvSpPr>
          <p:cNvPr id="32" name="Text 30"/>
          <p:cNvSpPr txBox="1"/>
          <p:nvPr/>
        </p:nvSpPr>
        <p:spPr>
          <a:xfrm>
            <a:off x="6675120" y="4027932"/>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33" name="Text 31"/>
          <p:cNvSpPr txBox="1"/>
          <p:nvPr/>
        </p:nvSpPr>
        <p:spPr>
          <a:xfrm>
            <a:off x="7059168" y="4027932"/>
            <a:ext cx="4626864" cy="141732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曲線の肩より上では、</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PaO2 が下がっても</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SpO2 は動かない</a:t>
            </a:r>
            <a:endParaRPr lang="ja-JP"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精度</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数値</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遅れ</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誤差</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U.S. FDA. Pulse Oximeters [510(k)s]: Guidance (2013) / Sjoding MW,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N Engl J Med 2020;383:2477-2478 / Bickler PE, et al. Anesthesiology 2005;102:715-719</a:t>
            </a:r>
            <a:endParaRPr lang="ja-JP" sz="1600" dirty="0"/>
          </a:p>
        </p:txBody>
      </p:sp>
      <p:sp>
        <p:nvSpPr>
          <p:cNvPr id="11" name="Shape 9"/>
          <p:cNvSpPr/>
          <p:nvPr/>
        </p:nvSpPr>
        <p:spPr>
          <a:xfrm>
            <a:off x="502920" y="1965960"/>
            <a:ext cx="3776472" cy="3611880"/>
          </a:xfrm>
          <a:prstGeom prst="roundRect">
            <a:avLst>
              <a:gd name="adj" fmla="val 2532"/>
            </a:avLst>
          </a:prstGeom>
          <a:solidFill>
            <a:srgbClr val="F2F2F2"/>
          </a:solidFill>
          <a:ln/>
        </p:spPr>
      </p:sp>
      <p:sp>
        <p:nvSpPr>
          <p:cNvPr id="12" name="Text 10"/>
          <p:cNvSpPr txBox="1"/>
          <p:nvPr/>
        </p:nvSpPr>
        <p:spPr>
          <a:xfrm>
            <a:off x="594360" y="2075688"/>
            <a:ext cx="3593592" cy="1682496"/>
          </a:xfrm>
          <a:prstGeom prst="rect">
            <a:avLst/>
          </a:prstGeom>
          <a:noFill/>
          <a:ln/>
        </p:spPr>
        <p:txBody>
          <a:bodyPr wrap="square" lIns="0" tIns="0" rIns="0" bIns="0" rtlCol="0" anchor="ctr"/>
          <a:lstStyle/>
          <a:p>
            <a:pPr algn="ctr" indent="0" marL="0">
              <a:buNone/>
            </a:pPr>
            <a:r>
              <a:rPr lang="ja-JP" altLang="en-US" sz="4400" b="1" dirty="0">
                <a:solidFill>
                  <a:srgbClr val="00A8AA"/>
                </a:solidFill>
                <a:latin typeface="メイリオ" pitchFamily="34" charset="0"/>
                <a:ea typeface="メイリオ" pitchFamily="34" charset="-122"/>
                <a:cs typeface="メイリオ" pitchFamily="34" charset="-120"/>
              </a:rPr>
              <a:t>Arms</a:t>
            </a:r>
            <a:endParaRPr lang="ja-JP" sz="4400" dirty="0"/>
          </a:p>
          <a:p>
            <a:pPr algn="ctr" indent="0" marL="0">
              <a:buNone/>
            </a:pPr>
            <a:r>
              <a:rPr lang="ja-JP" altLang="en-US" sz="4400" b="1" dirty="0">
                <a:solidFill>
                  <a:srgbClr val="00A8AA"/>
                </a:solidFill>
                <a:latin typeface="メイリオ" pitchFamily="34" charset="0"/>
                <a:ea typeface="メイリオ" pitchFamily="34" charset="-122"/>
                <a:cs typeface="メイリオ" pitchFamily="34" charset="-120"/>
              </a:rPr>
              <a:t>2〜3 %</a:t>
            </a:r>
            <a:endParaRPr lang="ja-JP" sz="4400" dirty="0"/>
          </a:p>
        </p:txBody>
      </p:sp>
      <p:sp>
        <p:nvSpPr>
          <p:cNvPr id="13" name="Text 11"/>
          <p:cNvSpPr txBox="1"/>
          <p:nvPr/>
        </p:nvSpPr>
        <p:spPr>
          <a:xfrm>
            <a:off x="594360" y="4032504"/>
            <a:ext cx="3593592" cy="1307592"/>
          </a:xfrm>
          <a:prstGeom prst="rect">
            <a:avLst/>
          </a:prstGeom>
          <a:noFill/>
          <a:ln/>
        </p:spPr>
        <p:txBody>
          <a:bodyPr wrap="square" lIns="0" tIns="0" rIns="0" bIns="0" rtlCol="0" anchor="ct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SaO2 70〜100% で、</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測定の約 2/3 が</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この幅に入る</a:t>
            </a:r>
            <a:endParaRPr lang="ja-JP" sz="2200" dirty="0"/>
          </a:p>
        </p:txBody>
      </p:sp>
      <p:sp>
        <p:nvSpPr>
          <p:cNvPr id="14" name="Text 12"/>
          <p:cNvSpPr txBox="1"/>
          <p:nvPr/>
        </p:nvSpPr>
        <p:spPr>
          <a:xfrm>
            <a:off x="4498848" y="2400300"/>
            <a:ext cx="7187184" cy="2743200"/>
          </a:xfrm>
          <a:prstGeom prst="rect">
            <a:avLst/>
          </a:prstGeom>
          <a:noFill/>
          <a:ln/>
        </p:spPr>
        <p:txBody>
          <a:bodyPr wrap="square" lIns="0" tIns="0" rIns="0" bIns="0" rtlCol="0" anchor="t"/>
          <a:lstStyle/>
          <a:p>
            <a:pPr algn="l" marL="355600" indent="-355600">
              <a:spcAft>
                <a:spcPts val="2200"/>
              </a:spcAft>
              <a:buSzPct val="100000"/>
              <a:buChar char="•"/>
            </a:pPr>
            <a:r>
              <a:rPr lang="ja-JP" altLang="en-US" sz="2400" b="1" dirty="0">
                <a:solidFill>
                  <a:srgbClr val="D55E00"/>
                </a:solidFill>
                <a:latin typeface="メイリオ" pitchFamily="34" charset="0"/>
                <a:ea typeface="メイリオ" pitchFamily="34" charset="-122"/>
                <a:cs typeface="メイリオ" pitchFamily="34" charset="-120"/>
              </a:rPr>
              <a:t>70% 未満は保証されていない</a:t>
            </a:r>
            <a:endParaRPr lang="ja-JP" sz="2400" dirty="0"/>
          </a:p>
          <a:p>
            <a:pPr algn="l" marL="355600" indent="-355600">
              <a:spcAft>
                <a:spcPts val="2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低い値ほど誤差が大きい</a:t>
            </a:r>
            <a:endParaRPr lang="ja-JP" sz="2400" dirty="0"/>
          </a:p>
          <a:p>
            <a:pPr algn="l" marL="355600" indent="-355600">
              <a:spcAft>
                <a:spcPts val="2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皮膚の色が濃いと、高めに出ることがある</a:t>
            </a:r>
            <a:endParaRPr lang="ja-JP" sz="2400" dirty="0"/>
          </a:p>
          <a:p>
            <a:pPr algn="l" marL="355600" indent="-355600">
              <a:spcAft>
                <a:spcPts val="2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動脈血ガスと合わないときは血ガスを信じる</a:t>
            </a:r>
            <a:endParaRPr lang="ja-JP"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表示の遅れ</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数値</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遅れ</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誤差</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Choi SJ, et al. Acta Anaesthesiol Scand 2010;54:212-217 / MacLeod DB,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Anaesthesia 2005;60:65-71 / Hamber EA, et al. J Clin Anesth 1999;11:113-118</a:t>
            </a:r>
            <a:endParaRPr lang="ja-JP" sz="1600" dirty="0"/>
          </a:p>
        </p:txBody>
      </p:sp>
      <p:sp>
        <p:nvSpPr>
          <p:cNvPr id="11" name="Text 9"/>
          <p:cNvSpPr/>
          <p:nvPr/>
        </p:nvSpPr>
        <p:spPr>
          <a:xfrm>
            <a:off x="502920" y="1783080"/>
            <a:ext cx="2636520" cy="1143000"/>
          </a:xfrm>
          <a:prstGeom prst="roundRect">
            <a:avLst>
              <a:gd name="adj" fmla="val 8000"/>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肺の酸素化が</a:t>
            </a:r>
            <a:endParaRPr lang="ja-JP" sz="2400" dirty="0"/>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落ちる</a:t>
            </a:r>
            <a:endParaRPr lang="ja-JP" sz="2400" dirty="0"/>
          </a:p>
        </p:txBody>
      </p:sp>
      <p:sp>
        <p:nvSpPr>
          <p:cNvPr id="12" name="Shape 10"/>
          <p:cNvSpPr/>
          <p:nvPr/>
        </p:nvSpPr>
        <p:spPr>
          <a:xfrm>
            <a:off x="3358896" y="2135124"/>
            <a:ext cx="256032" cy="438912"/>
          </a:xfrm>
          <a:custGeom>
            <a:avLst/>
            <a:gdLst/>
            <a:ahLst/>
            <a:cxnLst/>
            <a:rect l="l" t="t" r="r" b="b"/>
            <a:pathLst>
              <a:path w="256032" h="438912">
                <a:moveTo>
                  <a:pt x="0" y="137160"/>
                </a:moveTo>
                <a:lnTo>
                  <a:pt x="115214" y="137160"/>
                </a:lnTo>
                <a:lnTo>
                  <a:pt x="115214" y="0"/>
                </a:lnTo>
                <a:lnTo>
                  <a:pt x="256032" y="219456"/>
                </a:lnTo>
                <a:lnTo>
                  <a:pt x="115214" y="438912"/>
                </a:lnTo>
                <a:lnTo>
                  <a:pt x="115214" y="301752"/>
                </a:lnTo>
                <a:lnTo>
                  <a:pt x="0" y="301752"/>
                </a:lnTo>
                <a:close/>
              </a:path>
            </a:pathLst>
          </a:custGeom>
          <a:solidFill>
            <a:srgbClr val="595959"/>
          </a:solidFill>
          <a:ln w="9525">
            <a:solidFill>
              <a:srgbClr val="595959"/>
            </a:solidFill>
            <a:prstDash val="solid"/>
          </a:ln>
        </p:spPr>
      </p:sp>
      <p:sp>
        <p:nvSpPr>
          <p:cNvPr id="13" name="Text 11"/>
          <p:cNvSpPr/>
          <p:nvPr/>
        </p:nvSpPr>
        <p:spPr>
          <a:xfrm>
            <a:off x="3834384" y="1783080"/>
            <a:ext cx="2636520" cy="1143000"/>
          </a:xfrm>
          <a:prstGeom prst="roundRect">
            <a:avLst>
              <a:gd name="adj" fmla="val 8000"/>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血液が指に届く</a:t>
            </a:r>
            <a:endParaRPr lang="ja-JP" sz="2400" dirty="0"/>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（循環時間）</a:t>
            </a:r>
            <a:endParaRPr lang="ja-JP" sz="2400" dirty="0"/>
          </a:p>
        </p:txBody>
      </p:sp>
      <p:sp>
        <p:nvSpPr>
          <p:cNvPr id="14" name="Shape 12"/>
          <p:cNvSpPr/>
          <p:nvPr/>
        </p:nvSpPr>
        <p:spPr>
          <a:xfrm>
            <a:off x="6690360" y="2135124"/>
            <a:ext cx="256032" cy="438912"/>
          </a:xfrm>
          <a:custGeom>
            <a:avLst/>
            <a:gdLst/>
            <a:ahLst/>
            <a:cxnLst/>
            <a:rect l="l" t="t" r="r" b="b"/>
            <a:pathLst>
              <a:path w="256032" h="438912">
                <a:moveTo>
                  <a:pt x="0" y="137160"/>
                </a:moveTo>
                <a:lnTo>
                  <a:pt x="115214" y="137160"/>
                </a:lnTo>
                <a:lnTo>
                  <a:pt x="115214" y="0"/>
                </a:lnTo>
                <a:lnTo>
                  <a:pt x="256032" y="219456"/>
                </a:lnTo>
                <a:lnTo>
                  <a:pt x="115214" y="438912"/>
                </a:lnTo>
                <a:lnTo>
                  <a:pt x="115214" y="301752"/>
                </a:lnTo>
                <a:lnTo>
                  <a:pt x="0" y="301752"/>
                </a:lnTo>
                <a:close/>
              </a:path>
            </a:pathLst>
          </a:custGeom>
          <a:solidFill>
            <a:srgbClr val="595959"/>
          </a:solidFill>
          <a:ln w="9525">
            <a:solidFill>
              <a:srgbClr val="595959"/>
            </a:solidFill>
            <a:prstDash val="solid"/>
          </a:ln>
        </p:spPr>
      </p:sp>
      <p:sp>
        <p:nvSpPr>
          <p:cNvPr id="15" name="Text 13"/>
          <p:cNvSpPr/>
          <p:nvPr/>
        </p:nvSpPr>
        <p:spPr>
          <a:xfrm>
            <a:off x="7165848" y="1783080"/>
            <a:ext cx="2636520" cy="1143000"/>
          </a:xfrm>
          <a:prstGeom prst="roundRect">
            <a:avLst>
              <a:gd name="adj" fmla="val 8000"/>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数秒〜十数秒の</a:t>
            </a:r>
            <a:endParaRPr lang="ja-JP" sz="2400" dirty="0"/>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平均化</a:t>
            </a:r>
            <a:endParaRPr lang="ja-JP" sz="2400" dirty="0"/>
          </a:p>
        </p:txBody>
      </p:sp>
      <p:sp>
        <p:nvSpPr>
          <p:cNvPr id="16" name="Shape 14"/>
          <p:cNvSpPr/>
          <p:nvPr/>
        </p:nvSpPr>
        <p:spPr>
          <a:xfrm>
            <a:off x="10021824" y="2135124"/>
            <a:ext cx="256032" cy="438912"/>
          </a:xfrm>
          <a:custGeom>
            <a:avLst/>
            <a:gdLst/>
            <a:ahLst/>
            <a:cxnLst/>
            <a:rect l="l" t="t" r="r" b="b"/>
            <a:pathLst>
              <a:path w="256032" h="438912">
                <a:moveTo>
                  <a:pt x="0" y="137160"/>
                </a:moveTo>
                <a:lnTo>
                  <a:pt x="115214" y="137160"/>
                </a:lnTo>
                <a:lnTo>
                  <a:pt x="115214" y="0"/>
                </a:lnTo>
                <a:lnTo>
                  <a:pt x="256032" y="219456"/>
                </a:lnTo>
                <a:lnTo>
                  <a:pt x="115214" y="438912"/>
                </a:lnTo>
                <a:lnTo>
                  <a:pt x="115214" y="301752"/>
                </a:lnTo>
                <a:lnTo>
                  <a:pt x="0" y="301752"/>
                </a:lnTo>
                <a:close/>
              </a:path>
            </a:pathLst>
          </a:custGeom>
          <a:solidFill>
            <a:srgbClr val="595959"/>
          </a:solidFill>
          <a:ln w="9525">
            <a:solidFill>
              <a:srgbClr val="595959"/>
            </a:solidFill>
            <a:prstDash val="solid"/>
          </a:ln>
        </p:spPr>
      </p:sp>
      <p:sp>
        <p:nvSpPr>
          <p:cNvPr id="17" name="Text 15"/>
          <p:cNvSpPr/>
          <p:nvPr/>
        </p:nvSpPr>
        <p:spPr>
          <a:xfrm>
            <a:off x="10497312" y="1783080"/>
            <a:ext cx="1188720" cy="1143000"/>
          </a:xfrm>
          <a:prstGeom prst="roundRect">
            <a:avLst>
              <a:gd name="adj" fmla="val 8000"/>
            </a:avLst>
          </a:prstGeom>
          <a:solidFill>
            <a:srgbClr val="E6F6F6"/>
          </a:solidFill>
          <a:ln w="25400">
            <a:solidFill>
              <a:srgbClr val="00A8AA"/>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表示</a:t>
            </a:r>
            <a:endParaRPr lang="ja-JP" sz="2400" dirty="0"/>
          </a:p>
        </p:txBody>
      </p:sp>
      <p:sp>
        <p:nvSpPr>
          <p:cNvPr id="18" name="Text 16"/>
          <p:cNvSpPr txBox="1"/>
          <p:nvPr/>
        </p:nvSpPr>
        <p:spPr>
          <a:xfrm>
            <a:off x="502920" y="3429000"/>
            <a:ext cx="11155680" cy="2441448"/>
          </a:xfrm>
          <a:prstGeom prst="rect">
            <a:avLst/>
          </a:prstGeom>
          <a:noFill/>
          <a:ln/>
        </p:spPr>
        <p:txBody>
          <a:bodyPr wrap="square" lIns="0" tIns="0" rIns="0" bIns="0" rtlCol="0" anchor="t"/>
          <a:lstStyle/>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指は耳や額より遅れる（循環時間が長い）</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平均化の時間を短くすると早いが、ノイズも増える</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低灌流・冷え・昇圧薬で遅れが伸びる</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無呼吸は、SpO2 が下がる前に </a:t>
            </a:r>
            <a:r>
              <a:rPr lang="ja-JP" altLang="en-US" sz="2400" b="1" dirty="0">
                <a:solidFill>
                  <a:srgbClr val="00A8AA"/>
                </a:solidFill>
                <a:latin typeface="メイリオ" pitchFamily="34" charset="0"/>
                <a:ea typeface="メイリオ" pitchFamily="34" charset="-122"/>
                <a:cs typeface="メイリオ" pitchFamily="34" charset="-120"/>
              </a:rPr>
              <a:t>EtCO2 で気づく</a:t>
            </a:r>
            <a:endParaRPr lang="ja-JP"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酸素予備と低下の速さ</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数値</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遅れ</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誤差</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Benumof JL, et al. Critical hemoglobin desaturation will occur before return to an</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unparalyzed state following 1 mg/kg IV succinylcholine. Anesthesiology 1997;87:979-982</a:t>
            </a:r>
            <a:endParaRPr lang="ja-JP" sz="1600" dirty="0"/>
          </a:p>
        </p:txBody>
      </p:sp>
      <p:sp>
        <p:nvSpPr>
          <p:cNvPr id="11" name="Text 9"/>
          <p:cNvSpPr txBox="1"/>
          <p:nvPr/>
        </p:nvSpPr>
        <p:spPr>
          <a:xfrm>
            <a:off x="502920" y="1719072"/>
            <a:ext cx="128016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SpO2</a:t>
            </a:r>
            <a:endParaRPr lang="ja-JP" sz="2200" dirty="0"/>
          </a:p>
        </p:txBody>
      </p:sp>
      <p:sp>
        <p:nvSpPr>
          <p:cNvPr id="12" name="Shape 10"/>
          <p:cNvSpPr/>
          <p:nvPr/>
        </p:nvSpPr>
        <p:spPr>
          <a:xfrm flipV="1">
            <a:off x="1097280" y="2359152"/>
            <a:ext cx="0" cy="2761488"/>
          </a:xfrm>
          <a:prstGeom prst="line">
            <a:avLst/>
          </a:prstGeom>
          <a:noFill/>
          <a:ln w="25400">
            <a:solidFill>
              <a:srgbClr val="7F7F7F"/>
            </a:solidFill>
            <a:prstDash val="solid"/>
            <a:tailEnd type="triangle"/>
          </a:ln>
        </p:spPr>
      </p:sp>
      <p:sp>
        <p:nvSpPr>
          <p:cNvPr id="13" name="Shape 11"/>
          <p:cNvSpPr/>
          <p:nvPr/>
        </p:nvSpPr>
        <p:spPr>
          <a:xfrm>
            <a:off x="1097280" y="5120640"/>
            <a:ext cx="5486400" cy="0"/>
          </a:xfrm>
          <a:prstGeom prst="line">
            <a:avLst/>
          </a:prstGeom>
          <a:noFill/>
          <a:ln w="25400">
            <a:solidFill>
              <a:srgbClr val="7F7F7F"/>
            </a:solidFill>
            <a:prstDash val="solid"/>
            <a:tailEnd type="triangle"/>
          </a:ln>
        </p:spPr>
      </p:sp>
      <p:sp>
        <p:nvSpPr>
          <p:cNvPr id="14" name="Text 12"/>
          <p:cNvSpPr txBox="1"/>
          <p:nvPr/>
        </p:nvSpPr>
        <p:spPr>
          <a:xfrm>
            <a:off x="5669280" y="5230368"/>
            <a:ext cx="914400" cy="420624"/>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時間</a:t>
            </a:r>
            <a:endParaRPr lang="ja-JP" sz="2200" dirty="0"/>
          </a:p>
        </p:txBody>
      </p:sp>
      <p:sp>
        <p:nvSpPr>
          <p:cNvPr id="15" name="Shape 13"/>
          <p:cNvSpPr/>
          <p:nvPr/>
        </p:nvSpPr>
        <p:spPr>
          <a:xfrm>
            <a:off x="1152144" y="2825496"/>
            <a:ext cx="1911096" cy="1335024"/>
          </a:xfrm>
          <a:custGeom>
            <a:avLst/>
            <a:gdLst/>
            <a:ahLst/>
            <a:cxnLst/>
            <a:rect l="l" t="t" r="r" b="b"/>
            <a:pathLst>
              <a:path w="1911096" h="1335024">
                <a:moveTo>
                  <a:pt x="0" y="0"/>
                </a:moveTo>
                <a:lnTo>
                  <a:pt x="585216" y="0"/>
                </a:lnTo>
                <a:lnTo>
                  <a:pt x="640080" y="914"/>
                </a:lnTo>
                <a:lnTo>
                  <a:pt x="695858" y="5486"/>
                </a:lnTo>
                <a:lnTo>
                  <a:pt x="750722" y="13716"/>
                </a:lnTo>
                <a:lnTo>
                  <a:pt x="806501" y="25603"/>
                </a:lnTo>
                <a:lnTo>
                  <a:pt x="861365" y="42062"/>
                </a:lnTo>
                <a:lnTo>
                  <a:pt x="916229" y="63094"/>
                </a:lnTo>
                <a:lnTo>
                  <a:pt x="972007" y="88697"/>
                </a:lnTo>
                <a:lnTo>
                  <a:pt x="1026871" y="118872"/>
                </a:lnTo>
                <a:lnTo>
                  <a:pt x="1082650" y="154534"/>
                </a:lnTo>
                <a:lnTo>
                  <a:pt x="1137514" y="194767"/>
                </a:lnTo>
                <a:lnTo>
                  <a:pt x="1193292" y="239573"/>
                </a:lnTo>
                <a:lnTo>
                  <a:pt x="1248156" y="290779"/>
                </a:lnTo>
                <a:lnTo>
                  <a:pt x="1303020" y="346558"/>
                </a:lnTo>
                <a:lnTo>
                  <a:pt x="1358798" y="407822"/>
                </a:lnTo>
                <a:lnTo>
                  <a:pt x="1413662" y="474574"/>
                </a:lnTo>
                <a:lnTo>
                  <a:pt x="1469441" y="546811"/>
                </a:lnTo>
                <a:lnTo>
                  <a:pt x="1524305" y="625450"/>
                </a:lnTo>
                <a:lnTo>
                  <a:pt x="1579169" y="708660"/>
                </a:lnTo>
                <a:lnTo>
                  <a:pt x="1634947" y="798271"/>
                </a:lnTo>
                <a:lnTo>
                  <a:pt x="1689811" y="894283"/>
                </a:lnTo>
                <a:lnTo>
                  <a:pt x="1745590" y="994867"/>
                </a:lnTo>
                <a:lnTo>
                  <a:pt x="1800454" y="1102766"/>
                </a:lnTo>
                <a:lnTo>
                  <a:pt x="1856232" y="1216152"/>
                </a:lnTo>
                <a:lnTo>
                  <a:pt x="1911096" y="1335024"/>
                </a:lnTo>
              </a:path>
            </a:pathLst>
          </a:custGeom>
          <a:noFill/>
          <a:ln w="44450">
            <a:solidFill>
              <a:srgbClr val="D55E00"/>
            </a:solidFill>
            <a:prstDash val="solid"/>
          </a:ln>
        </p:spPr>
      </p:sp>
      <p:sp>
        <p:nvSpPr>
          <p:cNvPr id="16" name="Shape 14"/>
          <p:cNvSpPr/>
          <p:nvPr/>
        </p:nvSpPr>
        <p:spPr>
          <a:xfrm>
            <a:off x="1152144" y="2606040"/>
            <a:ext cx="4334256" cy="1554480"/>
          </a:xfrm>
          <a:custGeom>
            <a:avLst/>
            <a:gdLst/>
            <a:ahLst/>
            <a:cxnLst/>
            <a:rect l="l" t="t" r="r" b="b"/>
            <a:pathLst>
              <a:path w="4334256" h="1554480">
                <a:moveTo>
                  <a:pt x="0" y="0"/>
                </a:moveTo>
                <a:lnTo>
                  <a:pt x="3008376" y="0"/>
                </a:lnTo>
                <a:lnTo>
                  <a:pt x="3063240" y="1829"/>
                </a:lnTo>
                <a:lnTo>
                  <a:pt x="3119018" y="6401"/>
                </a:lnTo>
                <a:lnTo>
                  <a:pt x="3173882" y="16459"/>
                </a:lnTo>
                <a:lnTo>
                  <a:pt x="3229661" y="30175"/>
                </a:lnTo>
                <a:lnTo>
                  <a:pt x="3284525" y="49378"/>
                </a:lnTo>
                <a:lnTo>
                  <a:pt x="3340303" y="74066"/>
                </a:lnTo>
                <a:lnTo>
                  <a:pt x="3395167" y="103327"/>
                </a:lnTo>
                <a:lnTo>
                  <a:pt x="3450031" y="138989"/>
                </a:lnTo>
                <a:lnTo>
                  <a:pt x="3505810" y="179222"/>
                </a:lnTo>
                <a:lnTo>
                  <a:pt x="3560674" y="226771"/>
                </a:lnTo>
                <a:lnTo>
                  <a:pt x="3616452" y="279806"/>
                </a:lnTo>
                <a:lnTo>
                  <a:pt x="3671316" y="338328"/>
                </a:lnTo>
                <a:lnTo>
                  <a:pt x="3726180" y="403250"/>
                </a:lnTo>
                <a:lnTo>
                  <a:pt x="3781958" y="474574"/>
                </a:lnTo>
                <a:lnTo>
                  <a:pt x="3836822" y="552298"/>
                </a:lnTo>
                <a:lnTo>
                  <a:pt x="3892601" y="637337"/>
                </a:lnTo>
                <a:lnTo>
                  <a:pt x="3947465" y="727862"/>
                </a:lnTo>
                <a:lnTo>
                  <a:pt x="4002329" y="825703"/>
                </a:lnTo>
                <a:lnTo>
                  <a:pt x="4058107" y="929945"/>
                </a:lnTo>
                <a:lnTo>
                  <a:pt x="4112971" y="1040587"/>
                </a:lnTo>
                <a:lnTo>
                  <a:pt x="4168750" y="1158545"/>
                </a:lnTo>
                <a:lnTo>
                  <a:pt x="4223614" y="1283818"/>
                </a:lnTo>
                <a:lnTo>
                  <a:pt x="4279392" y="1415491"/>
                </a:lnTo>
                <a:lnTo>
                  <a:pt x="4334256" y="1554480"/>
                </a:lnTo>
              </a:path>
            </a:pathLst>
          </a:custGeom>
          <a:noFill/>
          <a:ln w="44450">
            <a:solidFill>
              <a:srgbClr val="0072B2"/>
            </a:solidFill>
            <a:prstDash val="solid"/>
          </a:ln>
        </p:spPr>
      </p:sp>
      <p:sp>
        <p:nvSpPr>
          <p:cNvPr id="17" name="Text 15"/>
          <p:cNvSpPr txBox="1"/>
          <p:nvPr/>
        </p:nvSpPr>
        <p:spPr>
          <a:xfrm>
            <a:off x="2011680" y="4379976"/>
            <a:ext cx="2103120" cy="420624"/>
          </a:xfrm>
          <a:prstGeom prst="rect">
            <a:avLst/>
          </a:prstGeom>
          <a:noFill/>
          <a:ln/>
        </p:spPr>
        <p:txBody>
          <a:bodyPr wrap="square" lIns="0" tIns="0" rIns="0" bIns="0" rtlCol="0" anchor="t"/>
          <a:lstStyle/>
          <a:p>
            <a:pPr algn="ctr" indent="0" marL="0">
              <a:buNone/>
            </a:pPr>
            <a:r>
              <a:rPr lang="ja-JP" altLang="en-US" sz="2200" b="1" dirty="0">
                <a:solidFill>
                  <a:srgbClr val="D55E00"/>
                </a:solidFill>
                <a:latin typeface="メイリオ" pitchFamily="34" charset="0"/>
                <a:ea typeface="メイリオ" pitchFamily="34" charset="-122"/>
                <a:cs typeface="メイリオ" pitchFamily="34" charset="-120"/>
              </a:rPr>
              <a:t>前酸素化なし</a:t>
            </a:r>
            <a:endParaRPr lang="ja-JP" sz="2200" dirty="0"/>
          </a:p>
        </p:txBody>
      </p:sp>
      <p:sp>
        <p:nvSpPr>
          <p:cNvPr id="18" name="Text 16"/>
          <p:cNvSpPr txBox="1"/>
          <p:nvPr/>
        </p:nvSpPr>
        <p:spPr>
          <a:xfrm>
            <a:off x="4434840" y="4379976"/>
            <a:ext cx="2103120" cy="420624"/>
          </a:xfrm>
          <a:prstGeom prst="rect">
            <a:avLst/>
          </a:prstGeom>
          <a:noFill/>
          <a:ln/>
        </p:spPr>
        <p:txBody>
          <a:bodyPr wrap="square" lIns="0" tIns="0" rIns="0" bIns="0" rtlCol="0" anchor="t"/>
          <a:lstStyle/>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前酸素化あり</a:t>
            </a:r>
            <a:endParaRPr lang="ja-JP" sz="2200" dirty="0"/>
          </a:p>
        </p:txBody>
      </p:sp>
      <p:sp>
        <p:nvSpPr>
          <p:cNvPr id="19" name="Text 17"/>
          <p:cNvSpPr txBox="1"/>
          <p:nvPr/>
        </p:nvSpPr>
        <p:spPr>
          <a:xfrm>
            <a:off x="6949440" y="1929384"/>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0" name="Text 18"/>
          <p:cNvSpPr txBox="1"/>
          <p:nvPr/>
        </p:nvSpPr>
        <p:spPr>
          <a:xfrm>
            <a:off x="7333488" y="1929384"/>
            <a:ext cx="435254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前酸素化で、無呼吸に</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耐えられる時間が延びる</a:t>
            </a:r>
            <a:endParaRPr lang="ja-JP" sz="2400" dirty="0"/>
          </a:p>
        </p:txBody>
      </p:sp>
      <p:sp>
        <p:nvSpPr>
          <p:cNvPr id="21" name="Text 19"/>
          <p:cNvSpPr txBox="1"/>
          <p:nvPr/>
        </p:nvSpPr>
        <p:spPr>
          <a:xfrm>
            <a:off x="6949440" y="3227832"/>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2" name="Text 20"/>
          <p:cNvSpPr txBox="1"/>
          <p:nvPr/>
        </p:nvSpPr>
        <p:spPr>
          <a:xfrm>
            <a:off x="7333488" y="3227832"/>
            <a:ext cx="435254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肥満・小児・妊婦・</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病気の肺は早く落ちる</a:t>
            </a:r>
            <a:endParaRPr lang="ja-JP" sz="2400" dirty="0"/>
          </a:p>
        </p:txBody>
      </p:sp>
      <p:sp>
        <p:nvSpPr>
          <p:cNvPr id="23" name="Text 21"/>
          <p:cNvSpPr txBox="1"/>
          <p:nvPr/>
        </p:nvSpPr>
        <p:spPr>
          <a:xfrm>
            <a:off x="6949440" y="4526280"/>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4" name="Text 22"/>
          <p:cNvSpPr txBox="1"/>
          <p:nvPr/>
        </p:nvSpPr>
        <p:spPr>
          <a:xfrm>
            <a:off x="7333488" y="4526280"/>
            <a:ext cx="435254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落ち始めると急に下がる</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（曲線の肩を越える）</a:t>
            </a:r>
            <a:endParaRPr lang="ja-JP"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誤差の要因</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数値</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遅れ</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誤差</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Barker SJ 1987 / Barker SJ 1989 / Coté CJ 1988 / Hinkelbein J 2007 / Scheller MS 1986</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3112" cy="914400"/>
        </p:xfrm>
        <a:graphic>
          <a:graphicData uri="http://schemas.openxmlformats.org/drawingml/2006/table">
            <a:tbl>
              <a:tblPr/>
              <a:tblGrid>
                <a:gridCol w="5669280"/>
                <a:gridCol w="5513832"/>
              </a:tblGrid>
              <a:tr h="420624">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要因</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表示への影響</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420624">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体動・シバリング</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値が乱れる。脈拍数が心電図と合わない</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20624">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低灌流（冷え・昇圧薬・カフの加圧）</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測れない、遅れる</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20624">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周囲の強い光・電気メス</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ノイズ</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20624">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濃い色のマニキュア・人工爪</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やや低めに出る、測れないことがある</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841248">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色素（メチレンブルー、</a:t>
                      </a:r>
                      <a:endParaRPr lang="en-US" sz="2200" dirty="0">
                        <a:latin typeface="メイリオ" charset="0"/>
                        <a:ea typeface="メイリオ" charset="0"/>
                        <a:cs typeface="メイリオ" charset="0"/>
                      </a:endParaRPr>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インドシアニングリーン）</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一過性に低く出る</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20624">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一酸化炭素ヘモグロビン</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高く出る（実際より良く見える）</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20624">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メトヘモグロビン</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85% 付近に近づく</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20624">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静脈の拍動（強い締め付け、三尖弁逆流）</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低く出る</a:t>
                      </a:r>
                      <a:endParaRPr lang="en-US" sz="2200" dirty="0">
                        <a:latin typeface="メイリオ" charset="0"/>
                        <a:ea typeface="メイリオ" charset="0"/>
                        <a:cs typeface="メイリオ" charset="0"/>
                      </a:endParaRPr>
                    </a:p>
                  </a:txBody>
                  <a:tcPr marL="91440" marR="9144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脈波と脈拍数も見る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数値</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遅れ</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誤差</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教科書的記述（プレチスモグラム）</a:t>
            </a:r>
            <a:endParaRPr lang="ja-JP" sz="1600" dirty="0"/>
          </a:p>
        </p:txBody>
      </p:sp>
      <p:sp>
        <p:nvSpPr>
          <p:cNvPr id="11" name="Shape 9"/>
          <p:cNvSpPr/>
          <p:nvPr/>
        </p:nvSpPr>
        <p:spPr>
          <a:xfrm>
            <a:off x="502920" y="1691640"/>
            <a:ext cx="5362956" cy="1325880"/>
          </a:xfrm>
          <a:prstGeom prst="roundRect">
            <a:avLst>
              <a:gd name="adj" fmla="val 5517"/>
            </a:avLst>
          </a:prstGeom>
          <a:solidFill>
            <a:srgbClr val="F2F2F2"/>
          </a:solidFill>
          <a:ln/>
        </p:spPr>
      </p:sp>
      <p:sp>
        <p:nvSpPr>
          <p:cNvPr id="12" name="Shape 10"/>
          <p:cNvSpPr/>
          <p:nvPr/>
        </p:nvSpPr>
        <p:spPr>
          <a:xfrm>
            <a:off x="6323076" y="1691640"/>
            <a:ext cx="5362956" cy="1325880"/>
          </a:xfrm>
          <a:prstGeom prst="roundRect">
            <a:avLst>
              <a:gd name="adj" fmla="val 5517"/>
            </a:avLst>
          </a:prstGeom>
          <a:solidFill>
            <a:srgbClr val="F2F2F2"/>
          </a:solidFill>
          <a:ln/>
        </p:spPr>
      </p:sp>
      <p:sp>
        <p:nvSpPr>
          <p:cNvPr id="13" name="Shape 11"/>
          <p:cNvSpPr/>
          <p:nvPr/>
        </p:nvSpPr>
        <p:spPr>
          <a:xfrm>
            <a:off x="777240" y="1874520"/>
            <a:ext cx="4814316" cy="960120"/>
          </a:xfrm>
          <a:custGeom>
            <a:avLst/>
            <a:gdLst/>
            <a:ahLst/>
            <a:cxnLst/>
            <a:rect l="l" t="t" r="r" b="b"/>
            <a:pathLst>
              <a:path w="4814316" h="960120">
                <a:moveTo>
                  <a:pt x="0" y="960120"/>
                </a:moveTo>
                <a:lnTo>
                  <a:pt x="60350" y="672084"/>
                </a:lnTo>
                <a:lnTo>
                  <a:pt x="107899" y="239573"/>
                </a:lnTo>
                <a:lnTo>
                  <a:pt x="144475" y="47549"/>
                </a:lnTo>
                <a:lnTo>
                  <a:pt x="180137" y="0"/>
                </a:lnTo>
                <a:lnTo>
                  <a:pt x="228600" y="38405"/>
                </a:lnTo>
                <a:lnTo>
                  <a:pt x="324612" y="192024"/>
                </a:lnTo>
                <a:lnTo>
                  <a:pt x="421538" y="364846"/>
                </a:lnTo>
                <a:lnTo>
                  <a:pt x="481889" y="460858"/>
                </a:lnTo>
                <a:lnTo>
                  <a:pt x="517550" y="489204"/>
                </a:lnTo>
                <a:lnTo>
                  <a:pt x="566014" y="431597"/>
                </a:lnTo>
                <a:lnTo>
                  <a:pt x="613562" y="422453"/>
                </a:lnTo>
                <a:lnTo>
                  <a:pt x="685800" y="480060"/>
                </a:lnTo>
                <a:lnTo>
                  <a:pt x="806501" y="604418"/>
                </a:lnTo>
                <a:lnTo>
                  <a:pt x="950976" y="738835"/>
                </a:lnTo>
                <a:lnTo>
                  <a:pt x="1083564" y="844906"/>
                </a:lnTo>
                <a:lnTo>
                  <a:pt x="1203350" y="921715"/>
                </a:lnTo>
                <a:lnTo>
                  <a:pt x="1263701" y="672084"/>
                </a:lnTo>
                <a:lnTo>
                  <a:pt x="1312164" y="239573"/>
                </a:lnTo>
                <a:lnTo>
                  <a:pt x="1347826" y="47549"/>
                </a:lnTo>
                <a:lnTo>
                  <a:pt x="1384402" y="0"/>
                </a:lnTo>
                <a:lnTo>
                  <a:pt x="1431950" y="38405"/>
                </a:lnTo>
                <a:lnTo>
                  <a:pt x="1528877" y="192024"/>
                </a:lnTo>
                <a:lnTo>
                  <a:pt x="1624889" y="364846"/>
                </a:lnTo>
                <a:lnTo>
                  <a:pt x="1685239" y="460858"/>
                </a:lnTo>
                <a:lnTo>
                  <a:pt x="1720901" y="489204"/>
                </a:lnTo>
                <a:lnTo>
                  <a:pt x="1769364" y="431597"/>
                </a:lnTo>
                <a:lnTo>
                  <a:pt x="1817827" y="422453"/>
                </a:lnTo>
                <a:lnTo>
                  <a:pt x="1890065" y="480060"/>
                </a:lnTo>
                <a:lnTo>
                  <a:pt x="2009851" y="604418"/>
                </a:lnTo>
                <a:lnTo>
                  <a:pt x="2154326" y="738835"/>
                </a:lnTo>
                <a:lnTo>
                  <a:pt x="2286914" y="844906"/>
                </a:lnTo>
                <a:lnTo>
                  <a:pt x="2407615" y="921715"/>
                </a:lnTo>
                <a:lnTo>
                  <a:pt x="2467051" y="672084"/>
                </a:lnTo>
                <a:lnTo>
                  <a:pt x="2515514" y="239573"/>
                </a:lnTo>
                <a:lnTo>
                  <a:pt x="2551176" y="47549"/>
                </a:lnTo>
                <a:lnTo>
                  <a:pt x="2587752" y="0"/>
                </a:lnTo>
                <a:lnTo>
                  <a:pt x="2636215" y="38405"/>
                </a:lnTo>
                <a:lnTo>
                  <a:pt x="2732227" y="192024"/>
                </a:lnTo>
                <a:lnTo>
                  <a:pt x="2828239" y="364846"/>
                </a:lnTo>
                <a:lnTo>
                  <a:pt x="2888590" y="460858"/>
                </a:lnTo>
                <a:lnTo>
                  <a:pt x="2924251" y="489204"/>
                </a:lnTo>
                <a:lnTo>
                  <a:pt x="2972714" y="431597"/>
                </a:lnTo>
                <a:lnTo>
                  <a:pt x="3021178" y="422453"/>
                </a:lnTo>
                <a:lnTo>
                  <a:pt x="3093415" y="480060"/>
                </a:lnTo>
                <a:lnTo>
                  <a:pt x="3213202" y="604418"/>
                </a:lnTo>
                <a:lnTo>
                  <a:pt x="3357677" y="738835"/>
                </a:lnTo>
                <a:lnTo>
                  <a:pt x="3490265" y="844906"/>
                </a:lnTo>
                <a:lnTo>
                  <a:pt x="3610966" y="921715"/>
                </a:lnTo>
                <a:lnTo>
                  <a:pt x="3671316" y="672084"/>
                </a:lnTo>
                <a:lnTo>
                  <a:pt x="3718865" y="239573"/>
                </a:lnTo>
                <a:lnTo>
                  <a:pt x="3755441" y="47549"/>
                </a:lnTo>
                <a:lnTo>
                  <a:pt x="3791102" y="0"/>
                </a:lnTo>
                <a:lnTo>
                  <a:pt x="3839566" y="38405"/>
                </a:lnTo>
                <a:lnTo>
                  <a:pt x="3935578" y="192024"/>
                </a:lnTo>
                <a:lnTo>
                  <a:pt x="4031590" y="364846"/>
                </a:lnTo>
                <a:lnTo>
                  <a:pt x="4091940" y="460858"/>
                </a:lnTo>
                <a:lnTo>
                  <a:pt x="4128516" y="489204"/>
                </a:lnTo>
                <a:lnTo>
                  <a:pt x="4176065" y="431597"/>
                </a:lnTo>
                <a:lnTo>
                  <a:pt x="4224528" y="422453"/>
                </a:lnTo>
                <a:lnTo>
                  <a:pt x="4296766" y="480060"/>
                </a:lnTo>
                <a:lnTo>
                  <a:pt x="4417466" y="604418"/>
                </a:lnTo>
                <a:lnTo>
                  <a:pt x="4561942" y="738835"/>
                </a:lnTo>
                <a:lnTo>
                  <a:pt x="4693615" y="844906"/>
                </a:lnTo>
                <a:lnTo>
                  <a:pt x="4814316" y="921715"/>
                </a:lnTo>
              </a:path>
            </a:pathLst>
          </a:custGeom>
          <a:noFill/>
          <a:ln w="44450">
            <a:solidFill>
              <a:srgbClr val="0072B2"/>
            </a:solidFill>
            <a:prstDash val="solid"/>
          </a:ln>
        </p:spPr>
      </p:sp>
      <p:sp>
        <p:nvSpPr>
          <p:cNvPr id="14" name="Shape 12"/>
          <p:cNvSpPr/>
          <p:nvPr/>
        </p:nvSpPr>
        <p:spPr>
          <a:xfrm>
            <a:off x="6597396" y="2161392"/>
            <a:ext cx="4709160" cy="521584"/>
          </a:xfrm>
          <a:custGeom>
            <a:avLst/>
            <a:gdLst/>
            <a:ahLst/>
            <a:cxnLst/>
            <a:rect l="l" t="t" r="r" b="b"/>
            <a:pathLst>
              <a:path w="4709160" h="521584">
                <a:moveTo>
                  <a:pt x="0" y="445313"/>
                </a:moveTo>
                <a:lnTo>
                  <a:pt x="45720" y="378562"/>
                </a:lnTo>
                <a:lnTo>
                  <a:pt x="91440" y="407822"/>
                </a:lnTo>
                <a:lnTo>
                  <a:pt x="137160" y="384048"/>
                </a:lnTo>
                <a:lnTo>
                  <a:pt x="182880" y="295351"/>
                </a:lnTo>
                <a:lnTo>
                  <a:pt x="228600" y="276149"/>
                </a:lnTo>
                <a:lnTo>
                  <a:pt x="274320" y="210312"/>
                </a:lnTo>
                <a:lnTo>
                  <a:pt x="320040" y="147218"/>
                </a:lnTo>
                <a:lnTo>
                  <a:pt x="365760" y="75895"/>
                </a:lnTo>
                <a:lnTo>
                  <a:pt x="411480" y="64008"/>
                </a:lnTo>
                <a:lnTo>
                  <a:pt x="457200" y="72238"/>
                </a:lnTo>
                <a:lnTo>
                  <a:pt x="502920" y="112471"/>
                </a:lnTo>
                <a:lnTo>
                  <a:pt x="548640" y="161849"/>
                </a:lnTo>
                <a:lnTo>
                  <a:pt x="594360" y="170993"/>
                </a:lnTo>
                <a:lnTo>
                  <a:pt x="640080" y="196596"/>
                </a:lnTo>
                <a:lnTo>
                  <a:pt x="685800" y="271577"/>
                </a:lnTo>
                <a:lnTo>
                  <a:pt x="731520" y="265176"/>
                </a:lnTo>
                <a:lnTo>
                  <a:pt x="777240" y="302666"/>
                </a:lnTo>
                <a:lnTo>
                  <a:pt x="822960" y="360274"/>
                </a:lnTo>
                <a:lnTo>
                  <a:pt x="868680" y="383134"/>
                </a:lnTo>
                <a:lnTo>
                  <a:pt x="914400" y="330098"/>
                </a:lnTo>
                <a:lnTo>
                  <a:pt x="960120" y="331927"/>
                </a:lnTo>
                <a:lnTo>
                  <a:pt x="1005840" y="237744"/>
                </a:lnTo>
                <a:lnTo>
                  <a:pt x="1051560" y="223114"/>
                </a:lnTo>
                <a:lnTo>
                  <a:pt x="1097280" y="188366"/>
                </a:lnTo>
                <a:lnTo>
                  <a:pt x="1143000" y="222199"/>
                </a:lnTo>
                <a:lnTo>
                  <a:pt x="1188720" y="229514"/>
                </a:lnTo>
                <a:lnTo>
                  <a:pt x="1234440" y="209398"/>
                </a:lnTo>
                <a:lnTo>
                  <a:pt x="1280160" y="242316"/>
                </a:lnTo>
                <a:lnTo>
                  <a:pt x="1325880" y="296266"/>
                </a:lnTo>
                <a:lnTo>
                  <a:pt x="1371600" y="383134"/>
                </a:lnTo>
                <a:lnTo>
                  <a:pt x="1417320" y="395021"/>
                </a:lnTo>
                <a:lnTo>
                  <a:pt x="1463040" y="347472"/>
                </a:lnTo>
                <a:lnTo>
                  <a:pt x="1508760" y="323698"/>
                </a:lnTo>
                <a:lnTo>
                  <a:pt x="1554480" y="333756"/>
                </a:lnTo>
                <a:lnTo>
                  <a:pt x="1600200" y="292608"/>
                </a:lnTo>
                <a:lnTo>
                  <a:pt x="1645920" y="287122"/>
                </a:lnTo>
                <a:lnTo>
                  <a:pt x="1691640" y="181966"/>
                </a:lnTo>
                <a:lnTo>
                  <a:pt x="1737360" y="131674"/>
                </a:lnTo>
                <a:lnTo>
                  <a:pt x="1783080" y="125273"/>
                </a:lnTo>
                <a:lnTo>
                  <a:pt x="1828800" y="82296"/>
                </a:lnTo>
                <a:lnTo>
                  <a:pt x="1874520" y="64008"/>
                </a:lnTo>
                <a:lnTo>
                  <a:pt x="1920240" y="0"/>
                </a:lnTo>
                <a:lnTo>
                  <a:pt x="1965960" y="1829"/>
                </a:lnTo>
                <a:lnTo>
                  <a:pt x="2011680" y="15545"/>
                </a:lnTo>
                <a:lnTo>
                  <a:pt x="2057400" y="50292"/>
                </a:lnTo>
                <a:lnTo>
                  <a:pt x="2103120" y="88697"/>
                </a:lnTo>
                <a:lnTo>
                  <a:pt x="2148840" y="98755"/>
                </a:lnTo>
                <a:lnTo>
                  <a:pt x="2194560" y="186538"/>
                </a:lnTo>
                <a:lnTo>
                  <a:pt x="2240280" y="169164"/>
                </a:lnTo>
                <a:lnTo>
                  <a:pt x="2286000" y="254203"/>
                </a:lnTo>
                <a:lnTo>
                  <a:pt x="2331720" y="320954"/>
                </a:lnTo>
                <a:lnTo>
                  <a:pt x="2377440" y="318211"/>
                </a:lnTo>
                <a:lnTo>
                  <a:pt x="2423160" y="373990"/>
                </a:lnTo>
                <a:lnTo>
                  <a:pt x="2468880" y="411480"/>
                </a:lnTo>
                <a:lnTo>
                  <a:pt x="2514600" y="493776"/>
                </a:lnTo>
                <a:lnTo>
                  <a:pt x="2560320" y="420624"/>
                </a:lnTo>
                <a:lnTo>
                  <a:pt x="2606040" y="439826"/>
                </a:lnTo>
                <a:lnTo>
                  <a:pt x="2651760" y="401422"/>
                </a:lnTo>
                <a:lnTo>
                  <a:pt x="2697480" y="401422"/>
                </a:lnTo>
                <a:lnTo>
                  <a:pt x="2743200" y="368503"/>
                </a:lnTo>
                <a:lnTo>
                  <a:pt x="2788920" y="356616"/>
                </a:lnTo>
                <a:lnTo>
                  <a:pt x="2834640" y="255118"/>
                </a:lnTo>
                <a:lnTo>
                  <a:pt x="2880360" y="262433"/>
                </a:lnTo>
                <a:lnTo>
                  <a:pt x="2926080" y="240487"/>
                </a:lnTo>
                <a:lnTo>
                  <a:pt x="2971800" y="320040"/>
                </a:lnTo>
                <a:lnTo>
                  <a:pt x="3017520" y="299009"/>
                </a:lnTo>
                <a:lnTo>
                  <a:pt x="3063240" y="357530"/>
                </a:lnTo>
                <a:lnTo>
                  <a:pt x="3108960" y="432511"/>
                </a:lnTo>
                <a:lnTo>
                  <a:pt x="3154680" y="435254"/>
                </a:lnTo>
                <a:lnTo>
                  <a:pt x="3200400" y="521208"/>
                </a:lnTo>
                <a:lnTo>
                  <a:pt x="3246120" y="457200"/>
                </a:lnTo>
                <a:lnTo>
                  <a:pt x="3291840" y="510235"/>
                </a:lnTo>
                <a:lnTo>
                  <a:pt x="3337560" y="437998"/>
                </a:lnTo>
                <a:lnTo>
                  <a:pt x="3383280" y="450799"/>
                </a:lnTo>
                <a:lnTo>
                  <a:pt x="3429000" y="428854"/>
                </a:lnTo>
                <a:lnTo>
                  <a:pt x="3474720" y="394106"/>
                </a:lnTo>
                <a:lnTo>
                  <a:pt x="3520440" y="314554"/>
                </a:lnTo>
                <a:lnTo>
                  <a:pt x="3566160" y="298094"/>
                </a:lnTo>
                <a:lnTo>
                  <a:pt x="3611880" y="211226"/>
                </a:lnTo>
                <a:lnTo>
                  <a:pt x="3657600" y="224942"/>
                </a:lnTo>
                <a:lnTo>
                  <a:pt x="3703320" y="214884"/>
                </a:lnTo>
                <a:lnTo>
                  <a:pt x="3749040" y="200254"/>
                </a:lnTo>
                <a:lnTo>
                  <a:pt x="3794760" y="249631"/>
                </a:lnTo>
                <a:lnTo>
                  <a:pt x="3840480" y="218542"/>
                </a:lnTo>
                <a:lnTo>
                  <a:pt x="3886200" y="296266"/>
                </a:lnTo>
                <a:lnTo>
                  <a:pt x="3931920" y="273406"/>
                </a:lnTo>
                <a:lnTo>
                  <a:pt x="3977640" y="368503"/>
                </a:lnTo>
                <a:lnTo>
                  <a:pt x="4023360" y="350215"/>
                </a:lnTo>
                <a:lnTo>
                  <a:pt x="4069080" y="424282"/>
                </a:lnTo>
                <a:lnTo>
                  <a:pt x="4114800" y="472745"/>
                </a:lnTo>
                <a:lnTo>
                  <a:pt x="4160520" y="463601"/>
                </a:lnTo>
                <a:lnTo>
                  <a:pt x="4206240" y="437083"/>
                </a:lnTo>
                <a:lnTo>
                  <a:pt x="4251960" y="454457"/>
                </a:lnTo>
                <a:lnTo>
                  <a:pt x="4297680" y="381305"/>
                </a:lnTo>
                <a:lnTo>
                  <a:pt x="4343400" y="351130"/>
                </a:lnTo>
                <a:lnTo>
                  <a:pt x="4389120" y="333756"/>
                </a:lnTo>
                <a:lnTo>
                  <a:pt x="4434840" y="306324"/>
                </a:lnTo>
                <a:lnTo>
                  <a:pt x="4480560" y="273406"/>
                </a:lnTo>
                <a:lnTo>
                  <a:pt x="4526280" y="339242"/>
                </a:lnTo>
                <a:lnTo>
                  <a:pt x="4572000" y="295351"/>
                </a:lnTo>
                <a:lnTo>
                  <a:pt x="4617720" y="364846"/>
                </a:lnTo>
                <a:lnTo>
                  <a:pt x="4663440" y="395935"/>
                </a:lnTo>
                <a:lnTo>
                  <a:pt x="4709160" y="365760"/>
                </a:lnTo>
              </a:path>
            </a:pathLst>
          </a:custGeom>
          <a:noFill/>
          <a:ln w="38100">
            <a:solidFill>
              <a:srgbClr val="D55E00"/>
            </a:solidFill>
            <a:prstDash val="solid"/>
          </a:ln>
        </p:spPr>
      </p:sp>
      <p:sp>
        <p:nvSpPr>
          <p:cNvPr id="15" name="Text 13"/>
          <p:cNvSpPr txBox="1"/>
          <p:nvPr/>
        </p:nvSpPr>
        <p:spPr>
          <a:xfrm>
            <a:off x="502920" y="3200400"/>
            <a:ext cx="5362956" cy="457200"/>
          </a:xfrm>
          <a:prstGeom prst="rect">
            <a:avLst/>
          </a:prstGeom>
          <a:noFill/>
          <a:ln/>
        </p:spPr>
        <p:txBody>
          <a:bodyPr wrap="square" lIns="0" tIns="0" rIns="0" bIns="0" rtlCol="0" anchor="t"/>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良い脈波：数値を信じてよい</a:t>
            </a:r>
            <a:endParaRPr lang="ja-JP" sz="2400" dirty="0"/>
          </a:p>
        </p:txBody>
      </p:sp>
      <p:sp>
        <p:nvSpPr>
          <p:cNvPr id="16" name="Text 14"/>
          <p:cNvSpPr txBox="1"/>
          <p:nvPr/>
        </p:nvSpPr>
        <p:spPr>
          <a:xfrm>
            <a:off x="6323076" y="3200400"/>
            <a:ext cx="5362956" cy="457200"/>
          </a:xfrm>
          <a:prstGeom prst="rect">
            <a:avLst/>
          </a:prstGeom>
          <a:noFill/>
          <a:ln/>
        </p:spPr>
        <p:txBody>
          <a:bodyPr wrap="square" lIns="0" tIns="0" rIns="0" bIns="0" rtlCol="0" anchor="t"/>
          <a:lstStyle/>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悪い脈波：数値を信じない</a:t>
            </a:r>
            <a:endParaRPr lang="ja-JP" sz="2400" dirty="0"/>
          </a:p>
        </p:txBody>
      </p:sp>
      <p:sp>
        <p:nvSpPr>
          <p:cNvPr id="17" name="Text 15"/>
          <p:cNvSpPr txBox="1"/>
          <p:nvPr/>
        </p:nvSpPr>
        <p:spPr>
          <a:xfrm>
            <a:off x="502920" y="3950208"/>
            <a:ext cx="11155680" cy="2212848"/>
          </a:xfrm>
          <a:prstGeom prst="rect">
            <a:avLst/>
          </a:prstGeom>
          <a:noFill/>
          <a:ln/>
        </p:spPr>
        <p:txBody>
          <a:bodyPr wrap="square" lIns="0" tIns="0" rIns="0" bIns="0" rtlCol="0" anchor="t"/>
          <a:lstStyle/>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脈波の形がきれいなときだけ、数値を信じる</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脈拍数が心電図の心拍数と合っているか</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灌流指標（PI）が低ければ、部位を変える・温める</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脈波の呼吸性変動は輸液反応性のヒント</a:t>
            </a:r>
            <a:r>
              <a:rPr lang="ja-JP" altLang="en-US" sz="2400" b="1" dirty="0">
                <a:solidFill>
                  <a:srgbClr val="00A8AA"/>
                </a:solidFill>
                <a:latin typeface="メイリオ" pitchFamily="34" charset="0"/>
                <a:ea typeface="メイリオ" pitchFamily="34" charset="-122"/>
                <a:cs typeface="メイリオ" pitchFamily="34" charset="-120"/>
              </a:rPr>
              <a:t>（→ 9-8）</a:t>
            </a:r>
            <a:endParaRPr lang="ja-JP"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現場での使い方</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数値</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遅れ</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誤差</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 / ASA Standards for</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Basic Anesthetic Monitoring / 日本医療機能評価機構 医療安全情報 No.161（2020年4月）</a:t>
            </a:r>
            <a:endParaRPr lang="ja-JP" sz="1600" dirty="0"/>
          </a:p>
        </p:txBody>
      </p:sp>
      <p:sp>
        <p:nvSpPr>
          <p:cNvPr id="11" name="Text 9"/>
          <p:cNvSpPr txBox="1"/>
          <p:nvPr/>
        </p:nvSpPr>
        <p:spPr>
          <a:xfrm>
            <a:off x="502920" y="1874520"/>
            <a:ext cx="11155680" cy="3941064"/>
          </a:xfrm>
          <a:prstGeom prst="rect">
            <a:avLst/>
          </a:prstGeom>
          <a:noFill/>
          <a:ln/>
        </p:spPr>
        <p:txBody>
          <a:bodyPr wrap="square" lIns="0" tIns="0" rIns="0" bIns="0" rtlCol="0" anchor="t"/>
          <a:lstStyle/>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センサーは指・耳・額。血圧計と同じ腕は避ける</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アラームの下限は患者ごとに決める</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下がったら：センサー → 患者 → 回路の順に確かめる</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酸素投与中は、</a:t>
            </a:r>
            <a:r>
              <a:rPr lang="ja-JP" altLang="en-US" sz="2800" b="1" dirty="0">
                <a:solidFill>
                  <a:srgbClr val="D55E00"/>
                </a:solidFill>
                <a:latin typeface="メイリオ" pitchFamily="34" charset="0"/>
                <a:ea typeface="メイリオ" pitchFamily="34" charset="-122"/>
                <a:cs typeface="メイリオ" pitchFamily="34" charset="-120"/>
              </a:rPr>
              <a:t>SpO2 が保たれたまま低換気が進む</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長時間は部位を変える（圧迫・熱傷を防ぐ）</a:t>
            </a:r>
            <a:endParaRPr lang="ja-JP"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数値</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遅れ</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誤差</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Sjoding MW, et al. N Engl J Med 2020;383:2477-2478</a:t>
            </a:r>
            <a:endParaRPr lang="ja-JP" sz="1600" dirty="0"/>
          </a:p>
        </p:txBody>
      </p:sp>
      <p:sp>
        <p:nvSpPr>
          <p:cNvPr id="11" name="Text 9"/>
          <p:cNvSpPr txBox="1"/>
          <p:nvPr/>
        </p:nvSpPr>
        <p:spPr>
          <a:xfrm>
            <a:off x="502920" y="1874520"/>
            <a:ext cx="11155680" cy="3941064"/>
          </a:xfrm>
          <a:prstGeom prst="rect">
            <a:avLst/>
          </a:prstGeom>
          <a:noFill/>
          <a:ln/>
        </p:spPr>
        <p:txBody>
          <a:bodyPr wrap="square" lIns="0" tIns="0" rIns="0" bIns="0" rtlCol="0" anchor="t"/>
          <a:lstStyle/>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2つの光の吸収の比で、動脈血の酸素飽和度を推定する</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SpO2 90% ≈ PaO2 60 mmHg。100% では余裕は分からない</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誤差（Arms）は 2〜3%。低い値と濃い皮膚で増える</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表示は数十秒遅れる。無呼吸は </a:t>
            </a:r>
            <a:r>
              <a:rPr lang="ja-JP" altLang="en-US" sz="2800" b="1" dirty="0">
                <a:solidFill>
                  <a:srgbClr val="00A8AA"/>
                </a:solidFill>
                <a:latin typeface="メイリオ" pitchFamily="34" charset="0"/>
                <a:ea typeface="メイリオ" pitchFamily="34" charset="-122"/>
                <a:cs typeface="メイリオ" pitchFamily="34" charset="-120"/>
              </a:rPr>
              <a:t>EtCO2 で気づく</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脈波の形と脈拍数が合うときだけ、</a:t>
            </a:r>
            <a:r>
              <a:rPr lang="ja-JP" altLang="en-US" sz="2800" b="1" dirty="0">
                <a:solidFill>
                  <a:srgbClr val="D55E00"/>
                </a:solidFill>
                <a:latin typeface="メイリオ" pitchFamily="34" charset="0"/>
                <a:ea typeface="メイリオ" pitchFamily="34" charset="-122"/>
                <a:cs typeface="メイリオ" pitchFamily="34" charset="-120"/>
              </a:rPr>
              <a:t>数値を信じる</a:t>
            </a:r>
            <a:endParaRPr lang="ja-JP"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2-4 パルスオキシメータ</dc:title>
  <dc:subject/>
  <dc:creator>Anes-lecture</dc:creator>
  <cp:lastModifiedBy>Anes-lecture</cp:lastModifiedBy>
  <cp:revision>1</cp:revision>
  <dcterms:created xsi:type="dcterms:W3CDTF">2026-10-14T00:26:23Z</dcterms:created>
  <dcterms:modified xsi:type="dcterms:W3CDTF">2026-10-14T00:26:23Z</dcterms:modified>
</cp:coreProperties>
</file>