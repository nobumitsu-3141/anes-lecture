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筋弛緩薬は、気管挿管と手術のために骨格筋を動かなくする薬で、意識も痛みも取らない。この回では、神経筋接合部での仕組み、国内で使う 2 つの薬（ロクロニウム、スキサメトニウム）の用量と特徴、命に関わる副作用（高カリウム血症、悪性高熱症、アナフィラキシー）、安全に使う原則を扱う。モニターの使い方は次の 2-6、拮抗は 3-6 で扱う。</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作用部位: 筋弛緩薬は神経筋接合部で働き、運動神経から骨格筋への伝達を止める。横隔膜も含めて骨格筋が動かなくなるので、投与した時点で患者は自分で呼吸できなくなる。</a:t>
            </a:r>
          </a:p>
          <a:p>
            <a:r>
              <a:rPr lang="ja-JP" altLang="en-US" dirty="0"/>
              <a:t>できないこと: 中枢には作用しないので、意識も痛みも残る。筋弛緩薬だけが効いていて麻酔が浅い状態は「動けないのに起きている」術中覚醒の典型で（→ 2-8）、筋弛緩薬を使う症例では麻酔深度を特に意識する。</a:t>
            </a:r>
          </a:p>
          <a:p>
            <a:r>
              <a:rPr lang="ja-JP" altLang="en-US" dirty="0"/>
              <a:t>原則: 筋弛緩薬を入れたら換気は自分の責任になる。投与前に、換気と挿管の計画、器具（声門上器具を含む）、応援の呼び方を整えておく（→ 7 章）。マスク換気を確かめてから入れる慣習があるが、根拠は乏しい。筋弛緩薬はマスク換気を悪化させず、むしろ改善するという RCT がある（Warters 2011、Ikeda 2012、Min 2019）。</a:t>
            </a:r>
          </a:p>
          <a:p>
            <a:r>
              <a:rPr lang="ja-JP" altLang="en-US" dirty="0"/>
              <a:t>参考: Warters RD, et al. Anaesthesia 2011;66:163-167 / Ikeda A, et al. Anesthesiology 2012;117:487-493</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非脱分極性: ロクロニウム、ベクロニウムなど。アセチルコリン受容体に結合してアセチルコリンの結合を妨げる（競合的拮抗）。受容体を占める割合が増えるにつれて収縮が弱まり、筋は静かに動かなくなる。アセチルコリンを増やす（ネオスチグミン）か、薬そのものを包み込む（スガマデクス）ことで拮抗できる（→ 3-6）。</a:t>
            </a:r>
          </a:p>
          <a:p>
            <a:r>
              <a:rPr lang="ja-JP" altLang="en-US" dirty="0"/>
              <a:t>脱分極性: スキサメトニウム。受容体に結合して筋を脱分極させ、その状態が続くため次の刺激に反応できなくなる。投与直後に筋線維束攣縮（体がぴくぴくする）が見え、そのあと弛緩する。血漿コリンエステラーゼで速やかに分解されるので作用が短い。拮抗薬はなく、分解を待つ。</a:t>
            </a:r>
          </a:p>
          <a:p>
            <a:r>
              <a:rPr lang="ja-JP" altLang="en-US" dirty="0"/>
              <a:t>モニターでの違い: 非脱分極性遮断では TOF に減衰（fade）が出る。スキサメトニウムを通常量で使う第Ⅰ相遮断では減衰はほとんど出ない。反復投与や持続投与で第Ⅱ相遮断に移ると減衰が出て、回復が遅れることがある（→ 2-6）。</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用量: 添付文書の原文は『通常、成人には挿管用量としてロクロニウム臭化物0.6mg/kgを静脈内投与し、術中必要に応じて0.1～0.2mg/kgを追加投与する。持続注入により投与する場合は、7μg/kg/分の投与速度で持続注入を開始する。なお、年齢、症状に応じて適宜増減するが、挿管用量の上限は0.9mg/kgまでとする。』。上限が書かれているのは挿管用量だけで、追加投与と持続注入には上限の記載がない。作用持続時間は用量に依存して長くなるため、0.9 mg/kg を挿管用量として投与するときは注意する（7.1）。持続注入では筋弛緩モニタリング装置を用いて注入速度を調節する（7.2）。高齢者では挿管用量を 0.6 mg/kg として慎重に投与する（9.8）。</a:t>
            </a:r>
          </a:p>
          <a:p>
            <a:r>
              <a:rPr lang="ja-JP" altLang="en-US" dirty="0"/>
              <a:t>発現: 添付文書の臨床成績（国内第Ⅲ相）では、0.6 mg/kg の作用発現時間（投与完了から最大遮断まで）は 84.8±28.5 秒、90% 遮断までは 70.7±22.1 秒。高齢者（65〜92 歳）では、母指内転筋の TOF が消えるまで 186.8±37.5 秒（約 3 分）かかった（Takagi 2020）。心拍出量が低い患者でも発現が遅れる（添付文書 9.1.8）。</a:t>
            </a:r>
          </a:p>
          <a:p>
            <a:r>
              <a:rPr lang="ja-JP" altLang="en-US" dirty="0"/>
              <a:t>持続: 作用持続時間の添付文書の定義は、投与後に単収縮高が 25% に回復するまでの時間で、TOF の回復ではない。0.6 mg/kg で非高齢者 27.5 分、高齢者 42.4 分で、高齢者は約 1.5 倍（9.8）。国内第Ⅲ相試験では、プロポフォール麻酔下 41.2±8.7 分、セボフルラン麻酔下 53.4±36.9 分と 56.4±23.6 分で、吸入麻酔で延びる。スライドの「30〜60 分」はこれらの値のおおよその幅で、追加投与の目安であり、抜管できる回復ではない。0.9 mg/kg では、T2 が再び出てから TOF比 0.9 に自然回復するまで、さらに 82.1±27.6 分かかった（添付文書 17.3）。中時間作用型の筋弛緩薬を挿管用量 1 回だけ使い、拮抗しなかった研究では、投与から 2 時間以上たった患者の 37% で TOF比 0.9 未満だった（Debaene 2003）。</a:t>
            </a:r>
          </a:p>
          <a:p>
            <a:r>
              <a:rPr lang="ja-JP" altLang="en-US" dirty="0"/>
              <a:t>小児: 添付文書（9.7 小児等）には『作用発現時間が早く、また小児では作用持続時間が短い』とあり、国内では小児の臨床試験は行われていない。持続が短いのは乳児期を過ぎた小児で、新生児・乳児ではクリアランスが低いため作用がかえって長くなる（Saldien 2026）。</a:t>
            </a:r>
          </a:p>
          <a:p>
            <a:r>
              <a:rPr lang="ja-JP" altLang="en-US" dirty="0"/>
              <a:t>注意: 注射時に痛みや手の引っ込め（withdrawal）がある。ほとんど代謝されず（血漿中に少量の 17-脱アセチル体が出る程度）、未変化体のまま主に胆汁中に、一部は尿中に排泄される（持続注入の開始から投与終了 12 時間後までの未変化体の尿中排泄率は 38%）。そのため、胆道疾患、肝疾患、腎疾患、高齢者では排泄が遅れて作用が遷延する。周術期アナフィラキシーの主な原因薬の一つ（→ S8）。</a:t>
            </a:r>
          </a:p>
          <a:p>
            <a:r>
              <a:rPr lang="ja-JP" altLang="en-US" dirty="0"/>
              <a:t>ベクロニウムも国内で使えるが、この講義ではロクロニウムを標準とする。</a:t>
            </a:r>
          </a:p>
          <a:p>
            <a:r>
              <a:rPr lang="ja-JP" altLang="en-US" dirty="0"/>
              <a:t>参考: Takagi S, et al. J Anesth 2020;34:876-880 / Saldien V, et al. Eur J Anaesthesiol 2026;43:324-334</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迅速導入（RSI）: 誤嚥のリスクが高い患者で、マスク換気をせずに素早く挿管する方法（→ 7 章）。ロクロニウムは用量を増やすと発現が速くなる。発現（T1 消失まで）は 0.9 mg/kg で 75±28 秒、1.2 mg/kg で 55±14 秒、スキサメトニウム 1 mg/kg で 50±17 秒だった（Magorian 1993。60 秒で挿管を試みている）。国内の添付文書の臨床成績では、0.9 mg/kg の作用発現時間（最大遮断まで）は 77.8±31.0 秒。添付文書の挿管用量の上限は 0.9 mg/kg で、1.2 mg/kg は添付文書外の用量（海外の RSI で使われる量）。</a:t>
            </a:r>
          </a:p>
          <a:p>
            <a:r>
              <a:rPr lang="ja-JP" altLang="en-US" dirty="0"/>
              <a:t>代償: 作用持続時間は用量に依存して長くなり（添付文書 7.1）、0.9 mg/kg でも単収縮高の 25% 回復まで 63.4〜108.1 分かかった（添付文書 17.1）。挿管できず換気もできないときの逃げ道として、スガマデクス 16 mg/kg で回復させられる。添付文書では、ロクロニウムの挿管用量投与直後に緊急に回復させる必要があるとき、ロクロニウム投与 3 分後を目安に 16 mg/kg を静注する（→ 3-6）。ロクロニウム 1.2 mg/kg の 3 分後に 16 mg/kg を入れた研究では、スガマデクス投与から TOF比 0.9 まで平均 2.2 分だった（Lee 2009）。16 mg/kg は体重 70 kg で 1,120 mg と大量なので、迅速導入では必要量をすぐ使える場所に用意しておく。ただし、薬が届くまでの時間と、回復しても元の気道の問題は残ることを忘れない。</a:t>
            </a:r>
          </a:p>
          <a:p>
            <a:r>
              <a:rPr lang="ja-JP" altLang="en-US" dirty="0"/>
              <a:t>スキサメトニウムとの比較: スキサメトニウム 1 mg/kg の発現（50±17 秒）は、ロクロニウム 0.6 mg/kg（89±33 秒）より速いが、0.9〜1.2 mg/kg（75±28 秒、55±14 秒）とは差がない（Magorian 1993）。作用はずっと短い。メタアナリシスでは、挿管条件は全体としてスキサメトニウムがやや良いが、ロクロニウム 1.2 mg/kg とは統計的な差がない（Cochrane 2015）。ただし禁忌が多い（→ S6, S7）。どちらを使うかは患者で決める。</a:t>
            </a:r>
          </a:p>
          <a:p>
            <a:r>
              <a:rPr lang="ja-JP" altLang="en-US" dirty="0"/>
              <a:t>参考: Lee C, et al. Anesthesiology 2009;110:1020-1025 / Tran DT, et al. Cochrane Database Syst Rev 2015;(10):CD002788</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用量: 添付文書の原文は『通常成人は下記用量を用いる。間歇的投与法：スキサメトニウム塩化物水和物の脱水物として、1回10～60mgを静脈内注射する。この用量で筋弛緩が得られない時は、筋弛緩が得られるまで適宜増量する。』。持続点滴では 0.1〜0.2% に溶かし、通常 2.5 mg/分ぐらいの速さで注入する。成人の用量は体重あたりではなく、添付文書にある 1 mg/kg は乳幼児・小児の静注量（静注できなければ筋注 2〜3 mg/kg）。成人の挿管に使う 1 mg/kg は体重あたりの慣用量（添付文書外の目安）で、体重が 60 kg を超えると通常量の 60 mg を超える（効かなければ適宜増量とされており、60 mg は上限ではない）。挿管に 1 mg/kg が必要という通念は見直されており、60 秒で 95% の患者に許容できる挿管条件を得る量は 0.56 mg/kg と計算されている（Naguib 2003）。</a:t>
            </a:r>
          </a:p>
          <a:p>
            <a:r>
              <a:rPr lang="ja-JP" altLang="en-US" dirty="0"/>
              <a:t>時間: 投与後に筋線維束攣縮が出てから弛緩し、約 1 分で挿管できる。1 mg/kg で、発現（T1 消失まで）は 50±17 秒（Magorian 1993）。回復は、投与開始から T1 が 10% に戻るまで 7.1 分、90% に戻るまで 10.9 分（Lee 2009）。添付文書には、20〜40 mg で起きた呼吸停止は通常およそ 2〜5 分で回復するとあるが、挿管量ではもっと長い。挿管も換気もできないとき、自発呼吸が戻るのを待つことは当てにできない。血漿コリンエステラーゼの先天的な異常や低下（肝疾患、妊娠、薬剤）では作用が遷延する。</a:t>
            </a:r>
          </a:p>
          <a:p>
            <a:r>
              <a:rPr lang="ja-JP" altLang="en-US" dirty="0"/>
              <a:t>副作用: 血清カリウムが約 0.5 mEq/L 上がる（→ S7）。悪性高熱症の誘因になる（→ S7）。徐脈（特に小児と反復投与）、術後の筋痛、眼圧上昇（開放性眼外傷で注意）、胃内圧上昇、咬筋の硬直（悪性高熱症の前兆のことがある）。アナフィラキシーの原因にもなり、英国の NAP6 では他の筋弛緩薬の約 2 倍起こりやすく、主に気管支攣縮で始まった（Harper 2018、→ S8）。大量投与や反復・持続投与では第Ⅱ相遮断になり、作用が遷延することがある（→ S3）。</a:t>
            </a:r>
          </a:p>
          <a:p>
            <a:r>
              <a:rPr lang="ja-JP" altLang="en-US" dirty="0"/>
              <a:t>禁忌: 添付文書（2019 年 7 月改訂以降）では、急性期後の重症の熱傷、急性期後の広範性挫滅性外傷、四肢麻痺のある患者は「禁忌」（血中カリウムの増加作用により、心停止をおこすおそれがある）。急性期の重症熱傷・広範性挫滅性外傷、尿毒症、ジギタリス中毒の既往歴のある患者あるいは最近ジギタリスを投与されたことのある患者は「9.1 合併症・既往歴等のある患者」に入っており、治療上やむを得ないと判断される場合を除き投与しない。悪性高熱症は、国内添付文書では禁忌ではなく「11.1 重大な副作用」（11.1.2 悪性高熱症）に挙がっている。米国の添付文書（Quelicin）は、悪性高熱症の既知または疑われる遺伝的素因を禁忌とし、未診断のミオパチー（Duchenne 型筋ジストロフィーが多い）がある小児で高カリウム性横紋筋融解による心停止が起きたことを枠組み警告で示している。この講義では、本人や家族に悪性高熱症の既往があれば「使わない」と教える。【要確認: スキサメトニウム注の電子添文（PMDA）で「2. 禁忌」「9.1 合併症・既往歴等のある患者」の原文の文言と、9.1 に悪性高熱症の既往・家族歴の記載があるか】</a:t>
            </a:r>
          </a:p>
          <a:p>
            <a:r>
              <a:rPr lang="ja-JP" altLang="en-US" dirty="0"/>
              <a:t>参考: Magorian T, et al. Anesthesiology 1993;79:913-918 / Naguib M, et al. Anesthesiology 2003;99:1045-1049 / Harper NJN, et al. Br J Anaesth 2018;121:159-171</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高カリウム血症: 脱分極で筋細胞からカリウムが出る。健常者では約 0.5 mEq/L の上昇で済む。熱傷、広範な外傷、脱神経（脊髄損傷、脳卒中、ギラン・バレー症候群などの神経疾患）、長期臥床では、接合部の外にも受容体が増え（アップレギュレーション）、大量の K が出る。筋ジストロフィーなどのミオパチーでは、もろい筋膜が壊れる横紋筋融解で K が出る。未診断のミオパチー（Duchenne 型が多い）がある小児で心停止の報告がある。機序は違うが、どちらも心停止に至る。</a:t>
            </a:r>
          </a:p>
          <a:p>
            <a:r>
              <a:rPr lang="ja-JP" altLang="en-US" dirty="0"/>
              <a:t>危険な時期: 危険は受傷の 1〜3 日後から高まり（熱傷では 24 時間を過ぎたら避ける）、米国添付文書では受傷 7〜10 日ごろに最大になる。いつ終わるかは決まっておらず、数か月から年単位で続き、上位運動ニューロン障害などでは永続しうる。国内添付文書も、急性期後の重症熱傷・広範性挫滅性外傷と四肢麻痺を禁忌とし、急性期であっても「治療上やむを得ないと判断される場合を除き投与しない」としている。このような患者にはロクロニウムを使う。</a:t>
            </a:r>
          </a:p>
          <a:p>
            <a:r>
              <a:rPr lang="ja-JP" altLang="en-US" dirty="0"/>
              <a:t>悪性高熱症: 骨格筋の Ca 制御の異常（リアノジン受容体など）が背景にあり、スキサメトニウムと揮発性麻酔薬（セボフルラン、デスフルラン、イソフルラン）が誘因になる。早い徴候は EtCO2 の上昇、頻脈、筋硬直で、体温上昇は遅れて出る。対応は誘因薬の中止、換気量を上げる、ダントロレン、冷却で、6 章で扱う。ダントロレンの保管場所と溶解法を知っておく。家族歴・既往歴の問診は術前評価の項目（→ 4 章）。</a:t>
            </a:r>
          </a:p>
          <a:p>
            <a:r>
              <a:rPr lang="ja-JP" altLang="en-US" dirty="0"/>
              <a:t>参考: Gronert GA. Anesthesiology 2001;94:523-529 / Saldien V, et al. Eur J Anaesthesiol 2026;43:324-334</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頻度: 国内の多施設前向き研究 JESPA（2019〜2020 年、42 施設、全身麻酔 218,936 例、Grade 2 以上が対象）では、周術期アナフィラキシーは全身麻酔 約 5,000 例に 1 例だった。英国の NAP6（2018）は Grade 3〜5 の重い例だけを集め、発生率は約 1 万麻酔に 1 例。対象とする重症度が違うので、2 つの数字は単純には比べられない。NAP6 では、特定された原因薬 199 件の内訳が、抗菌薬 94 件（47%）、筋弛緩薬 65 件（33%）、クロルヘキシジン 18 件（9%）、パテントブルー 9 件（4.5%）だった。</a:t>
            </a:r>
          </a:p>
          <a:p>
            <a:r>
              <a:rPr lang="ja-JP" altLang="en-US" dirty="0"/>
              <a:t>国内: JESPA で原因薬が特定されたのは 32 例で、上位はロクロニウム 10 例（投与 210,852 例中、0.005%）、スガマデクス 7 例（150,629 例中、0.005%）、セファゾリン 7 例（106,005 例中、0.007%）だった。筋弛緩薬は導入直後に入れるので、低血圧が麻酔薬によるものか、アナフィラキシーかの区別が難しい。</a:t>
            </a:r>
          </a:p>
          <a:p>
            <a:r>
              <a:rPr lang="ja-JP" altLang="en-US" dirty="0"/>
              <a:t>徴候: 低血圧、頻脈、気管支攣縮（換気圧の上昇、EtCO2 の低下）、皮膚症状（紅斑、膨疹）。皮膚症状が出ないこともあるので、原因不明の低血圧と気管支攣縮の組み合わせでは疑う。</a:t>
            </a:r>
          </a:p>
          <a:p>
            <a:r>
              <a:rPr lang="ja-JP" altLang="en-US" dirty="0"/>
              <a:t>対応: アドレナリン、輸液、酸素、原因薬の中止。手順と用量は 6 章で扱う（JSA「アナフィラキシーに対する対応プラクティカルガイド」2021）。あとで原因を調べる（トリプターゼ、皮膚テスト）ために採血のタイミングを知っておく。</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換気の確認: 導入薬で意識が消えたらマスク換気を始め、筋弛緩薬は換気の確認を待たずに入れてよい。換気が難しいときに筋弛緩薬を控えても、状況が良くなるとは限らない（→ S2）。</a:t>
            </a:r>
          </a:p>
          <a:p>
            <a:r>
              <a:rPr lang="ja-JP" altLang="en-US" dirty="0"/>
              <a:t>モニター: 十分な筋弛緩で挿管すると、術後の嗄声や声帯の傷が少ない（Mencke 2003：筋弛緩薬を使わない導入との比較）。母指内転筋の TOF カウント 0 は挿管のタイミングの目安になるが、喉頭や横隔膜が十分に弛緩したことは保証しない。高齢者に 0.6 mg/kg を入れた研究では、TOF 0 まで平均約 187 秒かかり、その時点でも 20 例中 9 例は挿管条件が不良だった（Takagi 2020、→ 2-6）。追加投与も「30 分経ったから」ではなく、TOF カウントが戻ってきたら行う。手術によって必要な深さは違う（腹腔鏡では深い遮断が求められることがある）。</a:t>
            </a:r>
          </a:p>
          <a:p>
            <a:r>
              <a:rPr lang="ja-JP" altLang="en-US" dirty="0"/>
              <a:t>長く残る条件: 高齢、肝・腎機能障害、低体温、揮発性麻酔薬の併用（遮断を増強する）、マグネシウム、アミノグリコシド系抗菌薬など。</a:t>
            </a:r>
          </a:p>
          <a:p>
            <a:r>
              <a:rPr lang="ja-JP" altLang="en-US" dirty="0"/>
              <a:t>終わり: 3-6 で扱う。自然回復を待つだけでは残存筋弛緩が多い。JSA モニター指針（2025 年 8 月改訂）は、筋弛緩薬と拮抗薬を使うときは筋弛緩の深さを定量的に評価し、抜管前に手の筋で TOF比 0.9 以上を確認することを推奨している（Suzuki 2026）。</a:t>
            </a:r>
          </a:p>
          <a:p>
            <a:r>
              <a:rPr lang="ja-JP" altLang="en-US" dirty="0"/>
              <a:t>参考: Mencke T, et al. Anesthesiology 2003;98:1049-1056 / Takagi S, et al. J Anesth 2020;34:876-880</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まとめ（約 1 分）。筋弛緩薬は「動かなくする」だけの薬で、意識と痛みは別に管理する。ロクロニウムは標準薬で、用量、時間、拮抗薬を覚える。30〜60 分は添付文書の作用持続時間（単収縮高が 25% に戻るまで）で、追加投与の目安。完全に回復するまでの時間ではなく、単回の挿管用量でも 2 時間以上たって 37% が TOF比 0.9 未満だった（Debaene 2003）。スキサメトニウムは速く短いが禁忌を覚える。アナフィラキシーの主な原因薬であることを知っておく。次は 2-6（筋弛緩モニター）で TOF の測り方を学ぶ。</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AWAZOE">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502920" y="320040"/>
            <a:ext cx="8503920" cy="868680"/>
          </a:xfrm>
          <a:prstGeom prst="rect">
            <a:avLst/>
          </a:prstGeom>
          <a:noFill/>
          <a:ln/>
        </p:spPr>
        <p:txBody>
          <a:bodyPr wrap="square" lIns="0" tIns="0" rIns="0" bIns="0" rtlCol="0" anchor="ctr"/>
          <a:lstStyle>
            <a:lvl1pPr algn="l" indent="0" marL="0">
              <a:buNone/>
              <a:defRPr lang="en-US" sz="4400" b="1" dirty="0">
                <a:ln w="28575">
                  <a:solidFill>
                    <a:srgbClr val="000000"/>
                  </a:solidFill>
                </a:ln>
                <a:solidFill>
                  <a:srgbClr val="BF9000"/>
                </a:solidFill>
                <a:latin typeface="メイリオ" pitchFamily="34" charset="0"/>
                <a:ea typeface="メイリオ" pitchFamily="34" charset="-122"/>
                <a:cs typeface="メイリオ" pitchFamily="34" charset="-120"/>
              </a:defRPr>
            </a:lvl1pPr>
          </a:lstStyle>
          <a:p>
            <a:pPr algn="l" indent="0" marL="0">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AWAZOE_COVER">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502920" y="1508760"/>
            <a:ext cx="11183112" cy="1737360"/>
          </a:xfrm>
          <a:prstGeom prst="rect">
            <a:avLst/>
          </a:prstGeom>
          <a:noFill/>
          <a:ln/>
        </p:spPr>
        <p:txBody>
          <a:bodyPr wrap="square" lIns="0" tIns="0" rIns="0" bIns="0" rtlCol="0" anchor="b"/>
          <a:lstStyle>
            <a:lvl1pPr algn="ctr" indent="0" marL="0">
              <a:buNone/>
              <a:defRPr lang="en-US" sz="4400" b="1" dirty="0">
                <a:ln w="28575">
                  <a:solidFill>
                    <a:srgbClr val="000000"/>
                  </a:solidFill>
                </a:ln>
                <a:solidFill>
                  <a:srgbClr val="BF9000"/>
                </a:solidFill>
                <a:latin typeface="メイリオ" pitchFamily="34" charset="0"/>
                <a:ea typeface="メイリオ" pitchFamily="34" charset="-122"/>
                <a:cs typeface="メイリオ" pitchFamily="34" charset="-120"/>
              </a:defRPr>
            </a:lvl1pPr>
          </a:lstStyle>
          <a:p>
            <a:pPr algn="ctr"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a:spLocks noGrp="1"/>
          </p:cNvSpPr>
          <p:nvPr>
            <p:ph type="title"/>
          </p:nvPr>
        </p:nvSpPr>
        <p:spPr>
          <a:xfrm>
            <a:off x="502920" y="1508760"/>
            <a:ext cx="11183112" cy="1737360"/>
          </a:xfrm>
          <a:prstGeom prst="rect">
            <a:avLst/>
          </a:prstGeom>
          <a:noFill/>
          <a:ln/>
        </p:spPr>
        <p:txBody>
          <a:bodyPr wrap="square" lIns="0" tIns="0" rIns="0" bIns="0" rtlCol="0" anchor="b"/>
          <a:lstStyle/>
          <a:p>
            <a:pPr algn="ctr"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筋弛緩薬</a:t>
            </a:r>
            <a:endParaRPr lang="ja-JP" sz="4400" dirty="0"/>
          </a:p>
        </p:txBody>
      </p:sp>
      <p:sp>
        <p:nvSpPr>
          <p:cNvPr id="3" name="Shape 1"/>
          <p:cNvSpPr/>
          <p:nvPr/>
        </p:nvSpPr>
        <p:spPr>
          <a:xfrm>
            <a:off x="0" y="3474720"/>
            <a:ext cx="12191970" cy="0"/>
          </a:xfrm>
          <a:prstGeom prst="line">
            <a:avLst/>
          </a:prstGeom>
          <a:noFill/>
          <a:ln w="101600">
            <a:solidFill>
              <a:srgbClr val="BF9000"/>
            </a:solidFill>
            <a:prstDash val="solid"/>
          </a:ln>
        </p:spPr>
      </p:sp>
      <p:sp>
        <p:nvSpPr>
          <p:cNvPr id="4" name="Text 2"/>
          <p:cNvSpPr txBox="1"/>
          <p:nvPr/>
        </p:nvSpPr>
        <p:spPr>
          <a:xfrm>
            <a:off x="502920" y="3749040"/>
            <a:ext cx="11183112" cy="539496"/>
          </a:xfrm>
          <a:prstGeom prst="rect">
            <a:avLst/>
          </a:prstGeom>
          <a:noFill/>
          <a:ln/>
        </p:spPr>
        <p:txBody>
          <a:bodyPr wrap="square" lIns="0" tIns="0" rIns="0" bIns="0" rtlCol="0" anchor="t"/>
          <a:lstStyle/>
          <a:p>
            <a:pPr algn="ctr" indent="0" marL="0">
              <a:buNone/>
            </a:pPr>
            <a:r>
              <a:rPr lang="ja-JP" altLang="en-US" sz="2800" dirty="0">
                <a:solidFill>
                  <a:srgbClr val="262626"/>
                </a:solidFill>
                <a:latin typeface="メイリオ" pitchFamily="34" charset="0"/>
                <a:ea typeface="メイリオ" pitchFamily="34" charset="-122"/>
                <a:cs typeface="メイリオ" pitchFamily="34" charset="-120"/>
              </a:rPr>
              <a:t>3-5 麻酔薬理</a:t>
            </a:r>
            <a:endParaRPr lang="ja-JP" sz="2800" dirty="0"/>
          </a:p>
        </p:txBody>
      </p:sp>
      <p:sp>
        <p:nvSpPr>
          <p:cNvPr id="5" name="Text 3"/>
          <p:cNvSpPr txBox="1"/>
          <p:nvPr/>
        </p:nvSpPr>
        <p:spPr>
          <a:xfrm>
            <a:off x="502920" y="4693920"/>
            <a:ext cx="11183112" cy="420624"/>
          </a:xfrm>
          <a:prstGeom prst="rect">
            <a:avLst/>
          </a:prstGeom>
          <a:noFill/>
          <a:ln/>
        </p:spPr>
        <p:txBody>
          <a:bodyPr wrap="square" lIns="0" tIns="0" rIns="0" bIns="0" rtlCol="0" anchor="t"/>
          <a:lstStyle/>
          <a:p>
            <a:pPr algn="ctr" indent="0" marL="0">
              <a:buNone/>
            </a:pPr>
            <a:r>
              <a:rPr lang="ja-JP" altLang="en-US" sz="2200" dirty="0">
                <a:solidFill>
                  <a:srgbClr val="595959"/>
                </a:solidFill>
                <a:latin typeface="メイリオ" pitchFamily="34" charset="0"/>
                <a:ea typeface="メイリオ" pitchFamily="34" charset="-122"/>
                <a:cs typeface="メイリオ" pitchFamily="34" charset="-120"/>
              </a:rPr>
              <a:t>初期研修医向け麻酔講義</a:t>
            </a:r>
            <a:endParaRPr lang="ja-JP"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筋弛緩薬は何をする薬か</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7813"/>
            </a:avLst>
          </a:prstGeom>
          <a:solidFill>
            <a:srgbClr val="00A8AA"/>
          </a:solidFill>
          <a:ln/>
        </p:spPr>
        <p:txBody>
          <a:bodyPr wrap="none" lIns="0" tIns="0" rIns="0" bIns="0" rtlCol="0" anchor="ctr"/>
          <a:lstStyle/>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仕組み</a:t>
            </a:r>
            <a:endParaRPr lang="ja-JP" sz="1050" dirty="0"/>
          </a:p>
        </p:txBody>
      </p:sp>
      <p:sp>
        <p:nvSpPr>
          <p:cNvPr id="5" name="Text 3"/>
          <p:cNvSpPr/>
          <p:nvPr/>
        </p:nvSpPr>
        <p:spPr>
          <a:xfrm>
            <a:off x="9354312"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ロクロ</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ニウム</a:t>
            </a:r>
            <a:endParaRPr lang="ja-JP" sz="1050" dirty="0"/>
          </a:p>
        </p:txBody>
      </p:sp>
      <p:sp>
        <p:nvSpPr>
          <p:cNvPr id="6" name="Text 4"/>
          <p:cNvSpPr/>
          <p:nvPr/>
        </p:nvSpPr>
        <p:spPr>
          <a:xfrm>
            <a:off x="10030968"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スキサメ</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トニウム</a:t>
            </a:r>
            <a:endParaRPr lang="ja-JP" sz="1050" dirty="0"/>
          </a:p>
        </p:txBody>
      </p:sp>
      <p:sp>
        <p:nvSpPr>
          <p:cNvPr id="7" name="Text 5"/>
          <p:cNvSpPr/>
          <p:nvPr/>
        </p:nvSpPr>
        <p:spPr>
          <a:xfrm>
            <a:off x="10707624"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重い</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副作用</a:t>
            </a:r>
            <a:endParaRPr lang="ja-JP" sz="1050" dirty="0"/>
          </a:p>
        </p:txBody>
      </p:sp>
      <p:sp>
        <p:nvSpPr>
          <p:cNvPr id="8" name="Text 6"/>
          <p:cNvSpPr/>
          <p:nvPr/>
        </p:nvSpPr>
        <p:spPr>
          <a:xfrm>
            <a:off x="11384280"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使い方</a:t>
            </a:r>
            <a:endParaRPr lang="ja-JP" sz="105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1</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日本麻酔科学会「麻酔薬および麻酔関連薬使用ガイドライン 第4版」Ⅵ 筋弛緩薬・拮抗薬（2025）</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Min SH, et al. Anesth Analg 2019;129:380-386</a:t>
            </a:r>
            <a:endParaRPr lang="ja-JP" sz="1600" dirty="0"/>
          </a:p>
        </p:txBody>
      </p:sp>
      <p:sp>
        <p:nvSpPr>
          <p:cNvPr id="11" name="Shape 9"/>
          <p:cNvSpPr/>
          <p:nvPr/>
        </p:nvSpPr>
        <p:spPr>
          <a:xfrm>
            <a:off x="502920" y="1691640"/>
            <a:ext cx="5408676" cy="3008376"/>
          </a:xfrm>
          <a:prstGeom prst="roundRect">
            <a:avLst>
              <a:gd name="adj" fmla="val 2432"/>
            </a:avLst>
          </a:prstGeom>
          <a:solidFill>
            <a:srgbClr val="F2F2F2"/>
          </a:solidFill>
          <a:ln/>
        </p:spPr>
      </p:sp>
      <p:sp>
        <p:nvSpPr>
          <p:cNvPr id="12" name="Text 10"/>
          <p:cNvSpPr txBox="1"/>
          <p:nvPr/>
        </p:nvSpPr>
        <p:spPr>
          <a:xfrm>
            <a:off x="704088" y="1837944"/>
            <a:ext cx="5006340" cy="539496"/>
          </a:xfrm>
          <a:prstGeom prst="rect">
            <a:avLst/>
          </a:prstGeom>
          <a:noFill/>
          <a:ln/>
        </p:spPr>
        <p:txBody>
          <a:bodyPr wrap="square" lIns="0" tIns="0" rIns="0" bIns="0" rtlCol="0" anchor="t"/>
          <a:lstStyle/>
          <a:p>
            <a:pPr algn="l" indent="0" marL="0">
              <a:buNone/>
            </a:pPr>
            <a:r>
              <a:rPr lang="ja-JP" altLang="en-US" sz="2800" b="1" dirty="0">
                <a:solidFill>
                  <a:srgbClr val="0072B2"/>
                </a:solidFill>
                <a:latin typeface="メイリオ" pitchFamily="34" charset="0"/>
                <a:ea typeface="メイリオ" pitchFamily="34" charset="-122"/>
                <a:cs typeface="メイリオ" pitchFamily="34" charset="-120"/>
              </a:rPr>
              <a:t>できること</a:t>
            </a:r>
            <a:endParaRPr lang="ja-JP" sz="2800" dirty="0"/>
          </a:p>
        </p:txBody>
      </p:sp>
      <p:sp>
        <p:nvSpPr>
          <p:cNvPr id="13" name="Text 11"/>
          <p:cNvSpPr txBox="1"/>
          <p:nvPr/>
        </p:nvSpPr>
        <p:spPr>
          <a:xfrm>
            <a:off x="704088" y="2487168"/>
            <a:ext cx="5006340"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骨格筋を動かなくする</a:t>
            </a:r>
            <a:endParaRPr lang="ja-JP" sz="2400" dirty="0"/>
          </a:p>
        </p:txBody>
      </p:sp>
      <p:sp>
        <p:nvSpPr>
          <p:cNvPr id="14" name="Text 12"/>
          <p:cNvSpPr txBox="1"/>
          <p:nvPr/>
        </p:nvSpPr>
        <p:spPr>
          <a:xfrm>
            <a:off x="704088" y="3023616"/>
            <a:ext cx="5006340"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挿管しやすくする</a:t>
            </a:r>
            <a:endParaRPr lang="ja-JP" sz="2400" dirty="0"/>
          </a:p>
        </p:txBody>
      </p:sp>
      <p:sp>
        <p:nvSpPr>
          <p:cNvPr id="15" name="Text 13"/>
          <p:cNvSpPr txBox="1"/>
          <p:nvPr/>
        </p:nvSpPr>
        <p:spPr>
          <a:xfrm>
            <a:off x="704088" y="3560064"/>
            <a:ext cx="5006340"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術野を静かにする</a:t>
            </a:r>
            <a:endParaRPr lang="ja-JP" sz="2400" dirty="0"/>
          </a:p>
        </p:txBody>
      </p:sp>
      <p:sp>
        <p:nvSpPr>
          <p:cNvPr id="16" name="Text 14"/>
          <p:cNvSpPr txBox="1"/>
          <p:nvPr/>
        </p:nvSpPr>
        <p:spPr>
          <a:xfrm>
            <a:off x="704088" y="4096512"/>
            <a:ext cx="5006340"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人工呼吸に同調させる</a:t>
            </a:r>
            <a:endParaRPr lang="ja-JP" sz="2400" dirty="0"/>
          </a:p>
        </p:txBody>
      </p:sp>
      <p:sp>
        <p:nvSpPr>
          <p:cNvPr id="17" name="Shape 15"/>
          <p:cNvSpPr/>
          <p:nvPr/>
        </p:nvSpPr>
        <p:spPr>
          <a:xfrm>
            <a:off x="6277356" y="1691640"/>
            <a:ext cx="5408676" cy="3008376"/>
          </a:xfrm>
          <a:prstGeom prst="roundRect">
            <a:avLst>
              <a:gd name="adj" fmla="val 2432"/>
            </a:avLst>
          </a:prstGeom>
          <a:solidFill>
            <a:srgbClr val="F2F2F2"/>
          </a:solidFill>
          <a:ln/>
        </p:spPr>
      </p:sp>
      <p:sp>
        <p:nvSpPr>
          <p:cNvPr id="18" name="Text 16"/>
          <p:cNvSpPr txBox="1"/>
          <p:nvPr/>
        </p:nvSpPr>
        <p:spPr>
          <a:xfrm>
            <a:off x="6478524" y="1837944"/>
            <a:ext cx="5006340" cy="539496"/>
          </a:xfrm>
          <a:prstGeom prst="rect">
            <a:avLst/>
          </a:prstGeom>
          <a:noFill/>
          <a:ln/>
        </p:spPr>
        <p:txBody>
          <a:bodyPr wrap="square" lIns="0" tIns="0" rIns="0" bIns="0" rtlCol="0" anchor="t"/>
          <a:lstStyle/>
          <a:p>
            <a:pPr algn="l" indent="0" marL="0">
              <a:buNone/>
            </a:pPr>
            <a:r>
              <a:rPr lang="ja-JP" altLang="en-US" sz="2800" b="1" dirty="0">
                <a:solidFill>
                  <a:srgbClr val="C00000"/>
                </a:solidFill>
                <a:latin typeface="メイリオ" pitchFamily="34" charset="0"/>
                <a:ea typeface="メイリオ" pitchFamily="34" charset="-122"/>
                <a:cs typeface="メイリオ" pitchFamily="34" charset="-120"/>
              </a:rPr>
              <a:t>できないこと</a:t>
            </a:r>
            <a:endParaRPr lang="ja-JP" sz="2800" dirty="0"/>
          </a:p>
        </p:txBody>
      </p:sp>
      <p:sp>
        <p:nvSpPr>
          <p:cNvPr id="19" name="Text 17"/>
          <p:cNvSpPr txBox="1"/>
          <p:nvPr/>
        </p:nvSpPr>
        <p:spPr>
          <a:xfrm>
            <a:off x="6478524" y="2487168"/>
            <a:ext cx="5006340"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眠らせない（意識は残る）</a:t>
            </a:r>
            <a:endParaRPr lang="ja-JP" sz="2400" dirty="0"/>
          </a:p>
        </p:txBody>
      </p:sp>
      <p:sp>
        <p:nvSpPr>
          <p:cNvPr id="20" name="Text 18"/>
          <p:cNvSpPr txBox="1"/>
          <p:nvPr/>
        </p:nvSpPr>
        <p:spPr>
          <a:xfrm>
            <a:off x="6478524" y="3023616"/>
            <a:ext cx="5006340"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痛みを取らない</a:t>
            </a:r>
            <a:endParaRPr lang="ja-JP" sz="2400" dirty="0"/>
          </a:p>
        </p:txBody>
      </p:sp>
      <p:sp>
        <p:nvSpPr>
          <p:cNvPr id="21" name="Text 19"/>
          <p:cNvSpPr txBox="1"/>
          <p:nvPr/>
        </p:nvSpPr>
        <p:spPr>
          <a:xfrm>
            <a:off x="6478524" y="3560064"/>
            <a:ext cx="5006340" cy="457200"/>
          </a:xfrm>
          <a:prstGeom prst="rect">
            <a:avLst/>
          </a:prstGeom>
          <a:noFill/>
          <a:ln/>
        </p:spPr>
        <p:txBody>
          <a:bodyPr wrap="square" lIns="0" tIns="0" rIns="0" bIns="0" rtlCol="0" anchor="t"/>
          <a:lstStyle/>
          <a:p>
            <a:pPr algn="l" indent="0" marL="0">
              <a:buNone/>
            </a:pPr>
            <a:r>
              <a:rPr lang="ja-JP" altLang="en-US" sz="2400" b="1" dirty="0">
                <a:solidFill>
                  <a:srgbClr val="C00000"/>
                </a:solidFill>
                <a:latin typeface="メイリオ" pitchFamily="34" charset="0"/>
                <a:ea typeface="メイリオ" pitchFamily="34" charset="-122"/>
                <a:cs typeface="メイリオ" pitchFamily="34" charset="-120"/>
              </a:rPr>
              <a:t>自分で呼吸できなくなる</a:t>
            </a:r>
            <a:endParaRPr lang="ja-JP" sz="2400" dirty="0"/>
          </a:p>
        </p:txBody>
      </p:sp>
      <p:sp>
        <p:nvSpPr>
          <p:cNvPr id="22" name="Text 20"/>
          <p:cNvSpPr/>
          <p:nvPr/>
        </p:nvSpPr>
        <p:spPr>
          <a:xfrm>
            <a:off x="502920" y="4974336"/>
            <a:ext cx="11183112" cy="749808"/>
          </a:xfrm>
          <a:prstGeom prst="roundRect">
            <a:avLst>
              <a:gd name="adj" fmla="val 9756"/>
            </a:avLst>
          </a:prstGeom>
          <a:solidFill>
            <a:srgbClr val="FFFFFF"/>
          </a:solidFill>
          <a:ln w="31750">
            <a:solidFill>
              <a:srgbClr val="00A8AA"/>
            </a:solidFill>
          </a:ln>
        </p:spPr>
        <p:txBody>
          <a:bodyPr wrap="square" lIns="73152" tIns="73152" rIns="73152" bIns="73152" rtlCol="0" anchor="ctr"/>
          <a:lstStyle/>
          <a:p>
            <a:pPr algn="ctr" indent="0" marL="0">
              <a:buNone/>
            </a:pPr>
            <a:r>
              <a:rPr lang="ja-JP" altLang="en-US" sz="2800" b="1" dirty="0">
                <a:solidFill>
                  <a:srgbClr val="262626"/>
                </a:solidFill>
                <a:latin typeface="メイリオ" pitchFamily="34" charset="0"/>
                <a:ea typeface="メイリオ" pitchFamily="34" charset="-122"/>
                <a:cs typeface="メイリオ" pitchFamily="34" charset="-120"/>
              </a:rPr>
              <a:t>筋弛緩薬を入れたら、</a:t>
            </a:r>
            <a:r>
              <a:rPr lang="ja-JP" altLang="en-US" sz="2800" b="1" dirty="0">
                <a:solidFill>
                  <a:srgbClr val="C00000"/>
                </a:solidFill>
                <a:latin typeface="メイリオ" pitchFamily="34" charset="0"/>
                <a:ea typeface="メイリオ" pitchFamily="34" charset="-122"/>
                <a:cs typeface="メイリオ" pitchFamily="34" charset="-120"/>
              </a:rPr>
              <a:t>換気は自分の責任</a:t>
            </a:r>
            <a:endParaRPr lang="ja-JP"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非脱分極性と脱分極性</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7813"/>
            </a:avLst>
          </a:prstGeom>
          <a:solidFill>
            <a:srgbClr val="00A8AA"/>
          </a:solidFill>
          <a:ln/>
        </p:spPr>
        <p:txBody>
          <a:bodyPr wrap="none" lIns="0" tIns="0" rIns="0" bIns="0" rtlCol="0" anchor="ctr"/>
          <a:lstStyle/>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仕組み</a:t>
            </a:r>
            <a:endParaRPr lang="ja-JP" sz="1050" dirty="0"/>
          </a:p>
        </p:txBody>
      </p:sp>
      <p:sp>
        <p:nvSpPr>
          <p:cNvPr id="5" name="Text 3"/>
          <p:cNvSpPr/>
          <p:nvPr/>
        </p:nvSpPr>
        <p:spPr>
          <a:xfrm>
            <a:off x="9354312"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ロクロ</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ニウム</a:t>
            </a:r>
            <a:endParaRPr lang="ja-JP" sz="1050" dirty="0"/>
          </a:p>
        </p:txBody>
      </p:sp>
      <p:sp>
        <p:nvSpPr>
          <p:cNvPr id="6" name="Text 4"/>
          <p:cNvSpPr/>
          <p:nvPr/>
        </p:nvSpPr>
        <p:spPr>
          <a:xfrm>
            <a:off x="10030968"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スキサメ</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トニウム</a:t>
            </a:r>
            <a:endParaRPr lang="ja-JP" sz="1050" dirty="0"/>
          </a:p>
        </p:txBody>
      </p:sp>
      <p:sp>
        <p:nvSpPr>
          <p:cNvPr id="7" name="Text 5"/>
          <p:cNvSpPr/>
          <p:nvPr/>
        </p:nvSpPr>
        <p:spPr>
          <a:xfrm>
            <a:off x="10707624"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重い</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副作用</a:t>
            </a:r>
            <a:endParaRPr lang="ja-JP" sz="1050" dirty="0"/>
          </a:p>
        </p:txBody>
      </p:sp>
      <p:sp>
        <p:nvSpPr>
          <p:cNvPr id="8" name="Text 6"/>
          <p:cNvSpPr/>
          <p:nvPr/>
        </p:nvSpPr>
        <p:spPr>
          <a:xfrm>
            <a:off x="11384280"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使い方</a:t>
            </a:r>
            <a:endParaRPr lang="ja-JP" sz="105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2</a:t>
            </a:r>
            <a:endParaRPr lang="ja-JP" sz="1200" dirty="0"/>
          </a:p>
        </p:txBody>
      </p:sp>
      <p:sp>
        <p:nvSpPr>
          <p:cNvPr id="10" name="Text 8"/>
          <p:cNvSpPr txBox="1"/>
          <p:nvPr/>
        </p:nvSpPr>
        <p:spPr>
          <a:xfrm>
            <a:off x="502920" y="6263640"/>
            <a:ext cx="10607040" cy="45720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日本麻酔科学会「麻酔薬および麻酔関連薬使用ガイドライン 第4版」Ⅵ 筋弛緩薬・拮抗薬（2025）</a:t>
            </a:r>
            <a:endParaRPr lang="ja-JP" sz="1600" dirty="0"/>
          </a:p>
        </p:txBody>
      </p:sp>
      <p:sp>
        <p:nvSpPr>
          <p:cNvPr id="11" name="Text 9"/>
          <p:cNvSpPr txBox="1"/>
          <p:nvPr/>
        </p:nvSpPr>
        <p:spPr>
          <a:xfrm>
            <a:off x="502920" y="1691640"/>
            <a:ext cx="11183112" cy="576072"/>
          </a:xfrm>
          <a:prstGeom prst="rect">
            <a:avLst/>
          </a:prstGeom>
          <a:noFill/>
          <a:ln/>
        </p:spPr>
        <p:txBody>
          <a:bodyPr wrap="square" lIns="0" tIns="0" rIns="0" bIns="0" rtlCol="0" anchor="t"/>
          <a:lstStyle/>
          <a:p>
            <a:pPr algn="ctr" indent="0" marL="0">
              <a:buNone/>
            </a:pPr>
            <a:r>
              <a:rPr lang="ja-JP" altLang="en-US" sz="3000" b="1" dirty="0">
                <a:solidFill>
                  <a:srgbClr val="262626"/>
                </a:solidFill>
                <a:latin typeface="メイリオ" pitchFamily="34" charset="0"/>
                <a:ea typeface="メイリオ" pitchFamily="34" charset="-122"/>
                <a:cs typeface="メイリオ" pitchFamily="34" charset="-120"/>
              </a:rPr>
              <a:t>受容体を</a:t>
            </a:r>
            <a:r>
              <a:rPr lang="ja-JP" altLang="en-US" sz="3000" b="1" dirty="0">
                <a:solidFill>
                  <a:srgbClr val="0072B2"/>
                </a:solidFill>
                <a:latin typeface="メイリオ" pitchFamily="34" charset="0"/>
                <a:ea typeface="メイリオ" pitchFamily="34" charset="-122"/>
                <a:cs typeface="メイリオ" pitchFamily="34" charset="-120"/>
              </a:rPr>
              <a:t>『ふさぐ』</a:t>
            </a:r>
            <a:r>
              <a:rPr lang="ja-JP" altLang="en-US" sz="3000" b="1" dirty="0">
                <a:solidFill>
                  <a:srgbClr val="262626"/>
                </a:solidFill>
                <a:latin typeface="メイリオ" pitchFamily="34" charset="0"/>
                <a:ea typeface="メイリオ" pitchFamily="34" charset="-122"/>
                <a:cs typeface="メイリオ" pitchFamily="34" charset="-120"/>
              </a:rPr>
              <a:t>か</a:t>
            </a:r>
            <a:r>
              <a:rPr lang="ja-JP" altLang="en-US" sz="3000" b="1" dirty="0">
                <a:solidFill>
                  <a:srgbClr val="D55E00"/>
                </a:solidFill>
                <a:latin typeface="メイリオ" pitchFamily="34" charset="0"/>
                <a:ea typeface="メイリオ" pitchFamily="34" charset="-122"/>
                <a:cs typeface="メイリオ" pitchFamily="34" charset="-120"/>
              </a:rPr>
              <a:t>『刺激し続ける』</a:t>
            </a:r>
            <a:r>
              <a:rPr lang="ja-JP" altLang="en-US" sz="3000" b="1" dirty="0">
                <a:solidFill>
                  <a:srgbClr val="262626"/>
                </a:solidFill>
                <a:latin typeface="メイリオ" pitchFamily="34" charset="0"/>
                <a:ea typeface="メイリオ" pitchFamily="34" charset="-122"/>
                <a:cs typeface="メイリオ" pitchFamily="34" charset="-120"/>
              </a:rPr>
              <a:t>か</a:t>
            </a:r>
            <a:endParaRPr lang="ja-JP" sz="3000" dirty="0"/>
          </a:p>
        </p:txBody>
      </p:sp>
      <p:sp>
        <p:nvSpPr>
          <p:cNvPr id="12" name="Shape 10"/>
          <p:cNvSpPr/>
          <p:nvPr/>
        </p:nvSpPr>
        <p:spPr>
          <a:xfrm>
            <a:off x="502920" y="2542032"/>
            <a:ext cx="5436108" cy="3493008"/>
          </a:xfrm>
          <a:prstGeom prst="roundRect">
            <a:avLst>
              <a:gd name="adj" fmla="val 2094"/>
            </a:avLst>
          </a:prstGeom>
          <a:solidFill>
            <a:srgbClr val="F2F2F2"/>
          </a:solidFill>
          <a:ln/>
        </p:spPr>
      </p:sp>
      <p:sp>
        <p:nvSpPr>
          <p:cNvPr id="13" name="Text 11"/>
          <p:cNvSpPr txBox="1"/>
          <p:nvPr/>
        </p:nvSpPr>
        <p:spPr>
          <a:xfrm>
            <a:off x="704088" y="2724912"/>
            <a:ext cx="5033772" cy="996696"/>
          </a:xfrm>
          <a:prstGeom prst="rect">
            <a:avLst/>
          </a:prstGeom>
          <a:noFill/>
          <a:ln/>
        </p:spPr>
        <p:txBody>
          <a:bodyPr wrap="square" lIns="0" tIns="0" rIns="0" bIns="0" rtlCol="0" anchor="t"/>
          <a:lstStyle/>
          <a:p>
            <a:pPr algn="l" indent="0" marL="0">
              <a:buNone/>
            </a:pPr>
            <a:r>
              <a:rPr lang="ja-JP" altLang="en-US" sz="2800" b="1" dirty="0">
                <a:solidFill>
                  <a:srgbClr val="0072B2"/>
                </a:solidFill>
                <a:latin typeface="メイリオ" pitchFamily="34" charset="0"/>
                <a:ea typeface="メイリオ" pitchFamily="34" charset="-122"/>
                <a:cs typeface="メイリオ" pitchFamily="34" charset="-120"/>
              </a:rPr>
              <a:t>非脱分極性</a:t>
            </a:r>
            <a:endParaRPr lang="ja-JP" sz="2800" dirty="0"/>
          </a:p>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（ロクロニウム）</a:t>
            </a:r>
            <a:endParaRPr lang="ja-JP" sz="2800" dirty="0"/>
          </a:p>
        </p:txBody>
      </p:sp>
      <p:sp>
        <p:nvSpPr>
          <p:cNvPr id="14" name="Text 12"/>
          <p:cNvSpPr txBox="1"/>
          <p:nvPr/>
        </p:nvSpPr>
        <p:spPr>
          <a:xfrm>
            <a:off x="704088" y="3831336"/>
            <a:ext cx="5033772"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アセチルコリンと</a:t>
            </a:r>
            <a:endParaRPr lang="ja-JP" sz="2400" dirty="0"/>
          </a:p>
        </p:txBody>
      </p:sp>
      <p:sp>
        <p:nvSpPr>
          <p:cNvPr id="15" name="Text 13"/>
          <p:cNvSpPr txBox="1"/>
          <p:nvPr/>
        </p:nvSpPr>
        <p:spPr>
          <a:xfrm>
            <a:off x="1033272" y="4288536"/>
            <a:ext cx="4704588"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受容体を取り合う</a:t>
            </a:r>
            <a:endParaRPr lang="ja-JP" sz="2400" dirty="0"/>
          </a:p>
        </p:txBody>
      </p:sp>
      <p:sp>
        <p:nvSpPr>
          <p:cNvPr id="16" name="Text 14"/>
          <p:cNvSpPr txBox="1"/>
          <p:nvPr/>
        </p:nvSpPr>
        <p:spPr>
          <a:xfrm>
            <a:off x="704088" y="4841748"/>
            <a:ext cx="5033772"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筋は静かに動かなくなる</a:t>
            </a:r>
            <a:endParaRPr lang="ja-JP" sz="2400" dirty="0"/>
          </a:p>
        </p:txBody>
      </p:sp>
      <p:sp>
        <p:nvSpPr>
          <p:cNvPr id="17" name="Text 15"/>
          <p:cNvSpPr txBox="1"/>
          <p:nvPr/>
        </p:nvSpPr>
        <p:spPr>
          <a:xfrm>
            <a:off x="704088" y="5394960"/>
            <a:ext cx="5033772"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スガマデクスで拮抗できる</a:t>
            </a:r>
            <a:endParaRPr lang="ja-JP" sz="2400" dirty="0"/>
          </a:p>
        </p:txBody>
      </p:sp>
      <p:sp>
        <p:nvSpPr>
          <p:cNvPr id="18" name="Shape 16"/>
          <p:cNvSpPr/>
          <p:nvPr/>
        </p:nvSpPr>
        <p:spPr>
          <a:xfrm>
            <a:off x="6249924" y="2542032"/>
            <a:ext cx="5436108" cy="3493008"/>
          </a:xfrm>
          <a:prstGeom prst="roundRect">
            <a:avLst>
              <a:gd name="adj" fmla="val 2094"/>
            </a:avLst>
          </a:prstGeom>
          <a:solidFill>
            <a:srgbClr val="F2F2F2"/>
          </a:solidFill>
          <a:ln/>
        </p:spPr>
      </p:sp>
      <p:sp>
        <p:nvSpPr>
          <p:cNvPr id="19" name="Text 17"/>
          <p:cNvSpPr txBox="1"/>
          <p:nvPr/>
        </p:nvSpPr>
        <p:spPr>
          <a:xfrm>
            <a:off x="6451092" y="2724912"/>
            <a:ext cx="5033772" cy="996696"/>
          </a:xfrm>
          <a:prstGeom prst="rect">
            <a:avLst/>
          </a:prstGeom>
          <a:noFill/>
          <a:ln/>
        </p:spPr>
        <p:txBody>
          <a:bodyPr wrap="square" lIns="0" tIns="0" rIns="0" bIns="0" rtlCol="0" anchor="t"/>
          <a:lstStyle/>
          <a:p>
            <a:pPr algn="l" indent="0" marL="0">
              <a:buNone/>
            </a:pPr>
            <a:r>
              <a:rPr lang="ja-JP" altLang="en-US" sz="2800" b="1" dirty="0">
                <a:solidFill>
                  <a:srgbClr val="D55E00"/>
                </a:solidFill>
                <a:latin typeface="メイリオ" pitchFamily="34" charset="0"/>
                <a:ea typeface="メイリオ" pitchFamily="34" charset="-122"/>
                <a:cs typeface="メイリオ" pitchFamily="34" charset="-120"/>
              </a:rPr>
              <a:t>脱分極性</a:t>
            </a:r>
            <a:endParaRPr lang="ja-JP" sz="2800" dirty="0"/>
          </a:p>
          <a:p>
            <a:pPr algn="l" indent="0" marL="0">
              <a:buNone/>
            </a:pPr>
            <a:r>
              <a:rPr lang="ja-JP" altLang="en-US" sz="2400" b="1" dirty="0">
                <a:solidFill>
                  <a:srgbClr val="D55E00"/>
                </a:solidFill>
                <a:latin typeface="メイリオ" pitchFamily="34" charset="0"/>
                <a:ea typeface="メイリオ" pitchFamily="34" charset="-122"/>
                <a:cs typeface="メイリオ" pitchFamily="34" charset="-120"/>
              </a:rPr>
              <a:t>（スキサメトニウム）</a:t>
            </a:r>
            <a:endParaRPr lang="ja-JP" sz="2800" dirty="0"/>
          </a:p>
        </p:txBody>
      </p:sp>
      <p:sp>
        <p:nvSpPr>
          <p:cNvPr id="20" name="Text 18"/>
          <p:cNvSpPr txBox="1"/>
          <p:nvPr/>
        </p:nvSpPr>
        <p:spPr>
          <a:xfrm>
            <a:off x="6451092" y="3831336"/>
            <a:ext cx="5033772"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受容体を刺激し続けて</a:t>
            </a:r>
            <a:endParaRPr lang="ja-JP" sz="2400" dirty="0"/>
          </a:p>
        </p:txBody>
      </p:sp>
      <p:sp>
        <p:nvSpPr>
          <p:cNvPr id="21" name="Text 19"/>
          <p:cNvSpPr txBox="1"/>
          <p:nvPr/>
        </p:nvSpPr>
        <p:spPr>
          <a:xfrm>
            <a:off x="6780276" y="4288536"/>
            <a:ext cx="4704588"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不応にする</a:t>
            </a:r>
            <a:endParaRPr lang="ja-JP" sz="2400" dirty="0"/>
          </a:p>
        </p:txBody>
      </p:sp>
      <p:sp>
        <p:nvSpPr>
          <p:cNvPr id="22" name="Text 20"/>
          <p:cNvSpPr txBox="1"/>
          <p:nvPr/>
        </p:nvSpPr>
        <p:spPr>
          <a:xfrm>
            <a:off x="6451092" y="4841748"/>
            <a:ext cx="5033772"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最初に筋線維束攣縮</a:t>
            </a:r>
            <a:endParaRPr lang="ja-JP" sz="2400" dirty="0"/>
          </a:p>
        </p:txBody>
      </p:sp>
      <p:sp>
        <p:nvSpPr>
          <p:cNvPr id="23" name="Text 21"/>
          <p:cNvSpPr txBox="1"/>
          <p:nvPr/>
        </p:nvSpPr>
        <p:spPr>
          <a:xfrm>
            <a:off x="6451092" y="5394960"/>
            <a:ext cx="5033772" cy="457200"/>
          </a:xfrm>
          <a:prstGeom prst="rect">
            <a:avLst/>
          </a:prstGeom>
          <a:noFill/>
          <a:ln/>
        </p:spPr>
        <p:txBody>
          <a:bodyPr wrap="square" lIns="0" tIns="0" rIns="0" bIns="0" rtlCol="0" anchor="t"/>
          <a:lstStyle/>
          <a:p>
            <a:pPr algn="l" indent="0" marL="0">
              <a:buNone/>
            </a:pPr>
            <a:r>
              <a:rPr lang="ja-JP" altLang="en-US" sz="2400" b="1" dirty="0">
                <a:solidFill>
                  <a:srgbClr val="262626"/>
                </a:solidFill>
                <a:latin typeface="メイリオ" pitchFamily="34" charset="0"/>
                <a:ea typeface="メイリオ" pitchFamily="34" charset="-122"/>
                <a:cs typeface="メイリオ" pitchFamily="34" charset="-120"/>
              </a:rPr>
              <a:t>拮抗薬はない</a:t>
            </a:r>
            <a:endParaRPr lang="ja-JP"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ロクロニウム</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仕組み</a:t>
            </a:r>
            <a:endParaRPr lang="ja-JP" sz="1050" dirty="0"/>
          </a:p>
        </p:txBody>
      </p:sp>
      <p:sp>
        <p:nvSpPr>
          <p:cNvPr id="5" name="Text 3"/>
          <p:cNvSpPr/>
          <p:nvPr/>
        </p:nvSpPr>
        <p:spPr>
          <a:xfrm>
            <a:off x="9354312" y="54864"/>
            <a:ext cx="621792" cy="585216"/>
          </a:xfrm>
          <a:prstGeom prst="roundRect">
            <a:avLst>
              <a:gd name="adj" fmla="val 7813"/>
            </a:avLst>
          </a:prstGeom>
          <a:solidFill>
            <a:srgbClr val="00A8AA"/>
          </a:solidFill>
          <a:ln/>
        </p:spPr>
        <p:txBody>
          <a:bodyPr wrap="none" lIns="0" tIns="0" rIns="0" bIns="0" rtlCol="0" anchor="ctr"/>
          <a:lstStyle/>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ロクロ</a:t>
            </a:r>
            <a:endParaRPr lang="ja-JP" sz="1050" dirty="0"/>
          </a:p>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ニウム</a:t>
            </a:r>
            <a:endParaRPr lang="ja-JP" sz="1050" dirty="0"/>
          </a:p>
        </p:txBody>
      </p:sp>
      <p:sp>
        <p:nvSpPr>
          <p:cNvPr id="6" name="Text 4"/>
          <p:cNvSpPr/>
          <p:nvPr/>
        </p:nvSpPr>
        <p:spPr>
          <a:xfrm>
            <a:off x="10030968"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スキサメ</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トニウム</a:t>
            </a:r>
            <a:endParaRPr lang="ja-JP" sz="1050" dirty="0"/>
          </a:p>
        </p:txBody>
      </p:sp>
      <p:sp>
        <p:nvSpPr>
          <p:cNvPr id="7" name="Text 5"/>
          <p:cNvSpPr/>
          <p:nvPr/>
        </p:nvSpPr>
        <p:spPr>
          <a:xfrm>
            <a:off x="10707624"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重い</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副作用</a:t>
            </a:r>
            <a:endParaRPr lang="ja-JP" sz="1050" dirty="0"/>
          </a:p>
        </p:txBody>
      </p:sp>
      <p:sp>
        <p:nvSpPr>
          <p:cNvPr id="8" name="Text 6"/>
          <p:cNvSpPr/>
          <p:nvPr/>
        </p:nvSpPr>
        <p:spPr>
          <a:xfrm>
            <a:off x="11384280"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使い方</a:t>
            </a:r>
            <a:endParaRPr lang="ja-JP" sz="105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3</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エスラックス静注 添付文書 / 日本麻酔科学会「麻酔薬および麻酔関連薬使用ガイドライン 第4版」</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Ⅵ（2025） / Debaene B, et al. Anesthesiology 2003;98:1042-1048</a:t>
            </a:r>
            <a:endParaRPr lang="ja-JP" sz="1600" dirty="0"/>
          </a:p>
        </p:txBody>
      </p:sp>
      <p:sp>
        <p:nvSpPr>
          <p:cNvPr id="11" name="Shape 9"/>
          <p:cNvSpPr/>
          <p:nvPr/>
        </p:nvSpPr>
        <p:spPr>
          <a:xfrm>
            <a:off x="502920" y="1691640"/>
            <a:ext cx="3676477" cy="4032504"/>
          </a:xfrm>
          <a:prstGeom prst="roundRect">
            <a:avLst>
              <a:gd name="adj" fmla="val 1990"/>
            </a:avLst>
          </a:prstGeom>
          <a:solidFill>
            <a:srgbClr val="F2F2F2"/>
          </a:solidFill>
          <a:ln/>
        </p:spPr>
      </p:sp>
      <p:sp>
        <p:nvSpPr>
          <p:cNvPr id="12" name="Text 10"/>
          <p:cNvSpPr txBox="1"/>
          <p:nvPr/>
        </p:nvSpPr>
        <p:spPr>
          <a:xfrm>
            <a:off x="704088" y="1837944"/>
            <a:ext cx="3274141"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用量（添付文書）</a:t>
            </a:r>
            <a:endParaRPr lang="ja-JP" sz="2400" dirty="0"/>
          </a:p>
        </p:txBody>
      </p:sp>
      <p:sp>
        <p:nvSpPr>
          <p:cNvPr id="13" name="Text 11"/>
          <p:cNvSpPr txBox="1"/>
          <p:nvPr/>
        </p:nvSpPr>
        <p:spPr>
          <a:xfrm>
            <a:off x="704088" y="2423160"/>
            <a:ext cx="3274141"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挿管：</a:t>
            </a:r>
            <a:r>
              <a:rPr lang="ja-JP" altLang="en-US" sz="2200" b="1" dirty="0">
                <a:solidFill>
                  <a:srgbClr val="262626"/>
                </a:solidFill>
                <a:latin typeface="メイリオ" pitchFamily="34" charset="0"/>
                <a:ea typeface="メイリオ" pitchFamily="34" charset="-122"/>
                <a:cs typeface="メイリオ" pitchFamily="34" charset="-120"/>
              </a:rPr>
              <a:t>0.6 mg/kg</a:t>
            </a:r>
            <a:endParaRPr lang="ja-JP" sz="2200" dirty="0"/>
          </a:p>
        </p:txBody>
      </p:sp>
      <p:sp>
        <p:nvSpPr>
          <p:cNvPr id="14" name="Text 12"/>
          <p:cNvSpPr txBox="1"/>
          <p:nvPr/>
        </p:nvSpPr>
        <p:spPr>
          <a:xfrm>
            <a:off x="978408" y="2843784"/>
            <a:ext cx="2999821"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（上限 </a:t>
            </a:r>
            <a:r>
              <a:rPr lang="ja-JP" altLang="en-US" sz="2200" b="1" dirty="0">
                <a:solidFill>
                  <a:srgbClr val="262626"/>
                </a:solidFill>
                <a:latin typeface="メイリオ" pitchFamily="34" charset="0"/>
                <a:ea typeface="メイリオ" pitchFamily="34" charset="-122"/>
                <a:cs typeface="メイリオ" pitchFamily="34" charset="-120"/>
              </a:rPr>
              <a:t>0.9 mg/kg</a:t>
            </a: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15" name="Text 13"/>
          <p:cNvSpPr txBox="1"/>
          <p:nvPr/>
        </p:nvSpPr>
        <p:spPr>
          <a:xfrm>
            <a:off x="704088" y="3648456"/>
            <a:ext cx="3274141"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追加：</a:t>
            </a:r>
            <a:r>
              <a:rPr lang="ja-JP" altLang="en-US" sz="2200" b="1" dirty="0">
                <a:solidFill>
                  <a:srgbClr val="262626"/>
                </a:solidFill>
                <a:latin typeface="メイリオ" pitchFamily="34" charset="0"/>
                <a:ea typeface="メイリオ" pitchFamily="34" charset="-122"/>
                <a:cs typeface="メイリオ" pitchFamily="34" charset="-120"/>
              </a:rPr>
              <a:t>0.1〜0.2 mg/kg</a:t>
            </a:r>
            <a:endParaRPr lang="ja-JP" sz="2200" dirty="0"/>
          </a:p>
        </p:txBody>
      </p:sp>
      <p:sp>
        <p:nvSpPr>
          <p:cNvPr id="16" name="Text 14"/>
          <p:cNvSpPr txBox="1"/>
          <p:nvPr/>
        </p:nvSpPr>
        <p:spPr>
          <a:xfrm>
            <a:off x="704088" y="4453128"/>
            <a:ext cx="3274141"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持続：</a:t>
            </a:r>
            <a:r>
              <a:rPr lang="ja-JP" altLang="en-US" sz="2200" b="1" dirty="0">
                <a:solidFill>
                  <a:srgbClr val="262626"/>
                </a:solidFill>
                <a:latin typeface="メイリオ" pitchFamily="34" charset="0"/>
                <a:ea typeface="メイリオ" pitchFamily="34" charset="-122"/>
                <a:cs typeface="メイリオ" pitchFamily="34" charset="-120"/>
              </a:rPr>
              <a:t>7 μg/kg/分</a:t>
            </a:r>
            <a:endParaRPr lang="ja-JP" sz="2200" dirty="0"/>
          </a:p>
        </p:txBody>
      </p:sp>
      <p:sp>
        <p:nvSpPr>
          <p:cNvPr id="17" name="Text 15"/>
          <p:cNvSpPr txBox="1"/>
          <p:nvPr/>
        </p:nvSpPr>
        <p:spPr>
          <a:xfrm>
            <a:off x="978408" y="4873752"/>
            <a:ext cx="2999821"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で開始</a:t>
            </a:r>
            <a:endParaRPr lang="ja-JP" sz="2200" dirty="0"/>
          </a:p>
        </p:txBody>
      </p:sp>
      <p:sp>
        <p:nvSpPr>
          <p:cNvPr id="18" name="Shape 16"/>
          <p:cNvSpPr/>
          <p:nvPr/>
        </p:nvSpPr>
        <p:spPr>
          <a:xfrm>
            <a:off x="4398853" y="1691640"/>
            <a:ext cx="3533861" cy="4032504"/>
          </a:xfrm>
          <a:prstGeom prst="roundRect">
            <a:avLst>
              <a:gd name="adj" fmla="val 2070"/>
            </a:avLst>
          </a:prstGeom>
          <a:solidFill>
            <a:srgbClr val="F2F2F2"/>
          </a:solidFill>
          <a:ln/>
        </p:spPr>
      </p:sp>
      <p:sp>
        <p:nvSpPr>
          <p:cNvPr id="19" name="Text 17"/>
          <p:cNvSpPr txBox="1"/>
          <p:nvPr/>
        </p:nvSpPr>
        <p:spPr>
          <a:xfrm>
            <a:off x="4600021" y="1837944"/>
            <a:ext cx="3131525"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時間</a:t>
            </a:r>
            <a:endParaRPr lang="ja-JP" sz="2400" dirty="0"/>
          </a:p>
        </p:txBody>
      </p:sp>
      <p:sp>
        <p:nvSpPr>
          <p:cNvPr id="20" name="Text 18"/>
          <p:cNvSpPr txBox="1"/>
          <p:nvPr/>
        </p:nvSpPr>
        <p:spPr>
          <a:xfrm>
            <a:off x="4600021" y="2423160"/>
            <a:ext cx="3131525"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効くまで </a:t>
            </a:r>
            <a:r>
              <a:rPr lang="ja-JP" altLang="en-US" sz="2200" b="1" dirty="0">
                <a:solidFill>
                  <a:srgbClr val="262626"/>
                </a:solidFill>
                <a:latin typeface="メイリオ" pitchFamily="34" charset="0"/>
                <a:ea typeface="メイリオ" pitchFamily="34" charset="-122"/>
                <a:cs typeface="メイリオ" pitchFamily="34" charset="-120"/>
              </a:rPr>
              <a:t>1〜2 分</a:t>
            </a:r>
            <a:endParaRPr lang="ja-JP" sz="2200" dirty="0"/>
          </a:p>
        </p:txBody>
      </p:sp>
      <p:sp>
        <p:nvSpPr>
          <p:cNvPr id="21" name="Text 19"/>
          <p:cNvSpPr txBox="1"/>
          <p:nvPr/>
        </p:nvSpPr>
        <p:spPr>
          <a:xfrm>
            <a:off x="4600021" y="3227832"/>
            <a:ext cx="3131525"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高齢者は</a:t>
            </a:r>
            <a:r>
              <a:rPr lang="ja-JP" altLang="en-US" sz="2200" b="1" dirty="0">
                <a:solidFill>
                  <a:srgbClr val="262626"/>
                </a:solidFill>
                <a:latin typeface="メイリオ" pitchFamily="34" charset="0"/>
                <a:ea typeface="メイリオ" pitchFamily="34" charset="-122"/>
                <a:cs typeface="メイリオ" pitchFamily="34" charset="-120"/>
              </a:rPr>
              <a:t>約 3 分</a:t>
            </a:r>
            <a:endParaRPr lang="ja-JP" sz="2200" dirty="0"/>
          </a:p>
        </p:txBody>
      </p:sp>
      <p:sp>
        <p:nvSpPr>
          <p:cNvPr id="22" name="Text 20"/>
          <p:cNvSpPr txBox="1"/>
          <p:nvPr/>
        </p:nvSpPr>
        <p:spPr>
          <a:xfrm>
            <a:off x="4600021" y="4032504"/>
            <a:ext cx="3131525"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持続 </a:t>
            </a:r>
            <a:r>
              <a:rPr lang="ja-JP" altLang="en-US" sz="2200" b="1" dirty="0">
                <a:solidFill>
                  <a:srgbClr val="262626"/>
                </a:solidFill>
                <a:latin typeface="メイリオ" pitchFamily="34" charset="0"/>
                <a:ea typeface="メイリオ" pitchFamily="34" charset="-122"/>
                <a:cs typeface="メイリオ" pitchFamily="34" charset="-120"/>
              </a:rPr>
              <a:t>30〜60 分</a:t>
            </a:r>
            <a:endParaRPr lang="ja-JP" sz="2200" dirty="0"/>
          </a:p>
        </p:txBody>
      </p:sp>
      <p:sp>
        <p:nvSpPr>
          <p:cNvPr id="23" name="Text 21"/>
          <p:cNvSpPr txBox="1"/>
          <p:nvPr/>
        </p:nvSpPr>
        <p:spPr>
          <a:xfrm>
            <a:off x="4600021" y="4837176"/>
            <a:ext cx="3131525"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高齢・吸入麻酔で延長</a:t>
            </a:r>
            <a:endParaRPr lang="ja-JP" sz="2200" dirty="0"/>
          </a:p>
        </p:txBody>
      </p:sp>
      <p:sp>
        <p:nvSpPr>
          <p:cNvPr id="24" name="Shape 22"/>
          <p:cNvSpPr/>
          <p:nvPr/>
        </p:nvSpPr>
        <p:spPr>
          <a:xfrm>
            <a:off x="8152171" y="1691640"/>
            <a:ext cx="3533861" cy="4032504"/>
          </a:xfrm>
          <a:prstGeom prst="roundRect">
            <a:avLst>
              <a:gd name="adj" fmla="val 2070"/>
            </a:avLst>
          </a:prstGeom>
          <a:solidFill>
            <a:srgbClr val="F2F2F2"/>
          </a:solidFill>
          <a:ln/>
        </p:spPr>
      </p:sp>
      <p:sp>
        <p:nvSpPr>
          <p:cNvPr id="25" name="Text 23"/>
          <p:cNvSpPr txBox="1"/>
          <p:nvPr/>
        </p:nvSpPr>
        <p:spPr>
          <a:xfrm>
            <a:off x="8353339" y="1837944"/>
            <a:ext cx="3131525" cy="457200"/>
          </a:xfrm>
          <a:prstGeom prst="rect">
            <a:avLst/>
          </a:prstGeom>
          <a:noFill/>
          <a:ln/>
        </p:spPr>
        <p:txBody>
          <a:bodyPr wrap="square" lIns="0" tIns="0" rIns="0" bIns="0" rtlCol="0" anchor="t"/>
          <a:lstStyle/>
          <a:p>
            <a:pPr algn="l" indent="0" marL="0">
              <a:buNone/>
            </a:pPr>
            <a:r>
              <a:rPr lang="ja-JP" altLang="en-US" sz="2400" b="1" dirty="0">
                <a:solidFill>
                  <a:srgbClr val="D55E00"/>
                </a:solidFill>
                <a:latin typeface="メイリオ" pitchFamily="34" charset="0"/>
                <a:ea typeface="メイリオ" pitchFamily="34" charset="-122"/>
                <a:cs typeface="メイリオ" pitchFamily="34" charset="-120"/>
              </a:rPr>
              <a:t>注意</a:t>
            </a:r>
            <a:endParaRPr lang="ja-JP" sz="2400" dirty="0"/>
          </a:p>
        </p:txBody>
      </p:sp>
      <p:sp>
        <p:nvSpPr>
          <p:cNvPr id="26" name="Text 24"/>
          <p:cNvSpPr txBox="1"/>
          <p:nvPr/>
        </p:nvSpPr>
        <p:spPr>
          <a:xfrm>
            <a:off x="8353339" y="2423160"/>
            <a:ext cx="3131525"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注射時の痛み</a:t>
            </a:r>
            <a:endParaRPr lang="ja-JP" sz="2200" dirty="0"/>
          </a:p>
        </p:txBody>
      </p:sp>
      <p:sp>
        <p:nvSpPr>
          <p:cNvPr id="27" name="Text 25"/>
          <p:cNvSpPr txBox="1"/>
          <p:nvPr/>
        </p:nvSpPr>
        <p:spPr>
          <a:xfrm>
            <a:off x="8353339" y="3227832"/>
            <a:ext cx="3131525"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未変化体で胆汁・尿へ</a:t>
            </a:r>
            <a:endParaRPr lang="ja-JP" sz="2200" dirty="0"/>
          </a:p>
        </p:txBody>
      </p:sp>
      <p:sp>
        <p:nvSpPr>
          <p:cNvPr id="28" name="Text 26"/>
          <p:cNvSpPr txBox="1"/>
          <p:nvPr/>
        </p:nvSpPr>
        <p:spPr>
          <a:xfrm>
            <a:off x="8353339" y="4032504"/>
            <a:ext cx="3131525"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肝腎障害・高齢で遷延</a:t>
            </a:r>
            <a:endParaRPr lang="ja-JP" sz="2200" dirty="0"/>
          </a:p>
        </p:txBody>
      </p:sp>
      <p:sp>
        <p:nvSpPr>
          <p:cNvPr id="29" name="Text 27"/>
          <p:cNvSpPr txBox="1"/>
          <p:nvPr/>
        </p:nvSpPr>
        <p:spPr>
          <a:xfrm>
            <a:off x="8353339" y="4837176"/>
            <a:ext cx="3131525"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アナフィラキシー</a:t>
            </a:r>
            <a:endParaRPr lang="ja-JP"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迅速導入でのロクロニウム</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仕組み</a:t>
            </a:r>
            <a:endParaRPr lang="ja-JP" sz="1050" dirty="0"/>
          </a:p>
        </p:txBody>
      </p:sp>
      <p:sp>
        <p:nvSpPr>
          <p:cNvPr id="5" name="Text 3"/>
          <p:cNvSpPr/>
          <p:nvPr/>
        </p:nvSpPr>
        <p:spPr>
          <a:xfrm>
            <a:off x="9354312" y="54864"/>
            <a:ext cx="621792" cy="585216"/>
          </a:xfrm>
          <a:prstGeom prst="roundRect">
            <a:avLst>
              <a:gd name="adj" fmla="val 7813"/>
            </a:avLst>
          </a:prstGeom>
          <a:solidFill>
            <a:srgbClr val="00A8AA"/>
          </a:solidFill>
          <a:ln/>
        </p:spPr>
        <p:txBody>
          <a:bodyPr wrap="none" lIns="0" tIns="0" rIns="0" bIns="0" rtlCol="0" anchor="ctr"/>
          <a:lstStyle/>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ロクロ</a:t>
            </a:r>
            <a:endParaRPr lang="ja-JP" sz="1050" dirty="0"/>
          </a:p>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ニウム</a:t>
            </a:r>
            <a:endParaRPr lang="ja-JP" sz="1050" dirty="0"/>
          </a:p>
        </p:txBody>
      </p:sp>
      <p:sp>
        <p:nvSpPr>
          <p:cNvPr id="6" name="Text 4"/>
          <p:cNvSpPr/>
          <p:nvPr/>
        </p:nvSpPr>
        <p:spPr>
          <a:xfrm>
            <a:off x="10030968"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スキサメ</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トニウム</a:t>
            </a:r>
            <a:endParaRPr lang="ja-JP" sz="1050" dirty="0"/>
          </a:p>
        </p:txBody>
      </p:sp>
      <p:sp>
        <p:nvSpPr>
          <p:cNvPr id="7" name="Text 5"/>
          <p:cNvSpPr/>
          <p:nvPr/>
        </p:nvSpPr>
        <p:spPr>
          <a:xfrm>
            <a:off x="10707624"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重い</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副作用</a:t>
            </a:r>
            <a:endParaRPr lang="ja-JP" sz="1050" dirty="0"/>
          </a:p>
        </p:txBody>
      </p:sp>
      <p:sp>
        <p:nvSpPr>
          <p:cNvPr id="8" name="Text 6"/>
          <p:cNvSpPr/>
          <p:nvPr/>
        </p:nvSpPr>
        <p:spPr>
          <a:xfrm>
            <a:off x="11384280"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使い方</a:t>
            </a:r>
            <a:endParaRPr lang="ja-JP" sz="105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4</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エスラックス静注 添付文書 / ブリディオン静注 添付文書</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Magorian T, et al. Anesthesiology 1993;79:913-918</a:t>
            </a:r>
            <a:endParaRPr lang="ja-JP" sz="1600" dirty="0"/>
          </a:p>
        </p:txBody>
      </p:sp>
      <p:sp>
        <p:nvSpPr>
          <p:cNvPr id="11" name="Text 9"/>
          <p:cNvSpPr/>
          <p:nvPr/>
        </p:nvSpPr>
        <p:spPr>
          <a:xfrm>
            <a:off x="502920" y="2061972"/>
            <a:ext cx="2992892" cy="1874520"/>
          </a:xfrm>
          <a:prstGeom prst="roundRect">
            <a:avLst>
              <a:gd name="adj" fmla="val 4878"/>
            </a:avLst>
          </a:prstGeom>
          <a:solidFill>
            <a:srgbClr val="F2F2F2"/>
          </a:solidFill>
          <a:ln w="28575">
            <a:solidFill>
              <a:srgbClr val="0072B2"/>
            </a:solidFill>
          </a:ln>
        </p:spPr>
        <p:txBody>
          <a:bodyPr wrap="square" lIns="73152" tIns="73152" rIns="73152" bIns="73152" rtlCol="0" anchor="ctr"/>
          <a:lstStyle/>
          <a:p>
            <a:pPr algn="ctr" indent="0" marL="0">
              <a:buNone/>
            </a:pPr>
            <a:r>
              <a:rPr lang="ja-JP" altLang="en-US" sz="2800" b="1" dirty="0">
                <a:solidFill>
                  <a:srgbClr val="262626"/>
                </a:solidFill>
                <a:latin typeface="メイリオ" pitchFamily="34" charset="0"/>
                <a:ea typeface="メイリオ" pitchFamily="34" charset="-122"/>
                <a:cs typeface="メイリオ" pitchFamily="34" charset="-120"/>
              </a:rPr>
              <a:t>大量</a:t>
            </a:r>
            <a:endParaRPr lang="ja-JP" sz="2800" dirty="0"/>
          </a:p>
          <a:p>
            <a:pPr algn="ctr" indent="0" marL="0">
              <a:buNone/>
            </a:pPr>
            <a:r>
              <a:rPr lang="ja-JP" altLang="en-US" sz="2800" b="1" dirty="0">
                <a:solidFill>
                  <a:srgbClr val="262626"/>
                </a:solidFill>
                <a:latin typeface="メイリオ" pitchFamily="34" charset="0"/>
                <a:ea typeface="メイリオ" pitchFamily="34" charset="-122"/>
                <a:cs typeface="メイリオ" pitchFamily="34" charset="-120"/>
              </a:rPr>
              <a:t>（</a:t>
            </a:r>
            <a:r>
              <a:rPr lang="ja-JP" altLang="en-US" sz="2800" b="1" dirty="0">
                <a:solidFill>
                  <a:srgbClr val="262626"/>
                </a:solidFill>
                <a:latin typeface="メイリオ" pitchFamily="34" charset="0"/>
                <a:ea typeface="メイリオ" pitchFamily="34" charset="-122"/>
                <a:cs typeface="メイリオ" pitchFamily="34" charset="-120"/>
              </a:rPr>
              <a:t>0.9 mg/kg</a:t>
            </a:r>
            <a:r>
              <a:rPr lang="ja-JP" altLang="en-US" sz="2800" b="1" dirty="0">
                <a:solidFill>
                  <a:srgbClr val="262626"/>
                </a:solidFill>
                <a:latin typeface="メイリオ" pitchFamily="34" charset="0"/>
                <a:ea typeface="メイリオ" pitchFamily="34" charset="-122"/>
                <a:cs typeface="メイリオ" pitchFamily="34" charset="-120"/>
              </a:rPr>
              <a:t>、</a:t>
            </a:r>
            <a:endParaRPr lang="ja-JP" sz="2800" dirty="0"/>
          </a:p>
          <a:p>
            <a:pPr algn="ctr" indent="0" marL="0">
              <a:buNone/>
            </a:pPr>
            <a:r>
              <a:rPr lang="ja-JP" altLang="en-US" sz="2800" b="1" dirty="0">
                <a:solidFill>
                  <a:srgbClr val="262626"/>
                </a:solidFill>
                <a:latin typeface="メイリオ" pitchFamily="34" charset="0"/>
                <a:ea typeface="メイリオ" pitchFamily="34" charset="-122"/>
                <a:cs typeface="メイリオ" pitchFamily="34" charset="-120"/>
              </a:rPr>
              <a:t>海外は 1.2）</a:t>
            </a:r>
            <a:endParaRPr lang="ja-JP" sz="2800" dirty="0"/>
          </a:p>
        </p:txBody>
      </p:sp>
      <p:sp>
        <p:nvSpPr>
          <p:cNvPr id="12" name="Shape 10"/>
          <p:cNvSpPr/>
          <p:nvPr/>
        </p:nvSpPr>
        <p:spPr>
          <a:xfrm>
            <a:off x="3733556" y="2999232"/>
            <a:ext cx="425562" cy="0"/>
          </a:xfrm>
          <a:prstGeom prst="line">
            <a:avLst/>
          </a:prstGeom>
          <a:noFill/>
          <a:ln w="38100">
            <a:solidFill>
              <a:srgbClr val="404040"/>
            </a:solidFill>
            <a:prstDash val="solid"/>
          </a:ln>
        </p:spPr>
      </p:sp>
      <p:sp>
        <p:nvSpPr>
          <p:cNvPr id="13" name="Shape 11"/>
          <p:cNvSpPr/>
          <p:nvPr/>
        </p:nvSpPr>
        <p:spPr>
          <a:xfrm>
            <a:off x="4140830" y="2862072"/>
            <a:ext cx="219456" cy="274320"/>
          </a:xfrm>
          <a:custGeom>
            <a:avLst/>
            <a:gdLst/>
            <a:ahLst/>
            <a:cxnLst/>
            <a:rect l="l" t="t" r="r" b="b"/>
            <a:pathLst>
              <a:path w="219456" h="274320">
                <a:moveTo>
                  <a:pt x="219456" y="137160"/>
                </a:moveTo>
                <a:lnTo>
                  <a:pt x="0" y="274320"/>
                </a:lnTo>
                <a:lnTo>
                  <a:pt x="0" y="0"/>
                </a:lnTo>
                <a:close/>
              </a:path>
            </a:pathLst>
          </a:custGeom>
          <a:solidFill>
            <a:srgbClr val="404040"/>
          </a:solidFill>
          <a:ln w="12700">
            <a:solidFill>
              <a:srgbClr val="404040"/>
            </a:solidFill>
            <a:prstDash val="solid"/>
          </a:ln>
        </p:spPr>
      </p:sp>
      <p:sp>
        <p:nvSpPr>
          <p:cNvPr id="14" name="Text 12"/>
          <p:cNvSpPr/>
          <p:nvPr/>
        </p:nvSpPr>
        <p:spPr>
          <a:xfrm>
            <a:off x="4598030" y="2061972"/>
            <a:ext cx="2992892" cy="1874520"/>
          </a:xfrm>
          <a:prstGeom prst="roundRect">
            <a:avLst>
              <a:gd name="adj" fmla="val 4878"/>
            </a:avLst>
          </a:prstGeom>
          <a:solidFill>
            <a:srgbClr val="F2F2F2"/>
          </a:solidFill>
          <a:ln w="28575">
            <a:solidFill>
              <a:srgbClr val="0072B2"/>
            </a:solidFill>
          </a:ln>
        </p:spPr>
        <p:txBody>
          <a:bodyPr wrap="square" lIns="73152" tIns="73152" rIns="73152" bIns="73152" rtlCol="0" anchor="ctr"/>
          <a:lstStyle/>
          <a:p>
            <a:pPr algn="ctr" indent="0" marL="0">
              <a:buNone/>
            </a:pPr>
            <a:r>
              <a:rPr lang="ja-JP" altLang="en-US" sz="2800" b="1" dirty="0">
                <a:solidFill>
                  <a:srgbClr val="262626"/>
                </a:solidFill>
                <a:latin typeface="メイリオ" pitchFamily="34" charset="0"/>
                <a:ea typeface="メイリオ" pitchFamily="34" charset="-122"/>
                <a:cs typeface="メイリオ" pitchFamily="34" charset="-120"/>
              </a:rPr>
              <a:t>60〜90 秒</a:t>
            </a:r>
            <a:r>
              <a:rPr lang="ja-JP" altLang="en-US" sz="2800" b="1" dirty="0">
                <a:solidFill>
                  <a:srgbClr val="262626"/>
                </a:solidFill>
                <a:latin typeface="メイリオ" pitchFamily="34" charset="0"/>
                <a:ea typeface="メイリオ" pitchFamily="34" charset="-122"/>
                <a:cs typeface="メイリオ" pitchFamily="34" charset="-120"/>
              </a:rPr>
              <a:t>で</a:t>
            </a:r>
            <a:endParaRPr lang="ja-JP" sz="2800" dirty="0"/>
          </a:p>
          <a:p>
            <a:pPr algn="ctr" indent="0" marL="0">
              <a:buNone/>
            </a:pPr>
            <a:r>
              <a:rPr lang="ja-JP" altLang="en-US" sz="2800" b="1" dirty="0">
                <a:solidFill>
                  <a:srgbClr val="262626"/>
                </a:solidFill>
                <a:latin typeface="メイリオ" pitchFamily="34" charset="0"/>
                <a:ea typeface="メイリオ" pitchFamily="34" charset="-122"/>
                <a:cs typeface="メイリオ" pitchFamily="34" charset="-120"/>
              </a:rPr>
              <a:t>挿管</a:t>
            </a:r>
            <a:endParaRPr lang="ja-JP" sz="2800" dirty="0"/>
          </a:p>
        </p:txBody>
      </p:sp>
      <p:sp>
        <p:nvSpPr>
          <p:cNvPr id="15" name="Shape 13"/>
          <p:cNvSpPr/>
          <p:nvPr/>
        </p:nvSpPr>
        <p:spPr>
          <a:xfrm>
            <a:off x="7828666" y="2999232"/>
            <a:ext cx="425562" cy="0"/>
          </a:xfrm>
          <a:prstGeom prst="line">
            <a:avLst/>
          </a:prstGeom>
          <a:noFill/>
          <a:ln w="38100">
            <a:solidFill>
              <a:srgbClr val="404040"/>
            </a:solidFill>
            <a:prstDash val="solid"/>
          </a:ln>
        </p:spPr>
      </p:sp>
      <p:sp>
        <p:nvSpPr>
          <p:cNvPr id="16" name="Shape 14"/>
          <p:cNvSpPr/>
          <p:nvPr/>
        </p:nvSpPr>
        <p:spPr>
          <a:xfrm>
            <a:off x="8235940" y="2862072"/>
            <a:ext cx="219456" cy="274320"/>
          </a:xfrm>
          <a:custGeom>
            <a:avLst/>
            <a:gdLst/>
            <a:ahLst/>
            <a:cxnLst/>
            <a:rect l="l" t="t" r="r" b="b"/>
            <a:pathLst>
              <a:path w="219456" h="274320">
                <a:moveTo>
                  <a:pt x="219456" y="137160"/>
                </a:moveTo>
                <a:lnTo>
                  <a:pt x="0" y="274320"/>
                </a:lnTo>
                <a:lnTo>
                  <a:pt x="0" y="0"/>
                </a:lnTo>
                <a:close/>
              </a:path>
            </a:pathLst>
          </a:custGeom>
          <a:solidFill>
            <a:srgbClr val="404040"/>
          </a:solidFill>
          <a:ln w="12700">
            <a:solidFill>
              <a:srgbClr val="404040"/>
            </a:solidFill>
            <a:prstDash val="solid"/>
          </a:ln>
        </p:spPr>
      </p:sp>
      <p:sp>
        <p:nvSpPr>
          <p:cNvPr id="17" name="Text 15"/>
          <p:cNvSpPr/>
          <p:nvPr/>
        </p:nvSpPr>
        <p:spPr>
          <a:xfrm>
            <a:off x="8693140" y="2061972"/>
            <a:ext cx="2992892" cy="1874520"/>
          </a:xfrm>
          <a:prstGeom prst="roundRect">
            <a:avLst>
              <a:gd name="adj" fmla="val 4878"/>
            </a:avLst>
          </a:prstGeom>
          <a:solidFill>
            <a:srgbClr val="F2F2F2"/>
          </a:solidFill>
          <a:ln w="28575">
            <a:solidFill>
              <a:srgbClr val="D55E00"/>
            </a:solidFill>
          </a:ln>
        </p:spPr>
        <p:txBody>
          <a:bodyPr wrap="square" lIns="73152" tIns="73152" rIns="73152" bIns="73152" rtlCol="0" anchor="ctr"/>
          <a:lstStyle/>
          <a:p>
            <a:pPr algn="ctr" indent="0" marL="0">
              <a:buNone/>
            </a:pPr>
            <a:r>
              <a:rPr lang="ja-JP" altLang="en-US" sz="2800" b="1" dirty="0">
                <a:solidFill>
                  <a:srgbClr val="262626"/>
                </a:solidFill>
                <a:latin typeface="メイリオ" pitchFamily="34" charset="0"/>
                <a:ea typeface="メイリオ" pitchFamily="34" charset="-122"/>
                <a:cs typeface="メイリオ" pitchFamily="34" charset="-120"/>
              </a:rPr>
              <a:t>失敗なら</a:t>
            </a:r>
            <a:endParaRPr lang="ja-JP" sz="2800" dirty="0"/>
          </a:p>
          <a:p>
            <a:pPr algn="ctr" indent="0" marL="0">
              <a:buNone/>
            </a:pPr>
            <a:r>
              <a:rPr lang="ja-JP" altLang="en-US" sz="2800" b="1" dirty="0">
                <a:solidFill>
                  <a:srgbClr val="262626"/>
                </a:solidFill>
                <a:latin typeface="メイリオ" pitchFamily="34" charset="0"/>
                <a:ea typeface="メイリオ" pitchFamily="34" charset="-122"/>
                <a:cs typeface="メイリオ" pitchFamily="34" charset="-120"/>
              </a:rPr>
              <a:t>スガマデクス</a:t>
            </a:r>
            <a:endParaRPr lang="ja-JP" sz="2800" dirty="0"/>
          </a:p>
          <a:p>
            <a:pPr algn="ctr" indent="0" marL="0">
              <a:buNone/>
            </a:pPr>
            <a:r>
              <a:rPr lang="ja-JP" altLang="en-US" sz="2800" b="1" dirty="0">
                <a:solidFill>
                  <a:srgbClr val="D55E00"/>
                </a:solidFill>
                <a:latin typeface="メイリオ" pitchFamily="34" charset="0"/>
                <a:ea typeface="メイリオ" pitchFamily="34" charset="-122"/>
                <a:cs typeface="メイリオ" pitchFamily="34" charset="-120"/>
              </a:rPr>
              <a:t>16 mg/kg</a:t>
            </a:r>
            <a:endParaRPr lang="ja-JP" sz="2800" dirty="0"/>
          </a:p>
        </p:txBody>
      </p:sp>
      <p:sp>
        <p:nvSpPr>
          <p:cNvPr id="18" name="Text 16"/>
          <p:cNvSpPr/>
          <p:nvPr/>
        </p:nvSpPr>
        <p:spPr>
          <a:xfrm>
            <a:off x="502920" y="4485132"/>
            <a:ext cx="11183112" cy="868680"/>
          </a:xfrm>
          <a:prstGeom prst="roundRect">
            <a:avLst>
              <a:gd name="adj" fmla="val 8421"/>
            </a:avLst>
          </a:prstGeom>
          <a:solidFill>
            <a:srgbClr val="FFFFFF"/>
          </a:solidFill>
          <a:ln w="31750">
            <a:solidFill>
              <a:srgbClr val="00A8AA"/>
            </a:solidFill>
          </a:ln>
        </p:spPr>
        <p:txBody>
          <a:bodyPr wrap="square" lIns="73152" tIns="73152" rIns="73152" bIns="73152" rtlCol="0" anchor="ctr"/>
          <a:lstStyle/>
          <a:p>
            <a:pPr algn="ctr" indent="0" marL="0">
              <a:buNone/>
            </a:pPr>
            <a:r>
              <a:rPr lang="ja-JP" altLang="en-US" sz="3000" b="1" dirty="0">
                <a:solidFill>
                  <a:srgbClr val="262626"/>
                </a:solidFill>
                <a:latin typeface="メイリオ" pitchFamily="34" charset="0"/>
                <a:ea typeface="メイリオ" pitchFamily="34" charset="-122"/>
                <a:cs typeface="メイリオ" pitchFamily="34" charset="-120"/>
              </a:rPr>
              <a:t>量を増やすほど速く効くが、</a:t>
            </a:r>
            <a:r>
              <a:rPr lang="ja-JP" altLang="en-US" sz="3000" b="1" dirty="0">
                <a:solidFill>
                  <a:srgbClr val="D55E00"/>
                </a:solidFill>
                <a:latin typeface="メイリオ" pitchFamily="34" charset="0"/>
                <a:ea typeface="メイリオ" pitchFamily="34" charset="-122"/>
                <a:cs typeface="メイリオ" pitchFamily="34" charset="-120"/>
              </a:rPr>
              <a:t>長く残る</a:t>
            </a:r>
            <a:endParaRPr lang="ja-JP" sz="3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スキサメトニウム</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仕組み</a:t>
            </a:r>
            <a:endParaRPr lang="ja-JP" sz="1050" dirty="0"/>
          </a:p>
        </p:txBody>
      </p:sp>
      <p:sp>
        <p:nvSpPr>
          <p:cNvPr id="5" name="Text 3"/>
          <p:cNvSpPr/>
          <p:nvPr/>
        </p:nvSpPr>
        <p:spPr>
          <a:xfrm>
            <a:off x="9354312"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ロクロ</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ニウム</a:t>
            </a:r>
            <a:endParaRPr lang="ja-JP" sz="1050" dirty="0"/>
          </a:p>
        </p:txBody>
      </p:sp>
      <p:sp>
        <p:nvSpPr>
          <p:cNvPr id="6" name="Text 4"/>
          <p:cNvSpPr/>
          <p:nvPr/>
        </p:nvSpPr>
        <p:spPr>
          <a:xfrm>
            <a:off x="10030968" y="54864"/>
            <a:ext cx="621792" cy="585216"/>
          </a:xfrm>
          <a:prstGeom prst="roundRect">
            <a:avLst>
              <a:gd name="adj" fmla="val 7813"/>
            </a:avLst>
          </a:prstGeom>
          <a:solidFill>
            <a:srgbClr val="00A8AA"/>
          </a:solidFill>
          <a:ln/>
        </p:spPr>
        <p:txBody>
          <a:bodyPr wrap="none" lIns="0" tIns="0" rIns="0" bIns="0" rtlCol="0" anchor="ctr"/>
          <a:lstStyle/>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スキサメ</a:t>
            </a:r>
            <a:endParaRPr lang="ja-JP" sz="1050" dirty="0"/>
          </a:p>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トニウム</a:t>
            </a:r>
            <a:endParaRPr lang="ja-JP" sz="1050" dirty="0"/>
          </a:p>
        </p:txBody>
      </p:sp>
      <p:sp>
        <p:nvSpPr>
          <p:cNvPr id="7" name="Text 5"/>
          <p:cNvSpPr/>
          <p:nvPr/>
        </p:nvSpPr>
        <p:spPr>
          <a:xfrm>
            <a:off x="10707624"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重い</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副作用</a:t>
            </a:r>
            <a:endParaRPr lang="ja-JP" sz="1050" dirty="0"/>
          </a:p>
        </p:txBody>
      </p:sp>
      <p:sp>
        <p:nvSpPr>
          <p:cNvPr id="8" name="Text 6"/>
          <p:cNvSpPr/>
          <p:nvPr/>
        </p:nvSpPr>
        <p:spPr>
          <a:xfrm>
            <a:off x="11384280"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使い方</a:t>
            </a:r>
            <a:endParaRPr lang="ja-JP" sz="105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5</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スキサメトニウム注 添付文書 / 日本麻酔科学会「麻酔薬および麻酔関連薬使用ガイドライン 第4版」</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Ⅵ（2025） / Lee C, et al. Anesthesiology 2009;110:1020-1025</a:t>
            </a:r>
            <a:endParaRPr lang="ja-JP" sz="1600" dirty="0"/>
          </a:p>
        </p:txBody>
      </p:sp>
      <p:sp>
        <p:nvSpPr>
          <p:cNvPr id="11" name="Shape 9"/>
          <p:cNvSpPr/>
          <p:nvPr/>
        </p:nvSpPr>
        <p:spPr>
          <a:xfrm>
            <a:off x="502920" y="1691640"/>
            <a:ext cx="3520013" cy="4032504"/>
          </a:xfrm>
          <a:prstGeom prst="roundRect">
            <a:avLst>
              <a:gd name="adj" fmla="val 2078"/>
            </a:avLst>
          </a:prstGeom>
          <a:solidFill>
            <a:srgbClr val="F2F2F2"/>
          </a:solidFill>
          <a:ln/>
        </p:spPr>
      </p:sp>
      <p:sp>
        <p:nvSpPr>
          <p:cNvPr id="12" name="Text 10"/>
          <p:cNvSpPr txBox="1"/>
          <p:nvPr/>
        </p:nvSpPr>
        <p:spPr>
          <a:xfrm>
            <a:off x="704088" y="1837944"/>
            <a:ext cx="3117677"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用量</a:t>
            </a:r>
            <a:endParaRPr lang="ja-JP" sz="2400" dirty="0"/>
          </a:p>
        </p:txBody>
      </p:sp>
      <p:sp>
        <p:nvSpPr>
          <p:cNvPr id="13" name="Text 11"/>
          <p:cNvSpPr txBox="1"/>
          <p:nvPr/>
        </p:nvSpPr>
        <p:spPr>
          <a:xfrm>
            <a:off x="704088" y="2423160"/>
            <a:ext cx="3117677"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1 回 </a:t>
            </a:r>
            <a:r>
              <a:rPr lang="ja-JP" altLang="en-US" sz="2200" b="1" dirty="0">
                <a:solidFill>
                  <a:srgbClr val="262626"/>
                </a:solidFill>
                <a:latin typeface="メイリオ" pitchFamily="34" charset="0"/>
                <a:ea typeface="メイリオ" pitchFamily="34" charset="-122"/>
                <a:cs typeface="メイリオ" pitchFamily="34" charset="-120"/>
              </a:rPr>
              <a:t>10〜60 mg</a:t>
            </a:r>
            <a:r>
              <a:rPr lang="ja-JP" altLang="en-US" sz="2200" dirty="0">
                <a:solidFill>
                  <a:srgbClr val="262626"/>
                </a:solidFill>
                <a:latin typeface="メイリオ" pitchFamily="34" charset="0"/>
                <a:ea typeface="メイリオ" pitchFamily="34" charset="-122"/>
                <a:cs typeface="メイリオ" pitchFamily="34" charset="-120"/>
              </a:rPr>
              <a:t> 静注</a:t>
            </a:r>
            <a:endParaRPr lang="ja-JP" sz="2200" dirty="0"/>
          </a:p>
        </p:txBody>
      </p:sp>
      <p:sp>
        <p:nvSpPr>
          <p:cNvPr id="14" name="Text 12"/>
          <p:cNvSpPr txBox="1"/>
          <p:nvPr/>
        </p:nvSpPr>
        <p:spPr>
          <a:xfrm>
            <a:off x="978408" y="2843784"/>
            <a:ext cx="2843357"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（添付文書・成人）</a:t>
            </a:r>
            <a:endParaRPr lang="ja-JP" sz="2200" dirty="0"/>
          </a:p>
        </p:txBody>
      </p:sp>
      <p:sp>
        <p:nvSpPr>
          <p:cNvPr id="15" name="Text 13"/>
          <p:cNvSpPr txBox="1"/>
          <p:nvPr/>
        </p:nvSpPr>
        <p:spPr>
          <a:xfrm>
            <a:off x="704088" y="3614928"/>
            <a:ext cx="3117677"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挿管の慣用量 </a:t>
            </a:r>
            <a:r>
              <a:rPr lang="ja-JP" altLang="en-US" sz="2200" b="1" dirty="0">
                <a:solidFill>
                  <a:srgbClr val="262626"/>
                </a:solidFill>
                <a:latin typeface="メイリオ" pitchFamily="34" charset="0"/>
                <a:ea typeface="メイリオ" pitchFamily="34" charset="-122"/>
                <a:cs typeface="メイリオ" pitchFamily="34" charset="-120"/>
              </a:rPr>
              <a:t>1 mg/kg</a:t>
            </a:r>
            <a:endParaRPr lang="ja-JP" sz="2200" dirty="0"/>
          </a:p>
        </p:txBody>
      </p:sp>
      <p:sp>
        <p:nvSpPr>
          <p:cNvPr id="16" name="Text 14"/>
          <p:cNvSpPr txBox="1"/>
          <p:nvPr/>
        </p:nvSpPr>
        <p:spPr>
          <a:xfrm>
            <a:off x="704088" y="4386072"/>
            <a:ext cx="3117677" cy="420624"/>
          </a:xfrm>
          <a:prstGeom prst="rect">
            <a:avLst/>
          </a:prstGeom>
          <a:noFill/>
          <a:ln/>
        </p:spPr>
        <p:txBody>
          <a:bodyPr wrap="square" lIns="0" tIns="0" rIns="0" bIns="0" rtlCol="0" anchor="t"/>
          <a:lstStyle/>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拮抗薬はない</a:t>
            </a:r>
            <a:endParaRPr lang="ja-JP" sz="2200" dirty="0"/>
          </a:p>
        </p:txBody>
      </p:sp>
      <p:sp>
        <p:nvSpPr>
          <p:cNvPr id="17" name="Shape 15"/>
          <p:cNvSpPr/>
          <p:nvPr/>
        </p:nvSpPr>
        <p:spPr>
          <a:xfrm>
            <a:off x="4242389" y="1691640"/>
            <a:ext cx="3845458" cy="4032504"/>
          </a:xfrm>
          <a:prstGeom prst="roundRect">
            <a:avLst>
              <a:gd name="adj" fmla="val 1902"/>
            </a:avLst>
          </a:prstGeom>
          <a:solidFill>
            <a:srgbClr val="F2F2F2"/>
          </a:solidFill>
          <a:ln/>
        </p:spPr>
      </p:sp>
      <p:sp>
        <p:nvSpPr>
          <p:cNvPr id="18" name="Text 16"/>
          <p:cNvSpPr txBox="1"/>
          <p:nvPr/>
        </p:nvSpPr>
        <p:spPr>
          <a:xfrm>
            <a:off x="4443557" y="1837944"/>
            <a:ext cx="3443122"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時間</a:t>
            </a:r>
            <a:endParaRPr lang="ja-JP" sz="2400" dirty="0"/>
          </a:p>
        </p:txBody>
      </p:sp>
      <p:sp>
        <p:nvSpPr>
          <p:cNvPr id="19" name="Text 17"/>
          <p:cNvSpPr txBox="1"/>
          <p:nvPr/>
        </p:nvSpPr>
        <p:spPr>
          <a:xfrm>
            <a:off x="4443557" y="2423160"/>
            <a:ext cx="3443122"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効くまで</a:t>
            </a:r>
            <a:r>
              <a:rPr lang="ja-JP" altLang="en-US" sz="2200" b="1" dirty="0">
                <a:solidFill>
                  <a:srgbClr val="262626"/>
                </a:solidFill>
                <a:latin typeface="メイリオ" pitchFamily="34" charset="0"/>
                <a:ea typeface="メイリオ" pitchFamily="34" charset="-122"/>
                <a:cs typeface="メイリオ" pitchFamily="34" charset="-120"/>
              </a:rPr>
              <a:t>約 1 分</a:t>
            </a:r>
            <a:endParaRPr lang="ja-JP" sz="2200" dirty="0"/>
          </a:p>
        </p:txBody>
      </p:sp>
      <p:sp>
        <p:nvSpPr>
          <p:cNvPr id="20" name="Text 18"/>
          <p:cNvSpPr txBox="1"/>
          <p:nvPr/>
        </p:nvSpPr>
        <p:spPr>
          <a:xfrm>
            <a:off x="4443557" y="3194304"/>
            <a:ext cx="3443122" cy="420624"/>
          </a:xfrm>
          <a:prstGeom prst="rect">
            <a:avLst/>
          </a:prstGeom>
          <a:noFill/>
          <a:ln/>
        </p:spPr>
        <p:txBody>
          <a:bodyPr wrap="square" lIns="0" tIns="0" rIns="0" bIns="0" rtlCol="0" anchor="t"/>
          <a:lstStyle/>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約 10 分</a:t>
            </a:r>
            <a:r>
              <a:rPr lang="ja-JP" altLang="en-US" sz="2200" dirty="0">
                <a:solidFill>
                  <a:srgbClr val="262626"/>
                </a:solidFill>
                <a:latin typeface="メイリオ" pitchFamily="34" charset="0"/>
                <a:ea typeface="メイリオ" pitchFamily="34" charset="-122"/>
                <a:cs typeface="メイリオ" pitchFamily="34" charset="-120"/>
              </a:rPr>
              <a:t>で戻る</a:t>
            </a:r>
            <a:endParaRPr lang="ja-JP" sz="2200" dirty="0"/>
          </a:p>
        </p:txBody>
      </p:sp>
      <p:sp>
        <p:nvSpPr>
          <p:cNvPr id="21" name="Text 19"/>
          <p:cNvSpPr txBox="1"/>
          <p:nvPr/>
        </p:nvSpPr>
        <p:spPr>
          <a:xfrm>
            <a:off x="4443557" y="3965448"/>
            <a:ext cx="3443122"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血漿コリンエステラーゼ</a:t>
            </a:r>
            <a:endParaRPr lang="ja-JP" sz="2200" dirty="0"/>
          </a:p>
        </p:txBody>
      </p:sp>
      <p:sp>
        <p:nvSpPr>
          <p:cNvPr id="22" name="Text 20"/>
          <p:cNvSpPr txBox="1"/>
          <p:nvPr/>
        </p:nvSpPr>
        <p:spPr>
          <a:xfrm>
            <a:off x="4717877" y="4386072"/>
            <a:ext cx="3168802"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で分解</a:t>
            </a:r>
            <a:endParaRPr lang="ja-JP" sz="2200" dirty="0"/>
          </a:p>
        </p:txBody>
      </p:sp>
      <p:sp>
        <p:nvSpPr>
          <p:cNvPr id="23" name="Shape 21"/>
          <p:cNvSpPr/>
          <p:nvPr/>
        </p:nvSpPr>
        <p:spPr>
          <a:xfrm>
            <a:off x="8307304" y="1691640"/>
            <a:ext cx="3378728" cy="4032504"/>
          </a:xfrm>
          <a:prstGeom prst="roundRect">
            <a:avLst>
              <a:gd name="adj" fmla="val 2165"/>
            </a:avLst>
          </a:prstGeom>
          <a:solidFill>
            <a:srgbClr val="F2F2F2"/>
          </a:solidFill>
          <a:ln/>
        </p:spPr>
      </p:sp>
      <p:sp>
        <p:nvSpPr>
          <p:cNvPr id="24" name="Text 22"/>
          <p:cNvSpPr txBox="1"/>
          <p:nvPr/>
        </p:nvSpPr>
        <p:spPr>
          <a:xfrm>
            <a:off x="8508472" y="1837944"/>
            <a:ext cx="2976392" cy="457200"/>
          </a:xfrm>
          <a:prstGeom prst="rect">
            <a:avLst/>
          </a:prstGeom>
          <a:noFill/>
          <a:ln/>
        </p:spPr>
        <p:txBody>
          <a:bodyPr wrap="square" lIns="0" tIns="0" rIns="0" bIns="0" rtlCol="0" anchor="t"/>
          <a:lstStyle/>
          <a:p>
            <a:pPr algn="l" indent="0" marL="0">
              <a:buNone/>
            </a:pPr>
            <a:r>
              <a:rPr lang="ja-JP" altLang="en-US" sz="2400" b="1" dirty="0">
                <a:solidFill>
                  <a:srgbClr val="C00000"/>
                </a:solidFill>
                <a:latin typeface="メイリオ" pitchFamily="34" charset="0"/>
                <a:ea typeface="メイリオ" pitchFamily="34" charset="-122"/>
                <a:cs typeface="メイリオ" pitchFamily="34" charset="-120"/>
              </a:rPr>
              <a:t>副作用</a:t>
            </a:r>
            <a:endParaRPr lang="ja-JP" sz="2400" dirty="0"/>
          </a:p>
        </p:txBody>
      </p:sp>
      <p:sp>
        <p:nvSpPr>
          <p:cNvPr id="25" name="Text 23"/>
          <p:cNvSpPr txBox="1"/>
          <p:nvPr/>
        </p:nvSpPr>
        <p:spPr>
          <a:xfrm>
            <a:off x="8508472" y="2423160"/>
            <a:ext cx="2976392" cy="420624"/>
          </a:xfrm>
          <a:prstGeom prst="rect">
            <a:avLst/>
          </a:prstGeom>
          <a:noFill/>
          <a:ln/>
        </p:spPr>
        <p:txBody>
          <a:bodyPr wrap="square" lIns="0" tIns="0" rIns="0" bIns="0" rtlCol="0" anchor="t"/>
          <a:lstStyle/>
          <a:p>
            <a:pPr algn="l" indent="0" marL="0">
              <a:buNone/>
            </a:pPr>
            <a:r>
              <a:rPr lang="ja-JP" altLang="en-US" sz="2200" b="1" dirty="0">
                <a:solidFill>
                  <a:srgbClr val="C00000"/>
                </a:solidFill>
                <a:latin typeface="メイリオ" pitchFamily="34" charset="0"/>
                <a:ea typeface="メイリオ" pitchFamily="34" charset="-122"/>
                <a:cs typeface="メイリオ" pitchFamily="34" charset="-120"/>
              </a:rPr>
              <a:t>高カリウム血症</a:t>
            </a:r>
            <a:endParaRPr lang="ja-JP" sz="2200" dirty="0"/>
          </a:p>
        </p:txBody>
      </p:sp>
      <p:sp>
        <p:nvSpPr>
          <p:cNvPr id="26" name="Text 24"/>
          <p:cNvSpPr txBox="1"/>
          <p:nvPr/>
        </p:nvSpPr>
        <p:spPr>
          <a:xfrm>
            <a:off x="8508472" y="3194304"/>
            <a:ext cx="2976392" cy="420624"/>
          </a:xfrm>
          <a:prstGeom prst="rect">
            <a:avLst/>
          </a:prstGeom>
          <a:noFill/>
          <a:ln/>
        </p:spPr>
        <p:txBody>
          <a:bodyPr wrap="square" lIns="0" tIns="0" rIns="0" bIns="0" rtlCol="0" anchor="t"/>
          <a:lstStyle/>
          <a:p>
            <a:pPr algn="l" indent="0" marL="0">
              <a:buNone/>
            </a:pPr>
            <a:r>
              <a:rPr lang="ja-JP" altLang="en-US" sz="2200" b="1" dirty="0">
                <a:solidFill>
                  <a:srgbClr val="C00000"/>
                </a:solidFill>
                <a:latin typeface="メイリオ" pitchFamily="34" charset="0"/>
                <a:ea typeface="メイリオ" pitchFamily="34" charset="-122"/>
                <a:cs typeface="メイリオ" pitchFamily="34" charset="-120"/>
              </a:rPr>
              <a:t>悪性高熱症</a:t>
            </a:r>
            <a:r>
              <a:rPr lang="ja-JP" altLang="en-US" sz="2200" dirty="0">
                <a:solidFill>
                  <a:srgbClr val="262626"/>
                </a:solidFill>
                <a:latin typeface="メイリオ" pitchFamily="34" charset="0"/>
                <a:ea typeface="メイリオ" pitchFamily="34" charset="-122"/>
                <a:cs typeface="メイリオ" pitchFamily="34" charset="-120"/>
              </a:rPr>
              <a:t>の誘因</a:t>
            </a:r>
            <a:endParaRPr lang="ja-JP" sz="2200" dirty="0"/>
          </a:p>
        </p:txBody>
      </p:sp>
      <p:sp>
        <p:nvSpPr>
          <p:cNvPr id="27" name="Text 25"/>
          <p:cNvSpPr txBox="1"/>
          <p:nvPr/>
        </p:nvSpPr>
        <p:spPr>
          <a:xfrm>
            <a:off x="8508472" y="3965448"/>
            <a:ext cx="2976392"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徐脈、筋痛、</a:t>
            </a:r>
            <a:endParaRPr lang="ja-JP" sz="2200" dirty="0"/>
          </a:p>
        </p:txBody>
      </p:sp>
      <p:sp>
        <p:nvSpPr>
          <p:cNvPr id="28" name="Text 26"/>
          <p:cNvSpPr txBox="1"/>
          <p:nvPr/>
        </p:nvSpPr>
        <p:spPr>
          <a:xfrm>
            <a:off x="8782792" y="4386072"/>
            <a:ext cx="2702072"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眼圧・胃内圧上昇</a:t>
            </a:r>
            <a:endParaRPr lang="ja-JP" sz="2200" dirty="0"/>
          </a:p>
        </p:txBody>
      </p:sp>
      <p:sp>
        <p:nvSpPr>
          <p:cNvPr id="29" name="Text 27"/>
          <p:cNvSpPr txBox="1"/>
          <p:nvPr/>
        </p:nvSpPr>
        <p:spPr>
          <a:xfrm>
            <a:off x="8508472" y="5157216"/>
            <a:ext cx="2976392"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アナフィラキシー</a:t>
            </a:r>
            <a:endParaRPr lang="ja-JP"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高カリウム血症・悪性高熱</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仕組み</a:t>
            </a:r>
            <a:endParaRPr lang="ja-JP" sz="1050" dirty="0"/>
          </a:p>
        </p:txBody>
      </p:sp>
      <p:sp>
        <p:nvSpPr>
          <p:cNvPr id="5" name="Text 3"/>
          <p:cNvSpPr/>
          <p:nvPr/>
        </p:nvSpPr>
        <p:spPr>
          <a:xfrm>
            <a:off x="9354312"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ロクロ</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ニウム</a:t>
            </a:r>
            <a:endParaRPr lang="ja-JP" sz="1050" dirty="0"/>
          </a:p>
        </p:txBody>
      </p:sp>
      <p:sp>
        <p:nvSpPr>
          <p:cNvPr id="6" name="Text 4"/>
          <p:cNvSpPr/>
          <p:nvPr/>
        </p:nvSpPr>
        <p:spPr>
          <a:xfrm>
            <a:off x="10030968"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スキサメ</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トニウム</a:t>
            </a:r>
            <a:endParaRPr lang="ja-JP" sz="1050" dirty="0"/>
          </a:p>
        </p:txBody>
      </p:sp>
      <p:sp>
        <p:nvSpPr>
          <p:cNvPr id="7" name="Text 5"/>
          <p:cNvSpPr/>
          <p:nvPr/>
        </p:nvSpPr>
        <p:spPr>
          <a:xfrm>
            <a:off x="10707624" y="54864"/>
            <a:ext cx="621792" cy="585216"/>
          </a:xfrm>
          <a:prstGeom prst="roundRect">
            <a:avLst>
              <a:gd name="adj" fmla="val 7813"/>
            </a:avLst>
          </a:prstGeom>
          <a:solidFill>
            <a:srgbClr val="00A8AA"/>
          </a:solidFill>
          <a:ln/>
        </p:spPr>
        <p:txBody>
          <a:bodyPr wrap="none" lIns="0" tIns="0" rIns="0" bIns="0" rtlCol="0" anchor="ctr"/>
          <a:lstStyle/>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重い</a:t>
            </a:r>
            <a:endParaRPr lang="ja-JP" sz="1050" dirty="0"/>
          </a:p>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副作用</a:t>
            </a:r>
            <a:endParaRPr lang="ja-JP" sz="1050" dirty="0"/>
          </a:p>
        </p:txBody>
      </p:sp>
      <p:sp>
        <p:nvSpPr>
          <p:cNvPr id="8" name="Text 6"/>
          <p:cNvSpPr/>
          <p:nvPr/>
        </p:nvSpPr>
        <p:spPr>
          <a:xfrm>
            <a:off x="11384280"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使い方</a:t>
            </a:r>
            <a:endParaRPr lang="ja-JP" sz="105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6</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日本麻酔科学会「麻酔薬および麻酔関連薬使用ガイドライン 第4版」Ⅵ（2025）</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スキサメトニウム注 添付文書 / Martyn JA, et al. Anesthesiology 2006;104:158-169</a:t>
            </a:r>
            <a:endParaRPr lang="ja-JP" sz="1600" dirty="0"/>
          </a:p>
        </p:txBody>
      </p:sp>
      <p:sp>
        <p:nvSpPr>
          <p:cNvPr id="11" name="Shape 9"/>
          <p:cNvSpPr/>
          <p:nvPr/>
        </p:nvSpPr>
        <p:spPr>
          <a:xfrm>
            <a:off x="502920" y="1691640"/>
            <a:ext cx="5340096" cy="4032504"/>
          </a:xfrm>
          <a:prstGeom prst="roundRect">
            <a:avLst>
              <a:gd name="adj" fmla="val 1814"/>
            </a:avLst>
          </a:prstGeom>
          <a:solidFill>
            <a:srgbClr val="F2F2F2"/>
          </a:solidFill>
          <a:ln/>
        </p:spPr>
      </p:sp>
      <p:sp>
        <p:nvSpPr>
          <p:cNvPr id="12" name="Text 10"/>
          <p:cNvSpPr txBox="1"/>
          <p:nvPr/>
        </p:nvSpPr>
        <p:spPr>
          <a:xfrm>
            <a:off x="704088" y="1837944"/>
            <a:ext cx="4937760" cy="996696"/>
          </a:xfrm>
          <a:prstGeom prst="rect">
            <a:avLst/>
          </a:prstGeom>
          <a:noFill/>
          <a:ln/>
        </p:spPr>
        <p:txBody>
          <a:bodyPr wrap="square" lIns="0" tIns="0" rIns="0" bIns="0" rtlCol="0" anchor="t"/>
          <a:lstStyle/>
          <a:p>
            <a:pPr algn="l" indent="0" marL="0">
              <a:buNone/>
            </a:pPr>
            <a:r>
              <a:rPr lang="ja-JP" altLang="en-US" sz="2800" b="1" dirty="0">
                <a:solidFill>
                  <a:srgbClr val="C00000"/>
                </a:solidFill>
                <a:latin typeface="メイリオ" pitchFamily="34" charset="0"/>
                <a:ea typeface="メイリオ" pitchFamily="34" charset="-122"/>
                <a:cs typeface="メイリオ" pitchFamily="34" charset="-120"/>
              </a:rPr>
              <a:t>高カリウム血症</a:t>
            </a:r>
            <a:endParaRPr lang="ja-JP" sz="2800" dirty="0"/>
          </a:p>
          <a:p>
            <a:pPr algn="l" indent="0" marL="0">
              <a:buNone/>
            </a:pPr>
            <a:r>
              <a:rPr lang="ja-JP" altLang="en-US" sz="2400" b="1" dirty="0">
                <a:solidFill>
                  <a:srgbClr val="C00000"/>
                </a:solidFill>
                <a:latin typeface="メイリオ" pitchFamily="34" charset="0"/>
                <a:ea typeface="メイリオ" pitchFamily="34" charset="-122"/>
                <a:cs typeface="メイリオ" pitchFamily="34" charset="-120"/>
              </a:rPr>
              <a:t>（スキサメトニウム）</a:t>
            </a:r>
            <a:endParaRPr lang="ja-JP" sz="2800" dirty="0"/>
          </a:p>
        </p:txBody>
      </p:sp>
      <p:sp>
        <p:nvSpPr>
          <p:cNvPr id="13" name="Text 11"/>
          <p:cNvSpPr txBox="1"/>
          <p:nvPr/>
        </p:nvSpPr>
        <p:spPr>
          <a:xfrm>
            <a:off x="704088" y="2962656"/>
            <a:ext cx="4937760"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脱分極で筋から K が出る</a:t>
            </a:r>
            <a:endParaRPr lang="ja-JP" sz="2400" dirty="0"/>
          </a:p>
        </p:txBody>
      </p:sp>
      <p:sp>
        <p:nvSpPr>
          <p:cNvPr id="14" name="Text 12"/>
          <p:cNvSpPr txBox="1"/>
          <p:nvPr/>
        </p:nvSpPr>
        <p:spPr>
          <a:xfrm>
            <a:off x="704088" y="3584448"/>
            <a:ext cx="4937760"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通常は</a:t>
            </a:r>
            <a:r>
              <a:rPr lang="ja-JP" altLang="en-US" sz="2400" b="1" dirty="0">
                <a:solidFill>
                  <a:srgbClr val="262626"/>
                </a:solidFill>
                <a:latin typeface="メイリオ" pitchFamily="34" charset="0"/>
                <a:ea typeface="メイリオ" pitchFamily="34" charset="-122"/>
                <a:cs typeface="メイリオ" pitchFamily="34" charset="-120"/>
              </a:rPr>
              <a:t>約 0.5 mEq/L</a:t>
            </a:r>
            <a:r>
              <a:rPr lang="ja-JP" altLang="en-US" sz="2400" dirty="0">
                <a:solidFill>
                  <a:srgbClr val="262626"/>
                </a:solidFill>
                <a:latin typeface="メイリオ" pitchFamily="34" charset="0"/>
                <a:ea typeface="メイリオ" pitchFamily="34" charset="-122"/>
                <a:cs typeface="メイリオ" pitchFamily="34" charset="-120"/>
              </a:rPr>
              <a:t> 上昇</a:t>
            </a:r>
            <a:endParaRPr lang="ja-JP" sz="2400" dirty="0"/>
          </a:p>
        </p:txBody>
      </p:sp>
      <p:sp>
        <p:nvSpPr>
          <p:cNvPr id="15" name="Text 13"/>
          <p:cNvSpPr txBox="1"/>
          <p:nvPr/>
        </p:nvSpPr>
        <p:spPr>
          <a:xfrm>
            <a:off x="704088" y="4206240"/>
            <a:ext cx="4937760"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熱傷・広範外傷・脱神経・</a:t>
            </a:r>
            <a:endParaRPr lang="ja-JP" sz="2400" dirty="0"/>
          </a:p>
        </p:txBody>
      </p:sp>
      <p:sp>
        <p:nvSpPr>
          <p:cNvPr id="16" name="Text 14"/>
          <p:cNvSpPr txBox="1"/>
          <p:nvPr/>
        </p:nvSpPr>
        <p:spPr>
          <a:xfrm>
            <a:off x="1033272" y="4663440"/>
            <a:ext cx="4608576"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長期臥床・神経筋疾患では</a:t>
            </a:r>
            <a:endParaRPr lang="ja-JP" sz="2400" dirty="0"/>
          </a:p>
        </p:txBody>
      </p:sp>
      <p:sp>
        <p:nvSpPr>
          <p:cNvPr id="17" name="Text 15"/>
          <p:cNvSpPr txBox="1"/>
          <p:nvPr/>
        </p:nvSpPr>
        <p:spPr>
          <a:xfrm>
            <a:off x="1033272" y="5120640"/>
            <a:ext cx="4608576"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急上昇し</a:t>
            </a:r>
            <a:r>
              <a:rPr lang="ja-JP" altLang="en-US" sz="2400" b="1" dirty="0">
                <a:solidFill>
                  <a:srgbClr val="C00000"/>
                </a:solidFill>
                <a:latin typeface="メイリオ" pitchFamily="34" charset="0"/>
                <a:ea typeface="メイリオ" pitchFamily="34" charset="-122"/>
                <a:cs typeface="メイリオ" pitchFamily="34" charset="-120"/>
              </a:rPr>
              <a:t>心停止</a:t>
            </a:r>
            <a:endParaRPr lang="ja-JP" sz="2400" dirty="0"/>
          </a:p>
        </p:txBody>
      </p:sp>
      <p:sp>
        <p:nvSpPr>
          <p:cNvPr id="18" name="Shape 16"/>
          <p:cNvSpPr/>
          <p:nvPr/>
        </p:nvSpPr>
        <p:spPr>
          <a:xfrm>
            <a:off x="6153912" y="1691640"/>
            <a:ext cx="5532120" cy="4032504"/>
          </a:xfrm>
          <a:prstGeom prst="roundRect">
            <a:avLst>
              <a:gd name="adj" fmla="val 1814"/>
            </a:avLst>
          </a:prstGeom>
          <a:solidFill>
            <a:srgbClr val="F2F2F2"/>
          </a:solidFill>
          <a:ln/>
        </p:spPr>
      </p:sp>
      <p:sp>
        <p:nvSpPr>
          <p:cNvPr id="19" name="Text 17"/>
          <p:cNvSpPr txBox="1"/>
          <p:nvPr/>
        </p:nvSpPr>
        <p:spPr>
          <a:xfrm>
            <a:off x="6355080" y="1837944"/>
            <a:ext cx="5129784" cy="539496"/>
          </a:xfrm>
          <a:prstGeom prst="rect">
            <a:avLst/>
          </a:prstGeom>
          <a:noFill/>
          <a:ln/>
        </p:spPr>
        <p:txBody>
          <a:bodyPr wrap="square" lIns="0" tIns="0" rIns="0" bIns="0" rtlCol="0" anchor="t"/>
          <a:lstStyle/>
          <a:p>
            <a:pPr algn="l" indent="0" marL="0">
              <a:buNone/>
            </a:pPr>
            <a:r>
              <a:rPr lang="ja-JP" altLang="en-US" sz="2800" b="1" dirty="0">
                <a:solidFill>
                  <a:srgbClr val="C00000"/>
                </a:solidFill>
                <a:latin typeface="メイリオ" pitchFamily="34" charset="0"/>
                <a:ea typeface="メイリオ" pitchFamily="34" charset="-122"/>
                <a:cs typeface="メイリオ" pitchFamily="34" charset="-120"/>
              </a:rPr>
              <a:t>悪性高熱症</a:t>
            </a:r>
            <a:endParaRPr lang="ja-JP" sz="2800" dirty="0"/>
          </a:p>
        </p:txBody>
      </p:sp>
      <p:sp>
        <p:nvSpPr>
          <p:cNvPr id="20" name="Text 18"/>
          <p:cNvSpPr txBox="1"/>
          <p:nvPr/>
        </p:nvSpPr>
        <p:spPr>
          <a:xfrm>
            <a:off x="6355080" y="2962656"/>
            <a:ext cx="5129784"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誘因：スキサメトニウムと</a:t>
            </a:r>
            <a:endParaRPr lang="ja-JP" sz="2400" dirty="0"/>
          </a:p>
        </p:txBody>
      </p:sp>
      <p:sp>
        <p:nvSpPr>
          <p:cNvPr id="21" name="Text 19"/>
          <p:cNvSpPr txBox="1"/>
          <p:nvPr/>
        </p:nvSpPr>
        <p:spPr>
          <a:xfrm>
            <a:off x="6684264" y="3419856"/>
            <a:ext cx="4800600"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揮発性麻酔薬</a:t>
            </a:r>
            <a:endParaRPr lang="ja-JP" sz="2400" dirty="0"/>
          </a:p>
        </p:txBody>
      </p:sp>
      <p:sp>
        <p:nvSpPr>
          <p:cNvPr id="22" name="Text 20"/>
          <p:cNvSpPr txBox="1"/>
          <p:nvPr/>
        </p:nvSpPr>
        <p:spPr>
          <a:xfrm>
            <a:off x="6355080" y="4041648"/>
            <a:ext cx="5129784" cy="457200"/>
          </a:xfrm>
          <a:prstGeom prst="rect">
            <a:avLst/>
          </a:prstGeom>
          <a:noFill/>
          <a:ln/>
        </p:spPr>
        <p:txBody>
          <a:bodyPr wrap="square" lIns="0" tIns="0" rIns="0" bIns="0" rtlCol="0" anchor="t"/>
          <a:lstStyle/>
          <a:p>
            <a:pPr algn="l" indent="0" marL="0">
              <a:buNone/>
            </a:pPr>
            <a:r>
              <a:rPr lang="ja-JP" altLang="en-US" sz="2400" b="1" dirty="0">
                <a:solidFill>
                  <a:srgbClr val="262626"/>
                </a:solidFill>
                <a:latin typeface="メイリオ" pitchFamily="34" charset="0"/>
                <a:ea typeface="メイリオ" pitchFamily="34" charset="-122"/>
                <a:cs typeface="メイリオ" pitchFamily="34" charset="-120"/>
              </a:rPr>
              <a:t>EtCO2 上昇</a:t>
            </a:r>
            <a:r>
              <a:rPr lang="ja-JP" altLang="en-US" sz="2400" dirty="0">
                <a:solidFill>
                  <a:srgbClr val="262626"/>
                </a:solidFill>
                <a:latin typeface="メイリオ" pitchFamily="34" charset="0"/>
                <a:ea typeface="メイリオ" pitchFamily="34" charset="-122"/>
                <a:cs typeface="メイリオ" pitchFamily="34" charset="-120"/>
              </a:rPr>
              <a:t>、頻脈、</a:t>
            </a:r>
            <a:endParaRPr lang="ja-JP" sz="2400" dirty="0"/>
          </a:p>
        </p:txBody>
      </p:sp>
      <p:sp>
        <p:nvSpPr>
          <p:cNvPr id="23" name="Text 21"/>
          <p:cNvSpPr txBox="1"/>
          <p:nvPr/>
        </p:nvSpPr>
        <p:spPr>
          <a:xfrm>
            <a:off x="6684264" y="4498848"/>
            <a:ext cx="4800600"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筋硬直、体温上昇</a:t>
            </a:r>
            <a:endParaRPr lang="ja-JP" sz="2400" dirty="0"/>
          </a:p>
        </p:txBody>
      </p:sp>
      <p:sp>
        <p:nvSpPr>
          <p:cNvPr id="24" name="Text 22"/>
          <p:cNvSpPr txBox="1"/>
          <p:nvPr/>
        </p:nvSpPr>
        <p:spPr>
          <a:xfrm>
            <a:off x="6355080" y="5120640"/>
            <a:ext cx="5129784" cy="457200"/>
          </a:xfrm>
          <a:prstGeom prst="rect">
            <a:avLst/>
          </a:prstGeom>
          <a:noFill/>
          <a:ln/>
        </p:spPr>
        <p:txBody>
          <a:bodyPr wrap="square" lIns="0" tIns="0" rIns="0" bIns="0" rtlCol="0" anchor="t"/>
          <a:lstStyle/>
          <a:p>
            <a:pPr algn="l" indent="0" marL="0">
              <a:buNone/>
            </a:pPr>
            <a:r>
              <a:rPr lang="ja-JP" altLang="en-US" sz="2400" b="1" dirty="0">
                <a:solidFill>
                  <a:srgbClr val="262626"/>
                </a:solidFill>
                <a:latin typeface="メイリオ" pitchFamily="34" charset="0"/>
                <a:ea typeface="メイリオ" pitchFamily="34" charset="-122"/>
                <a:cs typeface="メイリオ" pitchFamily="34" charset="-120"/>
              </a:rPr>
              <a:t>ダントロレン</a:t>
            </a:r>
            <a:r>
              <a:rPr lang="ja-JP" altLang="en-US" sz="2400" dirty="0">
                <a:solidFill>
                  <a:srgbClr val="262626"/>
                </a:solidFill>
                <a:latin typeface="メイリオ" pitchFamily="34" charset="0"/>
                <a:ea typeface="メイリオ" pitchFamily="34" charset="-122"/>
                <a:cs typeface="メイリオ" pitchFamily="34" charset="-120"/>
              </a:rPr>
              <a:t>の場所を知っておく</a:t>
            </a:r>
            <a:endParaRPr lang="ja-JP"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アナフィラキシー</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仕組み</a:t>
            </a:r>
            <a:endParaRPr lang="ja-JP" sz="1050" dirty="0"/>
          </a:p>
        </p:txBody>
      </p:sp>
      <p:sp>
        <p:nvSpPr>
          <p:cNvPr id="5" name="Text 3"/>
          <p:cNvSpPr/>
          <p:nvPr/>
        </p:nvSpPr>
        <p:spPr>
          <a:xfrm>
            <a:off x="9354312"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ロクロ</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ニウム</a:t>
            </a:r>
            <a:endParaRPr lang="ja-JP" sz="1050" dirty="0"/>
          </a:p>
        </p:txBody>
      </p:sp>
      <p:sp>
        <p:nvSpPr>
          <p:cNvPr id="6" name="Text 4"/>
          <p:cNvSpPr/>
          <p:nvPr/>
        </p:nvSpPr>
        <p:spPr>
          <a:xfrm>
            <a:off x="10030968"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スキサメ</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トニウム</a:t>
            </a:r>
            <a:endParaRPr lang="ja-JP" sz="1050" dirty="0"/>
          </a:p>
        </p:txBody>
      </p:sp>
      <p:sp>
        <p:nvSpPr>
          <p:cNvPr id="7" name="Text 5"/>
          <p:cNvSpPr/>
          <p:nvPr/>
        </p:nvSpPr>
        <p:spPr>
          <a:xfrm>
            <a:off x="10707624" y="54864"/>
            <a:ext cx="621792" cy="585216"/>
          </a:xfrm>
          <a:prstGeom prst="roundRect">
            <a:avLst>
              <a:gd name="adj" fmla="val 7813"/>
            </a:avLst>
          </a:prstGeom>
          <a:solidFill>
            <a:srgbClr val="00A8AA"/>
          </a:solidFill>
          <a:ln/>
        </p:spPr>
        <p:txBody>
          <a:bodyPr wrap="none" lIns="0" tIns="0" rIns="0" bIns="0" rtlCol="0" anchor="ctr"/>
          <a:lstStyle/>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重い</a:t>
            </a:r>
            <a:endParaRPr lang="ja-JP" sz="1050" dirty="0"/>
          </a:p>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副作用</a:t>
            </a:r>
            <a:endParaRPr lang="ja-JP" sz="1050" dirty="0"/>
          </a:p>
        </p:txBody>
      </p:sp>
      <p:sp>
        <p:nvSpPr>
          <p:cNvPr id="8" name="Text 6"/>
          <p:cNvSpPr/>
          <p:nvPr/>
        </p:nvSpPr>
        <p:spPr>
          <a:xfrm>
            <a:off x="11384280"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使い方</a:t>
            </a:r>
            <a:endParaRPr lang="ja-JP" sz="105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7</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Harper NJN, et al. Br J Anaesth 2018;121:159-171（NAP6） / Takazawa T, et al. Br J Anaesth</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2023;131:159-169（JESPA） / JSA「アナフィラキシーに対する対応プラクティカルガイド」2021</a:t>
            </a:r>
            <a:endParaRPr lang="ja-JP" sz="1600" dirty="0"/>
          </a:p>
        </p:txBody>
      </p:sp>
      <p:sp>
        <p:nvSpPr>
          <p:cNvPr id="11" name="Text 9"/>
          <p:cNvSpPr txBox="1"/>
          <p:nvPr/>
        </p:nvSpPr>
        <p:spPr>
          <a:xfrm>
            <a:off x="502920" y="1810512"/>
            <a:ext cx="11155680" cy="2532888"/>
          </a:xfrm>
          <a:prstGeom prst="rect">
            <a:avLst/>
          </a:prstGeom>
          <a:noFill/>
          <a:ln/>
        </p:spPr>
        <p:txBody>
          <a:bodyPr wrap="square" lIns="0" tIns="0" rIns="0" bIns="0" rtlCol="0" anchor="t"/>
          <a:lstStyle/>
          <a:p>
            <a:pPr algn="l" marL="355600" indent="-355600">
              <a:spcAft>
                <a:spcPts val="18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筋弛緩薬は周術期アナフィラキシーの主な原因の一つ</a:t>
            </a:r>
            <a:endParaRPr lang="ja-JP" sz="2400" dirty="0"/>
          </a:p>
          <a:p>
            <a:pPr algn="l" marL="355600" indent="-355600">
              <a:spcAft>
                <a:spcPts val="18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英国 NAP6：抗菌薬 </a:t>
            </a:r>
            <a:r>
              <a:rPr lang="ja-JP" altLang="en-US" sz="2400" b="1" dirty="0">
                <a:solidFill>
                  <a:srgbClr val="262626"/>
                </a:solidFill>
                <a:latin typeface="メイリオ" pitchFamily="34" charset="0"/>
                <a:ea typeface="メイリオ" pitchFamily="34" charset="-122"/>
                <a:cs typeface="メイリオ" pitchFamily="34" charset="-120"/>
              </a:rPr>
              <a:t>47%</a:t>
            </a:r>
            <a:r>
              <a:rPr lang="ja-JP" altLang="en-US" sz="2400" dirty="0">
                <a:solidFill>
                  <a:srgbClr val="262626"/>
                </a:solidFill>
                <a:latin typeface="メイリオ" pitchFamily="34" charset="0"/>
                <a:ea typeface="メイリオ" pitchFamily="34" charset="-122"/>
                <a:cs typeface="メイリオ" pitchFamily="34" charset="-120"/>
              </a:rPr>
              <a:t>、筋弛緩薬 </a:t>
            </a:r>
            <a:r>
              <a:rPr lang="ja-JP" altLang="en-US" sz="2400" b="1" dirty="0">
                <a:solidFill>
                  <a:srgbClr val="262626"/>
                </a:solidFill>
                <a:latin typeface="メイリオ" pitchFamily="34" charset="0"/>
                <a:ea typeface="メイリオ" pitchFamily="34" charset="-122"/>
                <a:cs typeface="メイリオ" pitchFamily="34" charset="-120"/>
              </a:rPr>
              <a:t>33%</a:t>
            </a:r>
            <a:endParaRPr lang="ja-JP" sz="2400" dirty="0"/>
          </a:p>
          <a:p>
            <a:pPr algn="l" marL="355600" indent="-355600">
              <a:spcAft>
                <a:spcPts val="18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国内（JESPA）：ロクロニウム、スガマデクス、セファゾリンが上位</a:t>
            </a:r>
            <a:endParaRPr lang="ja-JP" sz="2400" dirty="0"/>
          </a:p>
          <a:p>
            <a:pPr algn="l" marL="355600" indent="-355600">
              <a:spcAft>
                <a:spcPts val="18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徴候：低血圧、頻脈、気管支攣縮、皮膚症状（ないこともある）</a:t>
            </a:r>
            <a:endParaRPr lang="ja-JP" sz="2400" dirty="0"/>
          </a:p>
        </p:txBody>
      </p:sp>
      <p:sp>
        <p:nvSpPr>
          <p:cNvPr id="12" name="Text 10"/>
          <p:cNvSpPr/>
          <p:nvPr/>
        </p:nvSpPr>
        <p:spPr>
          <a:xfrm>
            <a:off x="502920" y="4709160"/>
            <a:ext cx="11183112" cy="868680"/>
          </a:xfrm>
          <a:prstGeom prst="roundRect">
            <a:avLst>
              <a:gd name="adj" fmla="val 8421"/>
            </a:avLst>
          </a:prstGeom>
          <a:solidFill>
            <a:srgbClr val="FFFFFF"/>
          </a:solidFill>
          <a:ln w="31750">
            <a:solidFill>
              <a:srgbClr val="00A8AA"/>
            </a:solidFill>
          </a:ln>
        </p:spPr>
        <p:txBody>
          <a:bodyPr wrap="square" lIns="73152" tIns="73152" rIns="73152" bIns="73152" rtlCol="0" anchor="ctr"/>
          <a:lstStyle/>
          <a:p>
            <a:pPr algn="ctr" indent="0" marL="0">
              <a:buNone/>
            </a:pPr>
            <a:r>
              <a:rPr lang="ja-JP" altLang="en-US" sz="2800" b="1" dirty="0">
                <a:solidFill>
                  <a:srgbClr val="262626"/>
                </a:solidFill>
                <a:latin typeface="メイリオ" pitchFamily="34" charset="0"/>
                <a:ea typeface="メイリオ" pitchFamily="34" charset="-122"/>
                <a:cs typeface="メイリオ" pitchFamily="34" charset="-120"/>
              </a:rPr>
              <a:t>第一選択は</a:t>
            </a:r>
            <a:r>
              <a:rPr lang="ja-JP" altLang="en-US" sz="2800" b="1" dirty="0">
                <a:solidFill>
                  <a:srgbClr val="D55E00"/>
                </a:solidFill>
                <a:latin typeface="メイリオ" pitchFamily="34" charset="0"/>
                <a:ea typeface="メイリオ" pitchFamily="34" charset="-122"/>
                <a:cs typeface="メイリオ" pitchFamily="34" charset="-120"/>
              </a:rPr>
              <a:t>アドレナリン</a:t>
            </a:r>
            <a:r>
              <a:rPr lang="ja-JP" altLang="en-US" sz="2800" b="1" dirty="0">
                <a:solidFill>
                  <a:srgbClr val="262626"/>
                </a:solidFill>
                <a:latin typeface="メイリオ" pitchFamily="34" charset="0"/>
                <a:ea typeface="メイリオ" pitchFamily="34" charset="-122"/>
                <a:cs typeface="メイリオ" pitchFamily="34" charset="-120"/>
              </a:rPr>
              <a:t>。原因の推定は後でよい</a:t>
            </a:r>
            <a:endParaRPr lang="ja-JP"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使い方の原則</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仕組み</a:t>
            </a:r>
            <a:endParaRPr lang="ja-JP" sz="1050" dirty="0"/>
          </a:p>
        </p:txBody>
      </p:sp>
      <p:sp>
        <p:nvSpPr>
          <p:cNvPr id="5" name="Text 3"/>
          <p:cNvSpPr/>
          <p:nvPr/>
        </p:nvSpPr>
        <p:spPr>
          <a:xfrm>
            <a:off x="9354312"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ロクロ</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ニウム</a:t>
            </a:r>
            <a:endParaRPr lang="ja-JP" sz="1050" dirty="0"/>
          </a:p>
        </p:txBody>
      </p:sp>
      <p:sp>
        <p:nvSpPr>
          <p:cNvPr id="6" name="Text 4"/>
          <p:cNvSpPr/>
          <p:nvPr/>
        </p:nvSpPr>
        <p:spPr>
          <a:xfrm>
            <a:off x="10030968"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スキサメ</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トニウム</a:t>
            </a:r>
            <a:endParaRPr lang="ja-JP" sz="1050" dirty="0"/>
          </a:p>
        </p:txBody>
      </p:sp>
      <p:sp>
        <p:nvSpPr>
          <p:cNvPr id="7" name="Text 5"/>
          <p:cNvSpPr/>
          <p:nvPr/>
        </p:nvSpPr>
        <p:spPr>
          <a:xfrm>
            <a:off x="10707624"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重い</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副作用</a:t>
            </a:r>
            <a:endParaRPr lang="ja-JP" sz="1050" dirty="0"/>
          </a:p>
        </p:txBody>
      </p:sp>
      <p:sp>
        <p:nvSpPr>
          <p:cNvPr id="8" name="Text 6"/>
          <p:cNvSpPr/>
          <p:nvPr/>
        </p:nvSpPr>
        <p:spPr>
          <a:xfrm>
            <a:off x="11384280" y="54864"/>
            <a:ext cx="621792" cy="585216"/>
          </a:xfrm>
          <a:prstGeom prst="roundRect">
            <a:avLst>
              <a:gd name="adj" fmla="val 7813"/>
            </a:avLst>
          </a:prstGeom>
          <a:solidFill>
            <a:srgbClr val="00A8AA"/>
          </a:solidFill>
          <a:ln/>
        </p:spPr>
        <p:txBody>
          <a:bodyPr wrap="none" lIns="0" tIns="0" rIns="0" bIns="0" rtlCol="0" anchor="ctr"/>
          <a:lstStyle/>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使い方</a:t>
            </a:r>
            <a:endParaRPr lang="ja-JP" sz="105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8</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日本麻酔科学会「安全な麻酔のためのモニター指針」（2025年8月改訂） / Suzuki T, et al.</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J Anesth 2026;40:173-181 / JSA「麻酔薬および麻酔関連薬使用ガイドライン 第4版」Ⅵ（2025）</a:t>
            </a:r>
            <a:endParaRPr lang="ja-JP" sz="1600" dirty="0"/>
          </a:p>
        </p:txBody>
      </p:sp>
      <p:sp>
        <p:nvSpPr>
          <p:cNvPr id="11" name="Text 9"/>
          <p:cNvSpPr txBox="1"/>
          <p:nvPr/>
        </p:nvSpPr>
        <p:spPr>
          <a:xfrm>
            <a:off x="502920" y="1764792"/>
            <a:ext cx="11155680" cy="3886200"/>
          </a:xfrm>
          <a:prstGeom prst="rect">
            <a:avLst/>
          </a:prstGeom>
          <a:noFill/>
          <a:ln/>
        </p:spPr>
        <p:txBody>
          <a:bodyPr wrap="square" lIns="0" tIns="0" rIns="0" bIns="0" rtlCol="0" anchor="t"/>
          <a:lstStyle/>
          <a:p>
            <a:pPr algn="l" marL="381000" indent="-381000">
              <a:spcAft>
                <a:spcPts val="2600"/>
              </a:spcAft>
              <a:buSzPct val="100000"/>
              <a:buChar char="•"/>
            </a:pPr>
            <a:r>
              <a:rPr lang="ja-JP" altLang="en-US" sz="2600" dirty="0">
                <a:solidFill>
                  <a:srgbClr val="262626"/>
                </a:solidFill>
                <a:latin typeface="メイリオ" pitchFamily="34" charset="0"/>
                <a:ea typeface="メイリオ" pitchFamily="34" charset="-122"/>
                <a:cs typeface="メイリオ" pitchFamily="34" charset="-120"/>
              </a:rPr>
              <a:t>換気と挿管の準備を整えてから入れる</a:t>
            </a:r>
            <a:endParaRPr lang="ja-JP" sz="2600" dirty="0"/>
          </a:p>
          <a:p>
            <a:pPr algn="l" marL="381000" indent="-381000">
              <a:spcAft>
                <a:spcPts val="2600"/>
              </a:spcAft>
              <a:buSzPct val="100000"/>
              <a:buChar char="•"/>
            </a:pPr>
            <a:r>
              <a:rPr lang="ja-JP" altLang="en-US" sz="2600" dirty="0">
                <a:solidFill>
                  <a:srgbClr val="262626"/>
                </a:solidFill>
                <a:latin typeface="メイリオ" pitchFamily="34" charset="0"/>
                <a:ea typeface="メイリオ" pitchFamily="34" charset="-122"/>
                <a:cs typeface="メイリオ" pitchFamily="34" charset="-120"/>
              </a:rPr>
              <a:t>効き目はモニターで確かめる（挿管は </a:t>
            </a:r>
            <a:r>
              <a:rPr lang="ja-JP" altLang="en-US" sz="2600" b="1" dirty="0">
                <a:solidFill>
                  <a:srgbClr val="262626"/>
                </a:solidFill>
                <a:latin typeface="メイリオ" pitchFamily="34" charset="0"/>
                <a:ea typeface="メイリオ" pitchFamily="34" charset="-122"/>
                <a:cs typeface="メイリオ" pitchFamily="34" charset="-120"/>
              </a:rPr>
              <a:t>TOF 0</a:t>
            </a:r>
            <a:r>
              <a:rPr lang="ja-JP" altLang="en-US" sz="2600" dirty="0">
                <a:solidFill>
                  <a:srgbClr val="262626"/>
                </a:solidFill>
                <a:latin typeface="メイリオ" pitchFamily="34" charset="0"/>
                <a:ea typeface="メイリオ" pitchFamily="34" charset="-122"/>
                <a:cs typeface="メイリオ" pitchFamily="34" charset="-120"/>
              </a:rPr>
              <a:t> を目安に）</a:t>
            </a:r>
            <a:endParaRPr lang="ja-JP" sz="2600" dirty="0"/>
          </a:p>
          <a:p>
            <a:pPr algn="l" marL="381000" indent="-381000">
              <a:spcAft>
                <a:spcPts val="2600"/>
              </a:spcAft>
              <a:buSzPct val="100000"/>
              <a:buChar char="•"/>
            </a:pPr>
            <a:r>
              <a:rPr lang="ja-JP" altLang="en-US" sz="2600" dirty="0">
                <a:solidFill>
                  <a:srgbClr val="262626"/>
                </a:solidFill>
                <a:latin typeface="メイリオ" pitchFamily="34" charset="0"/>
                <a:ea typeface="メイリオ" pitchFamily="34" charset="-122"/>
                <a:cs typeface="メイリオ" pitchFamily="34" charset="-120"/>
              </a:rPr>
              <a:t>追加は時間ではなく、モニターを見て</a:t>
            </a:r>
            <a:endParaRPr lang="ja-JP" sz="2600" dirty="0"/>
          </a:p>
          <a:p>
            <a:pPr algn="l" marL="381000" indent="-381000">
              <a:spcAft>
                <a:spcPts val="2600"/>
              </a:spcAft>
              <a:buSzPct val="100000"/>
              <a:buChar char="•"/>
            </a:pPr>
            <a:r>
              <a:rPr lang="ja-JP" altLang="en-US" sz="2600" dirty="0">
                <a:solidFill>
                  <a:srgbClr val="262626"/>
                </a:solidFill>
                <a:latin typeface="メイリオ" pitchFamily="34" charset="0"/>
                <a:ea typeface="メイリオ" pitchFamily="34" charset="-122"/>
                <a:cs typeface="メイリオ" pitchFamily="34" charset="-120"/>
              </a:rPr>
              <a:t>高齢、肝腎障害、低体温、吸入麻酔、Mg で長く残る</a:t>
            </a:r>
            <a:endParaRPr lang="ja-JP" sz="2600" dirty="0"/>
          </a:p>
          <a:p>
            <a:pPr algn="l" marL="381000" indent="-381000">
              <a:spcAft>
                <a:spcPts val="2600"/>
              </a:spcAft>
              <a:buSzPct val="100000"/>
              <a:buChar char="•"/>
            </a:pPr>
            <a:r>
              <a:rPr lang="ja-JP" altLang="en-US" sz="2600" dirty="0">
                <a:solidFill>
                  <a:srgbClr val="262626"/>
                </a:solidFill>
                <a:latin typeface="メイリオ" pitchFamily="34" charset="0"/>
                <a:ea typeface="メイリオ" pitchFamily="34" charset="-122"/>
                <a:cs typeface="メイリオ" pitchFamily="34" charset="-120"/>
              </a:rPr>
              <a:t>終わりに拮抗して、</a:t>
            </a:r>
            <a:r>
              <a:rPr lang="ja-JP" altLang="en-US" sz="2600" b="1" dirty="0">
                <a:solidFill>
                  <a:srgbClr val="262626"/>
                </a:solidFill>
                <a:latin typeface="メイリオ" pitchFamily="34" charset="0"/>
                <a:ea typeface="メイリオ" pitchFamily="34" charset="-122"/>
                <a:cs typeface="メイリオ" pitchFamily="34" charset="-120"/>
              </a:rPr>
              <a:t>TOF比 0.9 以上</a:t>
            </a:r>
            <a:r>
              <a:rPr lang="ja-JP" altLang="en-US" sz="2600" dirty="0">
                <a:solidFill>
                  <a:srgbClr val="262626"/>
                </a:solidFill>
                <a:latin typeface="メイリオ" pitchFamily="34" charset="0"/>
                <a:ea typeface="メイリオ" pitchFamily="34" charset="-122"/>
                <a:cs typeface="メイリオ" pitchFamily="34" charset="-120"/>
              </a:rPr>
              <a:t>を確認する</a:t>
            </a:r>
            <a:endParaRPr lang="ja-JP" sz="2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まとめ</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仕組み</a:t>
            </a:r>
            <a:endParaRPr lang="ja-JP" sz="1050" dirty="0"/>
          </a:p>
        </p:txBody>
      </p:sp>
      <p:sp>
        <p:nvSpPr>
          <p:cNvPr id="5" name="Text 3"/>
          <p:cNvSpPr/>
          <p:nvPr/>
        </p:nvSpPr>
        <p:spPr>
          <a:xfrm>
            <a:off x="9354312"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ロクロ</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ニウム</a:t>
            </a:r>
            <a:endParaRPr lang="ja-JP" sz="1050" dirty="0"/>
          </a:p>
        </p:txBody>
      </p:sp>
      <p:sp>
        <p:nvSpPr>
          <p:cNvPr id="6" name="Text 4"/>
          <p:cNvSpPr/>
          <p:nvPr/>
        </p:nvSpPr>
        <p:spPr>
          <a:xfrm>
            <a:off x="10030968"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スキサメ</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トニウム</a:t>
            </a:r>
            <a:endParaRPr lang="ja-JP" sz="1050" dirty="0"/>
          </a:p>
        </p:txBody>
      </p:sp>
      <p:sp>
        <p:nvSpPr>
          <p:cNvPr id="7" name="Text 5"/>
          <p:cNvSpPr/>
          <p:nvPr/>
        </p:nvSpPr>
        <p:spPr>
          <a:xfrm>
            <a:off x="10707624"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重い</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副作用</a:t>
            </a:r>
            <a:endParaRPr lang="ja-JP" sz="1050" dirty="0"/>
          </a:p>
        </p:txBody>
      </p:sp>
      <p:sp>
        <p:nvSpPr>
          <p:cNvPr id="8" name="Text 6"/>
          <p:cNvSpPr/>
          <p:nvPr/>
        </p:nvSpPr>
        <p:spPr>
          <a:xfrm>
            <a:off x="11384280" y="54864"/>
            <a:ext cx="621792" cy="585216"/>
          </a:xfrm>
          <a:prstGeom prst="roundRect">
            <a:avLst>
              <a:gd name="adj" fmla="val 7813"/>
            </a:avLst>
          </a:prstGeom>
          <a:solidFill>
            <a:srgbClr val="00A8AA"/>
          </a:solidFill>
          <a:ln/>
        </p:spPr>
        <p:txBody>
          <a:bodyPr wrap="none" lIns="0" tIns="0" rIns="0" bIns="0" rtlCol="0" anchor="ctr"/>
          <a:lstStyle/>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使い方</a:t>
            </a:r>
            <a:endParaRPr lang="ja-JP" sz="105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9</a:t>
            </a:r>
            <a:endParaRPr lang="ja-JP" sz="1200" dirty="0"/>
          </a:p>
        </p:txBody>
      </p:sp>
      <p:sp>
        <p:nvSpPr>
          <p:cNvPr id="10" name="Text 8"/>
          <p:cNvSpPr txBox="1"/>
          <p:nvPr/>
        </p:nvSpPr>
        <p:spPr>
          <a:xfrm>
            <a:off x="502920" y="6263640"/>
            <a:ext cx="10607040" cy="45720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各薬剤の添付文書 / 日本麻酔科学会「麻酔薬および麻酔関連薬使用ガイドライン 第4版」Ⅵ（2025）</a:t>
            </a:r>
            <a:endParaRPr lang="ja-JP" sz="1600" dirty="0"/>
          </a:p>
        </p:txBody>
      </p:sp>
      <p:sp>
        <p:nvSpPr>
          <p:cNvPr id="11" name="Text 9"/>
          <p:cNvSpPr txBox="1"/>
          <p:nvPr/>
        </p:nvSpPr>
        <p:spPr>
          <a:xfrm>
            <a:off x="502920" y="1819656"/>
            <a:ext cx="11155680" cy="4087368"/>
          </a:xfrm>
          <a:prstGeom prst="rect">
            <a:avLst/>
          </a:prstGeom>
          <a:noFill/>
          <a:ln/>
        </p:spPr>
        <p:txBody>
          <a:bodyPr wrap="square" lIns="0" tIns="0" rIns="0" bIns="0" rtlCol="0" anchor="t"/>
          <a:lstStyle/>
          <a:p>
            <a:pPr algn="l" marL="355600" indent="-355600">
              <a:spcAft>
                <a:spcPts val="32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筋弛緩薬は意識も痛みも取らない。</a:t>
            </a:r>
            <a:r>
              <a:rPr lang="ja-JP" altLang="en-US" sz="2400" b="1" dirty="0">
                <a:solidFill>
                  <a:srgbClr val="262626"/>
                </a:solidFill>
                <a:latin typeface="メイリオ" pitchFamily="34" charset="0"/>
                <a:ea typeface="メイリオ" pitchFamily="34" charset="-122"/>
                <a:cs typeface="メイリオ" pitchFamily="34" charset="-120"/>
              </a:rPr>
              <a:t>換気は自分の責任</a:t>
            </a:r>
            <a:endParaRPr lang="ja-JP" sz="2400" dirty="0"/>
          </a:p>
          <a:p>
            <a:pPr algn="l" marL="355600" indent="-355600">
              <a:spcAft>
                <a:spcPts val="3200"/>
              </a:spcAft>
              <a:buSzPct val="100000"/>
              <a:buChar char="•"/>
            </a:pPr>
            <a:r>
              <a:rPr lang="ja-JP" altLang="en-US" sz="2400" b="1" dirty="0">
                <a:solidFill>
                  <a:srgbClr val="262626"/>
                </a:solidFill>
                <a:latin typeface="メイリオ" pitchFamily="34" charset="0"/>
                <a:ea typeface="メイリオ" pitchFamily="34" charset="-122"/>
                <a:cs typeface="メイリオ" pitchFamily="34" charset="-120"/>
              </a:rPr>
              <a:t>ロクロニウム</a:t>
            </a:r>
            <a:r>
              <a:rPr lang="ja-JP" altLang="en-US" sz="2400" dirty="0">
                <a:solidFill>
                  <a:srgbClr val="262626"/>
                </a:solidFill>
                <a:latin typeface="メイリオ" pitchFamily="34" charset="0"/>
                <a:ea typeface="メイリオ" pitchFamily="34" charset="-122"/>
                <a:cs typeface="メイリオ" pitchFamily="34" charset="-120"/>
              </a:rPr>
              <a:t>：0.6 mg/kg、持続 30〜60 分、スガマデクスで拮抗</a:t>
            </a:r>
            <a:endParaRPr lang="ja-JP" sz="2400" dirty="0"/>
          </a:p>
          <a:p>
            <a:pPr algn="l" marL="355600" indent="-355600">
              <a:spcAft>
                <a:spcPts val="3200"/>
              </a:spcAft>
              <a:buSzPct val="100000"/>
              <a:buChar char="•"/>
            </a:pPr>
            <a:r>
              <a:rPr lang="ja-JP" altLang="en-US" sz="2400" b="1" dirty="0">
                <a:solidFill>
                  <a:srgbClr val="262626"/>
                </a:solidFill>
                <a:latin typeface="メイリオ" pitchFamily="34" charset="0"/>
                <a:ea typeface="メイリオ" pitchFamily="34" charset="-122"/>
                <a:cs typeface="メイリオ" pitchFamily="34" charset="-120"/>
              </a:rPr>
              <a:t>スキサメトニウム</a:t>
            </a:r>
            <a:r>
              <a:rPr lang="ja-JP" altLang="en-US" sz="2400" dirty="0">
                <a:solidFill>
                  <a:srgbClr val="262626"/>
                </a:solidFill>
                <a:latin typeface="メイリオ" pitchFamily="34" charset="0"/>
                <a:ea typeface="メイリオ" pitchFamily="34" charset="-122"/>
                <a:cs typeface="メイリオ" pitchFamily="34" charset="-120"/>
              </a:rPr>
              <a:t>：速く短い。高 K・悪性高熱症に注意</a:t>
            </a:r>
            <a:endParaRPr lang="ja-JP" sz="2400" dirty="0"/>
          </a:p>
          <a:p>
            <a:pPr algn="l" marL="355600" indent="-355600">
              <a:spcAft>
                <a:spcPts val="32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筋弛緩薬と抗菌薬はアナフィラキシーの主な原因</a:t>
            </a:r>
            <a:endParaRPr lang="ja-JP" sz="2400" dirty="0"/>
          </a:p>
          <a:p>
            <a:pPr algn="l" marL="355600" indent="-355600">
              <a:spcAft>
                <a:spcPts val="32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深さはモニターで決め、抜管前に </a:t>
            </a:r>
            <a:r>
              <a:rPr lang="ja-JP" altLang="en-US" sz="2400" b="1" dirty="0">
                <a:solidFill>
                  <a:srgbClr val="262626"/>
                </a:solidFill>
                <a:latin typeface="メイリオ" pitchFamily="34" charset="0"/>
                <a:ea typeface="メイリオ" pitchFamily="34" charset="-122"/>
                <a:cs typeface="メイリオ" pitchFamily="34" charset="-120"/>
              </a:rPr>
              <a:t>TOF比 0.9 以上</a:t>
            </a:r>
            <a:endParaRPr lang="ja-JP"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メイリオ"/>
        <a:ea typeface="メイリオ"/>
        <a:cs typeface=""/>
        <a:font script="Jpan" typeface="メイリオ"/>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メイリオ"/>
        <a:ea typeface="メイリオ"/>
        <a:cs typeface=""/>
        <a:font script="Jpan" typeface="メイリオ"/>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3-5 筋弛緩薬</dc:title>
  <dc:subject/>
  <dc:creator>初期研修医向け麻酔講義</dc:creator>
  <cp:lastModifiedBy>初期研修医向け麻酔講義</cp:lastModifiedBy>
  <cp:revision>1</cp:revision>
  <dcterms:created xsi:type="dcterms:W3CDTF">2026-10-14T00:50:56Z</dcterms:created>
  <dcterms:modified xsi:type="dcterms:W3CDTF">2026-10-14T00:50:56Z</dcterms:modified>
</cp:coreProperties>
</file>