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気道評価の目的は、困難気道を「当てる」ことではなく、困難が起こりうると知って「準備する時間」を得ることである。この講義では、問診で聞くこと、診察で見る所見（開口、Mallampati 分類、甲状オトガイ間距離、頸部の動き、歯）、マスク換気困難の予測因子、予測の限界、そして評価を計画につなぐところまでを扱う。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目的: 気道評価の感度は高くないので（→ S7）、「困難はない」と言い切ることはできない。それでも評価する意味は、困難の可能性を事前に知れば、ビデオ喉頭鏡、声門上器具、応援、覚醒下挿管といった準備の時間が得られることにある。</a:t>
            </a:r>
          </a:p>
          <a:p>
            <a:r>
              <a:rPr lang="ja-JP" altLang="en-US" dirty="0"/>
              <a:t>ガイドライン: 英国 DAS（Difficult Airway Society：英国困難気道学会）の 2015 年ガイドラインは、全例で術前に気道を評価し、マスク換気、声門上器具、気管挿管、前頸部からの気道確保（FONA: front of neck access）のそれぞれが難しくなる因子を探し、予測は完全ではないので導入前に一連の計画（Plan A〜D）を決めてチームで共有するよう求めている（原文で確認）。2025 年版（Ahmad 2026）は 65 の推奨の中に気道評価と計画、超音波（POCUS）、肥満、生理学的困難気道を含み、ビデオ喉頭鏡を第一選択とする（抄録と付随論説による）【要確認: DAS 2025 本文（Br J Anaesth 2026;136:283-307）の気道評価と計画に関する推奨の文言】。米国麻酔科学会（ASA）2022 年困難気道ガイドラインは、気道管理の前に、患者・内科・外科・環境・麻酔の因子（誤嚥リスクなど）を探すために、診療記録の確認（既往、併存症、検査、患者・家族への問診）と身体診察でリスクを評価し、所見は単独ではなく組み合わせて判断し、必要ならベッドサイドの内視鏡、仮想喉頭鏡・気管支鏡（CT 画像からの再構成）、3D プリントで追加評価するとしている（要約・二次資料による）【要確認: Apfelbaum JL, et al. Anesthesiology 2022;136:31-81 本文の気道評価（Evaluation of the airway）の推奨文言。PMC に全文はないので学会誌サイトで確認する】。日本麻酔科学会の気道管理ガイドライン（JSA-AMA 2014）は、麻酔を受けるすべての患者で術前に気道を評価するよう求め、導入中の酸素化の維持を最も重視している。術前評価では、マスク換気困難と喉頭展開困難の「合併」を予測するため、Kheterpal 2013 のモデルを修正した 12 項目の危険因子を使う（S6 の 12 項目と対応。二次資料による）【要確認: J Anesth 2014;28:482-493（日本語訳は日本麻酔科学会サイトの PDF）の原文の、術前評価の表の題と 12 項目】。</a:t>
            </a:r>
          </a:p>
          <a:p>
            <a:r>
              <a:rPr lang="ja-JP" altLang="en-US" dirty="0"/>
              <a:t>予測できない困難: 評価で異常がなくても困難気道は起こる。だから全例で「うまくいかなかったときの次の手」（7 章）を頭に置いて導入する。</a:t>
            </a:r>
          </a:p>
          <a:p>
            <a:r>
              <a:rPr lang="ja-JP" altLang="en-US" dirty="0"/>
              <a:t>過去の記録: 過去の麻酔記録にある「挿管困難」「挿管失敗」は、その後の困難挿管の強い予測因子である（Lundstrøm 2009。El-Ganzouri 1996 の多変量解析でも 7 つの独立因子の一つ）。ただし、記録された既往で拾えるのは、その後の困難挿管の約 3 割にとどまる（デンマーク 15,499 例）。既往がないことは安全を意味しない。前回から体重や病状が変わっていれば、それも考慮する。</a:t>
            </a:r>
          </a:p>
          <a:p>
            <a:r>
              <a:rPr lang="ja-JP" altLang="en-US" dirty="0"/>
              <a:t>参考: Frerk C, et al. Br J Anaesth 2015;115:827-848（DAS 2015） / Ahmad I, et al. Br J Anaesth 2026;136:283-307（DAS 2025） / Apfelbaum JL, et al. Anesthesiology 2022;136:31-81（ASA 2022） / Lundstrøm LH, et al. Anaesthesia 2009;64:1081-1088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記録: 前回の麻酔記録には、喉頭展開の見え方（Cormack-Lehane 分類）、使った道具（ビデオ喉頭鏡、ブジー）、マスク換気の難易度が書かれていることが多い。困難気道と判断された患者には、カードや電子カルテのアラートで知らせる仕組みがある（当院の運用を確認する）。頭頸部の手術や放射線治療の既往は、組織が硬くなり、マスク換気も挿管も難しくなる（→ S6）。気道の腫瘍、気管狭窄、声帯麻痺、喉頭の手術歴は、通常の喉頭鏡で見えても管が通らないことがある。</a:t>
            </a:r>
          </a:p>
          <a:p>
            <a:r>
              <a:rPr lang="ja-JP" altLang="en-US" dirty="0"/>
              <a:t>Cormack-Lehane 分類: grade 1 は声門の大部分が見える、2 は声門の後ろ側（披裂部）だけが見える、3 は喉頭蓋は見えるが声帯は見えない、4 は喉頭蓋も見えない。grade 3・4 を喉頭展開困難とすることが多い（Kheterpal 2013 の定義も grade 3・4）【要確認: Cormack RS, Lehane J. Anaesthesia 1984;39:1105-1111 の原典で grade 1・2・4 の定義。抄録で確認できたのは grade 3 だけ】。</a:t>
            </a:r>
          </a:p>
          <a:p>
            <a:r>
              <a:rPr lang="ja-JP" altLang="en-US" dirty="0"/>
              <a:t>OSA: いびき、観察された無呼吸、日中の眠気は閉塞性睡眠時無呼吸（OSA: obstructive sleep apnea）の手がかりで、マスク換気困難と挿管困難の両方に関わる（STOP-Bang → 4-9）。メタ解析では、OSA の患者は困難挿管（13.5% 対 2.5%、オッズ比 3.46）、マスク換気困難（4.4% 対 1.1%、オッズ比 3.39）、両者の合併（1.1% 対 0.3%、オッズ比 4.12）がいずれも 3〜4 倍多かったが、声門上器具の失敗は有意には増えなかった（Nagappa 2018）。声門上器具は救援手段として準備する意味がある。</a:t>
            </a:r>
          </a:p>
          <a:p>
            <a:r>
              <a:rPr lang="ja-JP" altLang="en-US" dirty="0"/>
              <a:t>頸椎・顎: 関節リウマチ（環軸関節亜脱臼、顎関節の障害）、強直性脊椎炎、頸椎の手術や固定は、頸部の伸展や開口を制限する。長期罹患の 1 型糖尿病では、stiff joint syndrome が環椎後頭関節に及び、喉頭展開が難しくなることがある（腎移植患者の後ろ向き研究で、喉頭展開困難は非糖尿病 2.7% に対し糖尿病 32%：Hogan 1988。一般の 2 型糖尿病に当てはまるかは不明）。</a:t>
            </a:r>
          </a:p>
          <a:p>
            <a:r>
              <a:rPr lang="ja-JP" altLang="en-US" dirty="0"/>
              <a:t>歯: 周術期の歯の損傷は約 4,500 麻酔に 1 件で、半数は喉頭展開・挿管中に起き、上顎の切歯が最も多い。もともと歯の状態が悪いこと（オッズ比 50）と喉頭展開の困難（オッズ比 11）が危険因子（Warner 1999、Mayo 598,904 例）。動揺歯は喉頭展開で欠けたり抜けたりして、気道に落ちることがある。義歯は喉頭展開の前に外すのが原則だが、総義歯を早く外すとマスク換気が難しくなる。無歯顎の患者の RCT では、導入時に義歯を入れたままのほうがマスク換気の成功が多かった（73% 対 49%：Conlon 2007 → S6）。差し歯・インプラントは患者に損傷の可能性を説明する（→ 4-5）。</a:t>
            </a:r>
          </a:p>
          <a:p>
            <a:r>
              <a:rPr lang="ja-JP" altLang="en-US" dirty="0"/>
              <a:t>患者の言葉: 「前の麻酔で喉を傷めた」「歯が欠けた」「管が入りにくいと言われた」という訴えは、記録がなくても手がかりになる。</a:t>
            </a:r>
          </a:p>
          <a:p>
            <a:r>
              <a:rPr lang="ja-JP" altLang="en-US" dirty="0"/>
              <a:t>参考: Warner ME, et al. Anesthesiology 1999;90:1302-1305 / Lundstrøm LH, et al. Anaesthesia 2009;64:1081-1088 / Hogan K, et al. Anesth Analg 1988;67:1162-1165 / Cormack RS, Lehane J. Anaesthesia 1984;39:1105-1111 / Conlon NP, et al. Anesth Analg 2007;105:370-373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開口: 最大に口を開けたときの上下の切歯の間の距離。閾値は資料で違う。ASA の 2003・2013 年ガイドラインの表「術前気道身体診察の構成要素」は、切歯間距離 3 cm 未満を不安な所見としている（甲状オトガイ間距離は「普通の指 3 本未満」）【要確認: ASA 2013（Anesthesiology 2013;118:251-270）の原文の表と、ASA 2022 本文に同じ表が残っているか】。El-Ganzouri のリスク指数は 4 cm 未満に 1 点（4 cm 以上で 0 点。配点は二次資料による）【要確認: 原典 Anesth Analg 1996;82:1197-1204 の表】。「3-3-2 ルール」では 3 横指。国内では「3 横指」と教えることが多いが、3 横指はおよそ 4〜5 cm で、表の「3 cm 未満」とは別の閾値である。横指は人で幅が違うので、できれば cm で記録する。</a:t>
            </a:r>
          </a:p>
          <a:p>
            <a:r>
              <a:rPr lang="ja-JP" altLang="en-US" dirty="0"/>
              <a:t>Mallampati: S5 で扱う。座位で、頭を中立位にし、最大開口で舌を出し、「あー」と言わせない（発声で見え方が良くなる）。</a:t>
            </a:r>
          </a:p>
          <a:p>
            <a:r>
              <a:rPr lang="ja-JP" altLang="en-US" dirty="0"/>
              <a:t>甲状オトガイ間距離（TMD: thyromental distance）: 頸部を最大に伸展し、甲状切痕からオトガイの先端まで。6 cm 未満（El-Ganzouri では 6〜6.5 cm に 1 点、6 cm 未満に 2 点。配点は二次資料による）は、喉頭の位置が高く、喉頭展開で声門が見えにくい目安。Kheterpal 2006 では 6 cm 未満が換気不能の独立した予測因子でもあった。胸骨オトガイ間距離（SMD: sternomental distance。頭部最大伸展・閉口で胸骨切痕からオトガイまで）は 12.5 cm 以下で困難を疑う（Savva 1994：感度 82%、特異度 89% だが単施設 350 例）。</a:t>
            </a:r>
          </a:p>
          <a:p>
            <a:r>
              <a:rPr lang="ja-JP" altLang="en-US" dirty="0"/>
              <a:t>上唇咬合テスト（ULBT: upper lip bite test、Khan 2003）: 下の切歯で上唇を噛ませる。class I は赤唇縁より上まで噛める、II は赤唇縁より下しか噛めない、III は上唇を噛めない。class III は下顎の前方移動（下顎前突）が小さいことを示し、単独の所見では最も成績がよく、陽性なら困難挿管の確率が平均的な患者の 10% から 60% 超に上がる（Detsky 2019：陽性尤度比 14）。無歯顎では評価できない。</a:t>
            </a:r>
          </a:p>
          <a:p>
            <a:r>
              <a:rPr lang="ja-JP" altLang="en-US" dirty="0"/>
              <a:t>頸部の動き: 顎を胸につけてから、天井を見るように伸展させる。伸展が小さい、痛みで止まる、頸椎カラー・固定具がある場合は、頭を後ろに倒して喉頭を見る通常の喉頭展開が難しい。</a:t>
            </a:r>
          </a:p>
          <a:p>
            <a:r>
              <a:rPr lang="ja-JP" altLang="en-US" dirty="0"/>
              <a:t>首・顎・歯: 病的肥満（BMI 40 超）100 例では、BMI そのものは挿管困難と関係せず、首の周囲が太いことと Mallampati 3 以上だけが予測因子だった（Brodsky 2002）。肥満では首の周囲を測る。小さい下顎（後退、下顎角からオトガイまで 9 cm 未満）、前歯の突出、長い上の切歯、ひげ（マスクの密着を妨げる）。</a:t>
            </a:r>
          </a:p>
          <a:p>
            <a:r>
              <a:rPr lang="ja-JP" altLang="en-US" dirty="0"/>
              <a:t>記録: 「開口 4.5 cm（3 横指）、MP II（座位・発声なし）、TMD 6.5 cm、上唇咬合 class I、頸部可動良好、動揺歯なし」のように、見た項目と所見を cm で書く。</a:t>
            </a:r>
          </a:p>
          <a:p>
            <a:r>
              <a:rPr lang="ja-JP" altLang="en-US" dirty="0"/>
              <a:t>参考: Shiga T, et al. Anesthesiology 2005;103:429-437（日本の著者によるメタ解析） / Khan ZH, et al. Anesth Analg 2003;96:595-599（上唇咬合テスト） / Detsky ME, et al. JAMA 2019;321:493-503 / Savva D. Br J Anaesth 1994;73:149-153 / el-Ganzouri AR, et al. Anesth Analg 1996;82:1197-1204 / Brodsky JB, et al. Anesth Analg 2002;94:732-736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分類: Mallampati（1985）が、舌根の大きさが喉頭展開の難しさを決めるという考えで 3 段階を提唱し（210 例）、Samsoon と Young（1987）が 4 段階にした修正版が使われる。class I: 軟口蓋、口峡、口蓋垂、口蓋弓（扁桃柱）が見える。class II: 軟口蓋、口峡、口蓋垂は見えるが口蓋弓は隠れる。class III: 軟口蓋と口蓋垂の根元だけ。class IV: 軟口蓋が見えない（硬口蓋のみ）。この定義は、Samsoon を引用する複数の論文の記載と一致する。二次資料での表現の揺れは、主に原法（Mallampati 1985 の 3 段階）の class 2 との混同による【要確認: Samsoon GL, Young JR. Anaesthesia 1987;42:487-490 の原典の図と本文（抄録には定義がない）】。</a:t>
            </a:r>
          </a:p>
          <a:p>
            <a:r>
              <a:rPr lang="ja-JP" altLang="en-US" dirty="0"/>
              <a:t>やり方: 座位、頭は中立位、最大に開口して舌を前に出させ、発声させない。発声すると軟口蓋が上がって見え方が良くなり、分類が軽くなる。仰臥位でも評価できるが、座位より分類が重くなる傾向がある。どの体位で評価したかを記録する。検者の目の高さを患者の口に合わせる。</a:t>
            </a:r>
          </a:p>
          <a:p>
            <a:r>
              <a:rPr lang="ja-JP" altLang="en-US" dirty="0"/>
              <a:t>意味: 舌の大きさと口腔の広さの比を見ている。class III・IV は喉頭展開で声門が見えにくいことと相関するが、困難挿管に対する感度は約 0.5（Roth 2018）で、単独では当てにならない（→ S7）。単独では、マスク換気困難の拾い上げにはほとんど役立たない（感度 0.17、特異度 0.90：Roth 2018）。ただし class III・IV は、マスク換気困難（Kheterpal 2006）と換気不能（Kheterpal 2009）の独立した予測因子の一つなので、S6 のほかの因子と合わせて見る。甲状オトガイ間距離と組み合わせると陽性尤度比が約 10 に上がる（Shiga 2005）。</a:t>
            </a:r>
          </a:p>
          <a:p>
            <a:r>
              <a:rPr lang="ja-JP" altLang="en-US" dirty="0"/>
              <a:t>妊婦: 分娩中に気道は悪化する。61 例で、分娩後に Mallampati が 1 段階上がった例が 33%、2 段階上がった例が 5% あった（Kodali 2008）。緊急帝王切開を全身麻酔で行うときは、妊婦健診や入院時の評価を使い回さず、導入の直前に評価し直す。</a:t>
            </a:r>
          </a:p>
          <a:p>
            <a:r>
              <a:rPr lang="ja-JP" altLang="en-US" dirty="0"/>
              <a:t>参考: Mallampati SR, et al. Can Anaesth Soc J 1985;32:429-434 / Samsoon GL, Young JR. Anaesthesia 1987;42:487-490 / Roth D, et al. Cochrane Database Syst Rev 2018;5:CD008874 / Kodali BS, et al. Anesthesiology 2008;108:357-362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 マスク換気困難（不十分・不安定・2 人を要する）は Kheterpal 2006（22,660 例）で 1.4%、換気不能は 0.16%、Langeron 2000（1,502 例。介助なしで SpO2 92% 超を保てない）では 5% で、事前に予測されていたのは 17% だけだった。Kheterpal 2009（53,041 例）では換気不能が 0.15%。</a:t>
            </a:r>
          </a:p>
          <a:p>
            <a:r>
              <a:rPr lang="ja-JP" altLang="en-US" dirty="0"/>
              <a:t>OBESE: Langeron（2000）が挙げた 5 因子（55 歳超、BMI 26 超、ひげ、歯がない、いびきの既往）。OBESE はこれを覚えるための語呂合わせで、論文の用語ではない。2 つ以上で感度 0.72、特異度 0.73。Kheterpal 2006 の独立因子は BMI 30 以上、ひげ、Mallampati III・IV、57 歳以上、下顎前突の高度な制限、いびきで、換気不能にはいびきと甲状オトガイ間距離 6 cm 未満が関係した。年齢と BMI の閾値は研究で違う（55 歳超・26 超は Langeron、57 歳以上・30 以上は Kheterpal）。ひげは修正できる唯一の因子。</a:t>
            </a:r>
          </a:p>
          <a:p>
            <a:r>
              <a:rPr lang="ja-JP" altLang="en-US" dirty="0"/>
              <a:t>換気不能: Kheterpal（2009）では、頸部への放射線治療後の変化（最も強い）、男性、閉塞性睡眠時無呼吸、Mallampati III・IV、ひげ、が独立した予測因子だった。放射線治療後は組織が硬く、マスクの密着も顎の挙上も効かず、輪状甲状靱帯切開も難しい。頭頸部がんの放射線治療歴は必ず聞く。</a:t>
            </a:r>
          </a:p>
          <a:p>
            <a:r>
              <a:rPr lang="ja-JP" altLang="en-US" dirty="0"/>
              <a:t>重なり: マスク換気困難と喉頭展開困難の両方がある患者は 0.40%（Kheterpal 2013、176,679 例）で、独立した予測因子は 12 項目（46 歳以上、BMI 30 以上、男性、Mallampati III・IV、頸部腫瘤または放射線、甲状オトガイ間距離の短縮、睡眠時無呼吸、歯があること、ひげ、太い首、頸椎可動域の制限、下顎前突の制限）。この研究では「歯があること」が因子で、Langeron の「歯がない」とは逆向きになる（アウトカムが違う）。日本麻酔科学会の JSA-AMA 2014 は、この 12 項目を修正したモデルで術前に評価するよう勧めている（→ S2。二次資料による）。どちらかが難しそうなら、もう一方も難しい前提で準備する（換気不能の 25% は挿管も困難だった：Kheterpal 2009）。挿管困難が予想され、さらに換気困難・誤嚥リスクの上昇・短い無呼吸にも耐えられない・緊急の侵襲的気道確保（外科的・経皮的）が難しい、のいずれかがあるときは、覚醒下の気道確保（7 章、S8）を考える（ASA 2022。二次資料による）。</a:t>
            </a:r>
          </a:p>
          <a:p>
            <a:r>
              <a:rPr lang="ja-JP" altLang="en-US" dirty="0"/>
              <a:t>対策: ひげは剃ってもらう（患者の同意のもと）か、マスクの密着を工夫する。総義歯は換気のあいだ入れたままにすると、マスク換気の成功が多い（無歯顎 166 例の RCT で 73% 対 49%：Conlon 2007）。病棟で入室前に義歯を外す運用だと、この利点を失う。喉頭展開の前には外す（外すタイミングは施設の方針と指導医の指示に従う）。声門上器具を第一の救援手段として準備するが、声門上器具も失敗しうる（換気困難 0.5%、留置失敗 0.2%。男性、45 歳超、甲状オトガイ間距離の短縮、頸部可動域の制限が因子：Saito 2015）。「LMA があるから大丈夫」とは考えない。</a:t>
            </a:r>
          </a:p>
          <a:p>
            <a:r>
              <a:rPr lang="ja-JP" altLang="en-US" dirty="0"/>
              <a:t>参考: Langeron O, et al. Anesthesiology 2000;92:1229-1236 / Kheterpal S, et al. Anesthesiology 2006;105:885-891 / Kheterpal S, et al. Anesthesiology 2009;110:891-897 / Kheterpal S, et al. Anesthesiology 2013;119:1360-1369 / Saito T, et al. Anaesthesia 2015;70:1079-1083 / Conlon NP, et al. Anesth Analg 2007;105:370-373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 困難挿管はメタ解析で 5.8%（Shiga 2005、35 研究 50,760 例）、質の高い 62 研究の統合では 10%（Detsky 2019、33,559 例）。5.8%・10% はメタ解析の値で、喉頭展開困難を含む広い定義による。日常診療のデンマークの 188,064 例（Nørskov 2015）では、困難挿管は 3,391 例（約 1.8%）で、そのうち 3,154 例（93%）が予測されていなかった。マスク換気困難も 94% が予測外で、逆に困難挿管と予測した患者で実際に困難だったのは 25% だった。換気も挿管もできない状態はまれで、英国 NAP4 では全身麻酔中の重大な気道合併症が約 22,000 件に 1 件、死亡が約 18 万件に 1 件だった（報告は実際の一部とみられ、下限の値）。</a:t>
            </a:r>
          </a:p>
          <a:p>
            <a:r>
              <a:rPr lang="ja-JP" altLang="en-US" dirty="0"/>
              <a:t>感度: Cochrane レビュー（Roth 2018、133 研究、844,206 例）では、喉頭展開困難に対する感度は開口テストの 0.22 から上唇咬合テストの 0.67 まででどれも低く、特異度は 0.80（修正 Mallampati）〜0.95 と一貫して高かった。困難挿管に対しては甲状オトガイ間距離の感度 0.24、修正 Mallampati 0.51。マスク換気困難に対する Mallampati の感度は 0.17。Shiga（2005）でも単独の感度は 20〜62%、特異度 82〜97% で、Mallampati と甲状オトガイ間距離の組み合わせが最もよかった（陽性尤度比 9.9）。</a:t>
            </a:r>
          </a:p>
          <a:p>
            <a:r>
              <a:rPr lang="ja-JP" altLang="en-US" dirty="0"/>
              <a:t>意味: 感度が低いので、所見によって困難例の 3〜8 割は「異常なし」と評価される（感度 0.22〜0.67。困難挿管では Mallampati で約半数、甲状オトガイ間距離で約 4 分の 3 を見逃す）。「異常なし」は安全を保証しない。逆に特異度が高いので、「異常あり」は困難の確率を上げる（事前確率 10% が、Mallampati 3 以上［陽性尤度比 4.1］で約 30%、上唇咬合テスト class III［陽性尤度比 14］で 60% 超：Detsky 2019）。ただし困難と予測した患者で実際に困難だったのは 25% で（Nørskov 2015）、「異常あり」は「必ず難しい」ではなく「備える理由」と考える。困難挿管を確実に否定できる所見はない。</a:t>
            </a:r>
          </a:p>
          <a:p>
            <a:r>
              <a:rPr lang="ja-JP" altLang="en-US" dirty="0"/>
              <a:t>だから: 全例で、導入の前に「マスク換気ができなかったら」「喉頭が見えなかったら」の次の手（声門上器具、ビデオ喉頭鏡、応援、輪状甲状靱帯切開の場所）を決めておく（DAS の Plan A〜D → 7 章）。DAS 2015 は喉頭鏡での挿管の試行を最大 3 回（より経験のある者による 4 回目は可）とし、失敗を宣言して Plan B（第 2 世代の声門上器具）に進むとしている（原文で確認）。現行の 2025 年版も、挿管の試行回数を制限し、失敗したら宣言して次の Plan に進むことを求めている【要確認: DAS 2025 本文（Br J Anaesth 2026;136:283-307）の挿管試行回数の規定（3 回か、3＋1 回か）】。国内では、北海道の大学病院 20 施設の全身麻酔 97,854 例で、CICV（挿管も換気もできない状態）は 3 例（約 32,000 例に 1 例）だった。3 例とも導入時に起き、うち 2 例は術前に困難が予測されていた。3 例とも器具を替えて挿管を繰り返すうちに換気不能になり、全例で緊急気管切開を行い、1 例に重い脳障害が残った（Tachibana 2015）。</a:t>
            </a:r>
          </a:p>
          <a:p>
            <a:r>
              <a:rPr lang="ja-JP" altLang="en-US" dirty="0"/>
              <a:t>参考: Roth D, et al. Cochrane Database Syst Rev 2018;5:CD008874 / Detsky ME, et al. JAMA 2019;321:493-503 / Shiga T, et al. Anesthesiology 2005;103:429-437 / Nørskov AK, et al. Anaesthesia 2015;70:272-281 / Cook TM, et al. Br J Anaesth 2011;106:617-631（NAP4） / Tachibana N, et al. J Anesth 2015;29:326-330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相談と応援: 困難が予想されるなら、導入の前に上級医に相談し、可能なら人を呼ぶ。離島では応援が来ないことも多いので、電話・オンラインでの相談と、看護師への役割分担（道具出し、輪状甲状靱帯切開の準備、手術室の外への連絡）を前もって決めておく。困難を予測したら、導入前に「挿管の試行回数の上限」と「失敗したときの次の手（声門上器具、覚醒下、延期・搬送）」を決めてチームで共有する。国内でも、困難が予測されていた患者で挿管を繰り返すうちに換気不能になり、緊急気管切開に至った例が報告されている（Tachibana 2015 → S7）。研修医が一人で「いろいろ試す」場面を作らない（講義者の運用提案）。</a:t>
            </a:r>
          </a:p>
          <a:p>
            <a:r>
              <a:rPr lang="ja-JP" altLang="en-US" dirty="0"/>
              <a:t>道具: ビデオ喉頭鏡は、困難が予想される患者では最初から使う（DAS 2025 はビデオ喉頭鏡を第一選択とした。DAS 2015 もすべての麻酔科医がビデオ喉頭鏡を使えるようにすることを勧めている：原文で確認）【要確認: DAS 2025 本文のビデオ喉頭鏡を第一選択とする推奨（付随論説で確認）と、ASA 2022 本文のビデオ喉頭鏡に関する推奨の文言】。声門上器具とブジーは開封して手の届く所に置く。</a:t>
            </a:r>
          </a:p>
          <a:p>
            <a:r>
              <a:rPr lang="ja-JP" altLang="en-US" dirty="0"/>
              <a:t>覚醒下: ASA 2022 は、挿管困難が疑われ、さらに (1) マスクまたは声門上器具での換気困難、(2) 誤嚥リスクの上昇、(3) 短い無呼吸にも耐えられない、(4) 緊急の侵襲的気道確保（外科的・経皮的）が難しい、のいずれかがあれば意識下（覚醒下）挿管を考慮するとしている（二次資料による。ブラジル麻酔科学会の 2024 年の推奨も同じ 4 条件を挙げ、意識下挿管を「行う」ことを強く勧めている）【要確認: Apfelbaum JL, et al. Anesthesiology 2022;136:31-81 本文の意識下挿管の推奨で、文言が「考慮する」か「行う」か、(4) の表現】。気道の腫瘍・狭窄、頸椎が動かせない場合も同様。自分でできないなら、高次施設への紹介や延期が患者にとって安全な選択になる。</a:t>
            </a:r>
          </a:p>
          <a:p>
            <a:r>
              <a:rPr lang="ja-JP" altLang="en-US" dirty="0"/>
              <a:t>輪状甲状靱帯: 体表からの同定は不正確で、麻酔科医 18 名の検討で膜の上を正しく示せたのは 30%（中心点は 10%）、上級医は研修医より正確だった（Elliott 2010）。女性では、仰臥位・頸部中間位で正しく同定できたのは非肥満 41 人中 10 人、肥満 15 人中 0 人だった（Aslani 2012）。導入前に laryngeal handshake（非利き手で舌骨と甲状軟骨を確かめ、示指で輪状甲状膜を触れる：DAS 2015 の Plan D）で触れて確認し、触れにくければ超音波で確認して印をつける（触知が難しい患者で、短い訓練を受けた麻酔科医の超音波による同定は触知の 2 倍の成功率：Kristensen 2016）。DAS 2025 は、困難が予測される患者で、輪状甲状膜を事前に同定し、適切なら印を付けるよう勧めている（二次資料による）【要確認: DAS 2025 本文（Br J Anaesth 2026;136:283-307）の輪状甲状膜の事前同定の推奨の対象と文言】。導入前に全例で同定するよう勧めているのは Kristensen 2016 のレビュー（著者の推奨）。肥満の迅速導入では、SOBA 2025 が超音波での同定と印付けを導入前に考慮してよいとしている（Grade C、強い推奨）。超音波で同定できても前頸部からの気道確保が成功するとは限らないので、触れにくい患者では覚醒下挿管や延期も考える。</a:t>
            </a:r>
          </a:p>
          <a:p>
            <a:r>
              <a:rPr lang="ja-JP" altLang="en-US" dirty="0"/>
              <a:t>患者: 歯の損傷の可能性（特に動揺歯・差し歯）、覚醒下の処置をするならその内容を説明する（→ 4-5）。前酸素化（SpO2 だけでなく、呼気終末酸素濃度 0.87〜0.9 を目安：DAS 2015）で、困難に遭ったときの時間を稼ぐ。</a:t>
            </a:r>
          </a:p>
          <a:p>
            <a:r>
              <a:rPr lang="ja-JP" altLang="en-US" dirty="0"/>
              <a:t>記録: 所見と計画を記録し、実際に困難だったら、どう解決したか（道具、見え方）を記録し、患者にカードやアラート、紹介状で伝える（DAS 2015 は Difficult Airway Alert Form による記録と伝達を推奨）。</a:t>
            </a:r>
          </a:p>
          <a:p>
            <a:r>
              <a:rPr lang="ja-JP" altLang="en-US" dirty="0"/>
              <a:t>参考: Elliott DS, et al. Anaesthesia 2010;65:889-894 / Aslani A, et al. Anesth Analg 2012;114:987-992 / Kristensen MS, et al. Br J Anaesth 2016;117 Suppl 1:i39-i48 / McKechnie A, et al. Anaesthesia 2025;80:1103-1114（SOBA 2025） / Tachibana N, et al. J Anesth 2015;29:326-330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分）。気道評価は困難を当てるためではなく備えるために行い、全例で同じ手順で評価する。前回の麻酔記録は強い予測因子だが（拾えるのは約 3 割）、問診ではいびき・無呼吸、歯、首や顎の病気を聞く。診察では開口（3 cm 未満）、Mallampati（III・IV）、甲状オトガイ間距離（6〜6.5 cm 未満）、上唇咬合テスト、頸部の動きを見る。マスク換気困難は Langeron の 5 因子（覚え方は OBESE：BMI、ひげ、年齢、いびき、歯なし）、換気不能は頸部放射線・OSA・Mallampati で予測し、挿管困難と重なる患者が最も危ない。所見の感度は低く、日常診療では困難挿管の 9 割以上が予測されずに起きるので、「異常なし」は安全を意味しない。見つけたら、道具、人、挿管の試行回数の上限、覚醒下、転院・延期を含めて計画し、記録する。次は 4-3（絶飲食と誤嚥リスク）。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術前診察での気道評価</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4-2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気道評価は何のため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Ahmad I, et al. Br J Anaesth 2026;136:283-307（DAS 2025） / Frerk C, et al. Br J Anaesth</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2015;115:827-848（DAS 2015） / Apfelbaum JL, et al. Anesthesiology 2022;136:31-81</a:t>
            </a:r>
            <a:endParaRPr lang="ja-JP" sz="1600" dirty="0"/>
          </a:p>
        </p:txBody>
      </p:sp>
      <p:sp>
        <p:nvSpPr>
          <p:cNvPr id="11" name="Text 9"/>
          <p:cNvSpPr txBox="1"/>
          <p:nvPr/>
        </p:nvSpPr>
        <p:spPr>
          <a:xfrm>
            <a:off x="502920" y="1828800"/>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2" name="Text 10"/>
          <p:cNvSpPr txBox="1"/>
          <p:nvPr/>
        </p:nvSpPr>
        <p:spPr>
          <a:xfrm>
            <a:off x="914400" y="1828800"/>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困難気道を『当てる』ためではなく</a:t>
            </a:r>
            <a:r>
              <a:rPr lang="ja-JP" altLang="en-US" sz="2600" b="1" dirty="0">
                <a:solidFill>
                  <a:srgbClr val="D55E00"/>
                </a:solidFill>
                <a:latin typeface="メイリオ" pitchFamily="34" charset="0"/>
                <a:ea typeface="メイリオ" pitchFamily="34" charset="-122"/>
                <a:cs typeface="メイリオ" pitchFamily="34" charset="-120"/>
              </a:rPr>
              <a:t>『備える』</a:t>
            </a:r>
            <a:r>
              <a:rPr lang="ja-JP" altLang="en-US" sz="2600" dirty="0">
                <a:solidFill>
                  <a:srgbClr val="262626"/>
                </a:solidFill>
                <a:latin typeface="メイリオ" pitchFamily="34" charset="0"/>
                <a:ea typeface="メイリオ" pitchFamily="34" charset="-122"/>
                <a:cs typeface="メイリオ" pitchFamily="34" charset="-120"/>
              </a:rPr>
              <a:t>ため</a:t>
            </a:r>
            <a:endParaRPr lang="ja-JP" sz="2600" dirty="0"/>
          </a:p>
        </p:txBody>
      </p:sp>
      <p:sp>
        <p:nvSpPr>
          <p:cNvPr id="13" name="Text 11"/>
          <p:cNvSpPr txBox="1"/>
          <p:nvPr/>
        </p:nvSpPr>
        <p:spPr>
          <a:xfrm>
            <a:off x="502920" y="2551176"/>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4" name="Text 12"/>
          <p:cNvSpPr txBox="1"/>
          <p:nvPr/>
        </p:nvSpPr>
        <p:spPr>
          <a:xfrm>
            <a:off x="914400" y="2551176"/>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予測できない困難気道は、必ず一定の割合である</a:t>
            </a:r>
            <a:endParaRPr lang="ja-JP" sz="2600" dirty="0"/>
          </a:p>
        </p:txBody>
      </p:sp>
      <p:sp>
        <p:nvSpPr>
          <p:cNvPr id="15" name="Text 13"/>
          <p:cNvSpPr txBox="1"/>
          <p:nvPr/>
        </p:nvSpPr>
        <p:spPr>
          <a:xfrm>
            <a:off x="502920" y="3273552"/>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6" name="Text 14"/>
          <p:cNvSpPr txBox="1"/>
          <p:nvPr/>
        </p:nvSpPr>
        <p:spPr>
          <a:xfrm>
            <a:off x="914400" y="3273552"/>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見つけたら：道具、人、方法（覚醒下）を</a:t>
            </a:r>
            <a:r>
              <a:rPr lang="ja-JP" altLang="en-US" sz="2600" b="1" dirty="0">
                <a:solidFill>
                  <a:srgbClr val="0072B2"/>
                </a:solidFill>
                <a:latin typeface="メイリオ" pitchFamily="34" charset="0"/>
                <a:ea typeface="メイリオ" pitchFamily="34" charset="-122"/>
                <a:cs typeface="メイリオ" pitchFamily="34" charset="-120"/>
              </a:rPr>
              <a:t>前もって用意</a:t>
            </a:r>
            <a:endParaRPr lang="ja-JP" sz="2600" dirty="0"/>
          </a:p>
        </p:txBody>
      </p:sp>
      <p:sp>
        <p:nvSpPr>
          <p:cNvPr id="17" name="Text 15"/>
          <p:cNvSpPr txBox="1"/>
          <p:nvPr/>
        </p:nvSpPr>
        <p:spPr>
          <a:xfrm>
            <a:off x="502920" y="3995928"/>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8" name="Text 16"/>
          <p:cNvSpPr txBox="1"/>
          <p:nvPr/>
        </p:nvSpPr>
        <p:spPr>
          <a:xfrm>
            <a:off x="914400" y="3995928"/>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評価しない理由はない。</a:t>
            </a:r>
            <a:r>
              <a:rPr lang="ja-JP" altLang="en-US" sz="2600" b="1" dirty="0">
                <a:solidFill>
                  <a:srgbClr val="0072B2"/>
                </a:solidFill>
                <a:latin typeface="メイリオ" pitchFamily="34" charset="0"/>
                <a:ea typeface="メイリオ" pitchFamily="34" charset="-122"/>
                <a:cs typeface="メイリオ" pitchFamily="34" charset="-120"/>
              </a:rPr>
              <a:t>全例で、同じ手順で</a:t>
            </a:r>
            <a:endParaRPr lang="ja-JP" sz="2600" dirty="0"/>
          </a:p>
        </p:txBody>
      </p:sp>
      <p:sp>
        <p:nvSpPr>
          <p:cNvPr id="19" name="Text 17"/>
          <p:cNvSpPr/>
          <p:nvPr/>
        </p:nvSpPr>
        <p:spPr>
          <a:xfrm>
            <a:off x="1051560" y="4736592"/>
            <a:ext cx="10085832" cy="1161288"/>
          </a:xfrm>
          <a:prstGeom prst="roundRect">
            <a:avLst>
              <a:gd name="adj" fmla="val 7874"/>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前回の挿管困難の記録は</a:t>
            </a:r>
            <a:r>
              <a:rPr lang="ja-JP" altLang="en-US" sz="2600" b="1" dirty="0">
                <a:solidFill>
                  <a:srgbClr val="0072B2"/>
                </a:solidFill>
                <a:latin typeface="メイリオ" pitchFamily="34" charset="0"/>
                <a:ea typeface="メイリオ" pitchFamily="34" charset="-122"/>
                <a:cs typeface="メイリオ" pitchFamily="34" charset="-120"/>
              </a:rPr>
              <a:t>強い予測因子</a:t>
            </a:r>
            <a:endParaRPr lang="ja-JP" sz="2600" dirty="0"/>
          </a:p>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（ただし拾えるのは</a:t>
            </a:r>
            <a:r>
              <a:rPr lang="ja-JP" altLang="en-US" sz="2600" b="1" dirty="0">
                <a:solidFill>
                  <a:srgbClr val="D55E00"/>
                </a:solidFill>
                <a:latin typeface="メイリオ" pitchFamily="34" charset="0"/>
                <a:ea typeface="メイリオ" pitchFamily="34" charset="-122"/>
                <a:cs typeface="メイリオ" pitchFamily="34" charset="-120"/>
              </a:rPr>
              <a:t>約 3 割</a:t>
            </a:r>
            <a:r>
              <a:rPr lang="ja-JP" altLang="en-US" sz="2600" b="1" dirty="0">
                <a:solidFill>
                  <a:srgbClr val="262626"/>
                </a:solidFill>
                <a:latin typeface="メイリオ" pitchFamily="34" charset="0"/>
                <a:ea typeface="メイリオ" pitchFamily="34" charset="-122"/>
                <a:cs typeface="メイリオ" pitchFamily="34" charset="-120"/>
              </a:rPr>
              <a:t>）</a:t>
            </a:r>
            <a:endParaRPr lang="ja-JP"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問診で聞く・読む</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Apfelbaum JL, et al. Anesthesiology 2022;136:31-81（ASA 2022） / Warner ME,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1999;90:1302-1305 / Nagappa M, et al. PLoS One 2018;13:e0204904</a:t>
            </a:r>
            <a:endParaRPr lang="ja-JP" sz="1600" dirty="0"/>
          </a:p>
        </p:txBody>
      </p:sp>
      <p:sp>
        <p:nvSpPr>
          <p:cNvPr id="11" name="Shape 9"/>
          <p:cNvSpPr/>
          <p:nvPr/>
        </p:nvSpPr>
        <p:spPr>
          <a:xfrm>
            <a:off x="502920" y="1691640"/>
            <a:ext cx="4905756" cy="4206240"/>
          </a:xfrm>
          <a:prstGeom prst="roundRect">
            <a:avLst>
              <a:gd name="adj" fmla="val 1739"/>
            </a:avLst>
          </a:prstGeom>
          <a:solidFill>
            <a:srgbClr val="F2F2F2"/>
          </a:solidFill>
          <a:ln/>
        </p:spPr>
      </p:sp>
      <p:sp>
        <p:nvSpPr>
          <p:cNvPr id="12" name="Text 10"/>
          <p:cNvSpPr txBox="1"/>
          <p:nvPr/>
        </p:nvSpPr>
        <p:spPr>
          <a:xfrm>
            <a:off x="685800" y="1801368"/>
            <a:ext cx="453999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記録を読む</a:t>
            </a:r>
            <a:endParaRPr lang="ja-JP" sz="2400" dirty="0"/>
          </a:p>
        </p:txBody>
      </p:sp>
      <p:sp>
        <p:nvSpPr>
          <p:cNvPr id="13" name="Text 11"/>
          <p:cNvSpPr txBox="1"/>
          <p:nvPr/>
        </p:nvSpPr>
        <p:spPr>
          <a:xfrm>
            <a:off x="685800"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4" name="Text 12"/>
          <p:cNvSpPr txBox="1"/>
          <p:nvPr/>
        </p:nvSpPr>
        <p:spPr>
          <a:xfrm>
            <a:off x="1014984" y="2331720"/>
            <a:ext cx="421081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前回の麻酔記録：</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喉頭展開の見え方、道具</a:t>
            </a:r>
            <a:endParaRPr lang="ja-JP" sz="2200" dirty="0"/>
          </a:p>
        </p:txBody>
      </p:sp>
      <p:sp>
        <p:nvSpPr>
          <p:cNvPr id="15" name="Text 13"/>
          <p:cNvSpPr txBox="1"/>
          <p:nvPr/>
        </p:nvSpPr>
        <p:spPr>
          <a:xfrm>
            <a:off x="685800" y="348295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1014984" y="3482950"/>
            <a:ext cx="42108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困難気道のカード・アラート</a:t>
            </a:r>
            <a:endParaRPr lang="ja-JP" sz="2200" dirty="0"/>
          </a:p>
        </p:txBody>
      </p:sp>
      <p:sp>
        <p:nvSpPr>
          <p:cNvPr id="17" name="Text 15"/>
          <p:cNvSpPr txBox="1"/>
          <p:nvPr/>
        </p:nvSpPr>
        <p:spPr>
          <a:xfrm>
            <a:off x="685800" y="4213555"/>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1014984" y="4213555"/>
            <a:ext cx="42108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頭頸部の手術・放射線治療</a:t>
            </a:r>
            <a:endParaRPr lang="ja-JP" sz="2200" dirty="0"/>
          </a:p>
        </p:txBody>
      </p:sp>
      <p:sp>
        <p:nvSpPr>
          <p:cNvPr id="19" name="Text 17"/>
          <p:cNvSpPr txBox="1"/>
          <p:nvPr/>
        </p:nvSpPr>
        <p:spPr>
          <a:xfrm>
            <a:off x="685800" y="494416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1014984" y="4944161"/>
            <a:ext cx="421081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気道の病気</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（腫瘍、狭窄、声帯麻痺）</a:t>
            </a:r>
            <a:endParaRPr lang="ja-JP" sz="2200" dirty="0"/>
          </a:p>
        </p:txBody>
      </p:sp>
      <p:sp>
        <p:nvSpPr>
          <p:cNvPr id="21" name="Shape 19"/>
          <p:cNvSpPr/>
          <p:nvPr/>
        </p:nvSpPr>
        <p:spPr>
          <a:xfrm>
            <a:off x="5628132" y="1691640"/>
            <a:ext cx="6056986" cy="4206240"/>
          </a:xfrm>
          <a:prstGeom prst="roundRect">
            <a:avLst>
              <a:gd name="adj" fmla="val 1739"/>
            </a:avLst>
          </a:prstGeom>
          <a:solidFill>
            <a:srgbClr val="F2F2F2"/>
          </a:solidFill>
          <a:ln/>
        </p:spPr>
      </p:sp>
      <p:sp>
        <p:nvSpPr>
          <p:cNvPr id="22" name="Text 20"/>
          <p:cNvSpPr txBox="1"/>
          <p:nvPr/>
        </p:nvSpPr>
        <p:spPr>
          <a:xfrm>
            <a:off x="5811012" y="1801368"/>
            <a:ext cx="5691226"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患者に聞く</a:t>
            </a:r>
            <a:endParaRPr lang="ja-JP" sz="2400" dirty="0"/>
          </a:p>
        </p:txBody>
      </p:sp>
      <p:sp>
        <p:nvSpPr>
          <p:cNvPr id="23" name="Text 21"/>
          <p:cNvSpPr txBox="1"/>
          <p:nvPr/>
        </p:nvSpPr>
        <p:spPr>
          <a:xfrm>
            <a:off x="5811012"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6140196" y="2331720"/>
            <a:ext cx="536204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いびき、無呼吸、日中の眠気（OSA）</a:t>
            </a:r>
            <a:endParaRPr lang="ja-JP" sz="2200" dirty="0"/>
          </a:p>
        </p:txBody>
      </p:sp>
      <p:sp>
        <p:nvSpPr>
          <p:cNvPr id="25" name="Text 23"/>
          <p:cNvSpPr txBox="1"/>
          <p:nvPr/>
        </p:nvSpPr>
        <p:spPr>
          <a:xfrm>
            <a:off x="5811012" y="3062326"/>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6140196" y="3062326"/>
            <a:ext cx="536204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首や顎が動きにくい病気</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（リウマチ、強直性脊椎炎）</a:t>
            </a:r>
            <a:endParaRPr lang="ja-JP" sz="2200" dirty="0"/>
          </a:p>
        </p:txBody>
      </p:sp>
      <p:sp>
        <p:nvSpPr>
          <p:cNvPr id="27" name="Text 25"/>
          <p:cNvSpPr txBox="1"/>
          <p:nvPr/>
        </p:nvSpPr>
        <p:spPr>
          <a:xfrm>
            <a:off x="5811012" y="4213555"/>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6140196" y="4213555"/>
            <a:ext cx="536204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動揺歯、義歯、差し歯、前歯の突出</a:t>
            </a:r>
            <a:endParaRPr lang="ja-JP" sz="2200" dirty="0"/>
          </a:p>
        </p:txBody>
      </p:sp>
      <p:sp>
        <p:nvSpPr>
          <p:cNvPr id="29" name="Text 27"/>
          <p:cNvSpPr txBox="1"/>
          <p:nvPr/>
        </p:nvSpPr>
        <p:spPr>
          <a:xfrm>
            <a:off x="5811012" y="494416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0" name="Text 28"/>
          <p:cNvSpPr txBox="1"/>
          <p:nvPr/>
        </p:nvSpPr>
        <p:spPr>
          <a:xfrm>
            <a:off x="6140196" y="4944161"/>
            <a:ext cx="536204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『前の麻酔で喉を傷めた』</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『管が入りにくかった』</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診察：6 つの所見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Detsky ME, et al. JAMA 2019;321:493-503 / Shiga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2005;103:429-437 / Khan ZH, et al. Anesth Analg 2003;96:595-599</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487168"/>
                <a:gridCol w="4901184"/>
                <a:gridCol w="3767328"/>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所見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どう見るか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困難を疑う目安</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開口</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最大開口で上下の切歯の間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 cm 未満</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（資料により 3〜4 cm）</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Mallampati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座位、開口、舌を出す、発声なし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class III・IV（→ S5）</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甲状オトガイ</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間距離</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頸部を伸展し、</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甲状軟骨上縁〜オトガイ</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6〜6.5 cm 未満</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（指 3 本未満）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上唇咬合テスト</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下の歯で上唇を噛めるか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噛めない（class III）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頸部の動き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顎を胸につけ、次に上を向く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伸展が小さい、</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痛みで動かない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首・顎・歯</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首の太さ、小さい下顎、</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前歯の突出、ひげ</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太い首（特に肥満）、</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小顎、前突</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Mallampati 分類</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Samsoon GL, Young JR. Anaesthesia 1987;42:487-490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Shiga T, et al. Anesthesiology 2005;103:429-437</a:t>
            </a:r>
            <a:endParaRPr lang="ja-JP" sz="1600" dirty="0"/>
          </a:p>
        </p:txBody>
      </p:sp>
      <p:sp>
        <p:nvSpPr>
          <p:cNvPr id="11" name="Shape 9"/>
          <p:cNvSpPr/>
          <p:nvPr/>
        </p:nvSpPr>
        <p:spPr>
          <a:xfrm>
            <a:off x="1000354"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5313"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solidFill>
            <a:srgbClr val="FBE9DF"/>
          </a:solidFill>
          <a:ln w="12700">
            <a:solidFill>
              <a:srgbClr val="FBE9DF"/>
            </a:solidFill>
            <a:prstDash val="solid"/>
          </a:ln>
        </p:spPr>
      </p:sp>
      <p:sp>
        <p:nvSpPr>
          <p:cNvPr id="12" name="Shape 10"/>
          <p:cNvSpPr/>
          <p:nvPr/>
        </p:nvSpPr>
        <p:spPr>
          <a:xfrm>
            <a:off x="1452067" y="1953158"/>
            <a:ext cx="879653" cy="863194"/>
          </a:xfrm>
          <a:custGeom>
            <a:avLst/>
            <a:gdLst/>
            <a:ahLst/>
            <a:cxnLst/>
            <a:rect l="l" t="t" r="r" b="b"/>
            <a:pathLst>
              <a:path w="879653" h="863194">
                <a:moveTo>
                  <a:pt x="0" y="863194"/>
                </a:moveTo>
                <a:lnTo>
                  <a:pt x="0" y="549554"/>
                </a:lnTo>
                <a:lnTo>
                  <a:pt x="3658" y="477317"/>
                </a:lnTo>
                <a:lnTo>
                  <a:pt x="14630" y="406908"/>
                </a:lnTo>
                <a:lnTo>
                  <a:pt x="33833" y="339242"/>
                </a:lnTo>
                <a:lnTo>
                  <a:pt x="58522" y="274320"/>
                </a:lnTo>
                <a:lnTo>
                  <a:pt x="90526" y="214884"/>
                </a:lnTo>
                <a:lnTo>
                  <a:pt x="128930" y="160934"/>
                </a:lnTo>
                <a:lnTo>
                  <a:pt x="171907" y="113386"/>
                </a:lnTo>
                <a:lnTo>
                  <a:pt x="219456" y="73152"/>
                </a:lnTo>
                <a:lnTo>
                  <a:pt x="271577" y="42062"/>
                </a:lnTo>
                <a:lnTo>
                  <a:pt x="326441" y="18288"/>
                </a:lnTo>
                <a:lnTo>
                  <a:pt x="382219" y="4572"/>
                </a:lnTo>
                <a:lnTo>
                  <a:pt x="439826" y="0"/>
                </a:lnTo>
                <a:lnTo>
                  <a:pt x="497434" y="4572"/>
                </a:lnTo>
                <a:lnTo>
                  <a:pt x="553212" y="18288"/>
                </a:lnTo>
                <a:lnTo>
                  <a:pt x="608076" y="42062"/>
                </a:lnTo>
                <a:lnTo>
                  <a:pt x="660197" y="73152"/>
                </a:lnTo>
                <a:lnTo>
                  <a:pt x="707746" y="113386"/>
                </a:lnTo>
                <a:lnTo>
                  <a:pt x="750722" y="160934"/>
                </a:lnTo>
                <a:lnTo>
                  <a:pt x="789127" y="214884"/>
                </a:lnTo>
                <a:lnTo>
                  <a:pt x="821131" y="274320"/>
                </a:lnTo>
                <a:lnTo>
                  <a:pt x="845820" y="339242"/>
                </a:lnTo>
                <a:lnTo>
                  <a:pt x="865022" y="406908"/>
                </a:lnTo>
                <a:lnTo>
                  <a:pt x="875995" y="477317"/>
                </a:lnTo>
                <a:lnTo>
                  <a:pt x="879653" y="549554"/>
                </a:lnTo>
                <a:lnTo>
                  <a:pt x="879653" y="863194"/>
                </a:lnTo>
                <a:close/>
              </a:path>
            </a:pathLst>
          </a:custGeom>
          <a:solidFill>
            <a:srgbClr val="F2C4B0"/>
          </a:solidFill>
          <a:ln w="12700">
            <a:solidFill>
              <a:srgbClr val="F2C4B0"/>
            </a:solidFill>
            <a:prstDash val="solid"/>
          </a:ln>
        </p:spPr>
      </p:sp>
      <p:sp>
        <p:nvSpPr>
          <p:cNvPr id="13" name="Shape 11"/>
          <p:cNvSpPr/>
          <p:nvPr/>
        </p:nvSpPr>
        <p:spPr>
          <a:xfrm>
            <a:off x="1570939" y="2123237"/>
            <a:ext cx="641909" cy="693115"/>
          </a:xfrm>
          <a:custGeom>
            <a:avLst/>
            <a:gdLst/>
            <a:ahLst/>
            <a:cxnLst/>
            <a:rect l="l" t="t" r="r" b="b"/>
            <a:pathLst>
              <a:path w="641909" h="693115">
                <a:moveTo>
                  <a:pt x="0" y="693115"/>
                </a:moveTo>
                <a:lnTo>
                  <a:pt x="0" y="379476"/>
                </a:lnTo>
                <a:lnTo>
                  <a:pt x="2743" y="329184"/>
                </a:lnTo>
                <a:lnTo>
                  <a:pt x="10973" y="280721"/>
                </a:lnTo>
                <a:lnTo>
                  <a:pt x="24689" y="234086"/>
                </a:lnTo>
                <a:lnTo>
                  <a:pt x="42977" y="189281"/>
                </a:lnTo>
                <a:lnTo>
                  <a:pt x="66751" y="148133"/>
                </a:lnTo>
                <a:lnTo>
                  <a:pt x="94183" y="110642"/>
                </a:lnTo>
                <a:lnTo>
                  <a:pt x="125273" y="78638"/>
                </a:lnTo>
                <a:lnTo>
                  <a:pt x="160934" y="50292"/>
                </a:lnTo>
                <a:lnTo>
                  <a:pt x="198425" y="28346"/>
                </a:lnTo>
                <a:lnTo>
                  <a:pt x="237744" y="12802"/>
                </a:lnTo>
                <a:lnTo>
                  <a:pt x="278892" y="2743"/>
                </a:lnTo>
                <a:lnTo>
                  <a:pt x="320954" y="0"/>
                </a:lnTo>
                <a:lnTo>
                  <a:pt x="363017" y="2743"/>
                </a:lnTo>
                <a:lnTo>
                  <a:pt x="404165" y="12802"/>
                </a:lnTo>
                <a:lnTo>
                  <a:pt x="443484" y="28346"/>
                </a:lnTo>
                <a:lnTo>
                  <a:pt x="481889" y="50292"/>
                </a:lnTo>
                <a:lnTo>
                  <a:pt x="516636" y="78638"/>
                </a:lnTo>
                <a:lnTo>
                  <a:pt x="547726" y="110642"/>
                </a:lnTo>
                <a:lnTo>
                  <a:pt x="575158" y="148133"/>
                </a:lnTo>
                <a:lnTo>
                  <a:pt x="598932" y="189281"/>
                </a:lnTo>
                <a:lnTo>
                  <a:pt x="617220" y="234086"/>
                </a:lnTo>
                <a:lnTo>
                  <a:pt x="630936" y="280721"/>
                </a:lnTo>
                <a:lnTo>
                  <a:pt x="639166" y="329184"/>
                </a:lnTo>
                <a:lnTo>
                  <a:pt x="641909" y="379476"/>
                </a:lnTo>
                <a:lnTo>
                  <a:pt x="641909" y="693115"/>
                </a:lnTo>
                <a:close/>
              </a:path>
            </a:pathLst>
          </a:custGeom>
          <a:solidFill>
            <a:srgbClr val="404040"/>
          </a:solidFill>
          <a:ln w="31750">
            <a:solidFill>
              <a:srgbClr val="0072B2"/>
            </a:solidFill>
            <a:prstDash val="solid"/>
          </a:ln>
        </p:spPr>
      </p:sp>
      <p:sp>
        <p:nvSpPr>
          <p:cNvPr id="14" name="Shape 12"/>
          <p:cNvSpPr/>
          <p:nvPr/>
        </p:nvSpPr>
        <p:spPr>
          <a:xfrm>
            <a:off x="1800454" y="2114093"/>
            <a:ext cx="182880" cy="231343"/>
          </a:xfrm>
          <a:custGeom>
            <a:avLst/>
            <a:gdLst/>
            <a:ahLst/>
            <a:cxnLst/>
            <a:rect l="l" t="t" r="r" b="b"/>
            <a:pathLst>
              <a:path w="182880" h="231343">
                <a:moveTo>
                  <a:pt x="0" y="0"/>
                </a:moveTo>
                <a:lnTo>
                  <a:pt x="22860" y="162763"/>
                </a:lnTo>
                <a:lnTo>
                  <a:pt x="25603" y="180137"/>
                </a:lnTo>
                <a:lnTo>
                  <a:pt x="32004" y="197510"/>
                </a:lnTo>
                <a:lnTo>
                  <a:pt x="42977" y="211226"/>
                </a:lnTo>
                <a:lnTo>
                  <a:pt x="56693" y="222199"/>
                </a:lnTo>
                <a:lnTo>
                  <a:pt x="74066" y="228600"/>
                </a:lnTo>
                <a:lnTo>
                  <a:pt x="91440" y="231343"/>
                </a:lnTo>
                <a:lnTo>
                  <a:pt x="108814" y="228600"/>
                </a:lnTo>
                <a:lnTo>
                  <a:pt x="126187" y="222199"/>
                </a:lnTo>
                <a:lnTo>
                  <a:pt x="139903" y="211226"/>
                </a:lnTo>
                <a:lnTo>
                  <a:pt x="150876" y="197510"/>
                </a:lnTo>
                <a:lnTo>
                  <a:pt x="157277" y="180137"/>
                </a:lnTo>
                <a:lnTo>
                  <a:pt x="160020" y="162763"/>
                </a:lnTo>
                <a:lnTo>
                  <a:pt x="182880" y="0"/>
                </a:lnTo>
                <a:close/>
              </a:path>
            </a:pathLst>
          </a:custGeom>
          <a:solidFill>
            <a:srgbClr val="F2C4B0"/>
          </a:solidFill>
          <a:ln w="25400">
            <a:solidFill>
              <a:srgbClr val="0072B2"/>
            </a:solidFill>
            <a:prstDash val="solid"/>
          </a:ln>
        </p:spPr>
      </p:sp>
      <p:sp>
        <p:nvSpPr>
          <p:cNvPr id="15" name="Shape 13"/>
          <p:cNvSpPr/>
          <p:nvPr/>
        </p:nvSpPr>
        <p:spPr>
          <a:xfrm>
            <a:off x="1178662" y="2701138"/>
            <a:ext cx="1426464" cy="298094"/>
          </a:xfrm>
          <a:custGeom>
            <a:avLst/>
            <a:gdLst/>
            <a:ahLst/>
            <a:cxnLst/>
            <a:rect l="l" t="t" r="r" b="b"/>
            <a:pathLst>
              <a:path w="1426464" h="298094">
                <a:moveTo>
                  <a:pt x="0" y="36576"/>
                </a:moveTo>
                <a:lnTo>
                  <a:pt x="59436" y="31090"/>
                </a:lnTo>
                <a:lnTo>
                  <a:pt x="118872" y="25603"/>
                </a:lnTo>
                <a:lnTo>
                  <a:pt x="178308" y="20117"/>
                </a:lnTo>
                <a:lnTo>
                  <a:pt x="237744" y="16459"/>
                </a:lnTo>
                <a:lnTo>
                  <a:pt x="297180" y="12802"/>
                </a:lnTo>
                <a:lnTo>
                  <a:pt x="356616" y="9144"/>
                </a:lnTo>
                <a:lnTo>
                  <a:pt x="416052" y="6401"/>
                </a:lnTo>
                <a:lnTo>
                  <a:pt x="475488" y="3658"/>
                </a:lnTo>
                <a:lnTo>
                  <a:pt x="534924" y="1829"/>
                </a:lnTo>
                <a:lnTo>
                  <a:pt x="594360" y="914"/>
                </a:lnTo>
                <a:lnTo>
                  <a:pt x="653796" y="0"/>
                </a:lnTo>
                <a:lnTo>
                  <a:pt x="713232" y="0"/>
                </a:lnTo>
                <a:lnTo>
                  <a:pt x="772668" y="0"/>
                </a:lnTo>
                <a:lnTo>
                  <a:pt x="832104" y="914"/>
                </a:lnTo>
                <a:lnTo>
                  <a:pt x="891540" y="1829"/>
                </a:lnTo>
                <a:lnTo>
                  <a:pt x="950976" y="3658"/>
                </a:lnTo>
                <a:lnTo>
                  <a:pt x="1010412" y="6401"/>
                </a:lnTo>
                <a:lnTo>
                  <a:pt x="1069848" y="9144"/>
                </a:lnTo>
                <a:lnTo>
                  <a:pt x="1129284" y="12802"/>
                </a:lnTo>
                <a:lnTo>
                  <a:pt x="1188720" y="16459"/>
                </a:lnTo>
                <a:lnTo>
                  <a:pt x="1248156" y="20117"/>
                </a:lnTo>
                <a:lnTo>
                  <a:pt x="1307592" y="25603"/>
                </a:lnTo>
                <a:lnTo>
                  <a:pt x="1367028" y="31090"/>
                </a:lnTo>
                <a:lnTo>
                  <a:pt x="1426464" y="36576"/>
                </a:lnTo>
                <a:lnTo>
                  <a:pt x="1398118" y="63094"/>
                </a:lnTo>
                <a:lnTo>
                  <a:pt x="1367942" y="88697"/>
                </a:lnTo>
                <a:lnTo>
                  <a:pt x="1335938" y="112471"/>
                </a:lnTo>
                <a:lnTo>
                  <a:pt x="1302106" y="135331"/>
                </a:lnTo>
                <a:lnTo>
                  <a:pt x="1266444" y="157277"/>
                </a:lnTo>
                <a:lnTo>
                  <a:pt x="1229868" y="177394"/>
                </a:lnTo>
                <a:lnTo>
                  <a:pt x="1191463" y="195682"/>
                </a:lnTo>
                <a:lnTo>
                  <a:pt x="1152144" y="213055"/>
                </a:lnTo>
                <a:lnTo>
                  <a:pt x="1111910" y="229514"/>
                </a:lnTo>
                <a:lnTo>
                  <a:pt x="1070762" y="243230"/>
                </a:lnTo>
                <a:lnTo>
                  <a:pt x="1027786" y="256032"/>
                </a:lnTo>
                <a:lnTo>
                  <a:pt x="984809" y="267005"/>
                </a:lnTo>
                <a:lnTo>
                  <a:pt x="940003" y="276149"/>
                </a:lnTo>
                <a:lnTo>
                  <a:pt x="895198" y="284378"/>
                </a:lnTo>
                <a:lnTo>
                  <a:pt x="850392" y="289865"/>
                </a:lnTo>
                <a:lnTo>
                  <a:pt x="804672" y="294437"/>
                </a:lnTo>
                <a:lnTo>
                  <a:pt x="758952" y="297180"/>
                </a:lnTo>
                <a:lnTo>
                  <a:pt x="713232" y="298094"/>
                </a:lnTo>
                <a:lnTo>
                  <a:pt x="667512" y="297180"/>
                </a:lnTo>
                <a:lnTo>
                  <a:pt x="621792" y="294437"/>
                </a:lnTo>
                <a:lnTo>
                  <a:pt x="576072" y="289865"/>
                </a:lnTo>
                <a:lnTo>
                  <a:pt x="531266" y="284378"/>
                </a:lnTo>
                <a:lnTo>
                  <a:pt x="486461" y="276149"/>
                </a:lnTo>
                <a:lnTo>
                  <a:pt x="441655" y="267005"/>
                </a:lnTo>
                <a:lnTo>
                  <a:pt x="398678" y="256032"/>
                </a:lnTo>
                <a:lnTo>
                  <a:pt x="355702" y="243230"/>
                </a:lnTo>
                <a:lnTo>
                  <a:pt x="314554" y="229514"/>
                </a:lnTo>
                <a:lnTo>
                  <a:pt x="274320" y="213055"/>
                </a:lnTo>
                <a:lnTo>
                  <a:pt x="235001" y="195682"/>
                </a:lnTo>
                <a:lnTo>
                  <a:pt x="196596" y="177394"/>
                </a:lnTo>
                <a:lnTo>
                  <a:pt x="160020" y="157277"/>
                </a:lnTo>
                <a:lnTo>
                  <a:pt x="124358" y="135331"/>
                </a:lnTo>
                <a:lnTo>
                  <a:pt x="90526" y="112471"/>
                </a:lnTo>
                <a:lnTo>
                  <a:pt x="58522" y="88697"/>
                </a:lnTo>
                <a:lnTo>
                  <a:pt x="28346" y="63094"/>
                </a:lnTo>
                <a:close/>
              </a:path>
            </a:pathLst>
          </a:custGeom>
          <a:solidFill>
            <a:srgbClr val="E8A673"/>
          </a:solidFill>
          <a:ln w="25400">
            <a:solidFill>
              <a:srgbClr val="D55E00"/>
            </a:solidFill>
            <a:prstDash val="solid"/>
          </a:ln>
        </p:spPr>
      </p:sp>
      <p:sp>
        <p:nvSpPr>
          <p:cNvPr id="16" name="Shape 14"/>
          <p:cNvSpPr/>
          <p:nvPr/>
        </p:nvSpPr>
        <p:spPr>
          <a:xfrm>
            <a:off x="1000354"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5313"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noFill/>
          <a:ln w="31750">
            <a:solidFill>
              <a:srgbClr val="595959"/>
            </a:solidFill>
            <a:prstDash val="solid"/>
          </a:ln>
        </p:spPr>
      </p:sp>
      <p:sp>
        <p:nvSpPr>
          <p:cNvPr id="17" name="Shape 15"/>
          <p:cNvSpPr/>
          <p:nvPr/>
        </p:nvSpPr>
        <p:spPr>
          <a:xfrm>
            <a:off x="502920" y="3218688"/>
            <a:ext cx="2777947" cy="2002536"/>
          </a:xfrm>
          <a:prstGeom prst="roundRect">
            <a:avLst>
              <a:gd name="adj" fmla="val 3653"/>
            </a:avLst>
          </a:prstGeom>
          <a:solidFill>
            <a:srgbClr val="F2F2F2"/>
          </a:solidFill>
          <a:ln/>
        </p:spPr>
      </p:sp>
      <p:sp>
        <p:nvSpPr>
          <p:cNvPr id="18" name="Text 16"/>
          <p:cNvSpPr txBox="1"/>
          <p:nvPr/>
        </p:nvSpPr>
        <p:spPr>
          <a:xfrm>
            <a:off x="640080" y="3328416"/>
            <a:ext cx="2503627" cy="457200"/>
          </a:xfrm>
          <a:prstGeom prst="rect">
            <a:avLst/>
          </a:prstGeom>
          <a:noFill/>
          <a:ln/>
        </p:spPr>
        <p:txBody>
          <a:bodyPr wrap="square" lIns="0" tIns="0" rIns="0" bIns="0" rtlCol="0" anchor="t"/>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class I</a:t>
            </a:r>
            <a:endParaRPr lang="ja-JP" sz="2400" dirty="0"/>
          </a:p>
        </p:txBody>
      </p:sp>
      <p:sp>
        <p:nvSpPr>
          <p:cNvPr id="19" name="Text 17"/>
          <p:cNvSpPr txBox="1"/>
          <p:nvPr/>
        </p:nvSpPr>
        <p:spPr>
          <a:xfrm>
            <a:off x="640080" y="3822192"/>
            <a:ext cx="2503627"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軟口蓋、口蓋弓、</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口蓋垂が</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全部見える</a:t>
            </a:r>
            <a:endParaRPr lang="ja-JP" sz="2200" dirty="0"/>
          </a:p>
        </p:txBody>
      </p:sp>
      <p:sp>
        <p:nvSpPr>
          <p:cNvPr id="20" name="Shape 18"/>
          <p:cNvSpPr/>
          <p:nvPr/>
        </p:nvSpPr>
        <p:spPr>
          <a:xfrm>
            <a:off x="3997757"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solidFill>
            <a:srgbClr val="FBE9DF"/>
          </a:solidFill>
          <a:ln w="12700">
            <a:solidFill>
              <a:srgbClr val="FBE9DF"/>
            </a:solidFill>
            <a:prstDash val="solid"/>
          </a:ln>
        </p:spPr>
      </p:sp>
      <p:sp>
        <p:nvSpPr>
          <p:cNvPr id="21" name="Shape 19"/>
          <p:cNvSpPr/>
          <p:nvPr/>
        </p:nvSpPr>
        <p:spPr>
          <a:xfrm>
            <a:off x="4449470" y="1953158"/>
            <a:ext cx="879653" cy="863194"/>
          </a:xfrm>
          <a:custGeom>
            <a:avLst/>
            <a:gdLst/>
            <a:ahLst/>
            <a:cxnLst/>
            <a:rect l="l" t="t" r="r" b="b"/>
            <a:pathLst>
              <a:path w="879653" h="863194">
                <a:moveTo>
                  <a:pt x="0" y="863194"/>
                </a:moveTo>
                <a:lnTo>
                  <a:pt x="0" y="549554"/>
                </a:lnTo>
                <a:lnTo>
                  <a:pt x="3658" y="477317"/>
                </a:lnTo>
                <a:lnTo>
                  <a:pt x="14630" y="406908"/>
                </a:lnTo>
                <a:lnTo>
                  <a:pt x="33833" y="339242"/>
                </a:lnTo>
                <a:lnTo>
                  <a:pt x="58522" y="274320"/>
                </a:lnTo>
                <a:lnTo>
                  <a:pt x="90526" y="214884"/>
                </a:lnTo>
                <a:lnTo>
                  <a:pt x="128930" y="160934"/>
                </a:lnTo>
                <a:lnTo>
                  <a:pt x="171907" y="113386"/>
                </a:lnTo>
                <a:lnTo>
                  <a:pt x="220370" y="73152"/>
                </a:lnTo>
                <a:lnTo>
                  <a:pt x="271577" y="42062"/>
                </a:lnTo>
                <a:lnTo>
                  <a:pt x="326441" y="18288"/>
                </a:lnTo>
                <a:lnTo>
                  <a:pt x="382219" y="4572"/>
                </a:lnTo>
                <a:lnTo>
                  <a:pt x="439826" y="0"/>
                </a:lnTo>
                <a:lnTo>
                  <a:pt x="497434" y="4572"/>
                </a:lnTo>
                <a:lnTo>
                  <a:pt x="553212" y="18288"/>
                </a:lnTo>
                <a:lnTo>
                  <a:pt x="608076" y="42062"/>
                </a:lnTo>
                <a:lnTo>
                  <a:pt x="660197" y="73152"/>
                </a:lnTo>
                <a:lnTo>
                  <a:pt x="707746" y="113386"/>
                </a:lnTo>
                <a:lnTo>
                  <a:pt x="750722" y="160934"/>
                </a:lnTo>
                <a:lnTo>
                  <a:pt x="789127" y="214884"/>
                </a:lnTo>
                <a:lnTo>
                  <a:pt x="821131" y="274320"/>
                </a:lnTo>
                <a:lnTo>
                  <a:pt x="845820" y="339242"/>
                </a:lnTo>
                <a:lnTo>
                  <a:pt x="865022" y="406908"/>
                </a:lnTo>
                <a:lnTo>
                  <a:pt x="875995" y="477317"/>
                </a:lnTo>
                <a:lnTo>
                  <a:pt x="879653" y="549554"/>
                </a:lnTo>
                <a:lnTo>
                  <a:pt x="879653" y="863194"/>
                </a:lnTo>
                <a:close/>
              </a:path>
            </a:pathLst>
          </a:custGeom>
          <a:solidFill>
            <a:srgbClr val="F2C4B0"/>
          </a:solidFill>
          <a:ln w="12700">
            <a:solidFill>
              <a:srgbClr val="F2C4B0"/>
            </a:solidFill>
            <a:prstDash val="solid"/>
          </a:ln>
        </p:spPr>
      </p:sp>
      <p:sp>
        <p:nvSpPr>
          <p:cNvPr id="22" name="Shape 20"/>
          <p:cNvSpPr/>
          <p:nvPr/>
        </p:nvSpPr>
        <p:spPr>
          <a:xfrm>
            <a:off x="4568342" y="2123237"/>
            <a:ext cx="641909" cy="693115"/>
          </a:xfrm>
          <a:custGeom>
            <a:avLst/>
            <a:gdLst/>
            <a:ahLst/>
            <a:cxnLst/>
            <a:rect l="l" t="t" r="r" b="b"/>
            <a:pathLst>
              <a:path w="641909" h="693115">
                <a:moveTo>
                  <a:pt x="0" y="693115"/>
                </a:moveTo>
                <a:lnTo>
                  <a:pt x="0" y="379476"/>
                </a:lnTo>
                <a:lnTo>
                  <a:pt x="2743" y="329184"/>
                </a:lnTo>
                <a:lnTo>
                  <a:pt x="10973" y="280721"/>
                </a:lnTo>
                <a:lnTo>
                  <a:pt x="24689" y="234086"/>
                </a:lnTo>
                <a:lnTo>
                  <a:pt x="42977" y="189281"/>
                </a:lnTo>
                <a:lnTo>
                  <a:pt x="66751" y="148133"/>
                </a:lnTo>
                <a:lnTo>
                  <a:pt x="94183" y="110642"/>
                </a:lnTo>
                <a:lnTo>
                  <a:pt x="125273" y="78638"/>
                </a:lnTo>
                <a:lnTo>
                  <a:pt x="160934" y="50292"/>
                </a:lnTo>
                <a:lnTo>
                  <a:pt x="198425" y="28346"/>
                </a:lnTo>
                <a:lnTo>
                  <a:pt x="237744" y="12802"/>
                </a:lnTo>
                <a:lnTo>
                  <a:pt x="278892" y="2743"/>
                </a:lnTo>
                <a:lnTo>
                  <a:pt x="320954" y="0"/>
                </a:lnTo>
                <a:lnTo>
                  <a:pt x="363017" y="2743"/>
                </a:lnTo>
                <a:lnTo>
                  <a:pt x="404165" y="12802"/>
                </a:lnTo>
                <a:lnTo>
                  <a:pt x="443484" y="28346"/>
                </a:lnTo>
                <a:lnTo>
                  <a:pt x="481889" y="50292"/>
                </a:lnTo>
                <a:lnTo>
                  <a:pt x="516636" y="78638"/>
                </a:lnTo>
                <a:lnTo>
                  <a:pt x="547726" y="110642"/>
                </a:lnTo>
                <a:lnTo>
                  <a:pt x="575158" y="148133"/>
                </a:lnTo>
                <a:lnTo>
                  <a:pt x="598932" y="189281"/>
                </a:lnTo>
                <a:lnTo>
                  <a:pt x="617220" y="234086"/>
                </a:lnTo>
                <a:lnTo>
                  <a:pt x="630936" y="280721"/>
                </a:lnTo>
                <a:lnTo>
                  <a:pt x="639166" y="329184"/>
                </a:lnTo>
                <a:lnTo>
                  <a:pt x="641909" y="379476"/>
                </a:lnTo>
                <a:lnTo>
                  <a:pt x="641909" y="693115"/>
                </a:lnTo>
                <a:close/>
              </a:path>
            </a:pathLst>
          </a:custGeom>
          <a:solidFill>
            <a:srgbClr val="404040"/>
          </a:solidFill>
          <a:ln w="31750">
            <a:solidFill>
              <a:srgbClr val="0072B2"/>
            </a:solidFill>
            <a:prstDash val="solid"/>
          </a:ln>
        </p:spPr>
      </p:sp>
      <p:sp>
        <p:nvSpPr>
          <p:cNvPr id="23" name="Shape 21"/>
          <p:cNvSpPr/>
          <p:nvPr/>
        </p:nvSpPr>
        <p:spPr>
          <a:xfrm>
            <a:off x="4797857" y="2114093"/>
            <a:ext cx="182880" cy="231343"/>
          </a:xfrm>
          <a:custGeom>
            <a:avLst/>
            <a:gdLst/>
            <a:ahLst/>
            <a:cxnLst/>
            <a:rect l="l" t="t" r="r" b="b"/>
            <a:pathLst>
              <a:path w="182880" h="231343">
                <a:moveTo>
                  <a:pt x="0" y="0"/>
                </a:moveTo>
                <a:lnTo>
                  <a:pt x="22860" y="162763"/>
                </a:lnTo>
                <a:lnTo>
                  <a:pt x="25603" y="180137"/>
                </a:lnTo>
                <a:lnTo>
                  <a:pt x="32004" y="197510"/>
                </a:lnTo>
                <a:lnTo>
                  <a:pt x="42977" y="211226"/>
                </a:lnTo>
                <a:lnTo>
                  <a:pt x="57607" y="222199"/>
                </a:lnTo>
                <a:lnTo>
                  <a:pt x="74066" y="228600"/>
                </a:lnTo>
                <a:lnTo>
                  <a:pt x="91440" y="231343"/>
                </a:lnTo>
                <a:lnTo>
                  <a:pt x="108814" y="228600"/>
                </a:lnTo>
                <a:lnTo>
                  <a:pt x="126187" y="222199"/>
                </a:lnTo>
                <a:lnTo>
                  <a:pt x="139903" y="211226"/>
                </a:lnTo>
                <a:lnTo>
                  <a:pt x="150876" y="197510"/>
                </a:lnTo>
                <a:lnTo>
                  <a:pt x="157277" y="180137"/>
                </a:lnTo>
                <a:lnTo>
                  <a:pt x="160020" y="162763"/>
                </a:lnTo>
                <a:lnTo>
                  <a:pt x="182880" y="0"/>
                </a:lnTo>
                <a:close/>
              </a:path>
            </a:pathLst>
          </a:custGeom>
          <a:solidFill>
            <a:srgbClr val="F2C4B0"/>
          </a:solidFill>
          <a:ln w="25400">
            <a:solidFill>
              <a:srgbClr val="0072B2"/>
            </a:solidFill>
            <a:prstDash val="solid"/>
          </a:ln>
        </p:spPr>
      </p:sp>
      <p:sp>
        <p:nvSpPr>
          <p:cNvPr id="24" name="Shape 22"/>
          <p:cNvSpPr/>
          <p:nvPr/>
        </p:nvSpPr>
        <p:spPr>
          <a:xfrm>
            <a:off x="4016045" y="2439619"/>
            <a:ext cx="1746504" cy="559613"/>
          </a:xfrm>
          <a:custGeom>
            <a:avLst/>
            <a:gdLst/>
            <a:ahLst/>
            <a:cxnLst/>
            <a:rect l="l" t="t" r="r" b="b"/>
            <a:pathLst>
              <a:path w="1746504" h="559613">
                <a:moveTo>
                  <a:pt x="0" y="36576"/>
                </a:moveTo>
                <a:lnTo>
                  <a:pt x="72238" y="31090"/>
                </a:lnTo>
                <a:lnTo>
                  <a:pt x="145390" y="25603"/>
                </a:lnTo>
                <a:lnTo>
                  <a:pt x="218542" y="21031"/>
                </a:lnTo>
                <a:lnTo>
                  <a:pt x="290779" y="16459"/>
                </a:lnTo>
                <a:lnTo>
                  <a:pt x="363931" y="12802"/>
                </a:lnTo>
                <a:lnTo>
                  <a:pt x="436169" y="9144"/>
                </a:lnTo>
                <a:lnTo>
                  <a:pt x="509321" y="6401"/>
                </a:lnTo>
                <a:lnTo>
                  <a:pt x="582473" y="3658"/>
                </a:lnTo>
                <a:lnTo>
                  <a:pt x="654710" y="2743"/>
                </a:lnTo>
                <a:lnTo>
                  <a:pt x="727862" y="914"/>
                </a:lnTo>
                <a:lnTo>
                  <a:pt x="800100" y="0"/>
                </a:lnTo>
                <a:lnTo>
                  <a:pt x="873252" y="0"/>
                </a:lnTo>
                <a:lnTo>
                  <a:pt x="946404" y="0"/>
                </a:lnTo>
                <a:lnTo>
                  <a:pt x="1018642" y="914"/>
                </a:lnTo>
                <a:lnTo>
                  <a:pt x="1091794" y="2743"/>
                </a:lnTo>
                <a:lnTo>
                  <a:pt x="1164031" y="3658"/>
                </a:lnTo>
                <a:lnTo>
                  <a:pt x="1237183" y="6401"/>
                </a:lnTo>
                <a:lnTo>
                  <a:pt x="1310335" y="9144"/>
                </a:lnTo>
                <a:lnTo>
                  <a:pt x="1382573" y="12802"/>
                </a:lnTo>
                <a:lnTo>
                  <a:pt x="1455725" y="16459"/>
                </a:lnTo>
                <a:lnTo>
                  <a:pt x="1527962" y="21031"/>
                </a:lnTo>
                <a:lnTo>
                  <a:pt x="1601114" y="25603"/>
                </a:lnTo>
                <a:lnTo>
                  <a:pt x="1674266" y="31090"/>
                </a:lnTo>
                <a:lnTo>
                  <a:pt x="1746504" y="36576"/>
                </a:lnTo>
                <a:lnTo>
                  <a:pt x="1730959" y="85039"/>
                </a:lnTo>
                <a:lnTo>
                  <a:pt x="1709928" y="132588"/>
                </a:lnTo>
                <a:lnTo>
                  <a:pt x="1683410" y="178308"/>
                </a:lnTo>
                <a:lnTo>
                  <a:pt x="1653235" y="222199"/>
                </a:lnTo>
                <a:lnTo>
                  <a:pt x="1618488" y="265176"/>
                </a:lnTo>
                <a:lnTo>
                  <a:pt x="1579169" y="305410"/>
                </a:lnTo>
                <a:lnTo>
                  <a:pt x="1535278" y="343814"/>
                </a:lnTo>
                <a:lnTo>
                  <a:pt x="1487729" y="379476"/>
                </a:lnTo>
                <a:lnTo>
                  <a:pt x="1437437" y="412394"/>
                </a:lnTo>
                <a:lnTo>
                  <a:pt x="1382573" y="442570"/>
                </a:lnTo>
                <a:lnTo>
                  <a:pt x="1325880" y="469087"/>
                </a:lnTo>
                <a:lnTo>
                  <a:pt x="1266444" y="492862"/>
                </a:lnTo>
                <a:lnTo>
                  <a:pt x="1204265" y="512978"/>
                </a:lnTo>
                <a:lnTo>
                  <a:pt x="1140257" y="529438"/>
                </a:lnTo>
                <a:lnTo>
                  <a:pt x="1075334" y="542239"/>
                </a:lnTo>
                <a:lnTo>
                  <a:pt x="1008583" y="552298"/>
                </a:lnTo>
                <a:lnTo>
                  <a:pt x="940918" y="557784"/>
                </a:lnTo>
                <a:lnTo>
                  <a:pt x="873252" y="559613"/>
                </a:lnTo>
                <a:lnTo>
                  <a:pt x="805586" y="557784"/>
                </a:lnTo>
                <a:lnTo>
                  <a:pt x="737921" y="552298"/>
                </a:lnTo>
                <a:lnTo>
                  <a:pt x="671170" y="542239"/>
                </a:lnTo>
                <a:lnTo>
                  <a:pt x="606247" y="529438"/>
                </a:lnTo>
                <a:lnTo>
                  <a:pt x="542239" y="512978"/>
                </a:lnTo>
                <a:lnTo>
                  <a:pt x="480060" y="492862"/>
                </a:lnTo>
                <a:lnTo>
                  <a:pt x="420624" y="469087"/>
                </a:lnTo>
                <a:lnTo>
                  <a:pt x="363931" y="442570"/>
                </a:lnTo>
                <a:lnTo>
                  <a:pt x="309067" y="412394"/>
                </a:lnTo>
                <a:lnTo>
                  <a:pt x="258775" y="379476"/>
                </a:lnTo>
                <a:lnTo>
                  <a:pt x="211226" y="343814"/>
                </a:lnTo>
                <a:lnTo>
                  <a:pt x="167335" y="305410"/>
                </a:lnTo>
                <a:lnTo>
                  <a:pt x="128016" y="265176"/>
                </a:lnTo>
                <a:lnTo>
                  <a:pt x="93269" y="222199"/>
                </a:lnTo>
                <a:lnTo>
                  <a:pt x="63094" y="178308"/>
                </a:lnTo>
                <a:lnTo>
                  <a:pt x="36576" y="132588"/>
                </a:lnTo>
                <a:lnTo>
                  <a:pt x="15545" y="85039"/>
                </a:lnTo>
                <a:close/>
              </a:path>
            </a:pathLst>
          </a:custGeom>
          <a:solidFill>
            <a:srgbClr val="E8A673"/>
          </a:solidFill>
          <a:ln w="25400">
            <a:solidFill>
              <a:srgbClr val="D55E00"/>
            </a:solidFill>
            <a:prstDash val="solid"/>
          </a:ln>
        </p:spPr>
      </p:sp>
      <p:sp>
        <p:nvSpPr>
          <p:cNvPr id="25" name="Shape 23"/>
          <p:cNvSpPr/>
          <p:nvPr/>
        </p:nvSpPr>
        <p:spPr>
          <a:xfrm>
            <a:off x="3997757"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noFill/>
          <a:ln w="31750">
            <a:solidFill>
              <a:srgbClr val="595959"/>
            </a:solidFill>
            <a:prstDash val="solid"/>
          </a:ln>
        </p:spPr>
      </p:sp>
      <p:sp>
        <p:nvSpPr>
          <p:cNvPr id="26" name="Shape 24"/>
          <p:cNvSpPr/>
          <p:nvPr/>
        </p:nvSpPr>
        <p:spPr>
          <a:xfrm>
            <a:off x="3500323" y="3218688"/>
            <a:ext cx="2777947" cy="2002536"/>
          </a:xfrm>
          <a:prstGeom prst="roundRect">
            <a:avLst>
              <a:gd name="adj" fmla="val 3653"/>
            </a:avLst>
          </a:prstGeom>
          <a:solidFill>
            <a:srgbClr val="F2F2F2"/>
          </a:solidFill>
          <a:ln/>
        </p:spPr>
      </p:sp>
      <p:sp>
        <p:nvSpPr>
          <p:cNvPr id="27" name="Text 25"/>
          <p:cNvSpPr txBox="1"/>
          <p:nvPr/>
        </p:nvSpPr>
        <p:spPr>
          <a:xfrm>
            <a:off x="3637483" y="3328416"/>
            <a:ext cx="2503627" cy="457200"/>
          </a:xfrm>
          <a:prstGeom prst="rect">
            <a:avLst/>
          </a:prstGeom>
          <a:noFill/>
          <a:ln/>
        </p:spPr>
        <p:txBody>
          <a:bodyPr wrap="square" lIns="0" tIns="0" rIns="0" bIns="0" rtlCol="0" anchor="t"/>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class II</a:t>
            </a:r>
            <a:endParaRPr lang="ja-JP" sz="2400" dirty="0"/>
          </a:p>
        </p:txBody>
      </p:sp>
      <p:sp>
        <p:nvSpPr>
          <p:cNvPr id="28" name="Text 26"/>
          <p:cNvSpPr txBox="1"/>
          <p:nvPr/>
        </p:nvSpPr>
        <p:spPr>
          <a:xfrm>
            <a:off x="3637483" y="3822192"/>
            <a:ext cx="2503627"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軟口蓋、口峡、</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口蓋垂（口蓋弓は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隠れる）</a:t>
            </a:r>
            <a:endParaRPr lang="ja-JP" sz="2200" dirty="0"/>
          </a:p>
        </p:txBody>
      </p:sp>
      <p:sp>
        <p:nvSpPr>
          <p:cNvPr id="29" name="Shape 27"/>
          <p:cNvSpPr/>
          <p:nvPr/>
        </p:nvSpPr>
        <p:spPr>
          <a:xfrm>
            <a:off x="6847942"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7767"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solidFill>
            <a:srgbClr val="FBE9DF"/>
          </a:solidFill>
          <a:ln w="12700">
            <a:solidFill>
              <a:srgbClr val="FBE9DF"/>
            </a:solidFill>
            <a:prstDash val="solid"/>
          </a:ln>
        </p:spPr>
      </p:sp>
      <p:sp>
        <p:nvSpPr>
          <p:cNvPr id="30" name="Shape 28"/>
          <p:cNvSpPr/>
          <p:nvPr/>
        </p:nvSpPr>
        <p:spPr>
          <a:xfrm>
            <a:off x="7299655" y="1953158"/>
            <a:ext cx="879653" cy="863194"/>
          </a:xfrm>
          <a:custGeom>
            <a:avLst/>
            <a:gdLst/>
            <a:ahLst/>
            <a:cxnLst/>
            <a:rect l="l" t="t" r="r" b="b"/>
            <a:pathLst>
              <a:path w="879653" h="863194">
                <a:moveTo>
                  <a:pt x="0" y="863194"/>
                </a:moveTo>
                <a:lnTo>
                  <a:pt x="0" y="549554"/>
                </a:lnTo>
                <a:lnTo>
                  <a:pt x="3658" y="477317"/>
                </a:lnTo>
                <a:lnTo>
                  <a:pt x="14630" y="406908"/>
                </a:lnTo>
                <a:lnTo>
                  <a:pt x="33833" y="339242"/>
                </a:lnTo>
                <a:lnTo>
                  <a:pt x="58522" y="274320"/>
                </a:lnTo>
                <a:lnTo>
                  <a:pt x="90526" y="214884"/>
                </a:lnTo>
                <a:lnTo>
                  <a:pt x="128930" y="160934"/>
                </a:lnTo>
                <a:lnTo>
                  <a:pt x="171907" y="113386"/>
                </a:lnTo>
                <a:lnTo>
                  <a:pt x="220370" y="73152"/>
                </a:lnTo>
                <a:lnTo>
                  <a:pt x="271577" y="42062"/>
                </a:lnTo>
                <a:lnTo>
                  <a:pt x="326441" y="18288"/>
                </a:lnTo>
                <a:lnTo>
                  <a:pt x="382219" y="4572"/>
                </a:lnTo>
                <a:lnTo>
                  <a:pt x="439826" y="0"/>
                </a:lnTo>
                <a:lnTo>
                  <a:pt x="497434" y="4572"/>
                </a:lnTo>
                <a:lnTo>
                  <a:pt x="553212" y="18288"/>
                </a:lnTo>
                <a:lnTo>
                  <a:pt x="608076" y="42062"/>
                </a:lnTo>
                <a:lnTo>
                  <a:pt x="660197" y="73152"/>
                </a:lnTo>
                <a:lnTo>
                  <a:pt x="707746" y="113386"/>
                </a:lnTo>
                <a:lnTo>
                  <a:pt x="750722" y="160934"/>
                </a:lnTo>
                <a:lnTo>
                  <a:pt x="789127" y="214884"/>
                </a:lnTo>
                <a:lnTo>
                  <a:pt x="821131" y="274320"/>
                </a:lnTo>
                <a:lnTo>
                  <a:pt x="845820" y="339242"/>
                </a:lnTo>
                <a:lnTo>
                  <a:pt x="865022" y="406908"/>
                </a:lnTo>
                <a:lnTo>
                  <a:pt x="875995" y="477317"/>
                </a:lnTo>
                <a:lnTo>
                  <a:pt x="879653" y="549554"/>
                </a:lnTo>
                <a:lnTo>
                  <a:pt x="879653" y="863194"/>
                </a:lnTo>
                <a:close/>
              </a:path>
            </a:pathLst>
          </a:custGeom>
          <a:solidFill>
            <a:srgbClr val="F2C4B0"/>
          </a:solidFill>
          <a:ln w="12700">
            <a:solidFill>
              <a:srgbClr val="F2C4B0"/>
            </a:solidFill>
            <a:prstDash val="solid"/>
          </a:ln>
        </p:spPr>
      </p:sp>
      <p:sp>
        <p:nvSpPr>
          <p:cNvPr id="31" name="Shape 29"/>
          <p:cNvSpPr/>
          <p:nvPr/>
        </p:nvSpPr>
        <p:spPr>
          <a:xfrm>
            <a:off x="7418527" y="2123237"/>
            <a:ext cx="641909" cy="693115"/>
          </a:xfrm>
          <a:custGeom>
            <a:avLst/>
            <a:gdLst/>
            <a:ahLst/>
            <a:cxnLst/>
            <a:rect l="l" t="t" r="r" b="b"/>
            <a:pathLst>
              <a:path w="641909" h="693115">
                <a:moveTo>
                  <a:pt x="0" y="693115"/>
                </a:moveTo>
                <a:lnTo>
                  <a:pt x="0" y="379476"/>
                </a:lnTo>
                <a:lnTo>
                  <a:pt x="2743" y="329184"/>
                </a:lnTo>
                <a:lnTo>
                  <a:pt x="10973" y="280721"/>
                </a:lnTo>
                <a:lnTo>
                  <a:pt x="24689" y="234086"/>
                </a:lnTo>
                <a:lnTo>
                  <a:pt x="42977" y="189281"/>
                </a:lnTo>
                <a:lnTo>
                  <a:pt x="66751" y="148133"/>
                </a:lnTo>
                <a:lnTo>
                  <a:pt x="94183" y="110642"/>
                </a:lnTo>
                <a:lnTo>
                  <a:pt x="125273" y="78638"/>
                </a:lnTo>
                <a:lnTo>
                  <a:pt x="160934" y="50292"/>
                </a:lnTo>
                <a:lnTo>
                  <a:pt x="198425" y="28346"/>
                </a:lnTo>
                <a:lnTo>
                  <a:pt x="237744" y="12802"/>
                </a:lnTo>
                <a:lnTo>
                  <a:pt x="278892" y="2743"/>
                </a:lnTo>
                <a:lnTo>
                  <a:pt x="320954" y="0"/>
                </a:lnTo>
                <a:lnTo>
                  <a:pt x="363017" y="2743"/>
                </a:lnTo>
                <a:lnTo>
                  <a:pt x="404165" y="12802"/>
                </a:lnTo>
                <a:lnTo>
                  <a:pt x="443484" y="28346"/>
                </a:lnTo>
                <a:lnTo>
                  <a:pt x="481889" y="50292"/>
                </a:lnTo>
                <a:lnTo>
                  <a:pt x="516636" y="78638"/>
                </a:lnTo>
                <a:lnTo>
                  <a:pt x="547726" y="110642"/>
                </a:lnTo>
                <a:lnTo>
                  <a:pt x="575158" y="148133"/>
                </a:lnTo>
                <a:lnTo>
                  <a:pt x="598932" y="189281"/>
                </a:lnTo>
                <a:lnTo>
                  <a:pt x="617220" y="234086"/>
                </a:lnTo>
                <a:lnTo>
                  <a:pt x="630936" y="280721"/>
                </a:lnTo>
                <a:lnTo>
                  <a:pt x="639166" y="329184"/>
                </a:lnTo>
                <a:lnTo>
                  <a:pt x="641909" y="379476"/>
                </a:lnTo>
                <a:lnTo>
                  <a:pt x="641909" y="693115"/>
                </a:lnTo>
                <a:close/>
              </a:path>
            </a:pathLst>
          </a:custGeom>
          <a:solidFill>
            <a:srgbClr val="404040"/>
          </a:solidFill>
          <a:ln w="31750">
            <a:solidFill>
              <a:srgbClr val="0072B2"/>
            </a:solidFill>
            <a:prstDash val="solid"/>
          </a:ln>
        </p:spPr>
      </p:sp>
      <p:sp>
        <p:nvSpPr>
          <p:cNvPr id="32" name="Shape 30"/>
          <p:cNvSpPr/>
          <p:nvPr/>
        </p:nvSpPr>
        <p:spPr>
          <a:xfrm>
            <a:off x="7648042" y="2114093"/>
            <a:ext cx="182880" cy="231343"/>
          </a:xfrm>
          <a:custGeom>
            <a:avLst/>
            <a:gdLst/>
            <a:ahLst/>
            <a:cxnLst/>
            <a:rect l="l" t="t" r="r" b="b"/>
            <a:pathLst>
              <a:path w="182880" h="231343">
                <a:moveTo>
                  <a:pt x="0" y="0"/>
                </a:moveTo>
                <a:lnTo>
                  <a:pt x="22860" y="162763"/>
                </a:lnTo>
                <a:lnTo>
                  <a:pt x="25603" y="180137"/>
                </a:lnTo>
                <a:lnTo>
                  <a:pt x="32004" y="197510"/>
                </a:lnTo>
                <a:lnTo>
                  <a:pt x="42977" y="211226"/>
                </a:lnTo>
                <a:lnTo>
                  <a:pt x="57607" y="222199"/>
                </a:lnTo>
                <a:lnTo>
                  <a:pt x="74066" y="228600"/>
                </a:lnTo>
                <a:lnTo>
                  <a:pt x="91440" y="231343"/>
                </a:lnTo>
                <a:lnTo>
                  <a:pt x="108814" y="228600"/>
                </a:lnTo>
                <a:lnTo>
                  <a:pt x="126187" y="222199"/>
                </a:lnTo>
                <a:lnTo>
                  <a:pt x="139903" y="211226"/>
                </a:lnTo>
                <a:lnTo>
                  <a:pt x="150876" y="197510"/>
                </a:lnTo>
                <a:lnTo>
                  <a:pt x="157277" y="180137"/>
                </a:lnTo>
                <a:lnTo>
                  <a:pt x="160020" y="162763"/>
                </a:lnTo>
                <a:lnTo>
                  <a:pt x="182880" y="0"/>
                </a:lnTo>
                <a:close/>
              </a:path>
            </a:pathLst>
          </a:custGeom>
          <a:solidFill>
            <a:srgbClr val="F2C4B0"/>
          </a:solidFill>
          <a:ln w="25400">
            <a:solidFill>
              <a:srgbClr val="0072B2"/>
            </a:solidFill>
            <a:prstDash val="solid"/>
          </a:ln>
        </p:spPr>
      </p:sp>
      <p:sp>
        <p:nvSpPr>
          <p:cNvPr id="33" name="Shape 31"/>
          <p:cNvSpPr/>
          <p:nvPr/>
        </p:nvSpPr>
        <p:spPr>
          <a:xfrm>
            <a:off x="6847942" y="2204618"/>
            <a:ext cx="1783080" cy="794614"/>
          </a:xfrm>
          <a:custGeom>
            <a:avLst/>
            <a:gdLst/>
            <a:ahLst/>
            <a:cxnLst/>
            <a:rect l="l" t="t" r="r" b="b"/>
            <a:pathLst>
              <a:path w="1783080" h="794614">
                <a:moveTo>
                  <a:pt x="11887" y="36576"/>
                </a:moveTo>
                <a:lnTo>
                  <a:pt x="85039" y="30175"/>
                </a:lnTo>
                <a:lnTo>
                  <a:pt x="158191" y="24689"/>
                </a:lnTo>
                <a:lnTo>
                  <a:pt x="231343" y="20117"/>
                </a:lnTo>
                <a:lnTo>
                  <a:pt x="304495" y="15545"/>
                </a:lnTo>
                <a:lnTo>
                  <a:pt x="378562" y="11887"/>
                </a:lnTo>
                <a:lnTo>
                  <a:pt x="451714" y="9144"/>
                </a:lnTo>
                <a:lnTo>
                  <a:pt x="524866" y="6401"/>
                </a:lnTo>
                <a:lnTo>
                  <a:pt x="598018" y="3658"/>
                </a:lnTo>
                <a:lnTo>
                  <a:pt x="671170" y="1829"/>
                </a:lnTo>
                <a:lnTo>
                  <a:pt x="745236" y="914"/>
                </a:lnTo>
                <a:lnTo>
                  <a:pt x="818388" y="0"/>
                </a:lnTo>
                <a:lnTo>
                  <a:pt x="891540" y="0"/>
                </a:lnTo>
                <a:lnTo>
                  <a:pt x="964692" y="0"/>
                </a:lnTo>
                <a:lnTo>
                  <a:pt x="1037844" y="914"/>
                </a:lnTo>
                <a:lnTo>
                  <a:pt x="1111910" y="1829"/>
                </a:lnTo>
                <a:lnTo>
                  <a:pt x="1185062" y="3658"/>
                </a:lnTo>
                <a:lnTo>
                  <a:pt x="1258214" y="6401"/>
                </a:lnTo>
                <a:lnTo>
                  <a:pt x="1331366" y="9144"/>
                </a:lnTo>
                <a:lnTo>
                  <a:pt x="1404518" y="11887"/>
                </a:lnTo>
                <a:lnTo>
                  <a:pt x="1478585" y="15545"/>
                </a:lnTo>
                <a:lnTo>
                  <a:pt x="1551737" y="20117"/>
                </a:lnTo>
                <a:lnTo>
                  <a:pt x="1624889" y="24689"/>
                </a:lnTo>
                <a:lnTo>
                  <a:pt x="1698041" y="30175"/>
                </a:lnTo>
                <a:lnTo>
                  <a:pt x="1771193" y="36576"/>
                </a:lnTo>
                <a:lnTo>
                  <a:pt x="1781251" y="98755"/>
                </a:lnTo>
                <a:lnTo>
                  <a:pt x="1783080" y="161849"/>
                </a:lnTo>
                <a:lnTo>
                  <a:pt x="1775765" y="224028"/>
                </a:lnTo>
                <a:lnTo>
                  <a:pt x="1761134" y="286207"/>
                </a:lnTo>
                <a:lnTo>
                  <a:pt x="1737360" y="346558"/>
                </a:lnTo>
                <a:lnTo>
                  <a:pt x="1707185" y="405079"/>
                </a:lnTo>
                <a:lnTo>
                  <a:pt x="1668780" y="461772"/>
                </a:lnTo>
                <a:lnTo>
                  <a:pt x="1623060" y="514807"/>
                </a:lnTo>
                <a:lnTo>
                  <a:pt x="1570939" y="564185"/>
                </a:lnTo>
                <a:lnTo>
                  <a:pt x="1511503" y="610819"/>
                </a:lnTo>
                <a:lnTo>
                  <a:pt x="1447495" y="651967"/>
                </a:lnTo>
                <a:lnTo>
                  <a:pt x="1378001" y="688543"/>
                </a:lnTo>
                <a:lnTo>
                  <a:pt x="1303934" y="720547"/>
                </a:lnTo>
                <a:lnTo>
                  <a:pt x="1226210" y="747065"/>
                </a:lnTo>
                <a:lnTo>
                  <a:pt x="1144829" y="767182"/>
                </a:lnTo>
                <a:lnTo>
                  <a:pt x="1061618" y="782726"/>
                </a:lnTo>
                <a:lnTo>
                  <a:pt x="977494" y="791870"/>
                </a:lnTo>
                <a:lnTo>
                  <a:pt x="891540" y="794614"/>
                </a:lnTo>
                <a:lnTo>
                  <a:pt x="805586" y="791870"/>
                </a:lnTo>
                <a:lnTo>
                  <a:pt x="721462" y="782726"/>
                </a:lnTo>
                <a:lnTo>
                  <a:pt x="638251" y="767182"/>
                </a:lnTo>
                <a:lnTo>
                  <a:pt x="556870" y="747065"/>
                </a:lnTo>
                <a:lnTo>
                  <a:pt x="479146" y="720547"/>
                </a:lnTo>
                <a:lnTo>
                  <a:pt x="405079" y="688543"/>
                </a:lnTo>
                <a:lnTo>
                  <a:pt x="335585" y="651967"/>
                </a:lnTo>
                <a:lnTo>
                  <a:pt x="271577" y="610819"/>
                </a:lnTo>
                <a:lnTo>
                  <a:pt x="212141" y="564185"/>
                </a:lnTo>
                <a:lnTo>
                  <a:pt x="160020" y="514807"/>
                </a:lnTo>
                <a:lnTo>
                  <a:pt x="114300" y="461772"/>
                </a:lnTo>
                <a:lnTo>
                  <a:pt x="75895" y="405079"/>
                </a:lnTo>
                <a:lnTo>
                  <a:pt x="45720" y="346558"/>
                </a:lnTo>
                <a:lnTo>
                  <a:pt x="21946" y="286207"/>
                </a:lnTo>
                <a:lnTo>
                  <a:pt x="7315" y="224028"/>
                </a:lnTo>
                <a:lnTo>
                  <a:pt x="0" y="161849"/>
                </a:lnTo>
                <a:lnTo>
                  <a:pt x="1829" y="98755"/>
                </a:lnTo>
                <a:close/>
              </a:path>
            </a:pathLst>
          </a:custGeom>
          <a:solidFill>
            <a:srgbClr val="E8A673"/>
          </a:solidFill>
          <a:ln w="25400">
            <a:solidFill>
              <a:srgbClr val="D55E00"/>
            </a:solidFill>
            <a:prstDash val="solid"/>
          </a:ln>
        </p:spPr>
      </p:sp>
      <p:sp>
        <p:nvSpPr>
          <p:cNvPr id="34" name="Shape 32"/>
          <p:cNvSpPr/>
          <p:nvPr/>
        </p:nvSpPr>
        <p:spPr>
          <a:xfrm>
            <a:off x="6847942"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7767"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noFill/>
          <a:ln w="31750">
            <a:solidFill>
              <a:srgbClr val="595959"/>
            </a:solidFill>
            <a:prstDash val="solid"/>
          </a:ln>
        </p:spPr>
      </p:sp>
      <p:sp>
        <p:nvSpPr>
          <p:cNvPr id="35" name="Shape 33"/>
          <p:cNvSpPr/>
          <p:nvPr/>
        </p:nvSpPr>
        <p:spPr>
          <a:xfrm>
            <a:off x="6497726" y="3218688"/>
            <a:ext cx="2483510" cy="2002536"/>
          </a:xfrm>
          <a:prstGeom prst="roundRect">
            <a:avLst>
              <a:gd name="adj" fmla="val 3653"/>
            </a:avLst>
          </a:prstGeom>
          <a:solidFill>
            <a:srgbClr val="F2F2F2"/>
          </a:solidFill>
          <a:ln/>
        </p:spPr>
      </p:sp>
      <p:sp>
        <p:nvSpPr>
          <p:cNvPr id="36" name="Text 34"/>
          <p:cNvSpPr txBox="1"/>
          <p:nvPr/>
        </p:nvSpPr>
        <p:spPr>
          <a:xfrm>
            <a:off x="6634886" y="3328416"/>
            <a:ext cx="2209190"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class III</a:t>
            </a:r>
            <a:endParaRPr lang="ja-JP" sz="2400" dirty="0"/>
          </a:p>
        </p:txBody>
      </p:sp>
      <p:sp>
        <p:nvSpPr>
          <p:cNvPr id="37" name="Text 35"/>
          <p:cNvSpPr txBox="1"/>
          <p:nvPr/>
        </p:nvSpPr>
        <p:spPr>
          <a:xfrm>
            <a:off x="6634886" y="3822192"/>
            <a:ext cx="2209190"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軟口蓋と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口蓋垂の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根元だけ</a:t>
            </a:r>
            <a:endParaRPr lang="ja-JP" sz="2200" dirty="0"/>
          </a:p>
        </p:txBody>
      </p:sp>
      <p:sp>
        <p:nvSpPr>
          <p:cNvPr id="38" name="Shape 36"/>
          <p:cNvSpPr/>
          <p:nvPr/>
        </p:nvSpPr>
        <p:spPr>
          <a:xfrm>
            <a:off x="9550908"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solidFill>
            <a:srgbClr val="FBE9DF"/>
          </a:solidFill>
          <a:ln w="12700">
            <a:solidFill>
              <a:srgbClr val="FBE9DF"/>
            </a:solidFill>
            <a:prstDash val="solid"/>
          </a:ln>
        </p:spPr>
      </p:sp>
      <p:sp>
        <p:nvSpPr>
          <p:cNvPr id="39" name="Shape 37"/>
          <p:cNvSpPr/>
          <p:nvPr/>
        </p:nvSpPr>
        <p:spPr>
          <a:xfrm>
            <a:off x="10002622" y="1953158"/>
            <a:ext cx="879653" cy="863194"/>
          </a:xfrm>
          <a:custGeom>
            <a:avLst/>
            <a:gdLst/>
            <a:ahLst/>
            <a:cxnLst/>
            <a:rect l="l" t="t" r="r" b="b"/>
            <a:pathLst>
              <a:path w="879653" h="863194">
                <a:moveTo>
                  <a:pt x="0" y="863194"/>
                </a:moveTo>
                <a:lnTo>
                  <a:pt x="0" y="549554"/>
                </a:lnTo>
                <a:lnTo>
                  <a:pt x="3658" y="477317"/>
                </a:lnTo>
                <a:lnTo>
                  <a:pt x="14630" y="406908"/>
                </a:lnTo>
                <a:lnTo>
                  <a:pt x="33833" y="339242"/>
                </a:lnTo>
                <a:lnTo>
                  <a:pt x="58522" y="274320"/>
                </a:lnTo>
                <a:lnTo>
                  <a:pt x="90526" y="214884"/>
                </a:lnTo>
                <a:lnTo>
                  <a:pt x="128930" y="160934"/>
                </a:lnTo>
                <a:lnTo>
                  <a:pt x="171907" y="113386"/>
                </a:lnTo>
                <a:lnTo>
                  <a:pt x="220370" y="73152"/>
                </a:lnTo>
                <a:lnTo>
                  <a:pt x="271577" y="42062"/>
                </a:lnTo>
                <a:lnTo>
                  <a:pt x="326441" y="18288"/>
                </a:lnTo>
                <a:lnTo>
                  <a:pt x="382219" y="4572"/>
                </a:lnTo>
                <a:lnTo>
                  <a:pt x="439826" y="0"/>
                </a:lnTo>
                <a:lnTo>
                  <a:pt x="497434" y="4572"/>
                </a:lnTo>
                <a:lnTo>
                  <a:pt x="553212" y="18288"/>
                </a:lnTo>
                <a:lnTo>
                  <a:pt x="608076" y="42062"/>
                </a:lnTo>
                <a:lnTo>
                  <a:pt x="659282" y="73152"/>
                </a:lnTo>
                <a:lnTo>
                  <a:pt x="707746" y="113386"/>
                </a:lnTo>
                <a:lnTo>
                  <a:pt x="750722" y="160934"/>
                </a:lnTo>
                <a:lnTo>
                  <a:pt x="789127" y="214884"/>
                </a:lnTo>
                <a:lnTo>
                  <a:pt x="821131" y="274320"/>
                </a:lnTo>
                <a:lnTo>
                  <a:pt x="845820" y="339242"/>
                </a:lnTo>
                <a:lnTo>
                  <a:pt x="865022" y="406908"/>
                </a:lnTo>
                <a:lnTo>
                  <a:pt x="875995" y="477317"/>
                </a:lnTo>
                <a:lnTo>
                  <a:pt x="879653" y="549554"/>
                </a:lnTo>
                <a:lnTo>
                  <a:pt x="879653" y="863194"/>
                </a:lnTo>
                <a:close/>
              </a:path>
            </a:pathLst>
          </a:custGeom>
          <a:solidFill>
            <a:srgbClr val="F2C4B0"/>
          </a:solidFill>
          <a:ln w="12700">
            <a:solidFill>
              <a:srgbClr val="F2C4B0"/>
            </a:solidFill>
            <a:prstDash val="solid"/>
          </a:ln>
        </p:spPr>
      </p:sp>
      <p:sp>
        <p:nvSpPr>
          <p:cNvPr id="40" name="Shape 38"/>
          <p:cNvSpPr/>
          <p:nvPr/>
        </p:nvSpPr>
        <p:spPr>
          <a:xfrm>
            <a:off x="10121494" y="2123237"/>
            <a:ext cx="641909" cy="693115"/>
          </a:xfrm>
          <a:custGeom>
            <a:avLst/>
            <a:gdLst/>
            <a:ahLst/>
            <a:cxnLst/>
            <a:rect l="l" t="t" r="r" b="b"/>
            <a:pathLst>
              <a:path w="641909" h="693115">
                <a:moveTo>
                  <a:pt x="0" y="693115"/>
                </a:moveTo>
                <a:lnTo>
                  <a:pt x="0" y="379476"/>
                </a:lnTo>
                <a:lnTo>
                  <a:pt x="2743" y="329184"/>
                </a:lnTo>
                <a:lnTo>
                  <a:pt x="10973" y="280721"/>
                </a:lnTo>
                <a:lnTo>
                  <a:pt x="24689" y="234086"/>
                </a:lnTo>
                <a:lnTo>
                  <a:pt x="42977" y="189281"/>
                </a:lnTo>
                <a:lnTo>
                  <a:pt x="66751" y="148133"/>
                </a:lnTo>
                <a:lnTo>
                  <a:pt x="94183" y="110642"/>
                </a:lnTo>
                <a:lnTo>
                  <a:pt x="125273" y="78638"/>
                </a:lnTo>
                <a:lnTo>
                  <a:pt x="160934" y="50292"/>
                </a:lnTo>
                <a:lnTo>
                  <a:pt x="198425" y="28346"/>
                </a:lnTo>
                <a:lnTo>
                  <a:pt x="237744" y="12802"/>
                </a:lnTo>
                <a:lnTo>
                  <a:pt x="278892" y="2743"/>
                </a:lnTo>
                <a:lnTo>
                  <a:pt x="320954" y="0"/>
                </a:lnTo>
                <a:lnTo>
                  <a:pt x="363017" y="2743"/>
                </a:lnTo>
                <a:lnTo>
                  <a:pt x="404165" y="12802"/>
                </a:lnTo>
                <a:lnTo>
                  <a:pt x="443484" y="28346"/>
                </a:lnTo>
                <a:lnTo>
                  <a:pt x="481889" y="50292"/>
                </a:lnTo>
                <a:lnTo>
                  <a:pt x="516636" y="78638"/>
                </a:lnTo>
                <a:lnTo>
                  <a:pt x="547726" y="110642"/>
                </a:lnTo>
                <a:lnTo>
                  <a:pt x="575158" y="148133"/>
                </a:lnTo>
                <a:lnTo>
                  <a:pt x="598932" y="189281"/>
                </a:lnTo>
                <a:lnTo>
                  <a:pt x="617220" y="234086"/>
                </a:lnTo>
                <a:lnTo>
                  <a:pt x="630936" y="280721"/>
                </a:lnTo>
                <a:lnTo>
                  <a:pt x="639166" y="329184"/>
                </a:lnTo>
                <a:lnTo>
                  <a:pt x="641909" y="379476"/>
                </a:lnTo>
                <a:lnTo>
                  <a:pt x="641909" y="693115"/>
                </a:lnTo>
                <a:close/>
              </a:path>
            </a:pathLst>
          </a:custGeom>
          <a:solidFill>
            <a:srgbClr val="404040"/>
          </a:solidFill>
          <a:ln w="31750">
            <a:solidFill>
              <a:srgbClr val="0072B2"/>
            </a:solidFill>
            <a:prstDash val="solid"/>
          </a:ln>
        </p:spPr>
      </p:sp>
      <p:sp>
        <p:nvSpPr>
          <p:cNvPr id="41" name="Shape 39"/>
          <p:cNvSpPr/>
          <p:nvPr/>
        </p:nvSpPr>
        <p:spPr>
          <a:xfrm>
            <a:off x="10351008" y="2114093"/>
            <a:ext cx="182880" cy="231343"/>
          </a:xfrm>
          <a:custGeom>
            <a:avLst/>
            <a:gdLst/>
            <a:ahLst/>
            <a:cxnLst/>
            <a:rect l="l" t="t" r="r" b="b"/>
            <a:pathLst>
              <a:path w="182880" h="231343">
                <a:moveTo>
                  <a:pt x="0" y="0"/>
                </a:moveTo>
                <a:lnTo>
                  <a:pt x="22860" y="162763"/>
                </a:lnTo>
                <a:lnTo>
                  <a:pt x="25603" y="180137"/>
                </a:lnTo>
                <a:lnTo>
                  <a:pt x="32004" y="197510"/>
                </a:lnTo>
                <a:lnTo>
                  <a:pt x="42977" y="211226"/>
                </a:lnTo>
                <a:lnTo>
                  <a:pt x="57607" y="222199"/>
                </a:lnTo>
                <a:lnTo>
                  <a:pt x="74066" y="228600"/>
                </a:lnTo>
                <a:lnTo>
                  <a:pt x="91440" y="231343"/>
                </a:lnTo>
                <a:lnTo>
                  <a:pt x="108814" y="228600"/>
                </a:lnTo>
                <a:lnTo>
                  <a:pt x="126187" y="222199"/>
                </a:lnTo>
                <a:lnTo>
                  <a:pt x="139903" y="211226"/>
                </a:lnTo>
                <a:lnTo>
                  <a:pt x="150876" y="197510"/>
                </a:lnTo>
                <a:lnTo>
                  <a:pt x="157277" y="180137"/>
                </a:lnTo>
                <a:lnTo>
                  <a:pt x="160020" y="162763"/>
                </a:lnTo>
                <a:lnTo>
                  <a:pt x="182880" y="0"/>
                </a:lnTo>
                <a:close/>
              </a:path>
            </a:pathLst>
          </a:custGeom>
          <a:solidFill>
            <a:srgbClr val="F2C4B0"/>
          </a:solidFill>
          <a:ln w="25400">
            <a:solidFill>
              <a:srgbClr val="0072B2"/>
            </a:solidFill>
            <a:prstDash val="solid"/>
          </a:ln>
        </p:spPr>
      </p:sp>
      <p:sp>
        <p:nvSpPr>
          <p:cNvPr id="42" name="Shape 40"/>
          <p:cNvSpPr/>
          <p:nvPr/>
        </p:nvSpPr>
        <p:spPr>
          <a:xfrm>
            <a:off x="9551822" y="1877263"/>
            <a:ext cx="1781251" cy="1121969"/>
          </a:xfrm>
          <a:custGeom>
            <a:avLst/>
            <a:gdLst/>
            <a:ahLst/>
            <a:cxnLst/>
            <a:rect l="l" t="t" r="r" b="b"/>
            <a:pathLst>
              <a:path w="1781251" h="1121969">
                <a:moveTo>
                  <a:pt x="221285" y="36576"/>
                </a:moveTo>
                <a:lnTo>
                  <a:pt x="277063" y="31090"/>
                </a:lnTo>
                <a:lnTo>
                  <a:pt x="332842" y="25603"/>
                </a:lnTo>
                <a:lnTo>
                  <a:pt x="388620" y="21031"/>
                </a:lnTo>
                <a:lnTo>
                  <a:pt x="444398" y="16459"/>
                </a:lnTo>
                <a:lnTo>
                  <a:pt x="500177" y="12802"/>
                </a:lnTo>
                <a:lnTo>
                  <a:pt x="555955" y="9144"/>
                </a:lnTo>
                <a:lnTo>
                  <a:pt x="611734" y="6401"/>
                </a:lnTo>
                <a:lnTo>
                  <a:pt x="667512" y="4572"/>
                </a:lnTo>
                <a:lnTo>
                  <a:pt x="723290" y="2743"/>
                </a:lnTo>
                <a:lnTo>
                  <a:pt x="779069" y="914"/>
                </a:lnTo>
                <a:lnTo>
                  <a:pt x="834847" y="0"/>
                </a:lnTo>
                <a:lnTo>
                  <a:pt x="890626" y="0"/>
                </a:lnTo>
                <a:lnTo>
                  <a:pt x="946404" y="0"/>
                </a:lnTo>
                <a:lnTo>
                  <a:pt x="1002182" y="914"/>
                </a:lnTo>
                <a:lnTo>
                  <a:pt x="1057961" y="2743"/>
                </a:lnTo>
                <a:lnTo>
                  <a:pt x="1113739" y="4572"/>
                </a:lnTo>
                <a:lnTo>
                  <a:pt x="1169518" y="6401"/>
                </a:lnTo>
                <a:lnTo>
                  <a:pt x="1225296" y="9144"/>
                </a:lnTo>
                <a:lnTo>
                  <a:pt x="1281074" y="12802"/>
                </a:lnTo>
                <a:lnTo>
                  <a:pt x="1336853" y="16459"/>
                </a:lnTo>
                <a:lnTo>
                  <a:pt x="1392631" y="21031"/>
                </a:lnTo>
                <a:lnTo>
                  <a:pt x="1448410" y="25603"/>
                </a:lnTo>
                <a:lnTo>
                  <a:pt x="1504188" y="31090"/>
                </a:lnTo>
                <a:lnTo>
                  <a:pt x="1559966" y="36576"/>
                </a:lnTo>
                <a:lnTo>
                  <a:pt x="1629461" y="102413"/>
                </a:lnTo>
                <a:lnTo>
                  <a:pt x="1687068" y="174650"/>
                </a:lnTo>
                <a:lnTo>
                  <a:pt x="1731874" y="250546"/>
                </a:lnTo>
                <a:lnTo>
                  <a:pt x="1762049" y="331013"/>
                </a:lnTo>
                <a:lnTo>
                  <a:pt x="1779422" y="413309"/>
                </a:lnTo>
                <a:lnTo>
                  <a:pt x="1781251" y="496519"/>
                </a:lnTo>
                <a:lnTo>
                  <a:pt x="1769364" y="578815"/>
                </a:lnTo>
                <a:lnTo>
                  <a:pt x="1742846" y="660197"/>
                </a:lnTo>
                <a:lnTo>
                  <a:pt x="1702613" y="737921"/>
                </a:lnTo>
                <a:lnTo>
                  <a:pt x="1649578" y="811073"/>
                </a:lnTo>
                <a:lnTo>
                  <a:pt x="1583741" y="878738"/>
                </a:lnTo>
                <a:lnTo>
                  <a:pt x="1506931" y="940003"/>
                </a:lnTo>
                <a:lnTo>
                  <a:pt x="1420978" y="993953"/>
                </a:lnTo>
                <a:lnTo>
                  <a:pt x="1324966" y="1038758"/>
                </a:lnTo>
                <a:lnTo>
                  <a:pt x="1222553" y="1074420"/>
                </a:lnTo>
                <a:lnTo>
                  <a:pt x="1115568" y="1100938"/>
                </a:lnTo>
                <a:lnTo>
                  <a:pt x="1004011" y="1116482"/>
                </a:lnTo>
                <a:lnTo>
                  <a:pt x="890626" y="1121969"/>
                </a:lnTo>
                <a:lnTo>
                  <a:pt x="777240" y="1116482"/>
                </a:lnTo>
                <a:lnTo>
                  <a:pt x="665683" y="1100938"/>
                </a:lnTo>
                <a:lnTo>
                  <a:pt x="558698" y="1074420"/>
                </a:lnTo>
                <a:lnTo>
                  <a:pt x="456286" y="1038758"/>
                </a:lnTo>
                <a:lnTo>
                  <a:pt x="360274" y="993953"/>
                </a:lnTo>
                <a:lnTo>
                  <a:pt x="274320" y="940003"/>
                </a:lnTo>
                <a:lnTo>
                  <a:pt x="197510" y="878738"/>
                </a:lnTo>
                <a:lnTo>
                  <a:pt x="131674" y="811073"/>
                </a:lnTo>
                <a:lnTo>
                  <a:pt x="78638" y="737921"/>
                </a:lnTo>
                <a:lnTo>
                  <a:pt x="38405" y="660197"/>
                </a:lnTo>
                <a:lnTo>
                  <a:pt x="11887" y="578815"/>
                </a:lnTo>
                <a:lnTo>
                  <a:pt x="0" y="496519"/>
                </a:lnTo>
                <a:lnTo>
                  <a:pt x="1829" y="413309"/>
                </a:lnTo>
                <a:lnTo>
                  <a:pt x="19202" y="331013"/>
                </a:lnTo>
                <a:lnTo>
                  <a:pt x="49378" y="250546"/>
                </a:lnTo>
                <a:lnTo>
                  <a:pt x="94183" y="174650"/>
                </a:lnTo>
                <a:lnTo>
                  <a:pt x="151790" y="102413"/>
                </a:lnTo>
                <a:close/>
              </a:path>
            </a:pathLst>
          </a:custGeom>
          <a:solidFill>
            <a:srgbClr val="E8A673"/>
          </a:solidFill>
          <a:ln w="25400">
            <a:solidFill>
              <a:srgbClr val="D55E00"/>
            </a:solidFill>
            <a:prstDash val="solid"/>
          </a:ln>
        </p:spPr>
      </p:sp>
      <p:sp>
        <p:nvSpPr>
          <p:cNvPr id="43" name="Shape 41"/>
          <p:cNvSpPr/>
          <p:nvPr/>
        </p:nvSpPr>
        <p:spPr>
          <a:xfrm>
            <a:off x="9550908" y="1691640"/>
            <a:ext cx="1783080" cy="1307592"/>
          </a:xfrm>
          <a:custGeom>
            <a:avLst/>
            <a:gdLst/>
            <a:ahLst/>
            <a:cxnLst/>
            <a:rect l="l" t="t" r="r" b="b"/>
            <a:pathLst>
              <a:path w="1783080" h="1307592">
                <a:moveTo>
                  <a:pt x="1783080" y="653796"/>
                </a:moveTo>
                <a:lnTo>
                  <a:pt x="1779422" y="710489"/>
                </a:lnTo>
                <a:lnTo>
                  <a:pt x="1769364" y="767182"/>
                </a:lnTo>
                <a:lnTo>
                  <a:pt x="1752905" y="822960"/>
                </a:lnTo>
                <a:lnTo>
                  <a:pt x="1729130" y="877824"/>
                </a:lnTo>
                <a:lnTo>
                  <a:pt x="1699870" y="929945"/>
                </a:lnTo>
                <a:lnTo>
                  <a:pt x="1663294" y="981151"/>
                </a:lnTo>
                <a:lnTo>
                  <a:pt x="1622146" y="1028700"/>
                </a:lnTo>
                <a:lnTo>
                  <a:pt x="1574597" y="1074420"/>
                </a:lnTo>
                <a:lnTo>
                  <a:pt x="1521562" y="1116482"/>
                </a:lnTo>
                <a:lnTo>
                  <a:pt x="1464869" y="1154887"/>
                </a:lnTo>
                <a:lnTo>
                  <a:pt x="1402690" y="1189634"/>
                </a:lnTo>
                <a:lnTo>
                  <a:pt x="1337767" y="1219810"/>
                </a:lnTo>
                <a:lnTo>
                  <a:pt x="1268273" y="1246327"/>
                </a:lnTo>
                <a:lnTo>
                  <a:pt x="1196035" y="1268273"/>
                </a:lnTo>
                <a:lnTo>
                  <a:pt x="1121969" y="1285646"/>
                </a:lnTo>
                <a:lnTo>
                  <a:pt x="1046074" y="1297534"/>
                </a:lnTo>
                <a:lnTo>
                  <a:pt x="969264" y="1304849"/>
                </a:lnTo>
                <a:lnTo>
                  <a:pt x="891540" y="1307592"/>
                </a:lnTo>
                <a:lnTo>
                  <a:pt x="813816" y="1304849"/>
                </a:lnTo>
                <a:lnTo>
                  <a:pt x="737006" y="1297534"/>
                </a:lnTo>
                <a:lnTo>
                  <a:pt x="661111" y="1285646"/>
                </a:lnTo>
                <a:lnTo>
                  <a:pt x="587045" y="1268273"/>
                </a:lnTo>
                <a:lnTo>
                  <a:pt x="514807" y="1246327"/>
                </a:lnTo>
                <a:lnTo>
                  <a:pt x="446227" y="1219810"/>
                </a:lnTo>
                <a:lnTo>
                  <a:pt x="380390" y="1189634"/>
                </a:lnTo>
                <a:lnTo>
                  <a:pt x="318211" y="1154887"/>
                </a:lnTo>
                <a:lnTo>
                  <a:pt x="261518" y="1116482"/>
                </a:lnTo>
                <a:lnTo>
                  <a:pt x="208483" y="1074420"/>
                </a:lnTo>
                <a:lnTo>
                  <a:pt x="160934" y="1028700"/>
                </a:lnTo>
                <a:lnTo>
                  <a:pt x="119786" y="981151"/>
                </a:lnTo>
                <a:lnTo>
                  <a:pt x="83210" y="929945"/>
                </a:lnTo>
                <a:lnTo>
                  <a:pt x="53950" y="877824"/>
                </a:lnTo>
                <a:lnTo>
                  <a:pt x="30175" y="822960"/>
                </a:lnTo>
                <a:lnTo>
                  <a:pt x="13716" y="767182"/>
                </a:lnTo>
                <a:lnTo>
                  <a:pt x="3658" y="710489"/>
                </a:lnTo>
                <a:lnTo>
                  <a:pt x="0" y="653796"/>
                </a:lnTo>
                <a:lnTo>
                  <a:pt x="3658" y="597103"/>
                </a:lnTo>
                <a:lnTo>
                  <a:pt x="13716" y="540410"/>
                </a:lnTo>
                <a:lnTo>
                  <a:pt x="30175" y="484632"/>
                </a:lnTo>
                <a:lnTo>
                  <a:pt x="53950" y="429768"/>
                </a:lnTo>
                <a:lnTo>
                  <a:pt x="83210" y="377647"/>
                </a:lnTo>
                <a:lnTo>
                  <a:pt x="119786" y="327355"/>
                </a:lnTo>
                <a:lnTo>
                  <a:pt x="160934" y="278892"/>
                </a:lnTo>
                <a:lnTo>
                  <a:pt x="208483" y="233172"/>
                </a:lnTo>
                <a:lnTo>
                  <a:pt x="261518" y="191110"/>
                </a:lnTo>
                <a:lnTo>
                  <a:pt x="318211" y="152705"/>
                </a:lnTo>
                <a:lnTo>
                  <a:pt x="380390" y="117958"/>
                </a:lnTo>
                <a:lnTo>
                  <a:pt x="446227" y="87782"/>
                </a:lnTo>
                <a:lnTo>
                  <a:pt x="514807" y="61265"/>
                </a:lnTo>
                <a:lnTo>
                  <a:pt x="587045" y="39319"/>
                </a:lnTo>
                <a:lnTo>
                  <a:pt x="661111" y="21946"/>
                </a:lnTo>
                <a:lnTo>
                  <a:pt x="737006" y="10058"/>
                </a:lnTo>
                <a:lnTo>
                  <a:pt x="813816" y="2743"/>
                </a:lnTo>
                <a:lnTo>
                  <a:pt x="891540" y="0"/>
                </a:lnTo>
                <a:lnTo>
                  <a:pt x="969264" y="2743"/>
                </a:lnTo>
                <a:lnTo>
                  <a:pt x="1046074" y="10058"/>
                </a:lnTo>
                <a:lnTo>
                  <a:pt x="1121969" y="21946"/>
                </a:lnTo>
                <a:lnTo>
                  <a:pt x="1196035" y="39319"/>
                </a:lnTo>
                <a:lnTo>
                  <a:pt x="1268273" y="61265"/>
                </a:lnTo>
                <a:lnTo>
                  <a:pt x="1336853" y="87782"/>
                </a:lnTo>
                <a:lnTo>
                  <a:pt x="1402690" y="117958"/>
                </a:lnTo>
                <a:lnTo>
                  <a:pt x="1464869" y="152705"/>
                </a:lnTo>
                <a:lnTo>
                  <a:pt x="1521562" y="191110"/>
                </a:lnTo>
                <a:lnTo>
                  <a:pt x="1574597" y="233172"/>
                </a:lnTo>
                <a:lnTo>
                  <a:pt x="1622146" y="278892"/>
                </a:lnTo>
                <a:lnTo>
                  <a:pt x="1663294" y="327355"/>
                </a:lnTo>
                <a:lnTo>
                  <a:pt x="1699870" y="377647"/>
                </a:lnTo>
                <a:lnTo>
                  <a:pt x="1729130" y="429768"/>
                </a:lnTo>
                <a:lnTo>
                  <a:pt x="1752905" y="484632"/>
                </a:lnTo>
                <a:lnTo>
                  <a:pt x="1769364" y="540410"/>
                </a:lnTo>
                <a:lnTo>
                  <a:pt x="1779422" y="597103"/>
                </a:lnTo>
                <a:close/>
              </a:path>
            </a:pathLst>
          </a:custGeom>
          <a:noFill/>
          <a:ln w="31750">
            <a:solidFill>
              <a:srgbClr val="595959"/>
            </a:solidFill>
            <a:prstDash val="solid"/>
          </a:ln>
        </p:spPr>
      </p:sp>
      <p:sp>
        <p:nvSpPr>
          <p:cNvPr id="44" name="Shape 42"/>
          <p:cNvSpPr/>
          <p:nvPr/>
        </p:nvSpPr>
        <p:spPr>
          <a:xfrm>
            <a:off x="9200693" y="3218688"/>
            <a:ext cx="2483510" cy="2002536"/>
          </a:xfrm>
          <a:prstGeom prst="roundRect">
            <a:avLst>
              <a:gd name="adj" fmla="val 3653"/>
            </a:avLst>
          </a:prstGeom>
          <a:solidFill>
            <a:srgbClr val="F2F2F2"/>
          </a:solidFill>
          <a:ln/>
        </p:spPr>
      </p:sp>
      <p:sp>
        <p:nvSpPr>
          <p:cNvPr id="45" name="Text 43"/>
          <p:cNvSpPr txBox="1"/>
          <p:nvPr/>
        </p:nvSpPr>
        <p:spPr>
          <a:xfrm>
            <a:off x="9337853" y="3328416"/>
            <a:ext cx="2209190"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class IV</a:t>
            </a:r>
            <a:endParaRPr lang="ja-JP" sz="2400" dirty="0"/>
          </a:p>
        </p:txBody>
      </p:sp>
      <p:sp>
        <p:nvSpPr>
          <p:cNvPr id="46" name="Text 44"/>
          <p:cNvSpPr txBox="1"/>
          <p:nvPr/>
        </p:nvSpPr>
        <p:spPr>
          <a:xfrm>
            <a:off x="9337853" y="3822192"/>
            <a:ext cx="2209190"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軟口蓋が</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見えない</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（硬口蓋のみ）</a:t>
            </a:r>
            <a:endParaRPr lang="ja-JP" sz="2200" dirty="0"/>
          </a:p>
        </p:txBody>
      </p:sp>
      <p:sp>
        <p:nvSpPr>
          <p:cNvPr id="47" name="Text 45"/>
          <p:cNvSpPr txBox="1"/>
          <p:nvPr/>
        </p:nvSpPr>
        <p:spPr>
          <a:xfrm>
            <a:off x="502920" y="5440680"/>
            <a:ext cx="11183112" cy="457200"/>
          </a:xfrm>
          <a:prstGeom prst="rect">
            <a:avLst/>
          </a:prstGeom>
          <a:noFill/>
          <a:ln/>
        </p:spPr>
        <p:txBody>
          <a:bodyPr wrap="square" lIns="0" tIns="0" rIns="0" bIns="0" rtlCol="0" anchor="t"/>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座位・最大開口・舌を出す・発声なし。</a:t>
            </a:r>
            <a:r>
              <a:rPr lang="ja-JP" altLang="en-US" sz="2400" b="1" dirty="0">
                <a:solidFill>
                  <a:srgbClr val="D55E00"/>
                </a:solidFill>
                <a:latin typeface="メイリオ" pitchFamily="34" charset="0"/>
                <a:ea typeface="メイリオ" pitchFamily="34" charset="-122"/>
                <a:cs typeface="メイリオ" pitchFamily="34" charset="-120"/>
              </a:rPr>
              <a:t>III・IV で困難を疑う</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マスク換気困難の予測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Langeron O, et al. Anesthesiology 2000;92:1229-1236 / Kheterpal S,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2006;105:885-891, 2009;110:891-897, 2013;119:1360-1369</a:t>
            </a:r>
            <a:endParaRPr lang="ja-JP" sz="1600" dirty="0"/>
          </a:p>
        </p:txBody>
      </p:sp>
      <p:sp>
        <p:nvSpPr>
          <p:cNvPr id="11" name="Shape 9"/>
          <p:cNvSpPr/>
          <p:nvPr/>
        </p:nvSpPr>
        <p:spPr>
          <a:xfrm>
            <a:off x="502920" y="1691640"/>
            <a:ext cx="6281014" cy="3319272"/>
          </a:xfrm>
          <a:prstGeom prst="roundRect">
            <a:avLst>
              <a:gd name="adj" fmla="val 2204"/>
            </a:avLst>
          </a:prstGeom>
          <a:solidFill>
            <a:srgbClr val="F2F2F2"/>
          </a:solidFill>
          <a:ln/>
        </p:spPr>
      </p:sp>
      <p:sp>
        <p:nvSpPr>
          <p:cNvPr id="12" name="Text 10"/>
          <p:cNvSpPr txBox="1"/>
          <p:nvPr/>
        </p:nvSpPr>
        <p:spPr>
          <a:xfrm>
            <a:off x="685800" y="1801368"/>
            <a:ext cx="591525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Langeron の 5 因子（OBESE）</a:t>
            </a:r>
            <a:endParaRPr lang="ja-JP" sz="2400" dirty="0"/>
          </a:p>
        </p:txBody>
      </p:sp>
      <p:sp>
        <p:nvSpPr>
          <p:cNvPr id="13" name="Text 11"/>
          <p:cNvSpPr txBox="1"/>
          <p:nvPr/>
        </p:nvSpPr>
        <p:spPr>
          <a:xfrm>
            <a:off x="685800"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4" name="Text 12"/>
          <p:cNvSpPr txBox="1"/>
          <p:nvPr/>
        </p:nvSpPr>
        <p:spPr>
          <a:xfrm>
            <a:off x="1014984" y="2331720"/>
            <a:ext cx="5586070" cy="841248"/>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O</a:t>
            </a:r>
            <a:r>
              <a:rPr lang="ja-JP" altLang="en-US" sz="2200" dirty="0">
                <a:solidFill>
                  <a:srgbClr val="262626"/>
                </a:solidFill>
                <a:latin typeface="メイリオ" pitchFamily="34" charset="0"/>
                <a:ea typeface="メイリオ" pitchFamily="34" charset="-122"/>
                <a:cs typeface="メイリオ" pitchFamily="34" charset="-120"/>
              </a:rPr>
              <a:t>bese：BMI 26 超</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（Kheterpal は 30 以上）</a:t>
            </a:r>
            <a:endParaRPr lang="ja-JP" sz="2200" dirty="0"/>
          </a:p>
        </p:txBody>
      </p:sp>
      <p:sp>
        <p:nvSpPr>
          <p:cNvPr id="15" name="Text 13"/>
          <p:cNvSpPr txBox="1"/>
          <p:nvPr/>
        </p:nvSpPr>
        <p:spPr>
          <a:xfrm>
            <a:off x="685800" y="318394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1014984" y="3183941"/>
            <a:ext cx="5586070"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B</a:t>
            </a:r>
            <a:r>
              <a:rPr lang="ja-JP" altLang="en-US" sz="2200" dirty="0">
                <a:solidFill>
                  <a:srgbClr val="262626"/>
                </a:solidFill>
                <a:latin typeface="メイリオ" pitchFamily="34" charset="0"/>
                <a:ea typeface="メイリオ" pitchFamily="34" charset="-122"/>
                <a:cs typeface="メイリオ" pitchFamily="34" charset="-120"/>
              </a:rPr>
              <a:t>earded：ひげ</a:t>
            </a:r>
            <a:endParaRPr lang="ja-JP" sz="2200" dirty="0"/>
          </a:p>
        </p:txBody>
      </p:sp>
      <p:sp>
        <p:nvSpPr>
          <p:cNvPr id="17" name="Text 15"/>
          <p:cNvSpPr txBox="1"/>
          <p:nvPr/>
        </p:nvSpPr>
        <p:spPr>
          <a:xfrm>
            <a:off x="685800" y="361553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1014984" y="3615538"/>
            <a:ext cx="5586070"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E</a:t>
            </a:r>
            <a:r>
              <a:rPr lang="ja-JP" altLang="en-US" sz="2200" dirty="0">
                <a:solidFill>
                  <a:srgbClr val="262626"/>
                </a:solidFill>
                <a:latin typeface="メイリオ" pitchFamily="34" charset="0"/>
                <a:ea typeface="メイリオ" pitchFamily="34" charset="-122"/>
                <a:cs typeface="メイリオ" pitchFamily="34" charset="-120"/>
              </a:rPr>
              <a:t>lderly：55 歳超（同 57 歳以上）</a:t>
            </a:r>
            <a:endParaRPr lang="ja-JP" sz="2200" dirty="0"/>
          </a:p>
        </p:txBody>
      </p:sp>
      <p:sp>
        <p:nvSpPr>
          <p:cNvPr id="19" name="Text 17"/>
          <p:cNvSpPr txBox="1"/>
          <p:nvPr/>
        </p:nvSpPr>
        <p:spPr>
          <a:xfrm>
            <a:off x="685800" y="4047134"/>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1014984" y="4047134"/>
            <a:ext cx="5586070"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S</a:t>
            </a:r>
            <a:r>
              <a:rPr lang="ja-JP" altLang="en-US" sz="2200" dirty="0">
                <a:solidFill>
                  <a:srgbClr val="262626"/>
                </a:solidFill>
                <a:latin typeface="メイリオ" pitchFamily="34" charset="0"/>
                <a:ea typeface="メイリオ" pitchFamily="34" charset="-122"/>
                <a:cs typeface="メイリオ" pitchFamily="34" charset="-120"/>
              </a:rPr>
              <a:t>norer：いびき</a:t>
            </a:r>
            <a:endParaRPr lang="ja-JP" sz="2200" dirty="0"/>
          </a:p>
        </p:txBody>
      </p:sp>
      <p:sp>
        <p:nvSpPr>
          <p:cNvPr id="21" name="Text 19"/>
          <p:cNvSpPr txBox="1"/>
          <p:nvPr/>
        </p:nvSpPr>
        <p:spPr>
          <a:xfrm>
            <a:off x="685800" y="447873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2" name="Text 20"/>
          <p:cNvSpPr txBox="1"/>
          <p:nvPr/>
        </p:nvSpPr>
        <p:spPr>
          <a:xfrm>
            <a:off x="1014984" y="4478731"/>
            <a:ext cx="5586070"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E</a:t>
            </a:r>
            <a:r>
              <a:rPr lang="ja-JP" altLang="en-US" sz="2200" dirty="0">
                <a:solidFill>
                  <a:srgbClr val="262626"/>
                </a:solidFill>
                <a:latin typeface="メイリオ" pitchFamily="34" charset="0"/>
                <a:ea typeface="メイリオ" pitchFamily="34" charset="-122"/>
                <a:cs typeface="メイリオ" pitchFamily="34" charset="-120"/>
              </a:rPr>
              <a:t>dentulous：歯がない</a:t>
            </a:r>
            <a:endParaRPr lang="ja-JP" sz="2200" dirty="0"/>
          </a:p>
        </p:txBody>
      </p:sp>
      <p:sp>
        <p:nvSpPr>
          <p:cNvPr id="23" name="Shape 21"/>
          <p:cNvSpPr/>
          <p:nvPr/>
        </p:nvSpPr>
        <p:spPr>
          <a:xfrm>
            <a:off x="7003390" y="1691640"/>
            <a:ext cx="4681728" cy="3319272"/>
          </a:xfrm>
          <a:prstGeom prst="roundRect">
            <a:avLst>
              <a:gd name="adj" fmla="val 2204"/>
            </a:avLst>
          </a:prstGeom>
          <a:solidFill>
            <a:srgbClr val="F2F2F2"/>
          </a:solidFill>
          <a:ln/>
        </p:spPr>
      </p:sp>
      <p:sp>
        <p:nvSpPr>
          <p:cNvPr id="24" name="Text 22"/>
          <p:cNvSpPr txBox="1"/>
          <p:nvPr/>
        </p:nvSpPr>
        <p:spPr>
          <a:xfrm>
            <a:off x="7186270" y="1801368"/>
            <a:ext cx="4315968"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『換気不能』の予測因子</a:t>
            </a:r>
            <a:endParaRPr lang="ja-JP" sz="2400" dirty="0"/>
          </a:p>
        </p:txBody>
      </p:sp>
      <p:sp>
        <p:nvSpPr>
          <p:cNvPr id="25" name="Text 23"/>
          <p:cNvSpPr txBox="1"/>
          <p:nvPr/>
        </p:nvSpPr>
        <p:spPr>
          <a:xfrm>
            <a:off x="7186270"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7515454" y="2331720"/>
            <a:ext cx="39867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頸部への放射線治療</a:t>
            </a:r>
            <a:endParaRPr lang="ja-JP" sz="2200" dirty="0"/>
          </a:p>
        </p:txBody>
      </p:sp>
      <p:sp>
        <p:nvSpPr>
          <p:cNvPr id="27" name="Text 25"/>
          <p:cNvSpPr txBox="1"/>
          <p:nvPr/>
        </p:nvSpPr>
        <p:spPr>
          <a:xfrm>
            <a:off x="7186270" y="2868473"/>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7515454" y="2868473"/>
            <a:ext cx="39867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男性</a:t>
            </a:r>
            <a:endParaRPr lang="ja-JP" sz="2200" dirty="0"/>
          </a:p>
        </p:txBody>
      </p:sp>
      <p:sp>
        <p:nvSpPr>
          <p:cNvPr id="29" name="Text 27"/>
          <p:cNvSpPr txBox="1"/>
          <p:nvPr/>
        </p:nvSpPr>
        <p:spPr>
          <a:xfrm>
            <a:off x="7186270" y="3405226"/>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0" name="Text 28"/>
          <p:cNvSpPr txBox="1"/>
          <p:nvPr/>
        </p:nvSpPr>
        <p:spPr>
          <a:xfrm>
            <a:off x="7515454" y="3405226"/>
            <a:ext cx="39867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閉塞性睡眠時無呼吸</a:t>
            </a:r>
            <a:endParaRPr lang="ja-JP" sz="2200" dirty="0"/>
          </a:p>
        </p:txBody>
      </p:sp>
      <p:sp>
        <p:nvSpPr>
          <p:cNvPr id="31" name="Text 29"/>
          <p:cNvSpPr txBox="1"/>
          <p:nvPr/>
        </p:nvSpPr>
        <p:spPr>
          <a:xfrm>
            <a:off x="7186270" y="394197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7515454" y="3941978"/>
            <a:ext cx="39867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Mallampati III・IV</a:t>
            </a:r>
            <a:endParaRPr lang="ja-JP" sz="2200" dirty="0"/>
          </a:p>
        </p:txBody>
      </p:sp>
      <p:sp>
        <p:nvSpPr>
          <p:cNvPr id="33" name="Text 31"/>
          <p:cNvSpPr txBox="1"/>
          <p:nvPr/>
        </p:nvSpPr>
        <p:spPr>
          <a:xfrm>
            <a:off x="7186270" y="447873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7515454" y="4478731"/>
            <a:ext cx="39867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ひげ</a:t>
            </a:r>
            <a:endParaRPr lang="ja-JP" sz="2200" dirty="0"/>
          </a:p>
        </p:txBody>
      </p:sp>
      <p:sp>
        <p:nvSpPr>
          <p:cNvPr id="35" name="Text 33"/>
          <p:cNvSpPr/>
          <p:nvPr/>
        </p:nvSpPr>
        <p:spPr>
          <a:xfrm>
            <a:off x="1051560" y="5230368"/>
            <a:ext cx="10085832" cy="667512"/>
          </a:xfrm>
          <a:prstGeom prst="roundRect">
            <a:avLst>
              <a:gd name="adj" fmla="val 13699"/>
            </a:avLst>
          </a:prstGeom>
          <a:solidFill>
            <a:srgbClr val="FFFFFF"/>
          </a:solidFill>
          <a:ln w="44450">
            <a:solidFill>
              <a:srgbClr val="C00000"/>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挿管困難とマスク換気困難が重なる患者が、</a:t>
            </a:r>
            <a:r>
              <a:rPr lang="ja-JP" altLang="en-US" sz="2600" b="1" dirty="0">
                <a:solidFill>
                  <a:srgbClr val="C00000"/>
                </a:solidFill>
                <a:latin typeface="メイリオ" pitchFamily="34" charset="0"/>
                <a:ea typeface="メイリオ" pitchFamily="34" charset="-122"/>
                <a:cs typeface="メイリオ" pitchFamily="34" charset="-120"/>
              </a:rPr>
              <a:t>最も危ない</a:t>
            </a:r>
            <a:endParaRPr lang="ja-JP"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予測の限界を知る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Roth D, et al. Cochrane Database Syst Rev 2018;5:CD008874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Nørskov AK, et al. Anaesthesia 2015;70:272-281 / Detsky ME, et al. JAMA 2019;321:493-503</a:t>
            </a:r>
            <a:endParaRPr lang="ja-JP" sz="1600" dirty="0"/>
          </a:p>
        </p:txBody>
      </p:sp>
      <p:sp>
        <p:nvSpPr>
          <p:cNvPr id="11" name="Text 9"/>
          <p:cNvSpPr txBox="1"/>
          <p:nvPr/>
        </p:nvSpPr>
        <p:spPr>
          <a:xfrm>
            <a:off x="502920" y="1920240"/>
            <a:ext cx="41148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2" name="Text 10"/>
          <p:cNvSpPr txBox="1"/>
          <p:nvPr/>
        </p:nvSpPr>
        <p:spPr>
          <a:xfrm>
            <a:off x="914400" y="1920240"/>
            <a:ext cx="1074420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挿管困難は定義により約 2〜10%。</a:t>
            </a:r>
            <a:r>
              <a:rPr lang="ja-JP" altLang="en-US" sz="2400" b="1" dirty="0">
                <a:solidFill>
                  <a:srgbClr val="D55E00"/>
                </a:solidFill>
                <a:latin typeface="メイリオ" pitchFamily="34" charset="0"/>
                <a:ea typeface="メイリオ" pitchFamily="34" charset="-122"/>
                <a:cs typeface="メイリオ" pitchFamily="34" charset="-120"/>
              </a:rPr>
              <a:t>9 割以上は予測されずに起きる</a:t>
            </a:r>
            <a:endParaRPr lang="ja-JP" sz="2400" dirty="0"/>
          </a:p>
        </p:txBody>
      </p:sp>
      <p:sp>
        <p:nvSpPr>
          <p:cNvPr id="13" name="Text 11"/>
          <p:cNvSpPr txBox="1"/>
          <p:nvPr/>
        </p:nvSpPr>
        <p:spPr>
          <a:xfrm>
            <a:off x="502920" y="2743200"/>
            <a:ext cx="41148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4" name="Text 12"/>
          <p:cNvSpPr txBox="1"/>
          <p:nvPr/>
        </p:nvSpPr>
        <p:spPr>
          <a:xfrm>
            <a:off x="914400" y="2743200"/>
            <a:ext cx="1074420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所見 1 つの</a:t>
            </a:r>
            <a:r>
              <a:rPr lang="ja-JP" altLang="en-US" sz="2400" b="1" dirty="0">
                <a:solidFill>
                  <a:srgbClr val="0072B2"/>
                </a:solidFill>
                <a:latin typeface="メイリオ" pitchFamily="34" charset="0"/>
                <a:ea typeface="メイリオ" pitchFamily="34" charset="-122"/>
                <a:cs typeface="メイリオ" pitchFamily="34" charset="-120"/>
              </a:rPr>
              <a:t>感度は低い</a:t>
            </a:r>
            <a:r>
              <a:rPr lang="ja-JP" altLang="en-US" sz="2400" dirty="0">
                <a:solidFill>
                  <a:srgbClr val="262626"/>
                </a:solidFill>
                <a:latin typeface="メイリオ" pitchFamily="34" charset="0"/>
                <a:ea typeface="メイリオ" pitchFamily="34" charset="-122"/>
                <a:cs typeface="メイリオ" pitchFamily="34" charset="-120"/>
              </a:rPr>
              <a:t>（Mallampati 約 5 割、TMD 約 2 割）</a:t>
            </a:r>
            <a:endParaRPr lang="ja-JP" sz="2400" dirty="0"/>
          </a:p>
        </p:txBody>
      </p:sp>
      <p:sp>
        <p:nvSpPr>
          <p:cNvPr id="15" name="Text 13"/>
          <p:cNvSpPr txBox="1"/>
          <p:nvPr/>
        </p:nvSpPr>
        <p:spPr>
          <a:xfrm>
            <a:off x="502920" y="3566160"/>
            <a:ext cx="41148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6" name="Text 14"/>
          <p:cNvSpPr txBox="1"/>
          <p:nvPr/>
        </p:nvSpPr>
        <p:spPr>
          <a:xfrm>
            <a:off x="914400" y="3566160"/>
            <a:ext cx="1074420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特異度は高く</a:t>
            </a:r>
            <a:r>
              <a:rPr lang="ja-JP" altLang="en-US" sz="2400" dirty="0">
                <a:solidFill>
                  <a:srgbClr val="262626"/>
                </a:solidFill>
                <a:latin typeface="メイリオ" pitchFamily="34" charset="0"/>
                <a:ea typeface="メイリオ" pitchFamily="34" charset="-122"/>
                <a:cs typeface="メイリオ" pitchFamily="34" charset="-120"/>
              </a:rPr>
              <a:t>、『異常あり』なら困難の確率が上がる</a:t>
            </a:r>
            <a:endParaRPr lang="ja-JP" sz="2400" dirty="0"/>
          </a:p>
        </p:txBody>
      </p:sp>
      <p:sp>
        <p:nvSpPr>
          <p:cNvPr id="17" name="Text 15"/>
          <p:cNvSpPr txBox="1"/>
          <p:nvPr/>
        </p:nvSpPr>
        <p:spPr>
          <a:xfrm>
            <a:off x="502920" y="4389120"/>
            <a:ext cx="41148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8" name="Text 16"/>
          <p:cNvSpPr txBox="1"/>
          <p:nvPr/>
        </p:nvSpPr>
        <p:spPr>
          <a:xfrm>
            <a:off x="914400" y="4389120"/>
            <a:ext cx="10744200"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異常なし＝安全、ではない</a:t>
            </a:r>
            <a:r>
              <a:rPr lang="ja-JP" altLang="en-US" sz="2400" dirty="0">
                <a:solidFill>
                  <a:srgbClr val="262626"/>
                </a:solidFill>
                <a:latin typeface="メイリオ" pitchFamily="34" charset="0"/>
                <a:ea typeface="メイリオ" pitchFamily="34" charset="-122"/>
                <a:cs typeface="メイリオ" pitchFamily="34" charset="-120"/>
              </a:rPr>
              <a:t>。全例で次の手を用意</a:t>
            </a:r>
            <a:endParaRPr lang="ja-JP" sz="2400" dirty="0"/>
          </a:p>
        </p:txBody>
      </p:sp>
      <p:sp>
        <p:nvSpPr>
          <p:cNvPr id="19" name="Text 17"/>
          <p:cNvSpPr txBox="1"/>
          <p:nvPr/>
        </p:nvSpPr>
        <p:spPr>
          <a:xfrm>
            <a:off x="502920" y="5212080"/>
            <a:ext cx="41148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914400" y="5212080"/>
            <a:ext cx="1074420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評価の価値は『見つけたときに備えられる』こと</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評価を計画につなぐ</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Ahmad I, et al. Br J Anaesth 2026;136:283-307（DAS 2025） / Frerk C, et al. Br J Anaesth</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2015;115:827-848（DAS 2015） / Apfelbaum JL, et al. Anesthesiology 2022;136:31-81</a:t>
            </a:r>
            <a:endParaRPr lang="ja-JP" sz="1600" dirty="0"/>
          </a:p>
        </p:txBody>
      </p:sp>
      <p:sp>
        <p:nvSpPr>
          <p:cNvPr id="11" name="Shape 9"/>
          <p:cNvSpPr/>
          <p:nvPr/>
        </p:nvSpPr>
        <p:spPr>
          <a:xfrm>
            <a:off x="502920" y="1691640"/>
            <a:ext cx="6420002" cy="3319272"/>
          </a:xfrm>
          <a:prstGeom prst="roundRect">
            <a:avLst>
              <a:gd name="adj" fmla="val 2204"/>
            </a:avLst>
          </a:prstGeom>
          <a:solidFill>
            <a:srgbClr val="F2F2F2"/>
          </a:solidFill>
          <a:ln/>
        </p:spPr>
      </p:sp>
      <p:sp>
        <p:nvSpPr>
          <p:cNvPr id="12" name="Text 10"/>
          <p:cNvSpPr txBox="1"/>
          <p:nvPr/>
        </p:nvSpPr>
        <p:spPr>
          <a:xfrm>
            <a:off x="685800" y="1801368"/>
            <a:ext cx="6054242"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困難が予想されるとき</a:t>
            </a:r>
            <a:endParaRPr lang="ja-JP" sz="2400" dirty="0"/>
          </a:p>
        </p:txBody>
      </p:sp>
      <p:sp>
        <p:nvSpPr>
          <p:cNvPr id="13" name="Text 11"/>
          <p:cNvSpPr txBox="1"/>
          <p:nvPr/>
        </p:nvSpPr>
        <p:spPr>
          <a:xfrm>
            <a:off x="685800"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4" name="Text 12"/>
          <p:cNvSpPr txBox="1"/>
          <p:nvPr/>
        </p:nvSpPr>
        <p:spPr>
          <a:xfrm>
            <a:off x="1014984" y="2331720"/>
            <a:ext cx="572505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上級医に相談、応援を頼む（遠隔でも）</a:t>
            </a:r>
            <a:endParaRPr lang="ja-JP" sz="2200" dirty="0"/>
          </a:p>
        </p:txBody>
      </p:sp>
      <p:sp>
        <p:nvSpPr>
          <p:cNvPr id="15" name="Text 13"/>
          <p:cNvSpPr txBox="1"/>
          <p:nvPr/>
        </p:nvSpPr>
        <p:spPr>
          <a:xfrm>
            <a:off x="685800" y="2868473"/>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1014984" y="2868473"/>
            <a:ext cx="572505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ビデオ喉頭鏡を最初から</a:t>
            </a:r>
            <a:endParaRPr lang="ja-JP" sz="2200" dirty="0"/>
          </a:p>
        </p:txBody>
      </p:sp>
      <p:sp>
        <p:nvSpPr>
          <p:cNvPr id="17" name="Text 15"/>
          <p:cNvSpPr txBox="1"/>
          <p:nvPr/>
        </p:nvSpPr>
        <p:spPr>
          <a:xfrm>
            <a:off x="685800" y="3405226"/>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1014984" y="3405226"/>
            <a:ext cx="572505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声門上器具、ブジーを開けて置く</a:t>
            </a:r>
            <a:endParaRPr lang="ja-JP" sz="2200" dirty="0"/>
          </a:p>
        </p:txBody>
      </p:sp>
      <p:sp>
        <p:nvSpPr>
          <p:cNvPr id="19" name="Text 17"/>
          <p:cNvSpPr txBox="1"/>
          <p:nvPr/>
        </p:nvSpPr>
        <p:spPr>
          <a:xfrm>
            <a:off x="685800" y="394197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1014984" y="3941978"/>
            <a:ext cx="572505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覚醒下挿管（気管支鏡）を考える</a:t>
            </a:r>
            <a:endParaRPr lang="ja-JP" sz="2200" dirty="0"/>
          </a:p>
        </p:txBody>
      </p:sp>
      <p:sp>
        <p:nvSpPr>
          <p:cNvPr id="21" name="Text 19"/>
          <p:cNvSpPr txBox="1"/>
          <p:nvPr/>
        </p:nvSpPr>
        <p:spPr>
          <a:xfrm>
            <a:off x="685800" y="4478731"/>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2" name="Text 20"/>
          <p:cNvSpPr txBox="1"/>
          <p:nvPr/>
        </p:nvSpPr>
        <p:spPr>
          <a:xfrm>
            <a:off x="1014984" y="4478731"/>
            <a:ext cx="572505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輪状甲状靱帯を触って印をつける</a:t>
            </a:r>
            <a:endParaRPr lang="ja-JP" sz="2200" dirty="0"/>
          </a:p>
        </p:txBody>
      </p:sp>
      <p:sp>
        <p:nvSpPr>
          <p:cNvPr id="23" name="Shape 21"/>
          <p:cNvSpPr/>
          <p:nvPr/>
        </p:nvSpPr>
        <p:spPr>
          <a:xfrm>
            <a:off x="7142378" y="1691640"/>
            <a:ext cx="4542739" cy="3319272"/>
          </a:xfrm>
          <a:prstGeom prst="roundRect">
            <a:avLst>
              <a:gd name="adj" fmla="val 2204"/>
            </a:avLst>
          </a:prstGeom>
          <a:solidFill>
            <a:srgbClr val="F2F2F2"/>
          </a:solidFill>
          <a:ln/>
        </p:spPr>
      </p:sp>
      <p:sp>
        <p:nvSpPr>
          <p:cNvPr id="24" name="Text 22"/>
          <p:cNvSpPr txBox="1"/>
          <p:nvPr/>
        </p:nvSpPr>
        <p:spPr>
          <a:xfrm>
            <a:off x="7325258" y="1801368"/>
            <a:ext cx="417697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患者と記録</a:t>
            </a:r>
            <a:endParaRPr lang="ja-JP" sz="2400" dirty="0"/>
          </a:p>
        </p:txBody>
      </p:sp>
      <p:sp>
        <p:nvSpPr>
          <p:cNvPr id="25" name="Text 23"/>
          <p:cNvSpPr txBox="1"/>
          <p:nvPr/>
        </p:nvSpPr>
        <p:spPr>
          <a:xfrm>
            <a:off x="7325258" y="233172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7654442" y="2331720"/>
            <a:ext cx="384779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患者に説明：</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歯の損傷、覚醒下の処置</a:t>
            </a:r>
            <a:endParaRPr lang="ja-JP" sz="2200" dirty="0"/>
          </a:p>
        </p:txBody>
      </p:sp>
      <p:sp>
        <p:nvSpPr>
          <p:cNvPr id="27" name="Text 25"/>
          <p:cNvSpPr txBox="1"/>
          <p:nvPr/>
        </p:nvSpPr>
        <p:spPr>
          <a:xfrm>
            <a:off x="7325258" y="318759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7654442" y="3187598"/>
            <a:ext cx="3847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前酸素化を十分に</a:t>
            </a:r>
            <a:endParaRPr lang="ja-JP" sz="2200" dirty="0"/>
          </a:p>
        </p:txBody>
      </p:sp>
      <p:sp>
        <p:nvSpPr>
          <p:cNvPr id="29" name="Text 27"/>
          <p:cNvSpPr txBox="1"/>
          <p:nvPr/>
        </p:nvSpPr>
        <p:spPr>
          <a:xfrm>
            <a:off x="7325258" y="3622853"/>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0" name="Text 28"/>
          <p:cNvSpPr txBox="1"/>
          <p:nvPr/>
        </p:nvSpPr>
        <p:spPr>
          <a:xfrm>
            <a:off x="7654442" y="3622853"/>
            <a:ext cx="3847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所見と計画を記録</a:t>
            </a:r>
            <a:endParaRPr lang="ja-JP" sz="2200" dirty="0"/>
          </a:p>
        </p:txBody>
      </p:sp>
      <p:sp>
        <p:nvSpPr>
          <p:cNvPr id="31" name="Text 29"/>
          <p:cNvSpPr txBox="1"/>
          <p:nvPr/>
        </p:nvSpPr>
        <p:spPr>
          <a:xfrm>
            <a:off x="7325258" y="4058107"/>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7654442" y="4058107"/>
            <a:ext cx="384779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困難だったら：</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カード・アラート・紹介状</a:t>
            </a:r>
            <a:endParaRPr lang="ja-JP" sz="2200" dirty="0"/>
          </a:p>
        </p:txBody>
      </p:sp>
      <p:sp>
        <p:nvSpPr>
          <p:cNvPr id="33" name="Text 31"/>
          <p:cNvSpPr/>
          <p:nvPr/>
        </p:nvSpPr>
        <p:spPr>
          <a:xfrm>
            <a:off x="1051560" y="5230368"/>
            <a:ext cx="10085832" cy="667512"/>
          </a:xfrm>
          <a:prstGeom prst="roundRect">
            <a:avLst>
              <a:gd name="adj" fmla="val 13699"/>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一人で対応できないと判断したら、</a:t>
            </a:r>
            <a:r>
              <a:rPr lang="ja-JP" altLang="en-US" sz="2600" b="1" dirty="0">
                <a:solidFill>
                  <a:srgbClr val="D55E00"/>
                </a:solidFill>
                <a:latin typeface="メイリオ" pitchFamily="34" charset="0"/>
                <a:ea typeface="メイリオ" pitchFamily="34" charset="-122"/>
                <a:cs typeface="メイリオ" pitchFamily="34" charset="-120"/>
              </a:rPr>
              <a:t>転院・延期も選択肢</a:t>
            </a:r>
            <a:endParaRPr lang="ja-JP"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目的と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問診</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診察</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マスク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換気</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計画</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Ahmad I, et al. Br J Anaesth 2026;136:283-307（DAS 2025）/Apfelbaum JL,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2022;136:31-81/Roth D, et al. Cochrane Database Syst Rev 2018;5:CD008874</a:t>
            </a:r>
            <a:endParaRPr lang="ja-JP" sz="1600" dirty="0"/>
          </a:p>
        </p:txBody>
      </p:sp>
      <p:sp>
        <p:nvSpPr>
          <p:cNvPr id="11" name="Text 9"/>
          <p:cNvSpPr txBox="1"/>
          <p:nvPr/>
        </p:nvSpPr>
        <p:spPr>
          <a:xfrm>
            <a:off x="502920" y="1879092"/>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2" name="Text 10"/>
          <p:cNvSpPr txBox="1"/>
          <p:nvPr/>
        </p:nvSpPr>
        <p:spPr>
          <a:xfrm>
            <a:off x="914400" y="1879092"/>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気道評価は</a:t>
            </a:r>
            <a:r>
              <a:rPr lang="ja-JP" altLang="en-US" sz="2600" b="1" dirty="0">
                <a:solidFill>
                  <a:srgbClr val="D55E00"/>
                </a:solidFill>
                <a:latin typeface="メイリオ" pitchFamily="34" charset="0"/>
                <a:ea typeface="メイリオ" pitchFamily="34" charset="-122"/>
                <a:cs typeface="メイリオ" pitchFamily="34" charset="-120"/>
              </a:rPr>
              <a:t>『備える』</a:t>
            </a:r>
            <a:r>
              <a:rPr lang="ja-JP" altLang="en-US" sz="2600" dirty="0">
                <a:solidFill>
                  <a:srgbClr val="262626"/>
                </a:solidFill>
                <a:latin typeface="メイリオ" pitchFamily="34" charset="0"/>
                <a:ea typeface="メイリオ" pitchFamily="34" charset="-122"/>
                <a:cs typeface="メイリオ" pitchFamily="34" charset="-120"/>
              </a:rPr>
              <a:t>ため。全例で同じ手順で</a:t>
            </a:r>
            <a:endParaRPr lang="ja-JP" sz="2600" dirty="0"/>
          </a:p>
        </p:txBody>
      </p:sp>
      <p:sp>
        <p:nvSpPr>
          <p:cNvPr id="13" name="Text 11"/>
          <p:cNvSpPr txBox="1"/>
          <p:nvPr/>
        </p:nvSpPr>
        <p:spPr>
          <a:xfrm>
            <a:off x="502920" y="2711196"/>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4" name="Text 12"/>
          <p:cNvSpPr txBox="1"/>
          <p:nvPr/>
        </p:nvSpPr>
        <p:spPr>
          <a:xfrm>
            <a:off x="914400" y="2711196"/>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前回の記録は強い予測因子。問診でいびき・歯・頸部</a:t>
            </a:r>
            <a:endParaRPr lang="ja-JP" sz="2600" dirty="0"/>
          </a:p>
        </p:txBody>
      </p:sp>
      <p:sp>
        <p:nvSpPr>
          <p:cNvPr id="15" name="Text 13"/>
          <p:cNvSpPr txBox="1"/>
          <p:nvPr/>
        </p:nvSpPr>
        <p:spPr>
          <a:xfrm>
            <a:off x="502920" y="3543300"/>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6" name="Text 14"/>
          <p:cNvSpPr txBox="1"/>
          <p:nvPr/>
        </p:nvSpPr>
        <p:spPr>
          <a:xfrm>
            <a:off x="914400" y="3543300"/>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開口、Mallampati III・IV、TMD 6 cm、上唇咬合、頸部</a:t>
            </a:r>
            <a:endParaRPr lang="ja-JP" sz="2600" dirty="0"/>
          </a:p>
        </p:txBody>
      </p:sp>
      <p:sp>
        <p:nvSpPr>
          <p:cNvPr id="17" name="Text 15"/>
          <p:cNvSpPr txBox="1"/>
          <p:nvPr/>
        </p:nvSpPr>
        <p:spPr>
          <a:xfrm>
            <a:off x="502920" y="4375404"/>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8" name="Text 16"/>
          <p:cNvSpPr txBox="1"/>
          <p:nvPr/>
        </p:nvSpPr>
        <p:spPr>
          <a:xfrm>
            <a:off x="914400" y="4375404"/>
            <a:ext cx="1074420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マスク換気困難：OBESE、放射線、OSA。</a:t>
            </a:r>
            <a:r>
              <a:rPr lang="ja-JP" altLang="en-US" sz="2600" b="1" dirty="0">
                <a:solidFill>
                  <a:srgbClr val="C00000"/>
                </a:solidFill>
                <a:latin typeface="メイリオ" pitchFamily="34" charset="0"/>
                <a:ea typeface="メイリオ" pitchFamily="34" charset="-122"/>
                <a:cs typeface="メイリオ" pitchFamily="34" charset="-120"/>
              </a:rPr>
              <a:t>重なると危険</a:t>
            </a:r>
            <a:endParaRPr lang="ja-JP" sz="2600" dirty="0"/>
          </a:p>
        </p:txBody>
      </p:sp>
      <p:sp>
        <p:nvSpPr>
          <p:cNvPr id="19" name="Text 17"/>
          <p:cNvSpPr txBox="1"/>
          <p:nvPr/>
        </p:nvSpPr>
        <p:spPr>
          <a:xfrm>
            <a:off x="502920" y="5207508"/>
            <a:ext cx="411480" cy="50292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20" name="Text 18"/>
          <p:cNvSpPr txBox="1"/>
          <p:nvPr/>
        </p:nvSpPr>
        <p:spPr>
          <a:xfrm>
            <a:off x="914400" y="5207508"/>
            <a:ext cx="10744200" cy="502920"/>
          </a:xfrm>
          <a:prstGeom prst="rect">
            <a:avLst/>
          </a:prstGeom>
          <a:noFill/>
          <a:ln/>
        </p:spPr>
        <p:txBody>
          <a:bodyPr wrap="square" lIns="0" tIns="0" rIns="0" bIns="0" rtlCol="0" anchor="t"/>
          <a:lstStyle/>
          <a:p>
            <a:pPr algn="l" indent="0" marL="0">
              <a:buNone/>
            </a:pPr>
            <a:r>
              <a:rPr lang="ja-JP" altLang="en-US" sz="2600" b="1" dirty="0">
                <a:solidFill>
                  <a:srgbClr val="C00000"/>
                </a:solidFill>
                <a:latin typeface="メイリオ" pitchFamily="34" charset="0"/>
                <a:ea typeface="メイリオ" pitchFamily="34" charset="-122"/>
                <a:cs typeface="メイリオ" pitchFamily="34" charset="-120"/>
              </a:rPr>
              <a:t>異常なし≠安全</a:t>
            </a:r>
            <a:r>
              <a:rPr lang="ja-JP" altLang="en-US" sz="2600" dirty="0">
                <a:solidFill>
                  <a:srgbClr val="262626"/>
                </a:solidFill>
                <a:latin typeface="メイリオ" pitchFamily="34" charset="0"/>
                <a:ea typeface="メイリオ" pitchFamily="34" charset="-122"/>
                <a:cs typeface="メイリオ" pitchFamily="34" charset="-120"/>
              </a:rPr>
              <a:t>。見つけたら道具・人・覚醒下・転院</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 術前診察での気道評価</dc:title>
  <dc:subject/>
  <dc:creator>Anes-lecture</dc:creator>
  <cp:lastModifiedBy>Anes-lecture</cp:lastModifiedBy>
  <cp:revision>1</cp:revision>
  <dcterms:created xsi:type="dcterms:W3CDTF">2026-10-15T17:11:53Z</dcterms:created>
  <dcterms:modified xsi:type="dcterms:W3CDTF">2026-10-15T17:11:53Z</dcterms:modified>
</cp:coreProperties>
</file>