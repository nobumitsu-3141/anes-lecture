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気道評価の目的は、困難気道を「当てる」ことではなく、困難が起こりうると知って「準備する時間」を得ることである。この講義では、問診で聞くこと、診察で見る所見（開口、Mallampati 分類、甲状オトガイ間距離、頸部の動き、歯）、マスク換気困難の予測因子、予測の限界、そして評価を計画につなぐところまでを扱う。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目的: 気道評価の感度は高くないので（→ S7）、「困難はない」と言い切ることはできない。それでも評価する意味は、困難の可能性を事前に知れば、ビデオ喉頭鏡、声門上器具、応援、覚醒下挿管といった準備の時間が得られることにある。</a:t>
            </a:r>
          </a:p>
          <a:p>
            <a:r>
              <a:rPr lang="ja-JP" altLang="en-US" dirty="0"/>
              <a:t>ガイドライン: 英国 DAS（Difficult Airway Society：英国困難気道学会）の 2015 年ガイドラインは、全例で術前に気道を評価し、マスク換気、声門上器具、気管挿管、前頸部からの気道確保（FONA: front of neck access）のそれぞれが難しくなる因子を探し、予測は完全ではないので導入前に一連の計画（Plan A〜D）を決めてチームで共有するよう求めている（原文で確認）。2025 年版（Ahmad 2026）は 65 の推奨の中に気道評価と計画、超音波（POCUS）、肥満、生理学的困難気道を含み、ビデオ喉頭鏡を第一選択とする（抄録と付随論説による）【要確認: DAS 2025 本文（Br J Anaesth 2026;136:283-307）の気道評価と計画に関する推奨の文言】。米国麻酔科学会（ASA）2022 年困難気道ガイドラインは、気道管理の前に、患者・内科・外科・環境・麻酔の因子（誤嚥リスクなど）を探すために、診療記録の確認（既往、併存症、検査、患者・家族への問診）と身体診察でリスクを評価し、所見は単独ではなく組み合わせて判断し、必要ならベッドサイドの内視鏡、仮想喉頭鏡・気管支鏡（CT 画像からの再構成）、3D プリントで追加評価するとしている（要約・二次資料による）【要確認: Apfelbaum JL, et al. Anesthesiology 2022;136:31-81 本文の気道評価（Evaluation of the airway）の推奨文言。PMC に全文はないので学会誌サイトで確認する】。日本麻酔科学会の気道管理ガイドライン（JSA-AMA 2014）は、麻酔を受けるすべての患者で術前に気道を評価するよう求め、導入中の酸素化の維持を最も重視している。術前評価では、マスク換気困難と喉頭展開困難の「合併」を予測するため、Kheterpal 2013 のモデルを修正した 12 項目の危険因子を使う（S6 の 12 項目と対応。二次資料による）【要確認: J Anesth 2014;28:482-493（日本語訳は日本麻酔科学会サイトの PDF）の原文の、術前評価の表の題と 12 項目】。</a:t>
            </a:r>
          </a:p>
          <a:p>
            <a:r>
              <a:rPr lang="ja-JP" altLang="en-US" dirty="0"/>
              <a:t>予測できない困難: 評価で異常がなくても困難気道は起こる。だから全例で「うまくいかなかったときの次の手」（7 章）を頭に置いて導入する。</a:t>
            </a:r>
          </a:p>
          <a:p>
            <a:r>
              <a:rPr lang="ja-JP" altLang="en-US" dirty="0"/>
              <a:t>過去の記録: 過去の麻酔記録にある「挿管困難」「挿管失敗」は、その後の困難挿管の強い予測因子である（Lundstrøm 2009。El-Ganzouri 1996 の多変量解析でも 7 つの独立因子の一つ）。ただし、記録された既往で拾えるのは、その後の困難挿管の約 3 割にとどまる（デンマーク 15,499 例）。既往がないことは安全を意味しない。前回から体重や病状が変わっていれば、それも考慮する。</a:t>
            </a:r>
          </a:p>
          <a:p>
            <a:r>
              <a:rPr lang="ja-JP" altLang="en-US" dirty="0"/>
              <a:t>参考: Frerk C, et al. Br J Anaesth 2015;115:827-848（DAS 2015） / Ahmad I, et al. Br J Anaesth 2026;136:283-307（DAS 2025） / Apfelbaum JL, et al. Anesthesiology 2022;136:31-81（ASA 2022） / Lundstrøm LH, et al. Anaesthesia 2009;64:1081-1088</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記録: 前回の麻酔記録には、喉頭展開の見え方（Cormack-Lehane 分類）、使った道具（ビデオ喉頭鏡、ブジー）、マスク換気の難易度が書かれていることが多い。困難気道と判断された患者には、カードや電子カルテのアラートで知らせる仕組みがある（当院の運用を確認する）。頭頸部の手術や放射線治療の既往は、組織が硬くなり、マスク換気も挿管も難しくなる（→ S6）。気道の腫瘍、気管狭窄、声帯麻痺、喉頭の手術歴は、通常の喉頭鏡で見えても管が通らないことがある。</a:t>
            </a:r>
          </a:p>
          <a:p>
            <a:r>
              <a:rPr lang="ja-JP" altLang="en-US" dirty="0"/>
              <a:t>Cormack-Lehane 分類: grade 1 は声門の大部分が見える、2 は声門の後ろ側（披裂部）だけが見える、3 は喉頭蓋は見えるが声帯は見えない、4 は喉頭蓋も見えない。grade 3・4 を喉頭展開困難とすることが多い（Kheterpal 2013 の定義も grade 3・4）【要確認: Cormack RS, Lehane J. Anaesthesia 1984;39:1105-1111 の原典で grade 1・2・4 の定義。抄録で確認できたのは grade 3 だけ】。</a:t>
            </a:r>
          </a:p>
          <a:p>
            <a:r>
              <a:rPr lang="ja-JP" altLang="en-US" dirty="0"/>
              <a:t>OSA: いびき、観察された無呼吸、日中の眠気は閉塞性睡眠時無呼吸（OSA: obstructive sleep apnea）の手がかりで、マスク換気困難と挿管困難の両方に関わる（STOP-Bang → 4-9）。メタ解析では、OSA の患者は困難挿管（13.5% 対 2.5%、オッズ比 3.46）、マスク換気困難（4.4% 対 1.1%、オッズ比 3.39）、両者の合併（1.1% 対 0.3%、オッズ比 4.12）がいずれも 3〜4 倍多かったが、声門上器具の失敗は有意には増えなかった（Nagappa 2018）。声門上器具は救援手段として準備する意味がある。</a:t>
            </a:r>
          </a:p>
          <a:p>
            <a:r>
              <a:rPr lang="ja-JP" altLang="en-US" dirty="0"/>
              <a:t>頸椎・顎: 関節リウマチ（環軸関節亜脱臼、顎関節の障害）、強直性脊椎炎、頸椎の手術や固定は、頸部の伸展や開口を制限する。長期罹患の 1 型糖尿病では、stiff joint syndrome が環椎後頭関節に及び、喉頭展開が難しくなることがある（腎移植患者の後ろ向き研究で、喉頭展開困難は非糖尿病 2.7% に対し糖尿病 32%：Hogan 1988。一般の 2 型糖尿病に当てはまるかは不明）。</a:t>
            </a:r>
          </a:p>
          <a:p>
            <a:r>
              <a:rPr lang="ja-JP" altLang="en-US" dirty="0"/>
              <a:t>歯: 周術期の歯の損傷は約 4,500 麻酔に 1 件で、半数は喉頭展開・挿管中に起き、上顎の切歯が最も多い。もともと歯の状態が悪いこと（オッズ比 50）と喉頭展開の困難（オッズ比 11）が危険因子（Warner 1999、Mayo 598,904 例）。動揺歯は喉頭展開で欠けたり抜けたりして、気道に落ちることがある。義歯は喉頭展開の前に外すのが原則だが、総義歯を早く外すとマスク換気が難しくなる。無歯顎の患者の RCT では、導入時に義歯を入れたままのほうがマスク換気の成功が多かった（73% 対 49%：Conlon 2007 → S6）。差し歯・インプラントは患者に損傷の可能性を説明する（→ 4-5）。</a:t>
            </a:r>
          </a:p>
          <a:p>
            <a:r>
              <a:rPr lang="ja-JP" altLang="en-US" dirty="0"/>
              <a:t>患者の言葉: 「前の麻酔で喉を傷めた」「歯が欠けた」「管が入りにくいと言われた」という訴えは、記録がなくても手がかりになる。</a:t>
            </a:r>
          </a:p>
          <a:p>
            <a:r>
              <a:rPr lang="ja-JP" altLang="en-US" dirty="0"/>
              <a:t>参考: Warner ME, et al. Anesthesiology 1999;90:1302-1305 / Lundstrøm LH, et al. Anaesthesia 2009;64:1081-1088 / Hogan K, et al. Anesth Analg 1988;67:1162-1165 / Cormack RS, Lehane J. Anaesthesia 1984;39:1105-1111 / Conlon NP, et al. Anesth Analg 2007;105:370-373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開口: 最大に口を開けたときの上下の切歯の間の距離。閾値は資料で違う。ASA の 2003・2013 年ガイドラインの表「術前気道身体診察の構成要素」は、切歯間距離 3 cm 未満を不安な所見としている（甲状オトガイ間距離は「普通の指 3 本未満」）【要確認: ASA 2013（Anesthesiology 2013;118:251-270）の原文の表と、ASA 2022 本文に同じ表が残っているか】。El-Ganzouri のリスク指数は 4 cm 未満に 1 点（4 cm 以上で 0 点。配点は二次資料による）【要確認: 原典 Anesth Analg 1996;82:1197-1204 の表】。「3-3-2 ルール」では 3 横指。国内では「3 横指」と教えることが多いが、3 横指はおよそ 4〜5 cm で、表の「3 cm 未満」とは別の閾値である。横指は人で幅が違うので、できれば cm で記録する。</a:t>
            </a:r>
          </a:p>
          <a:p>
            <a:r>
              <a:rPr lang="ja-JP" altLang="en-US" dirty="0"/>
              <a:t>Mallampati: S5 で扱う。座位で、頭を中立位にし、最大開口で舌を出し、「あー」と言わせない（発声で見え方が良くなる）。</a:t>
            </a:r>
          </a:p>
          <a:p>
            <a:r>
              <a:rPr lang="ja-JP" altLang="en-US" dirty="0"/>
              <a:t>甲状オトガイ間距離（TMD: thyromental distance）: 頸部を最大に伸展し、甲状切痕からオトガイの先端まで。6 cm 未満（El-Ganzouri では 6〜6.5 cm に 1 点、6 cm 未満に 2 点。配点は二次資料による）は、喉頭の位置が高く、喉頭展開で声門が見えにくい目安。Kheterpal 2006 では 6 cm 未満が換気不能の独立した予測因子でもあった。胸骨オトガイ間距離（SMD: sternomental distance。頭部最大伸展・閉口で胸骨切痕からオトガイまで）は 12.5 cm 以下で困難を疑う（Savva 1994：感度 82%、特異度 89% だが単施設 350 例）。</a:t>
            </a:r>
          </a:p>
          <a:p>
            <a:r>
              <a:rPr lang="ja-JP" altLang="en-US" dirty="0"/>
              <a:t>上唇咬合テスト（ULBT: upper lip bite test、Khan 2003）: 下の切歯で上唇を噛ませる。class I は赤唇縁より上まで噛める、II は赤唇縁より下しか噛めない、III は上唇を噛めない。class III は下顎の前方移動（下顎前突）が小さいことを示し、単独の所見では最も成績がよく、陽性なら困難挿管の確率が平均的な患者の 10% から 60% 超に上がる（Detsky 2019：陽性尤度比 14）。無歯顎では評価できない。</a:t>
            </a:r>
          </a:p>
          <a:p>
            <a:r>
              <a:rPr lang="ja-JP" altLang="en-US" dirty="0"/>
              <a:t>頸部の動き: 顎を胸につけてから、天井を見るように伸展させる。伸展が小さい、痛みで止まる、頸椎カラー・固定具がある場合は、頭を後ろに倒して喉頭を見る通常の喉頭展開が難しい。</a:t>
            </a:r>
          </a:p>
          <a:p>
            <a:r>
              <a:rPr lang="ja-JP" altLang="en-US" dirty="0"/>
              <a:t>首・顎・歯: 病的肥満（BMI 40 超）100 例では、BMI そのものは挿管困難と関係せず、首の周囲が太いことと Mallampati 3 以上だけが予測因子だった（Brodsky 2002）。肥満では首の周囲を測る。小さい下顎（後退、下顎角からオトガイまで 9 cm 未満）、前歯の突出、長い上の切歯、ひげ（マスクの密着を妨げる）。</a:t>
            </a:r>
          </a:p>
          <a:p>
            <a:r>
              <a:rPr lang="ja-JP" altLang="en-US" dirty="0"/>
              <a:t>記録: 「開口 4.5 cm（3 横指）、MP II（座位・発声なし）、TMD 6.5 cm、上唇咬合 class I、頸部可動良好、動揺歯なし」のように、見た項目と所見を cm で書く。</a:t>
            </a:r>
          </a:p>
          <a:p>
            <a:r>
              <a:rPr lang="ja-JP" altLang="en-US" dirty="0"/>
              <a:t>参考: Shiga T, et al. Anesthesiology 2005;103:429-437（日本の著者によるメタ解析） / Khan ZH, et al. Anesth Analg 2003;96:595-599（上唇咬合テスト） / Detsky ME, et al. JAMA 2019;321:493-503 / Savva D. Br J Anaesth 1994;73:149-153 / el-Ganzouri AR, et al. Anesth Analg 1996;82:1197-1204 / Brodsky JB, et al. Anesth Analg 2002;94:732-736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分類: Mallampati（1985）が、舌根の大きさが喉頭展開の難しさを決めるという考えで 3 段階を提唱し（210 例）、Samsoon と Young（1987）が 4 段階にした修正版が使われる。class I: 軟口蓋、口峡、口蓋垂、口蓋弓（扁桃柱）が見える。class II: 軟口蓋、口峡、口蓋垂は見えるが口蓋弓は隠れる。class III: 軟口蓋と口蓋垂の根元だけ。class IV: 軟口蓋が見えない（硬口蓋のみ）。この定義は、Samsoon を引用する複数の論文の記載と一致する。二次資料での表現の揺れは、主に原法（Mallampati 1985 の 3 段階）の class 2 との混同による【要確認: Samsoon GL, Young JR. Anaesthesia 1987;42:487-490 の原典の図と本文（抄録には定義がない）】。</a:t>
            </a:r>
          </a:p>
          <a:p>
            <a:r>
              <a:rPr lang="ja-JP" altLang="en-US" dirty="0"/>
              <a:t>やり方: 座位、頭は中立位、最大に開口して舌を前に出させ、発声させない。発声すると軟口蓋が上がって見え方が良くなり、分類が軽くなる。仰臥位でも評価できるが、座位より分類が重くなる傾向がある。どの体位で評価したかを記録する。検者の目の高さを患者の口に合わせる。</a:t>
            </a:r>
          </a:p>
          <a:p>
            <a:r>
              <a:rPr lang="ja-JP" altLang="en-US" dirty="0"/>
              <a:t>意味: 舌の大きさと口腔の広さの比を見ている。class III・IV は喉頭展開で声門が見えにくいことと相関するが、困難挿管に対する感度は約 0.5（Roth 2018）で、単独では当てにならない（→ S7）。単独では、マスク換気困難の拾い上げにはほとんど役立たない（感度 0.17、特異度 0.90：Roth 2018）。ただし class III・IV は、マスク換気困難（Kheterpal 2006）と換気不能（Kheterpal 2009）の独立した予測因子の一つなので、S6 のほかの因子と合わせて見る。甲状オトガイ間距離と組み合わせると陽性尤度比が約 10 に上がる（Shiga 2005）。</a:t>
            </a:r>
          </a:p>
          <a:p>
            <a:r>
              <a:rPr lang="ja-JP" altLang="en-US" dirty="0"/>
              <a:t>妊婦: 分娩中に気道は悪化する。61 例で、分娩後に Mallampati が 1 段階上がった例が 33%、2 段階上がった例が 5% あった（Kodali 2008）。緊急帝王切開を全身麻酔で行うときは、妊婦健診や入院時の評価を使い回さず、導入の直前に評価し直す。</a:t>
            </a:r>
          </a:p>
          <a:p>
            <a:r>
              <a:rPr lang="ja-JP" altLang="en-US" dirty="0"/>
              <a:t>参考: Mallampati SR, et al. Can Anaesth Soc J 1985;32:429-434 / Samsoon GL, Young JR. Anaesthesia 1987;42:487-490 / Roth D, et al. Cochrane Database Syst Rev 2018;5:CD008874 / Kodali BS, et al. Anesthesiology 2008;108:357-362</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頻度: マスク換気困難（不十分・不安定・2 人を要する）は Kheterpal 2006（22,660 例）で 1.4%、換気不能は 0.16%、Langeron 2000（1,502 例。介助なしで SpO2 92% 超を保てない）では 5% で、事前に予測されていたのは 17% だけだった。Kheterpal 2009（53,041 例）では換気不能が 0.15%。</a:t>
            </a:r>
          </a:p>
          <a:p>
            <a:r>
              <a:rPr lang="ja-JP" altLang="en-US" dirty="0"/>
              <a:t>OBESE: Langeron（2000）が挙げた 5 因子（55 歳超、BMI 26 超、ひげ、歯がない、いびきの既往）。OBESE はこれを覚えるための語呂合わせで、論文の用語ではない。2 つ以上で感度 0.72、特異度 0.73。Kheterpal 2006 の独立因子は BMI 30 以上、ひげ、Mallampati III・IV、57 歳以上、下顎前突の高度な制限、いびきで、換気不能にはいびきと甲状オトガイ間距離 6 cm 未満が関係した。年齢と BMI の閾値は研究で違う（55 歳超・26 超は Langeron、57 歳以上・30 以上は Kheterpal）。ひげは修正できる唯一の因子。</a:t>
            </a:r>
          </a:p>
          <a:p>
            <a:r>
              <a:rPr lang="ja-JP" altLang="en-US" dirty="0"/>
              <a:t>換気不能: Kheterpal（2009）では、頸部への放射線治療後の変化（最も強い）、男性、閉塞性睡眠時無呼吸、Mallampati III・IV、ひげ、が独立した予測因子だった。放射線治療後は組織が硬く、マスクの密着も顎の挙上も効かず、輪状甲状靱帯切開も難しい。頭頸部がんの放射線治療歴は必ず聞く。</a:t>
            </a:r>
          </a:p>
          <a:p>
            <a:r>
              <a:rPr lang="ja-JP" altLang="en-US" dirty="0"/>
              <a:t>重なり: マスク換気困難と喉頭展開困難の両方がある患者は 0.40%（Kheterpal 2013、176,679 例）で、独立した予測因子は 12 項目（46 歳以上、BMI 30 以上、男性、Mallampati III・IV、頸部腫瘤または放射線、甲状オトガイ間距離の短縮、睡眠時無呼吸、歯があること、ひげ、太い首、頸椎可動域の制限、下顎前突の制限）。この研究では「歯があること」が因子で、Langeron の「歯がない」とは逆向きになる（アウトカムが違う）。日本麻酔科学会の JSA-AMA 2014 は、この 12 項目を修正したモデルで術前に評価するよう勧めている（→ S2。二次資料による）。どちらかが難しそうなら、もう一方も難しい前提で準備する（換気不能の 25% は挿管も困難だった：Kheterpal 2009）。挿管困難が予想され、さらに換気困難・誤嚥リスクの上昇・短い無呼吸にも耐えられない・緊急の侵襲的気道確保（外科的・経皮的）が難しい、のいずれかがあるときは、覚醒下の気道確保（7 章、S8）を考える（ASA 2022。二次資料による）。</a:t>
            </a:r>
          </a:p>
          <a:p>
            <a:r>
              <a:rPr lang="ja-JP" altLang="en-US" dirty="0"/>
              <a:t>対策: ひげは剃ってもらう（患者の同意のもと）か、マスクの密着を工夫する。総義歯は換気のあいだ入れたままにすると、マスク換気の成功が多い（無歯顎 166 例の RCT で 73% 対 49%：Conlon 2007）。病棟で入室前に義歯を外す運用だと、この利点を失う。喉頭展開の前には外す（外すタイミングは施設の方針と指導医の指示に従う）。声門上器具を第一の救援手段として準備するが、声門上器具も失敗しうる（換気困難 0.5%、留置失敗 0.2%。男性、45 歳超、甲状オトガイ間距離の短縮、頸部可動域の制限が因子：Saito 2015）。「LMA があるから大丈夫」とは考えない。</a:t>
            </a:r>
          </a:p>
          <a:p>
            <a:r>
              <a:rPr lang="ja-JP" altLang="en-US" dirty="0"/>
              <a:t>参考: Langeron O, et al. Anesthesiology 2000;92:1229-1236 / Kheterpal S, et al. Anesthesiology 2006;105:885-891 / Kheterpal S, et al. Anesthesiology 2009;110:891-897 / Kheterpal S, et al. Anesthesiology 2013;119:1360-1369 / Saito T, et al. Anaesthesia 2015;70:1079-1083 / Conlon NP, et al. Anesth Analg 2007;105:370-373</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頻度: 困難挿管はメタ解析で 5.8%（Shiga 2005、35 研究 50,760 例）、質の高い 62 研究の統合では 10%（Detsky 2019、33,559 例）。5.8%・10% はメタ解析の値で、喉頭展開困難を含む広い定義による。日常診療のデンマークの 188,064 例（Nørskov 2015）では、困難挿管は 3,391 例（約 1.8%）で、そのうち 3,154 例（93%）が予測されていなかった。マスク換気困難も 94% が予測外で、逆に困難挿管と予測した患者で実際に困難だったのは 25% だった。換気も挿管もできない状態はまれで、英国 NAP4 では全身麻酔中の重大な気道合併症が約 22,000 件に 1 件、死亡が約 18 万件に 1 件だった（報告は実際の一部とみられ、下限の値）。</a:t>
            </a:r>
          </a:p>
          <a:p>
            <a:r>
              <a:rPr lang="ja-JP" altLang="en-US" dirty="0"/>
              <a:t>感度: Cochrane レビュー（Roth 2018、133 研究、844,206 例）では、喉頭展開困難に対する感度は開口テストの 0.22 から上唇咬合テストの 0.67 まででどれも低く、特異度は 0.80（修正 Mallampati）〜0.95 と一貫して高かった。困難挿管に対しては甲状オトガイ間距離の感度 0.24、修正 Mallampati 0.51。マスク換気困難に対する Mallampati の感度は 0.17。Shiga（2005）でも単独の感度は 20〜62%、特異度 82〜97% で、Mallampati と甲状オトガイ間距離の組み合わせが最もよかった（陽性尤度比 9.9）。</a:t>
            </a:r>
          </a:p>
          <a:p>
            <a:r>
              <a:rPr lang="ja-JP" altLang="en-US" dirty="0"/>
              <a:t>意味: 感度が低いので、所見によって困難例の 3〜8 割は「異常なし」と評価される（感度 0.22〜0.67。困難挿管では Mallampati で約半数、甲状オトガイ間距離で約 4 分の 3 を見逃す）。「異常なし」は安全を保証しない。逆に特異度が高いので、「異常あり」は困難の確率を上げる（事前確率 10% が、Mallampati 3 以上［陽性尤度比 4.1］で約 30%、上唇咬合テスト class III［陽性尤度比 14］で 60% 超：Detsky 2019）。ただし困難と予測した患者で実際に困難だったのは 25% で（Nørskov 2015）、「異常あり」は「必ず難しい」ではなく「備える理由」と考える。困難挿管を確実に否定できる所見はない。</a:t>
            </a:r>
          </a:p>
          <a:p>
            <a:r>
              <a:rPr lang="ja-JP" altLang="en-US" dirty="0"/>
              <a:t>だから: 全例で、導入の前に「マスク換気ができなかったら」「喉頭が見えなかったら」の次の手（声門上器具、ビデオ喉頭鏡、応援、輪状甲状靱帯切開の場所）を決めておく（DAS の Plan A〜D → 7 章）。DAS 2015 は喉頭鏡での挿管の試行を最大 3 回（より経験のある者による 4 回目は可）とし、失敗を宣言して Plan B（第 2 世代の声門上器具）に進むとしている（原文で確認）。現行の 2025 年版も、挿管の試行回数を制限し、失敗したら宣言して次の Plan に進むことを求めている【要確認: DAS 2025 本文（Br J Anaesth 2026;136:283-307）の挿管試行回数の規定（3 回か、3＋1 回か）】。国内では、北海道の大学病院 20 施設の全身麻酔 97,854 例で、CICV（挿管も換気もできない状態）は 3 例（約 32,000 例に 1 例）だった。3 例とも導入時に起き、うち 2 例は術前に困難が予測されていた。3 例とも器具を替えて挿管を繰り返すうちに換気不能になり、全例で緊急気管切開を行い、1 例に重い脳障害が残った（Tachibana 2015）。</a:t>
            </a:r>
          </a:p>
          <a:p>
            <a:r>
              <a:rPr lang="ja-JP" altLang="en-US" dirty="0"/>
              <a:t>参考: Roth D, et al. Cochrane Database Syst Rev 2018;5:CD008874 / Detsky ME, et al. JAMA 2019;321:493-503 / Shiga T, et al. Anesthesiology 2005;103:429-437 / Nørskov AK, et al. Anaesthesia 2015;70:272-281 / Cook TM, et al. Br J Anaesth 2011;106:617-631（NAP4） / Tachibana N, et al. J Anesth 2015;29:326-330</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相談と応援: 困難が予想されるなら、導入の前に上級医に相談し、可能なら人を呼ぶ。離島では応援が来ないことも多いので、電話・オンラインでの相談と、看護師への役割分担（道具出し、輪状甲状靱帯切開の準備、手術室の外への連絡）を前もって決めておく。困難を予測したら、導入前に「挿管の試行回数の上限」と「失敗したときの次の手（声門上器具、覚醒下、延期・搬送）」を決めてチームで共有する。国内でも、困難が予測されていた患者で挿管を繰り返すうちに換気不能になり、緊急気管切開に至った例が報告されている（Tachibana 2015 → S7）。研修医が一人で「いろいろ試す」場面を作らない（講義者の運用提案）。</a:t>
            </a:r>
          </a:p>
          <a:p>
            <a:r>
              <a:rPr lang="ja-JP" altLang="en-US" dirty="0"/>
              <a:t>道具: ビデオ喉頭鏡は、困難が予想される患者では最初から使う（DAS 2025 はビデオ喉頭鏡を第一選択とした。DAS 2015 もすべての麻酔科医がビデオ喉頭鏡を使えるようにすることを勧めている：原文で確認）【要確認: DAS 2025 本文のビデオ喉頭鏡を第一選択とする推奨（付随論説で確認）と、ASA 2022 本文のビデオ喉頭鏡に関する推奨の文言】。声門上器具とブジーは開封して手の届く所に置く。</a:t>
            </a:r>
          </a:p>
          <a:p>
            <a:r>
              <a:rPr lang="ja-JP" altLang="en-US" dirty="0"/>
              <a:t>覚醒下: ASA 2022 は、挿管困難が疑われ、さらに (1) マスクまたは声門上器具での換気困難、(2) 誤嚥リスクの上昇、(3) 短い無呼吸にも耐えられない、(4) 緊急の侵襲的気道確保（外科的・経皮的）が難しい、のいずれかがあれば意識下（覚醒下）挿管を考慮するとしている（二次資料による。ブラジル麻酔科学会の 2024 年の推奨も同じ 4 条件を挙げ、意識下挿管を「行う」ことを強く勧めている）【要確認: Apfelbaum JL, et al. Anesthesiology 2022;136:31-81 本文の意識下挿管の推奨で、文言が「考慮する」か「行う」か、(4) の表現】。気道の腫瘍・狭窄、頸椎が動かせない場合も同様。自分でできないなら、高次施設への紹介や延期が患者にとって安全な選択になる。</a:t>
            </a:r>
          </a:p>
          <a:p>
            <a:r>
              <a:rPr lang="ja-JP" altLang="en-US" dirty="0"/>
              <a:t>輪状甲状靱帯: 体表からの同定は不正確で、麻酔科医 18 名の検討で膜の上を正しく示せたのは 30%（中心点は 10%）、上級医は研修医より正確だった（Elliott 2010）。女性では、仰臥位・頸部中間位で正しく同定できたのは非肥満 41 人中 10 人、肥満 15 人中 0 人だった（Aslani 2012）。導入前に laryngeal handshake（非利き手で舌骨と甲状軟骨を確かめ、示指で輪状甲状膜を触れる：DAS 2015 の Plan D）で触れて確認し、触れにくければ超音波で確認して印をつける（触知が難しい患者で、短い訓練を受けた麻酔科医の超音波による同定は触知の 2 倍の成功率：Kristensen 2016）。DAS 2025 は、困難が予測される患者で、輪状甲状膜を事前に同定し、適切なら印を付けるよう勧めている（二次資料による）【要確認: DAS 2025 本文（Br J Anaesth 2026;136:283-307）の輪状甲状膜の事前同定の推奨の対象と文言】。導入前に全例で同定するよう勧めているのは Kristensen 2016 のレビュー（著者の推奨）。肥満の迅速導入では、SOBA 2025 が超音波での同定と印付けを導入前に考慮してよいとしている（Grade C、強い推奨）。超音波で同定できても前頸部からの気道確保が成功するとは限らないので、触れにくい患者では覚醒下挿管や延期も考える。</a:t>
            </a:r>
          </a:p>
          <a:p>
            <a:r>
              <a:rPr lang="ja-JP" altLang="en-US" dirty="0"/>
              <a:t>患者: 歯の損傷の可能性（特に動揺歯・差し歯）、覚醒下の処置をするならその内容を説明する（→ 4-5）。前酸素化（SpO2 だけでなく、呼気終末酸素濃度 0.87〜0.9 を目安：DAS 2015）で、困難に遭ったときの時間を稼ぐ。</a:t>
            </a:r>
          </a:p>
          <a:p>
            <a:r>
              <a:rPr lang="ja-JP" altLang="en-US" dirty="0"/>
              <a:t>記録: 所見と計画を記録し、実際に困難だったら、どう解決したか（道具、見え方）を記録し、患者にカードやアラート、紹介状で伝える（DAS 2015 は Difficult Airway Alert Form による記録と伝達を推奨）。</a:t>
            </a:r>
          </a:p>
          <a:p>
            <a:r>
              <a:rPr lang="ja-JP" altLang="en-US" dirty="0"/>
              <a:t>参考: Elliott DS, et al. Anaesthesia 2010;65:889-894 / Aslani A, et al. Anesth Analg 2012;114:987-992 / Kristensen MS, et al. Br J Anaesth 2016;117 Suppl 1:i39-i48 / McKechnie A, et al. Anaesthesia 2025;80:1103-1114（SOBA 2025） / Tachibana N, et al. J Anesth 2015;29:326-330</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分）。気道評価は困難を当てるためではなく備えるために行い、全例で同じ手順で評価する。前回の麻酔記録は強い予測因子だが（拾えるのは約 3 割）、問診ではいびき・無呼吸、歯、首や顎の病気を聞く。診察では開口（3 cm 未満）、Mallampati（III・IV）、甲状オトガイ間距離（6〜6.5 cm 未満）、上唇咬合テスト、頸部の動きを見る。マスク換気困難は Langeron の 5 因子（覚え方は OBESE：BMI、ひげ、年齢、いびき、歯なし）、換気不能は頸部放射線・OSA・Mallampati で予測し、挿管困難と重なる患者が最も危ない。所見の感度は低く、日常診療では困難挿管の 9 割以上が予測されずに起きるので、「異常なし」は安全を意味しない。見つけたら、道具、人、挿管の試行回数の上限、覚醒下、転院・延期を含めて計画し、記録する。次は 4-3（絶飲食と誤嚥リスク）。</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術前診察での気道評価</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4-2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気道評価は何のため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目的と</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問診</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マスク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換気</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Ahmad I, et al. Br J Anaesth 2026;136:283-307（DAS 2025） / Frerk C, et al. Br J Anaesth</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2015;115:827-848（DAS 2015） / Apfelbaum JL, et al. Anesthesiology 2022;136:31-81</a:t>
            </a:r>
            <a:endParaRPr lang="ja-JP" sz="1600" dirty="0"/>
          </a:p>
        </p:txBody>
      </p:sp>
      <p:sp>
        <p:nvSpPr>
          <p:cNvPr id="11" name="Text 9"/>
          <p:cNvSpPr txBox="1"/>
          <p:nvPr/>
        </p:nvSpPr>
        <p:spPr>
          <a:xfrm>
            <a:off x="502920" y="1828800"/>
            <a:ext cx="41148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p:txBody>
      </p:sp>
      <p:sp>
        <p:nvSpPr>
          <p:cNvPr id="12" name="Text 10"/>
          <p:cNvSpPr txBox="1"/>
          <p:nvPr/>
        </p:nvSpPr>
        <p:spPr>
          <a:xfrm>
            <a:off x="914400" y="1828800"/>
            <a:ext cx="1074420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困難気道を『当てる』ためではなく</a:t>
            </a:r>
            <a:r>
              <a:rPr lang="ja-JP" altLang="en-US" sz="2600" b="1" dirty="0">
                <a:solidFill>
                  <a:srgbClr val="D55E00"/>
                </a:solidFill>
                <a:latin typeface="メイリオ" pitchFamily="34" charset="0"/>
                <a:ea typeface="メイリオ" pitchFamily="34" charset="-122"/>
                <a:cs typeface="メイリオ" pitchFamily="34" charset="-120"/>
              </a:rPr>
              <a:t>『備える』</a:t>
            </a:r>
            <a:r>
              <a:rPr lang="ja-JP" altLang="en-US" sz="2600" dirty="0">
                <a:solidFill>
                  <a:srgbClr val="262626"/>
                </a:solidFill>
                <a:latin typeface="メイリオ" pitchFamily="34" charset="0"/>
                <a:ea typeface="メイリオ" pitchFamily="34" charset="-122"/>
                <a:cs typeface="メイリオ" pitchFamily="34" charset="-120"/>
              </a:rPr>
              <a:t>ため</a:t>
            </a:r>
            <a:endParaRPr lang="ja-JP" sz="2600" dirty="0"/>
          </a:p>
        </p:txBody>
      </p:sp>
      <p:sp>
        <p:nvSpPr>
          <p:cNvPr id="13" name="Text 11"/>
          <p:cNvSpPr txBox="1"/>
          <p:nvPr/>
        </p:nvSpPr>
        <p:spPr>
          <a:xfrm>
            <a:off x="502920" y="2551176"/>
            <a:ext cx="41148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p:txBody>
      </p:sp>
      <p:sp>
        <p:nvSpPr>
          <p:cNvPr id="14" name="Text 12"/>
          <p:cNvSpPr txBox="1"/>
          <p:nvPr/>
        </p:nvSpPr>
        <p:spPr>
          <a:xfrm>
            <a:off x="914400" y="2551176"/>
            <a:ext cx="1074420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予測できない困難気道は、必ず一定の割合である</a:t>
            </a:r>
            <a:endParaRPr lang="ja-JP" sz="2600" dirty="0"/>
          </a:p>
        </p:txBody>
      </p:sp>
      <p:sp>
        <p:nvSpPr>
          <p:cNvPr id="15" name="Text 13"/>
          <p:cNvSpPr txBox="1"/>
          <p:nvPr/>
        </p:nvSpPr>
        <p:spPr>
          <a:xfrm>
            <a:off x="502920" y="3273552"/>
            <a:ext cx="41148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p:txBody>
      </p:sp>
      <p:sp>
        <p:nvSpPr>
          <p:cNvPr id="16" name="Text 14"/>
          <p:cNvSpPr txBox="1"/>
          <p:nvPr/>
        </p:nvSpPr>
        <p:spPr>
          <a:xfrm>
            <a:off x="914400" y="3273552"/>
            <a:ext cx="1074420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見つけたら：道具、人、方法（覚醒下）を</a:t>
            </a:r>
            <a:r>
              <a:rPr lang="ja-JP" altLang="en-US" sz="2600" b="1" dirty="0">
                <a:solidFill>
                  <a:srgbClr val="0072B2"/>
                </a:solidFill>
                <a:latin typeface="メイリオ" pitchFamily="34" charset="0"/>
                <a:ea typeface="メイリオ" pitchFamily="34" charset="-122"/>
                <a:cs typeface="メイリオ" pitchFamily="34" charset="-120"/>
              </a:rPr>
              <a:t>前もって用意</a:t>
            </a:r>
            <a:endParaRPr lang="ja-JP" sz="2600" dirty="0"/>
          </a:p>
        </p:txBody>
      </p:sp>
      <p:sp>
        <p:nvSpPr>
          <p:cNvPr id="17" name="Text 15"/>
          <p:cNvSpPr txBox="1"/>
          <p:nvPr/>
        </p:nvSpPr>
        <p:spPr>
          <a:xfrm>
            <a:off x="502920" y="3995928"/>
            <a:ext cx="41148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p:txBody>
      </p:sp>
      <p:sp>
        <p:nvSpPr>
          <p:cNvPr id="18" name="Text 16"/>
          <p:cNvSpPr txBox="1"/>
          <p:nvPr/>
        </p:nvSpPr>
        <p:spPr>
          <a:xfrm>
            <a:off x="914400" y="3995928"/>
            <a:ext cx="1074420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評価しない理由はない。</a:t>
            </a:r>
            <a:r>
              <a:rPr lang="ja-JP" altLang="en-US" sz="2600" b="1" dirty="0">
                <a:solidFill>
                  <a:srgbClr val="0072B2"/>
                </a:solidFill>
                <a:latin typeface="メイリオ" pitchFamily="34" charset="0"/>
                <a:ea typeface="メイリオ" pitchFamily="34" charset="-122"/>
                <a:cs typeface="メイリオ" pitchFamily="34" charset="-120"/>
              </a:rPr>
              <a:t>全例で、同じ手順で</a:t>
            </a:r>
            <a:endParaRPr lang="ja-JP" sz="2600" dirty="0"/>
          </a:p>
        </p:txBody>
      </p:sp>
      <p:sp>
        <p:nvSpPr>
          <p:cNvPr id="19" name="Text 17"/>
          <p:cNvSpPr/>
          <p:nvPr/>
        </p:nvSpPr>
        <p:spPr>
          <a:xfrm>
            <a:off x="1051560" y="4736592"/>
            <a:ext cx="10085832" cy="1161288"/>
          </a:xfrm>
          <a:prstGeom prst="roundRect">
            <a:avLst>
              <a:gd name="adj" fmla="val 7874"/>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前回の挿管困難の記録は</a:t>
            </a:r>
            <a:r>
              <a:rPr lang="ja-JP" altLang="en-US" sz="2600" b="1" dirty="0">
                <a:solidFill>
                  <a:srgbClr val="0072B2"/>
                </a:solidFill>
                <a:latin typeface="メイリオ" pitchFamily="34" charset="0"/>
                <a:ea typeface="メイリオ" pitchFamily="34" charset="-122"/>
                <a:cs typeface="メイリオ" pitchFamily="34" charset="-120"/>
              </a:rPr>
              <a:t>強い予測因子</a:t>
            </a:r>
            <a:endParaRPr lang="ja-JP" sz="2600" dirty="0"/>
          </a:p>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（ただし拾えるのは</a:t>
            </a:r>
            <a:r>
              <a:rPr lang="ja-JP" altLang="en-US" sz="2600" b="1" dirty="0">
                <a:solidFill>
                  <a:srgbClr val="D55E00"/>
                </a:solidFill>
                <a:latin typeface="メイリオ" pitchFamily="34" charset="0"/>
                <a:ea typeface="メイリオ" pitchFamily="34" charset="-122"/>
                <a:cs typeface="メイリオ" pitchFamily="34" charset="-120"/>
              </a:rPr>
              <a:t>約 3 割</a:t>
            </a:r>
            <a:r>
              <a:rPr lang="ja-JP" altLang="en-US" sz="2600" b="1" dirty="0">
                <a:solidFill>
                  <a:srgbClr val="262626"/>
                </a:solidFill>
                <a:latin typeface="メイリオ" pitchFamily="34" charset="0"/>
                <a:ea typeface="メイリオ" pitchFamily="34" charset="-122"/>
                <a:cs typeface="メイリオ" pitchFamily="34" charset="-120"/>
              </a:rPr>
              <a:t>）</a:t>
            </a:r>
            <a:endParaRPr lang="ja-JP"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問診で聞く・読む</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目的と</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問診</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マスク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換気</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Apfelbaum JL, et al. Anesthesiology 2022;136:31-81（ASA 2022） / Warner ME,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Anesthesiology 1999;90:1302-1305 / Nagappa M, et al. PLoS One 2018;13:e0204904</a:t>
            </a:r>
            <a:endParaRPr lang="ja-JP" sz="1600" dirty="0"/>
          </a:p>
        </p:txBody>
      </p:sp>
      <p:sp>
        <p:nvSpPr>
          <p:cNvPr id="11" name="Shape 9"/>
          <p:cNvSpPr/>
          <p:nvPr/>
        </p:nvSpPr>
        <p:spPr>
          <a:xfrm>
            <a:off x="502920" y="1691640"/>
            <a:ext cx="4905756" cy="4206240"/>
          </a:xfrm>
          <a:prstGeom prst="roundRect">
            <a:avLst>
              <a:gd name="adj" fmla="val 1739"/>
            </a:avLst>
          </a:prstGeom>
          <a:solidFill>
            <a:srgbClr val="F2F2F2"/>
          </a:solidFill>
          <a:ln/>
        </p:spPr>
      </p:sp>
      <p:sp>
        <p:nvSpPr>
          <p:cNvPr id="12" name="Text 10"/>
          <p:cNvSpPr txBox="1"/>
          <p:nvPr/>
        </p:nvSpPr>
        <p:spPr>
          <a:xfrm>
            <a:off x="685800" y="1801368"/>
            <a:ext cx="453999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記録を読む</a:t>
            </a:r>
            <a:endParaRPr lang="ja-JP" sz="2400" dirty="0"/>
          </a:p>
        </p:txBody>
      </p:sp>
      <p:sp>
        <p:nvSpPr>
          <p:cNvPr id="13" name="Text 11"/>
          <p:cNvSpPr txBox="1"/>
          <p:nvPr/>
        </p:nvSpPr>
        <p:spPr>
          <a:xfrm>
            <a:off x="685800" y="2331720"/>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4" name="Text 12"/>
          <p:cNvSpPr txBox="1"/>
          <p:nvPr/>
        </p:nvSpPr>
        <p:spPr>
          <a:xfrm>
            <a:off x="1014984" y="2331720"/>
            <a:ext cx="421081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前回の麻酔記録：</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喉頭展開の見え方、道具</a:t>
            </a:r>
            <a:endParaRPr lang="ja-JP" sz="2200" dirty="0"/>
          </a:p>
        </p:txBody>
      </p:sp>
      <p:sp>
        <p:nvSpPr>
          <p:cNvPr id="15" name="Text 13"/>
          <p:cNvSpPr txBox="1"/>
          <p:nvPr/>
        </p:nvSpPr>
        <p:spPr>
          <a:xfrm>
            <a:off x="685800" y="3482950"/>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6" name="Text 14"/>
          <p:cNvSpPr txBox="1"/>
          <p:nvPr/>
        </p:nvSpPr>
        <p:spPr>
          <a:xfrm>
            <a:off x="1014984" y="3482950"/>
            <a:ext cx="421081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困難気道のカード・アラート</a:t>
            </a:r>
            <a:endParaRPr lang="ja-JP" sz="2200" dirty="0"/>
          </a:p>
        </p:txBody>
      </p:sp>
      <p:sp>
        <p:nvSpPr>
          <p:cNvPr id="17" name="Text 15"/>
          <p:cNvSpPr txBox="1"/>
          <p:nvPr/>
        </p:nvSpPr>
        <p:spPr>
          <a:xfrm>
            <a:off x="685800" y="4213555"/>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8" name="Text 16"/>
          <p:cNvSpPr txBox="1"/>
          <p:nvPr/>
        </p:nvSpPr>
        <p:spPr>
          <a:xfrm>
            <a:off x="1014984" y="4213555"/>
            <a:ext cx="421081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頭頸部の手術・放射線治療</a:t>
            </a:r>
            <a:endParaRPr lang="ja-JP" sz="2200" dirty="0"/>
          </a:p>
        </p:txBody>
      </p:sp>
      <p:sp>
        <p:nvSpPr>
          <p:cNvPr id="19" name="Text 17"/>
          <p:cNvSpPr txBox="1"/>
          <p:nvPr/>
        </p:nvSpPr>
        <p:spPr>
          <a:xfrm>
            <a:off x="685800" y="4944161"/>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1014984" y="4944161"/>
            <a:ext cx="421081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気道の病気</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（腫瘍、狭窄、声帯麻痺）</a:t>
            </a:r>
            <a:endParaRPr lang="ja-JP" sz="2200" dirty="0"/>
          </a:p>
        </p:txBody>
      </p:sp>
      <p:sp>
        <p:nvSpPr>
          <p:cNvPr id="21" name="Shape 19"/>
          <p:cNvSpPr/>
          <p:nvPr/>
        </p:nvSpPr>
        <p:spPr>
          <a:xfrm>
            <a:off x="5628132" y="1691640"/>
            <a:ext cx="6056986" cy="4206240"/>
          </a:xfrm>
          <a:prstGeom prst="roundRect">
            <a:avLst>
              <a:gd name="adj" fmla="val 1739"/>
            </a:avLst>
          </a:prstGeom>
          <a:solidFill>
            <a:srgbClr val="F2F2F2"/>
          </a:solidFill>
          <a:ln/>
        </p:spPr>
      </p:sp>
      <p:sp>
        <p:nvSpPr>
          <p:cNvPr id="22" name="Text 20"/>
          <p:cNvSpPr txBox="1"/>
          <p:nvPr/>
        </p:nvSpPr>
        <p:spPr>
          <a:xfrm>
            <a:off x="5811012" y="1801368"/>
            <a:ext cx="5691226"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患者に聞く</a:t>
            </a:r>
            <a:endParaRPr lang="ja-JP" sz="2400" dirty="0"/>
          </a:p>
        </p:txBody>
      </p:sp>
      <p:sp>
        <p:nvSpPr>
          <p:cNvPr id="23" name="Text 21"/>
          <p:cNvSpPr txBox="1"/>
          <p:nvPr/>
        </p:nvSpPr>
        <p:spPr>
          <a:xfrm>
            <a:off x="5811012" y="2331720"/>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4" name="Text 22"/>
          <p:cNvSpPr txBox="1"/>
          <p:nvPr/>
        </p:nvSpPr>
        <p:spPr>
          <a:xfrm>
            <a:off x="6140196" y="2331720"/>
            <a:ext cx="536204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いびき、無呼吸、日中の眠気（OSA）</a:t>
            </a:r>
            <a:endParaRPr lang="ja-JP" sz="2200" dirty="0"/>
          </a:p>
        </p:txBody>
      </p:sp>
      <p:sp>
        <p:nvSpPr>
          <p:cNvPr id="25" name="Text 23"/>
          <p:cNvSpPr txBox="1"/>
          <p:nvPr/>
        </p:nvSpPr>
        <p:spPr>
          <a:xfrm>
            <a:off x="5811012" y="3062326"/>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6" name="Text 24"/>
          <p:cNvSpPr txBox="1"/>
          <p:nvPr/>
        </p:nvSpPr>
        <p:spPr>
          <a:xfrm>
            <a:off x="6140196" y="3062326"/>
            <a:ext cx="536204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首や顎が動きにくい病気</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（リウマチ、強直性脊椎炎）</a:t>
            </a:r>
            <a:endParaRPr lang="ja-JP" sz="2200" dirty="0"/>
          </a:p>
        </p:txBody>
      </p:sp>
      <p:sp>
        <p:nvSpPr>
          <p:cNvPr id="27" name="Text 25"/>
          <p:cNvSpPr txBox="1"/>
          <p:nvPr/>
        </p:nvSpPr>
        <p:spPr>
          <a:xfrm>
            <a:off x="5811012" y="4213555"/>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8" name="Text 26"/>
          <p:cNvSpPr txBox="1"/>
          <p:nvPr/>
        </p:nvSpPr>
        <p:spPr>
          <a:xfrm>
            <a:off x="6140196" y="4213555"/>
            <a:ext cx="536204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動揺歯、義歯、差し歯、前歯の突出</a:t>
            </a:r>
            <a:endParaRPr lang="ja-JP" sz="2200" dirty="0"/>
          </a:p>
        </p:txBody>
      </p:sp>
      <p:sp>
        <p:nvSpPr>
          <p:cNvPr id="29" name="Text 27"/>
          <p:cNvSpPr txBox="1"/>
          <p:nvPr/>
        </p:nvSpPr>
        <p:spPr>
          <a:xfrm>
            <a:off x="5811012" y="4944161"/>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0" name="Text 28"/>
          <p:cNvSpPr txBox="1"/>
          <p:nvPr/>
        </p:nvSpPr>
        <p:spPr>
          <a:xfrm>
            <a:off x="6140196" y="4944161"/>
            <a:ext cx="536204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『前の麻酔で喉を傷めた』</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『管が入りにくかった』</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診察：6 つの所見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目的と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問診</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マスク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換気</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Detsky ME, et al. JAMA 2019;321:493-503 / Shiga T,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Anesthesiology 2005;103:429-437 / Khan ZH, et al. Anesth Analg 2003;96:595-599</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55680" cy="914400"/>
        </p:xfrm>
        <a:graphic>
          <a:graphicData uri="http://schemas.openxmlformats.org/drawingml/2006/table">
            <a:tbl>
              <a:tblPr/>
              <a:tblGrid>
                <a:gridCol w="2487168"/>
                <a:gridCol w="4901184"/>
                <a:gridCol w="3767328"/>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所見</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どう見るか</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困難を疑う目安</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開口</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最大開口で上下の切歯の間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 cm 未満</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（資料により 3〜4 cm）</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Mallampati</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座位、開口、舌を出す、発声なし</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class III・IV（→ S5）</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甲状オトガイ</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間距離</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頸部を伸展し、</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甲状軟骨上縁〜オトガイ</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6〜6.5 cm 未満</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（指 3 本未満）</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上唇咬合テスト</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下の歯で上唇を噛めるか</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噛めない（class III）</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頸部の動き</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顎を胸につけ、次に上を向く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伸展が小さい、</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痛みで動かない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首・顎・歯</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首の太さ、小さい下顎、</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前歯の突出、ひげ</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太い首（特に肥満）、</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小顎、前突</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Mallampati 分類</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目的と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問診</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マスク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換気</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Samsoon GL, Young JR. Anaesthesia 1987;42:487-490</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Shiga T, et al. Anesthesiology 2005;103:429-437</a:t>
            </a:r>
            <a:endParaRPr lang="ja-JP" sz="1600" dirty="0"/>
          </a:p>
        </p:txBody>
      </p:sp>
      <p:sp>
        <p:nvSpPr>
          <p:cNvPr id="11" name="Shape 9"/>
          <p:cNvSpPr/>
          <p:nvPr/>
        </p:nvSpPr>
        <p:spPr>
          <a:xfrm>
            <a:off x="1000354" y="1691640"/>
            <a:ext cx="1783080" cy="1307592"/>
          </a:xfrm>
          <a:custGeom>
            <a:avLst/>
            <a:gdLst/>
            <a:ahLst/>
            <a:cxnLst/>
            <a:rect l="l" t="t" r="r" b="b"/>
            <a:pathLst>
              <a:path w="1783080" h="1307592">
                <a:moveTo>
                  <a:pt x="1783080" y="653796"/>
                </a:moveTo>
                <a:lnTo>
                  <a:pt x="1779422" y="710489"/>
                </a:lnTo>
                <a:lnTo>
                  <a:pt x="1769364" y="767182"/>
                </a:lnTo>
                <a:lnTo>
                  <a:pt x="1752905" y="822960"/>
                </a:lnTo>
                <a:lnTo>
                  <a:pt x="1729130" y="877824"/>
                </a:lnTo>
                <a:lnTo>
                  <a:pt x="1699870" y="929945"/>
                </a:lnTo>
                <a:lnTo>
                  <a:pt x="1663294" y="981151"/>
                </a:lnTo>
                <a:lnTo>
                  <a:pt x="1622146" y="1028700"/>
                </a:lnTo>
                <a:lnTo>
                  <a:pt x="1574597" y="1074420"/>
                </a:lnTo>
                <a:lnTo>
                  <a:pt x="1521562" y="1116482"/>
                </a:lnTo>
                <a:lnTo>
                  <a:pt x="1464869" y="1154887"/>
                </a:lnTo>
                <a:lnTo>
                  <a:pt x="1402690" y="1189634"/>
                </a:lnTo>
                <a:lnTo>
                  <a:pt x="1337767" y="1219810"/>
                </a:lnTo>
                <a:lnTo>
                  <a:pt x="1268273" y="1246327"/>
                </a:lnTo>
                <a:lnTo>
                  <a:pt x="1196035" y="1268273"/>
                </a:lnTo>
                <a:lnTo>
                  <a:pt x="1121969" y="1285646"/>
                </a:lnTo>
                <a:lnTo>
                  <a:pt x="1046074" y="1297534"/>
                </a:lnTo>
                <a:lnTo>
                  <a:pt x="969264" y="1304849"/>
                </a:lnTo>
                <a:lnTo>
                  <a:pt x="891540" y="1307592"/>
                </a:lnTo>
                <a:lnTo>
                  <a:pt x="813816" y="1304849"/>
                </a:lnTo>
                <a:lnTo>
                  <a:pt x="737006" y="1297534"/>
                </a:lnTo>
                <a:lnTo>
                  <a:pt x="661111" y="1285646"/>
                </a:lnTo>
                <a:lnTo>
                  <a:pt x="587045" y="1268273"/>
                </a:lnTo>
                <a:lnTo>
                  <a:pt x="514807" y="1246327"/>
                </a:lnTo>
                <a:lnTo>
                  <a:pt x="446227" y="1219810"/>
                </a:lnTo>
                <a:lnTo>
                  <a:pt x="380390" y="1189634"/>
                </a:lnTo>
                <a:lnTo>
                  <a:pt x="318211" y="1154887"/>
                </a:lnTo>
                <a:lnTo>
                  <a:pt x="261518" y="1116482"/>
                </a:lnTo>
                <a:lnTo>
                  <a:pt x="208483" y="1074420"/>
                </a:lnTo>
                <a:lnTo>
                  <a:pt x="160934" y="1028700"/>
                </a:lnTo>
                <a:lnTo>
                  <a:pt x="119786" y="981151"/>
                </a:lnTo>
                <a:lnTo>
                  <a:pt x="83210" y="929945"/>
                </a:lnTo>
                <a:lnTo>
                  <a:pt x="53950" y="877824"/>
                </a:lnTo>
                <a:lnTo>
                  <a:pt x="30175" y="822960"/>
                </a:lnTo>
                <a:lnTo>
                  <a:pt x="13716" y="767182"/>
                </a:lnTo>
                <a:lnTo>
                  <a:pt x="3658" y="710489"/>
                </a:lnTo>
                <a:lnTo>
                  <a:pt x="0" y="653796"/>
                </a:lnTo>
                <a:lnTo>
                  <a:pt x="3658" y="597103"/>
                </a:lnTo>
                <a:lnTo>
                  <a:pt x="13716" y="540410"/>
                </a:lnTo>
                <a:lnTo>
                  <a:pt x="30175" y="484632"/>
                </a:lnTo>
                <a:lnTo>
                  <a:pt x="53950" y="429768"/>
                </a:lnTo>
                <a:lnTo>
                  <a:pt x="83210" y="377647"/>
                </a:lnTo>
                <a:lnTo>
                  <a:pt x="119786" y="327355"/>
                </a:lnTo>
                <a:lnTo>
                  <a:pt x="160934" y="278892"/>
                </a:lnTo>
                <a:lnTo>
                  <a:pt x="208483" y="233172"/>
                </a:lnTo>
                <a:lnTo>
                  <a:pt x="261518" y="191110"/>
                </a:lnTo>
                <a:lnTo>
                  <a:pt x="318211" y="152705"/>
                </a:lnTo>
                <a:lnTo>
                  <a:pt x="380390" y="117958"/>
                </a:lnTo>
                <a:lnTo>
                  <a:pt x="445313" y="87782"/>
                </a:lnTo>
                <a:lnTo>
                  <a:pt x="514807" y="61265"/>
                </a:lnTo>
                <a:lnTo>
                  <a:pt x="587045" y="39319"/>
                </a:lnTo>
                <a:lnTo>
                  <a:pt x="661111" y="21946"/>
                </a:lnTo>
                <a:lnTo>
                  <a:pt x="737006" y="10058"/>
                </a:lnTo>
                <a:lnTo>
                  <a:pt x="813816" y="2743"/>
                </a:lnTo>
                <a:lnTo>
                  <a:pt x="891540" y="0"/>
                </a:lnTo>
                <a:lnTo>
                  <a:pt x="969264" y="2743"/>
                </a:lnTo>
                <a:lnTo>
                  <a:pt x="1046074" y="10058"/>
                </a:lnTo>
                <a:lnTo>
                  <a:pt x="1121969" y="21946"/>
                </a:lnTo>
                <a:lnTo>
                  <a:pt x="1196035" y="39319"/>
                </a:lnTo>
                <a:lnTo>
                  <a:pt x="1268273" y="61265"/>
                </a:lnTo>
                <a:lnTo>
                  <a:pt x="1336853" y="87782"/>
                </a:lnTo>
                <a:lnTo>
                  <a:pt x="1402690" y="117958"/>
                </a:lnTo>
                <a:lnTo>
                  <a:pt x="1464869" y="152705"/>
                </a:lnTo>
                <a:lnTo>
                  <a:pt x="1521562" y="191110"/>
                </a:lnTo>
                <a:lnTo>
                  <a:pt x="1574597" y="233172"/>
                </a:lnTo>
                <a:lnTo>
                  <a:pt x="1622146" y="278892"/>
                </a:lnTo>
                <a:lnTo>
                  <a:pt x="1663294" y="327355"/>
                </a:lnTo>
                <a:lnTo>
                  <a:pt x="1699870" y="377647"/>
                </a:lnTo>
                <a:lnTo>
                  <a:pt x="1729130" y="429768"/>
                </a:lnTo>
                <a:lnTo>
                  <a:pt x="1752905" y="484632"/>
                </a:lnTo>
                <a:lnTo>
                  <a:pt x="1769364" y="540410"/>
                </a:lnTo>
                <a:lnTo>
                  <a:pt x="1779422" y="597103"/>
                </a:lnTo>
                <a:close/>
              </a:path>
            </a:pathLst>
          </a:custGeom>
          <a:solidFill>
            <a:srgbClr val="F7DFCC"/>
          </a:solidFill>
          <a:ln w="12700">
            <a:solidFill>
              <a:srgbClr val="F7DFCC"/>
            </a:solidFill>
            <a:prstDash val="solid"/>
          </a:ln>
        </p:spPr>
      </p:sp>
      <p:sp>
        <p:nvSpPr>
          <p:cNvPr id="12" name="Shape 10"/>
          <p:cNvSpPr/>
          <p:nvPr/>
        </p:nvSpPr>
        <p:spPr>
          <a:xfrm>
            <a:off x="1570939" y="1953158"/>
            <a:ext cx="641909" cy="967435"/>
          </a:xfrm>
          <a:custGeom>
            <a:avLst/>
            <a:gdLst/>
            <a:ahLst/>
            <a:cxnLst/>
            <a:rect l="l" t="t" r="r" b="b"/>
            <a:pathLst>
              <a:path w="641909" h="967435">
                <a:moveTo>
                  <a:pt x="0" y="967435"/>
                </a:moveTo>
                <a:lnTo>
                  <a:pt x="0" y="470916"/>
                </a:lnTo>
                <a:lnTo>
                  <a:pt x="2743" y="409651"/>
                </a:lnTo>
                <a:lnTo>
                  <a:pt x="10973" y="349301"/>
                </a:lnTo>
                <a:lnTo>
                  <a:pt x="24689" y="290779"/>
                </a:lnTo>
                <a:lnTo>
                  <a:pt x="42977" y="235001"/>
                </a:lnTo>
                <a:lnTo>
                  <a:pt x="66751" y="183794"/>
                </a:lnTo>
                <a:lnTo>
                  <a:pt x="94183" y="138074"/>
                </a:lnTo>
                <a:lnTo>
                  <a:pt x="125273" y="96926"/>
                </a:lnTo>
                <a:lnTo>
                  <a:pt x="160934" y="63094"/>
                </a:lnTo>
                <a:lnTo>
                  <a:pt x="198425" y="35662"/>
                </a:lnTo>
                <a:lnTo>
                  <a:pt x="237744" y="16459"/>
                </a:lnTo>
                <a:lnTo>
                  <a:pt x="278892" y="3658"/>
                </a:lnTo>
                <a:lnTo>
                  <a:pt x="320954" y="0"/>
                </a:lnTo>
                <a:lnTo>
                  <a:pt x="363017" y="3658"/>
                </a:lnTo>
                <a:lnTo>
                  <a:pt x="404165" y="16459"/>
                </a:lnTo>
                <a:lnTo>
                  <a:pt x="443484" y="35662"/>
                </a:lnTo>
                <a:lnTo>
                  <a:pt x="481889" y="63094"/>
                </a:lnTo>
                <a:lnTo>
                  <a:pt x="516636" y="96926"/>
                </a:lnTo>
                <a:lnTo>
                  <a:pt x="547726" y="138074"/>
                </a:lnTo>
                <a:lnTo>
                  <a:pt x="575158" y="183794"/>
                </a:lnTo>
                <a:lnTo>
                  <a:pt x="598932" y="235001"/>
                </a:lnTo>
                <a:lnTo>
                  <a:pt x="617220" y="290779"/>
                </a:lnTo>
                <a:lnTo>
                  <a:pt x="630936" y="349301"/>
                </a:lnTo>
                <a:lnTo>
                  <a:pt x="639166" y="409651"/>
                </a:lnTo>
                <a:lnTo>
                  <a:pt x="641909" y="470916"/>
                </a:lnTo>
                <a:lnTo>
                  <a:pt x="641909" y="967435"/>
                </a:lnTo>
                <a:close/>
              </a:path>
            </a:pathLst>
          </a:custGeom>
          <a:solidFill>
            <a:srgbClr val="404040"/>
          </a:solidFill>
          <a:ln w="31750">
            <a:solidFill>
              <a:srgbClr val="0072B2"/>
            </a:solidFill>
            <a:prstDash val="solid"/>
          </a:ln>
        </p:spPr>
      </p:sp>
      <p:sp>
        <p:nvSpPr>
          <p:cNvPr id="13" name="Shape 11"/>
          <p:cNvSpPr/>
          <p:nvPr/>
        </p:nvSpPr>
        <p:spPr>
          <a:xfrm>
            <a:off x="1809598" y="1944014"/>
            <a:ext cx="164592" cy="322783"/>
          </a:xfrm>
          <a:custGeom>
            <a:avLst/>
            <a:gdLst/>
            <a:ahLst/>
            <a:cxnLst/>
            <a:rect l="l" t="t" r="r" b="b"/>
            <a:pathLst>
              <a:path w="164592" h="322783">
                <a:moveTo>
                  <a:pt x="0" y="0"/>
                </a:moveTo>
                <a:lnTo>
                  <a:pt x="22860" y="263347"/>
                </a:lnTo>
                <a:lnTo>
                  <a:pt x="24689" y="278892"/>
                </a:lnTo>
                <a:lnTo>
                  <a:pt x="31090" y="293522"/>
                </a:lnTo>
                <a:lnTo>
                  <a:pt x="40234" y="305410"/>
                </a:lnTo>
                <a:lnTo>
                  <a:pt x="52121" y="314554"/>
                </a:lnTo>
                <a:lnTo>
                  <a:pt x="66751" y="320954"/>
                </a:lnTo>
                <a:lnTo>
                  <a:pt x="82296" y="322783"/>
                </a:lnTo>
                <a:lnTo>
                  <a:pt x="97841" y="320954"/>
                </a:lnTo>
                <a:lnTo>
                  <a:pt x="112471" y="314554"/>
                </a:lnTo>
                <a:lnTo>
                  <a:pt x="124358" y="305410"/>
                </a:lnTo>
                <a:lnTo>
                  <a:pt x="133502" y="293522"/>
                </a:lnTo>
                <a:lnTo>
                  <a:pt x="139903" y="278892"/>
                </a:lnTo>
                <a:lnTo>
                  <a:pt x="141732" y="263347"/>
                </a:lnTo>
                <a:lnTo>
                  <a:pt x="164592" y="0"/>
                </a:lnTo>
                <a:close/>
              </a:path>
            </a:pathLst>
          </a:custGeom>
          <a:solidFill>
            <a:srgbClr val="F7DFCC"/>
          </a:solidFill>
          <a:ln w="25400">
            <a:solidFill>
              <a:srgbClr val="0072B2"/>
            </a:solidFill>
            <a:prstDash val="solid"/>
          </a:ln>
        </p:spPr>
      </p:sp>
      <p:sp>
        <p:nvSpPr>
          <p:cNvPr id="14" name="Shape 12"/>
          <p:cNvSpPr/>
          <p:nvPr/>
        </p:nvSpPr>
        <p:spPr>
          <a:xfrm>
            <a:off x="1178662" y="2701138"/>
            <a:ext cx="1426464" cy="298094"/>
          </a:xfrm>
          <a:custGeom>
            <a:avLst/>
            <a:gdLst/>
            <a:ahLst/>
            <a:cxnLst/>
            <a:rect l="l" t="t" r="r" b="b"/>
            <a:pathLst>
              <a:path w="1426464" h="298094">
                <a:moveTo>
                  <a:pt x="0" y="36576"/>
                </a:moveTo>
                <a:lnTo>
                  <a:pt x="59436" y="31090"/>
                </a:lnTo>
                <a:lnTo>
                  <a:pt x="118872" y="25603"/>
                </a:lnTo>
                <a:lnTo>
                  <a:pt x="178308" y="20117"/>
                </a:lnTo>
                <a:lnTo>
                  <a:pt x="237744" y="16459"/>
                </a:lnTo>
                <a:lnTo>
                  <a:pt x="297180" y="12802"/>
                </a:lnTo>
                <a:lnTo>
                  <a:pt x="356616" y="9144"/>
                </a:lnTo>
                <a:lnTo>
                  <a:pt x="416052" y="6401"/>
                </a:lnTo>
                <a:lnTo>
                  <a:pt x="475488" y="3658"/>
                </a:lnTo>
                <a:lnTo>
                  <a:pt x="534924" y="1829"/>
                </a:lnTo>
                <a:lnTo>
                  <a:pt x="594360" y="914"/>
                </a:lnTo>
                <a:lnTo>
                  <a:pt x="653796" y="0"/>
                </a:lnTo>
                <a:lnTo>
                  <a:pt x="713232" y="0"/>
                </a:lnTo>
                <a:lnTo>
                  <a:pt x="772668" y="0"/>
                </a:lnTo>
                <a:lnTo>
                  <a:pt x="832104" y="914"/>
                </a:lnTo>
                <a:lnTo>
                  <a:pt x="891540" y="1829"/>
                </a:lnTo>
                <a:lnTo>
                  <a:pt x="950976" y="3658"/>
                </a:lnTo>
                <a:lnTo>
                  <a:pt x="1010412" y="6401"/>
                </a:lnTo>
                <a:lnTo>
                  <a:pt x="1069848" y="9144"/>
                </a:lnTo>
                <a:lnTo>
                  <a:pt x="1129284" y="12802"/>
                </a:lnTo>
                <a:lnTo>
                  <a:pt x="1188720" y="16459"/>
                </a:lnTo>
                <a:lnTo>
                  <a:pt x="1248156" y="20117"/>
                </a:lnTo>
                <a:lnTo>
                  <a:pt x="1307592" y="25603"/>
                </a:lnTo>
                <a:lnTo>
                  <a:pt x="1367028" y="31090"/>
                </a:lnTo>
                <a:lnTo>
                  <a:pt x="1426464" y="36576"/>
                </a:lnTo>
                <a:lnTo>
                  <a:pt x="1398118" y="63094"/>
                </a:lnTo>
                <a:lnTo>
                  <a:pt x="1367942" y="88697"/>
                </a:lnTo>
                <a:lnTo>
                  <a:pt x="1335938" y="112471"/>
                </a:lnTo>
                <a:lnTo>
                  <a:pt x="1302106" y="135331"/>
                </a:lnTo>
                <a:lnTo>
                  <a:pt x="1266444" y="157277"/>
                </a:lnTo>
                <a:lnTo>
                  <a:pt x="1229868" y="177394"/>
                </a:lnTo>
                <a:lnTo>
                  <a:pt x="1191463" y="195682"/>
                </a:lnTo>
                <a:lnTo>
                  <a:pt x="1152144" y="213055"/>
                </a:lnTo>
                <a:lnTo>
                  <a:pt x="1111910" y="229514"/>
                </a:lnTo>
                <a:lnTo>
                  <a:pt x="1070762" y="243230"/>
                </a:lnTo>
                <a:lnTo>
                  <a:pt x="1027786" y="256032"/>
                </a:lnTo>
                <a:lnTo>
                  <a:pt x="984809" y="267005"/>
                </a:lnTo>
                <a:lnTo>
                  <a:pt x="940003" y="276149"/>
                </a:lnTo>
                <a:lnTo>
                  <a:pt x="895198" y="284378"/>
                </a:lnTo>
                <a:lnTo>
                  <a:pt x="850392" y="289865"/>
                </a:lnTo>
                <a:lnTo>
                  <a:pt x="804672" y="294437"/>
                </a:lnTo>
                <a:lnTo>
                  <a:pt x="758952" y="297180"/>
                </a:lnTo>
                <a:lnTo>
                  <a:pt x="713232" y="298094"/>
                </a:lnTo>
                <a:lnTo>
                  <a:pt x="667512" y="297180"/>
                </a:lnTo>
                <a:lnTo>
                  <a:pt x="621792" y="294437"/>
                </a:lnTo>
                <a:lnTo>
                  <a:pt x="576072" y="289865"/>
                </a:lnTo>
                <a:lnTo>
                  <a:pt x="531266" y="284378"/>
                </a:lnTo>
                <a:lnTo>
                  <a:pt x="486461" y="276149"/>
                </a:lnTo>
                <a:lnTo>
                  <a:pt x="441655" y="267005"/>
                </a:lnTo>
                <a:lnTo>
                  <a:pt x="398678" y="256032"/>
                </a:lnTo>
                <a:lnTo>
                  <a:pt x="355702" y="243230"/>
                </a:lnTo>
                <a:lnTo>
                  <a:pt x="314554" y="229514"/>
                </a:lnTo>
                <a:lnTo>
                  <a:pt x="274320" y="213055"/>
                </a:lnTo>
                <a:lnTo>
                  <a:pt x="235001" y="195682"/>
                </a:lnTo>
                <a:lnTo>
                  <a:pt x="196596" y="177394"/>
                </a:lnTo>
                <a:lnTo>
                  <a:pt x="160020" y="157277"/>
                </a:lnTo>
                <a:lnTo>
                  <a:pt x="124358" y="135331"/>
                </a:lnTo>
                <a:lnTo>
                  <a:pt x="90526" y="112471"/>
                </a:lnTo>
                <a:lnTo>
                  <a:pt x="58522" y="88697"/>
                </a:lnTo>
                <a:lnTo>
                  <a:pt x="28346" y="63094"/>
                </a:lnTo>
                <a:close/>
              </a:path>
            </a:pathLst>
          </a:custGeom>
          <a:solidFill>
            <a:srgbClr val="E8A673"/>
          </a:solidFill>
          <a:ln w="25400">
            <a:solidFill>
              <a:srgbClr val="D55E00"/>
            </a:solidFill>
            <a:prstDash val="solid"/>
          </a:ln>
        </p:spPr>
      </p:sp>
      <p:sp>
        <p:nvSpPr>
          <p:cNvPr id="15" name="Shape 13"/>
          <p:cNvSpPr/>
          <p:nvPr/>
        </p:nvSpPr>
        <p:spPr>
          <a:xfrm>
            <a:off x="1000354" y="1691640"/>
            <a:ext cx="1783080" cy="1307592"/>
          </a:xfrm>
          <a:custGeom>
            <a:avLst/>
            <a:gdLst/>
            <a:ahLst/>
            <a:cxnLst/>
            <a:rect l="l" t="t" r="r" b="b"/>
            <a:pathLst>
              <a:path w="1783080" h="1307592">
                <a:moveTo>
                  <a:pt x="1783080" y="653796"/>
                </a:moveTo>
                <a:lnTo>
                  <a:pt x="1779422" y="710489"/>
                </a:lnTo>
                <a:lnTo>
                  <a:pt x="1769364" y="767182"/>
                </a:lnTo>
                <a:lnTo>
                  <a:pt x="1752905" y="822960"/>
                </a:lnTo>
                <a:lnTo>
                  <a:pt x="1729130" y="877824"/>
                </a:lnTo>
                <a:lnTo>
                  <a:pt x="1699870" y="929945"/>
                </a:lnTo>
                <a:lnTo>
                  <a:pt x="1663294" y="981151"/>
                </a:lnTo>
                <a:lnTo>
                  <a:pt x="1622146" y="1028700"/>
                </a:lnTo>
                <a:lnTo>
                  <a:pt x="1574597" y="1074420"/>
                </a:lnTo>
                <a:lnTo>
                  <a:pt x="1521562" y="1116482"/>
                </a:lnTo>
                <a:lnTo>
                  <a:pt x="1464869" y="1154887"/>
                </a:lnTo>
                <a:lnTo>
                  <a:pt x="1402690" y="1189634"/>
                </a:lnTo>
                <a:lnTo>
                  <a:pt x="1337767" y="1219810"/>
                </a:lnTo>
                <a:lnTo>
                  <a:pt x="1268273" y="1246327"/>
                </a:lnTo>
                <a:lnTo>
                  <a:pt x="1196035" y="1268273"/>
                </a:lnTo>
                <a:lnTo>
                  <a:pt x="1121969" y="1285646"/>
                </a:lnTo>
                <a:lnTo>
                  <a:pt x="1046074" y="1297534"/>
                </a:lnTo>
                <a:lnTo>
                  <a:pt x="969264" y="1304849"/>
                </a:lnTo>
                <a:lnTo>
                  <a:pt x="891540" y="1307592"/>
                </a:lnTo>
                <a:lnTo>
                  <a:pt x="813816" y="1304849"/>
                </a:lnTo>
                <a:lnTo>
                  <a:pt x="737006" y="1297534"/>
                </a:lnTo>
                <a:lnTo>
                  <a:pt x="661111" y="1285646"/>
                </a:lnTo>
                <a:lnTo>
                  <a:pt x="587045" y="1268273"/>
                </a:lnTo>
                <a:lnTo>
                  <a:pt x="514807" y="1246327"/>
                </a:lnTo>
                <a:lnTo>
                  <a:pt x="446227" y="1219810"/>
                </a:lnTo>
                <a:lnTo>
                  <a:pt x="380390" y="1189634"/>
                </a:lnTo>
                <a:lnTo>
                  <a:pt x="318211" y="1154887"/>
                </a:lnTo>
                <a:lnTo>
                  <a:pt x="261518" y="1116482"/>
                </a:lnTo>
                <a:lnTo>
                  <a:pt x="208483" y="1074420"/>
                </a:lnTo>
                <a:lnTo>
                  <a:pt x="160934" y="1028700"/>
                </a:lnTo>
                <a:lnTo>
                  <a:pt x="119786" y="981151"/>
                </a:lnTo>
                <a:lnTo>
                  <a:pt x="83210" y="929945"/>
                </a:lnTo>
                <a:lnTo>
                  <a:pt x="53950" y="877824"/>
                </a:lnTo>
                <a:lnTo>
                  <a:pt x="30175" y="822960"/>
                </a:lnTo>
                <a:lnTo>
                  <a:pt x="13716" y="767182"/>
                </a:lnTo>
                <a:lnTo>
                  <a:pt x="3658" y="710489"/>
                </a:lnTo>
                <a:lnTo>
                  <a:pt x="0" y="653796"/>
                </a:lnTo>
                <a:lnTo>
                  <a:pt x="3658" y="597103"/>
                </a:lnTo>
                <a:lnTo>
                  <a:pt x="13716" y="540410"/>
                </a:lnTo>
                <a:lnTo>
                  <a:pt x="30175" y="484632"/>
                </a:lnTo>
                <a:lnTo>
                  <a:pt x="53950" y="429768"/>
                </a:lnTo>
                <a:lnTo>
                  <a:pt x="83210" y="377647"/>
                </a:lnTo>
                <a:lnTo>
                  <a:pt x="119786" y="327355"/>
                </a:lnTo>
                <a:lnTo>
                  <a:pt x="160934" y="278892"/>
                </a:lnTo>
                <a:lnTo>
                  <a:pt x="208483" y="233172"/>
                </a:lnTo>
                <a:lnTo>
                  <a:pt x="261518" y="191110"/>
                </a:lnTo>
                <a:lnTo>
                  <a:pt x="318211" y="152705"/>
                </a:lnTo>
                <a:lnTo>
                  <a:pt x="380390" y="117958"/>
                </a:lnTo>
                <a:lnTo>
                  <a:pt x="445313" y="87782"/>
                </a:lnTo>
                <a:lnTo>
                  <a:pt x="514807" y="61265"/>
                </a:lnTo>
                <a:lnTo>
                  <a:pt x="587045" y="39319"/>
                </a:lnTo>
                <a:lnTo>
                  <a:pt x="661111" y="21946"/>
                </a:lnTo>
                <a:lnTo>
                  <a:pt x="737006" y="10058"/>
                </a:lnTo>
                <a:lnTo>
                  <a:pt x="813816" y="2743"/>
                </a:lnTo>
                <a:lnTo>
                  <a:pt x="891540" y="0"/>
                </a:lnTo>
                <a:lnTo>
                  <a:pt x="969264" y="2743"/>
                </a:lnTo>
                <a:lnTo>
                  <a:pt x="1046074" y="10058"/>
                </a:lnTo>
                <a:lnTo>
                  <a:pt x="1121969" y="21946"/>
                </a:lnTo>
                <a:lnTo>
                  <a:pt x="1196035" y="39319"/>
                </a:lnTo>
                <a:lnTo>
                  <a:pt x="1268273" y="61265"/>
                </a:lnTo>
                <a:lnTo>
                  <a:pt x="1336853" y="87782"/>
                </a:lnTo>
                <a:lnTo>
                  <a:pt x="1402690" y="117958"/>
                </a:lnTo>
                <a:lnTo>
                  <a:pt x="1464869" y="152705"/>
                </a:lnTo>
                <a:lnTo>
                  <a:pt x="1521562" y="191110"/>
                </a:lnTo>
                <a:lnTo>
                  <a:pt x="1574597" y="233172"/>
                </a:lnTo>
                <a:lnTo>
                  <a:pt x="1622146" y="278892"/>
                </a:lnTo>
                <a:lnTo>
                  <a:pt x="1663294" y="327355"/>
                </a:lnTo>
                <a:lnTo>
                  <a:pt x="1699870" y="377647"/>
                </a:lnTo>
                <a:lnTo>
                  <a:pt x="1729130" y="429768"/>
                </a:lnTo>
                <a:lnTo>
                  <a:pt x="1752905" y="484632"/>
                </a:lnTo>
                <a:lnTo>
                  <a:pt x="1769364" y="540410"/>
                </a:lnTo>
                <a:lnTo>
                  <a:pt x="1779422" y="597103"/>
                </a:lnTo>
                <a:close/>
              </a:path>
            </a:pathLst>
          </a:custGeom>
          <a:noFill/>
          <a:ln w="31750">
            <a:solidFill>
              <a:srgbClr val="595959"/>
            </a:solidFill>
            <a:prstDash val="solid"/>
          </a:ln>
        </p:spPr>
      </p:sp>
      <p:sp>
        <p:nvSpPr>
          <p:cNvPr id="16" name="Shape 14"/>
          <p:cNvSpPr/>
          <p:nvPr/>
        </p:nvSpPr>
        <p:spPr>
          <a:xfrm>
            <a:off x="502920" y="3218688"/>
            <a:ext cx="2777947" cy="2002536"/>
          </a:xfrm>
          <a:prstGeom prst="roundRect">
            <a:avLst>
              <a:gd name="adj" fmla="val 3653"/>
            </a:avLst>
          </a:prstGeom>
          <a:solidFill>
            <a:srgbClr val="F2F2F2"/>
          </a:solidFill>
          <a:ln/>
        </p:spPr>
      </p:sp>
      <p:sp>
        <p:nvSpPr>
          <p:cNvPr id="17" name="Text 15"/>
          <p:cNvSpPr txBox="1"/>
          <p:nvPr/>
        </p:nvSpPr>
        <p:spPr>
          <a:xfrm>
            <a:off x="640080" y="3328416"/>
            <a:ext cx="2503627" cy="457200"/>
          </a:xfrm>
          <a:prstGeom prst="rect">
            <a:avLst/>
          </a:prstGeom>
          <a:noFill/>
          <a:ln/>
        </p:spPr>
        <p:txBody>
          <a:bodyPr wrap="square" lIns="0" tIns="0" rIns="0" bIns="0" rtlCol="0" anchor="t"/>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class I</a:t>
            </a:r>
            <a:endParaRPr lang="ja-JP" sz="2400" dirty="0"/>
          </a:p>
        </p:txBody>
      </p:sp>
      <p:sp>
        <p:nvSpPr>
          <p:cNvPr id="18" name="Text 16"/>
          <p:cNvSpPr txBox="1"/>
          <p:nvPr/>
        </p:nvSpPr>
        <p:spPr>
          <a:xfrm>
            <a:off x="640080" y="3822192"/>
            <a:ext cx="2503627"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軟口蓋、口蓋弓、</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口蓋垂が</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全部見える</a:t>
            </a:r>
            <a:endParaRPr lang="ja-JP" sz="2200" dirty="0"/>
          </a:p>
        </p:txBody>
      </p:sp>
      <p:sp>
        <p:nvSpPr>
          <p:cNvPr id="19" name="Shape 17"/>
          <p:cNvSpPr/>
          <p:nvPr/>
        </p:nvSpPr>
        <p:spPr>
          <a:xfrm>
            <a:off x="3997757" y="1691640"/>
            <a:ext cx="1783080" cy="1307592"/>
          </a:xfrm>
          <a:custGeom>
            <a:avLst/>
            <a:gdLst/>
            <a:ahLst/>
            <a:cxnLst/>
            <a:rect l="l" t="t" r="r" b="b"/>
            <a:pathLst>
              <a:path w="1783080" h="1307592">
                <a:moveTo>
                  <a:pt x="1783080" y="653796"/>
                </a:moveTo>
                <a:lnTo>
                  <a:pt x="1779422" y="710489"/>
                </a:lnTo>
                <a:lnTo>
                  <a:pt x="1769364" y="767182"/>
                </a:lnTo>
                <a:lnTo>
                  <a:pt x="1752905" y="822960"/>
                </a:lnTo>
                <a:lnTo>
                  <a:pt x="1729130" y="877824"/>
                </a:lnTo>
                <a:lnTo>
                  <a:pt x="1699870" y="929945"/>
                </a:lnTo>
                <a:lnTo>
                  <a:pt x="1663294" y="981151"/>
                </a:lnTo>
                <a:lnTo>
                  <a:pt x="1622146" y="1028700"/>
                </a:lnTo>
                <a:lnTo>
                  <a:pt x="1574597" y="1074420"/>
                </a:lnTo>
                <a:lnTo>
                  <a:pt x="1521562" y="1116482"/>
                </a:lnTo>
                <a:lnTo>
                  <a:pt x="1464869" y="1154887"/>
                </a:lnTo>
                <a:lnTo>
                  <a:pt x="1402690" y="1189634"/>
                </a:lnTo>
                <a:lnTo>
                  <a:pt x="1337767" y="1219810"/>
                </a:lnTo>
                <a:lnTo>
                  <a:pt x="1268273" y="1246327"/>
                </a:lnTo>
                <a:lnTo>
                  <a:pt x="1196035" y="1268273"/>
                </a:lnTo>
                <a:lnTo>
                  <a:pt x="1121969" y="1285646"/>
                </a:lnTo>
                <a:lnTo>
                  <a:pt x="1046074" y="1297534"/>
                </a:lnTo>
                <a:lnTo>
                  <a:pt x="969264" y="1304849"/>
                </a:lnTo>
                <a:lnTo>
                  <a:pt x="891540" y="1307592"/>
                </a:lnTo>
                <a:lnTo>
                  <a:pt x="813816" y="1304849"/>
                </a:lnTo>
                <a:lnTo>
                  <a:pt x="737006" y="1297534"/>
                </a:lnTo>
                <a:lnTo>
                  <a:pt x="661111" y="1285646"/>
                </a:lnTo>
                <a:lnTo>
                  <a:pt x="587045" y="1268273"/>
                </a:lnTo>
                <a:lnTo>
                  <a:pt x="514807" y="1246327"/>
                </a:lnTo>
                <a:lnTo>
                  <a:pt x="446227" y="1219810"/>
                </a:lnTo>
                <a:lnTo>
                  <a:pt x="380390" y="1189634"/>
                </a:lnTo>
                <a:lnTo>
                  <a:pt x="318211" y="1154887"/>
                </a:lnTo>
                <a:lnTo>
                  <a:pt x="261518" y="1116482"/>
                </a:lnTo>
                <a:lnTo>
                  <a:pt x="208483" y="1074420"/>
                </a:lnTo>
                <a:lnTo>
                  <a:pt x="160934" y="1028700"/>
                </a:lnTo>
                <a:lnTo>
                  <a:pt x="119786" y="981151"/>
                </a:lnTo>
                <a:lnTo>
                  <a:pt x="83210" y="929945"/>
                </a:lnTo>
                <a:lnTo>
                  <a:pt x="53950" y="877824"/>
                </a:lnTo>
                <a:lnTo>
                  <a:pt x="30175" y="822960"/>
                </a:lnTo>
                <a:lnTo>
                  <a:pt x="13716" y="767182"/>
                </a:lnTo>
                <a:lnTo>
                  <a:pt x="3658" y="710489"/>
                </a:lnTo>
                <a:lnTo>
                  <a:pt x="0" y="653796"/>
                </a:lnTo>
                <a:lnTo>
                  <a:pt x="3658" y="597103"/>
                </a:lnTo>
                <a:lnTo>
                  <a:pt x="13716" y="540410"/>
                </a:lnTo>
                <a:lnTo>
                  <a:pt x="30175" y="484632"/>
                </a:lnTo>
                <a:lnTo>
                  <a:pt x="53950" y="429768"/>
                </a:lnTo>
                <a:lnTo>
                  <a:pt x="83210" y="377647"/>
                </a:lnTo>
                <a:lnTo>
                  <a:pt x="119786" y="327355"/>
                </a:lnTo>
                <a:lnTo>
                  <a:pt x="160934" y="278892"/>
                </a:lnTo>
                <a:lnTo>
                  <a:pt x="208483" y="233172"/>
                </a:lnTo>
                <a:lnTo>
                  <a:pt x="261518" y="191110"/>
                </a:lnTo>
                <a:lnTo>
                  <a:pt x="318211" y="152705"/>
                </a:lnTo>
                <a:lnTo>
                  <a:pt x="380390" y="117958"/>
                </a:lnTo>
                <a:lnTo>
                  <a:pt x="446227" y="87782"/>
                </a:lnTo>
                <a:lnTo>
                  <a:pt x="514807" y="61265"/>
                </a:lnTo>
                <a:lnTo>
                  <a:pt x="587045" y="39319"/>
                </a:lnTo>
                <a:lnTo>
                  <a:pt x="661111" y="21946"/>
                </a:lnTo>
                <a:lnTo>
                  <a:pt x="737006" y="10058"/>
                </a:lnTo>
                <a:lnTo>
                  <a:pt x="813816" y="2743"/>
                </a:lnTo>
                <a:lnTo>
                  <a:pt x="891540" y="0"/>
                </a:lnTo>
                <a:lnTo>
                  <a:pt x="969264" y="2743"/>
                </a:lnTo>
                <a:lnTo>
                  <a:pt x="1046074" y="10058"/>
                </a:lnTo>
                <a:lnTo>
                  <a:pt x="1121969" y="21946"/>
                </a:lnTo>
                <a:lnTo>
                  <a:pt x="1196035" y="39319"/>
                </a:lnTo>
                <a:lnTo>
                  <a:pt x="1268273" y="61265"/>
                </a:lnTo>
                <a:lnTo>
                  <a:pt x="1336853" y="87782"/>
                </a:lnTo>
                <a:lnTo>
                  <a:pt x="1402690" y="117958"/>
                </a:lnTo>
                <a:lnTo>
                  <a:pt x="1464869" y="152705"/>
                </a:lnTo>
                <a:lnTo>
                  <a:pt x="1521562" y="191110"/>
                </a:lnTo>
                <a:lnTo>
                  <a:pt x="1574597" y="233172"/>
                </a:lnTo>
                <a:lnTo>
                  <a:pt x="1622146" y="278892"/>
                </a:lnTo>
                <a:lnTo>
                  <a:pt x="1663294" y="327355"/>
                </a:lnTo>
                <a:lnTo>
                  <a:pt x="1699870" y="377647"/>
                </a:lnTo>
                <a:lnTo>
                  <a:pt x="1729130" y="429768"/>
                </a:lnTo>
                <a:lnTo>
                  <a:pt x="1752905" y="484632"/>
                </a:lnTo>
                <a:lnTo>
                  <a:pt x="1769364" y="540410"/>
                </a:lnTo>
                <a:lnTo>
                  <a:pt x="1779422" y="597103"/>
                </a:lnTo>
                <a:close/>
              </a:path>
            </a:pathLst>
          </a:custGeom>
          <a:solidFill>
            <a:srgbClr val="F7DFCC"/>
          </a:solidFill>
          <a:ln w="12700">
            <a:solidFill>
              <a:srgbClr val="F7DFCC"/>
            </a:solidFill>
            <a:prstDash val="solid"/>
          </a:ln>
        </p:spPr>
      </p:sp>
      <p:sp>
        <p:nvSpPr>
          <p:cNvPr id="20" name="Shape 18"/>
          <p:cNvSpPr/>
          <p:nvPr/>
        </p:nvSpPr>
        <p:spPr>
          <a:xfrm>
            <a:off x="4568342" y="1953158"/>
            <a:ext cx="641909" cy="967435"/>
          </a:xfrm>
          <a:custGeom>
            <a:avLst/>
            <a:gdLst/>
            <a:ahLst/>
            <a:cxnLst/>
            <a:rect l="l" t="t" r="r" b="b"/>
            <a:pathLst>
              <a:path w="641909" h="967435">
                <a:moveTo>
                  <a:pt x="0" y="967435"/>
                </a:moveTo>
                <a:lnTo>
                  <a:pt x="0" y="470916"/>
                </a:lnTo>
                <a:lnTo>
                  <a:pt x="2743" y="409651"/>
                </a:lnTo>
                <a:lnTo>
                  <a:pt x="10973" y="349301"/>
                </a:lnTo>
                <a:lnTo>
                  <a:pt x="24689" y="290779"/>
                </a:lnTo>
                <a:lnTo>
                  <a:pt x="42977" y="235001"/>
                </a:lnTo>
                <a:lnTo>
                  <a:pt x="66751" y="183794"/>
                </a:lnTo>
                <a:lnTo>
                  <a:pt x="94183" y="138074"/>
                </a:lnTo>
                <a:lnTo>
                  <a:pt x="125273" y="96926"/>
                </a:lnTo>
                <a:lnTo>
                  <a:pt x="160934" y="63094"/>
                </a:lnTo>
                <a:lnTo>
                  <a:pt x="198425" y="35662"/>
                </a:lnTo>
                <a:lnTo>
                  <a:pt x="237744" y="16459"/>
                </a:lnTo>
                <a:lnTo>
                  <a:pt x="278892" y="3658"/>
                </a:lnTo>
                <a:lnTo>
                  <a:pt x="320954" y="0"/>
                </a:lnTo>
                <a:lnTo>
                  <a:pt x="363017" y="3658"/>
                </a:lnTo>
                <a:lnTo>
                  <a:pt x="404165" y="16459"/>
                </a:lnTo>
                <a:lnTo>
                  <a:pt x="443484" y="35662"/>
                </a:lnTo>
                <a:lnTo>
                  <a:pt x="481889" y="63094"/>
                </a:lnTo>
                <a:lnTo>
                  <a:pt x="516636" y="96926"/>
                </a:lnTo>
                <a:lnTo>
                  <a:pt x="547726" y="138074"/>
                </a:lnTo>
                <a:lnTo>
                  <a:pt x="575158" y="183794"/>
                </a:lnTo>
                <a:lnTo>
                  <a:pt x="598932" y="235001"/>
                </a:lnTo>
                <a:lnTo>
                  <a:pt x="617220" y="290779"/>
                </a:lnTo>
                <a:lnTo>
                  <a:pt x="630936" y="349301"/>
                </a:lnTo>
                <a:lnTo>
                  <a:pt x="639166" y="409651"/>
                </a:lnTo>
                <a:lnTo>
                  <a:pt x="641909" y="470916"/>
                </a:lnTo>
                <a:lnTo>
                  <a:pt x="641909" y="967435"/>
                </a:lnTo>
                <a:close/>
              </a:path>
            </a:pathLst>
          </a:custGeom>
          <a:solidFill>
            <a:srgbClr val="404040"/>
          </a:solidFill>
          <a:ln w="31750">
            <a:solidFill>
              <a:srgbClr val="0072B2"/>
            </a:solidFill>
            <a:prstDash val="solid"/>
          </a:ln>
        </p:spPr>
      </p:sp>
      <p:sp>
        <p:nvSpPr>
          <p:cNvPr id="21" name="Shape 19"/>
          <p:cNvSpPr/>
          <p:nvPr/>
        </p:nvSpPr>
        <p:spPr>
          <a:xfrm>
            <a:off x="4807001" y="1944014"/>
            <a:ext cx="164592" cy="322783"/>
          </a:xfrm>
          <a:custGeom>
            <a:avLst/>
            <a:gdLst/>
            <a:ahLst/>
            <a:cxnLst/>
            <a:rect l="l" t="t" r="r" b="b"/>
            <a:pathLst>
              <a:path w="164592" h="322783">
                <a:moveTo>
                  <a:pt x="0" y="0"/>
                </a:moveTo>
                <a:lnTo>
                  <a:pt x="22860" y="263347"/>
                </a:lnTo>
                <a:lnTo>
                  <a:pt x="24689" y="278892"/>
                </a:lnTo>
                <a:lnTo>
                  <a:pt x="31090" y="293522"/>
                </a:lnTo>
                <a:lnTo>
                  <a:pt x="40234" y="305410"/>
                </a:lnTo>
                <a:lnTo>
                  <a:pt x="53035" y="314554"/>
                </a:lnTo>
                <a:lnTo>
                  <a:pt x="66751" y="320954"/>
                </a:lnTo>
                <a:lnTo>
                  <a:pt x="82296" y="322783"/>
                </a:lnTo>
                <a:lnTo>
                  <a:pt x="97841" y="320954"/>
                </a:lnTo>
                <a:lnTo>
                  <a:pt x="112471" y="314554"/>
                </a:lnTo>
                <a:lnTo>
                  <a:pt x="124358" y="305410"/>
                </a:lnTo>
                <a:lnTo>
                  <a:pt x="133502" y="293522"/>
                </a:lnTo>
                <a:lnTo>
                  <a:pt x="139903" y="278892"/>
                </a:lnTo>
                <a:lnTo>
                  <a:pt x="141732" y="263347"/>
                </a:lnTo>
                <a:lnTo>
                  <a:pt x="164592" y="0"/>
                </a:lnTo>
                <a:close/>
              </a:path>
            </a:pathLst>
          </a:custGeom>
          <a:solidFill>
            <a:srgbClr val="F7DFCC"/>
          </a:solidFill>
          <a:ln w="25400">
            <a:solidFill>
              <a:srgbClr val="0072B2"/>
            </a:solidFill>
            <a:prstDash val="solid"/>
          </a:ln>
        </p:spPr>
      </p:sp>
      <p:sp>
        <p:nvSpPr>
          <p:cNvPr id="22" name="Shape 20"/>
          <p:cNvSpPr/>
          <p:nvPr/>
        </p:nvSpPr>
        <p:spPr>
          <a:xfrm>
            <a:off x="4002329" y="2374697"/>
            <a:ext cx="1773936" cy="624535"/>
          </a:xfrm>
          <a:custGeom>
            <a:avLst/>
            <a:gdLst/>
            <a:ahLst/>
            <a:cxnLst/>
            <a:rect l="l" t="t" r="r" b="b"/>
            <a:pathLst>
              <a:path w="1773936" h="624535">
                <a:moveTo>
                  <a:pt x="0" y="36576"/>
                </a:moveTo>
                <a:lnTo>
                  <a:pt x="74066" y="30175"/>
                </a:lnTo>
                <a:lnTo>
                  <a:pt x="148133" y="24689"/>
                </a:lnTo>
                <a:lnTo>
                  <a:pt x="221285" y="20117"/>
                </a:lnTo>
                <a:lnTo>
                  <a:pt x="295351" y="15545"/>
                </a:lnTo>
                <a:lnTo>
                  <a:pt x="369418" y="11887"/>
                </a:lnTo>
                <a:lnTo>
                  <a:pt x="443484" y="9144"/>
                </a:lnTo>
                <a:lnTo>
                  <a:pt x="517550" y="5486"/>
                </a:lnTo>
                <a:lnTo>
                  <a:pt x="591617" y="3658"/>
                </a:lnTo>
                <a:lnTo>
                  <a:pt x="664769" y="1829"/>
                </a:lnTo>
                <a:lnTo>
                  <a:pt x="738835" y="914"/>
                </a:lnTo>
                <a:lnTo>
                  <a:pt x="812902" y="0"/>
                </a:lnTo>
                <a:lnTo>
                  <a:pt x="886968" y="0"/>
                </a:lnTo>
                <a:lnTo>
                  <a:pt x="961034" y="0"/>
                </a:lnTo>
                <a:lnTo>
                  <a:pt x="1035101" y="914"/>
                </a:lnTo>
                <a:lnTo>
                  <a:pt x="1109167" y="1829"/>
                </a:lnTo>
                <a:lnTo>
                  <a:pt x="1182319" y="3658"/>
                </a:lnTo>
                <a:lnTo>
                  <a:pt x="1256386" y="5486"/>
                </a:lnTo>
                <a:lnTo>
                  <a:pt x="1330452" y="9144"/>
                </a:lnTo>
                <a:lnTo>
                  <a:pt x="1404518" y="11887"/>
                </a:lnTo>
                <a:lnTo>
                  <a:pt x="1478585" y="15545"/>
                </a:lnTo>
                <a:lnTo>
                  <a:pt x="1552651" y="20117"/>
                </a:lnTo>
                <a:lnTo>
                  <a:pt x="1625803" y="24689"/>
                </a:lnTo>
                <a:lnTo>
                  <a:pt x="1699870" y="30175"/>
                </a:lnTo>
                <a:lnTo>
                  <a:pt x="1773936" y="36576"/>
                </a:lnTo>
                <a:lnTo>
                  <a:pt x="1763878" y="88697"/>
                </a:lnTo>
                <a:lnTo>
                  <a:pt x="1747418" y="140818"/>
                </a:lnTo>
                <a:lnTo>
                  <a:pt x="1725473" y="192024"/>
                </a:lnTo>
                <a:lnTo>
                  <a:pt x="1698041" y="241402"/>
                </a:lnTo>
                <a:lnTo>
                  <a:pt x="1666037" y="288950"/>
                </a:lnTo>
                <a:lnTo>
                  <a:pt x="1627632" y="334670"/>
                </a:lnTo>
                <a:lnTo>
                  <a:pt x="1584655" y="377647"/>
                </a:lnTo>
                <a:lnTo>
                  <a:pt x="1537106" y="417881"/>
                </a:lnTo>
                <a:lnTo>
                  <a:pt x="1484986" y="455371"/>
                </a:lnTo>
                <a:lnTo>
                  <a:pt x="1429207" y="490118"/>
                </a:lnTo>
                <a:lnTo>
                  <a:pt x="1369771" y="520294"/>
                </a:lnTo>
                <a:lnTo>
                  <a:pt x="1306678" y="547726"/>
                </a:lnTo>
                <a:lnTo>
                  <a:pt x="1240841" y="570586"/>
                </a:lnTo>
                <a:lnTo>
                  <a:pt x="1173175" y="589788"/>
                </a:lnTo>
                <a:lnTo>
                  <a:pt x="1103681" y="605333"/>
                </a:lnTo>
                <a:lnTo>
                  <a:pt x="1032358" y="615391"/>
                </a:lnTo>
                <a:lnTo>
                  <a:pt x="960120" y="622706"/>
                </a:lnTo>
                <a:lnTo>
                  <a:pt x="886968" y="624535"/>
                </a:lnTo>
                <a:lnTo>
                  <a:pt x="813816" y="622706"/>
                </a:lnTo>
                <a:lnTo>
                  <a:pt x="741578" y="615391"/>
                </a:lnTo>
                <a:lnTo>
                  <a:pt x="670255" y="605333"/>
                </a:lnTo>
                <a:lnTo>
                  <a:pt x="600761" y="589788"/>
                </a:lnTo>
                <a:lnTo>
                  <a:pt x="533095" y="570586"/>
                </a:lnTo>
                <a:lnTo>
                  <a:pt x="467258" y="547726"/>
                </a:lnTo>
                <a:lnTo>
                  <a:pt x="404165" y="520294"/>
                </a:lnTo>
                <a:lnTo>
                  <a:pt x="344729" y="490118"/>
                </a:lnTo>
                <a:lnTo>
                  <a:pt x="288950" y="455371"/>
                </a:lnTo>
                <a:lnTo>
                  <a:pt x="236830" y="417881"/>
                </a:lnTo>
                <a:lnTo>
                  <a:pt x="189281" y="377647"/>
                </a:lnTo>
                <a:lnTo>
                  <a:pt x="146304" y="334670"/>
                </a:lnTo>
                <a:lnTo>
                  <a:pt x="107899" y="288950"/>
                </a:lnTo>
                <a:lnTo>
                  <a:pt x="75895" y="241402"/>
                </a:lnTo>
                <a:lnTo>
                  <a:pt x="48463" y="192024"/>
                </a:lnTo>
                <a:lnTo>
                  <a:pt x="26518" y="140818"/>
                </a:lnTo>
                <a:lnTo>
                  <a:pt x="10058" y="88697"/>
                </a:lnTo>
                <a:close/>
              </a:path>
            </a:pathLst>
          </a:custGeom>
          <a:solidFill>
            <a:srgbClr val="E8A673"/>
          </a:solidFill>
          <a:ln w="25400">
            <a:solidFill>
              <a:srgbClr val="D55E00"/>
            </a:solidFill>
            <a:prstDash val="solid"/>
          </a:ln>
        </p:spPr>
      </p:sp>
      <p:sp>
        <p:nvSpPr>
          <p:cNvPr id="23" name="Shape 21"/>
          <p:cNvSpPr/>
          <p:nvPr/>
        </p:nvSpPr>
        <p:spPr>
          <a:xfrm>
            <a:off x="3997757" y="1691640"/>
            <a:ext cx="1783080" cy="1307592"/>
          </a:xfrm>
          <a:custGeom>
            <a:avLst/>
            <a:gdLst/>
            <a:ahLst/>
            <a:cxnLst/>
            <a:rect l="l" t="t" r="r" b="b"/>
            <a:pathLst>
              <a:path w="1783080" h="1307592">
                <a:moveTo>
                  <a:pt x="1783080" y="653796"/>
                </a:moveTo>
                <a:lnTo>
                  <a:pt x="1779422" y="710489"/>
                </a:lnTo>
                <a:lnTo>
                  <a:pt x="1769364" y="767182"/>
                </a:lnTo>
                <a:lnTo>
                  <a:pt x="1752905" y="822960"/>
                </a:lnTo>
                <a:lnTo>
                  <a:pt x="1729130" y="877824"/>
                </a:lnTo>
                <a:lnTo>
                  <a:pt x="1699870" y="929945"/>
                </a:lnTo>
                <a:lnTo>
                  <a:pt x="1663294" y="981151"/>
                </a:lnTo>
                <a:lnTo>
                  <a:pt x="1622146" y="1028700"/>
                </a:lnTo>
                <a:lnTo>
                  <a:pt x="1574597" y="1074420"/>
                </a:lnTo>
                <a:lnTo>
                  <a:pt x="1521562" y="1116482"/>
                </a:lnTo>
                <a:lnTo>
                  <a:pt x="1464869" y="1154887"/>
                </a:lnTo>
                <a:lnTo>
                  <a:pt x="1402690" y="1189634"/>
                </a:lnTo>
                <a:lnTo>
                  <a:pt x="1337767" y="1219810"/>
                </a:lnTo>
                <a:lnTo>
                  <a:pt x="1268273" y="1246327"/>
                </a:lnTo>
                <a:lnTo>
                  <a:pt x="1196035" y="1268273"/>
                </a:lnTo>
                <a:lnTo>
                  <a:pt x="1121969" y="1285646"/>
                </a:lnTo>
                <a:lnTo>
                  <a:pt x="1046074" y="1297534"/>
                </a:lnTo>
                <a:lnTo>
                  <a:pt x="969264" y="1304849"/>
                </a:lnTo>
                <a:lnTo>
                  <a:pt x="891540" y="1307592"/>
                </a:lnTo>
                <a:lnTo>
                  <a:pt x="813816" y="1304849"/>
                </a:lnTo>
                <a:lnTo>
                  <a:pt x="737006" y="1297534"/>
                </a:lnTo>
                <a:lnTo>
                  <a:pt x="661111" y="1285646"/>
                </a:lnTo>
                <a:lnTo>
                  <a:pt x="587045" y="1268273"/>
                </a:lnTo>
                <a:lnTo>
                  <a:pt x="514807" y="1246327"/>
                </a:lnTo>
                <a:lnTo>
                  <a:pt x="446227" y="1219810"/>
                </a:lnTo>
                <a:lnTo>
                  <a:pt x="380390" y="1189634"/>
                </a:lnTo>
                <a:lnTo>
                  <a:pt x="318211" y="1154887"/>
                </a:lnTo>
                <a:lnTo>
                  <a:pt x="261518" y="1116482"/>
                </a:lnTo>
                <a:lnTo>
                  <a:pt x="208483" y="1074420"/>
                </a:lnTo>
                <a:lnTo>
                  <a:pt x="160934" y="1028700"/>
                </a:lnTo>
                <a:lnTo>
                  <a:pt x="119786" y="981151"/>
                </a:lnTo>
                <a:lnTo>
                  <a:pt x="83210" y="929945"/>
                </a:lnTo>
                <a:lnTo>
                  <a:pt x="53950" y="877824"/>
                </a:lnTo>
                <a:lnTo>
                  <a:pt x="30175" y="822960"/>
                </a:lnTo>
                <a:lnTo>
                  <a:pt x="13716" y="767182"/>
                </a:lnTo>
                <a:lnTo>
                  <a:pt x="3658" y="710489"/>
                </a:lnTo>
                <a:lnTo>
                  <a:pt x="0" y="653796"/>
                </a:lnTo>
                <a:lnTo>
                  <a:pt x="3658" y="597103"/>
                </a:lnTo>
                <a:lnTo>
                  <a:pt x="13716" y="540410"/>
                </a:lnTo>
                <a:lnTo>
                  <a:pt x="30175" y="484632"/>
                </a:lnTo>
                <a:lnTo>
                  <a:pt x="53950" y="429768"/>
                </a:lnTo>
                <a:lnTo>
                  <a:pt x="83210" y="377647"/>
                </a:lnTo>
                <a:lnTo>
                  <a:pt x="119786" y="327355"/>
                </a:lnTo>
                <a:lnTo>
                  <a:pt x="160934" y="278892"/>
                </a:lnTo>
                <a:lnTo>
                  <a:pt x="208483" y="233172"/>
                </a:lnTo>
                <a:lnTo>
                  <a:pt x="261518" y="191110"/>
                </a:lnTo>
                <a:lnTo>
                  <a:pt x="318211" y="152705"/>
                </a:lnTo>
                <a:lnTo>
                  <a:pt x="380390" y="117958"/>
                </a:lnTo>
                <a:lnTo>
                  <a:pt x="446227" y="87782"/>
                </a:lnTo>
                <a:lnTo>
                  <a:pt x="514807" y="61265"/>
                </a:lnTo>
                <a:lnTo>
                  <a:pt x="587045" y="39319"/>
                </a:lnTo>
                <a:lnTo>
                  <a:pt x="661111" y="21946"/>
                </a:lnTo>
                <a:lnTo>
                  <a:pt x="737006" y="10058"/>
                </a:lnTo>
                <a:lnTo>
                  <a:pt x="813816" y="2743"/>
                </a:lnTo>
                <a:lnTo>
                  <a:pt x="891540" y="0"/>
                </a:lnTo>
                <a:lnTo>
                  <a:pt x="969264" y="2743"/>
                </a:lnTo>
                <a:lnTo>
                  <a:pt x="1046074" y="10058"/>
                </a:lnTo>
                <a:lnTo>
                  <a:pt x="1121969" y="21946"/>
                </a:lnTo>
                <a:lnTo>
                  <a:pt x="1196035" y="39319"/>
                </a:lnTo>
                <a:lnTo>
                  <a:pt x="1268273" y="61265"/>
                </a:lnTo>
                <a:lnTo>
                  <a:pt x="1336853" y="87782"/>
                </a:lnTo>
                <a:lnTo>
                  <a:pt x="1402690" y="117958"/>
                </a:lnTo>
                <a:lnTo>
                  <a:pt x="1464869" y="152705"/>
                </a:lnTo>
                <a:lnTo>
                  <a:pt x="1521562" y="191110"/>
                </a:lnTo>
                <a:lnTo>
                  <a:pt x="1574597" y="233172"/>
                </a:lnTo>
                <a:lnTo>
                  <a:pt x="1622146" y="278892"/>
                </a:lnTo>
                <a:lnTo>
                  <a:pt x="1663294" y="327355"/>
                </a:lnTo>
                <a:lnTo>
                  <a:pt x="1699870" y="377647"/>
                </a:lnTo>
                <a:lnTo>
                  <a:pt x="1729130" y="429768"/>
                </a:lnTo>
                <a:lnTo>
                  <a:pt x="1752905" y="484632"/>
                </a:lnTo>
                <a:lnTo>
                  <a:pt x="1769364" y="540410"/>
                </a:lnTo>
                <a:lnTo>
                  <a:pt x="1779422" y="597103"/>
                </a:lnTo>
                <a:close/>
              </a:path>
            </a:pathLst>
          </a:custGeom>
          <a:noFill/>
          <a:ln w="31750">
            <a:solidFill>
              <a:srgbClr val="595959"/>
            </a:solidFill>
            <a:prstDash val="solid"/>
          </a:ln>
        </p:spPr>
      </p:sp>
      <p:sp>
        <p:nvSpPr>
          <p:cNvPr id="24" name="Shape 22"/>
          <p:cNvSpPr/>
          <p:nvPr/>
        </p:nvSpPr>
        <p:spPr>
          <a:xfrm>
            <a:off x="3500323" y="3218688"/>
            <a:ext cx="2777947" cy="2002536"/>
          </a:xfrm>
          <a:prstGeom prst="roundRect">
            <a:avLst>
              <a:gd name="adj" fmla="val 3653"/>
            </a:avLst>
          </a:prstGeom>
          <a:solidFill>
            <a:srgbClr val="F2F2F2"/>
          </a:solidFill>
          <a:ln/>
        </p:spPr>
      </p:sp>
      <p:sp>
        <p:nvSpPr>
          <p:cNvPr id="25" name="Text 23"/>
          <p:cNvSpPr txBox="1"/>
          <p:nvPr/>
        </p:nvSpPr>
        <p:spPr>
          <a:xfrm>
            <a:off x="3637483" y="3328416"/>
            <a:ext cx="2503627" cy="457200"/>
          </a:xfrm>
          <a:prstGeom prst="rect">
            <a:avLst/>
          </a:prstGeom>
          <a:noFill/>
          <a:ln/>
        </p:spPr>
        <p:txBody>
          <a:bodyPr wrap="square" lIns="0" tIns="0" rIns="0" bIns="0" rtlCol="0" anchor="t"/>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class II</a:t>
            </a:r>
            <a:endParaRPr lang="ja-JP" sz="2400" dirty="0"/>
          </a:p>
        </p:txBody>
      </p:sp>
      <p:sp>
        <p:nvSpPr>
          <p:cNvPr id="26" name="Text 24"/>
          <p:cNvSpPr txBox="1"/>
          <p:nvPr/>
        </p:nvSpPr>
        <p:spPr>
          <a:xfrm>
            <a:off x="3637483" y="3822192"/>
            <a:ext cx="2503627"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軟口蓋、口峡、</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口蓋垂（口蓋弓は</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隠れる）</a:t>
            </a:r>
            <a:endParaRPr lang="ja-JP" sz="2200" dirty="0"/>
          </a:p>
        </p:txBody>
      </p:sp>
      <p:sp>
        <p:nvSpPr>
          <p:cNvPr id="27" name="Shape 25"/>
          <p:cNvSpPr/>
          <p:nvPr/>
        </p:nvSpPr>
        <p:spPr>
          <a:xfrm>
            <a:off x="6847942" y="1691640"/>
            <a:ext cx="1783080" cy="1307592"/>
          </a:xfrm>
          <a:custGeom>
            <a:avLst/>
            <a:gdLst/>
            <a:ahLst/>
            <a:cxnLst/>
            <a:rect l="l" t="t" r="r" b="b"/>
            <a:pathLst>
              <a:path w="1783080" h="1307592">
                <a:moveTo>
                  <a:pt x="1783080" y="653796"/>
                </a:moveTo>
                <a:lnTo>
                  <a:pt x="1779422" y="710489"/>
                </a:lnTo>
                <a:lnTo>
                  <a:pt x="1769364" y="767182"/>
                </a:lnTo>
                <a:lnTo>
                  <a:pt x="1752905" y="822960"/>
                </a:lnTo>
                <a:lnTo>
                  <a:pt x="1729130" y="877824"/>
                </a:lnTo>
                <a:lnTo>
                  <a:pt x="1699870" y="929945"/>
                </a:lnTo>
                <a:lnTo>
                  <a:pt x="1663294" y="981151"/>
                </a:lnTo>
                <a:lnTo>
                  <a:pt x="1622146" y="1028700"/>
                </a:lnTo>
                <a:lnTo>
                  <a:pt x="1574597" y="1074420"/>
                </a:lnTo>
                <a:lnTo>
                  <a:pt x="1521562" y="1116482"/>
                </a:lnTo>
                <a:lnTo>
                  <a:pt x="1464869" y="1154887"/>
                </a:lnTo>
                <a:lnTo>
                  <a:pt x="1402690" y="1189634"/>
                </a:lnTo>
                <a:lnTo>
                  <a:pt x="1337767" y="1219810"/>
                </a:lnTo>
                <a:lnTo>
                  <a:pt x="1268273" y="1246327"/>
                </a:lnTo>
                <a:lnTo>
                  <a:pt x="1196035" y="1268273"/>
                </a:lnTo>
                <a:lnTo>
                  <a:pt x="1121969" y="1285646"/>
                </a:lnTo>
                <a:lnTo>
                  <a:pt x="1046074" y="1297534"/>
                </a:lnTo>
                <a:lnTo>
                  <a:pt x="969264" y="1304849"/>
                </a:lnTo>
                <a:lnTo>
                  <a:pt x="891540" y="1307592"/>
                </a:lnTo>
                <a:lnTo>
                  <a:pt x="813816" y="1304849"/>
                </a:lnTo>
                <a:lnTo>
                  <a:pt x="737006" y="1297534"/>
                </a:lnTo>
                <a:lnTo>
                  <a:pt x="661111" y="1285646"/>
                </a:lnTo>
                <a:lnTo>
                  <a:pt x="587045" y="1268273"/>
                </a:lnTo>
                <a:lnTo>
                  <a:pt x="514807" y="1246327"/>
                </a:lnTo>
                <a:lnTo>
                  <a:pt x="446227" y="1219810"/>
                </a:lnTo>
                <a:lnTo>
                  <a:pt x="380390" y="1189634"/>
                </a:lnTo>
                <a:lnTo>
                  <a:pt x="318211" y="1154887"/>
                </a:lnTo>
                <a:lnTo>
                  <a:pt x="261518" y="1116482"/>
                </a:lnTo>
                <a:lnTo>
                  <a:pt x="208483" y="1074420"/>
                </a:lnTo>
                <a:lnTo>
                  <a:pt x="160934" y="1028700"/>
                </a:lnTo>
                <a:lnTo>
                  <a:pt x="119786" y="981151"/>
                </a:lnTo>
                <a:lnTo>
                  <a:pt x="83210" y="929945"/>
                </a:lnTo>
                <a:lnTo>
                  <a:pt x="53950" y="877824"/>
                </a:lnTo>
                <a:lnTo>
                  <a:pt x="30175" y="822960"/>
                </a:lnTo>
                <a:lnTo>
                  <a:pt x="13716" y="767182"/>
                </a:lnTo>
                <a:lnTo>
                  <a:pt x="3658" y="710489"/>
                </a:lnTo>
                <a:lnTo>
                  <a:pt x="0" y="653796"/>
                </a:lnTo>
                <a:lnTo>
                  <a:pt x="3658" y="597103"/>
                </a:lnTo>
                <a:lnTo>
                  <a:pt x="13716" y="540410"/>
                </a:lnTo>
                <a:lnTo>
                  <a:pt x="30175" y="484632"/>
                </a:lnTo>
                <a:lnTo>
                  <a:pt x="53950" y="429768"/>
                </a:lnTo>
                <a:lnTo>
                  <a:pt x="83210" y="377647"/>
                </a:lnTo>
                <a:lnTo>
                  <a:pt x="119786" y="327355"/>
                </a:lnTo>
                <a:lnTo>
                  <a:pt x="160934" y="278892"/>
                </a:lnTo>
                <a:lnTo>
                  <a:pt x="208483" y="233172"/>
                </a:lnTo>
                <a:lnTo>
                  <a:pt x="261518" y="191110"/>
                </a:lnTo>
                <a:lnTo>
                  <a:pt x="318211" y="152705"/>
                </a:lnTo>
                <a:lnTo>
                  <a:pt x="380390" y="117958"/>
                </a:lnTo>
                <a:lnTo>
                  <a:pt x="446227" y="87782"/>
                </a:lnTo>
                <a:lnTo>
                  <a:pt x="514807" y="61265"/>
                </a:lnTo>
                <a:lnTo>
                  <a:pt x="587045" y="39319"/>
                </a:lnTo>
                <a:lnTo>
                  <a:pt x="661111" y="21946"/>
                </a:lnTo>
                <a:lnTo>
                  <a:pt x="737006" y="10058"/>
                </a:lnTo>
                <a:lnTo>
                  <a:pt x="813816" y="2743"/>
                </a:lnTo>
                <a:lnTo>
                  <a:pt x="891540" y="0"/>
                </a:lnTo>
                <a:lnTo>
                  <a:pt x="969264" y="2743"/>
                </a:lnTo>
                <a:lnTo>
                  <a:pt x="1046074" y="10058"/>
                </a:lnTo>
                <a:lnTo>
                  <a:pt x="1121969" y="21946"/>
                </a:lnTo>
                <a:lnTo>
                  <a:pt x="1196035" y="39319"/>
                </a:lnTo>
                <a:lnTo>
                  <a:pt x="1268273" y="61265"/>
                </a:lnTo>
                <a:lnTo>
                  <a:pt x="1337767" y="87782"/>
                </a:lnTo>
                <a:lnTo>
                  <a:pt x="1402690" y="117958"/>
                </a:lnTo>
                <a:lnTo>
                  <a:pt x="1464869" y="152705"/>
                </a:lnTo>
                <a:lnTo>
                  <a:pt x="1521562" y="191110"/>
                </a:lnTo>
                <a:lnTo>
                  <a:pt x="1574597" y="233172"/>
                </a:lnTo>
                <a:lnTo>
                  <a:pt x="1622146" y="278892"/>
                </a:lnTo>
                <a:lnTo>
                  <a:pt x="1663294" y="327355"/>
                </a:lnTo>
                <a:lnTo>
                  <a:pt x="1699870" y="377647"/>
                </a:lnTo>
                <a:lnTo>
                  <a:pt x="1729130" y="429768"/>
                </a:lnTo>
                <a:lnTo>
                  <a:pt x="1752905" y="484632"/>
                </a:lnTo>
                <a:lnTo>
                  <a:pt x="1769364" y="540410"/>
                </a:lnTo>
                <a:lnTo>
                  <a:pt x="1779422" y="597103"/>
                </a:lnTo>
                <a:close/>
              </a:path>
            </a:pathLst>
          </a:custGeom>
          <a:solidFill>
            <a:srgbClr val="F7DFCC"/>
          </a:solidFill>
          <a:ln w="12700">
            <a:solidFill>
              <a:srgbClr val="F7DFCC"/>
            </a:solidFill>
            <a:prstDash val="solid"/>
          </a:ln>
        </p:spPr>
      </p:sp>
      <p:sp>
        <p:nvSpPr>
          <p:cNvPr id="28" name="Shape 26"/>
          <p:cNvSpPr/>
          <p:nvPr/>
        </p:nvSpPr>
        <p:spPr>
          <a:xfrm>
            <a:off x="7418527" y="1953158"/>
            <a:ext cx="641909" cy="967435"/>
          </a:xfrm>
          <a:custGeom>
            <a:avLst/>
            <a:gdLst/>
            <a:ahLst/>
            <a:cxnLst/>
            <a:rect l="l" t="t" r="r" b="b"/>
            <a:pathLst>
              <a:path w="641909" h="967435">
                <a:moveTo>
                  <a:pt x="0" y="967435"/>
                </a:moveTo>
                <a:lnTo>
                  <a:pt x="0" y="470916"/>
                </a:lnTo>
                <a:lnTo>
                  <a:pt x="2743" y="409651"/>
                </a:lnTo>
                <a:lnTo>
                  <a:pt x="10973" y="349301"/>
                </a:lnTo>
                <a:lnTo>
                  <a:pt x="24689" y="290779"/>
                </a:lnTo>
                <a:lnTo>
                  <a:pt x="42977" y="235001"/>
                </a:lnTo>
                <a:lnTo>
                  <a:pt x="66751" y="183794"/>
                </a:lnTo>
                <a:lnTo>
                  <a:pt x="94183" y="138074"/>
                </a:lnTo>
                <a:lnTo>
                  <a:pt x="125273" y="96926"/>
                </a:lnTo>
                <a:lnTo>
                  <a:pt x="160934" y="63094"/>
                </a:lnTo>
                <a:lnTo>
                  <a:pt x="198425" y="35662"/>
                </a:lnTo>
                <a:lnTo>
                  <a:pt x="237744" y="16459"/>
                </a:lnTo>
                <a:lnTo>
                  <a:pt x="278892" y="3658"/>
                </a:lnTo>
                <a:lnTo>
                  <a:pt x="320954" y="0"/>
                </a:lnTo>
                <a:lnTo>
                  <a:pt x="363017" y="3658"/>
                </a:lnTo>
                <a:lnTo>
                  <a:pt x="404165" y="16459"/>
                </a:lnTo>
                <a:lnTo>
                  <a:pt x="443484" y="35662"/>
                </a:lnTo>
                <a:lnTo>
                  <a:pt x="481889" y="63094"/>
                </a:lnTo>
                <a:lnTo>
                  <a:pt x="516636" y="96926"/>
                </a:lnTo>
                <a:lnTo>
                  <a:pt x="547726" y="138074"/>
                </a:lnTo>
                <a:lnTo>
                  <a:pt x="575158" y="183794"/>
                </a:lnTo>
                <a:lnTo>
                  <a:pt x="598932" y="235001"/>
                </a:lnTo>
                <a:lnTo>
                  <a:pt x="617220" y="290779"/>
                </a:lnTo>
                <a:lnTo>
                  <a:pt x="630936" y="349301"/>
                </a:lnTo>
                <a:lnTo>
                  <a:pt x="639166" y="409651"/>
                </a:lnTo>
                <a:lnTo>
                  <a:pt x="641909" y="470916"/>
                </a:lnTo>
                <a:lnTo>
                  <a:pt x="641909" y="967435"/>
                </a:lnTo>
                <a:close/>
              </a:path>
            </a:pathLst>
          </a:custGeom>
          <a:solidFill>
            <a:srgbClr val="404040"/>
          </a:solidFill>
          <a:ln w="31750">
            <a:solidFill>
              <a:srgbClr val="0072B2"/>
            </a:solidFill>
            <a:prstDash val="solid"/>
          </a:ln>
        </p:spPr>
      </p:sp>
      <p:sp>
        <p:nvSpPr>
          <p:cNvPr id="29" name="Shape 27"/>
          <p:cNvSpPr/>
          <p:nvPr/>
        </p:nvSpPr>
        <p:spPr>
          <a:xfrm>
            <a:off x="7657186" y="1944014"/>
            <a:ext cx="164592" cy="322783"/>
          </a:xfrm>
          <a:custGeom>
            <a:avLst/>
            <a:gdLst/>
            <a:ahLst/>
            <a:cxnLst/>
            <a:rect l="l" t="t" r="r" b="b"/>
            <a:pathLst>
              <a:path w="164592" h="322783">
                <a:moveTo>
                  <a:pt x="0" y="0"/>
                </a:moveTo>
                <a:lnTo>
                  <a:pt x="22860" y="263347"/>
                </a:lnTo>
                <a:lnTo>
                  <a:pt x="24689" y="278892"/>
                </a:lnTo>
                <a:lnTo>
                  <a:pt x="31090" y="293522"/>
                </a:lnTo>
                <a:lnTo>
                  <a:pt x="40234" y="305410"/>
                </a:lnTo>
                <a:lnTo>
                  <a:pt x="53035" y="314554"/>
                </a:lnTo>
                <a:lnTo>
                  <a:pt x="66751" y="320954"/>
                </a:lnTo>
                <a:lnTo>
                  <a:pt x="82296" y="322783"/>
                </a:lnTo>
                <a:lnTo>
                  <a:pt x="97841" y="320954"/>
                </a:lnTo>
                <a:lnTo>
                  <a:pt x="112471" y="314554"/>
                </a:lnTo>
                <a:lnTo>
                  <a:pt x="124358" y="305410"/>
                </a:lnTo>
                <a:lnTo>
                  <a:pt x="133502" y="293522"/>
                </a:lnTo>
                <a:lnTo>
                  <a:pt x="139903" y="278892"/>
                </a:lnTo>
                <a:lnTo>
                  <a:pt x="141732" y="263347"/>
                </a:lnTo>
                <a:lnTo>
                  <a:pt x="164592" y="0"/>
                </a:lnTo>
                <a:close/>
              </a:path>
            </a:pathLst>
          </a:custGeom>
          <a:solidFill>
            <a:srgbClr val="F7DFCC"/>
          </a:solidFill>
          <a:ln w="25400">
            <a:solidFill>
              <a:srgbClr val="0072B2"/>
            </a:solidFill>
            <a:prstDash val="solid"/>
          </a:ln>
        </p:spPr>
      </p:sp>
      <p:sp>
        <p:nvSpPr>
          <p:cNvPr id="30" name="Shape 28"/>
          <p:cNvSpPr/>
          <p:nvPr/>
        </p:nvSpPr>
        <p:spPr>
          <a:xfrm>
            <a:off x="6847942" y="2047342"/>
            <a:ext cx="1783080" cy="951890"/>
          </a:xfrm>
          <a:custGeom>
            <a:avLst/>
            <a:gdLst/>
            <a:ahLst/>
            <a:cxnLst/>
            <a:rect l="l" t="t" r="r" b="b"/>
            <a:pathLst>
              <a:path w="1783080" h="951890">
                <a:moveTo>
                  <a:pt x="74066" y="36576"/>
                </a:moveTo>
                <a:lnTo>
                  <a:pt x="142646" y="31090"/>
                </a:lnTo>
                <a:lnTo>
                  <a:pt x="210312" y="25603"/>
                </a:lnTo>
                <a:lnTo>
                  <a:pt x="278892" y="21031"/>
                </a:lnTo>
                <a:lnTo>
                  <a:pt x="346558" y="16459"/>
                </a:lnTo>
                <a:lnTo>
                  <a:pt x="415138" y="12802"/>
                </a:lnTo>
                <a:lnTo>
                  <a:pt x="482803" y="9144"/>
                </a:lnTo>
                <a:lnTo>
                  <a:pt x="551383" y="6401"/>
                </a:lnTo>
                <a:lnTo>
                  <a:pt x="619049" y="3658"/>
                </a:lnTo>
                <a:lnTo>
                  <a:pt x="687629" y="2743"/>
                </a:lnTo>
                <a:lnTo>
                  <a:pt x="755294" y="914"/>
                </a:lnTo>
                <a:lnTo>
                  <a:pt x="823874" y="0"/>
                </a:lnTo>
                <a:lnTo>
                  <a:pt x="891540" y="0"/>
                </a:lnTo>
                <a:lnTo>
                  <a:pt x="959206" y="0"/>
                </a:lnTo>
                <a:lnTo>
                  <a:pt x="1027786" y="914"/>
                </a:lnTo>
                <a:lnTo>
                  <a:pt x="1095451" y="2743"/>
                </a:lnTo>
                <a:lnTo>
                  <a:pt x="1164031" y="3658"/>
                </a:lnTo>
                <a:lnTo>
                  <a:pt x="1231697" y="6401"/>
                </a:lnTo>
                <a:lnTo>
                  <a:pt x="1300277" y="9144"/>
                </a:lnTo>
                <a:lnTo>
                  <a:pt x="1367942" y="12802"/>
                </a:lnTo>
                <a:lnTo>
                  <a:pt x="1436522" y="16459"/>
                </a:lnTo>
                <a:lnTo>
                  <a:pt x="1504188" y="21031"/>
                </a:lnTo>
                <a:lnTo>
                  <a:pt x="1572768" y="25603"/>
                </a:lnTo>
                <a:lnTo>
                  <a:pt x="1640434" y="31090"/>
                </a:lnTo>
                <a:lnTo>
                  <a:pt x="1709014" y="36576"/>
                </a:lnTo>
                <a:lnTo>
                  <a:pt x="1742846" y="104242"/>
                </a:lnTo>
                <a:lnTo>
                  <a:pt x="1766621" y="173736"/>
                </a:lnTo>
                <a:lnTo>
                  <a:pt x="1780337" y="245059"/>
                </a:lnTo>
                <a:lnTo>
                  <a:pt x="1783080" y="317297"/>
                </a:lnTo>
                <a:lnTo>
                  <a:pt x="1774850" y="388620"/>
                </a:lnTo>
                <a:lnTo>
                  <a:pt x="1755648" y="459029"/>
                </a:lnTo>
                <a:lnTo>
                  <a:pt x="1726387" y="527609"/>
                </a:lnTo>
                <a:lnTo>
                  <a:pt x="1686154" y="594360"/>
                </a:lnTo>
                <a:lnTo>
                  <a:pt x="1637690" y="656539"/>
                </a:lnTo>
                <a:lnTo>
                  <a:pt x="1579169" y="714146"/>
                </a:lnTo>
                <a:lnTo>
                  <a:pt x="1512418" y="767182"/>
                </a:lnTo>
                <a:lnTo>
                  <a:pt x="1438351" y="814730"/>
                </a:lnTo>
                <a:lnTo>
                  <a:pt x="1357884" y="854964"/>
                </a:lnTo>
                <a:lnTo>
                  <a:pt x="1271930" y="889711"/>
                </a:lnTo>
                <a:lnTo>
                  <a:pt x="1180490" y="916229"/>
                </a:lnTo>
                <a:lnTo>
                  <a:pt x="1086307" y="936346"/>
                </a:lnTo>
                <a:lnTo>
                  <a:pt x="989381" y="948233"/>
                </a:lnTo>
                <a:lnTo>
                  <a:pt x="891540" y="951890"/>
                </a:lnTo>
                <a:lnTo>
                  <a:pt x="793699" y="948233"/>
                </a:lnTo>
                <a:lnTo>
                  <a:pt x="696773" y="936346"/>
                </a:lnTo>
                <a:lnTo>
                  <a:pt x="602590" y="916229"/>
                </a:lnTo>
                <a:lnTo>
                  <a:pt x="511150" y="889711"/>
                </a:lnTo>
                <a:lnTo>
                  <a:pt x="425196" y="854964"/>
                </a:lnTo>
                <a:lnTo>
                  <a:pt x="344729" y="814730"/>
                </a:lnTo>
                <a:lnTo>
                  <a:pt x="270662" y="767182"/>
                </a:lnTo>
                <a:lnTo>
                  <a:pt x="203911" y="714146"/>
                </a:lnTo>
                <a:lnTo>
                  <a:pt x="145390" y="656539"/>
                </a:lnTo>
                <a:lnTo>
                  <a:pt x="96926" y="594360"/>
                </a:lnTo>
                <a:lnTo>
                  <a:pt x="56693" y="527609"/>
                </a:lnTo>
                <a:lnTo>
                  <a:pt x="27432" y="459029"/>
                </a:lnTo>
                <a:lnTo>
                  <a:pt x="8230" y="388620"/>
                </a:lnTo>
                <a:lnTo>
                  <a:pt x="0" y="317297"/>
                </a:lnTo>
                <a:lnTo>
                  <a:pt x="2743" y="245059"/>
                </a:lnTo>
                <a:lnTo>
                  <a:pt x="16459" y="173736"/>
                </a:lnTo>
                <a:lnTo>
                  <a:pt x="40234" y="104242"/>
                </a:lnTo>
                <a:close/>
              </a:path>
            </a:pathLst>
          </a:custGeom>
          <a:solidFill>
            <a:srgbClr val="E8A673"/>
          </a:solidFill>
          <a:ln w="25400">
            <a:solidFill>
              <a:srgbClr val="D55E00"/>
            </a:solidFill>
            <a:prstDash val="solid"/>
          </a:ln>
        </p:spPr>
      </p:sp>
      <p:sp>
        <p:nvSpPr>
          <p:cNvPr id="31" name="Shape 29"/>
          <p:cNvSpPr/>
          <p:nvPr/>
        </p:nvSpPr>
        <p:spPr>
          <a:xfrm>
            <a:off x="6847942" y="1691640"/>
            <a:ext cx="1783080" cy="1307592"/>
          </a:xfrm>
          <a:custGeom>
            <a:avLst/>
            <a:gdLst/>
            <a:ahLst/>
            <a:cxnLst/>
            <a:rect l="l" t="t" r="r" b="b"/>
            <a:pathLst>
              <a:path w="1783080" h="1307592">
                <a:moveTo>
                  <a:pt x="1783080" y="653796"/>
                </a:moveTo>
                <a:lnTo>
                  <a:pt x="1779422" y="710489"/>
                </a:lnTo>
                <a:lnTo>
                  <a:pt x="1769364" y="767182"/>
                </a:lnTo>
                <a:lnTo>
                  <a:pt x="1752905" y="822960"/>
                </a:lnTo>
                <a:lnTo>
                  <a:pt x="1729130" y="877824"/>
                </a:lnTo>
                <a:lnTo>
                  <a:pt x="1699870" y="929945"/>
                </a:lnTo>
                <a:lnTo>
                  <a:pt x="1663294" y="981151"/>
                </a:lnTo>
                <a:lnTo>
                  <a:pt x="1622146" y="1028700"/>
                </a:lnTo>
                <a:lnTo>
                  <a:pt x="1574597" y="1074420"/>
                </a:lnTo>
                <a:lnTo>
                  <a:pt x="1521562" y="1116482"/>
                </a:lnTo>
                <a:lnTo>
                  <a:pt x="1464869" y="1154887"/>
                </a:lnTo>
                <a:lnTo>
                  <a:pt x="1402690" y="1189634"/>
                </a:lnTo>
                <a:lnTo>
                  <a:pt x="1337767" y="1219810"/>
                </a:lnTo>
                <a:lnTo>
                  <a:pt x="1268273" y="1246327"/>
                </a:lnTo>
                <a:lnTo>
                  <a:pt x="1196035" y="1268273"/>
                </a:lnTo>
                <a:lnTo>
                  <a:pt x="1121969" y="1285646"/>
                </a:lnTo>
                <a:lnTo>
                  <a:pt x="1046074" y="1297534"/>
                </a:lnTo>
                <a:lnTo>
                  <a:pt x="969264" y="1304849"/>
                </a:lnTo>
                <a:lnTo>
                  <a:pt x="891540" y="1307592"/>
                </a:lnTo>
                <a:lnTo>
                  <a:pt x="813816" y="1304849"/>
                </a:lnTo>
                <a:lnTo>
                  <a:pt x="737006" y="1297534"/>
                </a:lnTo>
                <a:lnTo>
                  <a:pt x="661111" y="1285646"/>
                </a:lnTo>
                <a:lnTo>
                  <a:pt x="587045" y="1268273"/>
                </a:lnTo>
                <a:lnTo>
                  <a:pt x="514807" y="1246327"/>
                </a:lnTo>
                <a:lnTo>
                  <a:pt x="446227" y="1219810"/>
                </a:lnTo>
                <a:lnTo>
                  <a:pt x="380390" y="1189634"/>
                </a:lnTo>
                <a:lnTo>
                  <a:pt x="318211" y="1154887"/>
                </a:lnTo>
                <a:lnTo>
                  <a:pt x="261518" y="1116482"/>
                </a:lnTo>
                <a:lnTo>
                  <a:pt x="208483" y="1074420"/>
                </a:lnTo>
                <a:lnTo>
                  <a:pt x="160934" y="1028700"/>
                </a:lnTo>
                <a:lnTo>
                  <a:pt x="119786" y="981151"/>
                </a:lnTo>
                <a:lnTo>
                  <a:pt x="83210" y="929945"/>
                </a:lnTo>
                <a:lnTo>
                  <a:pt x="53950" y="877824"/>
                </a:lnTo>
                <a:lnTo>
                  <a:pt x="30175" y="822960"/>
                </a:lnTo>
                <a:lnTo>
                  <a:pt x="13716" y="767182"/>
                </a:lnTo>
                <a:lnTo>
                  <a:pt x="3658" y="710489"/>
                </a:lnTo>
                <a:lnTo>
                  <a:pt x="0" y="653796"/>
                </a:lnTo>
                <a:lnTo>
                  <a:pt x="3658" y="597103"/>
                </a:lnTo>
                <a:lnTo>
                  <a:pt x="13716" y="540410"/>
                </a:lnTo>
                <a:lnTo>
                  <a:pt x="30175" y="484632"/>
                </a:lnTo>
                <a:lnTo>
                  <a:pt x="53950" y="429768"/>
                </a:lnTo>
                <a:lnTo>
                  <a:pt x="83210" y="377647"/>
                </a:lnTo>
                <a:lnTo>
                  <a:pt x="119786" y="327355"/>
                </a:lnTo>
                <a:lnTo>
                  <a:pt x="160934" y="278892"/>
                </a:lnTo>
                <a:lnTo>
                  <a:pt x="208483" y="233172"/>
                </a:lnTo>
                <a:lnTo>
                  <a:pt x="261518" y="191110"/>
                </a:lnTo>
                <a:lnTo>
                  <a:pt x="318211" y="152705"/>
                </a:lnTo>
                <a:lnTo>
                  <a:pt x="380390" y="117958"/>
                </a:lnTo>
                <a:lnTo>
                  <a:pt x="446227" y="87782"/>
                </a:lnTo>
                <a:lnTo>
                  <a:pt x="514807" y="61265"/>
                </a:lnTo>
                <a:lnTo>
                  <a:pt x="587045" y="39319"/>
                </a:lnTo>
                <a:lnTo>
                  <a:pt x="661111" y="21946"/>
                </a:lnTo>
                <a:lnTo>
                  <a:pt x="737006" y="10058"/>
                </a:lnTo>
                <a:lnTo>
                  <a:pt x="813816" y="2743"/>
                </a:lnTo>
                <a:lnTo>
                  <a:pt x="891540" y="0"/>
                </a:lnTo>
                <a:lnTo>
                  <a:pt x="969264" y="2743"/>
                </a:lnTo>
                <a:lnTo>
                  <a:pt x="1046074" y="10058"/>
                </a:lnTo>
                <a:lnTo>
                  <a:pt x="1121969" y="21946"/>
                </a:lnTo>
                <a:lnTo>
                  <a:pt x="1196035" y="39319"/>
                </a:lnTo>
                <a:lnTo>
                  <a:pt x="1268273" y="61265"/>
                </a:lnTo>
                <a:lnTo>
                  <a:pt x="1337767" y="87782"/>
                </a:lnTo>
                <a:lnTo>
                  <a:pt x="1402690" y="117958"/>
                </a:lnTo>
                <a:lnTo>
                  <a:pt x="1464869" y="152705"/>
                </a:lnTo>
                <a:lnTo>
                  <a:pt x="1521562" y="191110"/>
                </a:lnTo>
                <a:lnTo>
                  <a:pt x="1574597" y="233172"/>
                </a:lnTo>
                <a:lnTo>
                  <a:pt x="1622146" y="278892"/>
                </a:lnTo>
                <a:lnTo>
                  <a:pt x="1663294" y="327355"/>
                </a:lnTo>
                <a:lnTo>
                  <a:pt x="1699870" y="377647"/>
                </a:lnTo>
                <a:lnTo>
                  <a:pt x="1729130" y="429768"/>
                </a:lnTo>
                <a:lnTo>
                  <a:pt x="1752905" y="484632"/>
                </a:lnTo>
                <a:lnTo>
                  <a:pt x="1769364" y="540410"/>
                </a:lnTo>
                <a:lnTo>
                  <a:pt x="1779422" y="597103"/>
                </a:lnTo>
                <a:close/>
              </a:path>
            </a:pathLst>
          </a:custGeom>
          <a:noFill/>
          <a:ln w="31750">
            <a:solidFill>
              <a:srgbClr val="595959"/>
            </a:solidFill>
            <a:prstDash val="solid"/>
          </a:ln>
        </p:spPr>
      </p:sp>
      <p:sp>
        <p:nvSpPr>
          <p:cNvPr id="32" name="Shape 30"/>
          <p:cNvSpPr/>
          <p:nvPr/>
        </p:nvSpPr>
        <p:spPr>
          <a:xfrm>
            <a:off x="6497726" y="3218688"/>
            <a:ext cx="2483510" cy="2002536"/>
          </a:xfrm>
          <a:prstGeom prst="roundRect">
            <a:avLst>
              <a:gd name="adj" fmla="val 3653"/>
            </a:avLst>
          </a:prstGeom>
          <a:solidFill>
            <a:srgbClr val="F2F2F2"/>
          </a:solidFill>
          <a:ln/>
        </p:spPr>
      </p:sp>
      <p:sp>
        <p:nvSpPr>
          <p:cNvPr id="33" name="Text 31"/>
          <p:cNvSpPr txBox="1"/>
          <p:nvPr/>
        </p:nvSpPr>
        <p:spPr>
          <a:xfrm>
            <a:off x="6634886" y="3328416"/>
            <a:ext cx="2209190" cy="457200"/>
          </a:xfrm>
          <a:prstGeom prst="rect">
            <a:avLst/>
          </a:prstGeom>
          <a:noFill/>
          <a:ln/>
        </p:spPr>
        <p:txBody>
          <a:bodyPr wrap="square" lIns="0" tIns="0" rIns="0" bIns="0" rtlCol="0" anchor="t"/>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class III</a:t>
            </a:r>
            <a:endParaRPr lang="ja-JP" sz="2400" dirty="0"/>
          </a:p>
        </p:txBody>
      </p:sp>
      <p:sp>
        <p:nvSpPr>
          <p:cNvPr id="34" name="Text 32"/>
          <p:cNvSpPr txBox="1"/>
          <p:nvPr/>
        </p:nvSpPr>
        <p:spPr>
          <a:xfrm>
            <a:off x="6634886" y="3822192"/>
            <a:ext cx="2209190"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軟口蓋と</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口蓋垂の</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根元だけ</a:t>
            </a:r>
            <a:endParaRPr lang="ja-JP" sz="2200" dirty="0"/>
          </a:p>
        </p:txBody>
      </p:sp>
      <p:sp>
        <p:nvSpPr>
          <p:cNvPr id="35" name="Shape 33"/>
          <p:cNvSpPr/>
          <p:nvPr/>
        </p:nvSpPr>
        <p:spPr>
          <a:xfrm>
            <a:off x="9550908" y="1691640"/>
            <a:ext cx="1783080" cy="1307592"/>
          </a:xfrm>
          <a:custGeom>
            <a:avLst/>
            <a:gdLst/>
            <a:ahLst/>
            <a:cxnLst/>
            <a:rect l="l" t="t" r="r" b="b"/>
            <a:pathLst>
              <a:path w="1783080" h="1307592">
                <a:moveTo>
                  <a:pt x="1783080" y="653796"/>
                </a:moveTo>
                <a:lnTo>
                  <a:pt x="1779422" y="710489"/>
                </a:lnTo>
                <a:lnTo>
                  <a:pt x="1769364" y="767182"/>
                </a:lnTo>
                <a:lnTo>
                  <a:pt x="1752905" y="822960"/>
                </a:lnTo>
                <a:lnTo>
                  <a:pt x="1729130" y="877824"/>
                </a:lnTo>
                <a:lnTo>
                  <a:pt x="1699870" y="929945"/>
                </a:lnTo>
                <a:lnTo>
                  <a:pt x="1663294" y="981151"/>
                </a:lnTo>
                <a:lnTo>
                  <a:pt x="1622146" y="1028700"/>
                </a:lnTo>
                <a:lnTo>
                  <a:pt x="1574597" y="1074420"/>
                </a:lnTo>
                <a:lnTo>
                  <a:pt x="1521562" y="1116482"/>
                </a:lnTo>
                <a:lnTo>
                  <a:pt x="1464869" y="1154887"/>
                </a:lnTo>
                <a:lnTo>
                  <a:pt x="1402690" y="1189634"/>
                </a:lnTo>
                <a:lnTo>
                  <a:pt x="1337767" y="1219810"/>
                </a:lnTo>
                <a:lnTo>
                  <a:pt x="1268273" y="1246327"/>
                </a:lnTo>
                <a:lnTo>
                  <a:pt x="1196035" y="1268273"/>
                </a:lnTo>
                <a:lnTo>
                  <a:pt x="1121969" y="1285646"/>
                </a:lnTo>
                <a:lnTo>
                  <a:pt x="1046074" y="1297534"/>
                </a:lnTo>
                <a:lnTo>
                  <a:pt x="969264" y="1304849"/>
                </a:lnTo>
                <a:lnTo>
                  <a:pt x="891540" y="1307592"/>
                </a:lnTo>
                <a:lnTo>
                  <a:pt x="813816" y="1304849"/>
                </a:lnTo>
                <a:lnTo>
                  <a:pt x="737006" y="1297534"/>
                </a:lnTo>
                <a:lnTo>
                  <a:pt x="661111" y="1285646"/>
                </a:lnTo>
                <a:lnTo>
                  <a:pt x="587045" y="1268273"/>
                </a:lnTo>
                <a:lnTo>
                  <a:pt x="514807" y="1246327"/>
                </a:lnTo>
                <a:lnTo>
                  <a:pt x="446227" y="1219810"/>
                </a:lnTo>
                <a:lnTo>
                  <a:pt x="380390" y="1189634"/>
                </a:lnTo>
                <a:lnTo>
                  <a:pt x="318211" y="1154887"/>
                </a:lnTo>
                <a:lnTo>
                  <a:pt x="261518" y="1116482"/>
                </a:lnTo>
                <a:lnTo>
                  <a:pt x="208483" y="1074420"/>
                </a:lnTo>
                <a:lnTo>
                  <a:pt x="160934" y="1028700"/>
                </a:lnTo>
                <a:lnTo>
                  <a:pt x="119786" y="981151"/>
                </a:lnTo>
                <a:lnTo>
                  <a:pt x="83210" y="929945"/>
                </a:lnTo>
                <a:lnTo>
                  <a:pt x="53950" y="877824"/>
                </a:lnTo>
                <a:lnTo>
                  <a:pt x="30175" y="822960"/>
                </a:lnTo>
                <a:lnTo>
                  <a:pt x="13716" y="767182"/>
                </a:lnTo>
                <a:lnTo>
                  <a:pt x="3658" y="710489"/>
                </a:lnTo>
                <a:lnTo>
                  <a:pt x="0" y="653796"/>
                </a:lnTo>
                <a:lnTo>
                  <a:pt x="3658" y="597103"/>
                </a:lnTo>
                <a:lnTo>
                  <a:pt x="13716" y="540410"/>
                </a:lnTo>
                <a:lnTo>
                  <a:pt x="30175" y="484632"/>
                </a:lnTo>
                <a:lnTo>
                  <a:pt x="53950" y="429768"/>
                </a:lnTo>
                <a:lnTo>
                  <a:pt x="83210" y="377647"/>
                </a:lnTo>
                <a:lnTo>
                  <a:pt x="119786" y="327355"/>
                </a:lnTo>
                <a:lnTo>
                  <a:pt x="160934" y="278892"/>
                </a:lnTo>
                <a:lnTo>
                  <a:pt x="208483" y="233172"/>
                </a:lnTo>
                <a:lnTo>
                  <a:pt x="261518" y="191110"/>
                </a:lnTo>
                <a:lnTo>
                  <a:pt x="318211" y="152705"/>
                </a:lnTo>
                <a:lnTo>
                  <a:pt x="380390" y="117958"/>
                </a:lnTo>
                <a:lnTo>
                  <a:pt x="446227" y="87782"/>
                </a:lnTo>
                <a:lnTo>
                  <a:pt x="514807" y="61265"/>
                </a:lnTo>
                <a:lnTo>
                  <a:pt x="587045" y="39319"/>
                </a:lnTo>
                <a:lnTo>
                  <a:pt x="661111" y="21946"/>
                </a:lnTo>
                <a:lnTo>
                  <a:pt x="737006" y="10058"/>
                </a:lnTo>
                <a:lnTo>
                  <a:pt x="813816" y="2743"/>
                </a:lnTo>
                <a:lnTo>
                  <a:pt x="891540" y="0"/>
                </a:lnTo>
                <a:lnTo>
                  <a:pt x="969264" y="2743"/>
                </a:lnTo>
                <a:lnTo>
                  <a:pt x="1046074" y="10058"/>
                </a:lnTo>
                <a:lnTo>
                  <a:pt x="1121969" y="21946"/>
                </a:lnTo>
                <a:lnTo>
                  <a:pt x="1196035" y="39319"/>
                </a:lnTo>
                <a:lnTo>
                  <a:pt x="1268273" y="61265"/>
                </a:lnTo>
                <a:lnTo>
                  <a:pt x="1336853" y="87782"/>
                </a:lnTo>
                <a:lnTo>
                  <a:pt x="1402690" y="117958"/>
                </a:lnTo>
                <a:lnTo>
                  <a:pt x="1464869" y="152705"/>
                </a:lnTo>
                <a:lnTo>
                  <a:pt x="1521562" y="191110"/>
                </a:lnTo>
                <a:lnTo>
                  <a:pt x="1574597" y="233172"/>
                </a:lnTo>
                <a:lnTo>
                  <a:pt x="1622146" y="278892"/>
                </a:lnTo>
                <a:lnTo>
                  <a:pt x="1663294" y="327355"/>
                </a:lnTo>
                <a:lnTo>
                  <a:pt x="1699870" y="377647"/>
                </a:lnTo>
                <a:lnTo>
                  <a:pt x="1729130" y="429768"/>
                </a:lnTo>
                <a:lnTo>
                  <a:pt x="1752905" y="484632"/>
                </a:lnTo>
                <a:lnTo>
                  <a:pt x="1769364" y="540410"/>
                </a:lnTo>
                <a:lnTo>
                  <a:pt x="1779422" y="597103"/>
                </a:lnTo>
                <a:close/>
              </a:path>
            </a:pathLst>
          </a:custGeom>
          <a:solidFill>
            <a:srgbClr val="F7DFCC"/>
          </a:solidFill>
          <a:ln w="12700">
            <a:solidFill>
              <a:srgbClr val="F7DFCC"/>
            </a:solidFill>
            <a:prstDash val="solid"/>
          </a:ln>
        </p:spPr>
      </p:sp>
      <p:sp>
        <p:nvSpPr>
          <p:cNvPr id="36" name="Shape 34"/>
          <p:cNvSpPr/>
          <p:nvPr/>
        </p:nvSpPr>
        <p:spPr>
          <a:xfrm>
            <a:off x="10121494" y="1953158"/>
            <a:ext cx="641909" cy="967435"/>
          </a:xfrm>
          <a:custGeom>
            <a:avLst/>
            <a:gdLst/>
            <a:ahLst/>
            <a:cxnLst/>
            <a:rect l="l" t="t" r="r" b="b"/>
            <a:pathLst>
              <a:path w="641909" h="967435">
                <a:moveTo>
                  <a:pt x="0" y="967435"/>
                </a:moveTo>
                <a:lnTo>
                  <a:pt x="0" y="470916"/>
                </a:lnTo>
                <a:lnTo>
                  <a:pt x="2743" y="409651"/>
                </a:lnTo>
                <a:lnTo>
                  <a:pt x="10973" y="349301"/>
                </a:lnTo>
                <a:lnTo>
                  <a:pt x="24689" y="290779"/>
                </a:lnTo>
                <a:lnTo>
                  <a:pt x="42977" y="235001"/>
                </a:lnTo>
                <a:lnTo>
                  <a:pt x="66751" y="183794"/>
                </a:lnTo>
                <a:lnTo>
                  <a:pt x="94183" y="138074"/>
                </a:lnTo>
                <a:lnTo>
                  <a:pt x="125273" y="96926"/>
                </a:lnTo>
                <a:lnTo>
                  <a:pt x="160934" y="63094"/>
                </a:lnTo>
                <a:lnTo>
                  <a:pt x="198425" y="35662"/>
                </a:lnTo>
                <a:lnTo>
                  <a:pt x="237744" y="16459"/>
                </a:lnTo>
                <a:lnTo>
                  <a:pt x="278892" y="3658"/>
                </a:lnTo>
                <a:lnTo>
                  <a:pt x="320954" y="0"/>
                </a:lnTo>
                <a:lnTo>
                  <a:pt x="363017" y="3658"/>
                </a:lnTo>
                <a:lnTo>
                  <a:pt x="404165" y="16459"/>
                </a:lnTo>
                <a:lnTo>
                  <a:pt x="443484" y="35662"/>
                </a:lnTo>
                <a:lnTo>
                  <a:pt x="481889" y="63094"/>
                </a:lnTo>
                <a:lnTo>
                  <a:pt x="516636" y="96926"/>
                </a:lnTo>
                <a:lnTo>
                  <a:pt x="547726" y="138074"/>
                </a:lnTo>
                <a:lnTo>
                  <a:pt x="575158" y="183794"/>
                </a:lnTo>
                <a:lnTo>
                  <a:pt x="598932" y="235001"/>
                </a:lnTo>
                <a:lnTo>
                  <a:pt x="617220" y="290779"/>
                </a:lnTo>
                <a:lnTo>
                  <a:pt x="630936" y="349301"/>
                </a:lnTo>
                <a:lnTo>
                  <a:pt x="639166" y="409651"/>
                </a:lnTo>
                <a:lnTo>
                  <a:pt x="641909" y="470916"/>
                </a:lnTo>
                <a:lnTo>
                  <a:pt x="641909" y="967435"/>
                </a:lnTo>
                <a:close/>
              </a:path>
            </a:pathLst>
          </a:custGeom>
          <a:solidFill>
            <a:srgbClr val="404040"/>
          </a:solidFill>
          <a:ln w="31750">
            <a:solidFill>
              <a:srgbClr val="0072B2"/>
            </a:solidFill>
            <a:prstDash val="solid"/>
          </a:ln>
        </p:spPr>
      </p:sp>
      <p:sp>
        <p:nvSpPr>
          <p:cNvPr id="37" name="Shape 35"/>
          <p:cNvSpPr/>
          <p:nvPr/>
        </p:nvSpPr>
        <p:spPr>
          <a:xfrm>
            <a:off x="10360152" y="1944014"/>
            <a:ext cx="164592" cy="322783"/>
          </a:xfrm>
          <a:custGeom>
            <a:avLst/>
            <a:gdLst/>
            <a:ahLst/>
            <a:cxnLst/>
            <a:rect l="l" t="t" r="r" b="b"/>
            <a:pathLst>
              <a:path w="164592" h="322783">
                <a:moveTo>
                  <a:pt x="0" y="0"/>
                </a:moveTo>
                <a:lnTo>
                  <a:pt x="22860" y="263347"/>
                </a:lnTo>
                <a:lnTo>
                  <a:pt x="24689" y="278892"/>
                </a:lnTo>
                <a:lnTo>
                  <a:pt x="31090" y="293522"/>
                </a:lnTo>
                <a:lnTo>
                  <a:pt x="40234" y="305410"/>
                </a:lnTo>
                <a:lnTo>
                  <a:pt x="53035" y="314554"/>
                </a:lnTo>
                <a:lnTo>
                  <a:pt x="66751" y="320954"/>
                </a:lnTo>
                <a:lnTo>
                  <a:pt x="82296" y="322783"/>
                </a:lnTo>
                <a:lnTo>
                  <a:pt x="97841" y="320954"/>
                </a:lnTo>
                <a:lnTo>
                  <a:pt x="112471" y="314554"/>
                </a:lnTo>
                <a:lnTo>
                  <a:pt x="124358" y="305410"/>
                </a:lnTo>
                <a:lnTo>
                  <a:pt x="133502" y="293522"/>
                </a:lnTo>
                <a:lnTo>
                  <a:pt x="139903" y="278892"/>
                </a:lnTo>
                <a:lnTo>
                  <a:pt x="141732" y="263347"/>
                </a:lnTo>
                <a:lnTo>
                  <a:pt x="164592" y="0"/>
                </a:lnTo>
                <a:close/>
              </a:path>
            </a:pathLst>
          </a:custGeom>
          <a:solidFill>
            <a:srgbClr val="F7DFCC"/>
          </a:solidFill>
          <a:ln w="25400">
            <a:solidFill>
              <a:srgbClr val="0072B2"/>
            </a:solidFill>
            <a:prstDash val="solid"/>
          </a:ln>
        </p:spPr>
      </p:sp>
      <p:sp>
        <p:nvSpPr>
          <p:cNvPr id="38" name="Shape 36"/>
          <p:cNvSpPr/>
          <p:nvPr/>
        </p:nvSpPr>
        <p:spPr>
          <a:xfrm>
            <a:off x="9550908" y="1825142"/>
            <a:ext cx="1783080" cy="1174090"/>
          </a:xfrm>
          <a:custGeom>
            <a:avLst/>
            <a:gdLst/>
            <a:ahLst/>
            <a:cxnLst/>
            <a:rect l="l" t="t" r="r" b="b"/>
            <a:pathLst>
              <a:path w="1783080" h="1174090">
                <a:moveTo>
                  <a:pt x="291694" y="36576"/>
                </a:moveTo>
                <a:lnTo>
                  <a:pt x="341986" y="31090"/>
                </a:lnTo>
                <a:lnTo>
                  <a:pt x="392278" y="25603"/>
                </a:lnTo>
                <a:lnTo>
                  <a:pt x="441655" y="20117"/>
                </a:lnTo>
                <a:lnTo>
                  <a:pt x="491947" y="16459"/>
                </a:lnTo>
                <a:lnTo>
                  <a:pt x="541325" y="12802"/>
                </a:lnTo>
                <a:lnTo>
                  <a:pt x="591617" y="9144"/>
                </a:lnTo>
                <a:lnTo>
                  <a:pt x="641909" y="6401"/>
                </a:lnTo>
                <a:lnTo>
                  <a:pt x="691286" y="3658"/>
                </a:lnTo>
                <a:lnTo>
                  <a:pt x="741578" y="1829"/>
                </a:lnTo>
                <a:lnTo>
                  <a:pt x="791870" y="914"/>
                </a:lnTo>
                <a:lnTo>
                  <a:pt x="841248" y="0"/>
                </a:lnTo>
                <a:lnTo>
                  <a:pt x="891540" y="0"/>
                </a:lnTo>
                <a:lnTo>
                  <a:pt x="941832" y="0"/>
                </a:lnTo>
                <a:lnTo>
                  <a:pt x="991210" y="914"/>
                </a:lnTo>
                <a:lnTo>
                  <a:pt x="1041502" y="1829"/>
                </a:lnTo>
                <a:lnTo>
                  <a:pt x="1091794" y="3658"/>
                </a:lnTo>
                <a:lnTo>
                  <a:pt x="1141171" y="6401"/>
                </a:lnTo>
                <a:lnTo>
                  <a:pt x="1191463" y="9144"/>
                </a:lnTo>
                <a:lnTo>
                  <a:pt x="1241755" y="12802"/>
                </a:lnTo>
                <a:lnTo>
                  <a:pt x="1291133" y="16459"/>
                </a:lnTo>
                <a:lnTo>
                  <a:pt x="1341425" y="20117"/>
                </a:lnTo>
                <a:lnTo>
                  <a:pt x="1390802" y="25603"/>
                </a:lnTo>
                <a:lnTo>
                  <a:pt x="1441094" y="31090"/>
                </a:lnTo>
                <a:lnTo>
                  <a:pt x="1491386" y="36576"/>
                </a:lnTo>
                <a:lnTo>
                  <a:pt x="1573682" y="99670"/>
                </a:lnTo>
                <a:lnTo>
                  <a:pt x="1644091" y="170078"/>
                </a:lnTo>
                <a:lnTo>
                  <a:pt x="1700784" y="245974"/>
                </a:lnTo>
                <a:lnTo>
                  <a:pt x="1743761" y="327355"/>
                </a:lnTo>
                <a:lnTo>
                  <a:pt x="1771193" y="412394"/>
                </a:lnTo>
                <a:lnTo>
                  <a:pt x="1783080" y="499262"/>
                </a:lnTo>
                <a:lnTo>
                  <a:pt x="1778508" y="587045"/>
                </a:lnTo>
                <a:lnTo>
                  <a:pt x="1758391" y="672998"/>
                </a:lnTo>
                <a:lnTo>
                  <a:pt x="1722730" y="756209"/>
                </a:lnTo>
                <a:lnTo>
                  <a:pt x="1673352" y="834847"/>
                </a:lnTo>
                <a:lnTo>
                  <a:pt x="1608430" y="908914"/>
                </a:lnTo>
                <a:lnTo>
                  <a:pt x="1531620" y="974750"/>
                </a:lnTo>
                <a:lnTo>
                  <a:pt x="1443838" y="1033272"/>
                </a:lnTo>
                <a:lnTo>
                  <a:pt x="1345082" y="1082650"/>
                </a:lnTo>
                <a:lnTo>
                  <a:pt x="1239012" y="1121969"/>
                </a:lnTo>
                <a:lnTo>
                  <a:pt x="1126541" y="1151230"/>
                </a:lnTo>
                <a:lnTo>
                  <a:pt x="1010412" y="1168603"/>
                </a:lnTo>
                <a:lnTo>
                  <a:pt x="891540" y="1174090"/>
                </a:lnTo>
                <a:lnTo>
                  <a:pt x="772668" y="1168603"/>
                </a:lnTo>
                <a:lnTo>
                  <a:pt x="656539" y="1151230"/>
                </a:lnTo>
                <a:lnTo>
                  <a:pt x="544068" y="1121969"/>
                </a:lnTo>
                <a:lnTo>
                  <a:pt x="437998" y="1082650"/>
                </a:lnTo>
                <a:lnTo>
                  <a:pt x="339242" y="1033272"/>
                </a:lnTo>
                <a:lnTo>
                  <a:pt x="251460" y="974750"/>
                </a:lnTo>
                <a:lnTo>
                  <a:pt x="174650" y="908914"/>
                </a:lnTo>
                <a:lnTo>
                  <a:pt x="109728" y="834847"/>
                </a:lnTo>
                <a:lnTo>
                  <a:pt x="60350" y="756209"/>
                </a:lnTo>
                <a:lnTo>
                  <a:pt x="24689" y="672998"/>
                </a:lnTo>
                <a:lnTo>
                  <a:pt x="4572" y="587045"/>
                </a:lnTo>
                <a:lnTo>
                  <a:pt x="0" y="499262"/>
                </a:lnTo>
                <a:lnTo>
                  <a:pt x="11887" y="412394"/>
                </a:lnTo>
                <a:lnTo>
                  <a:pt x="39319" y="327355"/>
                </a:lnTo>
                <a:lnTo>
                  <a:pt x="82296" y="245974"/>
                </a:lnTo>
                <a:lnTo>
                  <a:pt x="138989" y="170078"/>
                </a:lnTo>
                <a:lnTo>
                  <a:pt x="209398" y="99670"/>
                </a:lnTo>
                <a:close/>
              </a:path>
            </a:pathLst>
          </a:custGeom>
          <a:solidFill>
            <a:srgbClr val="E8A673"/>
          </a:solidFill>
          <a:ln w="25400">
            <a:solidFill>
              <a:srgbClr val="D55E00"/>
            </a:solidFill>
            <a:prstDash val="solid"/>
          </a:ln>
        </p:spPr>
      </p:sp>
      <p:sp>
        <p:nvSpPr>
          <p:cNvPr id="39" name="Shape 37"/>
          <p:cNvSpPr/>
          <p:nvPr/>
        </p:nvSpPr>
        <p:spPr>
          <a:xfrm>
            <a:off x="9550908" y="1691640"/>
            <a:ext cx="1783080" cy="1307592"/>
          </a:xfrm>
          <a:custGeom>
            <a:avLst/>
            <a:gdLst/>
            <a:ahLst/>
            <a:cxnLst/>
            <a:rect l="l" t="t" r="r" b="b"/>
            <a:pathLst>
              <a:path w="1783080" h="1307592">
                <a:moveTo>
                  <a:pt x="1783080" y="653796"/>
                </a:moveTo>
                <a:lnTo>
                  <a:pt x="1779422" y="710489"/>
                </a:lnTo>
                <a:lnTo>
                  <a:pt x="1769364" y="767182"/>
                </a:lnTo>
                <a:lnTo>
                  <a:pt x="1752905" y="822960"/>
                </a:lnTo>
                <a:lnTo>
                  <a:pt x="1729130" y="877824"/>
                </a:lnTo>
                <a:lnTo>
                  <a:pt x="1699870" y="929945"/>
                </a:lnTo>
                <a:lnTo>
                  <a:pt x="1663294" y="981151"/>
                </a:lnTo>
                <a:lnTo>
                  <a:pt x="1622146" y="1028700"/>
                </a:lnTo>
                <a:lnTo>
                  <a:pt x="1574597" y="1074420"/>
                </a:lnTo>
                <a:lnTo>
                  <a:pt x="1521562" y="1116482"/>
                </a:lnTo>
                <a:lnTo>
                  <a:pt x="1464869" y="1154887"/>
                </a:lnTo>
                <a:lnTo>
                  <a:pt x="1402690" y="1189634"/>
                </a:lnTo>
                <a:lnTo>
                  <a:pt x="1337767" y="1219810"/>
                </a:lnTo>
                <a:lnTo>
                  <a:pt x="1268273" y="1246327"/>
                </a:lnTo>
                <a:lnTo>
                  <a:pt x="1196035" y="1268273"/>
                </a:lnTo>
                <a:lnTo>
                  <a:pt x="1121969" y="1285646"/>
                </a:lnTo>
                <a:lnTo>
                  <a:pt x="1046074" y="1297534"/>
                </a:lnTo>
                <a:lnTo>
                  <a:pt x="969264" y="1304849"/>
                </a:lnTo>
                <a:lnTo>
                  <a:pt x="891540" y="1307592"/>
                </a:lnTo>
                <a:lnTo>
                  <a:pt x="813816" y="1304849"/>
                </a:lnTo>
                <a:lnTo>
                  <a:pt x="737006" y="1297534"/>
                </a:lnTo>
                <a:lnTo>
                  <a:pt x="661111" y="1285646"/>
                </a:lnTo>
                <a:lnTo>
                  <a:pt x="587045" y="1268273"/>
                </a:lnTo>
                <a:lnTo>
                  <a:pt x="514807" y="1246327"/>
                </a:lnTo>
                <a:lnTo>
                  <a:pt x="446227" y="1219810"/>
                </a:lnTo>
                <a:lnTo>
                  <a:pt x="380390" y="1189634"/>
                </a:lnTo>
                <a:lnTo>
                  <a:pt x="318211" y="1154887"/>
                </a:lnTo>
                <a:lnTo>
                  <a:pt x="261518" y="1116482"/>
                </a:lnTo>
                <a:lnTo>
                  <a:pt x="208483" y="1074420"/>
                </a:lnTo>
                <a:lnTo>
                  <a:pt x="160934" y="1028700"/>
                </a:lnTo>
                <a:lnTo>
                  <a:pt x="119786" y="981151"/>
                </a:lnTo>
                <a:lnTo>
                  <a:pt x="83210" y="929945"/>
                </a:lnTo>
                <a:lnTo>
                  <a:pt x="53950" y="877824"/>
                </a:lnTo>
                <a:lnTo>
                  <a:pt x="30175" y="822960"/>
                </a:lnTo>
                <a:lnTo>
                  <a:pt x="13716" y="767182"/>
                </a:lnTo>
                <a:lnTo>
                  <a:pt x="3658" y="710489"/>
                </a:lnTo>
                <a:lnTo>
                  <a:pt x="0" y="653796"/>
                </a:lnTo>
                <a:lnTo>
                  <a:pt x="3658" y="597103"/>
                </a:lnTo>
                <a:lnTo>
                  <a:pt x="13716" y="540410"/>
                </a:lnTo>
                <a:lnTo>
                  <a:pt x="30175" y="484632"/>
                </a:lnTo>
                <a:lnTo>
                  <a:pt x="53950" y="429768"/>
                </a:lnTo>
                <a:lnTo>
                  <a:pt x="83210" y="377647"/>
                </a:lnTo>
                <a:lnTo>
                  <a:pt x="119786" y="327355"/>
                </a:lnTo>
                <a:lnTo>
                  <a:pt x="160934" y="278892"/>
                </a:lnTo>
                <a:lnTo>
                  <a:pt x="208483" y="233172"/>
                </a:lnTo>
                <a:lnTo>
                  <a:pt x="261518" y="191110"/>
                </a:lnTo>
                <a:lnTo>
                  <a:pt x="318211" y="152705"/>
                </a:lnTo>
                <a:lnTo>
                  <a:pt x="380390" y="117958"/>
                </a:lnTo>
                <a:lnTo>
                  <a:pt x="446227" y="87782"/>
                </a:lnTo>
                <a:lnTo>
                  <a:pt x="514807" y="61265"/>
                </a:lnTo>
                <a:lnTo>
                  <a:pt x="587045" y="39319"/>
                </a:lnTo>
                <a:lnTo>
                  <a:pt x="661111" y="21946"/>
                </a:lnTo>
                <a:lnTo>
                  <a:pt x="737006" y="10058"/>
                </a:lnTo>
                <a:lnTo>
                  <a:pt x="813816" y="2743"/>
                </a:lnTo>
                <a:lnTo>
                  <a:pt x="891540" y="0"/>
                </a:lnTo>
                <a:lnTo>
                  <a:pt x="969264" y="2743"/>
                </a:lnTo>
                <a:lnTo>
                  <a:pt x="1046074" y="10058"/>
                </a:lnTo>
                <a:lnTo>
                  <a:pt x="1121969" y="21946"/>
                </a:lnTo>
                <a:lnTo>
                  <a:pt x="1196035" y="39319"/>
                </a:lnTo>
                <a:lnTo>
                  <a:pt x="1268273" y="61265"/>
                </a:lnTo>
                <a:lnTo>
                  <a:pt x="1336853" y="87782"/>
                </a:lnTo>
                <a:lnTo>
                  <a:pt x="1402690" y="117958"/>
                </a:lnTo>
                <a:lnTo>
                  <a:pt x="1464869" y="152705"/>
                </a:lnTo>
                <a:lnTo>
                  <a:pt x="1521562" y="191110"/>
                </a:lnTo>
                <a:lnTo>
                  <a:pt x="1574597" y="233172"/>
                </a:lnTo>
                <a:lnTo>
                  <a:pt x="1622146" y="278892"/>
                </a:lnTo>
                <a:lnTo>
                  <a:pt x="1663294" y="327355"/>
                </a:lnTo>
                <a:lnTo>
                  <a:pt x="1699870" y="377647"/>
                </a:lnTo>
                <a:lnTo>
                  <a:pt x="1729130" y="429768"/>
                </a:lnTo>
                <a:lnTo>
                  <a:pt x="1752905" y="484632"/>
                </a:lnTo>
                <a:lnTo>
                  <a:pt x="1769364" y="540410"/>
                </a:lnTo>
                <a:lnTo>
                  <a:pt x="1779422" y="597103"/>
                </a:lnTo>
                <a:close/>
              </a:path>
            </a:pathLst>
          </a:custGeom>
          <a:noFill/>
          <a:ln w="31750">
            <a:solidFill>
              <a:srgbClr val="595959"/>
            </a:solidFill>
            <a:prstDash val="solid"/>
          </a:ln>
        </p:spPr>
      </p:sp>
      <p:sp>
        <p:nvSpPr>
          <p:cNvPr id="40" name="Shape 38"/>
          <p:cNvSpPr/>
          <p:nvPr/>
        </p:nvSpPr>
        <p:spPr>
          <a:xfrm>
            <a:off x="9200693" y="3218688"/>
            <a:ext cx="2483510" cy="2002536"/>
          </a:xfrm>
          <a:prstGeom prst="roundRect">
            <a:avLst>
              <a:gd name="adj" fmla="val 3653"/>
            </a:avLst>
          </a:prstGeom>
          <a:solidFill>
            <a:srgbClr val="F2F2F2"/>
          </a:solidFill>
          <a:ln/>
        </p:spPr>
      </p:sp>
      <p:sp>
        <p:nvSpPr>
          <p:cNvPr id="41" name="Text 39"/>
          <p:cNvSpPr txBox="1"/>
          <p:nvPr/>
        </p:nvSpPr>
        <p:spPr>
          <a:xfrm>
            <a:off x="9337853" y="3328416"/>
            <a:ext cx="2209190" cy="457200"/>
          </a:xfrm>
          <a:prstGeom prst="rect">
            <a:avLst/>
          </a:prstGeom>
          <a:noFill/>
          <a:ln/>
        </p:spPr>
        <p:txBody>
          <a:bodyPr wrap="square" lIns="0" tIns="0" rIns="0" bIns="0" rtlCol="0" anchor="t"/>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class IV</a:t>
            </a:r>
            <a:endParaRPr lang="ja-JP" sz="2400" dirty="0"/>
          </a:p>
        </p:txBody>
      </p:sp>
      <p:sp>
        <p:nvSpPr>
          <p:cNvPr id="42" name="Text 40"/>
          <p:cNvSpPr txBox="1"/>
          <p:nvPr/>
        </p:nvSpPr>
        <p:spPr>
          <a:xfrm>
            <a:off x="9337853" y="3822192"/>
            <a:ext cx="2209190"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軟口蓋が</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見えない</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（硬口蓋のみ）</a:t>
            </a:r>
            <a:endParaRPr lang="ja-JP" sz="2200" dirty="0"/>
          </a:p>
        </p:txBody>
      </p:sp>
      <p:sp>
        <p:nvSpPr>
          <p:cNvPr id="43" name="Text 41"/>
          <p:cNvSpPr txBox="1"/>
          <p:nvPr/>
        </p:nvSpPr>
        <p:spPr>
          <a:xfrm>
            <a:off x="502920" y="5440680"/>
            <a:ext cx="11183112" cy="457200"/>
          </a:xfrm>
          <a:prstGeom prst="rect">
            <a:avLst/>
          </a:prstGeom>
          <a:noFill/>
          <a:ln/>
        </p:spPr>
        <p:txBody>
          <a:bodyPr wrap="square" lIns="0" tIns="0" rIns="0" bIns="0" rtlCol="0" anchor="t"/>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座位・最大開口・舌を出す・発声なし。</a:t>
            </a:r>
            <a:r>
              <a:rPr lang="ja-JP" altLang="en-US" sz="2400" b="1" dirty="0">
                <a:solidFill>
                  <a:srgbClr val="D55E00"/>
                </a:solidFill>
                <a:latin typeface="メイリオ" pitchFamily="34" charset="0"/>
                <a:ea typeface="メイリオ" pitchFamily="34" charset="-122"/>
                <a:cs typeface="メイリオ" pitchFamily="34" charset="-120"/>
              </a:rPr>
              <a:t>III・IV で困難を疑う</a:t>
            </a:r>
            <a:endParaRPr lang="ja-JP"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マスク換気困難の予測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目的と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問診</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マスク</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換気</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Langeron O, et al. Anesthesiology 2000;92:1229-1236 / Kheterpal S,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Anesthesiology 2006;105:885-891, 2009;110:891-897, 2013;119:1360-1369</a:t>
            </a:r>
            <a:endParaRPr lang="ja-JP" sz="1600" dirty="0"/>
          </a:p>
        </p:txBody>
      </p:sp>
      <p:sp>
        <p:nvSpPr>
          <p:cNvPr id="11" name="Shape 9"/>
          <p:cNvSpPr/>
          <p:nvPr/>
        </p:nvSpPr>
        <p:spPr>
          <a:xfrm>
            <a:off x="502920" y="1691640"/>
            <a:ext cx="6281014" cy="3319272"/>
          </a:xfrm>
          <a:prstGeom prst="roundRect">
            <a:avLst>
              <a:gd name="adj" fmla="val 2204"/>
            </a:avLst>
          </a:prstGeom>
          <a:solidFill>
            <a:srgbClr val="F2F2F2"/>
          </a:solidFill>
          <a:ln/>
        </p:spPr>
      </p:sp>
      <p:sp>
        <p:nvSpPr>
          <p:cNvPr id="12" name="Text 10"/>
          <p:cNvSpPr txBox="1"/>
          <p:nvPr/>
        </p:nvSpPr>
        <p:spPr>
          <a:xfrm>
            <a:off x="685800" y="1801368"/>
            <a:ext cx="5915254"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Langeron の 5 因子（OBESE）</a:t>
            </a:r>
            <a:endParaRPr lang="ja-JP" sz="2400" dirty="0"/>
          </a:p>
        </p:txBody>
      </p:sp>
      <p:sp>
        <p:nvSpPr>
          <p:cNvPr id="13" name="Text 11"/>
          <p:cNvSpPr txBox="1"/>
          <p:nvPr/>
        </p:nvSpPr>
        <p:spPr>
          <a:xfrm>
            <a:off x="685800" y="2331720"/>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4" name="Text 12"/>
          <p:cNvSpPr txBox="1"/>
          <p:nvPr/>
        </p:nvSpPr>
        <p:spPr>
          <a:xfrm>
            <a:off x="1014984" y="2331720"/>
            <a:ext cx="5586070" cy="841248"/>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O</a:t>
            </a:r>
            <a:r>
              <a:rPr lang="ja-JP" altLang="en-US" sz="2200" dirty="0">
                <a:solidFill>
                  <a:srgbClr val="262626"/>
                </a:solidFill>
                <a:latin typeface="メイリオ" pitchFamily="34" charset="0"/>
                <a:ea typeface="メイリオ" pitchFamily="34" charset="-122"/>
                <a:cs typeface="メイリオ" pitchFamily="34" charset="-120"/>
              </a:rPr>
              <a:t>bese：BMI 26 超</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（Kheterpal は 30 以上）</a:t>
            </a:r>
            <a:endParaRPr lang="ja-JP" sz="2200" dirty="0"/>
          </a:p>
        </p:txBody>
      </p:sp>
      <p:sp>
        <p:nvSpPr>
          <p:cNvPr id="15" name="Text 13"/>
          <p:cNvSpPr txBox="1"/>
          <p:nvPr/>
        </p:nvSpPr>
        <p:spPr>
          <a:xfrm>
            <a:off x="685800" y="3183941"/>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6" name="Text 14"/>
          <p:cNvSpPr txBox="1"/>
          <p:nvPr/>
        </p:nvSpPr>
        <p:spPr>
          <a:xfrm>
            <a:off x="1014984" y="3183941"/>
            <a:ext cx="5586070" cy="42062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B</a:t>
            </a:r>
            <a:r>
              <a:rPr lang="ja-JP" altLang="en-US" sz="2200" dirty="0">
                <a:solidFill>
                  <a:srgbClr val="262626"/>
                </a:solidFill>
                <a:latin typeface="メイリオ" pitchFamily="34" charset="0"/>
                <a:ea typeface="メイリオ" pitchFamily="34" charset="-122"/>
                <a:cs typeface="メイリオ" pitchFamily="34" charset="-120"/>
              </a:rPr>
              <a:t>earded：ひげ</a:t>
            </a:r>
            <a:endParaRPr lang="ja-JP" sz="2200" dirty="0"/>
          </a:p>
        </p:txBody>
      </p:sp>
      <p:sp>
        <p:nvSpPr>
          <p:cNvPr id="17" name="Text 15"/>
          <p:cNvSpPr txBox="1"/>
          <p:nvPr/>
        </p:nvSpPr>
        <p:spPr>
          <a:xfrm>
            <a:off x="685800" y="3615538"/>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8" name="Text 16"/>
          <p:cNvSpPr txBox="1"/>
          <p:nvPr/>
        </p:nvSpPr>
        <p:spPr>
          <a:xfrm>
            <a:off x="1014984" y="3615538"/>
            <a:ext cx="5586070" cy="42062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E</a:t>
            </a:r>
            <a:r>
              <a:rPr lang="ja-JP" altLang="en-US" sz="2200" dirty="0">
                <a:solidFill>
                  <a:srgbClr val="262626"/>
                </a:solidFill>
                <a:latin typeface="メイリオ" pitchFamily="34" charset="0"/>
                <a:ea typeface="メイリオ" pitchFamily="34" charset="-122"/>
                <a:cs typeface="メイリオ" pitchFamily="34" charset="-120"/>
              </a:rPr>
              <a:t>lderly：55 歳超（同 57 歳以上）</a:t>
            </a:r>
            <a:endParaRPr lang="ja-JP" sz="2200" dirty="0"/>
          </a:p>
        </p:txBody>
      </p:sp>
      <p:sp>
        <p:nvSpPr>
          <p:cNvPr id="19" name="Text 17"/>
          <p:cNvSpPr txBox="1"/>
          <p:nvPr/>
        </p:nvSpPr>
        <p:spPr>
          <a:xfrm>
            <a:off x="685800" y="4047134"/>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1014984" y="4047134"/>
            <a:ext cx="5586070" cy="42062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S</a:t>
            </a:r>
            <a:r>
              <a:rPr lang="ja-JP" altLang="en-US" sz="2200" dirty="0">
                <a:solidFill>
                  <a:srgbClr val="262626"/>
                </a:solidFill>
                <a:latin typeface="メイリオ" pitchFamily="34" charset="0"/>
                <a:ea typeface="メイリオ" pitchFamily="34" charset="-122"/>
                <a:cs typeface="メイリオ" pitchFamily="34" charset="-120"/>
              </a:rPr>
              <a:t>norer：いびき</a:t>
            </a:r>
            <a:endParaRPr lang="ja-JP" sz="2200" dirty="0"/>
          </a:p>
        </p:txBody>
      </p:sp>
      <p:sp>
        <p:nvSpPr>
          <p:cNvPr id="21" name="Text 19"/>
          <p:cNvSpPr txBox="1"/>
          <p:nvPr/>
        </p:nvSpPr>
        <p:spPr>
          <a:xfrm>
            <a:off x="685800" y="4478731"/>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2" name="Text 20"/>
          <p:cNvSpPr txBox="1"/>
          <p:nvPr/>
        </p:nvSpPr>
        <p:spPr>
          <a:xfrm>
            <a:off x="1014984" y="4478731"/>
            <a:ext cx="5586070" cy="42062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E</a:t>
            </a:r>
            <a:r>
              <a:rPr lang="ja-JP" altLang="en-US" sz="2200" dirty="0">
                <a:solidFill>
                  <a:srgbClr val="262626"/>
                </a:solidFill>
                <a:latin typeface="メイリオ" pitchFamily="34" charset="0"/>
                <a:ea typeface="メイリオ" pitchFamily="34" charset="-122"/>
                <a:cs typeface="メイリオ" pitchFamily="34" charset="-120"/>
              </a:rPr>
              <a:t>dentulous：歯がない</a:t>
            </a:r>
            <a:endParaRPr lang="ja-JP" sz="2200" dirty="0"/>
          </a:p>
        </p:txBody>
      </p:sp>
      <p:sp>
        <p:nvSpPr>
          <p:cNvPr id="23" name="Shape 21"/>
          <p:cNvSpPr/>
          <p:nvPr/>
        </p:nvSpPr>
        <p:spPr>
          <a:xfrm>
            <a:off x="7003390" y="1691640"/>
            <a:ext cx="4681728" cy="3319272"/>
          </a:xfrm>
          <a:prstGeom prst="roundRect">
            <a:avLst>
              <a:gd name="adj" fmla="val 2204"/>
            </a:avLst>
          </a:prstGeom>
          <a:solidFill>
            <a:srgbClr val="F2F2F2"/>
          </a:solidFill>
          <a:ln/>
        </p:spPr>
      </p:sp>
      <p:sp>
        <p:nvSpPr>
          <p:cNvPr id="24" name="Text 22"/>
          <p:cNvSpPr txBox="1"/>
          <p:nvPr/>
        </p:nvSpPr>
        <p:spPr>
          <a:xfrm>
            <a:off x="7186270" y="1801368"/>
            <a:ext cx="4315968"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『換気不能』の予測因子</a:t>
            </a:r>
            <a:endParaRPr lang="ja-JP" sz="2400" dirty="0"/>
          </a:p>
        </p:txBody>
      </p:sp>
      <p:sp>
        <p:nvSpPr>
          <p:cNvPr id="25" name="Text 23"/>
          <p:cNvSpPr txBox="1"/>
          <p:nvPr/>
        </p:nvSpPr>
        <p:spPr>
          <a:xfrm>
            <a:off x="7186270" y="2331720"/>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6" name="Text 24"/>
          <p:cNvSpPr txBox="1"/>
          <p:nvPr/>
        </p:nvSpPr>
        <p:spPr>
          <a:xfrm>
            <a:off x="7515454" y="2331720"/>
            <a:ext cx="39867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頸部への放射線治療</a:t>
            </a:r>
            <a:endParaRPr lang="ja-JP" sz="2200" dirty="0"/>
          </a:p>
        </p:txBody>
      </p:sp>
      <p:sp>
        <p:nvSpPr>
          <p:cNvPr id="27" name="Text 25"/>
          <p:cNvSpPr txBox="1"/>
          <p:nvPr/>
        </p:nvSpPr>
        <p:spPr>
          <a:xfrm>
            <a:off x="7186270" y="2868473"/>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8" name="Text 26"/>
          <p:cNvSpPr txBox="1"/>
          <p:nvPr/>
        </p:nvSpPr>
        <p:spPr>
          <a:xfrm>
            <a:off x="7515454" y="2868473"/>
            <a:ext cx="39867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男性</a:t>
            </a:r>
            <a:endParaRPr lang="ja-JP" sz="2200" dirty="0"/>
          </a:p>
        </p:txBody>
      </p:sp>
      <p:sp>
        <p:nvSpPr>
          <p:cNvPr id="29" name="Text 27"/>
          <p:cNvSpPr txBox="1"/>
          <p:nvPr/>
        </p:nvSpPr>
        <p:spPr>
          <a:xfrm>
            <a:off x="7186270" y="3405226"/>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0" name="Text 28"/>
          <p:cNvSpPr txBox="1"/>
          <p:nvPr/>
        </p:nvSpPr>
        <p:spPr>
          <a:xfrm>
            <a:off x="7515454" y="3405226"/>
            <a:ext cx="39867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閉塞性睡眠時無呼吸</a:t>
            </a:r>
            <a:endParaRPr lang="ja-JP" sz="2200" dirty="0"/>
          </a:p>
        </p:txBody>
      </p:sp>
      <p:sp>
        <p:nvSpPr>
          <p:cNvPr id="31" name="Text 29"/>
          <p:cNvSpPr txBox="1"/>
          <p:nvPr/>
        </p:nvSpPr>
        <p:spPr>
          <a:xfrm>
            <a:off x="7186270" y="3941978"/>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2" name="Text 30"/>
          <p:cNvSpPr txBox="1"/>
          <p:nvPr/>
        </p:nvSpPr>
        <p:spPr>
          <a:xfrm>
            <a:off x="7515454" y="3941978"/>
            <a:ext cx="39867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Mallampati III・IV</a:t>
            </a:r>
            <a:endParaRPr lang="ja-JP" sz="2200" dirty="0"/>
          </a:p>
        </p:txBody>
      </p:sp>
      <p:sp>
        <p:nvSpPr>
          <p:cNvPr id="33" name="Text 31"/>
          <p:cNvSpPr txBox="1"/>
          <p:nvPr/>
        </p:nvSpPr>
        <p:spPr>
          <a:xfrm>
            <a:off x="7186270" y="4478731"/>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4" name="Text 32"/>
          <p:cNvSpPr txBox="1"/>
          <p:nvPr/>
        </p:nvSpPr>
        <p:spPr>
          <a:xfrm>
            <a:off x="7515454" y="4478731"/>
            <a:ext cx="39867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ひげ</a:t>
            </a:r>
            <a:endParaRPr lang="ja-JP" sz="2200" dirty="0"/>
          </a:p>
        </p:txBody>
      </p:sp>
      <p:sp>
        <p:nvSpPr>
          <p:cNvPr id="35" name="Text 33"/>
          <p:cNvSpPr/>
          <p:nvPr/>
        </p:nvSpPr>
        <p:spPr>
          <a:xfrm>
            <a:off x="1051560" y="5230368"/>
            <a:ext cx="10085832" cy="667512"/>
          </a:xfrm>
          <a:prstGeom prst="roundRect">
            <a:avLst>
              <a:gd name="adj" fmla="val 13699"/>
            </a:avLst>
          </a:prstGeom>
          <a:solidFill>
            <a:srgbClr val="FFFFFF"/>
          </a:solidFill>
          <a:ln w="44450">
            <a:solidFill>
              <a:srgbClr val="C00000"/>
            </a:solidFill>
          </a:ln>
        </p:spPr>
        <p:txBody>
          <a:bodyPr wrap="square" lIns="73152" tIns="73152" rIns="73152" bIns="73152"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挿管困難とマスク換気困難が重なる患者が、</a:t>
            </a:r>
            <a:r>
              <a:rPr lang="ja-JP" altLang="en-US" sz="2600" b="1" dirty="0">
                <a:solidFill>
                  <a:srgbClr val="C00000"/>
                </a:solidFill>
                <a:latin typeface="メイリオ" pitchFamily="34" charset="0"/>
                <a:ea typeface="メイリオ" pitchFamily="34" charset="-122"/>
                <a:cs typeface="メイリオ" pitchFamily="34" charset="-120"/>
              </a:rPr>
              <a:t>最も危ない</a:t>
            </a:r>
            <a:endParaRPr lang="ja-JP" sz="2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予測の限界を知る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目的と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問診</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マスク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換気</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限界と</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計画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Roth D, et al. Cochrane Database Syst Rev 2018;5:CD008874</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Nørskov AK, et al. Anaesthesia 2015;70:272-281 / Detsky ME, et al. JAMA 2019;321:493-503</a:t>
            </a:r>
            <a:endParaRPr lang="ja-JP" sz="1600" dirty="0"/>
          </a:p>
        </p:txBody>
      </p:sp>
      <p:sp>
        <p:nvSpPr>
          <p:cNvPr id="11" name="Text 9"/>
          <p:cNvSpPr txBox="1"/>
          <p:nvPr/>
        </p:nvSpPr>
        <p:spPr>
          <a:xfrm>
            <a:off x="502920" y="1920240"/>
            <a:ext cx="41148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2" name="Text 10"/>
          <p:cNvSpPr txBox="1"/>
          <p:nvPr/>
        </p:nvSpPr>
        <p:spPr>
          <a:xfrm>
            <a:off x="914400" y="1920240"/>
            <a:ext cx="1074420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挿管困難は定義により約 2〜10%。</a:t>
            </a:r>
            <a:r>
              <a:rPr lang="ja-JP" altLang="en-US" sz="2400" b="1" dirty="0">
                <a:solidFill>
                  <a:srgbClr val="D55E00"/>
                </a:solidFill>
                <a:latin typeface="メイリオ" pitchFamily="34" charset="0"/>
                <a:ea typeface="メイリオ" pitchFamily="34" charset="-122"/>
                <a:cs typeface="メイリオ" pitchFamily="34" charset="-120"/>
              </a:rPr>
              <a:t>9 割以上は予測されずに起きる</a:t>
            </a:r>
            <a:endParaRPr lang="ja-JP" sz="2400" dirty="0"/>
          </a:p>
        </p:txBody>
      </p:sp>
      <p:sp>
        <p:nvSpPr>
          <p:cNvPr id="13" name="Text 11"/>
          <p:cNvSpPr txBox="1"/>
          <p:nvPr/>
        </p:nvSpPr>
        <p:spPr>
          <a:xfrm>
            <a:off x="502920" y="2743200"/>
            <a:ext cx="41148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4" name="Text 12"/>
          <p:cNvSpPr txBox="1"/>
          <p:nvPr/>
        </p:nvSpPr>
        <p:spPr>
          <a:xfrm>
            <a:off x="914400" y="2743200"/>
            <a:ext cx="1074420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所見 1 つの</a:t>
            </a:r>
            <a:r>
              <a:rPr lang="ja-JP" altLang="en-US" sz="2400" b="1" dirty="0">
                <a:solidFill>
                  <a:srgbClr val="0072B2"/>
                </a:solidFill>
                <a:latin typeface="メイリオ" pitchFamily="34" charset="0"/>
                <a:ea typeface="メイリオ" pitchFamily="34" charset="-122"/>
                <a:cs typeface="メイリオ" pitchFamily="34" charset="-120"/>
              </a:rPr>
              <a:t>感度は低い</a:t>
            </a:r>
            <a:r>
              <a:rPr lang="ja-JP" altLang="en-US" sz="2400" dirty="0">
                <a:solidFill>
                  <a:srgbClr val="262626"/>
                </a:solidFill>
                <a:latin typeface="メイリオ" pitchFamily="34" charset="0"/>
                <a:ea typeface="メイリオ" pitchFamily="34" charset="-122"/>
                <a:cs typeface="メイリオ" pitchFamily="34" charset="-120"/>
              </a:rPr>
              <a:t>（Mallampati 約 5 割、TMD 約 2 割）</a:t>
            </a:r>
            <a:endParaRPr lang="ja-JP" sz="2400" dirty="0"/>
          </a:p>
        </p:txBody>
      </p:sp>
      <p:sp>
        <p:nvSpPr>
          <p:cNvPr id="15" name="Text 13"/>
          <p:cNvSpPr txBox="1"/>
          <p:nvPr/>
        </p:nvSpPr>
        <p:spPr>
          <a:xfrm>
            <a:off x="502920" y="3566160"/>
            <a:ext cx="41148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6" name="Text 14"/>
          <p:cNvSpPr txBox="1"/>
          <p:nvPr/>
        </p:nvSpPr>
        <p:spPr>
          <a:xfrm>
            <a:off x="914400" y="3566160"/>
            <a:ext cx="10744200"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特異度は高く</a:t>
            </a:r>
            <a:r>
              <a:rPr lang="ja-JP" altLang="en-US" sz="2400" dirty="0">
                <a:solidFill>
                  <a:srgbClr val="262626"/>
                </a:solidFill>
                <a:latin typeface="メイリオ" pitchFamily="34" charset="0"/>
                <a:ea typeface="メイリオ" pitchFamily="34" charset="-122"/>
                <a:cs typeface="メイリオ" pitchFamily="34" charset="-120"/>
              </a:rPr>
              <a:t>、『異常あり』なら困難の確率が上がる</a:t>
            </a:r>
            <a:endParaRPr lang="ja-JP" sz="2400" dirty="0"/>
          </a:p>
        </p:txBody>
      </p:sp>
      <p:sp>
        <p:nvSpPr>
          <p:cNvPr id="17" name="Text 15"/>
          <p:cNvSpPr txBox="1"/>
          <p:nvPr/>
        </p:nvSpPr>
        <p:spPr>
          <a:xfrm>
            <a:off x="502920" y="4389120"/>
            <a:ext cx="41148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8" name="Text 16"/>
          <p:cNvSpPr txBox="1"/>
          <p:nvPr/>
        </p:nvSpPr>
        <p:spPr>
          <a:xfrm>
            <a:off x="914400" y="4389120"/>
            <a:ext cx="10744200"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異常なし＝安全、ではない</a:t>
            </a:r>
            <a:r>
              <a:rPr lang="ja-JP" altLang="en-US" sz="2400" dirty="0">
                <a:solidFill>
                  <a:srgbClr val="262626"/>
                </a:solidFill>
                <a:latin typeface="メイリオ" pitchFamily="34" charset="0"/>
                <a:ea typeface="メイリオ" pitchFamily="34" charset="-122"/>
                <a:cs typeface="メイリオ" pitchFamily="34" charset="-120"/>
              </a:rPr>
              <a:t>。全例で次の手を用意</a:t>
            </a:r>
            <a:endParaRPr lang="ja-JP" sz="2400" dirty="0"/>
          </a:p>
        </p:txBody>
      </p:sp>
      <p:sp>
        <p:nvSpPr>
          <p:cNvPr id="19" name="Text 17"/>
          <p:cNvSpPr txBox="1"/>
          <p:nvPr/>
        </p:nvSpPr>
        <p:spPr>
          <a:xfrm>
            <a:off x="502920" y="5212080"/>
            <a:ext cx="41148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0" name="Text 18"/>
          <p:cNvSpPr txBox="1"/>
          <p:nvPr/>
        </p:nvSpPr>
        <p:spPr>
          <a:xfrm>
            <a:off x="914400" y="5212080"/>
            <a:ext cx="1074420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評価の価値は『見つけたときに備えられる』こと</a:t>
            </a:r>
            <a:endParaRPr lang="ja-JP"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評価を計画につなぐ</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目的と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問診</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マスク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換気</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限界と</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計画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Ahmad I, et al. Br J Anaesth 2026;136:283-307（DAS 2025） / Frerk C, et al. Br J Anaesth</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2015;115:827-848（DAS 2015） / Apfelbaum JL, et al. Anesthesiology 2022;136:31-81</a:t>
            </a:r>
            <a:endParaRPr lang="ja-JP" sz="1600" dirty="0"/>
          </a:p>
        </p:txBody>
      </p:sp>
      <p:sp>
        <p:nvSpPr>
          <p:cNvPr id="11" name="Shape 9"/>
          <p:cNvSpPr/>
          <p:nvPr/>
        </p:nvSpPr>
        <p:spPr>
          <a:xfrm>
            <a:off x="502920" y="1691640"/>
            <a:ext cx="6420002" cy="3319272"/>
          </a:xfrm>
          <a:prstGeom prst="roundRect">
            <a:avLst>
              <a:gd name="adj" fmla="val 2204"/>
            </a:avLst>
          </a:prstGeom>
          <a:solidFill>
            <a:srgbClr val="F2F2F2"/>
          </a:solidFill>
          <a:ln/>
        </p:spPr>
      </p:sp>
      <p:sp>
        <p:nvSpPr>
          <p:cNvPr id="12" name="Text 10"/>
          <p:cNvSpPr txBox="1"/>
          <p:nvPr/>
        </p:nvSpPr>
        <p:spPr>
          <a:xfrm>
            <a:off x="685800" y="1801368"/>
            <a:ext cx="6054242"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困難が予想されるとき</a:t>
            </a:r>
            <a:endParaRPr lang="ja-JP" sz="2400" dirty="0"/>
          </a:p>
        </p:txBody>
      </p:sp>
      <p:sp>
        <p:nvSpPr>
          <p:cNvPr id="13" name="Text 11"/>
          <p:cNvSpPr txBox="1"/>
          <p:nvPr/>
        </p:nvSpPr>
        <p:spPr>
          <a:xfrm>
            <a:off x="685800" y="2331720"/>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4" name="Text 12"/>
          <p:cNvSpPr txBox="1"/>
          <p:nvPr/>
        </p:nvSpPr>
        <p:spPr>
          <a:xfrm>
            <a:off x="1014984" y="2331720"/>
            <a:ext cx="572505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上級医に相談、応援を頼む（遠隔でも）</a:t>
            </a:r>
            <a:endParaRPr lang="ja-JP" sz="2200" dirty="0"/>
          </a:p>
        </p:txBody>
      </p:sp>
      <p:sp>
        <p:nvSpPr>
          <p:cNvPr id="15" name="Text 13"/>
          <p:cNvSpPr txBox="1"/>
          <p:nvPr/>
        </p:nvSpPr>
        <p:spPr>
          <a:xfrm>
            <a:off x="685800" y="2868473"/>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6" name="Text 14"/>
          <p:cNvSpPr txBox="1"/>
          <p:nvPr/>
        </p:nvSpPr>
        <p:spPr>
          <a:xfrm>
            <a:off x="1014984" y="2868473"/>
            <a:ext cx="572505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ビデオ喉頭鏡を最初から</a:t>
            </a:r>
            <a:endParaRPr lang="ja-JP" sz="2200" dirty="0"/>
          </a:p>
        </p:txBody>
      </p:sp>
      <p:sp>
        <p:nvSpPr>
          <p:cNvPr id="17" name="Text 15"/>
          <p:cNvSpPr txBox="1"/>
          <p:nvPr/>
        </p:nvSpPr>
        <p:spPr>
          <a:xfrm>
            <a:off x="685800" y="3405226"/>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8" name="Text 16"/>
          <p:cNvSpPr txBox="1"/>
          <p:nvPr/>
        </p:nvSpPr>
        <p:spPr>
          <a:xfrm>
            <a:off x="1014984" y="3405226"/>
            <a:ext cx="572505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声門上器具、ブジーを開けて置く</a:t>
            </a:r>
            <a:endParaRPr lang="ja-JP" sz="2200" dirty="0"/>
          </a:p>
        </p:txBody>
      </p:sp>
      <p:sp>
        <p:nvSpPr>
          <p:cNvPr id="19" name="Text 17"/>
          <p:cNvSpPr txBox="1"/>
          <p:nvPr/>
        </p:nvSpPr>
        <p:spPr>
          <a:xfrm>
            <a:off x="685800" y="3941978"/>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1014984" y="3941978"/>
            <a:ext cx="572505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覚醒下挿管（気管支鏡）を考える</a:t>
            </a:r>
            <a:endParaRPr lang="ja-JP" sz="2200" dirty="0"/>
          </a:p>
        </p:txBody>
      </p:sp>
      <p:sp>
        <p:nvSpPr>
          <p:cNvPr id="21" name="Text 19"/>
          <p:cNvSpPr txBox="1"/>
          <p:nvPr/>
        </p:nvSpPr>
        <p:spPr>
          <a:xfrm>
            <a:off x="685800" y="4478731"/>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2" name="Text 20"/>
          <p:cNvSpPr txBox="1"/>
          <p:nvPr/>
        </p:nvSpPr>
        <p:spPr>
          <a:xfrm>
            <a:off x="1014984" y="4478731"/>
            <a:ext cx="572505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輪状甲状靱帯を触って印をつける</a:t>
            </a:r>
            <a:endParaRPr lang="ja-JP" sz="2200" dirty="0"/>
          </a:p>
        </p:txBody>
      </p:sp>
      <p:sp>
        <p:nvSpPr>
          <p:cNvPr id="23" name="Shape 21"/>
          <p:cNvSpPr/>
          <p:nvPr/>
        </p:nvSpPr>
        <p:spPr>
          <a:xfrm>
            <a:off x="7142378" y="1691640"/>
            <a:ext cx="4542739" cy="3319272"/>
          </a:xfrm>
          <a:prstGeom prst="roundRect">
            <a:avLst>
              <a:gd name="adj" fmla="val 2204"/>
            </a:avLst>
          </a:prstGeom>
          <a:solidFill>
            <a:srgbClr val="F2F2F2"/>
          </a:solidFill>
          <a:ln/>
        </p:spPr>
      </p:sp>
      <p:sp>
        <p:nvSpPr>
          <p:cNvPr id="24" name="Text 22"/>
          <p:cNvSpPr txBox="1"/>
          <p:nvPr/>
        </p:nvSpPr>
        <p:spPr>
          <a:xfrm>
            <a:off x="7325258" y="1801368"/>
            <a:ext cx="4176979"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患者と記録</a:t>
            </a:r>
            <a:endParaRPr lang="ja-JP" sz="2400" dirty="0"/>
          </a:p>
        </p:txBody>
      </p:sp>
      <p:sp>
        <p:nvSpPr>
          <p:cNvPr id="25" name="Text 23"/>
          <p:cNvSpPr txBox="1"/>
          <p:nvPr/>
        </p:nvSpPr>
        <p:spPr>
          <a:xfrm>
            <a:off x="7325258" y="2331720"/>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6" name="Text 24"/>
          <p:cNvSpPr txBox="1"/>
          <p:nvPr/>
        </p:nvSpPr>
        <p:spPr>
          <a:xfrm>
            <a:off x="7654442" y="2331720"/>
            <a:ext cx="3847795"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患者に説明：</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歯の損傷、覚醒下の処置</a:t>
            </a:r>
            <a:endParaRPr lang="ja-JP" sz="2200" dirty="0"/>
          </a:p>
        </p:txBody>
      </p:sp>
      <p:sp>
        <p:nvSpPr>
          <p:cNvPr id="27" name="Text 25"/>
          <p:cNvSpPr txBox="1"/>
          <p:nvPr/>
        </p:nvSpPr>
        <p:spPr>
          <a:xfrm>
            <a:off x="7325258" y="3187598"/>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8" name="Text 26"/>
          <p:cNvSpPr txBox="1"/>
          <p:nvPr/>
        </p:nvSpPr>
        <p:spPr>
          <a:xfrm>
            <a:off x="7654442" y="3187598"/>
            <a:ext cx="384779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前酸素化を十分に</a:t>
            </a:r>
            <a:endParaRPr lang="ja-JP" sz="2200" dirty="0"/>
          </a:p>
        </p:txBody>
      </p:sp>
      <p:sp>
        <p:nvSpPr>
          <p:cNvPr id="29" name="Text 27"/>
          <p:cNvSpPr txBox="1"/>
          <p:nvPr/>
        </p:nvSpPr>
        <p:spPr>
          <a:xfrm>
            <a:off x="7325258" y="3622853"/>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0" name="Text 28"/>
          <p:cNvSpPr txBox="1"/>
          <p:nvPr/>
        </p:nvSpPr>
        <p:spPr>
          <a:xfrm>
            <a:off x="7654442" y="3622853"/>
            <a:ext cx="384779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所見と計画を記録</a:t>
            </a:r>
            <a:endParaRPr lang="ja-JP" sz="2200" dirty="0"/>
          </a:p>
        </p:txBody>
      </p:sp>
      <p:sp>
        <p:nvSpPr>
          <p:cNvPr id="31" name="Text 29"/>
          <p:cNvSpPr txBox="1"/>
          <p:nvPr/>
        </p:nvSpPr>
        <p:spPr>
          <a:xfrm>
            <a:off x="7325258" y="4058107"/>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2" name="Text 30"/>
          <p:cNvSpPr txBox="1"/>
          <p:nvPr/>
        </p:nvSpPr>
        <p:spPr>
          <a:xfrm>
            <a:off x="7654442" y="4058107"/>
            <a:ext cx="3847795"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困難だったら：</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カード・アラート・紹介状</a:t>
            </a:r>
            <a:endParaRPr lang="ja-JP" sz="2200" dirty="0"/>
          </a:p>
        </p:txBody>
      </p:sp>
      <p:sp>
        <p:nvSpPr>
          <p:cNvPr id="33" name="Text 31"/>
          <p:cNvSpPr/>
          <p:nvPr/>
        </p:nvSpPr>
        <p:spPr>
          <a:xfrm>
            <a:off x="1051560" y="5230368"/>
            <a:ext cx="10085832" cy="667512"/>
          </a:xfrm>
          <a:prstGeom prst="roundRect">
            <a:avLst>
              <a:gd name="adj" fmla="val 13699"/>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一人で対応できないと判断したら、</a:t>
            </a:r>
            <a:r>
              <a:rPr lang="ja-JP" altLang="en-US" sz="2600" b="1" dirty="0">
                <a:solidFill>
                  <a:srgbClr val="D55E00"/>
                </a:solidFill>
                <a:latin typeface="メイリオ" pitchFamily="34" charset="0"/>
                <a:ea typeface="メイリオ" pitchFamily="34" charset="-122"/>
                <a:cs typeface="メイリオ" pitchFamily="34" charset="-120"/>
              </a:rPr>
              <a:t>転院・延期も選択肢</a:t>
            </a:r>
            <a:endParaRPr lang="ja-JP" sz="2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目的と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問診</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マスク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換気</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計画</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Ahmad I, et al. Br J Anaesth 2026;136:283-307（DAS 2025）/Apfelbaum JL,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Anesthesiology 2022;136:31-81/Roth D, et al. Cochrane Database Syst Rev 2018;5:CD008874</a:t>
            </a:r>
            <a:endParaRPr lang="ja-JP" sz="1600" dirty="0"/>
          </a:p>
        </p:txBody>
      </p:sp>
      <p:sp>
        <p:nvSpPr>
          <p:cNvPr id="11" name="Text 9"/>
          <p:cNvSpPr txBox="1"/>
          <p:nvPr/>
        </p:nvSpPr>
        <p:spPr>
          <a:xfrm>
            <a:off x="502920" y="1879092"/>
            <a:ext cx="41148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p:txBody>
      </p:sp>
      <p:sp>
        <p:nvSpPr>
          <p:cNvPr id="12" name="Text 10"/>
          <p:cNvSpPr txBox="1"/>
          <p:nvPr/>
        </p:nvSpPr>
        <p:spPr>
          <a:xfrm>
            <a:off x="914400" y="1879092"/>
            <a:ext cx="1074420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気道評価は</a:t>
            </a:r>
            <a:r>
              <a:rPr lang="ja-JP" altLang="en-US" sz="2600" b="1" dirty="0">
                <a:solidFill>
                  <a:srgbClr val="D55E00"/>
                </a:solidFill>
                <a:latin typeface="メイリオ" pitchFamily="34" charset="0"/>
                <a:ea typeface="メイリオ" pitchFamily="34" charset="-122"/>
                <a:cs typeface="メイリオ" pitchFamily="34" charset="-120"/>
              </a:rPr>
              <a:t>『備える』</a:t>
            </a:r>
            <a:r>
              <a:rPr lang="ja-JP" altLang="en-US" sz="2600" dirty="0">
                <a:solidFill>
                  <a:srgbClr val="262626"/>
                </a:solidFill>
                <a:latin typeface="メイリオ" pitchFamily="34" charset="0"/>
                <a:ea typeface="メイリオ" pitchFamily="34" charset="-122"/>
                <a:cs typeface="メイリオ" pitchFamily="34" charset="-120"/>
              </a:rPr>
              <a:t>ため。全例で同じ手順で</a:t>
            </a:r>
            <a:endParaRPr lang="ja-JP" sz="2600" dirty="0"/>
          </a:p>
        </p:txBody>
      </p:sp>
      <p:sp>
        <p:nvSpPr>
          <p:cNvPr id="13" name="Text 11"/>
          <p:cNvSpPr txBox="1"/>
          <p:nvPr/>
        </p:nvSpPr>
        <p:spPr>
          <a:xfrm>
            <a:off x="502920" y="2711196"/>
            <a:ext cx="41148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p:txBody>
      </p:sp>
      <p:sp>
        <p:nvSpPr>
          <p:cNvPr id="14" name="Text 12"/>
          <p:cNvSpPr txBox="1"/>
          <p:nvPr/>
        </p:nvSpPr>
        <p:spPr>
          <a:xfrm>
            <a:off x="914400" y="2711196"/>
            <a:ext cx="1074420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前回の記録は強い予測因子。問診でいびき・歯・頸部</a:t>
            </a:r>
            <a:endParaRPr lang="ja-JP" sz="2600" dirty="0"/>
          </a:p>
        </p:txBody>
      </p:sp>
      <p:sp>
        <p:nvSpPr>
          <p:cNvPr id="15" name="Text 13"/>
          <p:cNvSpPr txBox="1"/>
          <p:nvPr/>
        </p:nvSpPr>
        <p:spPr>
          <a:xfrm>
            <a:off x="502920" y="3543300"/>
            <a:ext cx="41148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p:txBody>
      </p:sp>
      <p:sp>
        <p:nvSpPr>
          <p:cNvPr id="16" name="Text 14"/>
          <p:cNvSpPr txBox="1"/>
          <p:nvPr/>
        </p:nvSpPr>
        <p:spPr>
          <a:xfrm>
            <a:off x="914400" y="3543300"/>
            <a:ext cx="1074420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開口、Mallampati III・IV、TMD 6 cm、上唇咬合、頸部</a:t>
            </a:r>
            <a:endParaRPr lang="ja-JP" sz="2600" dirty="0"/>
          </a:p>
        </p:txBody>
      </p:sp>
      <p:sp>
        <p:nvSpPr>
          <p:cNvPr id="17" name="Text 15"/>
          <p:cNvSpPr txBox="1"/>
          <p:nvPr/>
        </p:nvSpPr>
        <p:spPr>
          <a:xfrm>
            <a:off x="502920" y="4375404"/>
            <a:ext cx="41148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p:txBody>
      </p:sp>
      <p:sp>
        <p:nvSpPr>
          <p:cNvPr id="18" name="Text 16"/>
          <p:cNvSpPr txBox="1"/>
          <p:nvPr/>
        </p:nvSpPr>
        <p:spPr>
          <a:xfrm>
            <a:off x="914400" y="4375404"/>
            <a:ext cx="1074420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マスク換気困難：OBESE、放射線、OSA。</a:t>
            </a:r>
            <a:r>
              <a:rPr lang="ja-JP" altLang="en-US" sz="2600" b="1" dirty="0">
                <a:solidFill>
                  <a:srgbClr val="C00000"/>
                </a:solidFill>
                <a:latin typeface="メイリオ" pitchFamily="34" charset="0"/>
                <a:ea typeface="メイリオ" pitchFamily="34" charset="-122"/>
                <a:cs typeface="メイリオ" pitchFamily="34" charset="-120"/>
              </a:rPr>
              <a:t>重なると危険</a:t>
            </a:r>
            <a:endParaRPr lang="ja-JP" sz="2600" dirty="0"/>
          </a:p>
        </p:txBody>
      </p:sp>
      <p:sp>
        <p:nvSpPr>
          <p:cNvPr id="19" name="Text 17"/>
          <p:cNvSpPr txBox="1"/>
          <p:nvPr/>
        </p:nvSpPr>
        <p:spPr>
          <a:xfrm>
            <a:off x="502920" y="5207508"/>
            <a:ext cx="411480"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p:txBody>
      </p:sp>
      <p:sp>
        <p:nvSpPr>
          <p:cNvPr id="20" name="Text 18"/>
          <p:cNvSpPr txBox="1"/>
          <p:nvPr/>
        </p:nvSpPr>
        <p:spPr>
          <a:xfrm>
            <a:off x="914400" y="5207508"/>
            <a:ext cx="10744200" cy="502920"/>
          </a:xfrm>
          <a:prstGeom prst="rect">
            <a:avLst/>
          </a:prstGeom>
          <a:noFill/>
          <a:ln/>
        </p:spPr>
        <p:txBody>
          <a:bodyPr wrap="square" lIns="0" tIns="0" rIns="0" bIns="0" rtlCol="0" anchor="t"/>
          <a:lstStyle/>
          <a:p>
            <a:pPr algn="l" indent="0" marL="0">
              <a:buNone/>
            </a:pPr>
            <a:r>
              <a:rPr lang="ja-JP" altLang="en-US" sz="2600" b="1" dirty="0">
                <a:solidFill>
                  <a:srgbClr val="C00000"/>
                </a:solidFill>
                <a:latin typeface="メイリオ" pitchFamily="34" charset="0"/>
                <a:ea typeface="メイリオ" pitchFamily="34" charset="-122"/>
                <a:cs typeface="メイリオ" pitchFamily="34" charset="-120"/>
              </a:rPr>
              <a:t>異常なし≠安全</a:t>
            </a:r>
            <a:r>
              <a:rPr lang="ja-JP" altLang="en-US" sz="2600" dirty="0">
                <a:solidFill>
                  <a:srgbClr val="262626"/>
                </a:solidFill>
                <a:latin typeface="メイリオ" pitchFamily="34" charset="0"/>
                <a:ea typeface="メイリオ" pitchFamily="34" charset="-122"/>
                <a:cs typeface="メイリオ" pitchFamily="34" charset="-120"/>
              </a:rPr>
              <a:t>。見つけたら道具・人・覚醒下・転院</a:t>
            </a:r>
            <a:endParaRPr lang="ja-JP"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4-2 術前診察での気道評価</dc:title>
  <dc:subject/>
  <dc:creator>Anes-lecture</dc:creator>
  <cp:lastModifiedBy>Anes-lecture</cp:lastModifiedBy>
  <cp:revision>1</cp:revision>
  <dcterms:created xsi:type="dcterms:W3CDTF">2026-10-15T17:10:20Z</dcterms:created>
  <dcterms:modified xsi:type="dcterms:W3CDTF">2026-10-15T17:10:20Z</dcterms:modified>
</cp:coreProperties>
</file>