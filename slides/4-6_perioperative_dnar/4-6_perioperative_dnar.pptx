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高齢化で、DNAR 指示のある入院患者は増えている（国内の報告で、RRS が起動された患者のうち起動前から DNAR があった割合は 2014 年 8.0% → 2020 年 12.4%：Tsuji 2024。手術患者のデータではない）。国内の 1 施設では、麻酔科管理 4,164 例の 2.4%（100 例）に術前 DNAR があった（Shimizu 2025）。手術室に入った途端に DNAR を黙って停止するのも、確認しないまま手術中もそのまま適用するのも、どちらも不適切である。この講義では、DNAR の定義の再確認、手術室で何が問題になるか、米国麻酔科学会（ASA）の 3 つの選択肢、国内の勧告と制度、術前に再確認して記録する手順を扱う。</a:t>
            </a:r>
          </a:p>
          <a:p>
            <a:r>
              <a:rPr lang="ja-JP" altLang="en-US" dirty="0"/>
              <a:t>参考: Tsuji T, et al. J Anesth 2024;38:288-290 / Shimizu K, et al. J Anesth 2025;39:223-230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定義: 日本集中治療医学会の「DNAR 指示のあり方についての勧告」（2016 年 12 月 16 日学会サイト掲出、2017 年 1 月 5 日版あり。日集中医誌 2017;24:208-209）は、DNAR 指示は心停止時にのみ有効で、心肺蘇生の不開始以外は ICU 入室を含めて通常の医療・看護について別に議論すべきとしている。勧告の注は「心停止を『急変時』のような曖昧な語句にすり替えるべきではない」とし、酸素投与、人工呼吸、昇圧薬などを DNAR を理由に自動的に差し控えたり中止したりしないことを求めている【要確認: 注の文言と、注がどの項についているか（jsicm.org の DNAR20161216.pdf で照合）】。</a:t>
            </a:r>
          </a:p>
          <a:p>
            <a:r>
              <a:rPr lang="ja-JP" altLang="en-US" dirty="0"/>
              <a:t>誤解の実態: 同学会の医師会員 595 人への調査（2017 年。日集中医誌 2017;24:227-243、Kuroda 2024 による引用）では、DNAR 患者に CPR 以外の処置を控えるよう勧める回答が多く、血液透析では 79.3% に上った。60.2% は本人が同席した場で DNAR を話し合ったことがなかった。国内 3 病院の医師 111 人の症例シナリオ調査（Hiraoka 2016）でも、DNR 指示があると CPR 以外の処置の実施が明らかに減った。一方で、DNR があっても心室細動には電気ショックを行うという回答が 16〜26% あり、DNR の定義そのものがばらついている。全国の病院倫理委員会への調査（Sato 2020、臨床倫理 2020;8:31-41。Kuroda 2024 による引用）では、DNAR を理由に CPR 以外の医療行為を控えたり中止したりした事例がある病院が 188 施設中 104 施設（55%）あった。</a:t>
            </a:r>
          </a:p>
          <a:p>
            <a:r>
              <a:rPr lang="ja-JP" altLang="en-US" dirty="0"/>
              <a:t>誤解は今も続いている: 国内 3 医療機関の医師 134 人・看護師 233 人への調査（Hori 2025）では、70% を超える人が「DNAR は侵襲的な治療を控える指示」と答えた。DNAR を緩和ケアへの移行と受け取る回答は、ICU や RRS のない病院で多かった。医師の 40% 超は、DNAR があると ICU や輸血などの医療資源の使用を控えると答えた。ICU や RRS のない小規模病院（離島の病院を含む）では、とくに注意する。</a:t>
            </a:r>
          </a:p>
          <a:p>
            <a:r>
              <a:rPr lang="ja-JP" altLang="en-US" dirty="0"/>
              <a:t>終末期医療との違い: 同勧告は、DNAR 指示と終末期医療は同義ではなく、それぞれの合意形成は別個に行うべきで、DNAR 指示にかかわる合意形成は終末期医療ガイドライン（厚生労働省のガイドライン（→ S6）など）に準じて行うべきとしている。</a:t>
            </a:r>
          </a:p>
          <a:p>
            <a:r>
              <a:rPr lang="ja-JP" altLang="en-US" dirty="0"/>
              <a:t>参考: 日本集中治療医学会 倫理委員会. DNAR 指示のあり方についての勧告（2016-12-16 学会サイト掲出、2017-01-05 版あり）. 日集中医誌 2017;24:208-209【要確認: 巻頁 208-209（日集中医誌 24 巻の目次か J-STAGE で照合）】 / Hiraoka E, et al. Int J Gen Med 2016;9:213-220 / Hori H, et al. Geriatr Gerontol Int 2025;25:772-780 / Kuroda K, et al. Geriatr Gerontol Int 2024;24:1093-1098</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麻酔と蘇生: 気管挿管、人工呼吸、強心薬・昇圧薬の投与は、ほかの場面なら「蘇生」にあたる処置だが、麻酔では日常の手技である。CPR に固有の手技として残るのは胸骨圧迫と除細動だけ（Shapiro 2019）。手術を受けるなら拒否できない処置があることを、術前に患者に説明しておく。</a:t>
            </a:r>
          </a:p>
          <a:p>
            <a:r>
              <a:rPr lang="ja-JP" altLang="en-US" dirty="0"/>
              <a:t>心停止の性質: 手術室の心停止は、原疾患によるものもあれば、麻酔・手術の合併症（出血、迷走神経反射、薬、気道）による医原性で可逆的なものもある（Shapiro 2019。「多い」とまでは言えない）。周術期心停止 2,524 件（手術室内または術後 24 時間以内）の退院生存率は 31.7% で、同じ登録（GWTG-R）の院内心停止全体の退院生存率 15.3〜17% より高い。心静止の場合、手術室・PACU で起きたものは、ほかの周術期の場所（病棟・ICU など術後 24 時間以内）より生存率が高かった（Ramachandran 2013）。系統的レビューでは、周術期 CPR 後の 24 時間生存は 32.0〜55.7%、神経学的予後まで含めた実質的な生存は約 25% と見積もられている（Kalkman 2016）。麻酔が原因の心停止では、古いデータだが約 92% が救命されている（Olsson 1988、1967〜1984 年）。</a:t>
            </a:r>
          </a:p>
          <a:p>
            <a:r>
              <a:rPr lang="ja-JP" altLang="en-US" dirty="0"/>
              <a:t>原因で見込みが違う: 国内の全国調査（1994〜1998 年、2,363,038 例）では、術中心停止は全原因で 1 万例あたり 7.12、麻酔だけが原因のものは 1.00（約 1/7）だった。全原因では大量出血（31.9%）と手術操作（30.2%）が主な原因だった（Kawashima 2003）。「手術室の心停止は救命しやすい」と言い切らず、原因によって救命の見込みは大きく違うことを添える。</a:t>
            </a:r>
          </a:p>
          <a:p>
            <a:r>
              <a:rPr lang="ja-JP" altLang="en-US" dirty="0"/>
              <a:t>自動停止の問題: 手術室の DNR の扱いは Cohen &amp; Cohen が論じ（N Engl J Med 1991）、「必須の再検討（required reconsideration）」を提唱した（Law Med Health Care 1992）。米国では 1990 年代初めから、米国外科学会（ACS）、ASA、米国手術室看護師協会（AORN）が、DNR を手術で一律に停止するのではなく、これを求めてきた（Cushman 2021）。既存の DNR に既定でそのまま従うのでも、撤回するのでもない、という考え方である（Nishtala 2025）。ASA の現行の声明（2023 年再承認）は、麻酔を伴う処置の前に DNR を自動的に停止する施設方針は患者の自己決定権に十分に応えていない可能性があるとしている。カナダ麻酔科学会の 2019 年の声明（Peri-Operative Status of "Do Not Resuscitate" (DNR) Orders and Other Directives that Limit Interventions）も、自動的な停止と無批判な適用の両方を不適切としている【要確認: cas.ca の声明原文で、automatic suspension と uncritical acceptance にあたる文言】。</a:t>
            </a:r>
          </a:p>
          <a:p>
            <a:r>
              <a:rPr lang="ja-JP" altLang="en-US" dirty="0"/>
              <a:t>国内の実態: 東京都健康長寿医療センターの麻酔科管理 4,164 例（2019〜2022 年）のうち 100 例（2.4%）に術前 DNAR があり、手術前に DNAR の変更について説明を受けたのは 27% で、73% は説明なしに自動停止されていた（説明の記録がなく、院内規程で停止扱いになった例を自動停止とした）。元の DNAR を決めた場に本人が参加していなかったのが 54 例（意識がなかった例を含む。Shimizu 2025）。</a:t>
            </a:r>
          </a:p>
          <a:p>
            <a:r>
              <a:rPr lang="ja-JP" altLang="en-US" dirty="0"/>
              <a:t>参考: Shapiro ME, Singer EA. Surg Clin North Am 2019;99:859-865 / Ramachandran SK, et al. Anesthesiology 2013;119:1322-1339 / Kalkman S, et al. Anesthesiology 2016;124:723-729 / Olsson GL, Hallén B. Acta Anaesthesiol Scand 1988;32:653-664 / Kawashima Y, et al. Acta Anaesthesiol Scand 2003;47:809-817 / Shimizu K, et al. J Anesth 2025;39:223-230 / Cohen CB, Cohen PJ. N Engl J Med 1991;325:1879-1882 / Cohen CB, Cohen PJ. Law Med Health Care 1992;20:354-363 / Cushman T, et al. Anesth Analg 2021;133:663-675 / Nishtala MV, Berian JR. Clin Colon Rectal Surg 2025（オンライン先行公開）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required reconsideration: 術前に患者または代理人と DNAR を見直し、周術期に停止するか、維持するか、修正するかを決め直すこと。ASA の最初の指針は 1993 年。現行の声明は 2001 年 10 月 17 日に承認され、2013 年 10 月 16 日に最終改訂、2018 年 10 月 17 日と 2023 年 10 月 18 日に再承認された。声明は 3 つの選択肢を示す【要確認: 2013 年 10 月 16 日の最終改訂の日付（二次資料のみ。asahq.org の声明ページ末尾の承認・改訂履歴で確認。Burkle 2013 は「2001 年版、2008 年再承認」と書いており、資料で違う）】。</a:t>
            </a:r>
          </a:p>
          <a:p>
            <a:r>
              <a:rPr lang="ja-JP" altLang="en-US" dirty="0"/>
              <a:t>A 蘇生を全面的に試みる: 患者または代理人の希望で、麻酔中と術直後の期間は既存の指示を全面的に停止し、その間に起きた事象には適切な蘇生処置をすべて行う。</a:t>
            </a:r>
          </a:p>
          <a:p>
            <a:r>
              <a:rPr lang="ja-JP" altLang="en-US" dirty="0"/>
              <a:t>B 特定の処置を指定して蘇生を限定する: 患者は特定の処置（例：胸骨圧迫、除細動、気管挿管）を拒否し続けることができる。麻酔科医は、麻酔と予定手術の成功に不可欠な処置と、不可欠ではなく拒否できる処置を区別して説明する。何が不可欠かは麻酔法と手術で決まる（全身麻酔なら気道確保と人工呼吸は不可欠。区域麻酔や鎮静なら気管挿管は拒否しうる）。</a:t>
            </a:r>
          </a:p>
          <a:p>
            <a:r>
              <a:rPr lang="ja-JP" altLang="en-US" dirty="0"/>
              <a:t>C 患者の目標と価値観にもとづいて蘇生を限定する: どの処置が適切かを、状況と患者が述べた目標・価値観に照らして麻酔科医と手術チームの臨床判断に委ねる。例: すぐに容易に元に戻せる事象（薬による徐脈、迷走神経反射）には蘇生を望み、神経学的障害や生命維持装置への望まない依存のような、永続的な後遺症につながりそうな状況では望まない。この選択肢では、患者の目標と価値観を特に丁寧に記録する（Truog 1999 の目標指向アプローチが背景）。</a:t>
            </a:r>
          </a:p>
          <a:p>
            <a:r>
              <a:rPr lang="ja-JP" altLang="en-US" dirty="0"/>
              <a:t>国内との整合: 日本集中治療医学会の勧告は Partial DNAR 指示（CPR の一部だけを行う指示）を行うべきではないとしており（一部だけの CPR では救命が望めない）、選択肢 B と方向が食い違う。ただし勧告は病棟・ICU の心停止を想定しており、手術室への当てはめは明示されていない。選択肢 C でも、結果として処置を限定すること（例：胸骨圧迫・除細動を行わない → S8）はありうる。処置を限定するときは、どの状況で何をしないかと、その理由（患者の目標）を記録する（講義者の解釈 → S6）。</a:t>
            </a:r>
          </a:p>
          <a:p>
            <a:r>
              <a:rPr lang="ja-JP" altLang="en-US" dirty="0"/>
              <a:t>患者の期待: 米国の 1 施設の術前外来の患者 500 人への調査（回答 418 人。態度の調査で、実際に同意したわけではない）では、57% は手術中は DNR を停止してよいと答えたが、92% は周術期の蘇生方針を医師と話し合うべきだと答え、79% は回復後のあらかじめ決めた時点で再開されることを期待していた（Burkle 2013）。停止に同意する患者でも、話し合いと再開時期の取り決めは期待している。</a:t>
            </a:r>
          </a:p>
          <a:p>
            <a:r>
              <a:rPr lang="ja-JP" altLang="en-US" dirty="0"/>
              <a:t>参考: ASA Statement on Ethical Guidelines for the Anesthesia Care of Patients with Do-Not-Resuscitate Orders / Cushman T, et al. Anesth Analg 2021;133:663-675 / Truog RD, et al. Anesthesiology 1999;90:289-295 / Burkle CM, et al. BMC Anesthesiol 2013;13:2 / Stoehr KA, Malone JR. JACC Adv 2025;4:102115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ASA の記載: 術後のケア計画には、元の蘇生制限指示を再開するかどうか、いつ再開するかを明記する。再開は患者が PACU（麻酔後回復室）を退室した時点、または麻酔と手術の急性の影響から回復した時点とする。あわせて、時間または事象を区切った術後の治療トライアル（time-limited / event-limited trial）を続けることが患者の目標に合うかどうかも検討する【要確認: この一文が ASA 声明の現行版にあるか（検索の引用のみ。asahq.org の声明本文で確認）】。</a:t>
            </a:r>
          </a:p>
          <a:p>
            <a:r>
              <a:rPr lang="ja-JP" altLang="en-US" dirty="0"/>
              <a:t>心停止は術後に多い: 米国外科学会 NSQIP（2005〜2010 年）では、手術患者の CPR（CPR を要した心停止）は 203 件に 1 件で、85.9% は術後に起き、術後の CPR のうち 49.8% が術後 5 日以内だった。CPR 後の 30 日死亡率は 71.6%（Kazaure 2013）。術中だけ停止して術後の扱いを決めていないと、最も心停止が起きやすい時期の方針が空白になる。</a:t>
            </a:r>
          </a:p>
          <a:p>
            <a:r>
              <a:rPr lang="ja-JP" altLang="en-US" dirty="0"/>
              <a:t>実際の運用: 「手術中は常に停止（または常に維持）」「24〜48 時間停止」「個別に取り決める」の 3 通りがあり、オランダの老年科医らは個別の話し合いを最善としている（Ruisch 2020、Letter。ガイドラインではない）。国内の 1 施設では、術後のコードが記録で確認できたのは 100 例中 36 例で、64 例は不明だった（Shimizu 2025）。</a:t>
            </a:r>
          </a:p>
          <a:p>
            <a:r>
              <a:rPr lang="ja-JP" altLang="en-US" dirty="0"/>
              <a:t>区切り方の例: 「術中と PACU 退室までは全面的に蘇生し、退室後は元の DNAR に戻す」「術後 3 日までは合併症の治療（再手術、人工呼吸）を行い、改善がなければ元の方針に戻す」など。患者の目標に合わせる。</a:t>
            </a:r>
          </a:p>
          <a:p>
            <a:r>
              <a:rPr lang="ja-JP" altLang="en-US" dirty="0"/>
              <a:t>参考: Kazaure HS, et al. JAMA Surg 2013;148:14-21 / Ruisch JE, et al. Geriatr Gerontol Int 2020;20:989-990 / Shimizu K, et al. J Anesth 2025;39:223-230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日本集中治療医学会: 勧告の第 4 項は、DNAR 指示の妥当性を患者と医療・ケアチームが繰り返し話し合って評価すべきとしており（DNAR 指示は終末期より前の早い段階で出されることがあるため）、手術はこの「再評価すべき状況の変化」にあたると説明できる（勧告自体は手術室に言及していない。手術が再評価すべき状況の変化に含まれることは Shapiro 2019）。第 5 項は Partial DNAR 指示（胸骨圧迫はするが挿管はしない、のような一部だけの CPR）を行うべきではないとし、第 6 項は日本版 POLST（DNAR 指示を含む）の指示書に準拠した DNAR 指示を推奨していない（同学会が 2017 年に日本版 POLST の使用を推奨しないと表明したことは Kuroda 2024 で確認）。第 7 項は独立した病院倫理委員会の設置を推奨している【要確認: 第 4〜7 項の条番号と文言、とくに第 7 項（病院倫理委員会）の内容（jsicm.org の DNAR20161216.pdf で照合）】。</a:t>
            </a:r>
          </a:p>
          <a:p>
            <a:r>
              <a:rPr lang="ja-JP" altLang="en-US" dirty="0"/>
              <a:t>厚生労働省: 「人生の最終段階における医療・ケアの決定プロセスに関するガイドライン」（2007 年 5 月策定、2015 年 3 月に名称変更、2018 年 3 月改訂）は次の手順を示す。本人の意思が確認できるときは、本人と医療・ケアチームが十分に話し合い、本人による意思決定を基本とする。本人の意思が確認できないときは、家族等が本人の意思を推定できればその推定意思を尊重し、本人にとっての最善の方針をとることを基本とする。推定できなければ、家族等と十分に話し合い、本人にとっての最善の方針をとる。家族等がいない場合や、家族等が判断を医療・ケアチームに委ねる場合も、本人にとっての最善の方針をとる。医療・ケアチームの中で決定が困難な場合や、本人・家族等と合意できない場合は、複数の専門家からなる話し合いの場を別に設け、医療・ケアチーム以外の者を加えて検討・助言を受ける。本人の意思は変わりうるので繰り返し話し合い、文書にまとめる（ACP: advance care planning。2018 年 11 月に厚生労働省が愛称を「人生会議」と決め、11 月 30 日を「人生会議の日」とした）【要確認: ガイドライン本文の文言。本文 PDF（https://www.mhlw.go.jp/file/04-Houdouhappyou-10802000-Iseikyoku-Shidouka/0000197701.pdf）と報道発表（https://www.mhlw.go.jp/stf/houdou/0000197665.html）が学内のネット環境で開けるか】。</a:t>
            </a:r>
          </a:p>
          <a:p>
            <a:r>
              <a:rPr lang="ja-JP" altLang="en-US" dirty="0"/>
              <a:t>周術期の国内指針: 周術期の DNAR の扱いを定めた国内ガイドラインはまだない（Shimizu 2025、2024 年 12 月オンライン公開。スライドのカードからは外したので口頭で補う）。2026 年 10 月の検索では、日本麻酔科学会が周術期 DNAR について出した指針・声明は見つからなかった（存在しないことの証明ではない）。関連する新しい文書には、日本救急医学会の「高齢者救急に関する用語の統一概念」（2024 年 12 月）と、救急隊向けの地域の DNAR 運用指針（例：埼玉県、2025 年）があるが、いずれも周術期を扱っていない【要確認: 日本麻酔科学会サイトの指針・声明一覧と学会誌での最終確認。日本救急医学会の文書の正式名称と公表年（日本救急医学会サイト）】。</a:t>
            </a:r>
          </a:p>
          <a:p>
            <a:r>
              <a:rPr lang="ja-JP" altLang="en-US" dirty="0"/>
              <a:t>書式の問題: 国内の DNAR 書式は施設ごとに独自で（書式がある施設の 96%）、日本には DNAR を定めた法律もない。救急隊は DNAR があっても CPR を始めて搬送するのが原則で、背景には事前指示の有無にかかわらず救命処置を求める消防法がある。DNAR があっても院外心停止の 95.6〜98% が CPR を受けていた。東京・埼玉の救急隊のプロトコルは、すべての例で CPR を始め、かかりつけ医と相談したときに限って中止できるとしている（Kuroda 2024）。DNAR のある術後患者を島外へ転院搬送する（救急車・ヘリ）ときは、方針を書面で搬送先と搬送チームに伝えておく。他院や前回入院で作られた DNAR は、誰が、いつ、どんな経緯で決めたか、本人が参加していたかを確かめ直す。</a:t>
            </a:r>
          </a:p>
          <a:p>
            <a:r>
              <a:rPr lang="ja-JP" altLang="en-US" dirty="0"/>
              <a:t>参考: 日本集中治療医学会 倫理委員会. 日集中医誌 2017;24:208-209（巻頁は S2 と同じく要確認） / 厚生労働省 人生の最終段階における医療・ケアの決定プロセスに関するガイドライン（2018） / Kuroda K, et al. Geriatr Gerontol Int 2024;24:1093-1098 / Shimizu K, et al. J Anesth 2025;39:223-230 / Shapiro ME, Singer EA. Surg Clin North Am 2019;99:859-865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1 経緯: カルテの DNAR 指示が、本人の意思か家族だけで決めたものかを確かめる。国内の 1 施設では 100 例中 54 例で本人が決定の場に参加していなかった（意識がなかった例を含む。Shimizu 2025）。厚生労働省ガイドラインの順（本人の意思 → 推定意思 → 最善）で考える。</a:t>
            </a:r>
          </a:p>
          <a:p>
            <a:r>
              <a:rPr lang="ja-JP" altLang="en-US" dirty="0"/>
              <a:t>2 説明: 手術の目的（痛みを取る、骨折を治して歩く、出血を止める）と、麻酔には気道確保、人工呼吸、昇圧薬の投与が含まれ、これらは蘇生ではなく麻酔の一部であることを説明する。数字を使う: 周術期（手術室内〜術後 24 時間）の心停止は、院内心停止全体より救命率が高い（退院生存 31.7%、同じ登録の院内心停止全体は 15.3〜17%：Ramachandran 2013。系統的レビューでは、神経学的予後まで含めた実質的な生存は約 25%：Kalkman 2016）。麻酔が原因の心停止なら約 92% が救命された（1967〜1984 年の古いデータ：Olsson 1988）。ただし国内では、術中心停止の主な原因は大量出血と手術操作で、麻酔だけが原因のものは約 1/7 にとどまる（Kawashima 2003）。一方で DNR のある手術患者そのものは術後 30 日死亡率が高く（23.1%、非 DNR 8.4%、調整オッズ比 2.2：Kazaure 2011）、英国 NAP7 では、手術を受ける成人の 3% に術前 DNACPR があり、正式に停止されたのはその 29% だった。術前 DNACPR のある周術期心停止で退院生存できたのは約 5 人に 1 人だった（Nolan 2024）。過度に楽観的にも悲観的にも言わない。</a:t>
            </a:r>
          </a:p>
          <a:p>
            <a:r>
              <a:rPr lang="ja-JP" altLang="en-US" dirty="0"/>
              <a:t>3 選択肢: → S4。意思決定能力の評価と代諾は 4-5 で扱う。</a:t>
            </a:r>
          </a:p>
          <a:p>
            <a:r>
              <a:rPr lang="ja-JP" altLang="en-US" dirty="0"/>
              <a:t>対象の処置: 全身麻酔に限らない。英国麻酔科医協会の 2022 年ガイドラインは、どれほど小さく低リスクな処置にも適用され、局所麻酔・区域麻酔・意識下鎮静の処置にも全身麻酔と同じ倫理的・法的原則があてはまるとしている（Meek 2022）。内視鏡・PEG・IVR の鎮静や、脊髄くも膜下麻酔での大腿骨手術でも、同じ手順で再確認する。</a:t>
            </a:r>
          </a:p>
          <a:p>
            <a:r>
              <a:rPr lang="ja-JP" altLang="en-US" dirty="0"/>
              <a:t>4 戻す時点: → S5。</a:t>
            </a:r>
          </a:p>
          <a:p>
            <a:r>
              <a:rPr lang="ja-JP" altLang="en-US" dirty="0"/>
              <a:t>5 記録と伝達: ①選んだ選択肢、②受ける処置・受けない処置、または患者の目標、③DNAR を再開する時点、④誰と話したか（本人か代理人か、同席者）を記録し、タイムアウトで外科医・看護師・PACU・病棟に伝える。記録しただけでチームに伝えていないと意味がない。⑤電子カルテの DNAR 指示（フラグ・指示簿）を周術期用に変え、術後に誰がいつ元に戻すかを決める。米国の 1 施設では、術前に話し合い直した記録がある例（85%）の 88% で DNAR オーダーが更新されていなかった（Johnson 2025）。</a:t>
            </a:r>
          </a:p>
          <a:p>
            <a:r>
              <a:rPr lang="ja-JP" altLang="en-US" dirty="0"/>
              <a:t>6 事前にそろえる: 良心的に参加できない医療者は担当を外れてよいが、代わりの担当者を遅れずに確保する義務がある（Shapiro 2019）。一人麻酔科医の離島では代わりがいないので、緊急手術になる前（外来や入院時）に外科医・主治医と方針をそろえておく。倫理委員会がなければ、緩和ケアや倫理コンサルテーションに遠隔で相談する。</a:t>
            </a:r>
          </a:p>
          <a:p>
            <a:r>
              <a:rPr lang="ja-JP" altLang="en-US" dirty="0"/>
              <a:t>DNAR を理由に治療を控えない: 65 歳以上の緊急一般外科手術で、DNR 群は合併症率が同じでも死亡が多く（36.9% 対 22.3%）、再手術が少なかった（8.3% 対 12.0%。Scarborough 2012：failure-to-pursue rescue）。術後合併症の治療を DNAR を理由に控えてはいけない。</a:t>
            </a:r>
          </a:p>
          <a:p>
            <a:r>
              <a:rPr lang="ja-JP" altLang="en-US" dirty="0"/>
              <a:t>参考: Kazaure H, et al. Arch Surg 2011;146:922-928 / Shapiro ME, Singer EA. Surg Clin North Am 2019;99:859-865 / Ramachandran SK, et al. Anesthesiology 2013;119:1322-1339 / Kalkman S, et al. Anesthesiology 2016;124:723-729 / Olsson GL, Hallén B. Acta Anaesthesiol Scand 1988;32:653-664 / Kawashima Y, et al. Acta Anaesthesiol Scand 2003;47:809-817 / Meek T, et al. Anaesthesia 2022;77:456-462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記録例の読み方: 元の DNAR の経緯（誰が、いつ、本人の参加）、再確認の結果（選択肢）、有効期間（PACU 退室まで）、術後の扱い（元に戻す。合併症の治療は通常どおり）、説明者と同席者。この 5 つがあれば、夜間に別の医師が読んでも迷わない。</a:t>
            </a:r>
          </a:p>
          <a:p>
            <a:r>
              <a:rPr lang="ja-JP" altLang="en-US" dirty="0"/>
              <a:t>指示の変更: 記録に加えて、電子カルテの DNAR 指示（フラグ・指示簿）を周術期用に変え、「PACU 退室時に麻酔科 ◯◯ が病棟の指示を元の DNAR に戻す」のように、戻す担当と時点も書く。話し合いを記録しても、指示が更新されていないことが多い（Johnson 2025 → S7）。</a:t>
            </a:r>
          </a:p>
          <a:p>
            <a:r>
              <a:rPr lang="ja-JP" altLang="en-US" dirty="0"/>
              <a:t>選択肢 C の場合の例: 「本人の目標：孫の結婚式に歩いて出たい。すぐに元に戻せる事象（薬による徐脈・低血圧）には対応する。長期の人工呼吸や神経学的後遺症が見込まれる状況では胸骨圧迫・除細動を行わない。判断は麻酔科医と外科医に委ねる」。</a:t>
            </a:r>
          </a:p>
          <a:p>
            <a:r>
              <a:rPr lang="ja-JP" altLang="en-US" dirty="0"/>
              <a:t>あいまいな記録: 「急変時 DNAR」「急変時は様子見」は、何をして何をしないかが読めず、日本集中治療医学会の勧告の注も「心停止を『急変時』のような曖昧な語句にすり替えるべきではない」としている。</a:t>
            </a:r>
          </a:p>
          <a:p>
            <a:r>
              <a:rPr lang="ja-JP" altLang="en-US" dirty="0"/>
              <a:t>伝達: タイムアウトで「この患者さんは DNAR がありますが、手術中と PACU までは全面的に蘇生します。PACU 退室後は元に戻します」と声に出して共有する。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分）。DNAR は心停止時に CPR を始めないという指示で、それ以外の治療を控える理由にはならない。麻酔には気管挿管、人工呼吸、昇圧薬が含まれ、これらは蘇生ではない。手術室では DNAR を黙って自動停止するのも、確認しないまま適用するのも誤りで、術前に本人または代理人と再検討する。ASA の 3 つの選択肢（全面的に蘇生、処置を限定、目標・価値観で決める）から選び、元に戻す時点（PACU 退室時など）を決めて記録し、電子カルテの指示も変え、タイムアウトでチームに伝える。全身麻酔だけでなく、鎮静や区域麻酔の処置でも同じ手順をとる（Meek 2022）。国内では日本集中治療医学会の勧告（心停止時のみ有効、Partial DNAR は不可、繰り返し話し合う）と厚生労働省のガイドラインに沿い、他院の DNAR は経緯を確かめ直す。次は 4-7（心血管リスク評価の手順）。</a:t>
            </a:r>
          </a:p>
          <a:p>
            <a:r>
              <a:rPr lang="ja-JP" altLang="en-US" dirty="0"/>
              <a:t>出典（全文）: ASA Statement on Ethical Guidelines for the Anesthesia Care of Patients with DNR Orders / 日本集中治療医学会「DNAR 指示のあり方についての勧告」（2016） / 厚生労働省「人生の最終段階における医療・ケアの決定プロセスに関するガイドライン」（2018 改訂）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周術期の DNAR</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4-6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DNAR の定義を確かめる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日本集中治療医学会「DNAR 指示のあり方についての勧告」（2016） / Hiraoka E,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Int J Gen Med 2016;9:213-220 / Hori H, et al. Geriatr Gerontol Int 2025;25:772-780</a:t>
            </a:r>
            <a:endParaRPr lang="ja-JP" sz="1600" dirty="0"/>
          </a:p>
        </p:txBody>
      </p:sp>
      <p:sp>
        <p:nvSpPr>
          <p:cNvPr id="11" name="Text 9"/>
          <p:cNvSpPr txBox="1"/>
          <p:nvPr/>
        </p:nvSpPr>
        <p:spPr>
          <a:xfrm>
            <a:off x="502920" y="1783080"/>
            <a:ext cx="11155680" cy="2679192"/>
          </a:xfrm>
          <a:prstGeom prst="rect">
            <a:avLst/>
          </a:prstGeom>
          <a:noFill/>
          <a:ln/>
        </p:spPr>
        <p:txBody>
          <a:bodyPr wrap="square" lIns="0" tIns="0" rIns="0" bIns="0" rtlCol="0" anchor="t"/>
          <a:lstStyle/>
          <a:p>
            <a:pPr algn="l" marL="381000" indent="-381000">
              <a:spcAft>
                <a:spcPts val="18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DNAR＝</a:t>
            </a:r>
            <a:r>
              <a:rPr lang="ja-JP" altLang="en-US" sz="2600" b="1" dirty="0">
                <a:solidFill>
                  <a:srgbClr val="0072B2"/>
                </a:solidFill>
                <a:latin typeface="メイリオ" pitchFamily="34" charset="0"/>
                <a:ea typeface="メイリオ" pitchFamily="34" charset="-122"/>
                <a:cs typeface="メイリオ" pitchFamily="34" charset="-120"/>
              </a:rPr>
              <a:t>心停止のとき</a:t>
            </a:r>
            <a:r>
              <a:rPr lang="ja-JP" altLang="en-US" sz="2600" dirty="0">
                <a:solidFill>
                  <a:srgbClr val="262626"/>
                </a:solidFill>
                <a:latin typeface="メイリオ" pitchFamily="34" charset="0"/>
                <a:ea typeface="メイリオ" pitchFamily="34" charset="-122"/>
                <a:cs typeface="メイリオ" pitchFamily="34" charset="-120"/>
              </a:rPr>
              <a:t>に心肺蘇生を始めない、という指示</a:t>
            </a:r>
            <a:endParaRPr lang="ja-JP" sz="2600" dirty="0"/>
          </a:p>
          <a:p>
            <a:pPr algn="l" marL="381000" indent="-381000">
              <a:spcAft>
                <a:spcPts val="18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それ以外の治療（昇圧薬、人工呼吸、透析、手術）は</a:t>
            </a:r>
            <a:r>
              <a:rPr lang="ja-JP" altLang="en-US" sz="2600" b="1" dirty="0">
                <a:solidFill>
                  <a:srgbClr val="D55E00"/>
                </a:solidFill>
                <a:latin typeface="メイリオ" pitchFamily="34" charset="0"/>
                <a:ea typeface="メイリオ" pitchFamily="34" charset="-122"/>
                <a:cs typeface="メイリオ" pitchFamily="34" charset="-120"/>
              </a:rPr>
              <a:t>別の話</a:t>
            </a:r>
            <a:endParaRPr lang="ja-JP" sz="2600" dirty="0"/>
          </a:p>
          <a:p>
            <a:pPr algn="l" marL="381000" indent="-381000">
              <a:spcAft>
                <a:spcPts val="18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『急変時』というあいまいな言葉に</a:t>
            </a:r>
            <a:r>
              <a:rPr lang="ja-JP" altLang="en-US" sz="2600" b="1" dirty="0">
                <a:solidFill>
                  <a:srgbClr val="D55E00"/>
                </a:solidFill>
                <a:latin typeface="メイリオ" pitchFamily="34" charset="0"/>
                <a:ea typeface="メイリオ" pitchFamily="34" charset="-122"/>
                <a:cs typeface="メイリオ" pitchFamily="34" charset="-120"/>
              </a:rPr>
              <a:t>置き換えない</a:t>
            </a:r>
            <a:endParaRPr lang="ja-JP" sz="2600" dirty="0"/>
          </a:p>
          <a:p>
            <a:pPr algn="l" marL="381000" indent="-381000">
              <a:spcAft>
                <a:spcPts val="18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DNAR と終末期医療は</a:t>
            </a:r>
            <a:r>
              <a:rPr lang="ja-JP" altLang="en-US" sz="2600" b="1" dirty="0">
                <a:solidFill>
                  <a:srgbClr val="D55E00"/>
                </a:solidFill>
                <a:latin typeface="メイリオ" pitchFamily="34" charset="0"/>
                <a:ea typeface="メイリオ" pitchFamily="34" charset="-122"/>
                <a:cs typeface="メイリオ" pitchFamily="34" charset="-120"/>
              </a:rPr>
              <a:t>同じものではない</a:t>
            </a:r>
            <a:endParaRPr lang="ja-JP" sz="2600" dirty="0"/>
          </a:p>
        </p:txBody>
      </p:sp>
      <p:sp>
        <p:nvSpPr>
          <p:cNvPr id="12" name="Text 10"/>
          <p:cNvSpPr/>
          <p:nvPr/>
        </p:nvSpPr>
        <p:spPr>
          <a:xfrm>
            <a:off x="1600200" y="4846320"/>
            <a:ext cx="8988552" cy="822960"/>
          </a:xfrm>
          <a:prstGeom prst="roundRect">
            <a:avLst>
              <a:gd name="adj" fmla="val 11111"/>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DNAR＝何もしない、</a:t>
            </a:r>
            <a:r>
              <a:rPr lang="ja-JP" altLang="en-US" sz="2800" b="1" dirty="0">
                <a:solidFill>
                  <a:srgbClr val="D55E00"/>
                </a:solidFill>
                <a:latin typeface="メイリオ" pitchFamily="34" charset="0"/>
                <a:ea typeface="メイリオ" pitchFamily="34" charset="-122"/>
                <a:cs typeface="メイリオ" pitchFamily="34" charset="-120"/>
              </a:rPr>
              <a:t>ではない</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手術室で何が問題か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Shapiro ME, Singer EA. Surg Clin North Am 2019;99:859-865 / Ramachandran SK,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2013;119:1322-1339 / Shimizu K, et al. J Anesth 2025;39:223-230</a:t>
            </a:r>
            <a:endParaRPr lang="ja-JP" sz="1600" dirty="0"/>
          </a:p>
        </p:txBody>
      </p:sp>
      <p:sp>
        <p:nvSpPr>
          <p:cNvPr id="11" name="Shape 9"/>
          <p:cNvSpPr/>
          <p:nvPr/>
        </p:nvSpPr>
        <p:spPr>
          <a:xfrm>
            <a:off x="502920" y="1664208"/>
            <a:ext cx="5481828" cy="3447288"/>
          </a:xfrm>
          <a:prstGeom prst="roundRect">
            <a:avLst>
              <a:gd name="adj" fmla="val 2122"/>
            </a:avLst>
          </a:prstGeom>
          <a:solidFill>
            <a:srgbClr val="F2F2F2"/>
          </a:solidFill>
          <a:ln/>
        </p:spPr>
      </p:sp>
      <p:sp>
        <p:nvSpPr>
          <p:cNvPr id="12" name="Text 10"/>
          <p:cNvSpPr txBox="1"/>
          <p:nvPr/>
        </p:nvSpPr>
        <p:spPr>
          <a:xfrm>
            <a:off x="612648" y="1773936"/>
            <a:ext cx="526237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麻酔は『蘇生』を含む</a:t>
            </a:r>
            <a:endParaRPr lang="ja-JP" sz="2400" dirty="0"/>
          </a:p>
        </p:txBody>
      </p:sp>
      <p:sp>
        <p:nvSpPr>
          <p:cNvPr id="13" name="Text 11"/>
          <p:cNvSpPr txBox="1"/>
          <p:nvPr/>
        </p:nvSpPr>
        <p:spPr>
          <a:xfrm>
            <a:off x="612648" y="2286000"/>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気管挿管、人工呼吸、昇圧薬は</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麻酔の一部</a:t>
            </a:r>
            <a:endParaRPr lang="ja-JP" sz="2200" dirty="0"/>
          </a:p>
        </p:txBody>
      </p:sp>
      <p:sp>
        <p:nvSpPr>
          <p:cNvPr id="14" name="Text 12"/>
          <p:cNvSpPr txBox="1"/>
          <p:nvPr/>
        </p:nvSpPr>
        <p:spPr>
          <a:xfrm>
            <a:off x="612648" y="3218688"/>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CPR に固有なのは</a:t>
            </a:r>
            <a:endParaRPr lang="ja-JP" sz="2200" dirty="0"/>
          </a:p>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胸骨圧迫と除細動だけ</a:t>
            </a:r>
            <a:endParaRPr lang="ja-JP" sz="2200" dirty="0"/>
          </a:p>
        </p:txBody>
      </p:sp>
      <p:sp>
        <p:nvSpPr>
          <p:cNvPr id="15" name="Text 13"/>
          <p:cNvSpPr txBox="1"/>
          <p:nvPr/>
        </p:nvSpPr>
        <p:spPr>
          <a:xfrm>
            <a:off x="612648" y="4151376"/>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導入後の低血圧への対応は</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蘇生ではない</a:t>
            </a:r>
            <a:endParaRPr lang="ja-JP" sz="2200" dirty="0"/>
          </a:p>
        </p:txBody>
      </p:sp>
      <p:sp>
        <p:nvSpPr>
          <p:cNvPr id="16" name="Shape 14"/>
          <p:cNvSpPr/>
          <p:nvPr/>
        </p:nvSpPr>
        <p:spPr>
          <a:xfrm>
            <a:off x="6204204" y="1664208"/>
            <a:ext cx="5481828" cy="3447288"/>
          </a:xfrm>
          <a:prstGeom prst="roundRect">
            <a:avLst>
              <a:gd name="adj" fmla="val 2122"/>
            </a:avLst>
          </a:prstGeom>
          <a:solidFill>
            <a:srgbClr val="F2F2F2"/>
          </a:solidFill>
          <a:ln/>
        </p:spPr>
      </p:sp>
      <p:sp>
        <p:nvSpPr>
          <p:cNvPr id="17" name="Text 15"/>
          <p:cNvSpPr txBox="1"/>
          <p:nvPr/>
        </p:nvSpPr>
        <p:spPr>
          <a:xfrm>
            <a:off x="6313932" y="1773936"/>
            <a:ext cx="5262372"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手術室の心停止は違う</a:t>
            </a:r>
            <a:endParaRPr lang="ja-JP" sz="2400" dirty="0"/>
          </a:p>
        </p:txBody>
      </p:sp>
      <p:sp>
        <p:nvSpPr>
          <p:cNvPr id="18" name="Text 16"/>
          <p:cNvSpPr txBox="1"/>
          <p:nvPr/>
        </p:nvSpPr>
        <p:spPr>
          <a:xfrm>
            <a:off x="6313932" y="2286000"/>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医原性・可逆的な原因もある</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（原因で見込みが違う）</a:t>
            </a:r>
            <a:endParaRPr lang="ja-JP" sz="2200" dirty="0"/>
          </a:p>
        </p:txBody>
      </p:sp>
      <p:sp>
        <p:nvSpPr>
          <p:cNvPr id="19" name="Text 17"/>
          <p:cNvSpPr txBox="1"/>
          <p:nvPr/>
        </p:nvSpPr>
        <p:spPr>
          <a:xfrm>
            <a:off x="6313932" y="3218688"/>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周術期心停止の退院生存 </a:t>
            </a:r>
            <a:r>
              <a:rPr lang="ja-JP" altLang="en-US" sz="2200" b="1" dirty="0">
                <a:solidFill>
                  <a:srgbClr val="0072B2"/>
                </a:solidFill>
                <a:latin typeface="メイリオ" pitchFamily="34" charset="0"/>
                <a:ea typeface="メイリオ" pitchFamily="34" charset="-122"/>
                <a:cs typeface="メイリオ" pitchFamily="34" charset="-120"/>
              </a:rPr>
              <a:t>32%</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（院内心停止全体は 15〜17%）</a:t>
            </a:r>
            <a:endParaRPr lang="ja-JP" sz="2200" dirty="0"/>
          </a:p>
        </p:txBody>
      </p:sp>
      <p:sp>
        <p:nvSpPr>
          <p:cNvPr id="20" name="Text 18"/>
          <p:cNvSpPr txBox="1"/>
          <p:nvPr/>
        </p:nvSpPr>
        <p:spPr>
          <a:xfrm>
            <a:off x="6313932" y="4151376"/>
            <a:ext cx="5262372"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麻酔が原因なら</a:t>
            </a:r>
            <a:r>
              <a:rPr lang="ja-JP" altLang="en-US" sz="2200" b="1" dirty="0">
                <a:solidFill>
                  <a:srgbClr val="0072B2"/>
                </a:solidFill>
                <a:latin typeface="メイリオ" pitchFamily="34" charset="0"/>
                <a:ea typeface="メイリオ" pitchFamily="34" charset="-122"/>
                <a:cs typeface="メイリオ" pitchFamily="34" charset="-120"/>
              </a:rPr>
              <a:t>約 9 割</a:t>
            </a:r>
            <a:r>
              <a:rPr lang="ja-JP" altLang="en-US" sz="2200" dirty="0">
                <a:solidFill>
                  <a:srgbClr val="262626"/>
                </a:solidFill>
                <a:latin typeface="メイリオ" pitchFamily="34" charset="0"/>
                <a:ea typeface="メイリオ" pitchFamily="34" charset="-122"/>
                <a:cs typeface="メイリオ" pitchFamily="34" charset="-120"/>
              </a:rPr>
              <a:t>が救命</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（1967〜84 年）</a:t>
            </a:r>
            <a:endParaRPr lang="ja-JP" sz="2200" dirty="0"/>
          </a:p>
        </p:txBody>
      </p:sp>
      <p:sp>
        <p:nvSpPr>
          <p:cNvPr id="21" name="Text 19"/>
          <p:cNvSpPr/>
          <p:nvPr/>
        </p:nvSpPr>
        <p:spPr>
          <a:xfrm>
            <a:off x="502920" y="5330952"/>
            <a:ext cx="11183112" cy="548640"/>
          </a:xfrm>
          <a:prstGeom prst="roundRect">
            <a:avLst>
              <a:gd name="adj" fmla="val 16667"/>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黙って停止するのも、確認せず適用するのも</a:t>
            </a:r>
            <a:r>
              <a:rPr lang="ja-JP" altLang="en-US" sz="2400" b="1" dirty="0">
                <a:solidFill>
                  <a:srgbClr val="C00000"/>
                </a:solidFill>
                <a:latin typeface="メイリオ" pitchFamily="34" charset="0"/>
                <a:ea typeface="メイリオ" pitchFamily="34" charset="-122"/>
                <a:cs typeface="メイリオ" pitchFamily="34" charset="-120"/>
              </a:rPr>
              <a:t>誤り</a:t>
            </a:r>
            <a:r>
              <a:rPr lang="ja-JP" altLang="en-US" sz="2400" b="1" dirty="0">
                <a:solidFill>
                  <a:srgbClr val="262626"/>
                </a:solidFill>
                <a:latin typeface="メイリオ" pitchFamily="34" charset="0"/>
                <a:ea typeface="メイリオ" pitchFamily="34" charset="-122"/>
                <a:cs typeface="メイリオ" pitchFamily="34" charset="-120"/>
              </a:rPr>
              <a:t>。術前に話し合う</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ASA の 3 つの選択肢</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Ethical Guidelines for the Anesthesia Care of Patients</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with DNR Orders（2023 再承認） / Cushman T, et al. Anesth Analg 2021;133:663-675</a:t>
            </a:r>
            <a:endParaRPr lang="ja-JP" sz="1600" dirty="0"/>
          </a:p>
        </p:txBody>
      </p:sp>
      <p:sp>
        <p:nvSpPr>
          <p:cNvPr id="11" name="Shape 9"/>
          <p:cNvSpPr/>
          <p:nvPr/>
        </p:nvSpPr>
        <p:spPr>
          <a:xfrm>
            <a:off x="502920" y="1691640"/>
            <a:ext cx="3467405" cy="3191256"/>
          </a:xfrm>
          <a:prstGeom prst="roundRect">
            <a:avLst>
              <a:gd name="adj" fmla="val 2292"/>
            </a:avLst>
          </a:prstGeom>
          <a:solidFill>
            <a:srgbClr val="F2F2F2"/>
          </a:solidFill>
          <a:ln/>
        </p:spPr>
      </p:sp>
      <p:sp>
        <p:nvSpPr>
          <p:cNvPr id="12" name="Text 10"/>
          <p:cNvSpPr txBox="1"/>
          <p:nvPr/>
        </p:nvSpPr>
        <p:spPr>
          <a:xfrm>
            <a:off x="594360" y="1783080"/>
            <a:ext cx="328452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A：全面的に蘇生する</a:t>
            </a:r>
            <a:endParaRPr lang="ja-JP" sz="2400" dirty="0"/>
          </a:p>
        </p:txBody>
      </p:sp>
      <p:sp>
        <p:nvSpPr>
          <p:cNvPr id="13" name="Text 11"/>
          <p:cNvSpPr txBox="1"/>
          <p:nvPr/>
        </p:nvSpPr>
        <p:spPr>
          <a:xfrm>
            <a:off x="594360" y="2331720"/>
            <a:ext cx="328452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手術中と術直後は</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DNAR を停止</a:t>
            </a:r>
            <a:endParaRPr lang="ja-JP" sz="2200" dirty="0"/>
          </a:p>
        </p:txBody>
      </p:sp>
      <p:sp>
        <p:nvSpPr>
          <p:cNvPr id="14" name="Text 12"/>
          <p:cNvSpPr txBox="1"/>
          <p:nvPr/>
        </p:nvSpPr>
        <p:spPr>
          <a:xfrm>
            <a:off x="594360" y="3392424"/>
            <a:ext cx="328452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適切な蘇生処置は</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すべて行う</a:t>
            </a:r>
            <a:endParaRPr lang="ja-JP" sz="2200" dirty="0"/>
          </a:p>
        </p:txBody>
      </p:sp>
      <p:sp>
        <p:nvSpPr>
          <p:cNvPr id="15" name="Shape 13"/>
          <p:cNvSpPr/>
          <p:nvPr/>
        </p:nvSpPr>
        <p:spPr>
          <a:xfrm>
            <a:off x="4189781" y="1691640"/>
            <a:ext cx="3125419" cy="3191256"/>
          </a:xfrm>
          <a:prstGeom prst="roundRect">
            <a:avLst>
              <a:gd name="adj" fmla="val 2341"/>
            </a:avLst>
          </a:prstGeom>
          <a:solidFill>
            <a:srgbClr val="F2F2F2"/>
          </a:solidFill>
          <a:ln/>
        </p:spPr>
      </p:sp>
      <p:sp>
        <p:nvSpPr>
          <p:cNvPr id="16" name="Text 14"/>
          <p:cNvSpPr txBox="1"/>
          <p:nvPr/>
        </p:nvSpPr>
        <p:spPr>
          <a:xfrm>
            <a:off x="4281221" y="1783080"/>
            <a:ext cx="294253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B：処置を限定する</a:t>
            </a:r>
            <a:endParaRPr lang="ja-JP" sz="2400" dirty="0"/>
          </a:p>
        </p:txBody>
      </p:sp>
      <p:sp>
        <p:nvSpPr>
          <p:cNvPr id="17" name="Text 15"/>
          <p:cNvSpPr txBox="1"/>
          <p:nvPr/>
        </p:nvSpPr>
        <p:spPr>
          <a:xfrm>
            <a:off x="4281221" y="2331720"/>
            <a:ext cx="2942539" cy="1307592"/>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拒否する処置を指定</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（例：胸骨圧迫、</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除細動、気管挿管）</a:t>
            </a:r>
            <a:endParaRPr lang="ja-JP" sz="2200" dirty="0"/>
          </a:p>
        </p:txBody>
      </p:sp>
      <p:sp>
        <p:nvSpPr>
          <p:cNvPr id="18" name="Text 16"/>
          <p:cNvSpPr txBox="1"/>
          <p:nvPr/>
        </p:nvSpPr>
        <p:spPr>
          <a:xfrm>
            <a:off x="4281221" y="3858768"/>
            <a:ext cx="2942539"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麻酔に不可欠な</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処置は</a:t>
            </a:r>
            <a:r>
              <a:rPr lang="ja-JP" altLang="en-US" sz="2200" b="1" dirty="0">
                <a:solidFill>
                  <a:srgbClr val="D55E00"/>
                </a:solidFill>
                <a:latin typeface="メイリオ" pitchFamily="34" charset="0"/>
                <a:ea typeface="メイリオ" pitchFamily="34" charset="-122"/>
                <a:cs typeface="メイリオ" pitchFamily="34" charset="-120"/>
              </a:rPr>
              <a:t>拒否できない</a:t>
            </a:r>
            <a:endParaRPr lang="ja-JP" sz="2200" dirty="0"/>
          </a:p>
        </p:txBody>
      </p:sp>
      <p:sp>
        <p:nvSpPr>
          <p:cNvPr id="19" name="Shape 17"/>
          <p:cNvSpPr/>
          <p:nvPr/>
        </p:nvSpPr>
        <p:spPr>
          <a:xfrm>
            <a:off x="7534656" y="1691640"/>
            <a:ext cx="4149547" cy="3191256"/>
          </a:xfrm>
          <a:prstGeom prst="roundRect">
            <a:avLst>
              <a:gd name="adj" fmla="val 2292"/>
            </a:avLst>
          </a:prstGeom>
          <a:solidFill>
            <a:srgbClr val="F2F2F2"/>
          </a:solidFill>
          <a:ln/>
        </p:spPr>
      </p:sp>
      <p:sp>
        <p:nvSpPr>
          <p:cNvPr id="20" name="Text 18"/>
          <p:cNvSpPr txBox="1"/>
          <p:nvPr/>
        </p:nvSpPr>
        <p:spPr>
          <a:xfrm>
            <a:off x="7626096" y="1783080"/>
            <a:ext cx="3966667"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C：目標・価値観で決める</a:t>
            </a:r>
            <a:endParaRPr lang="ja-JP" sz="2400" dirty="0"/>
          </a:p>
        </p:txBody>
      </p:sp>
      <p:sp>
        <p:nvSpPr>
          <p:cNvPr id="21" name="Text 19"/>
          <p:cNvSpPr txBox="1"/>
          <p:nvPr/>
        </p:nvSpPr>
        <p:spPr>
          <a:xfrm>
            <a:off x="7626096" y="2331720"/>
            <a:ext cx="396666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すぐ戻せる事象には蘇生</a:t>
            </a:r>
            <a:endParaRPr lang="ja-JP" sz="2200" dirty="0"/>
          </a:p>
        </p:txBody>
      </p:sp>
      <p:sp>
        <p:nvSpPr>
          <p:cNvPr id="22" name="Text 20"/>
          <p:cNvSpPr txBox="1"/>
          <p:nvPr/>
        </p:nvSpPr>
        <p:spPr>
          <a:xfrm>
            <a:off x="7626096" y="2971800"/>
            <a:ext cx="3966667"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永続的な後遺症が</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残りそうなら蘇生しない</a:t>
            </a:r>
            <a:endParaRPr lang="ja-JP" sz="2200" dirty="0"/>
          </a:p>
        </p:txBody>
      </p:sp>
      <p:sp>
        <p:nvSpPr>
          <p:cNvPr id="23" name="Text 21"/>
          <p:cNvSpPr txBox="1"/>
          <p:nvPr/>
        </p:nvSpPr>
        <p:spPr>
          <a:xfrm>
            <a:off x="7626096" y="4032504"/>
            <a:ext cx="396666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判断は医療者に委ねる</a:t>
            </a:r>
            <a:endParaRPr lang="ja-JP" sz="2200" dirty="0"/>
          </a:p>
        </p:txBody>
      </p:sp>
      <p:sp>
        <p:nvSpPr>
          <p:cNvPr id="24" name="Text 22"/>
          <p:cNvSpPr txBox="1"/>
          <p:nvPr/>
        </p:nvSpPr>
        <p:spPr>
          <a:xfrm>
            <a:off x="502920" y="5212080"/>
            <a:ext cx="11183112" cy="502920"/>
          </a:xfrm>
          <a:prstGeom prst="rect">
            <a:avLst/>
          </a:prstGeom>
          <a:noFill/>
          <a:ln/>
        </p:spPr>
        <p:txBody>
          <a:bodyPr wrap="square" lIns="0" tIns="0" rIns="0" bIns="0" rtlCol="0" anchor="t"/>
          <a:lstStyle/>
          <a:p>
            <a:pPr algn="l" indent="0" marL="0">
              <a:buNone/>
            </a:pPr>
            <a:r>
              <a:rPr lang="ja-JP" altLang="en-US" sz="2600" b="1" dirty="0">
                <a:solidFill>
                  <a:srgbClr val="262626"/>
                </a:solidFill>
                <a:latin typeface="メイリオ" pitchFamily="34" charset="0"/>
                <a:ea typeface="メイリオ" pitchFamily="34" charset="-122"/>
                <a:cs typeface="メイリオ" pitchFamily="34" charset="-120"/>
              </a:rPr>
              <a:t>どれを選んでも</a:t>
            </a:r>
            <a:r>
              <a:rPr lang="ja-JP" altLang="en-US" sz="2600" b="1" dirty="0">
                <a:solidFill>
                  <a:srgbClr val="D55E00"/>
                </a:solidFill>
                <a:latin typeface="メイリオ" pitchFamily="34" charset="0"/>
                <a:ea typeface="メイリオ" pitchFamily="34" charset="-122"/>
                <a:cs typeface="メイリオ" pitchFamily="34" charset="-120"/>
              </a:rPr>
              <a:t>『いつ元に戻すか』</a:t>
            </a:r>
            <a:r>
              <a:rPr lang="ja-JP" altLang="en-US" sz="2600" b="1" dirty="0">
                <a:solidFill>
                  <a:srgbClr val="262626"/>
                </a:solidFill>
                <a:latin typeface="メイリオ" pitchFamily="34" charset="0"/>
                <a:ea typeface="メイリオ" pitchFamily="34" charset="-122"/>
                <a:cs typeface="メイリオ" pitchFamily="34" charset="-120"/>
              </a:rPr>
              <a:t>を一緒に決める（→ S5）</a:t>
            </a:r>
            <a:endParaRPr lang="ja-JP"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術後、いつ元に戻すか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Ethical Guidelines for the Anesthesia Care of Patients with DNR Orders</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Kazaure HS, et al. JAMA Surg 2013;148:14-21</a:t>
            </a:r>
            <a:endParaRPr lang="ja-JP" sz="1600" dirty="0"/>
          </a:p>
        </p:txBody>
      </p:sp>
      <p:sp>
        <p:nvSpPr>
          <p:cNvPr id="11" name="Text 9"/>
          <p:cNvSpPr txBox="1"/>
          <p:nvPr/>
        </p:nvSpPr>
        <p:spPr>
          <a:xfrm>
            <a:off x="502920" y="1783080"/>
            <a:ext cx="11155680" cy="2532888"/>
          </a:xfrm>
          <a:prstGeom prst="rect">
            <a:avLst/>
          </a:prstGeom>
          <a:noFill/>
          <a:ln/>
        </p:spPr>
        <p:txBody>
          <a:bodyPr wrap="square" lIns="0" tIns="0" rIns="0" bIns="0" rtlCol="0" anchor="t"/>
          <a:lstStyle/>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ASA：</a:t>
            </a:r>
            <a:r>
              <a:rPr lang="ja-JP" altLang="en-US" sz="2400" b="1" dirty="0">
                <a:solidFill>
                  <a:srgbClr val="0072B2"/>
                </a:solidFill>
                <a:latin typeface="メイリオ" pitchFamily="34" charset="0"/>
                <a:ea typeface="メイリオ" pitchFamily="34" charset="-122"/>
                <a:cs typeface="メイリオ" pitchFamily="34" charset="-120"/>
              </a:rPr>
              <a:t>PACU 退室時</a:t>
            </a:r>
            <a:r>
              <a:rPr lang="ja-JP" altLang="en-US" sz="2400" dirty="0">
                <a:solidFill>
                  <a:srgbClr val="262626"/>
                </a:solidFill>
                <a:latin typeface="メイリオ" pitchFamily="34" charset="0"/>
                <a:ea typeface="メイリオ" pitchFamily="34" charset="-122"/>
                <a:cs typeface="メイリオ" pitchFamily="34" charset="-120"/>
              </a:rPr>
              <a:t>か、麻酔・手術の急性の影響から回復した時点</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手術患者の心停止の </a:t>
            </a:r>
            <a:r>
              <a:rPr lang="ja-JP" altLang="en-US" sz="2400" b="1" dirty="0">
                <a:solidFill>
                  <a:srgbClr val="0072B2"/>
                </a:solidFill>
                <a:latin typeface="メイリオ" pitchFamily="34" charset="0"/>
                <a:ea typeface="メイリオ" pitchFamily="34" charset="-122"/>
                <a:cs typeface="メイリオ" pitchFamily="34" charset="-120"/>
              </a:rPr>
              <a:t>86%</a:t>
            </a:r>
            <a:r>
              <a:rPr lang="ja-JP" altLang="en-US" sz="2400" dirty="0">
                <a:solidFill>
                  <a:srgbClr val="262626"/>
                </a:solidFill>
                <a:latin typeface="メイリオ" pitchFamily="34" charset="0"/>
                <a:ea typeface="メイリオ" pitchFamily="34" charset="-122"/>
                <a:cs typeface="メイリオ" pitchFamily="34" charset="-120"/>
              </a:rPr>
              <a:t> は術後に起きる（半数は 5 日以内）</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『術後 ◯ 日までは治療、改善なければ戻す』という区切り方も</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決めていないと、術後のコードが</a:t>
            </a:r>
            <a:r>
              <a:rPr lang="ja-JP" altLang="en-US" sz="2400" b="1" dirty="0">
                <a:solidFill>
                  <a:srgbClr val="D55E00"/>
                </a:solidFill>
                <a:latin typeface="メイリオ" pitchFamily="34" charset="0"/>
                <a:ea typeface="メイリオ" pitchFamily="34" charset="-122"/>
                <a:cs typeface="メイリオ" pitchFamily="34" charset="-120"/>
              </a:rPr>
              <a:t>誰にもわからなくなる</a:t>
            </a:r>
            <a:endParaRPr lang="ja-JP" sz="2400" dirty="0"/>
          </a:p>
        </p:txBody>
      </p:sp>
      <p:sp>
        <p:nvSpPr>
          <p:cNvPr id="12" name="Text 10"/>
          <p:cNvSpPr/>
          <p:nvPr/>
        </p:nvSpPr>
        <p:spPr>
          <a:xfrm>
            <a:off x="1600200" y="4846320"/>
            <a:ext cx="8988552" cy="822960"/>
          </a:xfrm>
          <a:prstGeom prst="roundRect">
            <a:avLst>
              <a:gd name="adj" fmla="val 11111"/>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停止の有効期間を、</a:t>
            </a:r>
            <a:r>
              <a:rPr lang="ja-JP" altLang="en-US" sz="2800" b="1" dirty="0">
                <a:solidFill>
                  <a:srgbClr val="D55E00"/>
                </a:solidFill>
                <a:latin typeface="メイリオ" pitchFamily="34" charset="0"/>
                <a:ea typeface="メイリオ" pitchFamily="34" charset="-122"/>
                <a:cs typeface="メイリオ" pitchFamily="34" charset="-120"/>
              </a:rPr>
              <a:t>術前に決めて記録する</a:t>
            </a:r>
            <a:endParaRPr lang="ja-JP"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国内の勧告と制度</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日本集中治療医学会「DNAR 指示のあり方についての勧告」（2016）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厚生労働省「人生の最終段階における医療・ケアの決定プロセスに関するガイドライン」（2018 改訂）</a:t>
            </a:r>
            <a:endParaRPr lang="ja-JP" sz="1600" dirty="0"/>
          </a:p>
        </p:txBody>
      </p:sp>
      <p:sp>
        <p:nvSpPr>
          <p:cNvPr id="11" name="Shape 9"/>
          <p:cNvSpPr/>
          <p:nvPr/>
        </p:nvSpPr>
        <p:spPr>
          <a:xfrm>
            <a:off x="502920" y="1691640"/>
            <a:ext cx="5277917" cy="3419856"/>
          </a:xfrm>
          <a:prstGeom prst="roundRect">
            <a:avLst>
              <a:gd name="adj" fmla="val 2139"/>
            </a:avLst>
          </a:prstGeom>
          <a:solidFill>
            <a:srgbClr val="F2F2F2"/>
          </a:solidFill>
          <a:ln/>
        </p:spPr>
      </p:sp>
      <p:sp>
        <p:nvSpPr>
          <p:cNvPr id="12" name="Text 10"/>
          <p:cNvSpPr txBox="1"/>
          <p:nvPr/>
        </p:nvSpPr>
        <p:spPr>
          <a:xfrm>
            <a:off x="594360" y="1783080"/>
            <a:ext cx="5095037"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日本集中治療医学会の勧告（2016）</a:t>
            </a:r>
            <a:endParaRPr lang="ja-JP" sz="2200" dirty="0"/>
          </a:p>
        </p:txBody>
      </p:sp>
      <p:sp>
        <p:nvSpPr>
          <p:cNvPr id="13" name="Text 11"/>
          <p:cNvSpPr txBox="1"/>
          <p:nvPr/>
        </p:nvSpPr>
        <p:spPr>
          <a:xfrm>
            <a:off x="594360" y="2276856"/>
            <a:ext cx="5095037" cy="841248"/>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心停止時にのみ有効</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ほかの治療は別に議論</a:t>
            </a:r>
            <a:endParaRPr lang="ja-JP" sz="2200" dirty="0"/>
          </a:p>
        </p:txBody>
      </p:sp>
      <p:sp>
        <p:nvSpPr>
          <p:cNvPr id="14" name="Text 12"/>
          <p:cNvSpPr txBox="1"/>
          <p:nvPr/>
        </p:nvSpPr>
        <p:spPr>
          <a:xfrm>
            <a:off x="594360" y="3191256"/>
            <a:ext cx="5095037"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妥当性は繰り返し</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話し合って評価する</a:t>
            </a:r>
            <a:endParaRPr lang="ja-JP" sz="2200" dirty="0"/>
          </a:p>
        </p:txBody>
      </p:sp>
      <p:sp>
        <p:nvSpPr>
          <p:cNvPr id="15" name="Text 13"/>
          <p:cNvSpPr txBox="1"/>
          <p:nvPr/>
        </p:nvSpPr>
        <p:spPr>
          <a:xfrm>
            <a:off x="594360" y="4105656"/>
            <a:ext cx="509503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Partial DNAR 指示は</a:t>
            </a:r>
            <a:r>
              <a:rPr lang="ja-JP" altLang="en-US" sz="2200" b="1" dirty="0">
                <a:solidFill>
                  <a:srgbClr val="D55E00"/>
                </a:solidFill>
                <a:latin typeface="メイリオ" pitchFamily="34" charset="0"/>
                <a:ea typeface="メイリオ" pitchFamily="34" charset="-122"/>
                <a:cs typeface="メイリオ" pitchFamily="34" charset="-120"/>
              </a:rPr>
              <a:t>行わない</a:t>
            </a:r>
            <a:endParaRPr lang="ja-JP" sz="2200" dirty="0"/>
          </a:p>
        </p:txBody>
      </p:sp>
      <p:sp>
        <p:nvSpPr>
          <p:cNvPr id="16" name="Text 14"/>
          <p:cNvSpPr txBox="1"/>
          <p:nvPr/>
        </p:nvSpPr>
        <p:spPr>
          <a:xfrm>
            <a:off x="594360" y="4599432"/>
            <a:ext cx="5095037"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日本版 POLST には準拠しない</a:t>
            </a:r>
            <a:endParaRPr lang="ja-JP" sz="2200" dirty="0"/>
          </a:p>
        </p:txBody>
      </p:sp>
      <p:sp>
        <p:nvSpPr>
          <p:cNvPr id="17" name="Shape 15"/>
          <p:cNvSpPr/>
          <p:nvPr/>
        </p:nvSpPr>
        <p:spPr>
          <a:xfrm>
            <a:off x="6000293" y="1691640"/>
            <a:ext cx="5684825" cy="3419856"/>
          </a:xfrm>
          <a:prstGeom prst="roundRect">
            <a:avLst>
              <a:gd name="adj" fmla="val 2139"/>
            </a:avLst>
          </a:prstGeom>
          <a:solidFill>
            <a:srgbClr val="F2F2F2"/>
          </a:solidFill>
          <a:ln/>
        </p:spPr>
      </p:sp>
      <p:sp>
        <p:nvSpPr>
          <p:cNvPr id="18" name="Text 16"/>
          <p:cNvSpPr txBox="1"/>
          <p:nvPr/>
        </p:nvSpPr>
        <p:spPr>
          <a:xfrm>
            <a:off x="6091733" y="1783080"/>
            <a:ext cx="5501945" cy="42062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厚生労働省ガイドライン（2018 改訂）</a:t>
            </a:r>
            <a:endParaRPr lang="ja-JP" sz="2200" dirty="0"/>
          </a:p>
        </p:txBody>
      </p:sp>
      <p:sp>
        <p:nvSpPr>
          <p:cNvPr id="19" name="Text 17"/>
          <p:cNvSpPr txBox="1"/>
          <p:nvPr/>
        </p:nvSpPr>
        <p:spPr>
          <a:xfrm>
            <a:off x="6091733" y="2276856"/>
            <a:ext cx="550194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本人の意思 → 推定意思</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 本人にとっての最善</a:t>
            </a:r>
            <a:endParaRPr lang="ja-JP" sz="2200" dirty="0"/>
          </a:p>
        </p:txBody>
      </p:sp>
      <p:sp>
        <p:nvSpPr>
          <p:cNvPr id="20" name="Text 18"/>
          <p:cNvSpPr txBox="1"/>
          <p:nvPr/>
        </p:nvSpPr>
        <p:spPr>
          <a:xfrm>
            <a:off x="6091733" y="3227832"/>
            <a:ext cx="550194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繰り返し話し合い、</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文書に残す（ACP）</a:t>
            </a:r>
            <a:endParaRPr lang="ja-JP" sz="2200" dirty="0"/>
          </a:p>
        </p:txBody>
      </p:sp>
      <p:sp>
        <p:nvSpPr>
          <p:cNvPr id="21" name="Text 19"/>
          <p:cNvSpPr txBox="1"/>
          <p:nvPr/>
        </p:nvSpPr>
        <p:spPr>
          <a:xfrm>
            <a:off x="6091733" y="4178808"/>
            <a:ext cx="550194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決定が困難・合意できなければ</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複数の専門家の話し合いの場</a:t>
            </a:r>
            <a:endParaRPr lang="ja-JP" sz="2200" dirty="0"/>
          </a:p>
        </p:txBody>
      </p:sp>
      <p:sp>
        <p:nvSpPr>
          <p:cNvPr id="22" name="Text 20"/>
          <p:cNvSpPr/>
          <p:nvPr/>
        </p:nvSpPr>
        <p:spPr>
          <a:xfrm>
            <a:off x="502920" y="5330952"/>
            <a:ext cx="11183112" cy="548640"/>
          </a:xfrm>
          <a:prstGeom prst="roundRect">
            <a:avLst>
              <a:gd name="adj" fmla="val 16667"/>
            </a:avLst>
          </a:prstGeom>
          <a:solidFill>
            <a:srgbClr val="FFFFFF"/>
          </a:solidFill>
          <a:ln w="44450">
            <a:solidFill>
              <a:srgbClr val="00A8AA"/>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他院・前回入院の DNAR は、経緯と本人の意思を</a:t>
            </a:r>
            <a:r>
              <a:rPr lang="ja-JP" altLang="en-US" sz="2400" b="1" dirty="0">
                <a:solidFill>
                  <a:srgbClr val="D55E00"/>
                </a:solidFill>
                <a:latin typeface="メイリオ" pitchFamily="34" charset="0"/>
                <a:ea typeface="メイリオ" pitchFamily="34" charset="-122"/>
                <a:cs typeface="メイリオ" pitchFamily="34" charset="-120"/>
              </a:rPr>
              <a:t>確かめ直す</a:t>
            </a:r>
            <a:endParaRPr lang="ja-JP"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術前に行う 6 つのこと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Johnson L, et al. J Clin Ethics 2025;36:184-190 / Nolan JP,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Anaesthesia 2024;79:186-192（NAP7） / Scarborough JE, et al. Ann Surg 2012;256:453-461</a:t>
            </a:r>
            <a:endParaRPr lang="ja-JP" sz="1600" dirty="0"/>
          </a:p>
        </p:txBody>
      </p:sp>
      <p:sp>
        <p:nvSpPr>
          <p:cNvPr id="11" name="Text 9"/>
          <p:cNvSpPr txBox="1"/>
          <p:nvPr/>
        </p:nvSpPr>
        <p:spPr>
          <a:xfrm>
            <a:off x="502920" y="1783080"/>
            <a:ext cx="11183112" cy="4014216"/>
          </a:xfrm>
          <a:prstGeom prst="rect">
            <a:avLst/>
          </a:prstGeom>
          <a:noFill/>
          <a:ln/>
        </p:spPr>
        <p:txBody>
          <a:bodyPr wrap="square" lIns="0" tIns="0" rIns="0" bIns="0" rtlCol="0" anchor="t"/>
          <a:lstStyle/>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1.</a:t>
            </a:r>
            <a:r>
              <a:rPr lang="ja-JP" altLang="en-US" sz="2400" dirty="0">
                <a:solidFill>
                  <a:srgbClr val="262626"/>
                </a:solidFill>
                <a:latin typeface="メイリオ" pitchFamily="34" charset="0"/>
                <a:ea typeface="メイリオ" pitchFamily="34" charset="-122"/>
                <a:cs typeface="メイリオ" pitchFamily="34" charset="-120"/>
              </a:rPr>
              <a:t> DNAR の有無と経緯を確かめる（誰が、いつ、本人は参加したか）</a:t>
            </a:r>
            <a:endParaRPr lang="ja-JP" sz="2400" dirty="0"/>
          </a:p>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2.</a:t>
            </a:r>
            <a:r>
              <a:rPr lang="ja-JP" altLang="en-US" sz="2400" dirty="0">
                <a:solidFill>
                  <a:srgbClr val="262626"/>
                </a:solidFill>
                <a:latin typeface="メイリオ" pitchFamily="34" charset="0"/>
                <a:ea typeface="メイリオ" pitchFamily="34" charset="-122"/>
                <a:cs typeface="メイリオ" pitchFamily="34" charset="-120"/>
              </a:rPr>
              <a:t> 手術の目的と、麻酔に含まれる処置（挿管・昇圧薬）を説明する</a:t>
            </a:r>
            <a:endParaRPr lang="ja-JP" sz="2400" dirty="0"/>
          </a:p>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3.</a:t>
            </a:r>
            <a:r>
              <a:rPr lang="ja-JP" altLang="en-US" sz="2400" dirty="0">
                <a:solidFill>
                  <a:srgbClr val="262626"/>
                </a:solidFill>
                <a:latin typeface="メイリオ" pitchFamily="34" charset="0"/>
                <a:ea typeface="メイリオ" pitchFamily="34" charset="-122"/>
                <a:cs typeface="メイリオ" pitchFamily="34" charset="-120"/>
              </a:rPr>
              <a:t> 選択肢（A・B・C）を示し、本人または代理人と決める</a:t>
            </a:r>
            <a:endParaRPr lang="ja-JP" sz="2400" dirty="0"/>
          </a:p>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4.</a:t>
            </a:r>
            <a:r>
              <a:rPr lang="ja-JP" altLang="en-US" sz="2400" dirty="0">
                <a:solidFill>
                  <a:srgbClr val="262626"/>
                </a:solidFill>
                <a:latin typeface="メイリオ" pitchFamily="34" charset="0"/>
                <a:ea typeface="メイリオ" pitchFamily="34" charset="-122"/>
                <a:cs typeface="メイリオ" pitchFamily="34" charset="-120"/>
              </a:rPr>
              <a:t> 元に戻す時点（PACU 退室、術後 ◯ 日）を決める</a:t>
            </a:r>
            <a:endParaRPr lang="ja-JP" sz="2400" dirty="0"/>
          </a:p>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5.</a:t>
            </a:r>
            <a:r>
              <a:rPr lang="ja-JP" altLang="en-US" sz="2400" dirty="0">
                <a:solidFill>
                  <a:srgbClr val="262626"/>
                </a:solidFill>
                <a:latin typeface="メイリオ" pitchFamily="34" charset="0"/>
                <a:ea typeface="メイリオ" pitchFamily="34" charset="-122"/>
                <a:cs typeface="メイリオ" pitchFamily="34" charset="-120"/>
              </a:rPr>
              <a:t> 記録と指示変更。タイムアウトで外科医・看護師・病棟に伝える</a:t>
            </a:r>
            <a:endParaRPr lang="ja-JP" sz="2400" dirty="0"/>
          </a:p>
          <a:p>
            <a:pPr algn="l" indent="0" marL="0">
              <a:spcAft>
                <a:spcPts val="2000"/>
              </a:spcAft>
              <a:buNone/>
            </a:pPr>
            <a:r>
              <a:rPr lang="ja-JP" altLang="en-US" sz="2400" b="1" dirty="0">
                <a:solidFill>
                  <a:srgbClr val="0072B2"/>
                </a:solidFill>
                <a:latin typeface="メイリオ" pitchFamily="34" charset="0"/>
                <a:ea typeface="メイリオ" pitchFamily="34" charset="-122"/>
                <a:cs typeface="メイリオ" pitchFamily="34" charset="-120"/>
              </a:rPr>
              <a:t>6.</a:t>
            </a:r>
            <a:r>
              <a:rPr lang="ja-JP" altLang="en-US" sz="2400" dirty="0">
                <a:solidFill>
                  <a:srgbClr val="262626"/>
                </a:solidFill>
                <a:latin typeface="メイリオ" pitchFamily="34" charset="0"/>
                <a:ea typeface="メイリオ" pitchFamily="34" charset="-122"/>
                <a:cs typeface="メイリオ" pitchFamily="34" charset="-120"/>
              </a:rPr>
              <a:t> 外科医と方針を前もってそろえる（緊急手術になる前に）</a:t>
            </a:r>
            <a:endParaRPr lang="ja-JP"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記録の例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Ethical Guidelines for the Anesthesia Care of Patients with DNR Orders</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日本集中治療医学会「DNAR 指示のあり方についての勧告」（2016）</a:t>
            </a:r>
            <a:endParaRPr lang="ja-JP" sz="1600" dirty="0"/>
          </a:p>
        </p:txBody>
      </p:sp>
      <p:sp>
        <p:nvSpPr>
          <p:cNvPr id="11" name="Shape 9"/>
          <p:cNvSpPr/>
          <p:nvPr/>
        </p:nvSpPr>
        <p:spPr>
          <a:xfrm>
            <a:off x="502920" y="1783080"/>
            <a:ext cx="11183112" cy="2843784"/>
          </a:xfrm>
          <a:prstGeom prst="roundRect">
            <a:avLst>
              <a:gd name="adj" fmla="val 2572"/>
            </a:avLst>
          </a:prstGeom>
          <a:solidFill>
            <a:srgbClr val="F2F2F2"/>
          </a:solidFill>
          <a:ln w="19050">
            <a:solidFill>
              <a:srgbClr val="BFBFBF"/>
            </a:solidFill>
            <a:prstDash val="solid"/>
          </a:ln>
        </p:spPr>
      </p:sp>
      <p:sp>
        <p:nvSpPr>
          <p:cNvPr id="12" name="Text 10"/>
          <p:cNvSpPr txBox="1"/>
          <p:nvPr/>
        </p:nvSpPr>
        <p:spPr>
          <a:xfrm>
            <a:off x="731520" y="2057400"/>
            <a:ext cx="10725912" cy="2295144"/>
          </a:xfrm>
          <a:prstGeom prst="rect">
            <a:avLst/>
          </a:prstGeom>
          <a:noFill/>
          <a:ln/>
        </p:spPr>
        <p:txBody>
          <a:bodyPr wrap="square" lIns="0" tIns="0" rIns="0" bIns="0" rtlCol="0" anchor="t"/>
          <a:lstStyle/>
          <a:p>
            <a:pPr algn="l" indent="0" marL="0">
              <a:spcAft>
                <a:spcPts val="1600"/>
              </a:spcAft>
              <a:buNone/>
            </a:pPr>
            <a:r>
              <a:rPr lang="ja-JP" altLang="en-US" sz="2200" b="1" dirty="0">
                <a:solidFill>
                  <a:srgbClr val="0072B2"/>
                </a:solidFill>
                <a:latin typeface="メイリオ" pitchFamily="34" charset="0"/>
                <a:ea typeface="メイリオ" pitchFamily="34" charset="-122"/>
                <a:cs typeface="メイリオ" pitchFamily="34" charset="-120"/>
              </a:rPr>
              <a:t>術前 DNAR あり</a:t>
            </a:r>
            <a:r>
              <a:rPr lang="ja-JP" altLang="en-US" sz="2200" dirty="0">
                <a:solidFill>
                  <a:srgbClr val="262626"/>
                </a:solidFill>
                <a:latin typeface="メイリオ" pitchFamily="34" charset="0"/>
                <a:ea typeface="メイリオ" pitchFamily="34" charset="-122"/>
                <a:cs typeface="メイリオ" pitchFamily="34" charset="-120"/>
              </a:rPr>
              <a:t>（3 月 2 日、病棟で家族と決定。本人は不参加）</a:t>
            </a:r>
            <a:endParaRPr lang="ja-JP" sz="2200" dirty="0"/>
          </a:p>
          <a:p>
            <a:pPr algn="l" indent="0" marL="0">
              <a:spcAft>
                <a:spcPts val="1600"/>
              </a:spcAft>
              <a:buNone/>
            </a:pPr>
            <a:r>
              <a:rPr lang="ja-JP" altLang="en-US" sz="2200" b="1" dirty="0">
                <a:solidFill>
                  <a:srgbClr val="0072B2"/>
                </a:solidFill>
                <a:latin typeface="メイリオ" pitchFamily="34" charset="0"/>
                <a:ea typeface="メイリオ" pitchFamily="34" charset="-122"/>
                <a:cs typeface="メイリオ" pitchFamily="34" charset="-120"/>
              </a:rPr>
              <a:t>本人と再確認：</a:t>
            </a:r>
            <a:r>
              <a:rPr lang="ja-JP" altLang="en-US" sz="2200" dirty="0">
                <a:solidFill>
                  <a:srgbClr val="262626"/>
                </a:solidFill>
                <a:latin typeface="メイリオ" pitchFamily="34" charset="0"/>
                <a:ea typeface="メイリオ" pitchFamily="34" charset="-122"/>
                <a:cs typeface="メイリオ" pitchFamily="34" charset="-120"/>
              </a:rPr>
              <a:t>手術中と PACU 退室までは蘇生を全面的に行う（選択肢 A）</a:t>
            </a:r>
            <a:endParaRPr lang="ja-JP" sz="2200" dirty="0"/>
          </a:p>
          <a:p>
            <a:pPr algn="l" indent="0" marL="0">
              <a:spcAft>
                <a:spcPts val="1600"/>
              </a:spcAft>
              <a:buNone/>
            </a:pPr>
            <a:r>
              <a:rPr lang="ja-JP" altLang="en-US" sz="2200" b="1" dirty="0">
                <a:solidFill>
                  <a:srgbClr val="0072B2"/>
                </a:solidFill>
                <a:latin typeface="メイリオ" pitchFamily="34" charset="0"/>
                <a:ea typeface="メイリオ" pitchFamily="34" charset="-122"/>
                <a:cs typeface="メイリオ" pitchFamily="34" charset="-120"/>
              </a:rPr>
              <a:t>PACU 退室後</a:t>
            </a:r>
            <a:r>
              <a:rPr lang="ja-JP" altLang="en-US" sz="2200" dirty="0">
                <a:solidFill>
                  <a:srgbClr val="262626"/>
                </a:solidFill>
                <a:latin typeface="メイリオ" pitchFamily="34" charset="0"/>
                <a:ea typeface="メイリオ" pitchFamily="34" charset="-122"/>
                <a:cs typeface="メイリオ" pitchFamily="34" charset="-120"/>
              </a:rPr>
              <a:t>は元の DNAR に戻す。術後の合併症の治療は通常どおり行う</a:t>
            </a:r>
            <a:endParaRPr lang="ja-JP" sz="2200" dirty="0"/>
          </a:p>
          <a:p>
            <a:pPr algn="l" indent="0" marL="0">
              <a:spcAft>
                <a:spcPts val="1600"/>
              </a:spcAft>
              <a:buNone/>
            </a:pPr>
            <a:r>
              <a:rPr lang="ja-JP" altLang="en-US" sz="2200" b="1" dirty="0">
                <a:solidFill>
                  <a:srgbClr val="0072B2"/>
                </a:solidFill>
                <a:latin typeface="メイリオ" pitchFamily="34" charset="0"/>
                <a:ea typeface="メイリオ" pitchFamily="34" charset="-122"/>
                <a:cs typeface="メイリオ" pitchFamily="34" charset="-120"/>
              </a:rPr>
              <a:t>説明者：</a:t>
            </a:r>
            <a:r>
              <a:rPr lang="ja-JP" altLang="en-US" sz="2200" dirty="0">
                <a:solidFill>
                  <a:srgbClr val="262626"/>
                </a:solidFill>
                <a:latin typeface="メイリオ" pitchFamily="34" charset="0"/>
                <a:ea typeface="メイリオ" pitchFamily="34" charset="-122"/>
                <a:cs typeface="メイリオ" pitchFamily="34" charset="-120"/>
              </a:rPr>
              <a:t>麻酔科 ◯◯、</a:t>
            </a:r>
            <a:r>
              <a:rPr lang="ja-JP" altLang="en-US" sz="2200" b="1" dirty="0">
                <a:solidFill>
                  <a:srgbClr val="0072B2"/>
                </a:solidFill>
                <a:latin typeface="メイリオ" pitchFamily="34" charset="0"/>
                <a:ea typeface="メイリオ" pitchFamily="34" charset="-122"/>
                <a:cs typeface="メイリオ" pitchFamily="34" charset="-120"/>
              </a:rPr>
              <a:t>同席：</a:t>
            </a:r>
            <a:r>
              <a:rPr lang="ja-JP" altLang="en-US" sz="2200" dirty="0">
                <a:solidFill>
                  <a:srgbClr val="262626"/>
                </a:solidFill>
                <a:latin typeface="メイリオ" pitchFamily="34" charset="0"/>
                <a:ea typeface="メイリオ" pitchFamily="34" charset="-122"/>
                <a:cs typeface="メイリオ" pitchFamily="34" charset="-120"/>
              </a:rPr>
              <a:t>本人、長女、病棟看護師 ◯◯</a:t>
            </a:r>
            <a:endParaRPr lang="ja-JP" sz="2200" dirty="0"/>
          </a:p>
        </p:txBody>
      </p:sp>
      <p:sp>
        <p:nvSpPr>
          <p:cNvPr id="13" name="Text 11"/>
          <p:cNvSpPr txBox="1"/>
          <p:nvPr/>
        </p:nvSpPr>
        <p:spPr>
          <a:xfrm>
            <a:off x="502920" y="5010912"/>
            <a:ext cx="11183112" cy="502920"/>
          </a:xfrm>
          <a:prstGeom prst="rect">
            <a:avLst/>
          </a:prstGeom>
          <a:noFill/>
          <a:ln/>
        </p:spPr>
        <p:txBody>
          <a:bodyPr wrap="square" lIns="0" tIns="0" rIns="0" bIns="0" rtlCol="0" anchor="t"/>
          <a:lstStyle/>
          <a:p>
            <a:pPr algn="l" indent="0" marL="0">
              <a:buNone/>
            </a:pPr>
            <a:r>
              <a:rPr lang="ja-JP" altLang="en-US" sz="2600" b="1" dirty="0">
                <a:solidFill>
                  <a:srgbClr val="262626"/>
                </a:solidFill>
                <a:latin typeface="メイリオ" pitchFamily="34" charset="0"/>
                <a:ea typeface="メイリオ" pitchFamily="34" charset="-122"/>
                <a:cs typeface="メイリオ" pitchFamily="34" charset="-120"/>
              </a:rPr>
              <a:t>『急変時 DNAR』『様子を見る』のような</a:t>
            </a:r>
            <a:r>
              <a:rPr lang="ja-JP" altLang="en-US" sz="2600" b="1" dirty="0">
                <a:solidFill>
                  <a:srgbClr val="C00000"/>
                </a:solidFill>
                <a:latin typeface="メイリオ" pitchFamily="34" charset="0"/>
                <a:ea typeface="メイリオ" pitchFamily="34" charset="-122"/>
                <a:cs typeface="メイリオ" pitchFamily="34" charset="-120"/>
              </a:rPr>
              <a:t>あいまいな記録はしない</a:t>
            </a:r>
            <a:endParaRPr lang="ja-JP"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何が</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問題か</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ASAの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3択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国内の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勧告</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術前の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ASA Statement on DNR Orders / 日本集中治療医学会「DNAR 指示のあり方についての勧告」（2016）</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厚生労働省「人生の最終段階における医療・ケアの決定プロセスに関するガイドライン」（2018 改訂）</a:t>
            </a:r>
            <a:endParaRPr lang="ja-JP" sz="1600" dirty="0"/>
          </a:p>
        </p:txBody>
      </p:sp>
      <p:sp>
        <p:nvSpPr>
          <p:cNvPr id="11" name="Text 9"/>
          <p:cNvSpPr txBox="1"/>
          <p:nvPr/>
        </p:nvSpPr>
        <p:spPr>
          <a:xfrm>
            <a:off x="502920" y="1828800"/>
            <a:ext cx="11155680" cy="3630168"/>
          </a:xfrm>
          <a:prstGeom prst="rect">
            <a:avLst/>
          </a:prstGeom>
          <a:noFill/>
          <a:ln/>
        </p:spPr>
        <p:txBody>
          <a:bodyPr wrap="square" lIns="0" tIns="0" rIns="0" bIns="0" rtlCol="0" anchor="t"/>
          <a:lstStyle/>
          <a:p>
            <a:pPr algn="l" marL="381000" indent="-381000">
              <a:spcAft>
                <a:spcPts val="2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DNAR＝心停止時に </a:t>
            </a:r>
            <a:r>
              <a:rPr lang="ja-JP" altLang="en-US" sz="2600" b="1" dirty="0">
                <a:solidFill>
                  <a:srgbClr val="0072B2"/>
                </a:solidFill>
                <a:latin typeface="メイリオ" pitchFamily="34" charset="0"/>
                <a:ea typeface="メイリオ" pitchFamily="34" charset="-122"/>
                <a:cs typeface="メイリオ" pitchFamily="34" charset="-120"/>
              </a:rPr>
              <a:t>CPR を始めない</a:t>
            </a:r>
            <a:r>
              <a:rPr lang="ja-JP" altLang="en-US" sz="2600" dirty="0">
                <a:solidFill>
                  <a:srgbClr val="262626"/>
                </a:solidFill>
                <a:latin typeface="メイリオ" pitchFamily="34" charset="0"/>
                <a:ea typeface="メイリオ" pitchFamily="34" charset="-122"/>
                <a:cs typeface="メイリオ" pitchFamily="34" charset="-120"/>
              </a:rPr>
              <a:t>。ほかの治療は別</a:t>
            </a:r>
            <a:endParaRPr lang="ja-JP" sz="2600" dirty="0"/>
          </a:p>
          <a:p>
            <a:pPr algn="l" marL="381000" indent="-381000">
              <a:spcAft>
                <a:spcPts val="2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麻酔は挿管・人工呼吸・昇圧薬を含む。</a:t>
            </a:r>
            <a:r>
              <a:rPr lang="ja-JP" altLang="en-US" sz="2600" b="1" dirty="0">
                <a:solidFill>
                  <a:srgbClr val="0072B2"/>
                </a:solidFill>
                <a:latin typeface="メイリオ" pitchFamily="34" charset="0"/>
                <a:ea typeface="メイリオ" pitchFamily="34" charset="-122"/>
                <a:cs typeface="メイリオ" pitchFamily="34" charset="-120"/>
              </a:rPr>
              <a:t>蘇生ではない</a:t>
            </a:r>
            <a:endParaRPr lang="ja-JP" sz="2600" dirty="0"/>
          </a:p>
          <a:p>
            <a:pPr algn="l" marL="381000" indent="-381000">
              <a:spcAft>
                <a:spcPts val="2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黙って停止も、確認せず適用も誤り。</a:t>
            </a:r>
            <a:r>
              <a:rPr lang="ja-JP" altLang="en-US" sz="2600" b="1" dirty="0">
                <a:solidFill>
                  <a:srgbClr val="0072B2"/>
                </a:solidFill>
                <a:latin typeface="メイリオ" pitchFamily="34" charset="0"/>
                <a:ea typeface="メイリオ" pitchFamily="34" charset="-122"/>
                <a:cs typeface="メイリオ" pitchFamily="34" charset="-120"/>
              </a:rPr>
              <a:t>術前に再検討する</a:t>
            </a:r>
            <a:endParaRPr lang="ja-JP" sz="2600" dirty="0"/>
          </a:p>
          <a:p>
            <a:pPr algn="l" marL="381000" indent="-381000">
              <a:spcAft>
                <a:spcPts val="2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選択肢 A・B・C と</a:t>
            </a:r>
            <a:r>
              <a:rPr lang="ja-JP" altLang="en-US" sz="2600" b="1" dirty="0">
                <a:solidFill>
                  <a:srgbClr val="0072B2"/>
                </a:solidFill>
                <a:latin typeface="メイリオ" pitchFamily="34" charset="0"/>
                <a:ea typeface="メイリオ" pitchFamily="34" charset="-122"/>
                <a:cs typeface="メイリオ" pitchFamily="34" charset="-120"/>
              </a:rPr>
              <a:t>『いつ戻すか』</a:t>
            </a:r>
            <a:r>
              <a:rPr lang="ja-JP" altLang="en-US" sz="2600" dirty="0">
                <a:solidFill>
                  <a:srgbClr val="262626"/>
                </a:solidFill>
                <a:latin typeface="メイリオ" pitchFamily="34" charset="0"/>
                <a:ea typeface="メイリオ" pitchFamily="34" charset="-122"/>
                <a:cs typeface="メイリオ" pitchFamily="34" charset="-120"/>
              </a:rPr>
              <a:t>を決めて記録する</a:t>
            </a:r>
            <a:endParaRPr lang="ja-JP" sz="2600" dirty="0"/>
          </a:p>
          <a:p>
            <a:pPr algn="l" marL="381000" indent="-381000">
              <a:spcAft>
                <a:spcPts val="2200"/>
              </a:spcAft>
              <a:buSzPct val="100000"/>
              <a:buChar char="•"/>
            </a:pPr>
            <a:r>
              <a:rPr lang="ja-JP" altLang="en-US" sz="2600" dirty="0">
                <a:solidFill>
                  <a:srgbClr val="262626"/>
                </a:solidFill>
                <a:latin typeface="メイリオ" pitchFamily="34" charset="0"/>
                <a:ea typeface="メイリオ" pitchFamily="34" charset="-122"/>
                <a:cs typeface="メイリオ" pitchFamily="34" charset="-120"/>
              </a:rPr>
              <a:t>国内の勧告：</a:t>
            </a:r>
            <a:r>
              <a:rPr lang="ja-JP" altLang="en-US" sz="2600" b="1" dirty="0">
                <a:solidFill>
                  <a:srgbClr val="0072B2"/>
                </a:solidFill>
                <a:latin typeface="メイリオ" pitchFamily="34" charset="0"/>
                <a:ea typeface="メイリオ" pitchFamily="34" charset="-122"/>
                <a:cs typeface="メイリオ" pitchFamily="34" charset="-120"/>
              </a:rPr>
              <a:t>Partial DNAR は不可</a:t>
            </a:r>
            <a:r>
              <a:rPr lang="ja-JP" altLang="en-US" sz="2600" dirty="0">
                <a:solidFill>
                  <a:srgbClr val="262626"/>
                </a:solidFill>
                <a:latin typeface="メイリオ" pitchFamily="34" charset="0"/>
                <a:ea typeface="メイリオ" pitchFamily="34" charset="-122"/>
                <a:cs typeface="メイリオ" pitchFamily="34" charset="-120"/>
              </a:rPr>
              <a:t>、繰り返し話し合う</a:t>
            </a:r>
            <a:endParaRPr lang="ja-JP"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4-6 周術期の DNAR</dc:title>
  <dc:subject/>
  <dc:creator>Anes-lecture</dc:creator>
  <cp:lastModifiedBy>Anes-lecture</cp:lastModifiedBy>
  <cp:revision>1</cp:revision>
  <dcterms:created xsi:type="dcterms:W3CDTF">2026-10-15T17:05:54Z</dcterms:created>
  <dcterms:modified xsi:type="dcterms:W3CDTF">2026-10-15T17:05:54Z</dcterms:modified>
</cp:coreProperties>
</file>