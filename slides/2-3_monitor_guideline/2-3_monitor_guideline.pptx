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この回は、日本麻酔科学会（JSA: Japanese Society of Anesthesiologists）の「安全な麻酔のためのモニター指針」を軸に、手術室で毎回つける標準モニターが「何のために」「何を」見ているかを整理する。細かい原理はパルスオキシメータ（2-4）、カプノグラフィ（2-5）、筋弛緩モニター（2-6）、観血的動脈圧（2-7）、脳波モニター（2-8）で個別に扱う。ここでは全体像と、心電図・非観血的血圧の要点を押さえる。</a:t>
            </a:r>
          </a:p>
          <a:p>
            <a:r>
              <a:rPr lang="ja-JP" altLang="en-US" dirty="0"/>
              <a:t>指針は 1993年に作られ、2014年（第3回改訂）、2019年（第4回改訂）、2025年8月に改訂された。2019年と 2025年の改訂で変わったのは筋弛緩の項である。</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前文は「麻酔中の患者の安全を維持確保するために、日本麻酔科学会は下記の指針が採用されることを勧告する。この指針は全身麻酔、硬膜外麻酔及び脊髄くも膜下麻酔を行うとき適用される」。最初の項目は機械ではなく人についての項目で、「現場に麻酔を担当する医師が居て、絶え間なく看視すること」。「看視」は原文の表記（換気と循環の項では「監視」）。</a:t>
            </a:r>
          </a:p>
          <a:p>
            <a:r>
              <a:rPr lang="ja-JP" altLang="en-US" dirty="0"/>
              <a:t>研修医にとっての意味: 指導医が別の患者の急変に呼ばれて部屋を離れるとき、研修医が「現場にいる医師」になる。患者から目を離さない、モニターのアラームに反応する、決められた基準（コール基準）で指導医を呼ぶ。この病院では麻酔科医が1人なので、この役割は特に重要になる。</a:t>
            </a:r>
          </a:p>
          <a:p>
            <a:r>
              <a:rPr lang="ja-JP" altLang="en-US" dirty="0"/>
              <a:t>指針はこのほか、全身麻酔器を使うときは日本麻酔科学会が作成した始業点検の指針に従って始業点検を行うことも求めている（→ 2-2 始業点検）。</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指針は7項目からなる。①担当医の在室と看視、②酸素化、③換気、④循環、⑤体温、⑥筋弛緩、⑦脳波。</a:t>
            </a:r>
          </a:p>
          <a:p>
            <a:r>
              <a:rPr lang="ja-JP" altLang="en-US" dirty="0"/>
              <a:t>酸素の流れ（第2部の軸）に対応させると、②酸素化と③換気は「酸素の入口と取り込み」、④循環は「酸素の運搬」、⑤体温は「酸素を使う側」に当たる。⑥筋弛緩と⑦脳波は「薬の効き具合」を見る項目で、酸素の流れとは別の軸になる。</a:t>
            </a:r>
          </a:p>
          <a:p>
            <a:r>
              <a:rPr lang="ja-JP" altLang="en-US" dirty="0"/>
              <a:t>SpO2（経皮的動脈血酸素飽和度）はパルスオキシメータ、EtCO2（呼気終末二酸化炭素分圧）はカプノメータ、ECG（心電図）、TOF（Train-of-Four: 四連刺激）は筋弛緩モニターで測る。</a:t>
            </a:r>
          </a:p>
          <a:p>
            <a:r>
              <a:rPr lang="ja-JP" altLang="en-US" dirty="0"/>
              <a:t>指針は硬膜外麻酔と脊髄くも膜下麻酔にも適用される。換気の項のうちカプノメータは「全身麻酔では」装着するとされている。胸郭の動きと呼吸音の監視、酸素化、循環、体温は、区域麻酔でも求められる。</a:t>
            </a:r>
          </a:p>
          <a:p>
            <a:r>
              <a:rPr lang="ja-JP" altLang="en-US" dirty="0"/>
              <a:t>改訂の経緯: 2014年版（第3回改訂）の「筋弛緩モニターは必要に応じて行うこと」から、2019年版（第4回改訂）で「筋弛緩薬および拮抗薬を使用する際には、筋弛緩状態をモニタリングすること」に改められ、2025年8月改訂でさらに、筋弛緩の深さを定量的に評価し、抜管前に手の筋で TOF比 0.9 以上を確認することが求められるようになった（Suzuki T, et al. J Anesth 2026;40:173-181 に改訂文の英訳がある）。</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酸素化のチェックは、皮膚、粘膜、血液の色などを看視すること、パルスオキシメータを装着すること。換気のチェックは、胸郭や呼吸バッグの動き及び呼吸音を監視すること、全身麻酔ではカプノメータを装着すること、換気量モニターを適宜使用することが望ましい、とされている（2019年版の文言。2025年版で変更がないかは【要確認】）。気道内圧や回路外れの警報についての記載は、指針にはない。</a:t>
            </a:r>
          </a:p>
          <a:p>
            <a:r>
              <a:rPr lang="ja-JP" altLang="en-US" dirty="0"/>
              <a:t>なぜ両方か: SpO2 は低下が遅れて現れる（酸素予備があるため）。EtCO2 は換気が止まればすぐに変化し、気管チューブが食道に入っていないことの確認にも使う。SpO2 は「酸素が届いているか」、EtCO2 は「換気と循環があるか」を見ており、役割が違う。</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循環のチェックでは、「心音、動脈の触診、動脈波形または脈波の何れか一つを監視すること」「心電図モニターを用いること」「血圧測定を行うこと。原則として5分間隔で測定し、必要ならば頻回に測定すること」「観血式血圧測定は必要に応じて行う」とされている（2019年版の文言）。脈波は、実際にはパルスオキシメータの波形で見ることが多い（これは解釈で、原文に「パルスオキシメータの」という限定はない）。</a:t>
            </a:r>
          </a:p>
          <a:p>
            <a:r>
              <a:rPr lang="ja-JP" altLang="en-US" dirty="0"/>
              <a:t>心電図だけでは不十分な理由: 心電図は電気活動を映すが、拍出があるかは分からない。無脈性電気活動（PEA: Pulseless Electrical Activity）では心電図は正常に見えても脈がない。だから「拍動を確かめる」項目が別にある。パルスオキシメータの脈波が出ていれば末梢まで拍動が届いている。</a:t>
            </a:r>
          </a:p>
          <a:p>
            <a:r>
              <a:rPr lang="ja-JP" altLang="en-US" dirty="0"/>
              <a:t>血圧を5分間隔にする理由: 導入直後や体位変換のあとは血圧が大きく動く。間隔を短くする（1〜2.5分）場面も多い。一拍ごとの血圧が必要なら観血的動脈圧（→ 2-7）。</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体温: 体温測定を行うこと。麻酔中は体温調節が抑えられ、再分布で中心温が下がる（→ 10-1 体温管理）。</a:t>
            </a:r>
          </a:p>
          <a:p>
            <a:r>
              <a:rPr lang="ja-JP" altLang="en-US" dirty="0"/>
              <a:t>筋弛緩: 2019年改訂で「筋弛緩薬および拮抗薬を使用する際には、筋弛緩状態をモニタリングすること」に改められ、2025年8月改訂でさらに、筋弛緩薬と拮抗薬を使うときは筋弛緩の深さを定量的に評価し、抜管前に手の筋で TOF比 0.9 以上を確認することが求められた（J Anesth 2026 の英訳: "quantitatively evaluate the depth of neuromuscular block and confirm a TOF ratio of ≥ 0.9 at the hand before tracheal extubation"）。背景には、臨床所見では残存筋弛緩を見抜けないこと、残存筋弛緩が術後の呼吸器合併症につながることがある（→ 2-6 筋弛緩モニター、3-6 拮抗）。原文の日本語表記は PDF で確認する。</a:t>
            </a:r>
          </a:p>
          <a:p>
            <a:r>
              <a:rPr lang="ja-JP" altLang="en-US" dirty="0"/>
              <a:t>脳波: 脳波モニターは必要に応じて装着すること（2019年版の文言。2025年版で変更がないかは【要確認】）。術中覚醒の予防や、高齢者で深すぎる麻酔を避ける目的で使う（→ 2-8）。</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誘導の選び方: II 誘導は P 波が見やすく、リズムの判断に向く。V5 は左室側壁の虚血（ST 低下）を捉えやすい。5電極なら II と V5 を同時に表示するのが標準的。3電極では肢誘導（通常は II）しか表示できず、胸部誘導がないので虚血の検出力は落ちる。虚血が心配なのに3電極しかないときは、LA 電極を V5 の位置に置く変法（CS5）で V5 に近い誘導を作れる。</a:t>
            </a:r>
          </a:p>
          <a:p>
            <a:r>
              <a:rPr lang="ja-JP" altLang="en-US" dirty="0"/>
              <a:t>電極の色: 図の色は IEC 方式（R 赤・L 黄・F 緑・N 黒・C 白）。AHA 方式のリード線（RA 白・LA 黒・LL 赤・RL 緑・胸部 茶）では色の意味がまったく違うので、色ではなく電極の記号で貼る。12誘導心電計の胸部クリップ（C1 赤〜C6 紫、C5 は黒）とも別物。自施設のモニターのリード線の表示を確認する。V5 は V4（左第5肋間・鎖骨中線）と同じ高さで、左前腋窩線に貼る。</a:t>
            </a:r>
          </a:p>
          <a:p>
            <a:r>
              <a:rPr lang="ja-JP" altLang="en-US" dirty="0"/>
              <a:t>見るもの: 心拍数（アラーム上下限を患者ごとに設定）、リズム（洞調律か、期外収縮、心房細動、徐脈）、ST の変化（基準線と比べる。モニターの ST 解析機能を使う）。</a:t>
            </a:r>
          </a:p>
          <a:p>
            <a:r>
              <a:rPr lang="ja-JP" altLang="en-US" dirty="0"/>
              <a:t>落とし穴: 電気メスの使用中は波形が乱れる。モニターモードは、基線の揺れを抑えるために低い周波数を切っている（多くの機種で 0.5 Hz）ため、ST が実際より下がったり上がったりして見えることがある。ST を評価するときは、0.05 Hz まで通す診断モード（機種によっては ST モード）に切り替える。心電図に波形があっても拍出があるとは限らない。脈波（SpO2 の波形）か動脈圧波形を同時に見る。</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オシロメトリック法: カフを収縮期圧より高く膨らませ、少しずつ圧を下げながら、動脈の拍動がカフに伝える小さな圧の振動を検出する。振動の振幅が最大になるカフ圧が平均血圧に対応する。収縮期圧と拡張期圧は、振幅の変化の仕方から装置ごとのアルゴリズム（公開されていない）で推定する。したがって、最も信頼できるのは平均血圧で、収縮期・拡張期は装置によって差が出る。</a:t>
            </a:r>
          </a:p>
          <a:p>
            <a:r>
              <a:rPr lang="ja-JP" altLang="en-US" dirty="0"/>
              <a:t>誤差の原因: 心房細動などで拍ごとの振幅が変わると測定に時間がかかる、または失敗する。体動やシバリングは振動として拾われて誤差になる。測定中に腕を動かさない。</a:t>
            </a:r>
          </a:p>
          <a:p>
            <a:r>
              <a:rPr lang="ja-JP" altLang="en-US" dirty="0"/>
              <a:t>観血的動脈圧（橈骨動脈）との差は、いつも同じ向きではない。低血圧のときは非観血的血圧のほうが高めに出るので、低血圧を見逃しやすい。高血圧のときは低めに出る（Wax 2011、24,225例）。導入直後の低血圧に気づくうえで重要な落とし穴である。</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カフの大きさ: カフ内の空気袋（ブラダー）の幅が上腕周囲の約 40%、長さが約 80% を覆うものを選ぶ（米国心臓協会の血圧測定に関する声明による目安【要確認: 声明の該当箇所】）。小さすぎるカフは血圧を高く、大きすぎるカフは低く出す。肥満患者で上腕に合うカフがなければ前腕で測ることもあるが、値は上腕と一致しない。</a:t>
            </a:r>
          </a:p>
          <a:p>
            <a:r>
              <a:rPr lang="ja-JP" altLang="en-US" dirty="0"/>
              <a:t>装着: カフは心臓（右房）の高さに置く。腕が心臓より高ければ低く、低ければ高く出る（10 cm で約 7.4 mmHg）。点滴の側では測定中に輸液が止まり逆血する。透析シャント側では測らない。</a:t>
            </a:r>
          </a:p>
          <a:p>
            <a:r>
              <a:rPr lang="ja-JP" altLang="en-US" dirty="0"/>
              <a:t>間隔: 指針では原則 5 分間隔。短い間隔で長時間測ると、皮下出血や末梢神経障害の報告がある。安定したら間隔を戻す。</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決まった順番で見る: まず患者（胸の動き、顔色、体位、ライン）、次に酸素化（SpO2 の値と脈波）、換気（EtCO2 の値と波形、気道内圧）、循環（血圧、心拍数、心電図）、最後に体温と筋弛緩。数分ごとにこの順で一周する習慣をつける。</a:t>
            </a:r>
          </a:p>
          <a:p>
            <a:r>
              <a:rPr lang="ja-JP" altLang="en-US" dirty="0"/>
              <a:t>アラーム: 既定値のままにしない。患者の普段の血圧から上下限を決める。SpO2 の下限、EtCO2 の上下限、心拍数の上下限を導入後に見直す。</a:t>
            </a:r>
          </a:p>
          <a:p>
            <a:r>
              <a:rPr lang="ja-JP" altLang="en-US" dirty="0"/>
              <a:t>波形と傾向: 一点の数値より、脈波や EtCO2 の波形の形と、トレンド画面の向きを見る。じわじわ下がる変化は数値だけでは気づきにくい。</a:t>
            </a:r>
          </a:p>
          <a:p>
            <a:r>
              <a:rPr lang="ja-JP" altLang="en-US" dirty="0"/>
              <a:t>声に出す: 麻酔科医が1人の施設では、研修医が「2人目の目」になる。「SpO2 が 94 に下がっています」のように、数値と向きを声に出す（→ 6-1 危機対応の基本）。</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次回以降: 2-4 パルスオキシメータ、2-5 カプノグラフィで、それぞれの原理と読み方を扱う。筋弛緩モニターは 2-6、観血的動脈圧は 2-7、脳波モニターは 2-8。</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AWAZOE">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502920" y="320040"/>
            <a:ext cx="8503920" cy="868680"/>
          </a:xfrm>
          <a:prstGeom prst="rect">
            <a:avLst/>
          </a:prstGeom>
          <a:noFill/>
          <a:ln/>
        </p:spPr>
        <p:txBody>
          <a:bodyPr wrap="square" lIns="0" tIns="0" rIns="0" bIns="0" rtlCol="0" anchor="ctr"/>
          <a:lstStyle>
            <a:lvl1pPr algn="l" indent="0" marL="0">
              <a:buNone/>
              <a:defRPr lang="en-US" sz="4400" b="1" dirty="0">
                <a:ln w="28575">
                  <a:solidFill>
                    <a:srgbClr val="000000"/>
                  </a:solidFill>
                </a:ln>
                <a:solidFill>
                  <a:srgbClr val="BF9000"/>
                </a:solidFill>
                <a:latin typeface="メイリオ" pitchFamily="34" charset="0"/>
                <a:ea typeface="メイリオ" pitchFamily="34" charset="-122"/>
                <a:cs typeface="メイリオ" pitchFamily="34" charset="-120"/>
              </a:defRPr>
            </a:lvl1pPr>
          </a:lstStyle>
          <a:p>
            <a:pPr algn="l" indent="0" marL="0">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AWAZOE_COVER">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502920" y="1508760"/>
            <a:ext cx="11183112" cy="1737360"/>
          </a:xfrm>
          <a:prstGeom prst="rect">
            <a:avLst/>
          </a:prstGeom>
          <a:noFill/>
          <a:ln/>
        </p:spPr>
        <p:txBody>
          <a:bodyPr wrap="square" lIns="0" tIns="0" rIns="0" bIns="0" rtlCol="0" anchor="b"/>
          <a:lstStyle>
            <a:lvl1pPr algn="ctr" indent="0" marL="0">
              <a:buNone/>
              <a:defRPr lang="en-US" sz="4400" b="1" dirty="0">
                <a:ln w="28575">
                  <a:solidFill>
                    <a:srgbClr val="000000"/>
                  </a:solidFill>
                </a:ln>
                <a:solidFill>
                  <a:srgbClr val="BF9000"/>
                </a:solidFill>
                <a:latin typeface="メイリオ" pitchFamily="34" charset="0"/>
                <a:ea typeface="メイリオ" pitchFamily="34" charset="-122"/>
                <a:cs typeface="メイリオ" pitchFamily="34" charset="-120"/>
              </a:defRPr>
            </a:lvl1pPr>
          </a:lstStyle>
          <a:p>
            <a:pPr algn="ctr" indent="0" marL="0">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a:spLocks noGrp="1"/>
          </p:cNvSpPr>
          <p:nvPr>
            <p:ph type="title"/>
          </p:nvPr>
        </p:nvSpPr>
        <p:spPr>
          <a:xfrm>
            <a:off x="502920" y="1508760"/>
            <a:ext cx="11183112" cy="1737360"/>
          </a:xfrm>
          <a:prstGeom prst="rect">
            <a:avLst/>
          </a:prstGeom>
          <a:noFill/>
          <a:ln/>
        </p:spPr>
        <p:txBody>
          <a:bodyPr wrap="square" lIns="0" tIns="0" rIns="0" bIns="0" rtlCol="0" anchor="b"/>
          <a:lstStyle/>
          <a:p>
            <a:pPr algn="ctr"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モニター指針と標準モニター</a:t>
            </a:r>
            <a:endParaRPr lang="ja-JP" sz="4400" dirty="0"/>
          </a:p>
        </p:txBody>
      </p:sp>
      <p:sp>
        <p:nvSpPr>
          <p:cNvPr id="3" name="Shape 1"/>
          <p:cNvSpPr/>
          <p:nvPr/>
        </p:nvSpPr>
        <p:spPr>
          <a:xfrm>
            <a:off x="0" y="3474720"/>
            <a:ext cx="12191970" cy="0"/>
          </a:xfrm>
          <a:prstGeom prst="line">
            <a:avLst/>
          </a:prstGeom>
          <a:noFill/>
          <a:ln w="101600">
            <a:solidFill>
              <a:srgbClr val="BF9000"/>
            </a:solidFill>
            <a:prstDash val="solid"/>
          </a:ln>
        </p:spPr>
      </p:sp>
      <p:sp>
        <p:nvSpPr>
          <p:cNvPr id="4" name="Text 2"/>
          <p:cNvSpPr txBox="1"/>
          <p:nvPr/>
        </p:nvSpPr>
        <p:spPr>
          <a:xfrm>
            <a:off x="502920" y="3749040"/>
            <a:ext cx="11183112" cy="539496"/>
          </a:xfrm>
          <a:prstGeom prst="rect">
            <a:avLst/>
          </a:prstGeom>
          <a:noFill/>
          <a:ln/>
        </p:spPr>
        <p:txBody>
          <a:bodyPr wrap="square" lIns="0" tIns="0" rIns="0" bIns="0" rtlCol="0" anchor="t"/>
          <a:lstStyle/>
          <a:p>
            <a:pPr algn="ctr" indent="0" marL="0">
              <a:buNone/>
            </a:pPr>
            <a:r>
              <a:rPr lang="ja-JP" altLang="en-US" sz="2800" dirty="0">
                <a:solidFill>
                  <a:srgbClr val="262626"/>
                </a:solidFill>
                <a:latin typeface="メイリオ" pitchFamily="34" charset="0"/>
                <a:ea typeface="メイリオ" pitchFamily="34" charset="-122"/>
                <a:cs typeface="メイリオ" pitchFamily="34" charset="-120"/>
              </a:rPr>
              <a:t>2-3 モニタリング</a:t>
            </a:r>
            <a:endParaRPr lang="ja-JP" sz="2800" dirty="0"/>
          </a:p>
        </p:txBody>
      </p:sp>
      <p:sp>
        <p:nvSpPr>
          <p:cNvPr id="5" name="Text 3"/>
          <p:cNvSpPr txBox="1"/>
          <p:nvPr/>
        </p:nvSpPr>
        <p:spPr>
          <a:xfrm>
            <a:off x="502920" y="4693920"/>
            <a:ext cx="11183112" cy="841248"/>
          </a:xfrm>
          <a:prstGeom prst="rect">
            <a:avLst/>
          </a:prstGeom>
          <a:noFill/>
          <a:ln/>
        </p:spPr>
        <p:txBody>
          <a:bodyPr wrap="square" lIns="0" tIns="0" rIns="0" bIns="0" rtlCol="0" anchor="t"/>
          <a:lstStyle/>
          <a:p>
            <a:pPr algn="ctr" indent="0" marL="0">
              <a:buNone/>
            </a:pPr>
            <a:r>
              <a:rPr lang="ja-JP" altLang="en-US" sz="2200" dirty="0">
                <a:solidFill>
                  <a:srgbClr val="595959"/>
                </a:solidFill>
                <a:latin typeface="メイリオ" pitchFamily="34" charset="0"/>
                <a:ea typeface="メイリオ" pitchFamily="34" charset="-122"/>
                <a:cs typeface="メイリオ" pitchFamily="34" charset="-120"/>
              </a:rPr>
              <a:t>初期研修医向け麻酔講義｜日本麻酔科学会</a:t>
            </a:r>
            <a:endParaRPr lang="ja-JP" sz="2200" dirty="0"/>
          </a:p>
          <a:p>
            <a:pPr algn="ctr" indent="0" marL="0">
              <a:buNone/>
            </a:pPr>
            <a:r>
              <a:rPr lang="ja-JP" altLang="en-US" sz="2200" dirty="0">
                <a:solidFill>
                  <a:srgbClr val="595959"/>
                </a:solidFill>
                <a:latin typeface="メイリオ" pitchFamily="34" charset="0"/>
                <a:ea typeface="メイリオ" pitchFamily="34" charset="-122"/>
                <a:cs typeface="メイリオ" pitchFamily="34" charset="-120"/>
              </a:rPr>
              <a:t>「安全な麻酔のためのモニター指針」（2025年8月改訂）に沿って</a:t>
            </a:r>
            <a:endParaRPr lang="ja-JP"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モニターは誰が見るか</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指針</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7項目</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心電図</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血圧</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現場</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1</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日本麻酔科学会「安全な麻酔のためのモニター指針」（2025年8月改訂）</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https://anesth.or.jp/users/person/guide_line</a:t>
            </a:r>
            <a:endParaRPr lang="ja-JP" sz="1600" dirty="0"/>
          </a:p>
        </p:txBody>
      </p:sp>
      <p:sp>
        <p:nvSpPr>
          <p:cNvPr id="11" name="Text 9"/>
          <p:cNvSpPr/>
          <p:nvPr/>
        </p:nvSpPr>
        <p:spPr>
          <a:xfrm>
            <a:off x="502920" y="2368296"/>
            <a:ext cx="6812280" cy="2478024"/>
          </a:xfrm>
          <a:prstGeom prst="roundRect">
            <a:avLst>
              <a:gd name="adj" fmla="val 4428"/>
            </a:avLst>
          </a:prstGeom>
          <a:solidFill>
            <a:srgbClr val="F2F2F2"/>
          </a:solidFill>
          <a:ln/>
        </p:spPr>
        <p:txBody>
          <a:bodyPr wrap="square" lIns="182880" tIns="182880" rIns="182880" bIns="182880" rtlCol="0" anchor="ctr"/>
          <a:lstStyle/>
          <a:p>
            <a:pPr algn="ctr" indent="0" marL="0">
              <a:buNone/>
            </a:pPr>
            <a:r>
              <a:rPr lang="ja-JP" altLang="en-US" sz="2800" b="1" dirty="0">
                <a:solidFill>
                  <a:srgbClr val="262626"/>
                </a:solidFill>
                <a:latin typeface="メイリオ" pitchFamily="34" charset="0"/>
                <a:ea typeface="メイリオ" pitchFamily="34" charset="-122"/>
                <a:cs typeface="メイリオ" pitchFamily="34" charset="-120"/>
              </a:rPr>
              <a:t>現場に麻酔を担当する医師が居て、</a:t>
            </a:r>
            <a:endParaRPr lang="ja-JP" sz="2800" dirty="0"/>
          </a:p>
          <a:p>
            <a:pPr algn="ctr" indent="0" marL="0">
              <a:buNone/>
            </a:pPr>
            <a:r>
              <a:rPr lang="ja-JP" altLang="en-US" sz="2800" b="1" dirty="0">
                <a:solidFill>
                  <a:srgbClr val="262626"/>
                </a:solidFill>
                <a:latin typeface="メイリオ" pitchFamily="34" charset="0"/>
                <a:ea typeface="メイリオ" pitchFamily="34" charset="-122"/>
                <a:cs typeface="メイリオ" pitchFamily="34" charset="-120"/>
              </a:rPr>
              <a:t>絶え間なく看視すること</a:t>
            </a:r>
            <a:endParaRPr lang="ja-JP" sz="2800" dirty="0"/>
          </a:p>
        </p:txBody>
      </p:sp>
      <p:sp>
        <p:nvSpPr>
          <p:cNvPr id="12" name="Text 10"/>
          <p:cNvSpPr txBox="1"/>
          <p:nvPr/>
        </p:nvSpPr>
        <p:spPr>
          <a:xfrm>
            <a:off x="7543800" y="1691640"/>
            <a:ext cx="4142232"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この指針が対象とする麻酔</a:t>
            </a:r>
            <a:endParaRPr lang="ja-JP" sz="2400" dirty="0"/>
          </a:p>
        </p:txBody>
      </p:sp>
      <p:sp>
        <p:nvSpPr>
          <p:cNvPr id="13" name="Text 11"/>
          <p:cNvSpPr/>
          <p:nvPr/>
        </p:nvSpPr>
        <p:spPr>
          <a:xfrm>
            <a:off x="7543800" y="2368296"/>
            <a:ext cx="4142232" cy="679704"/>
          </a:xfrm>
          <a:prstGeom prst="roundRect">
            <a:avLst>
              <a:gd name="adj" fmla="val 10762"/>
            </a:avLst>
          </a:prstGeom>
          <a:solidFill>
            <a:srgbClr val="F2F2F2"/>
          </a:solidFill>
          <a:ln w="19050">
            <a:solidFill>
              <a:srgbClr val="0072B2"/>
            </a:solidFill>
          </a:ln>
        </p:spPr>
        <p:txBody>
          <a:bodyPr wrap="square" lIns="73152" tIns="73152" rIns="73152" bIns="73152" rtlCol="0" anchor="ctr"/>
          <a:lstStyle/>
          <a:p>
            <a:pPr algn="ctr" indent="0" marL="0">
              <a:buNone/>
            </a:pPr>
            <a:r>
              <a:rPr lang="ja-JP" altLang="en-US" sz="2600" dirty="0">
                <a:solidFill>
                  <a:srgbClr val="262626"/>
                </a:solidFill>
                <a:latin typeface="メイリオ" pitchFamily="34" charset="0"/>
                <a:ea typeface="メイリオ" pitchFamily="34" charset="-122"/>
                <a:cs typeface="メイリオ" pitchFamily="34" charset="-120"/>
              </a:rPr>
              <a:t>全身麻酔</a:t>
            </a:r>
            <a:endParaRPr lang="ja-JP" sz="2600" dirty="0"/>
          </a:p>
        </p:txBody>
      </p:sp>
      <p:sp>
        <p:nvSpPr>
          <p:cNvPr id="14" name="Text 12"/>
          <p:cNvSpPr/>
          <p:nvPr/>
        </p:nvSpPr>
        <p:spPr>
          <a:xfrm>
            <a:off x="7543800" y="3267456"/>
            <a:ext cx="4142232" cy="679704"/>
          </a:xfrm>
          <a:prstGeom prst="roundRect">
            <a:avLst>
              <a:gd name="adj" fmla="val 10762"/>
            </a:avLst>
          </a:prstGeom>
          <a:solidFill>
            <a:srgbClr val="F2F2F2"/>
          </a:solidFill>
          <a:ln w="19050">
            <a:solidFill>
              <a:srgbClr val="0072B2"/>
            </a:solidFill>
          </a:ln>
        </p:spPr>
        <p:txBody>
          <a:bodyPr wrap="square" lIns="73152" tIns="73152" rIns="73152" bIns="73152" rtlCol="0" anchor="ctr"/>
          <a:lstStyle/>
          <a:p>
            <a:pPr algn="ctr" indent="0" marL="0">
              <a:buNone/>
            </a:pPr>
            <a:r>
              <a:rPr lang="ja-JP" altLang="en-US" sz="2600" dirty="0">
                <a:solidFill>
                  <a:srgbClr val="262626"/>
                </a:solidFill>
                <a:latin typeface="メイリオ" pitchFamily="34" charset="0"/>
                <a:ea typeface="メイリオ" pitchFamily="34" charset="-122"/>
                <a:cs typeface="メイリオ" pitchFamily="34" charset="-120"/>
              </a:rPr>
              <a:t>硬膜外麻酔</a:t>
            </a:r>
            <a:endParaRPr lang="ja-JP" sz="2600" dirty="0"/>
          </a:p>
        </p:txBody>
      </p:sp>
      <p:sp>
        <p:nvSpPr>
          <p:cNvPr id="15" name="Text 13"/>
          <p:cNvSpPr/>
          <p:nvPr/>
        </p:nvSpPr>
        <p:spPr>
          <a:xfrm>
            <a:off x="7543800" y="4166616"/>
            <a:ext cx="4142232" cy="679704"/>
          </a:xfrm>
          <a:prstGeom prst="roundRect">
            <a:avLst>
              <a:gd name="adj" fmla="val 10762"/>
            </a:avLst>
          </a:prstGeom>
          <a:solidFill>
            <a:srgbClr val="F2F2F2"/>
          </a:solidFill>
          <a:ln w="19050">
            <a:solidFill>
              <a:srgbClr val="0072B2"/>
            </a:solidFill>
          </a:ln>
        </p:spPr>
        <p:txBody>
          <a:bodyPr wrap="square" lIns="73152" tIns="73152" rIns="73152" bIns="73152" rtlCol="0" anchor="ctr"/>
          <a:lstStyle/>
          <a:p>
            <a:pPr algn="ctr" indent="0" marL="0">
              <a:buNone/>
            </a:pPr>
            <a:r>
              <a:rPr lang="ja-JP" altLang="en-US" sz="2600" dirty="0">
                <a:solidFill>
                  <a:srgbClr val="262626"/>
                </a:solidFill>
                <a:latin typeface="メイリオ" pitchFamily="34" charset="0"/>
                <a:ea typeface="メイリオ" pitchFamily="34" charset="-122"/>
                <a:cs typeface="メイリオ" pitchFamily="34" charset="-120"/>
              </a:rPr>
              <a:t>脊髄くも膜下麻酔</a:t>
            </a:r>
            <a:endParaRPr lang="ja-JP" sz="2600" dirty="0"/>
          </a:p>
        </p:txBody>
      </p:sp>
      <p:sp>
        <p:nvSpPr>
          <p:cNvPr id="16" name="Text 14"/>
          <p:cNvSpPr txBox="1"/>
          <p:nvPr/>
        </p:nvSpPr>
        <p:spPr>
          <a:xfrm>
            <a:off x="502920" y="5120640"/>
            <a:ext cx="11183112" cy="612648"/>
          </a:xfrm>
          <a:prstGeom prst="rect">
            <a:avLst/>
          </a:prstGeom>
          <a:noFill/>
          <a:ln/>
        </p:spPr>
        <p:txBody>
          <a:bodyPr wrap="square" lIns="0" tIns="0" rIns="0" bIns="0" rtlCol="0" anchor="t"/>
          <a:lstStyle/>
          <a:p>
            <a:pPr algn="ctr" indent="0" marL="0">
              <a:buNone/>
            </a:pPr>
            <a:r>
              <a:rPr lang="ja-JP" altLang="en-US" sz="3200" b="1" dirty="0">
                <a:solidFill>
                  <a:srgbClr val="00A8AA"/>
                </a:solidFill>
                <a:latin typeface="メイリオ" pitchFamily="34" charset="0"/>
                <a:ea typeface="メイリオ" pitchFamily="34" charset="-122"/>
                <a:cs typeface="メイリオ" pitchFamily="34" charset="-120"/>
              </a:rPr>
              <a:t>機械は補助、判断するのは人</a:t>
            </a:r>
            <a:endParaRPr lang="ja-JP" sz="3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7項目の全体像</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指針</a:t>
            </a:r>
            <a:endParaRPr lang="ja-JP" sz="1100" dirty="0"/>
          </a:p>
        </p:txBody>
      </p:sp>
      <p:sp>
        <p:nvSpPr>
          <p:cNvPr id="5" name="Text 3"/>
          <p:cNvSpPr/>
          <p:nvPr/>
        </p:nvSpPr>
        <p:spPr>
          <a:xfrm>
            <a:off x="9354312"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7項目</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心電図</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血圧</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現場</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2</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日本麻酔科学会「安全な麻酔のためのモニター指針」（2025年8月改訂）</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Suzuki T, et al. J Anesth 2026;40:173-181</a:t>
            </a:r>
            <a:endParaRPr lang="ja-JP" sz="1600" dirty="0"/>
          </a:p>
        </p:txBody>
      </p:sp>
      <p:sp>
        <p:nvSpPr>
          <p:cNvPr id="11" name="Shape 9"/>
          <p:cNvSpPr/>
          <p:nvPr/>
        </p:nvSpPr>
        <p:spPr>
          <a:xfrm>
            <a:off x="502920" y="1691640"/>
            <a:ext cx="2624328" cy="1225296"/>
          </a:xfrm>
          <a:prstGeom prst="roundRect">
            <a:avLst>
              <a:gd name="adj" fmla="val 5970"/>
            </a:avLst>
          </a:prstGeom>
          <a:solidFill>
            <a:srgbClr val="F2F2F2"/>
          </a:solidFill>
          <a:ln/>
        </p:spPr>
      </p:sp>
      <p:sp>
        <p:nvSpPr>
          <p:cNvPr id="12" name="Text 10"/>
          <p:cNvSpPr txBox="1"/>
          <p:nvPr/>
        </p:nvSpPr>
        <p:spPr>
          <a:xfrm>
            <a:off x="640080" y="1828800"/>
            <a:ext cx="2350008"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① 担当医</a:t>
            </a:r>
            <a:endParaRPr lang="ja-JP" sz="2400" dirty="0"/>
          </a:p>
        </p:txBody>
      </p:sp>
      <p:sp>
        <p:nvSpPr>
          <p:cNvPr id="13" name="Text 11"/>
          <p:cNvSpPr txBox="1"/>
          <p:nvPr/>
        </p:nvSpPr>
        <p:spPr>
          <a:xfrm>
            <a:off x="640080" y="2359152"/>
            <a:ext cx="2350008" cy="420624"/>
          </a:xfrm>
          <a:prstGeom prst="rect">
            <a:avLst/>
          </a:prstGeom>
          <a:noFill/>
          <a:ln/>
        </p:spPr>
        <p:txBody>
          <a:bodyPr wrap="square" lIns="0" tIns="0" rIns="0" bIns="0" rtlCol="0" anchor="t"/>
          <a:lstStyle/>
          <a:p>
            <a:pPr algn="l" indent="0" marL="0">
              <a:spcAft>
                <a:spcPts val="600"/>
              </a:spcAft>
              <a:buNone/>
            </a:pPr>
            <a:r>
              <a:rPr lang="ja-JP" altLang="en-US" sz="2200" dirty="0">
                <a:solidFill>
                  <a:srgbClr val="262626"/>
                </a:solidFill>
                <a:latin typeface="メイリオ" pitchFamily="34" charset="0"/>
                <a:ea typeface="メイリオ" pitchFamily="34" charset="-122"/>
                <a:cs typeface="メイリオ" pitchFamily="34" charset="-120"/>
              </a:rPr>
              <a:t>現場で看視</a:t>
            </a:r>
            <a:endParaRPr lang="ja-JP" sz="2200" dirty="0"/>
          </a:p>
        </p:txBody>
      </p:sp>
      <p:sp>
        <p:nvSpPr>
          <p:cNvPr id="14" name="Shape 12"/>
          <p:cNvSpPr/>
          <p:nvPr/>
        </p:nvSpPr>
        <p:spPr>
          <a:xfrm>
            <a:off x="3355848" y="1691640"/>
            <a:ext cx="2624328" cy="1225296"/>
          </a:xfrm>
          <a:prstGeom prst="roundRect">
            <a:avLst>
              <a:gd name="adj" fmla="val 5970"/>
            </a:avLst>
          </a:prstGeom>
          <a:solidFill>
            <a:srgbClr val="F2F2F2"/>
          </a:solidFill>
          <a:ln/>
        </p:spPr>
      </p:sp>
      <p:sp>
        <p:nvSpPr>
          <p:cNvPr id="15" name="Text 13"/>
          <p:cNvSpPr txBox="1"/>
          <p:nvPr/>
        </p:nvSpPr>
        <p:spPr>
          <a:xfrm>
            <a:off x="3493008" y="1828800"/>
            <a:ext cx="2350008"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② 酸素化</a:t>
            </a:r>
            <a:endParaRPr lang="ja-JP" sz="2400" dirty="0"/>
          </a:p>
        </p:txBody>
      </p:sp>
      <p:sp>
        <p:nvSpPr>
          <p:cNvPr id="16" name="Text 14"/>
          <p:cNvSpPr txBox="1"/>
          <p:nvPr/>
        </p:nvSpPr>
        <p:spPr>
          <a:xfrm>
            <a:off x="3493008" y="2359152"/>
            <a:ext cx="2350008" cy="420624"/>
          </a:xfrm>
          <a:prstGeom prst="rect">
            <a:avLst/>
          </a:prstGeom>
          <a:noFill/>
          <a:ln/>
        </p:spPr>
        <p:txBody>
          <a:bodyPr wrap="square" lIns="0" tIns="0" rIns="0" bIns="0" rtlCol="0" anchor="t"/>
          <a:lstStyle/>
          <a:p>
            <a:pPr algn="l" indent="0" marL="0">
              <a:spcAft>
                <a:spcPts val="600"/>
              </a:spcAft>
              <a:buNone/>
            </a:pPr>
            <a:r>
              <a:rPr lang="ja-JP" altLang="en-US" sz="2200" dirty="0">
                <a:solidFill>
                  <a:srgbClr val="262626"/>
                </a:solidFill>
                <a:latin typeface="メイリオ" pitchFamily="34" charset="0"/>
                <a:ea typeface="メイリオ" pitchFamily="34" charset="-122"/>
                <a:cs typeface="メイリオ" pitchFamily="34" charset="-120"/>
              </a:rPr>
              <a:t>SpO2</a:t>
            </a:r>
            <a:endParaRPr lang="ja-JP" sz="2200" dirty="0"/>
          </a:p>
        </p:txBody>
      </p:sp>
      <p:sp>
        <p:nvSpPr>
          <p:cNvPr id="17" name="Shape 15"/>
          <p:cNvSpPr/>
          <p:nvPr/>
        </p:nvSpPr>
        <p:spPr>
          <a:xfrm>
            <a:off x="6208776" y="1691640"/>
            <a:ext cx="2624328" cy="1225296"/>
          </a:xfrm>
          <a:prstGeom prst="roundRect">
            <a:avLst>
              <a:gd name="adj" fmla="val 5970"/>
            </a:avLst>
          </a:prstGeom>
          <a:solidFill>
            <a:srgbClr val="F2F2F2"/>
          </a:solidFill>
          <a:ln/>
        </p:spPr>
      </p:sp>
      <p:sp>
        <p:nvSpPr>
          <p:cNvPr id="18" name="Text 16"/>
          <p:cNvSpPr txBox="1"/>
          <p:nvPr/>
        </p:nvSpPr>
        <p:spPr>
          <a:xfrm>
            <a:off x="6345936" y="1828800"/>
            <a:ext cx="2350008"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③ 換気</a:t>
            </a:r>
            <a:endParaRPr lang="ja-JP" sz="2400" dirty="0"/>
          </a:p>
        </p:txBody>
      </p:sp>
      <p:sp>
        <p:nvSpPr>
          <p:cNvPr id="19" name="Text 17"/>
          <p:cNvSpPr txBox="1"/>
          <p:nvPr/>
        </p:nvSpPr>
        <p:spPr>
          <a:xfrm>
            <a:off x="6345936" y="2359152"/>
            <a:ext cx="2350008" cy="420624"/>
          </a:xfrm>
          <a:prstGeom prst="rect">
            <a:avLst/>
          </a:prstGeom>
          <a:noFill/>
          <a:ln/>
        </p:spPr>
        <p:txBody>
          <a:bodyPr wrap="square" lIns="0" tIns="0" rIns="0" bIns="0" rtlCol="0" anchor="t"/>
          <a:lstStyle/>
          <a:p>
            <a:pPr algn="l" indent="0" marL="0">
              <a:spcAft>
                <a:spcPts val="600"/>
              </a:spcAft>
              <a:buNone/>
            </a:pPr>
            <a:r>
              <a:rPr lang="ja-JP" altLang="en-US" sz="2200" dirty="0">
                <a:solidFill>
                  <a:srgbClr val="262626"/>
                </a:solidFill>
                <a:latin typeface="メイリオ" pitchFamily="34" charset="0"/>
                <a:ea typeface="メイリオ" pitchFamily="34" charset="-122"/>
                <a:cs typeface="メイリオ" pitchFamily="34" charset="-120"/>
              </a:rPr>
              <a:t>EtCO2</a:t>
            </a:r>
            <a:endParaRPr lang="ja-JP" sz="2200" dirty="0"/>
          </a:p>
        </p:txBody>
      </p:sp>
      <p:sp>
        <p:nvSpPr>
          <p:cNvPr id="20" name="Shape 18"/>
          <p:cNvSpPr/>
          <p:nvPr/>
        </p:nvSpPr>
        <p:spPr>
          <a:xfrm>
            <a:off x="9061704" y="1691640"/>
            <a:ext cx="2624328" cy="1225296"/>
          </a:xfrm>
          <a:prstGeom prst="roundRect">
            <a:avLst>
              <a:gd name="adj" fmla="val 5970"/>
            </a:avLst>
          </a:prstGeom>
          <a:solidFill>
            <a:srgbClr val="F2F2F2"/>
          </a:solidFill>
          <a:ln/>
        </p:spPr>
      </p:sp>
      <p:sp>
        <p:nvSpPr>
          <p:cNvPr id="21" name="Text 19"/>
          <p:cNvSpPr txBox="1"/>
          <p:nvPr/>
        </p:nvSpPr>
        <p:spPr>
          <a:xfrm>
            <a:off x="9198864" y="1828800"/>
            <a:ext cx="2350008"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④ 循環</a:t>
            </a:r>
            <a:endParaRPr lang="ja-JP" sz="2400" dirty="0"/>
          </a:p>
        </p:txBody>
      </p:sp>
      <p:sp>
        <p:nvSpPr>
          <p:cNvPr id="22" name="Text 20"/>
          <p:cNvSpPr txBox="1"/>
          <p:nvPr/>
        </p:nvSpPr>
        <p:spPr>
          <a:xfrm>
            <a:off x="9198864" y="2359152"/>
            <a:ext cx="2350008" cy="420624"/>
          </a:xfrm>
          <a:prstGeom prst="rect">
            <a:avLst/>
          </a:prstGeom>
          <a:noFill/>
          <a:ln/>
        </p:spPr>
        <p:txBody>
          <a:bodyPr wrap="square" lIns="0" tIns="0" rIns="0" bIns="0" rtlCol="0" anchor="t"/>
          <a:lstStyle/>
          <a:p>
            <a:pPr algn="l" indent="0" marL="0">
              <a:spcAft>
                <a:spcPts val="600"/>
              </a:spcAft>
              <a:buNone/>
            </a:pPr>
            <a:r>
              <a:rPr lang="ja-JP" altLang="en-US" sz="2200" dirty="0">
                <a:solidFill>
                  <a:srgbClr val="262626"/>
                </a:solidFill>
                <a:latin typeface="メイリオ" pitchFamily="34" charset="0"/>
                <a:ea typeface="メイリオ" pitchFamily="34" charset="-122"/>
                <a:cs typeface="メイリオ" pitchFamily="34" charset="-120"/>
              </a:rPr>
              <a:t>ECG・血圧</a:t>
            </a:r>
            <a:endParaRPr lang="ja-JP" sz="2200" dirty="0"/>
          </a:p>
        </p:txBody>
      </p:sp>
      <p:sp>
        <p:nvSpPr>
          <p:cNvPr id="23" name="Shape 21"/>
          <p:cNvSpPr/>
          <p:nvPr/>
        </p:nvSpPr>
        <p:spPr>
          <a:xfrm>
            <a:off x="502920" y="3136392"/>
            <a:ext cx="3575304" cy="1225296"/>
          </a:xfrm>
          <a:prstGeom prst="roundRect">
            <a:avLst>
              <a:gd name="adj" fmla="val 5970"/>
            </a:avLst>
          </a:prstGeom>
          <a:solidFill>
            <a:srgbClr val="F2F2F2"/>
          </a:solidFill>
          <a:ln/>
        </p:spPr>
      </p:sp>
      <p:sp>
        <p:nvSpPr>
          <p:cNvPr id="24" name="Text 22"/>
          <p:cNvSpPr txBox="1"/>
          <p:nvPr/>
        </p:nvSpPr>
        <p:spPr>
          <a:xfrm>
            <a:off x="640080" y="3273552"/>
            <a:ext cx="3300984"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⑤ 体温</a:t>
            </a:r>
            <a:endParaRPr lang="ja-JP" sz="2400" dirty="0"/>
          </a:p>
        </p:txBody>
      </p:sp>
      <p:sp>
        <p:nvSpPr>
          <p:cNvPr id="25" name="Text 23"/>
          <p:cNvSpPr txBox="1"/>
          <p:nvPr/>
        </p:nvSpPr>
        <p:spPr>
          <a:xfrm>
            <a:off x="640080" y="3803904"/>
            <a:ext cx="3300984" cy="420624"/>
          </a:xfrm>
          <a:prstGeom prst="rect">
            <a:avLst/>
          </a:prstGeom>
          <a:noFill/>
          <a:ln/>
        </p:spPr>
        <p:txBody>
          <a:bodyPr wrap="square" lIns="0" tIns="0" rIns="0" bIns="0" rtlCol="0" anchor="t"/>
          <a:lstStyle/>
          <a:p>
            <a:pPr algn="l" indent="0" marL="0">
              <a:spcAft>
                <a:spcPts val="600"/>
              </a:spcAft>
              <a:buNone/>
            </a:pPr>
            <a:r>
              <a:rPr lang="ja-JP" altLang="en-US" sz="2200" dirty="0">
                <a:solidFill>
                  <a:srgbClr val="262626"/>
                </a:solidFill>
                <a:latin typeface="メイリオ" pitchFamily="34" charset="0"/>
                <a:ea typeface="メイリオ" pitchFamily="34" charset="-122"/>
                <a:cs typeface="メイリオ" pitchFamily="34" charset="-120"/>
              </a:rPr>
              <a:t>体温測定</a:t>
            </a:r>
            <a:endParaRPr lang="ja-JP" sz="2200" dirty="0"/>
          </a:p>
        </p:txBody>
      </p:sp>
      <p:sp>
        <p:nvSpPr>
          <p:cNvPr id="26" name="Shape 24"/>
          <p:cNvSpPr/>
          <p:nvPr/>
        </p:nvSpPr>
        <p:spPr>
          <a:xfrm>
            <a:off x="4306824" y="3136392"/>
            <a:ext cx="3575304" cy="1225296"/>
          </a:xfrm>
          <a:prstGeom prst="roundRect">
            <a:avLst>
              <a:gd name="adj" fmla="val 5970"/>
            </a:avLst>
          </a:prstGeom>
          <a:solidFill>
            <a:srgbClr val="F2F2F2"/>
          </a:solidFill>
          <a:ln/>
        </p:spPr>
      </p:sp>
      <p:sp>
        <p:nvSpPr>
          <p:cNvPr id="27" name="Text 25"/>
          <p:cNvSpPr txBox="1"/>
          <p:nvPr/>
        </p:nvSpPr>
        <p:spPr>
          <a:xfrm>
            <a:off x="4443984" y="3273552"/>
            <a:ext cx="3300984"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⑥ 筋弛緩</a:t>
            </a:r>
            <a:endParaRPr lang="ja-JP" sz="2400" dirty="0"/>
          </a:p>
        </p:txBody>
      </p:sp>
      <p:sp>
        <p:nvSpPr>
          <p:cNvPr id="28" name="Text 26"/>
          <p:cNvSpPr txBox="1"/>
          <p:nvPr/>
        </p:nvSpPr>
        <p:spPr>
          <a:xfrm>
            <a:off x="4443984" y="3803904"/>
            <a:ext cx="3300984" cy="420624"/>
          </a:xfrm>
          <a:prstGeom prst="rect">
            <a:avLst/>
          </a:prstGeom>
          <a:noFill/>
          <a:ln/>
        </p:spPr>
        <p:txBody>
          <a:bodyPr wrap="square" lIns="0" tIns="0" rIns="0" bIns="0" rtlCol="0" anchor="t"/>
          <a:lstStyle/>
          <a:p>
            <a:pPr algn="l" indent="0" marL="0">
              <a:spcAft>
                <a:spcPts val="600"/>
              </a:spcAft>
              <a:buNone/>
            </a:pPr>
            <a:r>
              <a:rPr lang="ja-JP" altLang="en-US" sz="2200" dirty="0">
                <a:solidFill>
                  <a:srgbClr val="262626"/>
                </a:solidFill>
                <a:latin typeface="メイリオ" pitchFamily="34" charset="0"/>
                <a:ea typeface="メイリオ" pitchFamily="34" charset="-122"/>
                <a:cs typeface="メイリオ" pitchFamily="34" charset="-120"/>
              </a:rPr>
              <a:t>定量（TOF比）</a:t>
            </a:r>
            <a:endParaRPr lang="ja-JP" sz="2200" dirty="0"/>
          </a:p>
        </p:txBody>
      </p:sp>
      <p:sp>
        <p:nvSpPr>
          <p:cNvPr id="29" name="Shape 27"/>
          <p:cNvSpPr/>
          <p:nvPr/>
        </p:nvSpPr>
        <p:spPr>
          <a:xfrm>
            <a:off x="8110728" y="3136392"/>
            <a:ext cx="3575304" cy="1225296"/>
          </a:xfrm>
          <a:prstGeom prst="roundRect">
            <a:avLst>
              <a:gd name="adj" fmla="val 5970"/>
            </a:avLst>
          </a:prstGeom>
          <a:solidFill>
            <a:srgbClr val="F2F2F2"/>
          </a:solidFill>
          <a:ln/>
        </p:spPr>
      </p:sp>
      <p:sp>
        <p:nvSpPr>
          <p:cNvPr id="30" name="Text 28"/>
          <p:cNvSpPr txBox="1"/>
          <p:nvPr/>
        </p:nvSpPr>
        <p:spPr>
          <a:xfrm>
            <a:off x="8247888" y="3273552"/>
            <a:ext cx="3300984"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⑦ 脳波</a:t>
            </a:r>
            <a:endParaRPr lang="ja-JP" sz="2400" dirty="0"/>
          </a:p>
        </p:txBody>
      </p:sp>
      <p:sp>
        <p:nvSpPr>
          <p:cNvPr id="31" name="Text 29"/>
          <p:cNvSpPr txBox="1"/>
          <p:nvPr/>
        </p:nvSpPr>
        <p:spPr>
          <a:xfrm>
            <a:off x="8247888" y="3803904"/>
            <a:ext cx="3300984" cy="420624"/>
          </a:xfrm>
          <a:prstGeom prst="rect">
            <a:avLst/>
          </a:prstGeom>
          <a:noFill/>
          <a:ln/>
        </p:spPr>
        <p:txBody>
          <a:bodyPr wrap="square" lIns="0" tIns="0" rIns="0" bIns="0" rtlCol="0" anchor="t"/>
          <a:lstStyle/>
          <a:p>
            <a:pPr algn="l" indent="0" marL="0">
              <a:spcAft>
                <a:spcPts val="600"/>
              </a:spcAft>
              <a:buNone/>
            </a:pPr>
            <a:r>
              <a:rPr lang="ja-JP" altLang="en-US" sz="2200" dirty="0">
                <a:solidFill>
                  <a:srgbClr val="262626"/>
                </a:solidFill>
                <a:latin typeface="メイリオ" pitchFamily="34" charset="0"/>
                <a:ea typeface="メイリオ" pitchFamily="34" charset="-122"/>
                <a:cs typeface="メイリオ" pitchFamily="34" charset="-120"/>
              </a:rPr>
              <a:t>必要に応じて</a:t>
            </a:r>
            <a:endParaRPr lang="ja-JP" sz="2200" dirty="0"/>
          </a:p>
        </p:txBody>
      </p:sp>
      <p:sp>
        <p:nvSpPr>
          <p:cNvPr id="32" name="Shape 30"/>
          <p:cNvSpPr/>
          <p:nvPr/>
        </p:nvSpPr>
        <p:spPr>
          <a:xfrm>
            <a:off x="502920" y="4581144"/>
            <a:ext cx="11183112" cy="1060704"/>
          </a:xfrm>
          <a:prstGeom prst="roundRect">
            <a:avLst>
              <a:gd name="adj" fmla="val 6897"/>
            </a:avLst>
          </a:prstGeom>
          <a:solidFill>
            <a:srgbClr val="FFFFFF"/>
          </a:solidFill>
          <a:ln w="25400">
            <a:solidFill>
              <a:srgbClr val="00A8AA"/>
            </a:solidFill>
            <a:prstDash val="solid"/>
          </a:ln>
        </p:spPr>
      </p:sp>
      <p:sp>
        <p:nvSpPr>
          <p:cNvPr id="33" name="Text 31"/>
          <p:cNvSpPr txBox="1"/>
          <p:nvPr/>
        </p:nvSpPr>
        <p:spPr>
          <a:xfrm>
            <a:off x="640080" y="4690872"/>
            <a:ext cx="3520440" cy="841248"/>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②〜⑤は毎回</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（EtCO2 は全身麻酔で）</a:t>
            </a:r>
            <a:endParaRPr lang="ja-JP" sz="2200" dirty="0"/>
          </a:p>
        </p:txBody>
      </p:sp>
      <p:sp>
        <p:nvSpPr>
          <p:cNvPr id="34" name="Text 32"/>
          <p:cNvSpPr txBox="1"/>
          <p:nvPr/>
        </p:nvSpPr>
        <p:spPr>
          <a:xfrm>
            <a:off x="4443984" y="4690872"/>
            <a:ext cx="3474720" cy="841248"/>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⑥は筋弛緩薬を使うとき</a:t>
            </a:r>
            <a:endParaRPr lang="ja-JP" sz="2200" dirty="0"/>
          </a:p>
        </p:txBody>
      </p:sp>
      <p:sp>
        <p:nvSpPr>
          <p:cNvPr id="35" name="Text 33"/>
          <p:cNvSpPr txBox="1"/>
          <p:nvPr/>
        </p:nvSpPr>
        <p:spPr>
          <a:xfrm>
            <a:off x="8247888" y="4690872"/>
            <a:ext cx="3300984" cy="841248"/>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⑦は必要に応じて</a:t>
            </a:r>
            <a:endParaRPr lang="ja-JP"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酸素化と換気</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指針</a:t>
            </a:r>
            <a:endParaRPr lang="ja-JP" sz="1100" dirty="0"/>
          </a:p>
        </p:txBody>
      </p:sp>
      <p:sp>
        <p:nvSpPr>
          <p:cNvPr id="5" name="Text 3"/>
          <p:cNvSpPr/>
          <p:nvPr/>
        </p:nvSpPr>
        <p:spPr>
          <a:xfrm>
            <a:off x="9354312"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7項目</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心電図</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血圧</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現場</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3</a:t>
            </a:r>
            <a:endParaRPr lang="ja-JP" sz="1200" dirty="0"/>
          </a:p>
        </p:txBody>
      </p:sp>
      <p:sp>
        <p:nvSpPr>
          <p:cNvPr id="10" name="Text 8"/>
          <p:cNvSpPr txBox="1"/>
          <p:nvPr/>
        </p:nvSpPr>
        <p:spPr>
          <a:xfrm>
            <a:off x="502920" y="6263640"/>
            <a:ext cx="10607040" cy="45720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日本麻酔科学会「安全な麻酔のためのモニター指針」（2025年8月改訂）</a:t>
            </a:r>
            <a:endParaRPr lang="ja-JP" sz="1600" dirty="0"/>
          </a:p>
        </p:txBody>
      </p:sp>
      <p:sp>
        <p:nvSpPr>
          <p:cNvPr id="11" name="Shape 9"/>
          <p:cNvSpPr/>
          <p:nvPr/>
        </p:nvSpPr>
        <p:spPr>
          <a:xfrm>
            <a:off x="502920" y="1783080"/>
            <a:ext cx="5454396" cy="2880360"/>
          </a:xfrm>
          <a:prstGeom prst="roundRect">
            <a:avLst>
              <a:gd name="adj" fmla="val 2540"/>
            </a:avLst>
          </a:prstGeom>
          <a:solidFill>
            <a:srgbClr val="F2F2F2"/>
          </a:solidFill>
          <a:ln/>
        </p:spPr>
      </p:sp>
      <p:sp>
        <p:nvSpPr>
          <p:cNvPr id="12" name="Text 10"/>
          <p:cNvSpPr txBox="1"/>
          <p:nvPr/>
        </p:nvSpPr>
        <p:spPr>
          <a:xfrm>
            <a:off x="640080" y="1920240"/>
            <a:ext cx="5180076" cy="539496"/>
          </a:xfrm>
          <a:prstGeom prst="rect">
            <a:avLst/>
          </a:prstGeom>
          <a:noFill/>
          <a:ln/>
        </p:spPr>
        <p:txBody>
          <a:bodyPr wrap="square" lIns="0" tIns="0" rIns="0" bIns="0" rtlCol="0" anchor="t"/>
          <a:lstStyle/>
          <a:p>
            <a:pPr algn="l" indent="0" marL="0">
              <a:buNone/>
            </a:pPr>
            <a:r>
              <a:rPr lang="ja-JP" altLang="en-US" sz="2800" b="1" dirty="0">
                <a:solidFill>
                  <a:srgbClr val="0072B2"/>
                </a:solidFill>
                <a:latin typeface="メイリオ" pitchFamily="34" charset="0"/>
                <a:ea typeface="メイリオ" pitchFamily="34" charset="-122"/>
                <a:cs typeface="メイリオ" pitchFamily="34" charset="-120"/>
              </a:rPr>
              <a:t>② 酸素化</a:t>
            </a:r>
            <a:endParaRPr lang="ja-JP" sz="2800" dirty="0"/>
          </a:p>
        </p:txBody>
      </p:sp>
      <p:sp>
        <p:nvSpPr>
          <p:cNvPr id="13" name="Text 11"/>
          <p:cNvSpPr txBox="1"/>
          <p:nvPr/>
        </p:nvSpPr>
        <p:spPr>
          <a:xfrm>
            <a:off x="640080" y="2532888"/>
            <a:ext cx="5180076" cy="1993392"/>
          </a:xfrm>
          <a:prstGeom prst="rect">
            <a:avLst/>
          </a:prstGeom>
          <a:noFill/>
          <a:ln/>
        </p:spPr>
        <p:txBody>
          <a:bodyPr wrap="square" lIns="0" tIns="0" rIns="0" bIns="0" rtlCol="0" anchor="t"/>
          <a:lstStyle/>
          <a:p>
            <a:pPr algn="l" indent="0" marL="0">
              <a:spcAft>
                <a:spcPts val="2000"/>
              </a:spcAft>
              <a:buNone/>
            </a:pPr>
            <a:r>
              <a:rPr lang="ja-JP" altLang="en-US" sz="2400" dirty="0">
                <a:solidFill>
                  <a:srgbClr val="262626"/>
                </a:solidFill>
                <a:latin typeface="メイリオ" pitchFamily="34" charset="0"/>
                <a:ea typeface="メイリオ" pitchFamily="34" charset="-122"/>
                <a:cs typeface="メイリオ" pitchFamily="34" charset="-120"/>
              </a:rPr>
              <a:t>皮膚・粘膜・血液の色を看視</a:t>
            </a:r>
            <a:endParaRPr lang="ja-JP" sz="2400" dirty="0"/>
          </a:p>
          <a:p>
            <a:pPr algn="l" indent="0" marL="0">
              <a:spcAft>
                <a:spcPts val="2000"/>
              </a:spcAft>
              <a:buNone/>
            </a:pPr>
            <a:r>
              <a:rPr lang="ja-JP" altLang="en-US" sz="2400" dirty="0">
                <a:solidFill>
                  <a:srgbClr val="262626"/>
                </a:solidFill>
                <a:latin typeface="メイリオ" pitchFamily="34" charset="0"/>
                <a:ea typeface="メイリオ" pitchFamily="34" charset="-122"/>
                <a:cs typeface="メイリオ" pitchFamily="34" charset="-120"/>
              </a:rPr>
              <a:t>パルスオキシメータを装着</a:t>
            </a:r>
            <a:endParaRPr lang="ja-JP" sz="2400" dirty="0"/>
          </a:p>
        </p:txBody>
      </p:sp>
      <p:sp>
        <p:nvSpPr>
          <p:cNvPr id="14" name="Shape 12"/>
          <p:cNvSpPr/>
          <p:nvPr/>
        </p:nvSpPr>
        <p:spPr>
          <a:xfrm>
            <a:off x="6231636" y="1783080"/>
            <a:ext cx="5454396" cy="2880360"/>
          </a:xfrm>
          <a:prstGeom prst="roundRect">
            <a:avLst>
              <a:gd name="adj" fmla="val 2540"/>
            </a:avLst>
          </a:prstGeom>
          <a:solidFill>
            <a:srgbClr val="F2F2F2"/>
          </a:solidFill>
          <a:ln/>
        </p:spPr>
      </p:sp>
      <p:sp>
        <p:nvSpPr>
          <p:cNvPr id="15" name="Text 13"/>
          <p:cNvSpPr txBox="1"/>
          <p:nvPr/>
        </p:nvSpPr>
        <p:spPr>
          <a:xfrm>
            <a:off x="6368796" y="1920240"/>
            <a:ext cx="5180076" cy="539496"/>
          </a:xfrm>
          <a:prstGeom prst="rect">
            <a:avLst/>
          </a:prstGeom>
          <a:noFill/>
          <a:ln/>
        </p:spPr>
        <p:txBody>
          <a:bodyPr wrap="square" lIns="0" tIns="0" rIns="0" bIns="0" rtlCol="0" anchor="t"/>
          <a:lstStyle/>
          <a:p>
            <a:pPr algn="l" indent="0" marL="0">
              <a:buNone/>
            </a:pPr>
            <a:r>
              <a:rPr lang="ja-JP" altLang="en-US" sz="2800" b="1" dirty="0">
                <a:solidFill>
                  <a:srgbClr val="0072B2"/>
                </a:solidFill>
                <a:latin typeface="メイリオ" pitchFamily="34" charset="0"/>
                <a:ea typeface="メイリオ" pitchFamily="34" charset="-122"/>
                <a:cs typeface="メイリオ" pitchFamily="34" charset="-120"/>
              </a:rPr>
              <a:t>③ 換気</a:t>
            </a:r>
            <a:endParaRPr lang="ja-JP" sz="2800" dirty="0"/>
          </a:p>
        </p:txBody>
      </p:sp>
      <p:sp>
        <p:nvSpPr>
          <p:cNvPr id="16" name="Text 14"/>
          <p:cNvSpPr txBox="1"/>
          <p:nvPr/>
        </p:nvSpPr>
        <p:spPr>
          <a:xfrm>
            <a:off x="6368796" y="2532888"/>
            <a:ext cx="5180076" cy="1993392"/>
          </a:xfrm>
          <a:prstGeom prst="rect">
            <a:avLst/>
          </a:prstGeom>
          <a:noFill/>
          <a:ln/>
        </p:spPr>
        <p:txBody>
          <a:bodyPr wrap="square" lIns="0" tIns="0" rIns="0" bIns="0" rtlCol="0" anchor="t"/>
          <a:lstStyle/>
          <a:p>
            <a:pPr algn="l" indent="0" marL="0">
              <a:spcAft>
                <a:spcPts val="2000"/>
              </a:spcAft>
              <a:buNone/>
            </a:pPr>
            <a:r>
              <a:rPr lang="ja-JP" altLang="en-US" sz="2400" dirty="0">
                <a:solidFill>
                  <a:srgbClr val="262626"/>
                </a:solidFill>
                <a:latin typeface="メイリオ" pitchFamily="34" charset="0"/>
                <a:ea typeface="メイリオ" pitchFamily="34" charset="-122"/>
                <a:cs typeface="メイリオ" pitchFamily="34" charset="-120"/>
              </a:rPr>
              <a:t>胸郭・呼吸バッグの動き、呼吸音</a:t>
            </a:r>
            <a:endParaRPr lang="ja-JP" sz="2400" dirty="0"/>
          </a:p>
          <a:p>
            <a:pPr algn="l" indent="0" marL="0">
              <a:spcAft>
                <a:spcPts val="2000"/>
              </a:spcAft>
              <a:buNone/>
            </a:pPr>
            <a:r>
              <a:rPr lang="ja-JP" altLang="en-US" sz="2400" dirty="0">
                <a:solidFill>
                  <a:srgbClr val="262626"/>
                </a:solidFill>
                <a:latin typeface="メイリオ" pitchFamily="34" charset="0"/>
                <a:ea typeface="メイリオ" pitchFamily="34" charset="-122"/>
                <a:cs typeface="メイリオ" pitchFamily="34" charset="-120"/>
              </a:rPr>
              <a:t>全身麻酔ではカプノメータ</a:t>
            </a:r>
            <a:endParaRPr lang="ja-JP" sz="2400" dirty="0"/>
          </a:p>
          <a:p>
            <a:pPr algn="l" indent="0" marL="0">
              <a:spcAft>
                <a:spcPts val="2000"/>
              </a:spcAft>
              <a:buNone/>
            </a:pPr>
            <a:r>
              <a:rPr lang="ja-JP" altLang="en-US" sz="2400" dirty="0">
                <a:solidFill>
                  <a:srgbClr val="262626"/>
                </a:solidFill>
                <a:latin typeface="メイリオ" pitchFamily="34" charset="0"/>
                <a:ea typeface="メイリオ" pitchFamily="34" charset="-122"/>
                <a:cs typeface="メイリオ" pitchFamily="34" charset="-120"/>
              </a:rPr>
              <a:t>換気量モニターは適宜</a:t>
            </a:r>
            <a:endParaRPr lang="ja-JP" sz="2400" dirty="0"/>
          </a:p>
        </p:txBody>
      </p:sp>
      <p:sp>
        <p:nvSpPr>
          <p:cNvPr id="17" name="Text 15"/>
          <p:cNvSpPr txBox="1"/>
          <p:nvPr/>
        </p:nvSpPr>
        <p:spPr>
          <a:xfrm>
            <a:off x="502920" y="5074920"/>
            <a:ext cx="11183112" cy="457200"/>
          </a:xfrm>
          <a:prstGeom prst="rect">
            <a:avLst/>
          </a:prstGeom>
          <a:noFill/>
          <a:ln/>
        </p:spPr>
        <p:txBody>
          <a:bodyPr wrap="square" lIns="0" tIns="0" rIns="0" bIns="0" rtlCol="0" anchor="t"/>
          <a:lstStyle/>
          <a:p>
            <a:pPr algn="ctr" indent="0" marL="0">
              <a:buNone/>
            </a:pPr>
            <a:r>
              <a:rPr lang="ja-JP" altLang="en-US" sz="2400" dirty="0">
                <a:solidFill>
                  <a:srgbClr val="262626"/>
                </a:solidFill>
                <a:latin typeface="メイリオ" pitchFamily="34" charset="0"/>
                <a:ea typeface="メイリオ" pitchFamily="34" charset="-122"/>
                <a:cs typeface="メイリオ" pitchFamily="34" charset="-120"/>
              </a:rPr>
              <a:t>原理と読み方 → 2-4 パルスオキシメータ／2-5 カプノグラフィ</a:t>
            </a:r>
            <a:endParaRPr lang="ja-JP"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循環</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指針</a:t>
            </a:r>
            <a:endParaRPr lang="ja-JP" sz="1100" dirty="0"/>
          </a:p>
        </p:txBody>
      </p:sp>
      <p:sp>
        <p:nvSpPr>
          <p:cNvPr id="5" name="Text 3"/>
          <p:cNvSpPr/>
          <p:nvPr/>
        </p:nvSpPr>
        <p:spPr>
          <a:xfrm>
            <a:off x="9354312"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7項目</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心電図</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血圧</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現場</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4</a:t>
            </a:r>
            <a:endParaRPr lang="ja-JP" sz="1200" dirty="0"/>
          </a:p>
        </p:txBody>
      </p:sp>
      <p:sp>
        <p:nvSpPr>
          <p:cNvPr id="10" name="Text 8"/>
          <p:cNvSpPr txBox="1"/>
          <p:nvPr/>
        </p:nvSpPr>
        <p:spPr>
          <a:xfrm>
            <a:off x="502920" y="6263640"/>
            <a:ext cx="10607040" cy="45720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日本麻酔科学会「安全な麻酔のためのモニター指針」（2025年8月改訂）</a:t>
            </a:r>
            <a:endParaRPr lang="ja-JP" sz="1600" dirty="0"/>
          </a:p>
        </p:txBody>
      </p:sp>
      <p:sp>
        <p:nvSpPr>
          <p:cNvPr id="11" name="Shape 9"/>
          <p:cNvSpPr/>
          <p:nvPr/>
        </p:nvSpPr>
        <p:spPr>
          <a:xfrm>
            <a:off x="502920" y="1783080"/>
            <a:ext cx="3581400" cy="3840480"/>
          </a:xfrm>
          <a:prstGeom prst="roundRect">
            <a:avLst>
              <a:gd name="adj" fmla="val 2043"/>
            </a:avLst>
          </a:prstGeom>
          <a:solidFill>
            <a:srgbClr val="F2F2F2"/>
          </a:solidFill>
          <a:ln/>
        </p:spPr>
      </p:sp>
      <p:sp>
        <p:nvSpPr>
          <p:cNvPr id="12" name="Text 10"/>
          <p:cNvSpPr txBox="1"/>
          <p:nvPr/>
        </p:nvSpPr>
        <p:spPr>
          <a:xfrm>
            <a:off x="612648" y="1947672"/>
            <a:ext cx="3361944" cy="612648"/>
          </a:xfrm>
          <a:prstGeom prst="rect">
            <a:avLst/>
          </a:prstGeom>
          <a:noFill/>
          <a:ln/>
        </p:spPr>
        <p:txBody>
          <a:bodyPr wrap="square" lIns="0" tIns="0" rIns="0" bIns="0" rtlCol="0" anchor="t"/>
          <a:lstStyle/>
          <a:p>
            <a:pPr algn="l" indent="0" marL="0">
              <a:buNone/>
            </a:pPr>
            <a:r>
              <a:rPr lang="ja-JP" altLang="en-US" sz="3200" b="1" dirty="0">
                <a:solidFill>
                  <a:srgbClr val="0072B2"/>
                </a:solidFill>
                <a:latin typeface="メイリオ" pitchFamily="34" charset="0"/>
                <a:ea typeface="メイリオ" pitchFamily="34" charset="-122"/>
                <a:cs typeface="メイリオ" pitchFamily="34" charset="-120"/>
              </a:rPr>
              <a:t>拍動を確かめる</a:t>
            </a:r>
            <a:endParaRPr lang="ja-JP" sz="3200" dirty="0"/>
          </a:p>
        </p:txBody>
      </p:sp>
      <p:sp>
        <p:nvSpPr>
          <p:cNvPr id="13" name="Text 11"/>
          <p:cNvSpPr txBox="1"/>
          <p:nvPr/>
        </p:nvSpPr>
        <p:spPr>
          <a:xfrm>
            <a:off x="612648" y="3023921"/>
            <a:ext cx="3361944" cy="502920"/>
          </a:xfrm>
          <a:prstGeom prst="rect">
            <a:avLst/>
          </a:prstGeom>
          <a:noFill/>
          <a:ln/>
        </p:spPr>
        <p:txBody>
          <a:bodyPr wrap="square" lIns="0" tIns="0" rIns="0" bIns="0" rtlCol="0" anchor="t"/>
          <a:lstStyle/>
          <a:p>
            <a:pPr algn="l" indent="0" marL="0">
              <a:buNone/>
            </a:pPr>
            <a:r>
              <a:rPr lang="ja-JP" altLang="en-US" sz="2600" dirty="0">
                <a:solidFill>
                  <a:srgbClr val="262626"/>
                </a:solidFill>
                <a:latin typeface="メイリオ" pitchFamily="34" charset="0"/>
                <a:ea typeface="メイリオ" pitchFamily="34" charset="-122"/>
                <a:cs typeface="メイリオ" pitchFamily="34" charset="-120"/>
              </a:rPr>
              <a:t>心音・動脈の触診</a:t>
            </a:r>
            <a:endParaRPr lang="ja-JP" sz="2600" dirty="0"/>
          </a:p>
        </p:txBody>
      </p:sp>
      <p:sp>
        <p:nvSpPr>
          <p:cNvPr id="14" name="Text 12"/>
          <p:cNvSpPr txBox="1"/>
          <p:nvPr/>
        </p:nvSpPr>
        <p:spPr>
          <a:xfrm>
            <a:off x="612648" y="3874313"/>
            <a:ext cx="3361944" cy="502920"/>
          </a:xfrm>
          <a:prstGeom prst="rect">
            <a:avLst/>
          </a:prstGeom>
          <a:noFill/>
          <a:ln/>
        </p:spPr>
        <p:txBody>
          <a:bodyPr wrap="square" lIns="0" tIns="0" rIns="0" bIns="0" rtlCol="0" anchor="t"/>
          <a:lstStyle/>
          <a:p>
            <a:pPr algn="l" indent="0" marL="0">
              <a:buNone/>
            </a:pPr>
            <a:r>
              <a:rPr lang="ja-JP" altLang="en-US" sz="2600" dirty="0">
                <a:solidFill>
                  <a:srgbClr val="262626"/>
                </a:solidFill>
                <a:latin typeface="メイリオ" pitchFamily="34" charset="0"/>
                <a:ea typeface="メイリオ" pitchFamily="34" charset="-122"/>
                <a:cs typeface="メイリオ" pitchFamily="34" charset="-120"/>
              </a:rPr>
              <a:t>動脈波形・脈波</a:t>
            </a:r>
            <a:endParaRPr lang="ja-JP" sz="2600" dirty="0"/>
          </a:p>
        </p:txBody>
      </p:sp>
      <p:sp>
        <p:nvSpPr>
          <p:cNvPr id="15" name="Text 13"/>
          <p:cNvSpPr txBox="1"/>
          <p:nvPr/>
        </p:nvSpPr>
        <p:spPr>
          <a:xfrm>
            <a:off x="612648" y="4724705"/>
            <a:ext cx="3361944" cy="502920"/>
          </a:xfrm>
          <a:prstGeom prst="rect">
            <a:avLst/>
          </a:prstGeom>
          <a:noFill/>
          <a:ln/>
        </p:spPr>
        <p:txBody>
          <a:bodyPr wrap="square" lIns="0" tIns="0" rIns="0" bIns="0" rtlCol="0" anchor="t"/>
          <a:lstStyle/>
          <a:p>
            <a:pPr algn="l" indent="0" marL="0">
              <a:buNone/>
            </a:pPr>
            <a:r>
              <a:rPr lang="ja-JP" altLang="en-US" sz="2600" dirty="0">
                <a:solidFill>
                  <a:srgbClr val="262626"/>
                </a:solidFill>
                <a:latin typeface="メイリオ" pitchFamily="34" charset="0"/>
                <a:ea typeface="メイリオ" pitchFamily="34" charset="-122"/>
                <a:cs typeface="メイリオ" pitchFamily="34" charset="-120"/>
              </a:rPr>
              <a:t>いずれか一つを監視</a:t>
            </a:r>
            <a:endParaRPr lang="ja-JP" sz="2600" dirty="0"/>
          </a:p>
        </p:txBody>
      </p:sp>
      <p:sp>
        <p:nvSpPr>
          <p:cNvPr id="16" name="Shape 14"/>
          <p:cNvSpPr/>
          <p:nvPr/>
        </p:nvSpPr>
        <p:spPr>
          <a:xfrm>
            <a:off x="4303776" y="1783080"/>
            <a:ext cx="3581400" cy="3840480"/>
          </a:xfrm>
          <a:prstGeom prst="roundRect">
            <a:avLst>
              <a:gd name="adj" fmla="val 2043"/>
            </a:avLst>
          </a:prstGeom>
          <a:solidFill>
            <a:srgbClr val="F2F2F2"/>
          </a:solidFill>
          <a:ln/>
        </p:spPr>
      </p:sp>
      <p:sp>
        <p:nvSpPr>
          <p:cNvPr id="17" name="Text 15"/>
          <p:cNvSpPr txBox="1"/>
          <p:nvPr/>
        </p:nvSpPr>
        <p:spPr>
          <a:xfrm>
            <a:off x="4413504" y="1947672"/>
            <a:ext cx="3361944" cy="612648"/>
          </a:xfrm>
          <a:prstGeom prst="rect">
            <a:avLst/>
          </a:prstGeom>
          <a:noFill/>
          <a:ln/>
        </p:spPr>
        <p:txBody>
          <a:bodyPr wrap="square" lIns="0" tIns="0" rIns="0" bIns="0" rtlCol="0" anchor="t"/>
          <a:lstStyle/>
          <a:p>
            <a:pPr algn="l" indent="0" marL="0">
              <a:buNone/>
            </a:pPr>
            <a:r>
              <a:rPr lang="ja-JP" altLang="en-US" sz="3200" b="1" dirty="0">
                <a:solidFill>
                  <a:srgbClr val="0072B2"/>
                </a:solidFill>
                <a:latin typeface="メイリオ" pitchFamily="34" charset="0"/>
                <a:ea typeface="メイリオ" pitchFamily="34" charset="-122"/>
                <a:cs typeface="メイリオ" pitchFamily="34" charset="-120"/>
              </a:rPr>
              <a:t>心電図</a:t>
            </a:r>
            <a:endParaRPr lang="ja-JP" sz="3200" dirty="0"/>
          </a:p>
        </p:txBody>
      </p:sp>
      <p:sp>
        <p:nvSpPr>
          <p:cNvPr id="18" name="Text 16"/>
          <p:cNvSpPr txBox="1"/>
          <p:nvPr/>
        </p:nvSpPr>
        <p:spPr>
          <a:xfrm>
            <a:off x="4413504" y="3023921"/>
            <a:ext cx="3361944" cy="996696"/>
          </a:xfrm>
          <a:prstGeom prst="rect">
            <a:avLst/>
          </a:prstGeom>
          <a:noFill/>
          <a:ln/>
        </p:spPr>
        <p:txBody>
          <a:bodyPr wrap="square" lIns="0" tIns="0" rIns="0" bIns="0" rtlCol="0" anchor="t"/>
          <a:lstStyle/>
          <a:p>
            <a:pPr algn="l" indent="0" marL="0">
              <a:buNone/>
            </a:pPr>
            <a:r>
              <a:rPr lang="ja-JP" altLang="en-US" sz="2600" dirty="0">
                <a:solidFill>
                  <a:srgbClr val="262626"/>
                </a:solidFill>
                <a:latin typeface="メイリオ" pitchFamily="34" charset="0"/>
                <a:ea typeface="メイリオ" pitchFamily="34" charset="-122"/>
                <a:cs typeface="メイリオ" pitchFamily="34" charset="-120"/>
              </a:rPr>
              <a:t>心電図モニターを</a:t>
            </a:r>
            <a:endParaRPr lang="ja-JP" sz="2600" dirty="0"/>
          </a:p>
          <a:p>
            <a:pPr algn="l" indent="0" marL="0">
              <a:buNone/>
            </a:pPr>
            <a:r>
              <a:rPr lang="ja-JP" altLang="en-US" sz="2600" dirty="0">
                <a:solidFill>
                  <a:srgbClr val="262626"/>
                </a:solidFill>
                <a:latin typeface="メイリオ" pitchFamily="34" charset="0"/>
                <a:ea typeface="メイリオ" pitchFamily="34" charset="-122"/>
                <a:cs typeface="メイリオ" pitchFamily="34" charset="-120"/>
              </a:rPr>
              <a:t>用いる</a:t>
            </a:r>
            <a:endParaRPr lang="ja-JP" sz="2600" dirty="0"/>
          </a:p>
        </p:txBody>
      </p:sp>
      <p:sp>
        <p:nvSpPr>
          <p:cNvPr id="19" name="Text 17"/>
          <p:cNvSpPr txBox="1"/>
          <p:nvPr/>
        </p:nvSpPr>
        <p:spPr>
          <a:xfrm>
            <a:off x="4413504" y="4368089"/>
            <a:ext cx="3361944" cy="502920"/>
          </a:xfrm>
          <a:prstGeom prst="rect">
            <a:avLst/>
          </a:prstGeom>
          <a:noFill/>
          <a:ln/>
        </p:spPr>
        <p:txBody>
          <a:bodyPr wrap="square" lIns="0" tIns="0" rIns="0" bIns="0" rtlCol="0" anchor="t"/>
          <a:lstStyle/>
          <a:p>
            <a:pPr algn="l" indent="0" marL="0">
              <a:buNone/>
            </a:pPr>
            <a:r>
              <a:rPr lang="ja-JP" altLang="en-US" sz="2600" dirty="0">
                <a:solidFill>
                  <a:srgbClr val="262626"/>
                </a:solidFill>
                <a:latin typeface="メイリオ" pitchFamily="34" charset="0"/>
                <a:ea typeface="メイリオ" pitchFamily="34" charset="-122"/>
                <a:cs typeface="メイリオ" pitchFamily="34" charset="-120"/>
              </a:rPr>
              <a:t>リズムと心拍数</a:t>
            </a:r>
            <a:endParaRPr lang="ja-JP" sz="2600" dirty="0"/>
          </a:p>
        </p:txBody>
      </p:sp>
      <p:sp>
        <p:nvSpPr>
          <p:cNvPr id="20" name="Shape 18"/>
          <p:cNvSpPr/>
          <p:nvPr/>
        </p:nvSpPr>
        <p:spPr>
          <a:xfrm>
            <a:off x="8104632" y="1783080"/>
            <a:ext cx="3581400" cy="3840480"/>
          </a:xfrm>
          <a:prstGeom prst="roundRect">
            <a:avLst>
              <a:gd name="adj" fmla="val 2043"/>
            </a:avLst>
          </a:prstGeom>
          <a:solidFill>
            <a:srgbClr val="F2F2F2"/>
          </a:solidFill>
          <a:ln/>
        </p:spPr>
      </p:sp>
      <p:sp>
        <p:nvSpPr>
          <p:cNvPr id="21" name="Text 19"/>
          <p:cNvSpPr txBox="1"/>
          <p:nvPr/>
        </p:nvSpPr>
        <p:spPr>
          <a:xfrm>
            <a:off x="8214360" y="1947672"/>
            <a:ext cx="3361944" cy="612648"/>
          </a:xfrm>
          <a:prstGeom prst="rect">
            <a:avLst/>
          </a:prstGeom>
          <a:noFill/>
          <a:ln/>
        </p:spPr>
        <p:txBody>
          <a:bodyPr wrap="square" lIns="0" tIns="0" rIns="0" bIns="0" rtlCol="0" anchor="t"/>
          <a:lstStyle/>
          <a:p>
            <a:pPr algn="l" indent="0" marL="0">
              <a:buNone/>
            </a:pPr>
            <a:r>
              <a:rPr lang="ja-JP" altLang="en-US" sz="3200" b="1" dirty="0">
                <a:solidFill>
                  <a:srgbClr val="0072B2"/>
                </a:solidFill>
                <a:latin typeface="メイリオ" pitchFamily="34" charset="0"/>
                <a:ea typeface="メイリオ" pitchFamily="34" charset="-122"/>
                <a:cs typeface="メイリオ" pitchFamily="34" charset="-120"/>
              </a:rPr>
              <a:t>血圧</a:t>
            </a:r>
            <a:endParaRPr lang="ja-JP" sz="3200" dirty="0"/>
          </a:p>
        </p:txBody>
      </p:sp>
      <p:sp>
        <p:nvSpPr>
          <p:cNvPr id="22" name="Text 20"/>
          <p:cNvSpPr txBox="1"/>
          <p:nvPr/>
        </p:nvSpPr>
        <p:spPr>
          <a:xfrm>
            <a:off x="8214360" y="3023921"/>
            <a:ext cx="3361944" cy="502920"/>
          </a:xfrm>
          <a:prstGeom prst="rect">
            <a:avLst/>
          </a:prstGeom>
          <a:noFill/>
          <a:ln/>
        </p:spPr>
        <p:txBody>
          <a:bodyPr wrap="square" lIns="0" tIns="0" rIns="0" bIns="0" rtlCol="0" anchor="t"/>
          <a:lstStyle/>
          <a:p>
            <a:pPr algn="l" indent="0" marL="0">
              <a:buNone/>
            </a:pPr>
            <a:r>
              <a:rPr lang="ja-JP" altLang="en-US" sz="2600" dirty="0">
                <a:solidFill>
                  <a:srgbClr val="262626"/>
                </a:solidFill>
                <a:latin typeface="メイリオ" pitchFamily="34" charset="0"/>
                <a:ea typeface="メイリオ" pitchFamily="34" charset="-122"/>
                <a:cs typeface="メイリオ" pitchFamily="34" charset="-120"/>
              </a:rPr>
              <a:t>原則5分間隔</a:t>
            </a:r>
            <a:endParaRPr lang="ja-JP" sz="2600" dirty="0"/>
          </a:p>
        </p:txBody>
      </p:sp>
      <p:sp>
        <p:nvSpPr>
          <p:cNvPr id="23" name="Text 21"/>
          <p:cNvSpPr txBox="1"/>
          <p:nvPr/>
        </p:nvSpPr>
        <p:spPr>
          <a:xfrm>
            <a:off x="8214360" y="3874313"/>
            <a:ext cx="3361944" cy="502920"/>
          </a:xfrm>
          <a:prstGeom prst="rect">
            <a:avLst/>
          </a:prstGeom>
          <a:noFill/>
          <a:ln/>
        </p:spPr>
        <p:txBody>
          <a:bodyPr wrap="square" lIns="0" tIns="0" rIns="0" bIns="0" rtlCol="0" anchor="t"/>
          <a:lstStyle/>
          <a:p>
            <a:pPr algn="l" indent="0" marL="0">
              <a:buNone/>
            </a:pPr>
            <a:r>
              <a:rPr lang="ja-JP" altLang="en-US" sz="2600" dirty="0">
                <a:solidFill>
                  <a:srgbClr val="262626"/>
                </a:solidFill>
                <a:latin typeface="メイリオ" pitchFamily="34" charset="0"/>
                <a:ea typeface="メイリオ" pitchFamily="34" charset="-122"/>
                <a:cs typeface="メイリオ" pitchFamily="34" charset="-120"/>
              </a:rPr>
              <a:t>必要なら頻回に</a:t>
            </a:r>
            <a:endParaRPr lang="ja-JP" sz="2600" dirty="0"/>
          </a:p>
        </p:txBody>
      </p:sp>
      <p:sp>
        <p:nvSpPr>
          <p:cNvPr id="24" name="Text 22"/>
          <p:cNvSpPr txBox="1"/>
          <p:nvPr/>
        </p:nvSpPr>
        <p:spPr>
          <a:xfrm>
            <a:off x="8214360" y="4724705"/>
            <a:ext cx="3361944" cy="502920"/>
          </a:xfrm>
          <a:prstGeom prst="rect">
            <a:avLst/>
          </a:prstGeom>
          <a:noFill/>
          <a:ln/>
        </p:spPr>
        <p:txBody>
          <a:bodyPr wrap="square" lIns="0" tIns="0" rIns="0" bIns="0" rtlCol="0" anchor="t"/>
          <a:lstStyle/>
          <a:p>
            <a:pPr algn="l" indent="0" marL="0">
              <a:buNone/>
            </a:pPr>
            <a:r>
              <a:rPr lang="ja-JP" altLang="en-US" sz="2600" dirty="0">
                <a:solidFill>
                  <a:srgbClr val="262626"/>
                </a:solidFill>
                <a:latin typeface="メイリオ" pitchFamily="34" charset="0"/>
                <a:ea typeface="メイリオ" pitchFamily="34" charset="-122"/>
                <a:cs typeface="メイリオ" pitchFamily="34" charset="-120"/>
              </a:rPr>
              <a:t>観血式は必要時</a:t>
            </a:r>
            <a:endParaRPr lang="ja-JP" sz="2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体温・筋弛緩・脳波</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指針</a:t>
            </a:r>
            <a:endParaRPr lang="ja-JP" sz="1100" dirty="0"/>
          </a:p>
        </p:txBody>
      </p:sp>
      <p:sp>
        <p:nvSpPr>
          <p:cNvPr id="5" name="Text 3"/>
          <p:cNvSpPr/>
          <p:nvPr/>
        </p:nvSpPr>
        <p:spPr>
          <a:xfrm>
            <a:off x="9354312"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7項目</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心電図</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血圧</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現場</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5</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日本麻酔科学会「安全な麻酔のためのモニター指針」（2025年8月改訂）</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Suzuki T, et al. J Anesth 2026;40:173-181</a:t>
            </a:r>
            <a:endParaRPr lang="ja-JP" sz="1600" dirty="0"/>
          </a:p>
        </p:txBody>
      </p:sp>
      <p:sp>
        <p:nvSpPr>
          <p:cNvPr id="11" name="Shape 9"/>
          <p:cNvSpPr/>
          <p:nvPr/>
        </p:nvSpPr>
        <p:spPr>
          <a:xfrm>
            <a:off x="502920" y="1691640"/>
            <a:ext cx="3099816" cy="2221992"/>
          </a:xfrm>
          <a:prstGeom prst="roundRect">
            <a:avLst>
              <a:gd name="adj" fmla="val 3292"/>
            </a:avLst>
          </a:prstGeom>
          <a:solidFill>
            <a:srgbClr val="F2F2F2"/>
          </a:solidFill>
          <a:ln/>
        </p:spPr>
      </p:sp>
      <p:sp>
        <p:nvSpPr>
          <p:cNvPr id="12" name="Text 10"/>
          <p:cNvSpPr txBox="1"/>
          <p:nvPr/>
        </p:nvSpPr>
        <p:spPr>
          <a:xfrm>
            <a:off x="640080" y="1828800"/>
            <a:ext cx="2825496"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⑤ 体温</a:t>
            </a:r>
            <a:endParaRPr lang="ja-JP" sz="2400" dirty="0"/>
          </a:p>
        </p:txBody>
      </p:sp>
      <p:sp>
        <p:nvSpPr>
          <p:cNvPr id="13" name="Text 11"/>
          <p:cNvSpPr txBox="1"/>
          <p:nvPr/>
        </p:nvSpPr>
        <p:spPr>
          <a:xfrm>
            <a:off x="640080" y="2359152"/>
            <a:ext cx="2825496" cy="1417320"/>
          </a:xfrm>
          <a:prstGeom prst="rect">
            <a:avLst/>
          </a:prstGeom>
          <a:noFill/>
          <a:ln/>
        </p:spPr>
        <p:txBody>
          <a:bodyPr wrap="square" lIns="0" tIns="0" rIns="0" bIns="0" rtlCol="0" anchor="t"/>
          <a:lstStyle/>
          <a:p>
            <a:pPr algn="l" indent="0" marL="0">
              <a:spcAft>
                <a:spcPts val="600"/>
              </a:spcAft>
              <a:buNone/>
            </a:pPr>
            <a:r>
              <a:rPr lang="ja-JP" altLang="en-US" sz="2200" dirty="0">
                <a:solidFill>
                  <a:srgbClr val="262626"/>
                </a:solidFill>
                <a:latin typeface="メイリオ" pitchFamily="34" charset="0"/>
                <a:ea typeface="メイリオ" pitchFamily="34" charset="-122"/>
                <a:cs typeface="メイリオ" pitchFamily="34" charset="-120"/>
              </a:rPr>
              <a:t>体温測定を行う</a:t>
            </a:r>
            <a:endParaRPr lang="ja-JP" sz="2200" dirty="0"/>
          </a:p>
        </p:txBody>
      </p:sp>
      <p:sp>
        <p:nvSpPr>
          <p:cNvPr id="14" name="Shape 12"/>
          <p:cNvSpPr/>
          <p:nvPr/>
        </p:nvSpPr>
        <p:spPr>
          <a:xfrm>
            <a:off x="4151376" y="1691640"/>
            <a:ext cx="3886200" cy="2221992"/>
          </a:xfrm>
          <a:prstGeom prst="roundRect">
            <a:avLst>
              <a:gd name="adj" fmla="val 3292"/>
            </a:avLst>
          </a:prstGeom>
          <a:solidFill>
            <a:srgbClr val="FFFFFF"/>
          </a:solidFill>
          <a:ln w="38100">
            <a:solidFill>
              <a:srgbClr val="00A8AA"/>
            </a:solidFill>
            <a:prstDash val="solid"/>
          </a:ln>
        </p:spPr>
      </p:sp>
      <p:sp>
        <p:nvSpPr>
          <p:cNvPr id="15" name="Text 13"/>
          <p:cNvSpPr txBox="1"/>
          <p:nvPr/>
        </p:nvSpPr>
        <p:spPr>
          <a:xfrm>
            <a:off x="4288536" y="1828800"/>
            <a:ext cx="3611880" cy="457200"/>
          </a:xfrm>
          <a:prstGeom prst="rect">
            <a:avLst/>
          </a:prstGeom>
          <a:noFill/>
          <a:ln/>
        </p:spPr>
        <p:txBody>
          <a:bodyPr wrap="square" lIns="0" tIns="0" rIns="0" bIns="0" rtlCol="0" anchor="t"/>
          <a:lstStyle/>
          <a:p>
            <a:pPr algn="l" indent="0" marL="0">
              <a:buNone/>
            </a:pPr>
            <a:r>
              <a:rPr lang="ja-JP" altLang="en-US" sz="2400" b="1" dirty="0">
                <a:solidFill>
                  <a:srgbClr val="00A8AA"/>
                </a:solidFill>
                <a:latin typeface="メイリオ" pitchFamily="34" charset="0"/>
                <a:ea typeface="メイリオ" pitchFamily="34" charset="-122"/>
                <a:cs typeface="メイリオ" pitchFamily="34" charset="-120"/>
              </a:rPr>
              <a:t>⑥ 筋弛緩</a:t>
            </a:r>
            <a:endParaRPr lang="ja-JP" sz="2400" dirty="0"/>
          </a:p>
        </p:txBody>
      </p:sp>
      <p:sp>
        <p:nvSpPr>
          <p:cNvPr id="16" name="Text 14"/>
          <p:cNvSpPr txBox="1"/>
          <p:nvPr/>
        </p:nvSpPr>
        <p:spPr>
          <a:xfrm>
            <a:off x="4288536" y="2359152"/>
            <a:ext cx="3611880" cy="1417320"/>
          </a:xfrm>
          <a:prstGeom prst="rect">
            <a:avLst/>
          </a:prstGeom>
          <a:noFill/>
          <a:ln/>
        </p:spPr>
        <p:txBody>
          <a:bodyPr wrap="square" lIns="0" tIns="0" rIns="0" bIns="0" rtlCol="0" anchor="t"/>
          <a:lstStyle/>
          <a:p>
            <a:pPr algn="l" indent="0" marL="0">
              <a:spcAft>
                <a:spcPts val="600"/>
              </a:spcAft>
              <a:buNone/>
            </a:pPr>
            <a:r>
              <a:rPr lang="ja-JP" altLang="en-US" sz="2200" dirty="0">
                <a:solidFill>
                  <a:srgbClr val="262626"/>
                </a:solidFill>
                <a:latin typeface="メイリオ" pitchFamily="34" charset="0"/>
                <a:ea typeface="メイリオ" pitchFamily="34" charset="-122"/>
                <a:cs typeface="メイリオ" pitchFamily="34" charset="-120"/>
              </a:rPr>
              <a:t>筋弛緩薬を使うとき</a:t>
            </a:r>
            <a:endParaRPr lang="ja-JP" sz="2200" dirty="0"/>
          </a:p>
          <a:p>
            <a:pPr algn="l" indent="0" marL="0">
              <a:spcAft>
                <a:spcPts val="600"/>
              </a:spcAft>
              <a:buNone/>
            </a:pPr>
            <a:r>
              <a:rPr lang="ja-JP" altLang="en-US" sz="2200" dirty="0">
                <a:solidFill>
                  <a:srgbClr val="262626"/>
                </a:solidFill>
                <a:latin typeface="メイリオ" pitchFamily="34" charset="0"/>
                <a:ea typeface="メイリオ" pitchFamily="34" charset="-122"/>
                <a:cs typeface="メイリオ" pitchFamily="34" charset="-120"/>
              </a:rPr>
              <a:t>深さを定量的に評価</a:t>
            </a:r>
            <a:endParaRPr lang="ja-JP" sz="2200" dirty="0"/>
          </a:p>
          <a:p>
            <a:pPr algn="l" indent="0" marL="0">
              <a:spcAft>
                <a:spcPts val="600"/>
              </a:spcAft>
              <a:buNone/>
            </a:pPr>
            <a:r>
              <a:rPr lang="ja-JP" altLang="en-US" sz="2200" dirty="0">
                <a:solidFill>
                  <a:srgbClr val="262626"/>
                </a:solidFill>
                <a:latin typeface="メイリオ" pitchFamily="34" charset="0"/>
                <a:ea typeface="メイリオ" pitchFamily="34" charset="-122"/>
                <a:cs typeface="メイリオ" pitchFamily="34" charset="-120"/>
              </a:rPr>
              <a:t>抜管前に </a:t>
            </a:r>
            <a:r>
              <a:rPr lang="ja-JP" altLang="en-US" sz="2200" b="1" dirty="0">
                <a:solidFill>
                  <a:srgbClr val="262626"/>
                </a:solidFill>
                <a:latin typeface="メイリオ" pitchFamily="34" charset="0"/>
                <a:ea typeface="メイリオ" pitchFamily="34" charset="-122"/>
                <a:cs typeface="メイリオ" pitchFamily="34" charset="-120"/>
              </a:rPr>
              <a:t>TOF比 0.9 以上</a:t>
            </a:r>
            <a:endParaRPr lang="ja-JP" sz="2200" dirty="0"/>
          </a:p>
        </p:txBody>
      </p:sp>
      <p:sp>
        <p:nvSpPr>
          <p:cNvPr id="17" name="Shape 15"/>
          <p:cNvSpPr/>
          <p:nvPr/>
        </p:nvSpPr>
        <p:spPr>
          <a:xfrm>
            <a:off x="8586216" y="1691640"/>
            <a:ext cx="3099816" cy="2221992"/>
          </a:xfrm>
          <a:prstGeom prst="roundRect">
            <a:avLst>
              <a:gd name="adj" fmla="val 3292"/>
            </a:avLst>
          </a:prstGeom>
          <a:solidFill>
            <a:srgbClr val="F2F2F2"/>
          </a:solidFill>
          <a:ln/>
        </p:spPr>
      </p:sp>
      <p:sp>
        <p:nvSpPr>
          <p:cNvPr id="18" name="Text 16"/>
          <p:cNvSpPr txBox="1"/>
          <p:nvPr/>
        </p:nvSpPr>
        <p:spPr>
          <a:xfrm>
            <a:off x="8723376" y="1828800"/>
            <a:ext cx="2825496"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⑦ 脳波</a:t>
            </a:r>
            <a:endParaRPr lang="ja-JP" sz="2400" dirty="0"/>
          </a:p>
        </p:txBody>
      </p:sp>
      <p:sp>
        <p:nvSpPr>
          <p:cNvPr id="19" name="Text 17"/>
          <p:cNvSpPr txBox="1"/>
          <p:nvPr/>
        </p:nvSpPr>
        <p:spPr>
          <a:xfrm>
            <a:off x="8723376" y="2359152"/>
            <a:ext cx="2825496" cy="1417320"/>
          </a:xfrm>
          <a:prstGeom prst="rect">
            <a:avLst/>
          </a:prstGeom>
          <a:noFill/>
          <a:ln/>
        </p:spPr>
        <p:txBody>
          <a:bodyPr wrap="square" lIns="0" tIns="0" rIns="0" bIns="0" rtlCol="0" anchor="t"/>
          <a:lstStyle/>
          <a:p>
            <a:pPr algn="l" indent="0" marL="0">
              <a:spcAft>
                <a:spcPts val="600"/>
              </a:spcAft>
              <a:buNone/>
            </a:pPr>
            <a:r>
              <a:rPr lang="ja-JP" altLang="en-US" sz="2200" dirty="0">
                <a:solidFill>
                  <a:srgbClr val="262626"/>
                </a:solidFill>
                <a:latin typeface="メイリオ" pitchFamily="34" charset="0"/>
                <a:ea typeface="メイリオ" pitchFamily="34" charset="-122"/>
                <a:cs typeface="メイリオ" pitchFamily="34" charset="-120"/>
              </a:rPr>
              <a:t>必要に応じて装着</a:t>
            </a:r>
            <a:endParaRPr lang="ja-JP" sz="2200" dirty="0"/>
          </a:p>
        </p:txBody>
      </p:sp>
      <p:sp>
        <p:nvSpPr>
          <p:cNvPr id="20" name="Text 18"/>
          <p:cNvSpPr/>
          <p:nvPr/>
        </p:nvSpPr>
        <p:spPr>
          <a:xfrm>
            <a:off x="502920" y="4206240"/>
            <a:ext cx="3099816" cy="1371600"/>
          </a:xfrm>
          <a:prstGeom prst="roundRect">
            <a:avLst>
              <a:gd name="adj" fmla="val 5333"/>
            </a:avLst>
          </a:prstGeom>
          <a:solidFill>
            <a:srgbClr val="F2F2F2"/>
          </a:solidFill>
          <a:ln/>
        </p:spPr>
        <p:txBody>
          <a:bodyPr wrap="square" lIns="73152" tIns="73152" rIns="73152" bIns="73152" rtlCol="0" anchor="ctr"/>
          <a:lstStyle/>
          <a:p>
            <a:pPr algn="ctr" indent="0" marL="0">
              <a:buNone/>
            </a:pPr>
            <a:r>
              <a:rPr lang="ja-JP" altLang="en-US" sz="2200" b="1" dirty="0">
                <a:solidFill>
                  <a:srgbClr val="7F7F7F"/>
                </a:solidFill>
                <a:latin typeface="メイリオ" pitchFamily="34" charset="0"/>
                <a:ea typeface="メイリオ" pitchFamily="34" charset="-122"/>
                <a:cs typeface="メイリオ" pitchFamily="34" charset="-120"/>
              </a:rPr>
              <a:t>2014</a:t>
            </a:r>
            <a:endParaRPr lang="ja-JP" sz="2200" dirty="0"/>
          </a:p>
          <a:p>
            <a:pPr algn="ctr" indent="0" marL="0">
              <a:buNone/>
            </a:pPr>
            <a:r>
              <a:rPr lang="ja-JP" altLang="en-US" sz="2200" dirty="0">
                <a:solidFill>
                  <a:srgbClr val="262626"/>
                </a:solidFill>
                <a:latin typeface="メイリオ" pitchFamily="34" charset="0"/>
                <a:ea typeface="メイリオ" pitchFamily="34" charset="-122"/>
                <a:cs typeface="メイリオ" pitchFamily="34" charset="-120"/>
              </a:rPr>
              <a:t>必要に応じて</a:t>
            </a:r>
            <a:endParaRPr lang="ja-JP" sz="2200" dirty="0"/>
          </a:p>
        </p:txBody>
      </p:sp>
      <p:sp>
        <p:nvSpPr>
          <p:cNvPr id="21" name="Shape 19"/>
          <p:cNvSpPr/>
          <p:nvPr/>
        </p:nvSpPr>
        <p:spPr>
          <a:xfrm>
            <a:off x="3694176" y="4892040"/>
            <a:ext cx="365760" cy="0"/>
          </a:xfrm>
          <a:prstGeom prst="line">
            <a:avLst/>
          </a:prstGeom>
          <a:noFill/>
          <a:ln w="38100">
            <a:solidFill>
              <a:srgbClr val="404040"/>
            </a:solidFill>
            <a:prstDash val="solid"/>
            <a:tailEnd type="triangle"/>
          </a:ln>
        </p:spPr>
      </p:sp>
      <p:sp>
        <p:nvSpPr>
          <p:cNvPr id="22" name="Text 20"/>
          <p:cNvSpPr/>
          <p:nvPr/>
        </p:nvSpPr>
        <p:spPr>
          <a:xfrm>
            <a:off x="4151376" y="4206240"/>
            <a:ext cx="3886200" cy="1371600"/>
          </a:xfrm>
          <a:prstGeom prst="roundRect">
            <a:avLst>
              <a:gd name="adj" fmla="val 5333"/>
            </a:avLst>
          </a:prstGeom>
          <a:solidFill>
            <a:srgbClr val="F2F2F2"/>
          </a:solidFill>
          <a:ln/>
        </p:spPr>
        <p:txBody>
          <a:bodyPr wrap="square" lIns="73152" tIns="73152" rIns="73152" bIns="73152" rtlCol="0" anchor="ctr"/>
          <a:lstStyle/>
          <a:p>
            <a:pPr algn="ctr" indent="0" marL="0">
              <a:buNone/>
            </a:pPr>
            <a:r>
              <a:rPr lang="ja-JP" altLang="en-US" sz="2200" b="1" dirty="0">
                <a:solidFill>
                  <a:srgbClr val="0072B2"/>
                </a:solidFill>
                <a:latin typeface="メイリオ" pitchFamily="34" charset="0"/>
                <a:ea typeface="メイリオ" pitchFamily="34" charset="-122"/>
                <a:cs typeface="メイリオ" pitchFamily="34" charset="-120"/>
              </a:rPr>
              <a:t>2019</a:t>
            </a:r>
            <a:endParaRPr lang="ja-JP" sz="2200" dirty="0"/>
          </a:p>
          <a:p>
            <a:pPr algn="ctr" indent="0" marL="0">
              <a:buNone/>
            </a:pPr>
            <a:r>
              <a:rPr lang="ja-JP" altLang="en-US" sz="2200" dirty="0">
                <a:solidFill>
                  <a:srgbClr val="262626"/>
                </a:solidFill>
                <a:latin typeface="メイリオ" pitchFamily="34" charset="0"/>
                <a:ea typeface="メイリオ" pitchFamily="34" charset="-122"/>
                <a:cs typeface="メイリオ" pitchFamily="34" charset="-120"/>
              </a:rPr>
              <a:t>使う際はモニタリング</a:t>
            </a:r>
            <a:endParaRPr lang="ja-JP" sz="2200" dirty="0"/>
          </a:p>
        </p:txBody>
      </p:sp>
      <p:sp>
        <p:nvSpPr>
          <p:cNvPr id="23" name="Shape 21"/>
          <p:cNvSpPr/>
          <p:nvPr/>
        </p:nvSpPr>
        <p:spPr>
          <a:xfrm>
            <a:off x="8129016" y="4892040"/>
            <a:ext cx="365760" cy="0"/>
          </a:xfrm>
          <a:prstGeom prst="line">
            <a:avLst/>
          </a:prstGeom>
          <a:noFill/>
          <a:ln w="38100">
            <a:solidFill>
              <a:srgbClr val="404040"/>
            </a:solidFill>
            <a:prstDash val="solid"/>
            <a:tailEnd type="triangle"/>
          </a:ln>
        </p:spPr>
      </p:sp>
      <p:sp>
        <p:nvSpPr>
          <p:cNvPr id="24" name="Text 22"/>
          <p:cNvSpPr/>
          <p:nvPr/>
        </p:nvSpPr>
        <p:spPr>
          <a:xfrm>
            <a:off x="8586216" y="4206240"/>
            <a:ext cx="3099816" cy="1371600"/>
          </a:xfrm>
          <a:prstGeom prst="roundRect">
            <a:avLst>
              <a:gd name="adj" fmla="val 5333"/>
            </a:avLst>
          </a:prstGeom>
          <a:solidFill>
            <a:srgbClr val="FFFFFF"/>
          </a:solidFill>
          <a:ln w="38100">
            <a:solidFill>
              <a:srgbClr val="00A8AA"/>
            </a:solidFill>
          </a:ln>
        </p:spPr>
        <p:txBody>
          <a:bodyPr wrap="square" lIns="73152" tIns="73152" rIns="73152" bIns="73152" rtlCol="0" anchor="ctr"/>
          <a:lstStyle/>
          <a:p>
            <a:pPr algn="ctr" indent="0" marL="0">
              <a:buNone/>
            </a:pPr>
            <a:r>
              <a:rPr lang="ja-JP" altLang="en-US" sz="2200" b="1" dirty="0">
                <a:solidFill>
                  <a:srgbClr val="00A8AA"/>
                </a:solidFill>
                <a:latin typeface="メイリオ" pitchFamily="34" charset="0"/>
                <a:ea typeface="メイリオ" pitchFamily="34" charset="-122"/>
                <a:cs typeface="メイリオ" pitchFamily="34" charset="-120"/>
              </a:rPr>
              <a:t>2025</a:t>
            </a:r>
            <a:endParaRPr lang="ja-JP" sz="2200" dirty="0"/>
          </a:p>
          <a:p>
            <a:pPr algn="ctr" indent="0" marL="0">
              <a:buNone/>
            </a:pPr>
            <a:r>
              <a:rPr lang="ja-JP" altLang="en-US" sz="2200" dirty="0">
                <a:solidFill>
                  <a:srgbClr val="262626"/>
                </a:solidFill>
                <a:latin typeface="メイリオ" pitchFamily="34" charset="0"/>
                <a:ea typeface="メイリオ" pitchFamily="34" charset="-122"/>
                <a:cs typeface="メイリオ" pitchFamily="34" charset="-120"/>
              </a:rPr>
              <a:t>定量評価・抜管前</a:t>
            </a:r>
            <a:endParaRPr lang="ja-JP" sz="2200" dirty="0"/>
          </a:p>
          <a:p>
            <a:pPr algn="ctr" indent="0" marL="0">
              <a:buNone/>
            </a:pPr>
            <a:r>
              <a:rPr lang="ja-JP" altLang="en-US" sz="2200" dirty="0">
                <a:solidFill>
                  <a:srgbClr val="262626"/>
                </a:solidFill>
                <a:latin typeface="メイリオ" pitchFamily="34" charset="0"/>
                <a:ea typeface="メイリオ" pitchFamily="34" charset="-122"/>
                <a:cs typeface="メイリオ" pitchFamily="34" charset="-120"/>
              </a:rPr>
              <a:t>TOF比 0.9 以上</a:t>
            </a:r>
            <a:endParaRPr lang="ja-JP"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心電図：何を見るか</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指針</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7項目</a:t>
            </a:r>
            <a:endParaRPr lang="ja-JP" sz="1100" dirty="0"/>
          </a:p>
        </p:txBody>
      </p:sp>
      <p:sp>
        <p:nvSpPr>
          <p:cNvPr id="6" name="Text 4"/>
          <p:cNvSpPr/>
          <p:nvPr/>
        </p:nvSpPr>
        <p:spPr>
          <a:xfrm>
            <a:off x="10030968"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心電図</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血圧</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現場</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6</a:t>
            </a:r>
            <a:endParaRPr lang="ja-JP" sz="1200" dirty="0"/>
          </a:p>
        </p:txBody>
      </p:sp>
      <p:sp>
        <p:nvSpPr>
          <p:cNvPr id="10" name="Text 8"/>
          <p:cNvSpPr txBox="1"/>
          <p:nvPr/>
        </p:nvSpPr>
        <p:spPr>
          <a:xfrm>
            <a:off x="502920" y="6263640"/>
            <a:ext cx="10607040" cy="45720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日本麻酔科学会「安全な麻酔のためのモニター指針」（2025年8月改訂）</a:t>
            </a:r>
            <a:endParaRPr lang="ja-JP" sz="1600" dirty="0"/>
          </a:p>
        </p:txBody>
      </p:sp>
      <p:sp>
        <p:nvSpPr>
          <p:cNvPr id="11" name="Shape 9"/>
          <p:cNvSpPr/>
          <p:nvPr/>
        </p:nvSpPr>
        <p:spPr>
          <a:xfrm>
            <a:off x="502920" y="1783080"/>
            <a:ext cx="1920240" cy="3246120"/>
          </a:xfrm>
          <a:prstGeom prst="roundRect">
            <a:avLst>
              <a:gd name="adj" fmla="val 19048"/>
            </a:avLst>
          </a:prstGeom>
          <a:solidFill>
            <a:srgbClr val="F2F2F2"/>
          </a:solidFill>
          <a:ln w="19050">
            <a:solidFill>
              <a:srgbClr val="7F7F7F"/>
            </a:solidFill>
            <a:prstDash val="solid"/>
          </a:ln>
        </p:spPr>
      </p:sp>
      <p:sp>
        <p:nvSpPr>
          <p:cNvPr id="12" name="Text 10"/>
          <p:cNvSpPr/>
          <p:nvPr/>
        </p:nvSpPr>
        <p:spPr>
          <a:xfrm>
            <a:off x="749808" y="2075688"/>
            <a:ext cx="420624" cy="420624"/>
          </a:xfrm>
          <a:prstGeom prst="ellipse">
            <a:avLst/>
          </a:prstGeom>
          <a:solidFill>
            <a:srgbClr val="C00000"/>
          </a:solidFill>
          <a:ln/>
        </p:spPr>
        <p:txBody>
          <a:bodyPr wrap="square" lIns="18288" tIns="18288" rIns="18288" bIns="18288" rtlCol="0" anchor="ctr"/>
          <a:lstStyle/>
          <a:p>
            <a:pPr algn="ctr" indent="0" marL="0">
              <a:buNone/>
            </a:pPr>
            <a:r>
              <a:rPr lang="ja-JP" altLang="en-US" sz="2200" b="1" dirty="0">
                <a:solidFill>
                  <a:srgbClr val="FFFFFF"/>
                </a:solidFill>
                <a:latin typeface="メイリオ" pitchFamily="34" charset="0"/>
                <a:ea typeface="メイリオ" pitchFamily="34" charset="-122"/>
                <a:cs typeface="メイリオ" pitchFamily="34" charset="-120"/>
              </a:rPr>
              <a:t>R</a:t>
            </a:r>
            <a:endParaRPr lang="ja-JP" sz="2200" dirty="0"/>
          </a:p>
        </p:txBody>
      </p:sp>
      <p:sp>
        <p:nvSpPr>
          <p:cNvPr id="13" name="Text 11"/>
          <p:cNvSpPr/>
          <p:nvPr/>
        </p:nvSpPr>
        <p:spPr>
          <a:xfrm>
            <a:off x="1755648" y="2075688"/>
            <a:ext cx="420624" cy="420624"/>
          </a:xfrm>
          <a:prstGeom prst="ellipse">
            <a:avLst/>
          </a:prstGeom>
          <a:solidFill>
            <a:srgbClr val="F0E442"/>
          </a:solidFill>
          <a:ln w="12700">
            <a:solidFill>
              <a:srgbClr val="404040"/>
            </a:solidFill>
          </a:ln>
        </p:spPr>
        <p:txBody>
          <a:bodyPr wrap="square" lIns="18288" tIns="18288" rIns="18288" bIns="18288" rtlCol="0" anchor="ctr"/>
          <a:lstStyle/>
          <a:p>
            <a:pPr algn="ctr" indent="0" marL="0">
              <a:buNone/>
            </a:pPr>
            <a:r>
              <a:rPr lang="ja-JP" altLang="en-US" sz="2200" b="1" dirty="0">
                <a:solidFill>
                  <a:srgbClr val="262626"/>
                </a:solidFill>
                <a:latin typeface="メイリオ" pitchFamily="34" charset="0"/>
                <a:ea typeface="メイリオ" pitchFamily="34" charset="-122"/>
                <a:cs typeface="メイリオ" pitchFamily="34" charset="-120"/>
              </a:rPr>
              <a:t>L</a:t>
            </a:r>
            <a:endParaRPr lang="ja-JP" sz="2200" dirty="0"/>
          </a:p>
        </p:txBody>
      </p:sp>
      <p:sp>
        <p:nvSpPr>
          <p:cNvPr id="14" name="Text 12"/>
          <p:cNvSpPr/>
          <p:nvPr/>
        </p:nvSpPr>
        <p:spPr>
          <a:xfrm>
            <a:off x="749808" y="4315968"/>
            <a:ext cx="420624" cy="420624"/>
          </a:xfrm>
          <a:prstGeom prst="ellipse">
            <a:avLst/>
          </a:prstGeom>
          <a:solidFill>
            <a:srgbClr val="262626"/>
          </a:solidFill>
          <a:ln/>
        </p:spPr>
        <p:txBody>
          <a:bodyPr wrap="square" lIns="18288" tIns="18288" rIns="18288" bIns="18288" rtlCol="0" anchor="ctr"/>
          <a:lstStyle/>
          <a:p>
            <a:pPr algn="ctr" indent="0" marL="0">
              <a:buNone/>
            </a:pPr>
            <a:r>
              <a:rPr lang="ja-JP" altLang="en-US" sz="2200" b="1" dirty="0">
                <a:solidFill>
                  <a:srgbClr val="FFFFFF"/>
                </a:solidFill>
                <a:latin typeface="メイリオ" pitchFamily="34" charset="0"/>
                <a:ea typeface="メイリオ" pitchFamily="34" charset="-122"/>
                <a:cs typeface="メイリオ" pitchFamily="34" charset="-120"/>
              </a:rPr>
              <a:t>N</a:t>
            </a:r>
            <a:endParaRPr lang="ja-JP" sz="2200" dirty="0"/>
          </a:p>
        </p:txBody>
      </p:sp>
      <p:sp>
        <p:nvSpPr>
          <p:cNvPr id="15" name="Text 13"/>
          <p:cNvSpPr/>
          <p:nvPr/>
        </p:nvSpPr>
        <p:spPr>
          <a:xfrm>
            <a:off x="1755648" y="4315968"/>
            <a:ext cx="420624" cy="420624"/>
          </a:xfrm>
          <a:prstGeom prst="ellipse">
            <a:avLst/>
          </a:prstGeom>
          <a:solidFill>
            <a:srgbClr val="009E73"/>
          </a:solidFill>
          <a:ln/>
        </p:spPr>
        <p:txBody>
          <a:bodyPr wrap="square" lIns="18288" tIns="18288" rIns="18288" bIns="18288" rtlCol="0" anchor="ctr"/>
          <a:lstStyle/>
          <a:p>
            <a:pPr algn="ctr" indent="0" marL="0">
              <a:buNone/>
            </a:pPr>
            <a:r>
              <a:rPr lang="ja-JP" altLang="en-US" sz="2200" b="1" dirty="0">
                <a:solidFill>
                  <a:srgbClr val="FFFFFF"/>
                </a:solidFill>
                <a:latin typeface="メイリオ" pitchFamily="34" charset="0"/>
                <a:ea typeface="メイリオ" pitchFamily="34" charset="-122"/>
                <a:cs typeface="メイリオ" pitchFamily="34" charset="-120"/>
              </a:rPr>
              <a:t>F</a:t>
            </a:r>
            <a:endParaRPr lang="ja-JP" sz="2200" dirty="0"/>
          </a:p>
        </p:txBody>
      </p:sp>
      <p:sp>
        <p:nvSpPr>
          <p:cNvPr id="16" name="Text 14"/>
          <p:cNvSpPr/>
          <p:nvPr/>
        </p:nvSpPr>
        <p:spPr>
          <a:xfrm>
            <a:off x="1883664" y="3035808"/>
            <a:ext cx="420624" cy="420624"/>
          </a:xfrm>
          <a:prstGeom prst="ellipse">
            <a:avLst/>
          </a:prstGeom>
          <a:solidFill>
            <a:srgbClr val="FFFFFF"/>
          </a:solidFill>
          <a:ln w="19050">
            <a:solidFill>
              <a:srgbClr val="404040"/>
            </a:solidFill>
          </a:ln>
        </p:spPr>
        <p:txBody>
          <a:bodyPr wrap="square" lIns="18288" tIns="18288" rIns="18288" bIns="18288" rtlCol="0" anchor="ctr"/>
          <a:lstStyle/>
          <a:p>
            <a:pPr algn="ctr" indent="0" marL="0">
              <a:buNone/>
            </a:pPr>
            <a:r>
              <a:rPr lang="ja-JP" altLang="en-US" sz="2200" b="1" dirty="0">
                <a:solidFill>
                  <a:srgbClr val="262626"/>
                </a:solidFill>
                <a:latin typeface="メイリオ" pitchFamily="34" charset="0"/>
                <a:ea typeface="メイリオ" pitchFamily="34" charset="-122"/>
                <a:cs typeface="メイリオ" pitchFamily="34" charset="-120"/>
              </a:rPr>
              <a:t>C</a:t>
            </a:r>
            <a:endParaRPr lang="ja-JP" sz="2200" dirty="0"/>
          </a:p>
        </p:txBody>
      </p:sp>
      <p:sp>
        <p:nvSpPr>
          <p:cNvPr id="17" name="Shape 15"/>
          <p:cNvSpPr/>
          <p:nvPr/>
        </p:nvSpPr>
        <p:spPr>
          <a:xfrm>
            <a:off x="2651760" y="1865376"/>
            <a:ext cx="256032" cy="256032"/>
          </a:xfrm>
          <a:prstGeom prst="ellipse">
            <a:avLst/>
          </a:prstGeom>
          <a:solidFill>
            <a:srgbClr val="C00000"/>
          </a:solidFill>
          <a:ln/>
        </p:spPr>
      </p:sp>
      <p:sp>
        <p:nvSpPr>
          <p:cNvPr id="18" name="Text 16"/>
          <p:cNvSpPr txBox="1"/>
          <p:nvPr/>
        </p:nvSpPr>
        <p:spPr>
          <a:xfrm>
            <a:off x="3035808" y="1783080"/>
            <a:ext cx="1901952" cy="420624"/>
          </a:xfrm>
          <a:prstGeom prst="rect">
            <a:avLst/>
          </a:prstGeom>
          <a:noFill/>
          <a:ln/>
        </p:spPr>
        <p:txBody>
          <a:bodyPr wrap="square" lIns="0" tIns="0" rIns="0" bIns="0" rtlCol="0" anchor="ct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赤 R（右上）</a:t>
            </a:r>
            <a:endParaRPr lang="ja-JP" sz="2200" dirty="0"/>
          </a:p>
        </p:txBody>
      </p:sp>
      <p:sp>
        <p:nvSpPr>
          <p:cNvPr id="19" name="Shape 17"/>
          <p:cNvSpPr/>
          <p:nvPr/>
        </p:nvSpPr>
        <p:spPr>
          <a:xfrm>
            <a:off x="2651760" y="2571750"/>
            <a:ext cx="256032" cy="256032"/>
          </a:xfrm>
          <a:prstGeom prst="ellipse">
            <a:avLst/>
          </a:prstGeom>
          <a:solidFill>
            <a:srgbClr val="F0E442"/>
          </a:solidFill>
          <a:ln w="12700">
            <a:solidFill>
              <a:srgbClr val="404040"/>
            </a:solidFill>
            <a:prstDash val="solid"/>
          </a:ln>
        </p:spPr>
      </p:sp>
      <p:sp>
        <p:nvSpPr>
          <p:cNvPr id="20" name="Text 18"/>
          <p:cNvSpPr txBox="1"/>
          <p:nvPr/>
        </p:nvSpPr>
        <p:spPr>
          <a:xfrm>
            <a:off x="3035808" y="2489454"/>
            <a:ext cx="1901952" cy="420624"/>
          </a:xfrm>
          <a:prstGeom prst="rect">
            <a:avLst/>
          </a:prstGeom>
          <a:noFill/>
          <a:ln/>
        </p:spPr>
        <p:txBody>
          <a:bodyPr wrap="square" lIns="0" tIns="0" rIns="0" bIns="0" rtlCol="0" anchor="ct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黄 L（左上）</a:t>
            </a:r>
            <a:endParaRPr lang="ja-JP" sz="2200" dirty="0"/>
          </a:p>
        </p:txBody>
      </p:sp>
      <p:sp>
        <p:nvSpPr>
          <p:cNvPr id="21" name="Shape 19"/>
          <p:cNvSpPr/>
          <p:nvPr/>
        </p:nvSpPr>
        <p:spPr>
          <a:xfrm>
            <a:off x="2651760" y="3278124"/>
            <a:ext cx="256032" cy="256032"/>
          </a:xfrm>
          <a:prstGeom prst="ellipse">
            <a:avLst/>
          </a:prstGeom>
          <a:solidFill>
            <a:srgbClr val="262626"/>
          </a:solidFill>
          <a:ln/>
        </p:spPr>
      </p:sp>
      <p:sp>
        <p:nvSpPr>
          <p:cNvPr id="22" name="Text 20"/>
          <p:cNvSpPr txBox="1"/>
          <p:nvPr/>
        </p:nvSpPr>
        <p:spPr>
          <a:xfrm>
            <a:off x="3035808" y="3195828"/>
            <a:ext cx="1901952" cy="420624"/>
          </a:xfrm>
          <a:prstGeom prst="rect">
            <a:avLst/>
          </a:prstGeom>
          <a:noFill/>
          <a:ln/>
        </p:spPr>
        <p:txBody>
          <a:bodyPr wrap="square" lIns="0" tIns="0" rIns="0" bIns="0" rtlCol="0" anchor="ct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黒 N（右下）</a:t>
            </a:r>
            <a:endParaRPr lang="ja-JP" sz="2200" dirty="0"/>
          </a:p>
        </p:txBody>
      </p:sp>
      <p:sp>
        <p:nvSpPr>
          <p:cNvPr id="23" name="Shape 21"/>
          <p:cNvSpPr/>
          <p:nvPr/>
        </p:nvSpPr>
        <p:spPr>
          <a:xfrm>
            <a:off x="2651760" y="3984498"/>
            <a:ext cx="256032" cy="256032"/>
          </a:xfrm>
          <a:prstGeom prst="ellipse">
            <a:avLst/>
          </a:prstGeom>
          <a:solidFill>
            <a:srgbClr val="009E73"/>
          </a:solidFill>
          <a:ln/>
        </p:spPr>
      </p:sp>
      <p:sp>
        <p:nvSpPr>
          <p:cNvPr id="24" name="Text 22"/>
          <p:cNvSpPr txBox="1"/>
          <p:nvPr/>
        </p:nvSpPr>
        <p:spPr>
          <a:xfrm>
            <a:off x="3035808" y="3902202"/>
            <a:ext cx="1901952" cy="420624"/>
          </a:xfrm>
          <a:prstGeom prst="rect">
            <a:avLst/>
          </a:prstGeom>
          <a:noFill/>
          <a:ln/>
        </p:spPr>
        <p:txBody>
          <a:bodyPr wrap="square" lIns="0" tIns="0" rIns="0" bIns="0" rtlCol="0" anchor="ct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緑 F（左下）</a:t>
            </a:r>
            <a:endParaRPr lang="ja-JP" sz="2200" dirty="0"/>
          </a:p>
        </p:txBody>
      </p:sp>
      <p:sp>
        <p:nvSpPr>
          <p:cNvPr id="25" name="Shape 23"/>
          <p:cNvSpPr/>
          <p:nvPr/>
        </p:nvSpPr>
        <p:spPr>
          <a:xfrm>
            <a:off x="2651760" y="4690872"/>
            <a:ext cx="256032" cy="256032"/>
          </a:xfrm>
          <a:prstGeom prst="ellipse">
            <a:avLst/>
          </a:prstGeom>
          <a:solidFill>
            <a:srgbClr val="FFFFFF"/>
          </a:solidFill>
          <a:ln w="19050">
            <a:solidFill>
              <a:srgbClr val="404040"/>
            </a:solidFill>
            <a:prstDash val="solid"/>
          </a:ln>
        </p:spPr>
      </p:sp>
      <p:sp>
        <p:nvSpPr>
          <p:cNvPr id="26" name="Text 24"/>
          <p:cNvSpPr txBox="1"/>
          <p:nvPr/>
        </p:nvSpPr>
        <p:spPr>
          <a:xfrm>
            <a:off x="3035808" y="4608576"/>
            <a:ext cx="1901952" cy="420624"/>
          </a:xfrm>
          <a:prstGeom prst="rect">
            <a:avLst/>
          </a:prstGeom>
          <a:noFill/>
          <a:ln/>
        </p:spPr>
        <p:txBody>
          <a:bodyPr wrap="square" lIns="0" tIns="0" rIns="0" bIns="0" rtlCol="0" anchor="ct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白 C（V5）</a:t>
            </a:r>
            <a:endParaRPr lang="ja-JP" sz="2200" dirty="0"/>
          </a:p>
        </p:txBody>
      </p:sp>
      <p:sp>
        <p:nvSpPr>
          <p:cNvPr id="27" name="Text 25"/>
          <p:cNvSpPr txBox="1"/>
          <p:nvPr/>
        </p:nvSpPr>
        <p:spPr>
          <a:xfrm>
            <a:off x="502920" y="5303520"/>
            <a:ext cx="4480560"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色は IEC 方式。記号で確認</a:t>
            </a:r>
            <a:endParaRPr lang="ja-JP" sz="2200" dirty="0"/>
          </a:p>
        </p:txBody>
      </p:sp>
      <p:sp>
        <p:nvSpPr>
          <p:cNvPr id="28" name="Shape 26"/>
          <p:cNvSpPr/>
          <p:nvPr/>
        </p:nvSpPr>
        <p:spPr>
          <a:xfrm>
            <a:off x="5212080" y="1691640"/>
            <a:ext cx="6473952" cy="1097280"/>
          </a:xfrm>
          <a:prstGeom prst="roundRect">
            <a:avLst>
              <a:gd name="adj" fmla="val 6667"/>
            </a:avLst>
          </a:prstGeom>
          <a:solidFill>
            <a:srgbClr val="F2F2F2"/>
          </a:solidFill>
          <a:ln/>
        </p:spPr>
      </p:sp>
      <p:sp>
        <p:nvSpPr>
          <p:cNvPr id="29" name="Text 27"/>
          <p:cNvSpPr txBox="1"/>
          <p:nvPr/>
        </p:nvSpPr>
        <p:spPr>
          <a:xfrm>
            <a:off x="5349240" y="1801368"/>
            <a:ext cx="1389888" cy="877824"/>
          </a:xfrm>
          <a:prstGeom prst="rect">
            <a:avLst/>
          </a:prstGeom>
          <a:noFill/>
          <a:ln/>
        </p:spPr>
        <p:txBody>
          <a:bodyPr wrap="square" lIns="0" tIns="0" rIns="0" bIns="0" rtlCol="0" anchor="ctr"/>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誘導</a:t>
            </a:r>
            <a:endParaRPr lang="ja-JP" sz="2400" dirty="0"/>
          </a:p>
        </p:txBody>
      </p:sp>
      <p:sp>
        <p:nvSpPr>
          <p:cNvPr id="30" name="Text 28"/>
          <p:cNvSpPr txBox="1"/>
          <p:nvPr/>
        </p:nvSpPr>
        <p:spPr>
          <a:xfrm>
            <a:off x="6903720" y="1801368"/>
            <a:ext cx="4645152" cy="877824"/>
          </a:xfrm>
          <a:prstGeom prst="rect">
            <a:avLst/>
          </a:prstGeom>
          <a:noFill/>
          <a:ln/>
        </p:spPr>
        <p:txBody>
          <a:bodyPr wrap="square" lIns="0" tIns="0" rIns="0" bIns="0" rtlCol="0" anchor="ct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II：リズム・P波</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V5：虚血（ST）</a:t>
            </a:r>
            <a:endParaRPr lang="ja-JP" sz="2200" dirty="0"/>
          </a:p>
        </p:txBody>
      </p:sp>
      <p:sp>
        <p:nvSpPr>
          <p:cNvPr id="31" name="Shape 29"/>
          <p:cNvSpPr/>
          <p:nvPr/>
        </p:nvSpPr>
        <p:spPr>
          <a:xfrm>
            <a:off x="5212080" y="3008376"/>
            <a:ext cx="6473952" cy="1563624"/>
          </a:xfrm>
          <a:prstGeom prst="roundRect">
            <a:avLst>
              <a:gd name="adj" fmla="val 4678"/>
            </a:avLst>
          </a:prstGeom>
          <a:solidFill>
            <a:srgbClr val="F2F2F2"/>
          </a:solidFill>
          <a:ln/>
        </p:spPr>
      </p:sp>
      <p:sp>
        <p:nvSpPr>
          <p:cNvPr id="32" name="Text 30"/>
          <p:cNvSpPr txBox="1"/>
          <p:nvPr/>
        </p:nvSpPr>
        <p:spPr>
          <a:xfrm>
            <a:off x="5349240" y="3118104"/>
            <a:ext cx="1389888" cy="1344168"/>
          </a:xfrm>
          <a:prstGeom prst="rect">
            <a:avLst/>
          </a:prstGeom>
          <a:noFill/>
          <a:ln/>
        </p:spPr>
        <p:txBody>
          <a:bodyPr wrap="square" lIns="0" tIns="0" rIns="0" bIns="0" rtlCol="0" anchor="ctr"/>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見るもの</a:t>
            </a:r>
            <a:endParaRPr lang="ja-JP" sz="2400" dirty="0"/>
          </a:p>
        </p:txBody>
      </p:sp>
      <p:sp>
        <p:nvSpPr>
          <p:cNvPr id="33" name="Text 31"/>
          <p:cNvSpPr txBox="1"/>
          <p:nvPr/>
        </p:nvSpPr>
        <p:spPr>
          <a:xfrm>
            <a:off x="6903720" y="3118104"/>
            <a:ext cx="4645152" cy="1344168"/>
          </a:xfrm>
          <a:prstGeom prst="rect">
            <a:avLst/>
          </a:prstGeom>
          <a:noFill/>
          <a:ln/>
        </p:spPr>
        <p:txBody>
          <a:bodyPr wrap="square" lIns="0" tIns="0" rIns="0" bIns="0" rtlCol="0" anchor="ct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心拍数</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リズム</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ST の変化</a:t>
            </a:r>
            <a:endParaRPr lang="ja-JP" sz="2200" dirty="0"/>
          </a:p>
        </p:txBody>
      </p:sp>
      <p:sp>
        <p:nvSpPr>
          <p:cNvPr id="34" name="Shape 32"/>
          <p:cNvSpPr/>
          <p:nvPr/>
        </p:nvSpPr>
        <p:spPr>
          <a:xfrm>
            <a:off x="5212080" y="4791456"/>
            <a:ext cx="6473952" cy="1097280"/>
          </a:xfrm>
          <a:prstGeom prst="roundRect">
            <a:avLst>
              <a:gd name="adj" fmla="val 6667"/>
            </a:avLst>
          </a:prstGeom>
          <a:solidFill>
            <a:srgbClr val="F2F2F2"/>
          </a:solidFill>
          <a:ln/>
        </p:spPr>
      </p:sp>
      <p:sp>
        <p:nvSpPr>
          <p:cNvPr id="35" name="Text 33"/>
          <p:cNvSpPr txBox="1"/>
          <p:nvPr/>
        </p:nvSpPr>
        <p:spPr>
          <a:xfrm>
            <a:off x="5349240" y="4901184"/>
            <a:ext cx="1389888" cy="877824"/>
          </a:xfrm>
          <a:prstGeom prst="rect">
            <a:avLst/>
          </a:prstGeom>
          <a:noFill/>
          <a:ln/>
        </p:spPr>
        <p:txBody>
          <a:bodyPr wrap="square" lIns="0" tIns="0" rIns="0" bIns="0" rtlCol="0" anchor="ctr"/>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落とし穴</a:t>
            </a:r>
            <a:endParaRPr lang="ja-JP" sz="2400" dirty="0"/>
          </a:p>
        </p:txBody>
      </p:sp>
      <p:sp>
        <p:nvSpPr>
          <p:cNvPr id="36" name="Text 34"/>
          <p:cNvSpPr txBox="1"/>
          <p:nvPr/>
        </p:nvSpPr>
        <p:spPr>
          <a:xfrm>
            <a:off x="6903720" y="4901184"/>
            <a:ext cx="4645152" cy="877824"/>
          </a:xfrm>
          <a:prstGeom prst="rect">
            <a:avLst/>
          </a:prstGeom>
          <a:noFill/>
          <a:ln/>
        </p:spPr>
        <p:txBody>
          <a:bodyPr wrap="square" lIns="0" tIns="0" rIns="0" bIns="0" rtlCol="0" anchor="ct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電気メスのノイズ</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波形があっても脈がない（PEA）</a:t>
            </a:r>
            <a:endParaRPr lang="ja-JP"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非観血的血圧の原理</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指針</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7項目</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心電図</a:t>
            </a:r>
            <a:endParaRPr lang="ja-JP" sz="1100" dirty="0"/>
          </a:p>
        </p:txBody>
      </p:sp>
      <p:sp>
        <p:nvSpPr>
          <p:cNvPr id="7" name="Text 5"/>
          <p:cNvSpPr/>
          <p:nvPr/>
        </p:nvSpPr>
        <p:spPr>
          <a:xfrm>
            <a:off x="10707624"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血圧</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現場</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7</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Wax DB, et al. Invasive and concomitant noninvasive intraoperative</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blood pressure monitoring. Anesthesiology 2011;115:973-978</a:t>
            </a:r>
            <a:endParaRPr lang="ja-JP" sz="1600" dirty="0"/>
          </a:p>
        </p:txBody>
      </p:sp>
      <p:sp>
        <p:nvSpPr>
          <p:cNvPr id="11" name="Text 9"/>
          <p:cNvSpPr txBox="1"/>
          <p:nvPr/>
        </p:nvSpPr>
        <p:spPr>
          <a:xfrm>
            <a:off x="502920" y="1691640"/>
            <a:ext cx="1188720" cy="420624"/>
          </a:xfrm>
          <a:prstGeom prst="rect">
            <a:avLst/>
          </a:prstGeom>
          <a:noFill/>
          <a:ln/>
        </p:spPr>
        <p:txBody>
          <a:bodyPr wrap="square" lIns="0" tIns="0" rIns="0" bIns="0" rtlCol="0" anchor="t"/>
          <a:lstStyle/>
          <a:p>
            <a:pPr algn="l" indent="0" marL="0">
              <a:buNone/>
            </a:pPr>
            <a:r>
              <a:rPr lang="ja-JP" altLang="en-US" sz="2200" dirty="0">
                <a:solidFill>
                  <a:srgbClr val="404040"/>
                </a:solidFill>
                <a:latin typeface="メイリオ" pitchFamily="34" charset="0"/>
                <a:ea typeface="メイリオ" pitchFamily="34" charset="-122"/>
                <a:cs typeface="メイリオ" pitchFamily="34" charset="-120"/>
              </a:rPr>
              <a:t>カフ圧</a:t>
            </a:r>
            <a:endParaRPr lang="ja-JP" sz="2200" dirty="0"/>
          </a:p>
        </p:txBody>
      </p:sp>
      <p:sp>
        <p:nvSpPr>
          <p:cNvPr id="12" name="Shape 10"/>
          <p:cNvSpPr/>
          <p:nvPr/>
        </p:nvSpPr>
        <p:spPr>
          <a:xfrm flipV="1">
            <a:off x="777240" y="2148840"/>
            <a:ext cx="0" cy="1874520"/>
          </a:xfrm>
          <a:prstGeom prst="line">
            <a:avLst/>
          </a:prstGeom>
          <a:noFill/>
          <a:ln w="25400">
            <a:solidFill>
              <a:srgbClr val="404040"/>
            </a:solidFill>
            <a:prstDash val="solid"/>
            <a:tailEnd type="triangle"/>
          </a:ln>
        </p:spPr>
      </p:sp>
      <p:sp>
        <p:nvSpPr>
          <p:cNvPr id="13" name="Shape 11"/>
          <p:cNvSpPr/>
          <p:nvPr/>
        </p:nvSpPr>
        <p:spPr>
          <a:xfrm>
            <a:off x="777240" y="4023360"/>
            <a:ext cx="4343400" cy="0"/>
          </a:xfrm>
          <a:prstGeom prst="line">
            <a:avLst/>
          </a:prstGeom>
          <a:noFill/>
          <a:ln w="25400">
            <a:solidFill>
              <a:srgbClr val="404040"/>
            </a:solidFill>
            <a:prstDash val="solid"/>
            <a:tailEnd type="triangle"/>
          </a:ln>
        </p:spPr>
      </p:sp>
      <p:sp>
        <p:nvSpPr>
          <p:cNvPr id="14" name="Text 12"/>
          <p:cNvSpPr txBox="1"/>
          <p:nvPr/>
        </p:nvSpPr>
        <p:spPr>
          <a:xfrm>
            <a:off x="4434840" y="4114800"/>
            <a:ext cx="685800" cy="420624"/>
          </a:xfrm>
          <a:prstGeom prst="rect">
            <a:avLst/>
          </a:prstGeom>
          <a:noFill/>
          <a:ln/>
        </p:spPr>
        <p:txBody>
          <a:bodyPr wrap="square" lIns="0" tIns="0" rIns="0" bIns="0" rtlCol="0" anchor="t"/>
          <a:lstStyle/>
          <a:p>
            <a:pPr algn="r" indent="0" marL="0">
              <a:buNone/>
            </a:pPr>
            <a:r>
              <a:rPr lang="ja-JP" altLang="en-US" sz="2200" dirty="0">
                <a:solidFill>
                  <a:srgbClr val="404040"/>
                </a:solidFill>
                <a:latin typeface="メイリオ" pitchFamily="34" charset="0"/>
                <a:ea typeface="メイリオ" pitchFamily="34" charset="-122"/>
                <a:cs typeface="メイリオ" pitchFamily="34" charset="-120"/>
              </a:rPr>
              <a:t>時間</a:t>
            </a:r>
            <a:endParaRPr lang="ja-JP" sz="2200" dirty="0"/>
          </a:p>
        </p:txBody>
      </p:sp>
      <p:sp>
        <p:nvSpPr>
          <p:cNvPr id="15" name="Shape 13"/>
          <p:cNvSpPr/>
          <p:nvPr/>
        </p:nvSpPr>
        <p:spPr>
          <a:xfrm>
            <a:off x="960120" y="2376431"/>
            <a:ext cx="3931920" cy="1326720"/>
          </a:xfrm>
          <a:custGeom>
            <a:avLst/>
            <a:gdLst/>
            <a:ahLst/>
            <a:cxnLst/>
            <a:rect l="l" t="t" r="r" b="b"/>
            <a:pathLst>
              <a:path w="3931920" h="1326720">
                <a:moveTo>
                  <a:pt x="0" y="0"/>
                </a:moveTo>
                <a:lnTo>
                  <a:pt x="65837" y="21946"/>
                </a:lnTo>
                <a:lnTo>
                  <a:pt x="130759" y="42977"/>
                </a:lnTo>
                <a:lnTo>
                  <a:pt x="196596" y="64008"/>
                </a:lnTo>
                <a:lnTo>
                  <a:pt x="262433" y="85039"/>
                </a:lnTo>
                <a:lnTo>
                  <a:pt x="327355" y="105156"/>
                </a:lnTo>
                <a:lnTo>
                  <a:pt x="393192" y="125273"/>
                </a:lnTo>
                <a:lnTo>
                  <a:pt x="459029" y="144475"/>
                </a:lnTo>
                <a:lnTo>
                  <a:pt x="523951" y="162763"/>
                </a:lnTo>
                <a:lnTo>
                  <a:pt x="589788" y="180137"/>
                </a:lnTo>
                <a:lnTo>
                  <a:pt x="655625" y="195682"/>
                </a:lnTo>
                <a:lnTo>
                  <a:pt x="720547" y="210312"/>
                </a:lnTo>
                <a:lnTo>
                  <a:pt x="786384" y="224028"/>
                </a:lnTo>
                <a:lnTo>
                  <a:pt x="852221" y="235915"/>
                </a:lnTo>
                <a:lnTo>
                  <a:pt x="917143" y="245974"/>
                </a:lnTo>
                <a:lnTo>
                  <a:pt x="982980" y="254203"/>
                </a:lnTo>
                <a:lnTo>
                  <a:pt x="1048817" y="261518"/>
                </a:lnTo>
                <a:lnTo>
                  <a:pt x="1113739" y="267005"/>
                </a:lnTo>
                <a:lnTo>
                  <a:pt x="1179576" y="271577"/>
                </a:lnTo>
                <a:lnTo>
                  <a:pt x="1245413" y="275234"/>
                </a:lnTo>
                <a:lnTo>
                  <a:pt x="1310335" y="278892"/>
                </a:lnTo>
                <a:lnTo>
                  <a:pt x="1376172" y="282550"/>
                </a:lnTo>
                <a:lnTo>
                  <a:pt x="1442009" y="287122"/>
                </a:lnTo>
                <a:lnTo>
                  <a:pt x="1506931" y="293522"/>
                </a:lnTo>
                <a:lnTo>
                  <a:pt x="1572768" y="301752"/>
                </a:lnTo>
                <a:lnTo>
                  <a:pt x="1638605" y="312725"/>
                </a:lnTo>
                <a:lnTo>
                  <a:pt x="1703527" y="326441"/>
                </a:lnTo>
                <a:lnTo>
                  <a:pt x="1769364" y="342900"/>
                </a:lnTo>
                <a:lnTo>
                  <a:pt x="1835201" y="363931"/>
                </a:lnTo>
                <a:lnTo>
                  <a:pt x="1900123" y="387706"/>
                </a:lnTo>
                <a:lnTo>
                  <a:pt x="1965960" y="416052"/>
                </a:lnTo>
                <a:lnTo>
                  <a:pt x="2031797" y="447142"/>
                </a:lnTo>
                <a:lnTo>
                  <a:pt x="2096719" y="480974"/>
                </a:lnTo>
                <a:lnTo>
                  <a:pt x="2162556" y="517550"/>
                </a:lnTo>
                <a:lnTo>
                  <a:pt x="2228393" y="555955"/>
                </a:lnTo>
                <a:lnTo>
                  <a:pt x="2293315" y="595274"/>
                </a:lnTo>
                <a:lnTo>
                  <a:pt x="2359152" y="635508"/>
                </a:lnTo>
                <a:lnTo>
                  <a:pt x="2424989" y="676656"/>
                </a:lnTo>
                <a:lnTo>
                  <a:pt x="2489911" y="716890"/>
                </a:lnTo>
                <a:lnTo>
                  <a:pt x="2555748" y="756209"/>
                </a:lnTo>
                <a:lnTo>
                  <a:pt x="2621585" y="794614"/>
                </a:lnTo>
                <a:lnTo>
                  <a:pt x="2686507" y="831190"/>
                </a:lnTo>
                <a:lnTo>
                  <a:pt x="2752344" y="866851"/>
                </a:lnTo>
                <a:lnTo>
                  <a:pt x="2818181" y="900684"/>
                </a:lnTo>
                <a:lnTo>
                  <a:pt x="2883103" y="932688"/>
                </a:lnTo>
                <a:lnTo>
                  <a:pt x="2948940" y="963778"/>
                </a:lnTo>
                <a:lnTo>
                  <a:pt x="3014777" y="992124"/>
                </a:lnTo>
                <a:lnTo>
                  <a:pt x="3079699" y="1020470"/>
                </a:lnTo>
                <a:lnTo>
                  <a:pt x="3145536" y="1046988"/>
                </a:lnTo>
                <a:lnTo>
                  <a:pt x="3211373" y="1072591"/>
                </a:lnTo>
                <a:lnTo>
                  <a:pt x="3276295" y="1098194"/>
                </a:lnTo>
                <a:lnTo>
                  <a:pt x="3342132" y="1121969"/>
                </a:lnTo>
                <a:lnTo>
                  <a:pt x="3407969" y="1145743"/>
                </a:lnTo>
                <a:lnTo>
                  <a:pt x="3472891" y="1169518"/>
                </a:lnTo>
                <a:lnTo>
                  <a:pt x="3538728" y="1192378"/>
                </a:lnTo>
                <a:lnTo>
                  <a:pt x="3604565" y="1215238"/>
                </a:lnTo>
                <a:lnTo>
                  <a:pt x="3669487" y="1237183"/>
                </a:lnTo>
                <a:lnTo>
                  <a:pt x="3735324" y="1260043"/>
                </a:lnTo>
                <a:lnTo>
                  <a:pt x="3801161" y="1281989"/>
                </a:lnTo>
                <a:lnTo>
                  <a:pt x="3866083" y="1304849"/>
                </a:lnTo>
                <a:lnTo>
                  <a:pt x="3931920" y="1326794"/>
                </a:lnTo>
              </a:path>
            </a:pathLst>
          </a:custGeom>
          <a:noFill/>
          <a:ln w="15875">
            <a:solidFill>
              <a:srgbClr val="7F7F7F"/>
            </a:solidFill>
            <a:prstDash val="dash"/>
          </a:ln>
        </p:spPr>
      </p:sp>
      <p:sp>
        <p:nvSpPr>
          <p:cNvPr id="16" name="Shape 14"/>
          <p:cNvSpPr/>
          <p:nvPr/>
        </p:nvSpPr>
        <p:spPr>
          <a:xfrm>
            <a:off x="960120" y="2378449"/>
            <a:ext cx="3931920" cy="1325040"/>
          </a:xfrm>
          <a:custGeom>
            <a:avLst/>
            <a:gdLst/>
            <a:ahLst/>
            <a:cxnLst/>
            <a:rect l="l" t="t" r="r" b="b"/>
            <a:pathLst>
              <a:path w="3931920" h="1325040">
                <a:moveTo>
                  <a:pt x="0" y="0"/>
                </a:moveTo>
                <a:lnTo>
                  <a:pt x="65837" y="22860"/>
                </a:lnTo>
                <a:lnTo>
                  <a:pt x="130759" y="45720"/>
                </a:lnTo>
                <a:lnTo>
                  <a:pt x="196596" y="68580"/>
                </a:lnTo>
                <a:lnTo>
                  <a:pt x="262433" y="91440"/>
                </a:lnTo>
                <a:lnTo>
                  <a:pt x="327355" y="115214"/>
                </a:lnTo>
                <a:lnTo>
                  <a:pt x="393192" y="139903"/>
                </a:lnTo>
                <a:lnTo>
                  <a:pt x="459029" y="165506"/>
                </a:lnTo>
                <a:lnTo>
                  <a:pt x="523951" y="191110"/>
                </a:lnTo>
                <a:lnTo>
                  <a:pt x="589788" y="217627"/>
                </a:lnTo>
                <a:lnTo>
                  <a:pt x="655625" y="245974"/>
                </a:lnTo>
                <a:lnTo>
                  <a:pt x="720547" y="275234"/>
                </a:lnTo>
                <a:lnTo>
                  <a:pt x="786384" y="306324"/>
                </a:lnTo>
                <a:lnTo>
                  <a:pt x="852221" y="339242"/>
                </a:lnTo>
                <a:lnTo>
                  <a:pt x="917143" y="373075"/>
                </a:lnTo>
                <a:lnTo>
                  <a:pt x="982980" y="408737"/>
                </a:lnTo>
                <a:lnTo>
                  <a:pt x="1048817" y="446227"/>
                </a:lnTo>
                <a:lnTo>
                  <a:pt x="1113739" y="484632"/>
                </a:lnTo>
                <a:lnTo>
                  <a:pt x="1179576" y="523951"/>
                </a:lnTo>
                <a:lnTo>
                  <a:pt x="1245413" y="564185"/>
                </a:lnTo>
                <a:lnTo>
                  <a:pt x="1310335" y="605333"/>
                </a:lnTo>
                <a:lnTo>
                  <a:pt x="1376172" y="645566"/>
                </a:lnTo>
                <a:lnTo>
                  <a:pt x="1442009" y="684886"/>
                </a:lnTo>
                <a:lnTo>
                  <a:pt x="1506931" y="723290"/>
                </a:lnTo>
                <a:lnTo>
                  <a:pt x="1572768" y="758952"/>
                </a:lnTo>
                <a:lnTo>
                  <a:pt x="1638605" y="792785"/>
                </a:lnTo>
                <a:lnTo>
                  <a:pt x="1703527" y="822960"/>
                </a:lnTo>
                <a:lnTo>
                  <a:pt x="1769364" y="850392"/>
                </a:lnTo>
                <a:lnTo>
                  <a:pt x="1835201" y="874166"/>
                </a:lnTo>
                <a:lnTo>
                  <a:pt x="1900123" y="893369"/>
                </a:lnTo>
                <a:lnTo>
                  <a:pt x="1965960" y="909828"/>
                </a:lnTo>
                <a:lnTo>
                  <a:pt x="2031797" y="923544"/>
                </a:lnTo>
                <a:lnTo>
                  <a:pt x="2096719" y="933602"/>
                </a:lnTo>
                <a:lnTo>
                  <a:pt x="2162556" y="940918"/>
                </a:lnTo>
                <a:lnTo>
                  <a:pt x="2228393" y="947318"/>
                </a:lnTo>
                <a:lnTo>
                  <a:pt x="2293315" y="951890"/>
                </a:lnTo>
                <a:lnTo>
                  <a:pt x="2359152" y="955548"/>
                </a:lnTo>
                <a:lnTo>
                  <a:pt x="2424989" y="959206"/>
                </a:lnTo>
                <a:lnTo>
                  <a:pt x="2489911" y="962863"/>
                </a:lnTo>
                <a:lnTo>
                  <a:pt x="2555748" y="967435"/>
                </a:lnTo>
                <a:lnTo>
                  <a:pt x="2621585" y="973836"/>
                </a:lnTo>
                <a:lnTo>
                  <a:pt x="2686507" y="981151"/>
                </a:lnTo>
                <a:lnTo>
                  <a:pt x="2752344" y="989381"/>
                </a:lnTo>
                <a:lnTo>
                  <a:pt x="2818181" y="1000354"/>
                </a:lnTo>
                <a:lnTo>
                  <a:pt x="2883103" y="1012241"/>
                </a:lnTo>
                <a:lnTo>
                  <a:pt x="2948940" y="1025042"/>
                </a:lnTo>
                <a:lnTo>
                  <a:pt x="3014777" y="1040587"/>
                </a:lnTo>
                <a:lnTo>
                  <a:pt x="3079699" y="1057046"/>
                </a:lnTo>
                <a:lnTo>
                  <a:pt x="3145536" y="1074420"/>
                </a:lnTo>
                <a:lnTo>
                  <a:pt x="3211373" y="1092708"/>
                </a:lnTo>
                <a:lnTo>
                  <a:pt x="3276295" y="1111910"/>
                </a:lnTo>
                <a:lnTo>
                  <a:pt x="3342132" y="1132027"/>
                </a:lnTo>
                <a:lnTo>
                  <a:pt x="3407969" y="1152144"/>
                </a:lnTo>
                <a:lnTo>
                  <a:pt x="3472891" y="1173175"/>
                </a:lnTo>
                <a:lnTo>
                  <a:pt x="3538728" y="1194206"/>
                </a:lnTo>
                <a:lnTo>
                  <a:pt x="3604565" y="1216152"/>
                </a:lnTo>
                <a:lnTo>
                  <a:pt x="3669487" y="1237183"/>
                </a:lnTo>
                <a:lnTo>
                  <a:pt x="3735324" y="1259129"/>
                </a:lnTo>
                <a:lnTo>
                  <a:pt x="3801161" y="1281074"/>
                </a:lnTo>
                <a:lnTo>
                  <a:pt x="3866083" y="1303020"/>
                </a:lnTo>
                <a:lnTo>
                  <a:pt x="3931920" y="1324966"/>
                </a:lnTo>
              </a:path>
            </a:pathLst>
          </a:custGeom>
          <a:noFill/>
          <a:ln w="15875">
            <a:solidFill>
              <a:srgbClr val="7F7F7F"/>
            </a:solidFill>
            <a:prstDash val="dash"/>
          </a:ln>
        </p:spPr>
      </p:sp>
      <p:sp>
        <p:nvSpPr>
          <p:cNvPr id="17" name="Shape 15"/>
          <p:cNvSpPr/>
          <p:nvPr/>
        </p:nvSpPr>
        <p:spPr>
          <a:xfrm>
            <a:off x="960120" y="2377440"/>
            <a:ext cx="3931920" cy="1325965"/>
          </a:xfrm>
          <a:custGeom>
            <a:avLst/>
            <a:gdLst/>
            <a:ahLst/>
            <a:cxnLst/>
            <a:rect l="l" t="t" r="r" b="b"/>
            <a:pathLst>
              <a:path w="3931920" h="1325965">
                <a:moveTo>
                  <a:pt x="0" y="0"/>
                </a:moveTo>
                <a:lnTo>
                  <a:pt x="13716" y="4572"/>
                </a:lnTo>
                <a:lnTo>
                  <a:pt x="27432" y="8230"/>
                </a:lnTo>
                <a:lnTo>
                  <a:pt x="41148" y="12802"/>
                </a:lnTo>
                <a:lnTo>
                  <a:pt x="54864" y="17374"/>
                </a:lnTo>
                <a:lnTo>
                  <a:pt x="68580" y="21946"/>
                </a:lnTo>
                <a:lnTo>
                  <a:pt x="82296" y="26518"/>
                </a:lnTo>
                <a:lnTo>
                  <a:pt x="96012" y="32004"/>
                </a:lnTo>
                <a:lnTo>
                  <a:pt x="109728" y="36576"/>
                </a:lnTo>
                <a:lnTo>
                  <a:pt x="123444" y="42062"/>
                </a:lnTo>
                <a:lnTo>
                  <a:pt x="137160" y="47549"/>
                </a:lnTo>
                <a:lnTo>
                  <a:pt x="150876" y="53035"/>
                </a:lnTo>
                <a:lnTo>
                  <a:pt x="164592" y="57607"/>
                </a:lnTo>
                <a:lnTo>
                  <a:pt x="178308" y="63094"/>
                </a:lnTo>
                <a:lnTo>
                  <a:pt x="192024" y="66751"/>
                </a:lnTo>
                <a:lnTo>
                  <a:pt x="205740" y="70409"/>
                </a:lnTo>
                <a:lnTo>
                  <a:pt x="219456" y="74066"/>
                </a:lnTo>
                <a:lnTo>
                  <a:pt x="233172" y="76810"/>
                </a:lnTo>
                <a:lnTo>
                  <a:pt x="246888" y="80467"/>
                </a:lnTo>
                <a:lnTo>
                  <a:pt x="260604" y="84125"/>
                </a:lnTo>
                <a:lnTo>
                  <a:pt x="274320" y="87782"/>
                </a:lnTo>
                <a:lnTo>
                  <a:pt x="288036" y="92354"/>
                </a:lnTo>
                <a:lnTo>
                  <a:pt x="301752" y="97841"/>
                </a:lnTo>
                <a:lnTo>
                  <a:pt x="315468" y="104242"/>
                </a:lnTo>
                <a:lnTo>
                  <a:pt x="329184" y="110642"/>
                </a:lnTo>
                <a:lnTo>
                  <a:pt x="342900" y="117958"/>
                </a:lnTo>
                <a:lnTo>
                  <a:pt x="356616" y="125273"/>
                </a:lnTo>
                <a:lnTo>
                  <a:pt x="370332" y="131674"/>
                </a:lnTo>
                <a:lnTo>
                  <a:pt x="384048" y="137160"/>
                </a:lnTo>
                <a:lnTo>
                  <a:pt x="396850" y="141732"/>
                </a:lnTo>
                <a:lnTo>
                  <a:pt x="410566" y="145390"/>
                </a:lnTo>
                <a:lnTo>
                  <a:pt x="424282" y="147218"/>
                </a:lnTo>
                <a:lnTo>
                  <a:pt x="437998" y="148133"/>
                </a:lnTo>
                <a:lnTo>
                  <a:pt x="451714" y="148133"/>
                </a:lnTo>
                <a:lnTo>
                  <a:pt x="465430" y="149047"/>
                </a:lnTo>
                <a:lnTo>
                  <a:pt x="479146" y="149962"/>
                </a:lnTo>
                <a:lnTo>
                  <a:pt x="492862" y="152705"/>
                </a:lnTo>
                <a:lnTo>
                  <a:pt x="506578" y="157277"/>
                </a:lnTo>
                <a:lnTo>
                  <a:pt x="520294" y="164592"/>
                </a:lnTo>
                <a:lnTo>
                  <a:pt x="534010" y="173736"/>
                </a:lnTo>
                <a:lnTo>
                  <a:pt x="547726" y="184709"/>
                </a:lnTo>
                <a:lnTo>
                  <a:pt x="561442" y="195682"/>
                </a:lnTo>
                <a:lnTo>
                  <a:pt x="575158" y="207569"/>
                </a:lnTo>
                <a:lnTo>
                  <a:pt x="588874" y="216713"/>
                </a:lnTo>
                <a:lnTo>
                  <a:pt x="602590" y="224942"/>
                </a:lnTo>
                <a:lnTo>
                  <a:pt x="616306" y="228600"/>
                </a:lnTo>
                <a:lnTo>
                  <a:pt x="630022" y="229514"/>
                </a:lnTo>
                <a:lnTo>
                  <a:pt x="643738" y="226771"/>
                </a:lnTo>
                <a:lnTo>
                  <a:pt x="657454" y="222199"/>
                </a:lnTo>
                <a:lnTo>
                  <a:pt x="671170" y="216713"/>
                </a:lnTo>
                <a:lnTo>
                  <a:pt x="684886" y="210312"/>
                </a:lnTo>
                <a:lnTo>
                  <a:pt x="698602" y="207569"/>
                </a:lnTo>
                <a:lnTo>
                  <a:pt x="712318" y="207569"/>
                </a:lnTo>
                <a:lnTo>
                  <a:pt x="726034" y="213055"/>
                </a:lnTo>
                <a:lnTo>
                  <a:pt x="739750" y="223114"/>
                </a:lnTo>
                <a:lnTo>
                  <a:pt x="753466" y="238658"/>
                </a:lnTo>
                <a:lnTo>
                  <a:pt x="767182" y="257861"/>
                </a:lnTo>
                <a:lnTo>
                  <a:pt x="780898" y="277978"/>
                </a:lnTo>
                <a:lnTo>
                  <a:pt x="794614" y="298094"/>
                </a:lnTo>
                <a:lnTo>
                  <a:pt x="808330" y="314554"/>
                </a:lnTo>
                <a:lnTo>
                  <a:pt x="822046" y="324612"/>
                </a:lnTo>
                <a:lnTo>
                  <a:pt x="835762" y="328270"/>
                </a:lnTo>
                <a:lnTo>
                  <a:pt x="849478" y="324612"/>
                </a:lnTo>
                <a:lnTo>
                  <a:pt x="863194" y="313639"/>
                </a:lnTo>
                <a:lnTo>
                  <a:pt x="876910" y="297180"/>
                </a:lnTo>
                <a:lnTo>
                  <a:pt x="890626" y="278892"/>
                </a:lnTo>
                <a:lnTo>
                  <a:pt x="904342" y="262433"/>
                </a:lnTo>
                <a:lnTo>
                  <a:pt x="918058" y="250546"/>
                </a:lnTo>
                <a:lnTo>
                  <a:pt x="931774" y="246888"/>
                </a:lnTo>
                <a:lnTo>
                  <a:pt x="945490" y="253289"/>
                </a:lnTo>
                <a:lnTo>
                  <a:pt x="959206" y="269748"/>
                </a:lnTo>
                <a:lnTo>
                  <a:pt x="972922" y="296266"/>
                </a:lnTo>
                <a:lnTo>
                  <a:pt x="986638" y="330098"/>
                </a:lnTo>
                <a:lnTo>
                  <a:pt x="1000354" y="365760"/>
                </a:lnTo>
                <a:lnTo>
                  <a:pt x="1014070" y="400507"/>
                </a:lnTo>
                <a:lnTo>
                  <a:pt x="1027786" y="427025"/>
                </a:lnTo>
                <a:lnTo>
                  <a:pt x="1041502" y="442570"/>
                </a:lnTo>
                <a:lnTo>
                  <a:pt x="1055218" y="444398"/>
                </a:lnTo>
                <a:lnTo>
                  <a:pt x="1068934" y="432511"/>
                </a:lnTo>
                <a:lnTo>
                  <a:pt x="1082650" y="406908"/>
                </a:lnTo>
                <a:lnTo>
                  <a:pt x="1096366" y="373075"/>
                </a:lnTo>
                <a:lnTo>
                  <a:pt x="1110082" y="336499"/>
                </a:lnTo>
                <a:lnTo>
                  <a:pt x="1123798" y="302666"/>
                </a:lnTo>
                <a:lnTo>
                  <a:pt x="1137514" y="277978"/>
                </a:lnTo>
                <a:lnTo>
                  <a:pt x="1151230" y="268834"/>
                </a:lnTo>
                <a:lnTo>
                  <a:pt x="1164946" y="277063"/>
                </a:lnTo>
                <a:lnTo>
                  <a:pt x="1178662" y="303581"/>
                </a:lnTo>
                <a:lnTo>
                  <a:pt x="1191463" y="347472"/>
                </a:lnTo>
                <a:lnTo>
                  <a:pt x="1205179" y="401422"/>
                </a:lnTo>
                <a:lnTo>
                  <a:pt x="1218895" y="459029"/>
                </a:lnTo>
                <a:lnTo>
                  <a:pt x="1232611" y="512064"/>
                </a:lnTo>
                <a:lnTo>
                  <a:pt x="1246327" y="553212"/>
                </a:lnTo>
                <a:lnTo>
                  <a:pt x="1260043" y="575158"/>
                </a:lnTo>
                <a:lnTo>
                  <a:pt x="1273759" y="574243"/>
                </a:lnTo>
                <a:lnTo>
                  <a:pt x="1287475" y="550469"/>
                </a:lnTo>
                <a:lnTo>
                  <a:pt x="1301191" y="507492"/>
                </a:lnTo>
                <a:lnTo>
                  <a:pt x="1314907" y="450799"/>
                </a:lnTo>
                <a:lnTo>
                  <a:pt x="1328623" y="390449"/>
                </a:lnTo>
                <a:lnTo>
                  <a:pt x="1342339" y="335585"/>
                </a:lnTo>
                <a:lnTo>
                  <a:pt x="1356055" y="297180"/>
                </a:lnTo>
                <a:lnTo>
                  <a:pt x="1369771" y="281635"/>
                </a:lnTo>
                <a:lnTo>
                  <a:pt x="1383487" y="293522"/>
                </a:lnTo>
                <a:lnTo>
                  <a:pt x="1397203" y="331927"/>
                </a:lnTo>
                <a:lnTo>
                  <a:pt x="1410919" y="394106"/>
                </a:lnTo>
                <a:lnTo>
                  <a:pt x="1424635" y="470916"/>
                </a:lnTo>
                <a:lnTo>
                  <a:pt x="1438351" y="552298"/>
                </a:lnTo>
                <a:lnTo>
                  <a:pt x="1452067" y="625450"/>
                </a:lnTo>
                <a:lnTo>
                  <a:pt x="1465783" y="680314"/>
                </a:lnTo>
                <a:lnTo>
                  <a:pt x="1479499" y="707746"/>
                </a:lnTo>
                <a:lnTo>
                  <a:pt x="1493215" y="704088"/>
                </a:lnTo>
                <a:lnTo>
                  <a:pt x="1506931" y="668426"/>
                </a:lnTo>
                <a:lnTo>
                  <a:pt x="1520647" y="606247"/>
                </a:lnTo>
                <a:lnTo>
                  <a:pt x="1534363" y="528523"/>
                </a:lnTo>
                <a:lnTo>
                  <a:pt x="1548079" y="447142"/>
                </a:lnTo>
                <a:lnTo>
                  <a:pt x="1561795" y="373990"/>
                </a:lnTo>
                <a:lnTo>
                  <a:pt x="1575511" y="323698"/>
                </a:lnTo>
                <a:lnTo>
                  <a:pt x="1589227" y="303581"/>
                </a:lnTo>
                <a:lnTo>
                  <a:pt x="1602943" y="318211"/>
                </a:lnTo>
                <a:lnTo>
                  <a:pt x="1616659" y="368503"/>
                </a:lnTo>
                <a:lnTo>
                  <a:pt x="1630375" y="446227"/>
                </a:lnTo>
                <a:lnTo>
                  <a:pt x="1644091" y="541325"/>
                </a:lnTo>
                <a:lnTo>
                  <a:pt x="1657807" y="640080"/>
                </a:lnTo>
                <a:lnTo>
                  <a:pt x="1671523" y="727862"/>
                </a:lnTo>
                <a:lnTo>
                  <a:pt x="1685239" y="790956"/>
                </a:lnTo>
                <a:lnTo>
                  <a:pt x="1698955" y="821131"/>
                </a:lnTo>
                <a:lnTo>
                  <a:pt x="1712671" y="813816"/>
                </a:lnTo>
                <a:lnTo>
                  <a:pt x="1726387" y="769925"/>
                </a:lnTo>
                <a:lnTo>
                  <a:pt x="1740103" y="696773"/>
                </a:lnTo>
                <a:lnTo>
                  <a:pt x="1753819" y="606247"/>
                </a:lnTo>
                <a:lnTo>
                  <a:pt x="1767535" y="512978"/>
                </a:lnTo>
                <a:lnTo>
                  <a:pt x="1781251" y="431597"/>
                </a:lnTo>
                <a:lnTo>
                  <a:pt x="1794967" y="375818"/>
                </a:lnTo>
                <a:lnTo>
                  <a:pt x="1808683" y="354787"/>
                </a:lnTo>
                <a:lnTo>
                  <a:pt x="1822399" y="372161"/>
                </a:lnTo>
                <a:lnTo>
                  <a:pt x="1836115" y="427025"/>
                </a:lnTo>
                <a:lnTo>
                  <a:pt x="1849831" y="511150"/>
                </a:lnTo>
                <a:lnTo>
                  <a:pt x="1863547" y="612648"/>
                </a:lnTo>
                <a:lnTo>
                  <a:pt x="1877263" y="715975"/>
                </a:lnTo>
                <a:lnTo>
                  <a:pt x="1890979" y="805586"/>
                </a:lnTo>
                <a:lnTo>
                  <a:pt x="1904695" y="869594"/>
                </a:lnTo>
                <a:lnTo>
                  <a:pt x="1918411" y="898855"/>
                </a:lnTo>
                <a:lnTo>
                  <a:pt x="1932127" y="889711"/>
                </a:lnTo>
                <a:lnTo>
                  <a:pt x="1945843" y="843991"/>
                </a:lnTo>
                <a:lnTo>
                  <a:pt x="1959559" y="770839"/>
                </a:lnTo>
                <a:lnTo>
                  <a:pt x="1972361" y="681228"/>
                </a:lnTo>
                <a:lnTo>
                  <a:pt x="1986077" y="590702"/>
                </a:lnTo>
                <a:lnTo>
                  <a:pt x="1999793" y="513893"/>
                </a:lnTo>
                <a:lnTo>
                  <a:pt x="2013509" y="462686"/>
                </a:lnTo>
                <a:lnTo>
                  <a:pt x="2027225" y="444398"/>
                </a:lnTo>
                <a:lnTo>
                  <a:pt x="2040941" y="463601"/>
                </a:lnTo>
                <a:lnTo>
                  <a:pt x="2054657" y="515722"/>
                </a:lnTo>
                <a:lnTo>
                  <a:pt x="2068373" y="594360"/>
                </a:lnTo>
                <a:lnTo>
                  <a:pt x="2082089" y="686714"/>
                </a:lnTo>
                <a:lnTo>
                  <a:pt x="2095805" y="779069"/>
                </a:lnTo>
                <a:lnTo>
                  <a:pt x="2109521" y="858622"/>
                </a:lnTo>
                <a:lnTo>
                  <a:pt x="2123237" y="914400"/>
                </a:lnTo>
                <a:lnTo>
                  <a:pt x="2136953" y="939089"/>
                </a:lnTo>
                <a:lnTo>
                  <a:pt x="2150669" y="929945"/>
                </a:lnTo>
                <a:lnTo>
                  <a:pt x="2164385" y="890626"/>
                </a:lnTo>
                <a:lnTo>
                  <a:pt x="2178101" y="828446"/>
                </a:lnTo>
                <a:lnTo>
                  <a:pt x="2191817" y="754380"/>
                </a:lnTo>
                <a:lnTo>
                  <a:pt x="2205533" y="680314"/>
                </a:lnTo>
                <a:lnTo>
                  <a:pt x="2219249" y="618134"/>
                </a:lnTo>
                <a:lnTo>
                  <a:pt x="2232965" y="578815"/>
                </a:lnTo>
                <a:lnTo>
                  <a:pt x="2246681" y="566014"/>
                </a:lnTo>
                <a:lnTo>
                  <a:pt x="2260397" y="583387"/>
                </a:lnTo>
                <a:lnTo>
                  <a:pt x="2274113" y="627278"/>
                </a:lnTo>
                <a:lnTo>
                  <a:pt x="2287829" y="689458"/>
                </a:lnTo>
                <a:lnTo>
                  <a:pt x="2301545" y="762610"/>
                </a:lnTo>
                <a:lnTo>
                  <a:pt x="2315261" y="834847"/>
                </a:lnTo>
                <a:lnTo>
                  <a:pt x="2328977" y="895198"/>
                </a:lnTo>
                <a:lnTo>
                  <a:pt x="2342693" y="937260"/>
                </a:lnTo>
                <a:lnTo>
                  <a:pt x="2356409" y="955548"/>
                </a:lnTo>
                <a:lnTo>
                  <a:pt x="2370125" y="949147"/>
                </a:lnTo>
                <a:lnTo>
                  <a:pt x="2383841" y="920801"/>
                </a:lnTo>
                <a:lnTo>
                  <a:pt x="2397557" y="876910"/>
                </a:lnTo>
                <a:lnTo>
                  <a:pt x="2411273" y="824789"/>
                </a:lnTo>
                <a:lnTo>
                  <a:pt x="2424989" y="774497"/>
                </a:lnTo>
                <a:lnTo>
                  <a:pt x="2438705" y="732434"/>
                </a:lnTo>
                <a:lnTo>
                  <a:pt x="2452421" y="706831"/>
                </a:lnTo>
                <a:lnTo>
                  <a:pt x="2466137" y="701345"/>
                </a:lnTo>
                <a:lnTo>
                  <a:pt x="2479853" y="715061"/>
                </a:lnTo>
                <a:lnTo>
                  <a:pt x="2493569" y="747065"/>
                </a:lnTo>
                <a:lnTo>
                  <a:pt x="2507285" y="790956"/>
                </a:lnTo>
                <a:lnTo>
                  <a:pt x="2521001" y="840334"/>
                </a:lnTo>
                <a:lnTo>
                  <a:pt x="2534717" y="888797"/>
                </a:lnTo>
                <a:lnTo>
                  <a:pt x="2548433" y="929030"/>
                </a:lnTo>
                <a:lnTo>
                  <a:pt x="2562149" y="957377"/>
                </a:lnTo>
                <a:lnTo>
                  <a:pt x="2575865" y="970178"/>
                </a:lnTo>
                <a:lnTo>
                  <a:pt x="2589581" y="966521"/>
                </a:lnTo>
                <a:lnTo>
                  <a:pt x="2603297" y="950062"/>
                </a:lnTo>
                <a:lnTo>
                  <a:pt x="2617013" y="924458"/>
                </a:lnTo>
                <a:lnTo>
                  <a:pt x="2630729" y="894283"/>
                </a:lnTo>
                <a:lnTo>
                  <a:pt x="2644445" y="865937"/>
                </a:lnTo>
                <a:lnTo>
                  <a:pt x="2658161" y="843991"/>
                </a:lnTo>
                <a:lnTo>
                  <a:pt x="2671877" y="831190"/>
                </a:lnTo>
                <a:lnTo>
                  <a:pt x="2685593" y="829361"/>
                </a:lnTo>
                <a:lnTo>
                  <a:pt x="2699309" y="840334"/>
                </a:lnTo>
                <a:lnTo>
                  <a:pt x="2713025" y="860450"/>
                </a:lnTo>
                <a:lnTo>
                  <a:pt x="2726741" y="887882"/>
                </a:lnTo>
                <a:lnTo>
                  <a:pt x="2740457" y="918058"/>
                </a:lnTo>
                <a:lnTo>
                  <a:pt x="2753258" y="947318"/>
                </a:lnTo>
                <a:lnTo>
                  <a:pt x="2766974" y="971093"/>
                </a:lnTo>
                <a:lnTo>
                  <a:pt x="2780690" y="988466"/>
                </a:lnTo>
                <a:lnTo>
                  <a:pt x="2794406" y="996696"/>
                </a:lnTo>
                <a:lnTo>
                  <a:pt x="2808122" y="996696"/>
                </a:lnTo>
                <a:lnTo>
                  <a:pt x="2821838" y="990295"/>
                </a:lnTo>
                <a:lnTo>
                  <a:pt x="2835554" y="978408"/>
                </a:lnTo>
                <a:lnTo>
                  <a:pt x="2849270" y="965606"/>
                </a:lnTo>
                <a:lnTo>
                  <a:pt x="2862986" y="952805"/>
                </a:lnTo>
                <a:lnTo>
                  <a:pt x="2876702" y="943661"/>
                </a:lnTo>
                <a:lnTo>
                  <a:pt x="2890418" y="940003"/>
                </a:lnTo>
                <a:lnTo>
                  <a:pt x="2904134" y="941832"/>
                </a:lnTo>
                <a:lnTo>
                  <a:pt x="2917850" y="950062"/>
                </a:lnTo>
                <a:lnTo>
                  <a:pt x="2931566" y="961949"/>
                </a:lnTo>
                <a:lnTo>
                  <a:pt x="2945282" y="977494"/>
                </a:lnTo>
                <a:lnTo>
                  <a:pt x="2958998" y="994867"/>
                </a:lnTo>
                <a:lnTo>
                  <a:pt x="2972714" y="1011326"/>
                </a:lnTo>
                <a:lnTo>
                  <a:pt x="2986430" y="1025042"/>
                </a:lnTo>
                <a:lnTo>
                  <a:pt x="3000146" y="1035101"/>
                </a:lnTo>
                <a:lnTo>
                  <a:pt x="3013862" y="1041502"/>
                </a:lnTo>
                <a:lnTo>
                  <a:pt x="3027578" y="1043330"/>
                </a:lnTo>
                <a:lnTo>
                  <a:pt x="3041294" y="1043330"/>
                </a:lnTo>
                <a:lnTo>
                  <a:pt x="3055010" y="1040587"/>
                </a:lnTo>
                <a:lnTo>
                  <a:pt x="3068726" y="1036930"/>
                </a:lnTo>
                <a:lnTo>
                  <a:pt x="3082442" y="1034186"/>
                </a:lnTo>
                <a:lnTo>
                  <a:pt x="3096158" y="1032358"/>
                </a:lnTo>
                <a:lnTo>
                  <a:pt x="3109874" y="1034186"/>
                </a:lnTo>
                <a:lnTo>
                  <a:pt x="3123590" y="1037844"/>
                </a:lnTo>
                <a:lnTo>
                  <a:pt x="3137306" y="1043330"/>
                </a:lnTo>
                <a:lnTo>
                  <a:pt x="3151022" y="1051560"/>
                </a:lnTo>
                <a:lnTo>
                  <a:pt x="3164738" y="1060704"/>
                </a:lnTo>
                <a:lnTo>
                  <a:pt x="3178454" y="1070762"/>
                </a:lnTo>
                <a:lnTo>
                  <a:pt x="3192170" y="1079906"/>
                </a:lnTo>
                <a:lnTo>
                  <a:pt x="3205886" y="1088136"/>
                </a:lnTo>
                <a:lnTo>
                  <a:pt x="3219602" y="1094537"/>
                </a:lnTo>
                <a:lnTo>
                  <a:pt x="3233318" y="1100023"/>
                </a:lnTo>
                <a:lnTo>
                  <a:pt x="3247034" y="1103681"/>
                </a:lnTo>
                <a:lnTo>
                  <a:pt x="3260750" y="1106424"/>
                </a:lnTo>
                <a:lnTo>
                  <a:pt x="3274466" y="1108253"/>
                </a:lnTo>
                <a:lnTo>
                  <a:pt x="3288182" y="1109167"/>
                </a:lnTo>
                <a:lnTo>
                  <a:pt x="3301898" y="1110996"/>
                </a:lnTo>
                <a:lnTo>
                  <a:pt x="3315614" y="1113739"/>
                </a:lnTo>
                <a:lnTo>
                  <a:pt x="3329330" y="1117397"/>
                </a:lnTo>
                <a:lnTo>
                  <a:pt x="3343046" y="1121054"/>
                </a:lnTo>
                <a:lnTo>
                  <a:pt x="3356762" y="1126541"/>
                </a:lnTo>
                <a:lnTo>
                  <a:pt x="3370478" y="1132942"/>
                </a:lnTo>
                <a:lnTo>
                  <a:pt x="3384194" y="1138428"/>
                </a:lnTo>
                <a:lnTo>
                  <a:pt x="3397910" y="1144829"/>
                </a:lnTo>
                <a:lnTo>
                  <a:pt x="3411626" y="1151230"/>
                </a:lnTo>
                <a:lnTo>
                  <a:pt x="3425342" y="1157630"/>
                </a:lnTo>
                <a:lnTo>
                  <a:pt x="3439058" y="1162202"/>
                </a:lnTo>
                <a:lnTo>
                  <a:pt x="3452774" y="1167689"/>
                </a:lnTo>
                <a:lnTo>
                  <a:pt x="3466490" y="1171346"/>
                </a:lnTo>
                <a:lnTo>
                  <a:pt x="3480206" y="1175918"/>
                </a:lnTo>
                <a:lnTo>
                  <a:pt x="3493922" y="1179576"/>
                </a:lnTo>
                <a:lnTo>
                  <a:pt x="3507638" y="1183234"/>
                </a:lnTo>
                <a:lnTo>
                  <a:pt x="3521354" y="1186891"/>
                </a:lnTo>
                <a:lnTo>
                  <a:pt x="3535070" y="1190549"/>
                </a:lnTo>
                <a:lnTo>
                  <a:pt x="3547872" y="1195121"/>
                </a:lnTo>
                <a:lnTo>
                  <a:pt x="3561588" y="1199693"/>
                </a:lnTo>
                <a:lnTo>
                  <a:pt x="3575304" y="1204265"/>
                </a:lnTo>
                <a:lnTo>
                  <a:pt x="3589020" y="1208837"/>
                </a:lnTo>
                <a:lnTo>
                  <a:pt x="3602736" y="1214323"/>
                </a:lnTo>
                <a:lnTo>
                  <a:pt x="3616452" y="1219810"/>
                </a:lnTo>
                <a:lnTo>
                  <a:pt x="3630168" y="1224382"/>
                </a:lnTo>
                <a:lnTo>
                  <a:pt x="3643884" y="1229868"/>
                </a:lnTo>
                <a:lnTo>
                  <a:pt x="3657600" y="1234440"/>
                </a:lnTo>
                <a:lnTo>
                  <a:pt x="3671316" y="1239012"/>
                </a:lnTo>
                <a:lnTo>
                  <a:pt x="3685032" y="1243584"/>
                </a:lnTo>
                <a:lnTo>
                  <a:pt x="3698748" y="1248156"/>
                </a:lnTo>
                <a:lnTo>
                  <a:pt x="3712464" y="1252728"/>
                </a:lnTo>
                <a:lnTo>
                  <a:pt x="3726180" y="1256386"/>
                </a:lnTo>
                <a:lnTo>
                  <a:pt x="3739896" y="1260958"/>
                </a:lnTo>
                <a:lnTo>
                  <a:pt x="3753612" y="1265530"/>
                </a:lnTo>
                <a:lnTo>
                  <a:pt x="3767328" y="1270102"/>
                </a:lnTo>
                <a:lnTo>
                  <a:pt x="3781044" y="1274674"/>
                </a:lnTo>
                <a:lnTo>
                  <a:pt x="3794760" y="1279246"/>
                </a:lnTo>
                <a:lnTo>
                  <a:pt x="3808476" y="1283818"/>
                </a:lnTo>
                <a:lnTo>
                  <a:pt x="3822192" y="1288390"/>
                </a:lnTo>
                <a:lnTo>
                  <a:pt x="3835908" y="1293876"/>
                </a:lnTo>
                <a:lnTo>
                  <a:pt x="3849624" y="1298448"/>
                </a:lnTo>
                <a:lnTo>
                  <a:pt x="3863340" y="1303020"/>
                </a:lnTo>
                <a:lnTo>
                  <a:pt x="3877056" y="1307592"/>
                </a:lnTo>
                <a:lnTo>
                  <a:pt x="3890772" y="1312164"/>
                </a:lnTo>
                <a:lnTo>
                  <a:pt x="3904488" y="1316736"/>
                </a:lnTo>
                <a:lnTo>
                  <a:pt x="3918204" y="1321308"/>
                </a:lnTo>
                <a:lnTo>
                  <a:pt x="3931920" y="1325880"/>
                </a:lnTo>
              </a:path>
            </a:pathLst>
          </a:custGeom>
          <a:noFill/>
          <a:ln w="25400">
            <a:solidFill>
              <a:srgbClr val="D55E00"/>
            </a:solidFill>
            <a:prstDash val="solid"/>
          </a:ln>
        </p:spPr>
      </p:sp>
      <p:sp>
        <p:nvSpPr>
          <p:cNvPr id="18" name="Shape 16"/>
          <p:cNvSpPr/>
          <p:nvPr/>
        </p:nvSpPr>
        <p:spPr>
          <a:xfrm>
            <a:off x="960120" y="2377440"/>
            <a:ext cx="3931920" cy="1325880"/>
          </a:xfrm>
          <a:custGeom>
            <a:avLst/>
            <a:gdLst/>
            <a:ahLst/>
            <a:cxnLst/>
            <a:rect l="l" t="t" r="r" b="b"/>
            <a:pathLst>
              <a:path w="3931920" h="1325880">
                <a:moveTo>
                  <a:pt x="0" y="0"/>
                </a:moveTo>
                <a:lnTo>
                  <a:pt x="3931920" y="1325880"/>
                </a:lnTo>
              </a:path>
            </a:pathLst>
          </a:custGeom>
          <a:noFill/>
          <a:ln w="44450">
            <a:solidFill>
              <a:srgbClr val="0072B2"/>
            </a:solidFill>
            <a:prstDash val="solid"/>
          </a:ln>
        </p:spPr>
      </p:sp>
      <p:sp>
        <p:nvSpPr>
          <p:cNvPr id="19" name="Shape 17"/>
          <p:cNvSpPr/>
          <p:nvPr/>
        </p:nvSpPr>
        <p:spPr>
          <a:xfrm>
            <a:off x="2788920" y="2148840"/>
            <a:ext cx="0" cy="2441448"/>
          </a:xfrm>
          <a:prstGeom prst="line">
            <a:avLst/>
          </a:prstGeom>
          <a:noFill/>
          <a:ln w="31750">
            <a:solidFill>
              <a:srgbClr val="00A8AA"/>
            </a:solidFill>
            <a:prstDash val="sysDot"/>
          </a:ln>
        </p:spPr>
      </p:sp>
      <p:sp>
        <p:nvSpPr>
          <p:cNvPr id="20" name="Text 18"/>
          <p:cNvSpPr txBox="1"/>
          <p:nvPr/>
        </p:nvSpPr>
        <p:spPr>
          <a:xfrm>
            <a:off x="1005840" y="4681728"/>
            <a:ext cx="3566160" cy="420624"/>
          </a:xfrm>
          <a:prstGeom prst="rect">
            <a:avLst/>
          </a:prstGeom>
          <a:noFill/>
          <a:ln/>
        </p:spPr>
        <p:txBody>
          <a:bodyPr wrap="square" lIns="0" tIns="0" rIns="0" bIns="0" rtlCol="0" anchor="t"/>
          <a:lstStyle/>
          <a:p>
            <a:pPr algn="ctr" indent="0" marL="0">
              <a:buNone/>
            </a:pPr>
            <a:r>
              <a:rPr lang="ja-JP" altLang="en-US" sz="2200" b="1" dirty="0">
                <a:solidFill>
                  <a:srgbClr val="00A8AA"/>
                </a:solidFill>
                <a:latin typeface="メイリオ" pitchFamily="34" charset="0"/>
                <a:ea typeface="メイリオ" pitchFamily="34" charset="-122"/>
                <a:cs typeface="メイリオ" pitchFamily="34" charset="-120"/>
              </a:rPr>
              <a:t>振幅が最大 ＝ 平均血圧</a:t>
            </a:r>
            <a:endParaRPr lang="ja-JP" sz="2200" dirty="0"/>
          </a:p>
        </p:txBody>
      </p:sp>
      <p:sp>
        <p:nvSpPr>
          <p:cNvPr id="21" name="Text 19"/>
          <p:cNvSpPr txBox="1"/>
          <p:nvPr/>
        </p:nvSpPr>
        <p:spPr>
          <a:xfrm>
            <a:off x="1005840" y="5230368"/>
            <a:ext cx="3566160" cy="420624"/>
          </a:xfrm>
          <a:prstGeom prst="rect">
            <a:avLst/>
          </a:prstGeom>
          <a:noFill/>
          <a:ln/>
        </p:spPr>
        <p:txBody>
          <a:bodyPr wrap="square" lIns="0" tIns="0" rIns="0" bIns="0" rtlCol="0" anchor="t"/>
          <a:lstStyle/>
          <a:p>
            <a:pPr algn="ctr" indent="0" marL="0">
              <a:buNone/>
            </a:pPr>
            <a:r>
              <a:rPr lang="ja-JP" altLang="en-US" sz="2200" dirty="0">
                <a:solidFill>
                  <a:srgbClr val="262626"/>
                </a:solidFill>
                <a:latin typeface="メイリオ" pitchFamily="34" charset="0"/>
                <a:ea typeface="メイリオ" pitchFamily="34" charset="-122"/>
                <a:cs typeface="メイリオ" pitchFamily="34" charset="-120"/>
              </a:rPr>
              <a:t>収縮期・拡張期は計算値</a:t>
            </a:r>
            <a:endParaRPr lang="ja-JP" sz="2200" dirty="0"/>
          </a:p>
        </p:txBody>
      </p:sp>
      <p:sp>
        <p:nvSpPr>
          <p:cNvPr id="22" name="Text 20"/>
          <p:cNvSpPr txBox="1"/>
          <p:nvPr/>
        </p:nvSpPr>
        <p:spPr>
          <a:xfrm>
            <a:off x="6126480" y="1920240"/>
            <a:ext cx="5559552" cy="3044952"/>
          </a:xfrm>
          <a:prstGeom prst="rect">
            <a:avLst/>
          </a:prstGeom>
          <a:noFill/>
          <a:ln/>
        </p:spPr>
        <p:txBody>
          <a:bodyPr wrap="square" lIns="0" tIns="0" rIns="0" bIns="0" rtlCol="0" anchor="t"/>
          <a:lstStyle/>
          <a:p>
            <a:pPr algn="l" marL="355600" indent="-355600">
              <a:spcAft>
                <a:spcPts val="28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カフを膨らませて徐々に下げる</a:t>
            </a:r>
            <a:endParaRPr lang="ja-JP" sz="2400" dirty="0"/>
          </a:p>
          <a:p>
            <a:pPr algn="l" marL="355600" indent="-355600">
              <a:spcAft>
                <a:spcPts val="28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振動が最大 → 平均血圧</a:t>
            </a:r>
            <a:endParaRPr lang="ja-JP" sz="2400" dirty="0"/>
          </a:p>
          <a:p>
            <a:pPr algn="l" marL="355600" indent="-355600">
              <a:spcAft>
                <a:spcPts val="28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収縮期・拡張期は装置の計算値</a:t>
            </a:r>
            <a:endParaRPr lang="ja-JP" sz="2400" dirty="0"/>
          </a:p>
          <a:p>
            <a:pPr algn="l" marL="355600" indent="-355600">
              <a:spcAft>
                <a:spcPts val="28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不整脈・体動・シバリングで誤差</a:t>
            </a:r>
            <a:endParaRPr lang="ja-JP"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カフの選び方と注意点</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指針</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7項目</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心電図</a:t>
            </a:r>
            <a:endParaRPr lang="ja-JP" sz="1100" dirty="0"/>
          </a:p>
        </p:txBody>
      </p:sp>
      <p:sp>
        <p:nvSpPr>
          <p:cNvPr id="7" name="Text 5"/>
          <p:cNvSpPr/>
          <p:nvPr/>
        </p:nvSpPr>
        <p:spPr>
          <a:xfrm>
            <a:off x="10707624"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血圧</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現場</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8</a:t>
            </a:r>
            <a:endParaRPr lang="ja-JP" sz="1200" dirty="0"/>
          </a:p>
        </p:txBody>
      </p:sp>
      <p:sp>
        <p:nvSpPr>
          <p:cNvPr id="10" name="Text 8"/>
          <p:cNvSpPr txBox="1"/>
          <p:nvPr/>
        </p:nvSpPr>
        <p:spPr>
          <a:xfrm>
            <a:off x="502920" y="6263640"/>
            <a:ext cx="10607040" cy="45720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日本麻酔科学会「安全な麻酔のためのモニター指針」（2025年8月改訂）</a:t>
            </a:r>
            <a:endParaRPr lang="ja-JP" sz="1600" dirty="0"/>
          </a:p>
        </p:txBody>
      </p:sp>
      <p:sp>
        <p:nvSpPr>
          <p:cNvPr id="11" name="Shape 9"/>
          <p:cNvSpPr/>
          <p:nvPr/>
        </p:nvSpPr>
        <p:spPr>
          <a:xfrm>
            <a:off x="502920" y="1783080"/>
            <a:ext cx="3581400" cy="3840480"/>
          </a:xfrm>
          <a:prstGeom prst="roundRect">
            <a:avLst>
              <a:gd name="adj" fmla="val 2043"/>
            </a:avLst>
          </a:prstGeom>
          <a:solidFill>
            <a:srgbClr val="F2F2F2"/>
          </a:solidFill>
          <a:ln/>
        </p:spPr>
      </p:sp>
      <p:sp>
        <p:nvSpPr>
          <p:cNvPr id="12" name="Text 10"/>
          <p:cNvSpPr txBox="1"/>
          <p:nvPr/>
        </p:nvSpPr>
        <p:spPr>
          <a:xfrm>
            <a:off x="585216" y="1965960"/>
            <a:ext cx="3416808" cy="612648"/>
          </a:xfrm>
          <a:prstGeom prst="rect">
            <a:avLst/>
          </a:prstGeom>
          <a:noFill/>
          <a:ln/>
        </p:spPr>
        <p:txBody>
          <a:bodyPr wrap="square" lIns="0" tIns="0" rIns="0" bIns="0" rtlCol="0" anchor="t"/>
          <a:lstStyle/>
          <a:p>
            <a:pPr algn="l" indent="0" marL="0">
              <a:buNone/>
            </a:pPr>
            <a:r>
              <a:rPr lang="ja-JP" altLang="en-US" sz="3200" b="1" dirty="0">
                <a:solidFill>
                  <a:srgbClr val="0072B2"/>
                </a:solidFill>
                <a:latin typeface="メイリオ" pitchFamily="34" charset="0"/>
                <a:ea typeface="メイリオ" pitchFamily="34" charset="-122"/>
                <a:cs typeface="メイリオ" pitchFamily="34" charset="-120"/>
              </a:rPr>
              <a:t>カフの幅</a:t>
            </a:r>
            <a:endParaRPr lang="ja-JP" sz="3200" dirty="0"/>
          </a:p>
        </p:txBody>
      </p:sp>
      <p:sp>
        <p:nvSpPr>
          <p:cNvPr id="13" name="Text 11"/>
          <p:cNvSpPr txBox="1"/>
          <p:nvPr/>
        </p:nvSpPr>
        <p:spPr>
          <a:xfrm>
            <a:off x="585216" y="3071012"/>
            <a:ext cx="3416808"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上腕周の約 40%</a:t>
            </a:r>
            <a:endParaRPr lang="ja-JP" sz="2400" dirty="0"/>
          </a:p>
        </p:txBody>
      </p:sp>
      <p:sp>
        <p:nvSpPr>
          <p:cNvPr id="14" name="Text 12"/>
          <p:cNvSpPr txBox="1"/>
          <p:nvPr/>
        </p:nvSpPr>
        <p:spPr>
          <a:xfrm>
            <a:off x="585216" y="4259732"/>
            <a:ext cx="3416808"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小さすぎると高く出る</a:t>
            </a:r>
            <a:endParaRPr lang="ja-JP" sz="2400" dirty="0"/>
          </a:p>
        </p:txBody>
      </p:sp>
      <p:sp>
        <p:nvSpPr>
          <p:cNvPr id="15" name="Shape 13"/>
          <p:cNvSpPr/>
          <p:nvPr/>
        </p:nvSpPr>
        <p:spPr>
          <a:xfrm>
            <a:off x="4303776" y="1783080"/>
            <a:ext cx="3581400" cy="3840480"/>
          </a:xfrm>
          <a:prstGeom prst="roundRect">
            <a:avLst>
              <a:gd name="adj" fmla="val 2043"/>
            </a:avLst>
          </a:prstGeom>
          <a:solidFill>
            <a:srgbClr val="F2F2F2"/>
          </a:solidFill>
          <a:ln/>
        </p:spPr>
      </p:sp>
      <p:sp>
        <p:nvSpPr>
          <p:cNvPr id="16" name="Text 14"/>
          <p:cNvSpPr txBox="1"/>
          <p:nvPr/>
        </p:nvSpPr>
        <p:spPr>
          <a:xfrm>
            <a:off x="4386072" y="1965960"/>
            <a:ext cx="3416808" cy="612648"/>
          </a:xfrm>
          <a:prstGeom prst="rect">
            <a:avLst/>
          </a:prstGeom>
          <a:noFill/>
          <a:ln/>
        </p:spPr>
        <p:txBody>
          <a:bodyPr wrap="square" lIns="0" tIns="0" rIns="0" bIns="0" rtlCol="0" anchor="t"/>
          <a:lstStyle/>
          <a:p>
            <a:pPr algn="l" indent="0" marL="0">
              <a:buNone/>
            </a:pPr>
            <a:r>
              <a:rPr lang="ja-JP" altLang="en-US" sz="3200" b="1" dirty="0">
                <a:solidFill>
                  <a:srgbClr val="0072B2"/>
                </a:solidFill>
                <a:latin typeface="メイリオ" pitchFamily="34" charset="0"/>
                <a:ea typeface="メイリオ" pitchFamily="34" charset="-122"/>
                <a:cs typeface="メイリオ" pitchFamily="34" charset="-120"/>
              </a:rPr>
              <a:t>装着</a:t>
            </a:r>
            <a:endParaRPr lang="ja-JP" sz="3200" dirty="0"/>
          </a:p>
        </p:txBody>
      </p:sp>
      <p:sp>
        <p:nvSpPr>
          <p:cNvPr id="17" name="Text 15"/>
          <p:cNvSpPr txBox="1"/>
          <p:nvPr/>
        </p:nvSpPr>
        <p:spPr>
          <a:xfrm>
            <a:off x="4386072" y="3071012"/>
            <a:ext cx="3416808"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心臓の高さに</a:t>
            </a:r>
            <a:endParaRPr lang="ja-JP" sz="2400" dirty="0"/>
          </a:p>
        </p:txBody>
      </p:sp>
      <p:sp>
        <p:nvSpPr>
          <p:cNvPr id="18" name="Text 16"/>
          <p:cNvSpPr txBox="1"/>
          <p:nvPr/>
        </p:nvSpPr>
        <p:spPr>
          <a:xfrm>
            <a:off x="4386072" y="4259732"/>
            <a:ext cx="3416808" cy="9144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点滴側・</a:t>
            </a:r>
            <a:endParaRPr lang="ja-JP" sz="2400" dirty="0"/>
          </a:p>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シャント側は避ける</a:t>
            </a:r>
            <a:endParaRPr lang="ja-JP" sz="2400" dirty="0"/>
          </a:p>
        </p:txBody>
      </p:sp>
      <p:sp>
        <p:nvSpPr>
          <p:cNvPr id="19" name="Shape 17"/>
          <p:cNvSpPr/>
          <p:nvPr/>
        </p:nvSpPr>
        <p:spPr>
          <a:xfrm>
            <a:off x="8104632" y="1783080"/>
            <a:ext cx="3581400" cy="3840480"/>
          </a:xfrm>
          <a:prstGeom prst="roundRect">
            <a:avLst>
              <a:gd name="adj" fmla="val 2043"/>
            </a:avLst>
          </a:prstGeom>
          <a:solidFill>
            <a:srgbClr val="F2F2F2"/>
          </a:solidFill>
          <a:ln/>
        </p:spPr>
      </p:sp>
      <p:sp>
        <p:nvSpPr>
          <p:cNvPr id="20" name="Text 18"/>
          <p:cNvSpPr txBox="1"/>
          <p:nvPr/>
        </p:nvSpPr>
        <p:spPr>
          <a:xfrm>
            <a:off x="8186928" y="1965960"/>
            <a:ext cx="3416808" cy="612648"/>
          </a:xfrm>
          <a:prstGeom prst="rect">
            <a:avLst/>
          </a:prstGeom>
          <a:noFill/>
          <a:ln/>
        </p:spPr>
        <p:txBody>
          <a:bodyPr wrap="square" lIns="0" tIns="0" rIns="0" bIns="0" rtlCol="0" anchor="t"/>
          <a:lstStyle/>
          <a:p>
            <a:pPr algn="l" indent="0" marL="0">
              <a:buNone/>
            </a:pPr>
            <a:r>
              <a:rPr lang="ja-JP" altLang="en-US" sz="3200" b="1" dirty="0">
                <a:solidFill>
                  <a:srgbClr val="0072B2"/>
                </a:solidFill>
                <a:latin typeface="メイリオ" pitchFamily="34" charset="0"/>
                <a:ea typeface="メイリオ" pitchFamily="34" charset="-122"/>
                <a:cs typeface="メイリオ" pitchFamily="34" charset="-120"/>
              </a:rPr>
              <a:t>間隔</a:t>
            </a:r>
            <a:endParaRPr lang="ja-JP" sz="3200" dirty="0"/>
          </a:p>
        </p:txBody>
      </p:sp>
      <p:sp>
        <p:nvSpPr>
          <p:cNvPr id="21" name="Text 19"/>
          <p:cNvSpPr txBox="1"/>
          <p:nvPr/>
        </p:nvSpPr>
        <p:spPr>
          <a:xfrm>
            <a:off x="8186928" y="3071012"/>
            <a:ext cx="3416808"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原則 5 分</a:t>
            </a:r>
            <a:endParaRPr lang="ja-JP" sz="2400" dirty="0"/>
          </a:p>
        </p:txBody>
      </p:sp>
      <p:sp>
        <p:nvSpPr>
          <p:cNvPr id="22" name="Text 20"/>
          <p:cNvSpPr txBox="1"/>
          <p:nvPr/>
        </p:nvSpPr>
        <p:spPr>
          <a:xfrm>
            <a:off x="8186928" y="4259732"/>
            <a:ext cx="3416808" cy="9144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頻回なら皮下出血・</a:t>
            </a:r>
            <a:endParaRPr lang="ja-JP" sz="2400" dirty="0"/>
          </a:p>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神経障害に注意</a:t>
            </a:r>
            <a:endParaRPr lang="ja-JP"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モニターの見方の型</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指針</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7項目</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心電図</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血圧</a:t>
            </a:r>
            <a:endParaRPr lang="ja-JP" sz="1100" dirty="0"/>
          </a:p>
        </p:txBody>
      </p:sp>
      <p:sp>
        <p:nvSpPr>
          <p:cNvPr id="8" name="Text 6"/>
          <p:cNvSpPr/>
          <p:nvPr/>
        </p:nvSpPr>
        <p:spPr>
          <a:xfrm>
            <a:off x="11384280"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現場</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9</a:t>
            </a:r>
            <a:endParaRPr lang="ja-JP" sz="1200" dirty="0"/>
          </a:p>
        </p:txBody>
      </p:sp>
      <p:sp>
        <p:nvSpPr>
          <p:cNvPr id="10" name="Text 8"/>
          <p:cNvSpPr/>
          <p:nvPr/>
        </p:nvSpPr>
        <p:spPr>
          <a:xfrm>
            <a:off x="502920" y="1920240"/>
            <a:ext cx="1783080" cy="1005840"/>
          </a:xfrm>
          <a:prstGeom prst="roundRect">
            <a:avLst>
              <a:gd name="adj" fmla="val 9091"/>
            </a:avLst>
          </a:prstGeom>
          <a:solidFill>
            <a:srgbClr val="0072B2"/>
          </a:solidFill>
          <a:ln/>
        </p:spPr>
        <p:txBody>
          <a:bodyPr wrap="square" lIns="73152" tIns="73152" rIns="73152" bIns="73152" rtlCol="0" anchor="ctr"/>
          <a:lstStyle/>
          <a:p>
            <a:pPr algn="ctr" indent="0" marL="0">
              <a:buNone/>
            </a:pPr>
            <a:r>
              <a:rPr lang="ja-JP" altLang="en-US" sz="2200" b="1" dirty="0">
                <a:solidFill>
                  <a:srgbClr val="FFFFFF"/>
                </a:solidFill>
                <a:latin typeface="メイリオ" pitchFamily="34" charset="0"/>
                <a:ea typeface="メイリオ" pitchFamily="34" charset="-122"/>
                <a:cs typeface="メイリオ" pitchFamily="34" charset="-120"/>
              </a:rPr>
              <a:t>患者を見る</a:t>
            </a:r>
            <a:endParaRPr lang="ja-JP" sz="2200" dirty="0"/>
          </a:p>
        </p:txBody>
      </p:sp>
      <p:sp>
        <p:nvSpPr>
          <p:cNvPr id="11" name="Shape 9"/>
          <p:cNvSpPr/>
          <p:nvPr/>
        </p:nvSpPr>
        <p:spPr>
          <a:xfrm>
            <a:off x="2377440" y="2423160"/>
            <a:ext cx="384048" cy="0"/>
          </a:xfrm>
          <a:prstGeom prst="line">
            <a:avLst/>
          </a:prstGeom>
          <a:noFill/>
          <a:ln w="38100">
            <a:solidFill>
              <a:srgbClr val="404040"/>
            </a:solidFill>
            <a:prstDash val="solid"/>
            <a:tailEnd type="triangle"/>
          </a:ln>
        </p:spPr>
      </p:sp>
      <p:sp>
        <p:nvSpPr>
          <p:cNvPr id="12" name="Text 10"/>
          <p:cNvSpPr/>
          <p:nvPr/>
        </p:nvSpPr>
        <p:spPr>
          <a:xfrm>
            <a:off x="2852928" y="1920240"/>
            <a:ext cx="1783080" cy="1005840"/>
          </a:xfrm>
          <a:prstGeom prst="roundRect">
            <a:avLst>
              <a:gd name="adj" fmla="val 9091"/>
            </a:avLst>
          </a:prstGeom>
          <a:solidFill>
            <a:srgbClr val="0072B2"/>
          </a:solidFill>
          <a:ln/>
        </p:spPr>
        <p:txBody>
          <a:bodyPr wrap="square" lIns="73152" tIns="73152" rIns="73152" bIns="73152" rtlCol="0" anchor="ctr"/>
          <a:lstStyle/>
          <a:p>
            <a:pPr algn="ctr" indent="0" marL="0">
              <a:buNone/>
            </a:pPr>
            <a:r>
              <a:rPr lang="ja-JP" altLang="en-US" sz="2200" b="1" dirty="0">
                <a:solidFill>
                  <a:srgbClr val="FFFFFF"/>
                </a:solidFill>
                <a:latin typeface="メイリオ" pitchFamily="34" charset="0"/>
                <a:ea typeface="メイリオ" pitchFamily="34" charset="-122"/>
                <a:cs typeface="メイリオ" pitchFamily="34" charset="-120"/>
              </a:rPr>
              <a:t>SpO2</a:t>
            </a:r>
            <a:endParaRPr lang="ja-JP" sz="2200" dirty="0"/>
          </a:p>
        </p:txBody>
      </p:sp>
      <p:sp>
        <p:nvSpPr>
          <p:cNvPr id="13" name="Shape 11"/>
          <p:cNvSpPr/>
          <p:nvPr/>
        </p:nvSpPr>
        <p:spPr>
          <a:xfrm>
            <a:off x="4727448" y="2423160"/>
            <a:ext cx="384048" cy="0"/>
          </a:xfrm>
          <a:prstGeom prst="line">
            <a:avLst/>
          </a:prstGeom>
          <a:noFill/>
          <a:ln w="38100">
            <a:solidFill>
              <a:srgbClr val="404040"/>
            </a:solidFill>
            <a:prstDash val="solid"/>
            <a:tailEnd type="triangle"/>
          </a:ln>
        </p:spPr>
      </p:sp>
      <p:sp>
        <p:nvSpPr>
          <p:cNvPr id="14" name="Text 12"/>
          <p:cNvSpPr/>
          <p:nvPr/>
        </p:nvSpPr>
        <p:spPr>
          <a:xfrm>
            <a:off x="5202936" y="1920240"/>
            <a:ext cx="1783080" cy="1005840"/>
          </a:xfrm>
          <a:prstGeom prst="roundRect">
            <a:avLst>
              <a:gd name="adj" fmla="val 9091"/>
            </a:avLst>
          </a:prstGeom>
          <a:solidFill>
            <a:srgbClr val="0072B2"/>
          </a:solidFill>
          <a:ln/>
        </p:spPr>
        <p:txBody>
          <a:bodyPr wrap="square" lIns="73152" tIns="73152" rIns="73152" bIns="73152" rtlCol="0" anchor="ctr"/>
          <a:lstStyle/>
          <a:p>
            <a:pPr algn="ctr" indent="0" marL="0">
              <a:buNone/>
            </a:pPr>
            <a:r>
              <a:rPr lang="ja-JP" altLang="en-US" sz="2200" b="1" dirty="0">
                <a:solidFill>
                  <a:srgbClr val="FFFFFF"/>
                </a:solidFill>
                <a:latin typeface="メイリオ" pitchFamily="34" charset="0"/>
                <a:ea typeface="メイリオ" pitchFamily="34" charset="-122"/>
                <a:cs typeface="メイリオ" pitchFamily="34" charset="-120"/>
              </a:rPr>
              <a:t>EtCO2</a:t>
            </a:r>
            <a:endParaRPr lang="ja-JP" sz="2200" dirty="0"/>
          </a:p>
        </p:txBody>
      </p:sp>
      <p:sp>
        <p:nvSpPr>
          <p:cNvPr id="15" name="Shape 13"/>
          <p:cNvSpPr/>
          <p:nvPr/>
        </p:nvSpPr>
        <p:spPr>
          <a:xfrm>
            <a:off x="7077456" y="2423160"/>
            <a:ext cx="384048" cy="0"/>
          </a:xfrm>
          <a:prstGeom prst="line">
            <a:avLst/>
          </a:prstGeom>
          <a:noFill/>
          <a:ln w="38100">
            <a:solidFill>
              <a:srgbClr val="404040"/>
            </a:solidFill>
            <a:prstDash val="solid"/>
            <a:tailEnd type="triangle"/>
          </a:ln>
        </p:spPr>
      </p:sp>
      <p:sp>
        <p:nvSpPr>
          <p:cNvPr id="16" name="Text 14"/>
          <p:cNvSpPr/>
          <p:nvPr/>
        </p:nvSpPr>
        <p:spPr>
          <a:xfrm>
            <a:off x="7552944" y="1920240"/>
            <a:ext cx="1783080" cy="1005840"/>
          </a:xfrm>
          <a:prstGeom prst="roundRect">
            <a:avLst>
              <a:gd name="adj" fmla="val 9091"/>
            </a:avLst>
          </a:prstGeom>
          <a:solidFill>
            <a:srgbClr val="0072B2"/>
          </a:solidFill>
          <a:ln/>
        </p:spPr>
        <p:txBody>
          <a:bodyPr wrap="square" lIns="73152" tIns="73152" rIns="73152" bIns="73152" rtlCol="0" anchor="ctr"/>
          <a:lstStyle/>
          <a:p>
            <a:pPr algn="ctr" indent="0" marL="0">
              <a:buNone/>
            </a:pPr>
            <a:r>
              <a:rPr lang="ja-JP" altLang="en-US" sz="2200" b="1" dirty="0">
                <a:solidFill>
                  <a:srgbClr val="FFFFFF"/>
                </a:solidFill>
                <a:latin typeface="メイリオ" pitchFamily="34" charset="0"/>
                <a:ea typeface="メイリオ" pitchFamily="34" charset="-122"/>
                <a:cs typeface="メイリオ" pitchFamily="34" charset="-120"/>
              </a:rPr>
              <a:t>血圧・心拍</a:t>
            </a:r>
            <a:endParaRPr lang="ja-JP" sz="2200" dirty="0"/>
          </a:p>
        </p:txBody>
      </p:sp>
      <p:sp>
        <p:nvSpPr>
          <p:cNvPr id="17" name="Shape 15"/>
          <p:cNvSpPr/>
          <p:nvPr/>
        </p:nvSpPr>
        <p:spPr>
          <a:xfrm>
            <a:off x="9427464" y="2423160"/>
            <a:ext cx="384048" cy="0"/>
          </a:xfrm>
          <a:prstGeom prst="line">
            <a:avLst/>
          </a:prstGeom>
          <a:noFill/>
          <a:ln w="38100">
            <a:solidFill>
              <a:srgbClr val="404040"/>
            </a:solidFill>
            <a:prstDash val="solid"/>
            <a:tailEnd type="triangle"/>
          </a:ln>
        </p:spPr>
      </p:sp>
      <p:sp>
        <p:nvSpPr>
          <p:cNvPr id="18" name="Text 16"/>
          <p:cNvSpPr/>
          <p:nvPr/>
        </p:nvSpPr>
        <p:spPr>
          <a:xfrm>
            <a:off x="9902952" y="1920240"/>
            <a:ext cx="1783080" cy="1005840"/>
          </a:xfrm>
          <a:prstGeom prst="roundRect">
            <a:avLst>
              <a:gd name="adj" fmla="val 9091"/>
            </a:avLst>
          </a:prstGeom>
          <a:solidFill>
            <a:srgbClr val="0072B2"/>
          </a:solidFill>
          <a:ln/>
        </p:spPr>
        <p:txBody>
          <a:bodyPr wrap="square" lIns="73152" tIns="73152" rIns="73152" bIns="73152" rtlCol="0" anchor="ctr"/>
          <a:lstStyle/>
          <a:p>
            <a:pPr algn="ctr" indent="0" marL="0">
              <a:buNone/>
            </a:pPr>
            <a:r>
              <a:rPr lang="ja-JP" altLang="en-US" sz="2200" b="1" dirty="0">
                <a:solidFill>
                  <a:srgbClr val="FFFFFF"/>
                </a:solidFill>
                <a:latin typeface="メイリオ" pitchFamily="34" charset="0"/>
                <a:ea typeface="メイリオ" pitchFamily="34" charset="-122"/>
                <a:cs typeface="メイリオ" pitchFamily="34" charset="-120"/>
              </a:rPr>
              <a:t>体温・TOF</a:t>
            </a:r>
            <a:endParaRPr lang="ja-JP" sz="2200" dirty="0"/>
          </a:p>
        </p:txBody>
      </p:sp>
      <p:sp>
        <p:nvSpPr>
          <p:cNvPr id="19" name="Text 17"/>
          <p:cNvSpPr txBox="1"/>
          <p:nvPr/>
        </p:nvSpPr>
        <p:spPr>
          <a:xfrm>
            <a:off x="502920" y="3611880"/>
            <a:ext cx="11155680" cy="2551176"/>
          </a:xfrm>
          <a:prstGeom prst="rect">
            <a:avLst/>
          </a:prstGeom>
          <a:noFill/>
          <a:ln/>
        </p:spPr>
        <p:txBody>
          <a:bodyPr wrap="square" lIns="0" tIns="0" rIns="0" bIns="0" rtlCol="0" anchor="t"/>
          <a:lstStyle/>
          <a:p>
            <a:pPr algn="l" marL="406400" indent="-406400">
              <a:spcAft>
                <a:spcPts val="30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アラームの上下限を患者ごとに設定する</a:t>
            </a:r>
            <a:endParaRPr lang="ja-JP" sz="2800" dirty="0"/>
          </a:p>
          <a:p>
            <a:pPr algn="l" marL="406400" indent="-406400">
              <a:spcAft>
                <a:spcPts val="30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数値より、波形と傾向を見る</a:t>
            </a:r>
            <a:endParaRPr lang="ja-JP" sz="2800" dirty="0"/>
          </a:p>
          <a:p>
            <a:pPr algn="l" marL="406400" indent="-406400">
              <a:spcAft>
                <a:spcPts val="30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異常に気づいたら声に出して共有する</a:t>
            </a:r>
            <a:endParaRPr lang="ja-JP"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まとめ</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指針</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7項目</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心電図</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血圧</a:t>
            </a:r>
            <a:endParaRPr lang="ja-JP" sz="1100" dirty="0"/>
          </a:p>
        </p:txBody>
      </p:sp>
      <p:sp>
        <p:nvSpPr>
          <p:cNvPr id="8" name="Text 6"/>
          <p:cNvSpPr/>
          <p:nvPr/>
        </p:nvSpPr>
        <p:spPr>
          <a:xfrm>
            <a:off x="11384280"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現場</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10</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日本麻酔科学会「安全な麻酔のためのモニター指針」（2025年8月改訂）</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anesth.or.jp/users/person/guide_line / Suzuki T, et al. J Anesth 2026;40:173-181</a:t>
            </a:r>
            <a:endParaRPr lang="ja-JP" sz="1600" dirty="0"/>
          </a:p>
        </p:txBody>
      </p:sp>
      <p:sp>
        <p:nvSpPr>
          <p:cNvPr id="11" name="Text 9"/>
          <p:cNvSpPr txBox="1"/>
          <p:nvPr/>
        </p:nvSpPr>
        <p:spPr>
          <a:xfrm>
            <a:off x="502920" y="1783080"/>
            <a:ext cx="11155680" cy="3758184"/>
          </a:xfrm>
          <a:prstGeom prst="rect">
            <a:avLst/>
          </a:prstGeom>
          <a:noFill/>
          <a:ln/>
        </p:spPr>
        <p:txBody>
          <a:bodyPr wrap="square" lIns="0" tIns="0" rIns="0" bIns="0" rtlCol="0" anchor="t"/>
          <a:lstStyle/>
          <a:p>
            <a:pPr algn="l" marL="381000" indent="-381000">
              <a:spcAft>
                <a:spcPts val="2400"/>
              </a:spcAft>
              <a:buSzPct val="100000"/>
              <a:buChar char="•"/>
            </a:pPr>
            <a:r>
              <a:rPr lang="ja-JP" altLang="en-US" sz="2600" dirty="0">
                <a:solidFill>
                  <a:srgbClr val="262626"/>
                </a:solidFill>
                <a:latin typeface="メイリオ" pitchFamily="34" charset="0"/>
                <a:ea typeface="メイリオ" pitchFamily="34" charset="-122"/>
                <a:cs typeface="メイリオ" pitchFamily="34" charset="-120"/>
              </a:rPr>
              <a:t>担当医が現場にいて、絶え間なく看視する</a:t>
            </a:r>
            <a:endParaRPr lang="ja-JP" sz="2600" dirty="0"/>
          </a:p>
          <a:p>
            <a:pPr algn="l" marL="381000" indent="-381000">
              <a:spcAft>
                <a:spcPts val="2400"/>
              </a:spcAft>
              <a:buSzPct val="100000"/>
              <a:buChar char="•"/>
            </a:pPr>
            <a:r>
              <a:rPr lang="ja-JP" altLang="en-US" sz="2600" dirty="0">
                <a:solidFill>
                  <a:srgbClr val="262626"/>
                </a:solidFill>
                <a:latin typeface="メイリオ" pitchFamily="34" charset="0"/>
                <a:ea typeface="メイリオ" pitchFamily="34" charset="-122"/>
                <a:cs typeface="メイリオ" pitchFamily="34" charset="-120"/>
              </a:rPr>
              <a:t>SpO2・心電図・血圧・体温は毎回、全身麻酔では EtCO2 も</a:t>
            </a:r>
            <a:endParaRPr lang="ja-JP" sz="2600" dirty="0"/>
          </a:p>
          <a:p>
            <a:pPr algn="l" marL="381000" indent="-381000">
              <a:spcAft>
                <a:spcPts val="2400"/>
              </a:spcAft>
              <a:buSzPct val="100000"/>
              <a:buChar char="•"/>
            </a:pPr>
            <a:r>
              <a:rPr lang="ja-JP" altLang="en-US" sz="2600" dirty="0">
                <a:solidFill>
                  <a:srgbClr val="262626"/>
                </a:solidFill>
                <a:latin typeface="メイリオ" pitchFamily="34" charset="0"/>
                <a:ea typeface="メイリオ" pitchFamily="34" charset="-122"/>
                <a:cs typeface="メイリオ" pitchFamily="34" charset="-120"/>
              </a:rPr>
              <a:t>筋弛緩薬を使うなら定量モニター、抜管前に </a:t>
            </a:r>
            <a:r>
              <a:rPr lang="ja-JP" altLang="en-US" sz="2600" b="1" dirty="0">
                <a:solidFill>
                  <a:srgbClr val="00A8AA"/>
                </a:solidFill>
                <a:latin typeface="メイリオ" pitchFamily="34" charset="0"/>
                <a:ea typeface="メイリオ" pitchFamily="34" charset="-122"/>
                <a:cs typeface="メイリオ" pitchFamily="34" charset="-120"/>
              </a:rPr>
              <a:t>TOF比 0.9 以上</a:t>
            </a:r>
            <a:endParaRPr lang="ja-JP" sz="2600" dirty="0"/>
          </a:p>
          <a:p>
            <a:pPr algn="l" marL="381000" indent="-381000">
              <a:spcAft>
                <a:spcPts val="2400"/>
              </a:spcAft>
              <a:buSzPct val="100000"/>
              <a:buChar char="•"/>
            </a:pPr>
            <a:r>
              <a:rPr lang="ja-JP" altLang="en-US" sz="2600" dirty="0">
                <a:solidFill>
                  <a:srgbClr val="262626"/>
                </a:solidFill>
                <a:latin typeface="メイリオ" pitchFamily="34" charset="0"/>
                <a:ea typeface="メイリオ" pitchFamily="34" charset="-122"/>
                <a:cs typeface="メイリオ" pitchFamily="34" charset="-120"/>
              </a:rPr>
              <a:t>非観血的血圧は</a:t>
            </a:r>
            <a:r>
              <a:rPr lang="ja-JP" altLang="en-US" sz="2600" b="1" dirty="0">
                <a:solidFill>
                  <a:srgbClr val="C00000"/>
                </a:solidFill>
                <a:latin typeface="メイリオ" pitchFamily="34" charset="0"/>
                <a:ea typeface="メイリオ" pitchFamily="34" charset="-122"/>
                <a:cs typeface="メイリオ" pitchFamily="34" charset="-120"/>
              </a:rPr>
              <a:t>低血圧で高めに出る</a:t>
            </a:r>
            <a:r>
              <a:rPr lang="ja-JP" altLang="en-US" sz="2600" dirty="0">
                <a:solidFill>
                  <a:srgbClr val="262626"/>
                </a:solidFill>
                <a:latin typeface="メイリオ" pitchFamily="34" charset="0"/>
                <a:ea typeface="メイリオ" pitchFamily="34" charset="-122"/>
                <a:cs typeface="メイリオ" pitchFamily="34" charset="-120"/>
              </a:rPr>
              <a:t>。信頼できるのは平均血圧</a:t>
            </a:r>
            <a:endParaRPr lang="ja-JP" sz="2600" dirty="0"/>
          </a:p>
          <a:p>
            <a:pPr algn="l" marL="381000" indent="-381000">
              <a:spcAft>
                <a:spcPts val="2400"/>
              </a:spcAft>
              <a:buSzPct val="100000"/>
              <a:buChar char="•"/>
            </a:pPr>
            <a:r>
              <a:rPr lang="ja-JP" altLang="en-US" sz="2600" dirty="0">
                <a:solidFill>
                  <a:srgbClr val="262626"/>
                </a:solidFill>
                <a:latin typeface="メイリオ" pitchFamily="34" charset="0"/>
                <a:ea typeface="メイリオ" pitchFamily="34" charset="-122"/>
                <a:cs typeface="メイリオ" pitchFamily="34" charset="-120"/>
              </a:rPr>
              <a:t>決まった順番で見て、異常は声に出す</a:t>
            </a:r>
            <a:endParaRPr lang="ja-JP" sz="2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メイリオ"/>
        <a:ea typeface="メイリオ"/>
        <a:cs typeface=""/>
        <a:font script="Jpan" typeface="メイリオ"/>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メイリオ"/>
        <a:ea typeface="メイリオ"/>
        <a:cs typeface=""/>
        <a:font script="Jpan" typeface="メイリオ"/>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2-3 モニター指針と標準モニター</dc:title>
  <dc:subject/>
  <dc:creator>初期研修医向け麻酔講義</dc:creator>
  <cp:lastModifiedBy>初期研修医向け麻酔講義</cp:lastModifiedBy>
  <cp:revision>1</cp:revision>
  <dcterms:created xsi:type="dcterms:W3CDTF">2026-10-14T00:26:20Z</dcterms:created>
  <dcterms:modified xsi:type="dcterms:W3CDTF">2026-10-14T00:26:20Z</dcterms:modified>
</cp:coreProperties>
</file>