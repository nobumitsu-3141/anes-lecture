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始業点検は、麻酔器を使う人が、使う前に、毎回行う。日本麻酔科学会の「麻酔器の始業点検」（2022年10月改訂第6版3）が手順を定めている。この回は、実際の麻酔器の前で、研修医が自分の手で一通り行えるようになることが目標。スライドは手順の確認用で、各項目の具体的な操作は機種の取扱説明書と施設の点検表に従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始業点検の目的は、麻酔が始まってから見つかると患者に危険が及ぶ異常（回路の漏れや外れ、ガス供給の異常や取り違え、一方弁の固着、吸収剤の消耗、人工呼吸器やアラームの不良）を、使う前に見つけること。</a:t>
            </a:r>
          </a:p>
          <a:p>
            <a:r>
              <a:rPr lang="ja-JP" altLang="en-US" dirty="0"/>
              <a:t>セルフチェック: 多くの機種は、起動時に画面の指示に沿ってセルフチェック（リークテスト、回路コンプライアンスの測定、センサーの校正など）を行う。Y ピースを塞ぐなど、人が操作する段階がある。セルフチェックは、実際に使う回路を組んだ状態で行う（蛇管を縮めたままテストし、あとで伸ばすと、換気量の表示が実際より大きく出る）。それでも、ボンベの残量、配管の接続、気化器の残量と充填、吸引、余剰ガス排除装置、予備の換気手段などは手で確かめる必要がある。</a:t>
            </a:r>
          </a:p>
          <a:p>
            <a:r>
              <a:rPr lang="ja-JP" altLang="en-US" dirty="0"/>
              <a:t>ガイドラインの対象: 日本麻酔科学会の手順は、セルフチェック機構を持たない麻酔器を対象としている。セルフチェック機構のある麻酔器では、その手順に準じて点検する。ただし、回路のリーク検知が主目的で、回路の閉塞を検出できない機種がある。その場合は回路を開放して、回路内圧が 0 になることを確かめる。人工鼻、アングルピース、ガスサンプリングチューブ、センサーなどを付けたあとは、リークと閉塞がないことを改めて確かめる【要確認: 2022年版の前書きの文言】。</a:t>
            </a:r>
          </a:p>
          <a:p>
            <a:r>
              <a:rPr lang="ja-JP" altLang="en-US" dirty="0"/>
              <a:t>異常があれば: その場で直せるもの（接続の緩み、回路や吸収缶の付け直し・交換）は直してから、その項目の点検をやり直す。直らない異常があれば、その麻酔器は使わない。別の麻酔器に替えるか、修理まで手術を延期する（施設の運用）。離島で予備機がない場合は、臨床工学技士と連絡し、代わりの換気手段（自己膨張式バッグと予備の酸素ボンベ）を確保したうえで判断す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日本麻酔科学会の手順は 11 項目で、次の順に進む【要確認: 2022年版の項目名と番号】。(1) 補助ボンベの内容量と流量計 → (2) 補助ボンベで酸素供給圧が下がったときの亜酸化窒素遮断機構とアラーム → (3) 医療ガス配管によるガス供給（このとき余剰麻酔ガス排除装置もつなぐ）→ (4) 気化器 → (5) 酸素濃度計 → (6) 二酸化炭素吸収装置 → (7) 患者呼吸回路の組み立て → (8) 回路と麻酔器内配管のリークテスト、酸素フラッシュ機能 → (9) 用手換気時の動作確認 → (10) 人工呼吸器とアラーム → (11) 完了。</a:t>
            </a:r>
          </a:p>
          <a:p>
            <a:r>
              <a:rPr lang="ja-JP" altLang="en-US" dirty="0"/>
              <a:t>吸引器と予備の換気手段（自己膨張式バッグ、予備の酸素ボンベ）は学会の 11 項目に含まれないが、米国麻酔科学会（ASA）の 2008 年の始業点検の推奨では項目 1・2 にあたる。施設の点検表に加えて毎朝確かめる。</a:t>
            </a:r>
          </a:p>
          <a:p>
            <a:r>
              <a:rPr lang="ja-JP" altLang="en-US" dirty="0"/>
              <a:t>順番はガスの流れと同じく上流から下流へ進む。同じ順番で毎回行うと、抜けが減る。慣れないうちは点検表を見ながら声に出して行う。</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補助ボンベと流量計: 配管をつなぐ前に、酸素ボンベを開けて圧力計が 5 MPa 以上あることを確かめ、酸素を 5 L/分 流して流量計が動くことを確かめる。酸素、亜酸化窒素、空気の流量計が全範囲で滑らかに動くこと、流量 0 で浮き子が下がることを見る。低酸素防止装置付きの流量計では、亜酸化窒素を増やすと酸素も増える、または酸素を減らすと亜酸化窒素も減ることを確かめる（→ 2-1）。亜酸化窒素ボンベが付いていれば残量も確かめる（亜酸化窒素は液体なので、約 80% を使うまで圧が下がらない）。</a:t>
            </a:r>
          </a:p>
          <a:p>
            <a:r>
              <a:rPr lang="ja-JP" altLang="en-US" dirty="0"/>
              <a:t>亜酸化窒素の遮断機構: 配管をつなぐ前に、補助ボンベから酸素と亜酸化窒素をそれぞれ 5 L/分 流し、酸素ボンベを閉じる。アラームが鳴り、亜酸化窒素が遮断されることを確かめる（作動する値は麻酔器によって違う。アラームのない古い機種もある）。終わったら亜酸化窒素ボンベの元栓を閉じ、圧が 0 になってから酸素と亜酸化窒素の流量計のノブを閉める。酸素ボンベも閉めて、ボンベ内のガスを使い切らないようにする（配管が止まったときの予備）。亜酸化窒素ボンベを積んでいない麻酔器では、取扱説明書と施設の手順に従う。</a:t>
            </a:r>
          </a:p>
          <a:p>
            <a:r>
              <a:rPr lang="ja-JP" altLang="en-US" dirty="0"/>
              <a:t>配管: 各ガスのホースアセンブリを目で見て、亀裂や緩みがないことを確かめ、端末に接続する。供給圧が酸素で 392 ± 49 kPa の範囲にあることを圧力計で確かめる。亜酸化窒素と空気の供給圧も確かめる（酸素より 30 kPa 程度低く設定されている）。このとき余剰麻酔ガス排除装置も接続する（→ S8）。</a:t>
            </a:r>
          </a:p>
          <a:p>
            <a:r>
              <a:rPr lang="ja-JP" altLang="en-US" dirty="0"/>
              <a:t>数値はすべて日本麻酔科学会「麻酔器の始業点検」の記載による【要確認: 2022年版の数値と文言】。</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気化器: 電源が必要な気化器（デスフルラン用）は、電源ケーブルの接続と電源 ON を確かめる。残量を窓で見て、注入栓をしっかり閉める。ダイヤルを OFF にしたまま酸素を流し、においがしない（漏れがない）ことを確かめる。ダイヤルが円滑に動くこと、気化器が 2 つ以上あるときは同時に複数のダイヤルが回らない（インターロック）ことを確かめる。充填口と容器の色（セボフルランは黄、デスフルランは青）も見る（→ 2-1）。薬を充填するときは、専用の充填器具で薬剤名を確かめる。誤って別の麻酔薬を充填した場合は、その気化器を使わず、臨床工学技士とメーカーに連絡して、取扱説明書の手順で処理する。</a:t>
            </a:r>
          </a:p>
          <a:p>
            <a:r>
              <a:rPr lang="ja-JP" altLang="en-US" dirty="0"/>
              <a:t>酸素濃度計: センサーを室内気にさらして 21% に校正し、酸素を 5〜10 L/分 流して 100% 近くまで上がることを確かめる。酸素電池式のセンサーなら開封日（または較正記録）を確かめる。下限アラームを設定する。酸素濃度計は、配管の取り違えや低流量での酸素消費を見つける最後の守りである（→ 2-1）。</a:t>
            </a:r>
          </a:p>
          <a:p>
            <a:r>
              <a:rPr lang="ja-JP" altLang="en-US" dirty="0"/>
              <a:t>吸収剤と回路: 二酸化炭素吸収剤の色、量、均一に詰まっているかを目で見る。水抜き装置があれば、水を抜いたあと必ず閉じる（開いたままだと漏れる）。患者呼吸回路（蛇管、Y ピース、呼吸バッグ、フィルター）を組み立て、接続を確かめる。回路や吸収缶を替えたら、このあとのリークテストをやり直す。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リークテスト: 新鮮ガス流量を 0（または最少）にし、APL 弁を閉め、Y ピース（患者接続部）を手や栓で塞ぐ。酸素を 5〜10 L/分 流して呼吸バッグを膨らませ、回路内圧を 30 cmH2O にする。次にバッグを押して回路内圧を 40〜50 cmH2O にし、漏れがない（圧が保たれる）ことを確かめる。APL 弁を開いて回路内圧が下がること（APL 弁の機能）、酸素フラッシュを押して十分な流量が出ることを確かめる【要確認: 2022年版の圧の数値と文言。機種によっては、圧を保持して一定時間の低下量を見る方法が取扱説明書にある】。漏れがあれば、蛇管、バッグ、吸収缶、サンプリングポート、Y ピースの接続を順に締め直す。</a:t>
            </a:r>
          </a:p>
          <a:p>
            <a:r>
              <a:rPr lang="ja-JP" altLang="en-US" dirty="0"/>
              <a:t>用手換気の動作確認: テスト肺を Y ピースにつけ、酸素を 5〜10 L/分 流してバッグで換気し、吸気弁と呼気弁が動くこと、テスト肺が膨らんでしぼむこと、圧力計の振れを目で見る。一方弁の固着や欠損があると再呼吸や換気不良が起きる。</a:t>
            </a:r>
          </a:p>
          <a:p>
            <a:r>
              <a:rPr lang="ja-JP" altLang="en-US" dirty="0"/>
              <a:t>麻酔器内配管のリークテスト: 逆流防止弁のある機種では、回路のリークテストだけでは麻酔器内配管（流量計から共通ガス出口までの低圧部）の漏れを見つけられない。ガイドラインの低流量の方法（APL 弁を閉じ、酸素を 100 mL/分 程度流して回路内圧が 30 cmH2O 以上に上がるか）か、取扱説明書の方法で確かめる【要確認: 2022年版の記載】。</a:t>
            </a:r>
          </a:p>
          <a:p>
            <a:r>
              <a:rPr lang="ja-JP" altLang="en-US" dirty="0"/>
              <a:t>セルフチェック機能がある機種でも、回路や吸収剤を交換したあとは接続部が緩みやすいので、もう一度リークテストをする。</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人工呼吸器: テスト肺を Y ピースにつけ、換気を用手換気から人工呼吸器に切り替えて、テスト肺が動くことを確かめる。従量式で、設定した 1 回換気量と気道内圧が表示されることを確かめる。</a:t>
            </a:r>
          </a:p>
          <a:p>
            <a:r>
              <a:rPr lang="ja-JP" altLang="en-US" dirty="0"/>
              <a:t>アラーム: 従量式のまま、テスト肺を外して低圧（回路外れ）アラームが鳴ること、テスト肺に負荷をかけるか患者接続口（Y ピース）を塞いで高圧アラームが鳴ることを確かめる。次に従圧式に切り替え、回路を塞ぐかテスト肺を圧迫して、分時換気量または 1 回換気量の下限アラームが鳴ることを確かめる。アラームの上下限は患者に合わせて設定し直す。</a:t>
            </a:r>
          </a:p>
          <a:p>
            <a:r>
              <a:rPr lang="ja-JP" altLang="en-US" dirty="0"/>
              <a:t>切り替え: バッグと人工呼吸器の切り替えスイッチが動くこと。麻酔中に切り替えたら、胸の動きと EtCO2 で換気が続いていることを確かめる習慣をつける（切り替え忘れは換気停止の原因になる）。</a:t>
            </a:r>
          </a:p>
          <a:p>
            <a:r>
              <a:rPr lang="ja-JP" altLang="en-US" dirty="0"/>
              <a:t>数値や手順の詳細は、日本麻酔科学会のガイドラインと機種の取扱説明書による【要確認: 2022年版の記載】。</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余剰麻酔ガス排除装置: 学会の手順では配管の接続と同じ項（③）でつなぐ。排気ホースの接続と、吸引圧（1 kPa 以上 2 kPa 未満）または吸引量（25 L/分 以上 50 L/分 以下）が範囲内にあることを確かめる。外れていると麻酔ガスが手術室に漏れ、吸引が強すぎると回路のガスまで吸われる。</a:t>
            </a:r>
          </a:p>
          <a:p>
            <a:r>
              <a:rPr lang="ja-JP" altLang="en-US" dirty="0"/>
              <a:t>吸引器: 吸引圧が十分に上がり、吸引カテーテルと予備が手の届く所にあること。導入時の嘔吐や分泌物に即座に対応できる位置に置く。</a:t>
            </a:r>
          </a:p>
          <a:p>
            <a:r>
              <a:rPr lang="ja-JP" altLang="en-US" dirty="0"/>
              <a:t>予備の換気手段: 麻酔器が使えなくなったとき（停電、ガス供給の停止、故障）に、自己膨張式バッグ（と酸素ボンベ）で換気できるように、置き場所と動作を毎朝確かめる。離島では予備機がないので、この確認が特に重要になる。吸引器と予備の換気手段は、ASA 2008 の始業点検の項目 1・2 にあたる。マスクと経口エアウェイは気道確保器具の準備として確かめる。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記録: 点検表に項目ごとにチェックし、日付と点検者の名前を書く（書式は施設の点検表に従う）。記録は、異常が起きたときに「いつ・誰が・何を確認したか」を示す。ASA 2008 の項目 14 も点検の完了を記録することを求めている。</a:t>
            </a:r>
          </a:p>
          <a:p>
            <a:r>
              <a:rPr lang="ja-JP" altLang="en-US" dirty="0"/>
              <a:t>異常時: その場で直せるもの（接続の緩み、回路や吸収缶の付け直し・交換）は直してから、その項目の点検をやり直す。直らない異常があれば、その麻酔器は使わない。臨床工学技士に連絡し、別の麻酔器に替える。予備機がなければ、修理まで手術を延期するか、安全に行える方法（自己膨張式バッグと静脈麻酔など）を指導医と相談する。離島では、修理に日数がかかることを前提に、代替手段を決めておく。</a:t>
            </a:r>
          </a:p>
          <a:p>
            <a:r>
              <a:rPr lang="ja-JP" altLang="en-US" dirty="0"/>
              <a:t>麻酔中の故障: ガス供給が止まった、人工呼吸器が止まった、回路が壊れた、という場合は、まず自己膨張式バッグ（と酸素ボンベ）で換気を続ける。静脈麻酔薬で麻酔を維持しながら、応援を呼ぶ（→ 6-1 危機対応の基本）。</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始業点検は使う人が使う前に毎回、上流から下流へ同じ順番で行う。回路や吸収剤を交換したらリークテストをやり直す。酸素濃度計と予備の換気手段（自己膨張式バッグ・予備の酸素ボンベ）は毎朝確かめる。直らない異常があれば使わず、記録に残す。最初の症例の朝に、指導医と一緒に一通り行う。</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始業点検の実際</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2-2 モニタリング・麻酔器（OJT）</a:t>
            </a:r>
            <a:endParaRPr lang="ja-JP" sz="2800" dirty="0"/>
          </a:p>
        </p:txBody>
      </p:sp>
      <p:sp>
        <p:nvSpPr>
          <p:cNvPr id="5" name="Text 3"/>
          <p:cNvSpPr txBox="1"/>
          <p:nvPr/>
        </p:nvSpPr>
        <p:spPr>
          <a:xfrm>
            <a:off x="502920" y="4693920"/>
            <a:ext cx="11183112" cy="841248"/>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初期研修医向け麻酔講義｜日本麻酔科学会</a:t>
            </a:r>
            <a:endParaRPr lang="ja-JP" sz="2200" dirty="0"/>
          </a:p>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「麻酔器の始業点検」（2022年10月改訂）に沿って</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なぜ毎朝点検するのか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準備</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ガス</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回路</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呼吸器</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記録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日本麻酔科学会「麻酔器の始業点検」（2022年10月改訂第6版3）</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Glenski TA, et al. Paediatr Anaesth 2017;27:793-800 / 施設の運用</a:t>
            </a:r>
            <a:endParaRPr lang="ja-JP" sz="1600" dirty="0"/>
          </a:p>
        </p:txBody>
      </p:sp>
      <p:sp>
        <p:nvSpPr>
          <p:cNvPr id="11" name="Shape 9"/>
          <p:cNvSpPr/>
          <p:nvPr/>
        </p:nvSpPr>
        <p:spPr>
          <a:xfrm>
            <a:off x="6766560" y="1691640"/>
            <a:ext cx="4919472" cy="2139696"/>
          </a:xfrm>
          <a:prstGeom prst="roundRect">
            <a:avLst>
              <a:gd name="adj" fmla="val 3419"/>
            </a:avLst>
          </a:prstGeom>
          <a:solidFill>
            <a:srgbClr val="F2F2F2"/>
          </a:solidFill>
          <a:ln/>
        </p:spPr>
      </p:sp>
      <p:sp>
        <p:nvSpPr>
          <p:cNvPr id="12" name="Text 10"/>
          <p:cNvSpPr txBox="1"/>
          <p:nvPr/>
        </p:nvSpPr>
        <p:spPr>
          <a:xfrm>
            <a:off x="6903720" y="1783080"/>
            <a:ext cx="4645152"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見つけたい異常</a:t>
            </a:r>
            <a:endParaRPr lang="ja-JP" sz="2400" dirty="0"/>
          </a:p>
        </p:txBody>
      </p:sp>
      <p:sp>
        <p:nvSpPr>
          <p:cNvPr id="13" name="Text 11"/>
          <p:cNvSpPr txBox="1"/>
          <p:nvPr/>
        </p:nvSpPr>
        <p:spPr>
          <a:xfrm>
            <a:off x="6903720" y="2331720"/>
            <a:ext cx="464515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漏れ・外れ</a:t>
            </a:r>
            <a:endParaRPr lang="ja-JP" sz="2200" dirty="0"/>
          </a:p>
        </p:txBody>
      </p:sp>
      <p:sp>
        <p:nvSpPr>
          <p:cNvPr id="14" name="Text 12"/>
          <p:cNvSpPr txBox="1"/>
          <p:nvPr/>
        </p:nvSpPr>
        <p:spPr>
          <a:xfrm>
            <a:off x="6903720" y="2825496"/>
            <a:ext cx="464515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ガスの取り違え</a:t>
            </a:r>
            <a:endParaRPr lang="ja-JP" sz="2200" dirty="0"/>
          </a:p>
        </p:txBody>
      </p:sp>
      <p:sp>
        <p:nvSpPr>
          <p:cNvPr id="15" name="Text 13"/>
          <p:cNvSpPr txBox="1"/>
          <p:nvPr/>
        </p:nvSpPr>
        <p:spPr>
          <a:xfrm>
            <a:off x="6903720" y="3319272"/>
            <a:ext cx="464515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弁の固着・吸収剤の消耗</a:t>
            </a:r>
            <a:endParaRPr lang="ja-JP" sz="2200" dirty="0"/>
          </a:p>
        </p:txBody>
      </p:sp>
      <p:sp>
        <p:nvSpPr>
          <p:cNvPr id="16" name="Shape 14"/>
          <p:cNvSpPr/>
          <p:nvPr/>
        </p:nvSpPr>
        <p:spPr>
          <a:xfrm>
            <a:off x="6766560" y="4050792"/>
            <a:ext cx="4919472" cy="1645920"/>
          </a:xfrm>
          <a:prstGeom prst="roundRect">
            <a:avLst>
              <a:gd name="adj" fmla="val 4444"/>
            </a:avLst>
          </a:prstGeom>
          <a:solidFill>
            <a:srgbClr val="F2F2F2"/>
          </a:solidFill>
          <a:ln/>
        </p:spPr>
      </p:sp>
      <p:sp>
        <p:nvSpPr>
          <p:cNvPr id="17" name="Text 15"/>
          <p:cNvSpPr txBox="1"/>
          <p:nvPr/>
        </p:nvSpPr>
        <p:spPr>
          <a:xfrm>
            <a:off x="6903720" y="4142232"/>
            <a:ext cx="4645152"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離島では</a:t>
            </a:r>
            <a:endParaRPr lang="ja-JP" sz="2400" dirty="0"/>
          </a:p>
        </p:txBody>
      </p:sp>
      <p:sp>
        <p:nvSpPr>
          <p:cNvPr id="18" name="Text 16"/>
          <p:cNvSpPr txBox="1"/>
          <p:nvPr/>
        </p:nvSpPr>
        <p:spPr>
          <a:xfrm>
            <a:off x="6903720" y="4690872"/>
            <a:ext cx="464515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予備機がない</a:t>
            </a:r>
            <a:endParaRPr lang="ja-JP" sz="2200" dirty="0"/>
          </a:p>
        </p:txBody>
      </p:sp>
      <p:sp>
        <p:nvSpPr>
          <p:cNvPr id="19" name="Text 17"/>
          <p:cNvSpPr txBox="1"/>
          <p:nvPr/>
        </p:nvSpPr>
        <p:spPr>
          <a:xfrm>
            <a:off x="6903720" y="5184648"/>
            <a:ext cx="464515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代わりの換気手段を毎朝確認</a:t>
            </a:r>
            <a:endParaRPr lang="ja-JP" sz="2200" dirty="0"/>
          </a:p>
        </p:txBody>
      </p:sp>
      <p:sp>
        <p:nvSpPr>
          <p:cNvPr id="20" name="Shape 18"/>
          <p:cNvSpPr/>
          <p:nvPr/>
        </p:nvSpPr>
        <p:spPr>
          <a:xfrm>
            <a:off x="502920" y="1691640"/>
            <a:ext cx="5989320" cy="4005072"/>
          </a:xfrm>
          <a:prstGeom prst="roundRect">
            <a:avLst>
              <a:gd name="adj" fmla="val 1826"/>
            </a:avLst>
          </a:prstGeom>
          <a:solidFill>
            <a:srgbClr val="FFFFFF"/>
          </a:solidFill>
          <a:ln w="38100">
            <a:solidFill>
              <a:srgbClr val="00A8AA"/>
            </a:solidFill>
            <a:prstDash val="solid"/>
          </a:ln>
        </p:spPr>
      </p:sp>
      <p:sp>
        <p:nvSpPr>
          <p:cNvPr id="21" name="Text 19"/>
          <p:cNvSpPr txBox="1"/>
          <p:nvPr/>
        </p:nvSpPr>
        <p:spPr>
          <a:xfrm>
            <a:off x="704088" y="1874520"/>
            <a:ext cx="5586984" cy="539496"/>
          </a:xfrm>
          <a:prstGeom prst="rect">
            <a:avLst/>
          </a:prstGeom>
          <a:noFill/>
          <a:ln/>
        </p:spPr>
        <p:txBody>
          <a:bodyPr wrap="square" lIns="0" tIns="0" rIns="0" bIns="0" rtlCol="0" anchor="t"/>
          <a:lstStyle/>
          <a:p>
            <a:pPr algn="l" indent="0" marL="0">
              <a:buNone/>
            </a:pPr>
            <a:r>
              <a:rPr lang="ja-JP" altLang="en-US" sz="2800" b="1" dirty="0">
                <a:solidFill>
                  <a:srgbClr val="00A8AA"/>
                </a:solidFill>
                <a:latin typeface="メイリオ" pitchFamily="34" charset="0"/>
                <a:ea typeface="メイリオ" pitchFamily="34" charset="-122"/>
                <a:cs typeface="メイリオ" pitchFamily="34" charset="-120"/>
              </a:rPr>
              <a:t>原則</a:t>
            </a:r>
            <a:endParaRPr lang="ja-JP" sz="2800" dirty="0"/>
          </a:p>
        </p:txBody>
      </p:sp>
      <p:sp>
        <p:nvSpPr>
          <p:cNvPr id="22" name="Text 20"/>
          <p:cNvSpPr txBox="1"/>
          <p:nvPr/>
        </p:nvSpPr>
        <p:spPr>
          <a:xfrm>
            <a:off x="704088" y="2701138"/>
            <a:ext cx="5586984" cy="539496"/>
          </a:xfrm>
          <a:prstGeom prst="rect">
            <a:avLst/>
          </a:prstGeom>
          <a:noFill/>
          <a:ln/>
        </p:spPr>
        <p:txBody>
          <a:bodyPr wrap="square" lIns="0" tIns="0" rIns="0" bIns="0" rtlCol="0" anchor="t"/>
          <a:lstStyle/>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使う人が、使う前に、毎回</a:t>
            </a:r>
            <a:endParaRPr lang="ja-JP" sz="2800" dirty="0"/>
          </a:p>
        </p:txBody>
      </p:sp>
      <p:sp>
        <p:nvSpPr>
          <p:cNvPr id="23" name="Text 21"/>
          <p:cNvSpPr txBox="1"/>
          <p:nvPr/>
        </p:nvSpPr>
        <p:spPr>
          <a:xfrm>
            <a:off x="704088" y="3560674"/>
            <a:ext cx="5586984" cy="1069848"/>
          </a:xfrm>
          <a:prstGeom prst="rect">
            <a:avLst/>
          </a:prstGeom>
          <a:noFill/>
          <a:ln/>
        </p:spPr>
        <p:txBody>
          <a:bodyPr wrap="square" lIns="0" tIns="0" rIns="0" bIns="0" rtlCol="0" anchor="t"/>
          <a:lstStyle/>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セルフチェック機能があっても</a:t>
            </a:r>
            <a:endParaRPr lang="ja-JP" sz="2800" dirty="0"/>
          </a:p>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手で確かめる項目がある</a:t>
            </a:r>
            <a:endParaRPr lang="ja-JP" sz="2800" dirty="0"/>
          </a:p>
        </p:txBody>
      </p:sp>
      <p:sp>
        <p:nvSpPr>
          <p:cNvPr id="24" name="Text 22"/>
          <p:cNvSpPr txBox="1"/>
          <p:nvPr/>
        </p:nvSpPr>
        <p:spPr>
          <a:xfrm>
            <a:off x="704088" y="4950562"/>
            <a:ext cx="5586984" cy="539496"/>
          </a:xfrm>
          <a:prstGeom prst="rect">
            <a:avLst/>
          </a:prstGeom>
          <a:noFill/>
          <a:ln/>
        </p:spPr>
        <p:txBody>
          <a:bodyPr wrap="square" lIns="0" tIns="0" rIns="0" bIns="0" rtlCol="0" anchor="t"/>
          <a:lstStyle/>
          <a:p>
            <a:pPr algn="l" indent="0" marL="0">
              <a:buNone/>
            </a:pPr>
            <a:r>
              <a:rPr lang="ja-JP" altLang="en-US" sz="2800" b="1" dirty="0">
                <a:solidFill>
                  <a:srgbClr val="C00000"/>
                </a:solidFill>
                <a:latin typeface="メイリオ" pitchFamily="34" charset="0"/>
                <a:ea typeface="メイリオ" pitchFamily="34" charset="-122"/>
                <a:cs typeface="メイリオ" pitchFamily="34" charset="-120"/>
              </a:rPr>
              <a:t>直らない異常があれば使わない</a:t>
            </a:r>
            <a:endParaRPr lang="ja-JP"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点検の順番</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準備</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ガス</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回路</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呼吸器</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記録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日本麻酔科学会「麻酔器の始業点検」（2022年10月改訂第6版3）</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Recommendations for Pre-Anesthesia Checkout Procedures（2008）</a:t>
            </a:r>
            <a:endParaRPr lang="ja-JP" sz="1600" dirty="0"/>
          </a:p>
        </p:txBody>
      </p:sp>
      <p:sp>
        <p:nvSpPr>
          <p:cNvPr id="11" name="Text 9"/>
          <p:cNvSpPr/>
          <p:nvPr/>
        </p:nvSpPr>
        <p:spPr>
          <a:xfrm>
            <a:off x="502920" y="1783080"/>
            <a:ext cx="3209544" cy="1188720"/>
          </a:xfrm>
          <a:prstGeom prst="roundRect">
            <a:avLst>
              <a:gd name="adj" fmla="val 7692"/>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600" b="1" dirty="0">
                <a:solidFill>
                  <a:srgbClr val="0072B2"/>
                </a:solidFill>
                <a:latin typeface="メイリオ" pitchFamily="34" charset="0"/>
                <a:ea typeface="メイリオ" pitchFamily="34" charset="-122"/>
                <a:cs typeface="メイリオ" pitchFamily="34" charset="-120"/>
              </a:rPr>
              <a:t>①</a:t>
            </a:r>
            <a:r>
              <a:rPr lang="ja-JP" altLang="en-US" sz="2600" b="1" dirty="0">
                <a:solidFill>
                  <a:srgbClr val="262626"/>
                </a:solidFill>
                <a:latin typeface="メイリオ" pitchFamily="34" charset="0"/>
                <a:ea typeface="メイリオ" pitchFamily="34" charset="-122"/>
                <a:cs typeface="メイリオ" pitchFamily="34" charset="-120"/>
              </a:rPr>
              <a:t> ボンベ・</a:t>
            </a:r>
            <a:endParaRPr lang="ja-JP" sz="2600" dirty="0"/>
          </a:p>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流量計</a:t>
            </a:r>
            <a:endParaRPr lang="ja-JP" sz="2600" dirty="0"/>
          </a:p>
        </p:txBody>
      </p:sp>
      <p:sp>
        <p:nvSpPr>
          <p:cNvPr id="12" name="Shape 10"/>
          <p:cNvSpPr/>
          <p:nvPr/>
        </p:nvSpPr>
        <p:spPr>
          <a:xfrm>
            <a:off x="3931920" y="2377440"/>
            <a:ext cx="338328" cy="0"/>
          </a:xfrm>
          <a:prstGeom prst="line">
            <a:avLst/>
          </a:prstGeom>
          <a:noFill/>
          <a:ln w="38100">
            <a:solidFill>
              <a:srgbClr val="404040"/>
            </a:solidFill>
            <a:prstDash val="solid"/>
            <a:tailEnd type="triangle"/>
          </a:ln>
        </p:spPr>
      </p:sp>
      <p:sp>
        <p:nvSpPr>
          <p:cNvPr id="13" name="Text 11"/>
          <p:cNvSpPr/>
          <p:nvPr/>
        </p:nvSpPr>
        <p:spPr>
          <a:xfrm>
            <a:off x="4489704" y="1783080"/>
            <a:ext cx="3209544" cy="1188720"/>
          </a:xfrm>
          <a:prstGeom prst="roundRect">
            <a:avLst>
              <a:gd name="adj" fmla="val 7692"/>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600" b="1" dirty="0">
                <a:solidFill>
                  <a:srgbClr val="0072B2"/>
                </a:solidFill>
                <a:latin typeface="メイリオ" pitchFamily="34" charset="0"/>
                <a:ea typeface="メイリオ" pitchFamily="34" charset="-122"/>
                <a:cs typeface="メイリオ" pitchFamily="34" charset="-120"/>
              </a:rPr>
              <a:t>②</a:t>
            </a:r>
            <a:r>
              <a:rPr lang="ja-JP" altLang="en-US" sz="2600" b="1" dirty="0">
                <a:solidFill>
                  <a:srgbClr val="262626"/>
                </a:solidFill>
                <a:latin typeface="メイリオ" pitchFamily="34" charset="0"/>
                <a:ea typeface="メイリオ" pitchFamily="34" charset="-122"/>
                <a:cs typeface="メイリオ" pitchFamily="34" charset="-120"/>
              </a:rPr>
              <a:t> 遮断機構・</a:t>
            </a:r>
            <a:endParaRPr lang="ja-JP" sz="2600" dirty="0"/>
          </a:p>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配管</a:t>
            </a:r>
            <a:endParaRPr lang="ja-JP" sz="2600" dirty="0"/>
          </a:p>
        </p:txBody>
      </p:sp>
      <p:sp>
        <p:nvSpPr>
          <p:cNvPr id="14" name="Shape 12"/>
          <p:cNvSpPr/>
          <p:nvPr/>
        </p:nvSpPr>
        <p:spPr>
          <a:xfrm>
            <a:off x="7918704" y="2377440"/>
            <a:ext cx="338328" cy="0"/>
          </a:xfrm>
          <a:prstGeom prst="line">
            <a:avLst/>
          </a:prstGeom>
          <a:noFill/>
          <a:ln w="38100">
            <a:solidFill>
              <a:srgbClr val="404040"/>
            </a:solidFill>
            <a:prstDash val="solid"/>
            <a:tailEnd type="triangle"/>
          </a:ln>
        </p:spPr>
      </p:sp>
      <p:sp>
        <p:nvSpPr>
          <p:cNvPr id="15" name="Text 13"/>
          <p:cNvSpPr/>
          <p:nvPr/>
        </p:nvSpPr>
        <p:spPr>
          <a:xfrm>
            <a:off x="8476488" y="1783080"/>
            <a:ext cx="3209544" cy="1188720"/>
          </a:xfrm>
          <a:prstGeom prst="roundRect">
            <a:avLst>
              <a:gd name="adj" fmla="val 7692"/>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600" b="1" dirty="0">
                <a:solidFill>
                  <a:srgbClr val="0072B2"/>
                </a:solidFill>
                <a:latin typeface="メイリオ" pitchFamily="34" charset="0"/>
                <a:ea typeface="メイリオ" pitchFamily="34" charset="-122"/>
                <a:cs typeface="メイリオ" pitchFamily="34" charset="-120"/>
              </a:rPr>
              <a:t>③</a:t>
            </a:r>
            <a:r>
              <a:rPr lang="ja-JP" altLang="en-US" sz="2600" b="1" dirty="0">
                <a:solidFill>
                  <a:srgbClr val="262626"/>
                </a:solidFill>
                <a:latin typeface="メイリオ" pitchFamily="34" charset="0"/>
                <a:ea typeface="メイリオ" pitchFamily="34" charset="-122"/>
                <a:cs typeface="メイリオ" pitchFamily="34" charset="-120"/>
              </a:rPr>
              <a:t> 気化器・</a:t>
            </a:r>
            <a:endParaRPr lang="ja-JP" sz="2600" dirty="0"/>
          </a:p>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酸素濃度計</a:t>
            </a:r>
            <a:endParaRPr lang="ja-JP" sz="2600" dirty="0"/>
          </a:p>
        </p:txBody>
      </p:sp>
      <p:sp>
        <p:nvSpPr>
          <p:cNvPr id="16" name="Text 14"/>
          <p:cNvSpPr/>
          <p:nvPr/>
        </p:nvSpPr>
        <p:spPr>
          <a:xfrm>
            <a:off x="502920" y="3630168"/>
            <a:ext cx="3209544" cy="1188720"/>
          </a:xfrm>
          <a:prstGeom prst="roundRect">
            <a:avLst>
              <a:gd name="adj" fmla="val 7692"/>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600" b="1" dirty="0">
                <a:solidFill>
                  <a:srgbClr val="0072B2"/>
                </a:solidFill>
                <a:latin typeface="メイリオ" pitchFamily="34" charset="0"/>
                <a:ea typeface="メイリオ" pitchFamily="34" charset="-122"/>
                <a:cs typeface="メイリオ" pitchFamily="34" charset="-120"/>
              </a:rPr>
              <a:t>④</a:t>
            </a:r>
            <a:r>
              <a:rPr lang="ja-JP" altLang="en-US" sz="2600" b="1" dirty="0">
                <a:solidFill>
                  <a:srgbClr val="262626"/>
                </a:solidFill>
                <a:latin typeface="メイリオ" pitchFamily="34" charset="0"/>
                <a:ea typeface="メイリオ" pitchFamily="34" charset="-122"/>
                <a:cs typeface="メイリオ" pitchFamily="34" charset="-120"/>
              </a:rPr>
              <a:t> 吸収剤・</a:t>
            </a:r>
            <a:endParaRPr lang="ja-JP" sz="2600" dirty="0"/>
          </a:p>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回路のリーク</a:t>
            </a:r>
            <a:endParaRPr lang="ja-JP" sz="2600" dirty="0"/>
          </a:p>
        </p:txBody>
      </p:sp>
      <p:sp>
        <p:nvSpPr>
          <p:cNvPr id="17" name="Shape 15"/>
          <p:cNvSpPr/>
          <p:nvPr/>
        </p:nvSpPr>
        <p:spPr>
          <a:xfrm>
            <a:off x="3931920" y="4224528"/>
            <a:ext cx="338328" cy="0"/>
          </a:xfrm>
          <a:prstGeom prst="line">
            <a:avLst/>
          </a:prstGeom>
          <a:noFill/>
          <a:ln w="38100">
            <a:solidFill>
              <a:srgbClr val="404040"/>
            </a:solidFill>
            <a:prstDash val="solid"/>
            <a:tailEnd type="triangle"/>
          </a:ln>
        </p:spPr>
      </p:sp>
      <p:sp>
        <p:nvSpPr>
          <p:cNvPr id="18" name="Text 16"/>
          <p:cNvSpPr/>
          <p:nvPr/>
        </p:nvSpPr>
        <p:spPr>
          <a:xfrm>
            <a:off x="4489704" y="3630168"/>
            <a:ext cx="3209544" cy="1188720"/>
          </a:xfrm>
          <a:prstGeom prst="roundRect">
            <a:avLst>
              <a:gd name="adj" fmla="val 7692"/>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600" b="1" dirty="0">
                <a:solidFill>
                  <a:srgbClr val="0072B2"/>
                </a:solidFill>
                <a:latin typeface="メイリオ" pitchFamily="34" charset="0"/>
                <a:ea typeface="メイリオ" pitchFamily="34" charset="-122"/>
                <a:cs typeface="メイリオ" pitchFamily="34" charset="-120"/>
              </a:rPr>
              <a:t>⑤</a:t>
            </a:r>
            <a:r>
              <a:rPr lang="ja-JP" altLang="en-US" sz="2600" b="1" dirty="0">
                <a:solidFill>
                  <a:srgbClr val="262626"/>
                </a:solidFill>
                <a:latin typeface="メイリオ" pitchFamily="34" charset="0"/>
                <a:ea typeface="メイリオ" pitchFamily="34" charset="-122"/>
                <a:cs typeface="メイリオ" pitchFamily="34" charset="-120"/>
              </a:rPr>
              <a:t> 人工呼吸器・</a:t>
            </a:r>
            <a:endParaRPr lang="ja-JP" sz="2600" dirty="0"/>
          </a:p>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アラーム</a:t>
            </a:r>
            <a:endParaRPr lang="ja-JP" sz="2600" dirty="0"/>
          </a:p>
        </p:txBody>
      </p:sp>
      <p:sp>
        <p:nvSpPr>
          <p:cNvPr id="19" name="Shape 17"/>
          <p:cNvSpPr/>
          <p:nvPr/>
        </p:nvSpPr>
        <p:spPr>
          <a:xfrm>
            <a:off x="7918704" y="4224528"/>
            <a:ext cx="338328" cy="0"/>
          </a:xfrm>
          <a:prstGeom prst="line">
            <a:avLst/>
          </a:prstGeom>
          <a:noFill/>
          <a:ln w="38100">
            <a:solidFill>
              <a:srgbClr val="404040"/>
            </a:solidFill>
            <a:prstDash val="solid"/>
            <a:tailEnd type="triangle"/>
          </a:ln>
        </p:spPr>
      </p:sp>
      <p:sp>
        <p:nvSpPr>
          <p:cNvPr id="20" name="Text 18"/>
          <p:cNvSpPr/>
          <p:nvPr/>
        </p:nvSpPr>
        <p:spPr>
          <a:xfrm>
            <a:off x="8476488" y="3630168"/>
            <a:ext cx="3209544" cy="1188720"/>
          </a:xfrm>
          <a:prstGeom prst="roundRect">
            <a:avLst>
              <a:gd name="adj" fmla="val 7692"/>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600" b="1" dirty="0">
                <a:solidFill>
                  <a:srgbClr val="0072B2"/>
                </a:solidFill>
                <a:latin typeface="メイリオ" pitchFamily="34" charset="0"/>
                <a:ea typeface="メイリオ" pitchFamily="34" charset="-122"/>
                <a:cs typeface="メイリオ" pitchFamily="34" charset="-120"/>
              </a:rPr>
              <a:t>⑥</a:t>
            </a:r>
            <a:r>
              <a:rPr lang="ja-JP" altLang="en-US" sz="2600" b="1" dirty="0">
                <a:solidFill>
                  <a:srgbClr val="262626"/>
                </a:solidFill>
                <a:latin typeface="メイリオ" pitchFamily="34" charset="0"/>
                <a:ea typeface="メイリオ" pitchFamily="34" charset="-122"/>
                <a:cs typeface="メイリオ" pitchFamily="34" charset="-120"/>
              </a:rPr>
              <a:t> 吸引・予備・</a:t>
            </a:r>
            <a:endParaRPr lang="ja-JP" sz="2600" dirty="0"/>
          </a:p>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記録</a:t>
            </a:r>
            <a:endParaRPr lang="ja-JP" sz="2600" dirty="0"/>
          </a:p>
        </p:txBody>
      </p:sp>
      <p:sp>
        <p:nvSpPr>
          <p:cNvPr id="21" name="Shape 19"/>
          <p:cNvSpPr/>
          <p:nvPr/>
        </p:nvSpPr>
        <p:spPr>
          <a:xfrm>
            <a:off x="10081260" y="3063240"/>
            <a:ext cx="0" cy="237744"/>
          </a:xfrm>
          <a:prstGeom prst="line">
            <a:avLst/>
          </a:prstGeom>
          <a:noFill/>
          <a:ln w="38100">
            <a:solidFill>
              <a:srgbClr val="404040"/>
            </a:solidFill>
            <a:prstDash val="solid"/>
          </a:ln>
        </p:spPr>
      </p:sp>
      <p:sp>
        <p:nvSpPr>
          <p:cNvPr id="22" name="Shape 20"/>
          <p:cNvSpPr/>
          <p:nvPr/>
        </p:nvSpPr>
        <p:spPr>
          <a:xfrm>
            <a:off x="2107692" y="3300984"/>
            <a:ext cx="7973568" cy="0"/>
          </a:xfrm>
          <a:prstGeom prst="line">
            <a:avLst/>
          </a:prstGeom>
          <a:noFill/>
          <a:ln w="38100">
            <a:solidFill>
              <a:srgbClr val="404040"/>
            </a:solidFill>
            <a:prstDash val="solid"/>
          </a:ln>
        </p:spPr>
      </p:sp>
      <p:sp>
        <p:nvSpPr>
          <p:cNvPr id="23" name="Shape 21"/>
          <p:cNvSpPr/>
          <p:nvPr/>
        </p:nvSpPr>
        <p:spPr>
          <a:xfrm>
            <a:off x="2107692" y="3300984"/>
            <a:ext cx="0" cy="237744"/>
          </a:xfrm>
          <a:prstGeom prst="line">
            <a:avLst/>
          </a:prstGeom>
          <a:noFill/>
          <a:ln w="38100">
            <a:solidFill>
              <a:srgbClr val="404040"/>
            </a:solidFill>
            <a:prstDash val="solid"/>
            <a:tailEnd type="triangle"/>
          </a:ln>
        </p:spPr>
      </p:sp>
      <p:sp>
        <p:nvSpPr>
          <p:cNvPr id="24" name="Text 22"/>
          <p:cNvSpPr txBox="1"/>
          <p:nvPr/>
        </p:nvSpPr>
        <p:spPr>
          <a:xfrm>
            <a:off x="502920" y="5148072"/>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上流（ガスの供給）から下流（患者側）へ、</a:t>
            </a:r>
            <a:r>
              <a:rPr lang="ja-JP" altLang="en-US" sz="2800" b="1" dirty="0">
                <a:solidFill>
                  <a:srgbClr val="00A8AA"/>
                </a:solidFill>
                <a:latin typeface="メイリオ" pitchFamily="34" charset="0"/>
                <a:ea typeface="メイリオ" pitchFamily="34" charset="-122"/>
                <a:cs typeface="メイリオ" pitchFamily="34" charset="-120"/>
              </a:rPr>
              <a:t>同じ順番で毎回</a:t>
            </a:r>
            <a:endParaRPr lang="ja-JP"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ガス供給の点検</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準備</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ガス</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回路</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呼吸器</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記録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日本麻酔科学会「麻酔器の始業点検」（2022年10月改訂第6版3）</a:t>
            </a:r>
            <a:endParaRPr lang="ja-JP" sz="1600" dirty="0"/>
          </a:p>
        </p:txBody>
      </p:sp>
      <p:sp>
        <p:nvSpPr>
          <p:cNvPr id="11" name="Shape 9"/>
          <p:cNvSpPr/>
          <p:nvPr/>
        </p:nvSpPr>
        <p:spPr>
          <a:xfrm>
            <a:off x="502920" y="1691640"/>
            <a:ext cx="3581400" cy="3867912"/>
          </a:xfrm>
          <a:prstGeom prst="roundRect">
            <a:avLst>
              <a:gd name="adj" fmla="val 2043"/>
            </a:avLst>
          </a:prstGeom>
          <a:solidFill>
            <a:srgbClr val="F2F2F2"/>
          </a:solidFill>
          <a:ln/>
        </p:spPr>
      </p:sp>
      <p:sp>
        <p:nvSpPr>
          <p:cNvPr id="12" name="Text 10"/>
          <p:cNvSpPr txBox="1"/>
          <p:nvPr/>
        </p:nvSpPr>
        <p:spPr>
          <a:xfrm>
            <a:off x="722376" y="1874520"/>
            <a:ext cx="314248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補助ボンベ・流量計</a:t>
            </a:r>
            <a:endParaRPr lang="ja-JP" sz="2400" dirty="0"/>
          </a:p>
        </p:txBody>
      </p:sp>
      <p:sp>
        <p:nvSpPr>
          <p:cNvPr id="13" name="Text 11"/>
          <p:cNvSpPr txBox="1"/>
          <p:nvPr/>
        </p:nvSpPr>
        <p:spPr>
          <a:xfrm>
            <a:off x="722376" y="2536546"/>
            <a:ext cx="3142488"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酸素ボンベを開けて</a:t>
            </a:r>
            <a:endParaRPr lang="ja-JP" sz="2200" dirty="0"/>
          </a:p>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5 MPa 以上</a:t>
            </a:r>
            <a:endParaRPr lang="ja-JP" sz="2200" dirty="0"/>
          </a:p>
        </p:txBody>
      </p:sp>
      <p:sp>
        <p:nvSpPr>
          <p:cNvPr id="14" name="Text 12"/>
          <p:cNvSpPr txBox="1"/>
          <p:nvPr/>
        </p:nvSpPr>
        <p:spPr>
          <a:xfrm>
            <a:off x="722376" y="3743554"/>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酸素 5 L/分 が流れる</a:t>
            </a:r>
            <a:endParaRPr lang="ja-JP" sz="2200" dirty="0"/>
          </a:p>
        </p:txBody>
      </p:sp>
      <p:sp>
        <p:nvSpPr>
          <p:cNvPr id="15" name="Text 13"/>
          <p:cNvSpPr txBox="1"/>
          <p:nvPr/>
        </p:nvSpPr>
        <p:spPr>
          <a:xfrm>
            <a:off x="722376" y="4529938"/>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流量計が全範囲で動く</a:t>
            </a:r>
            <a:endParaRPr lang="ja-JP" sz="2200" dirty="0"/>
          </a:p>
        </p:txBody>
      </p:sp>
      <p:sp>
        <p:nvSpPr>
          <p:cNvPr id="16" name="Shape 14"/>
          <p:cNvSpPr/>
          <p:nvPr/>
        </p:nvSpPr>
        <p:spPr>
          <a:xfrm>
            <a:off x="4303776" y="1691640"/>
            <a:ext cx="3581400" cy="3867912"/>
          </a:xfrm>
          <a:prstGeom prst="roundRect">
            <a:avLst>
              <a:gd name="adj" fmla="val 2043"/>
            </a:avLst>
          </a:prstGeom>
          <a:solidFill>
            <a:srgbClr val="F2F2F2"/>
          </a:solidFill>
          <a:ln/>
        </p:spPr>
      </p:sp>
      <p:sp>
        <p:nvSpPr>
          <p:cNvPr id="17" name="Text 15"/>
          <p:cNvSpPr txBox="1"/>
          <p:nvPr/>
        </p:nvSpPr>
        <p:spPr>
          <a:xfrm>
            <a:off x="4523232" y="1874520"/>
            <a:ext cx="314248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遮断機構</a:t>
            </a:r>
            <a:endParaRPr lang="ja-JP" sz="2400" dirty="0"/>
          </a:p>
        </p:txBody>
      </p:sp>
      <p:sp>
        <p:nvSpPr>
          <p:cNvPr id="18" name="Text 16"/>
          <p:cNvSpPr txBox="1"/>
          <p:nvPr/>
        </p:nvSpPr>
        <p:spPr>
          <a:xfrm>
            <a:off x="4523232" y="2536546"/>
            <a:ext cx="3142488"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酸素と亜酸化窒素を</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5 L/分</a:t>
            </a:r>
            <a:endParaRPr lang="ja-JP" sz="2200" dirty="0"/>
          </a:p>
        </p:txBody>
      </p:sp>
      <p:sp>
        <p:nvSpPr>
          <p:cNvPr id="19" name="Text 17"/>
          <p:cNvSpPr txBox="1"/>
          <p:nvPr/>
        </p:nvSpPr>
        <p:spPr>
          <a:xfrm>
            <a:off x="4523232" y="3743554"/>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酸素ボンベを閉じる</a:t>
            </a:r>
            <a:endParaRPr lang="ja-JP" sz="2200" dirty="0"/>
          </a:p>
        </p:txBody>
      </p:sp>
      <p:sp>
        <p:nvSpPr>
          <p:cNvPr id="20" name="Text 18"/>
          <p:cNvSpPr txBox="1"/>
          <p:nvPr/>
        </p:nvSpPr>
        <p:spPr>
          <a:xfrm>
            <a:off x="4523232" y="4529938"/>
            <a:ext cx="3142488"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アラームが鳴り、</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亜酸化窒素が止まる</a:t>
            </a:r>
            <a:endParaRPr lang="ja-JP" sz="2200" dirty="0"/>
          </a:p>
        </p:txBody>
      </p:sp>
      <p:sp>
        <p:nvSpPr>
          <p:cNvPr id="21" name="Shape 19"/>
          <p:cNvSpPr/>
          <p:nvPr/>
        </p:nvSpPr>
        <p:spPr>
          <a:xfrm>
            <a:off x="8104632" y="1691640"/>
            <a:ext cx="3581400" cy="3867912"/>
          </a:xfrm>
          <a:prstGeom prst="roundRect">
            <a:avLst>
              <a:gd name="adj" fmla="val 2043"/>
            </a:avLst>
          </a:prstGeom>
          <a:solidFill>
            <a:srgbClr val="F2F2F2"/>
          </a:solidFill>
          <a:ln/>
        </p:spPr>
      </p:sp>
      <p:sp>
        <p:nvSpPr>
          <p:cNvPr id="22" name="Text 20"/>
          <p:cNvSpPr txBox="1"/>
          <p:nvPr/>
        </p:nvSpPr>
        <p:spPr>
          <a:xfrm>
            <a:off x="8324088" y="1874520"/>
            <a:ext cx="314248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配管</a:t>
            </a:r>
            <a:endParaRPr lang="ja-JP" sz="2400" dirty="0"/>
          </a:p>
        </p:txBody>
      </p:sp>
      <p:sp>
        <p:nvSpPr>
          <p:cNvPr id="23" name="Text 21"/>
          <p:cNvSpPr txBox="1"/>
          <p:nvPr/>
        </p:nvSpPr>
        <p:spPr>
          <a:xfrm>
            <a:off x="8324088" y="2536546"/>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ホースの目視と接続</a:t>
            </a:r>
            <a:endParaRPr lang="ja-JP" sz="2200" dirty="0"/>
          </a:p>
        </p:txBody>
      </p:sp>
      <p:sp>
        <p:nvSpPr>
          <p:cNvPr id="24" name="Text 22"/>
          <p:cNvSpPr txBox="1"/>
          <p:nvPr/>
        </p:nvSpPr>
        <p:spPr>
          <a:xfrm>
            <a:off x="8324088" y="3743554"/>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供給圧 </a:t>
            </a:r>
            <a:r>
              <a:rPr lang="ja-JP" altLang="en-US" sz="2200" b="1" dirty="0">
                <a:solidFill>
                  <a:srgbClr val="262626"/>
                </a:solidFill>
                <a:latin typeface="メイリオ" pitchFamily="34" charset="0"/>
                <a:ea typeface="メイリオ" pitchFamily="34" charset="-122"/>
                <a:cs typeface="メイリオ" pitchFamily="34" charset="-120"/>
              </a:rPr>
              <a:t>392 ± 49 kPa</a:t>
            </a:r>
            <a:endParaRPr lang="ja-JP" sz="2200" dirty="0"/>
          </a:p>
        </p:txBody>
      </p:sp>
      <p:sp>
        <p:nvSpPr>
          <p:cNvPr id="25" name="Text 23"/>
          <p:cNvSpPr txBox="1"/>
          <p:nvPr/>
        </p:nvSpPr>
        <p:spPr>
          <a:xfrm>
            <a:off x="8324088" y="4529938"/>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排除装置もつなぐ</a:t>
            </a:r>
            <a:endParaRPr lang="ja-JP"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気化器・濃度計・吸収剤</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準備</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ガス</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回路</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呼吸器</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記録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日本麻酔科学会「麻酔器の始業点検」（2022年10月改訂第6版3）</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Recommendations for Pre-Anesthesia Checkout Procedures（2008）</a:t>
            </a:r>
            <a:endParaRPr lang="ja-JP" sz="1600" dirty="0"/>
          </a:p>
        </p:txBody>
      </p:sp>
      <p:sp>
        <p:nvSpPr>
          <p:cNvPr id="11" name="Shape 9"/>
          <p:cNvSpPr/>
          <p:nvPr/>
        </p:nvSpPr>
        <p:spPr>
          <a:xfrm>
            <a:off x="502920" y="1691640"/>
            <a:ext cx="3581400" cy="4032504"/>
          </a:xfrm>
          <a:prstGeom prst="roundRect">
            <a:avLst>
              <a:gd name="adj" fmla="val 2043"/>
            </a:avLst>
          </a:prstGeom>
          <a:solidFill>
            <a:srgbClr val="F2F2F2"/>
          </a:solidFill>
          <a:ln/>
        </p:spPr>
      </p:sp>
      <p:sp>
        <p:nvSpPr>
          <p:cNvPr id="12" name="Text 10"/>
          <p:cNvSpPr txBox="1"/>
          <p:nvPr/>
        </p:nvSpPr>
        <p:spPr>
          <a:xfrm>
            <a:off x="722376" y="1874520"/>
            <a:ext cx="314248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気化器</a:t>
            </a:r>
            <a:endParaRPr lang="ja-JP" sz="2400" dirty="0"/>
          </a:p>
        </p:txBody>
      </p:sp>
      <p:sp>
        <p:nvSpPr>
          <p:cNvPr id="13" name="Text 11"/>
          <p:cNvSpPr txBox="1"/>
          <p:nvPr/>
        </p:nvSpPr>
        <p:spPr>
          <a:xfrm>
            <a:off x="722376" y="2536546"/>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電源・残量・注入栓</a:t>
            </a:r>
            <a:endParaRPr lang="ja-JP" sz="2200" dirty="0"/>
          </a:p>
        </p:txBody>
      </p:sp>
      <p:sp>
        <p:nvSpPr>
          <p:cNvPr id="14" name="Text 12"/>
          <p:cNvSpPr txBox="1"/>
          <p:nvPr/>
        </p:nvSpPr>
        <p:spPr>
          <a:xfrm>
            <a:off x="722376" y="3615538"/>
            <a:ext cx="3142488"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OFF で酸素を流し、</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においがしない</a:t>
            </a:r>
            <a:endParaRPr lang="ja-JP" sz="2200" dirty="0"/>
          </a:p>
        </p:txBody>
      </p:sp>
      <p:sp>
        <p:nvSpPr>
          <p:cNvPr id="15" name="Text 13"/>
          <p:cNvSpPr txBox="1"/>
          <p:nvPr/>
        </p:nvSpPr>
        <p:spPr>
          <a:xfrm>
            <a:off x="722376" y="4694530"/>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ダイヤルが円滑に動く</a:t>
            </a:r>
            <a:endParaRPr lang="ja-JP" sz="2200" dirty="0"/>
          </a:p>
        </p:txBody>
      </p:sp>
      <p:sp>
        <p:nvSpPr>
          <p:cNvPr id="16" name="Shape 14"/>
          <p:cNvSpPr/>
          <p:nvPr/>
        </p:nvSpPr>
        <p:spPr>
          <a:xfrm>
            <a:off x="4303776" y="1691640"/>
            <a:ext cx="3581400" cy="4032504"/>
          </a:xfrm>
          <a:prstGeom prst="roundRect">
            <a:avLst>
              <a:gd name="adj" fmla="val 2043"/>
            </a:avLst>
          </a:prstGeom>
          <a:solidFill>
            <a:srgbClr val="F2F2F2"/>
          </a:solidFill>
          <a:ln/>
        </p:spPr>
      </p:sp>
      <p:sp>
        <p:nvSpPr>
          <p:cNvPr id="17" name="Text 15"/>
          <p:cNvSpPr txBox="1"/>
          <p:nvPr/>
        </p:nvSpPr>
        <p:spPr>
          <a:xfrm>
            <a:off x="4523232" y="1874520"/>
            <a:ext cx="314248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酸素濃度計</a:t>
            </a:r>
            <a:endParaRPr lang="ja-JP" sz="2400" dirty="0"/>
          </a:p>
        </p:txBody>
      </p:sp>
      <p:sp>
        <p:nvSpPr>
          <p:cNvPr id="18" name="Text 16"/>
          <p:cNvSpPr txBox="1"/>
          <p:nvPr/>
        </p:nvSpPr>
        <p:spPr>
          <a:xfrm>
            <a:off x="4523232" y="2536546"/>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室内気で 21% に校正</a:t>
            </a:r>
            <a:endParaRPr lang="ja-JP" sz="2200" dirty="0"/>
          </a:p>
        </p:txBody>
      </p:sp>
      <p:sp>
        <p:nvSpPr>
          <p:cNvPr id="19" name="Text 17"/>
          <p:cNvSpPr txBox="1"/>
          <p:nvPr/>
        </p:nvSpPr>
        <p:spPr>
          <a:xfrm>
            <a:off x="4523232" y="3615538"/>
            <a:ext cx="3142488"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酸素を流して</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100% 近く</a:t>
            </a:r>
            <a:endParaRPr lang="ja-JP" sz="2200" dirty="0"/>
          </a:p>
        </p:txBody>
      </p:sp>
      <p:sp>
        <p:nvSpPr>
          <p:cNvPr id="20" name="Text 18"/>
          <p:cNvSpPr txBox="1"/>
          <p:nvPr/>
        </p:nvSpPr>
        <p:spPr>
          <a:xfrm>
            <a:off x="4523232" y="4694530"/>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下限アラームを設定</a:t>
            </a:r>
            <a:endParaRPr lang="ja-JP" sz="2200" dirty="0"/>
          </a:p>
        </p:txBody>
      </p:sp>
      <p:sp>
        <p:nvSpPr>
          <p:cNvPr id="21" name="Shape 19"/>
          <p:cNvSpPr/>
          <p:nvPr/>
        </p:nvSpPr>
        <p:spPr>
          <a:xfrm>
            <a:off x="8104632" y="1691640"/>
            <a:ext cx="3581400" cy="4032504"/>
          </a:xfrm>
          <a:prstGeom prst="roundRect">
            <a:avLst>
              <a:gd name="adj" fmla="val 2043"/>
            </a:avLst>
          </a:prstGeom>
          <a:solidFill>
            <a:srgbClr val="F2F2F2"/>
          </a:solidFill>
          <a:ln/>
        </p:spPr>
      </p:sp>
      <p:sp>
        <p:nvSpPr>
          <p:cNvPr id="22" name="Text 20"/>
          <p:cNvSpPr txBox="1"/>
          <p:nvPr/>
        </p:nvSpPr>
        <p:spPr>
          <a:xfrm>
            <a:off x="8324088" y="1874520"/>
            <a:ext cx="314248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吸収剤・回路</a:t>
            </a:r>
            <a:endParaRPr lang="ja-JP" sz="2400" dirty="0"/>
          </a:p>
        </p:txBody>
      </p:sp>
      <p:sp>
        <p:nvSpPr>
          <p:cNvPr id="23" name="Text 21"/>
          <p:cNvSpPr txBox="1"/>
          <p:nvPr/>
        </p:nvSpPr>
        <p:spPr>
          <a:xfrm>
            <a:off x="8324088" y="2536546"/>
            <a:ext cx="3142488"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色・量・詰まり方を</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目で見る</a:t>
            </a:r>
            <a:endParaRPr lang="ja-JP" sz="2200" dirty="0"/>
          </a:p>
        </p:txBody>
      </p:sp>
      <p:sp>
        <p:nvSpPr>
          <p:cNvPr id="24" name="Text 22"/>
          <p:cNvSpPr txBox="1"/>
          <p:nvPr/>
        </p:nvSpPr>
        <p:spPr>
          <a:xfrm>
            <a:off x="8324088" y="3615538"/>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水抜きのあとは閉じる</a:t>
            </a:r>
            <a:endParaRPr lang="ja-JP" sz="2200" dirty="0"/>
          </a:p>
        </p:txBody>
      </p:sp>
      <p:sp>
        <p:nvSpPr>
          <p:cNvPr id="25" name="Text 23"/>
          <p:cNvSpPr txBox="1"/>
          <p:nvPr/>
        </p:nvSpPr>
        <p:spPr>
          <a:xfrm>
            <a:off x="8324088" y="4694530"/>
            <a:ext cx="3142488"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回路を組み、</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接続を確かめる</a:t>
            </a:r>
            <a:endParaRPr lang="ja-JP"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回路のリークテスト</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準備</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ガス</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回路</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呼吸器</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記録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日本麻酔科学会「麻酔器の始業点検」（2022年10月改訂第6版3）</a:t>
            </a:r>
            <a:endParaRPr lang="ja-JP" sz="1600" dirty="0"/>
          </a:p>
        </p:txBody>
      </p:sp>
      <p:sp>
        <p:nvSpPr>
          <p:cNvPr id="11" name="Shape 9"/>
          <p:cNvSpPr/>
          <p:nvPr/>
        </p:nvSpPr>
        <p:spPr>
          <a:xfrm>
            <a:off x="502920" y="1691640"/>
            <a:ext cx="8119872" cy="603504"/>
          </a:xfrm>
          <a:prstGeom prst="roundRect">
            <a:avLst>
              <a:gd name="adj" fmla="val 12121"/>
            </a:avLst>
          </a:prstGeom>
          <a:solidFill>
            <a:srgbClr val="F2F2F2"/>
          </a:solidFill>
          <a:ln/>
        </p:spPr>
      </p:sp>
      <p:sp>
        <p:nvSpPr>
          <p:cNvPr id="12" name="Text 10"/>
          <p:cNvSpPr txBox="1"/>
          <p:nvPr/>
        </p:nvSpPr>
        <p:spPr>
          <a:xfrm>
            <a:off x="576072" y="1764792"/>
            <a:ext cx="40233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①</a:t>
            </a:r>
            <a:endParaRPr lang="ja-JP" sz="2400" dirty="0"/>
          </a:p>
        </p:txBody>
      </p:sp>
      <p:sp>
        <p:nvSpPr>
          <p:cNvPr id="13" name="Text 11"/>
          <p:cNvSpPr txBox="1"/>
          <p:nvPr/>
        </p:nvSpPr>
        <p:spPr>
          <a:xfrm>
            <a:off x="1051560" y="1764792"/>
            <a:ext cx="75255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新鮮ガス 0、APL 弁を閉じ、Y ピースを塞ぐ</a:t>
            </a:r>
            <a:endParaRPr lang="ja-JP" sz="2400" dirty="0"/>
          </a:p>
        </p:txBody>
      </p:sp>
      <p:sp>
        <p:nvSpPr>
          <p:cNvPr id="14" name="Shape 12"/>
          <p:cNvSpPr/>
          <p:nvPr/>
        </p:nvSpPr>
        <p:spPr>
          <a:xfrm>
            <a:off x="502920" y="2514600"/>
            <a:ext cx="8119872" cy="603504"/>
          </a:xfrm>
          <a:prstGeom prst="roundRect">
            <a:avLst>
              <a:gd name="adj" fmla="val 12121"/>
            </a:avLst>
          </a:prstGeom>
          <a:solidFill>
            <a:srgbClr val="F2F2F2"/>
          </a:solidFill>
          <a:ln/>
        </p:spPr>
      </p:sp>
      <p:sp>
        <p:nvSpPr>
          <p:cNvPr id="15" name="Text 13"/>
          <p:cNvSpPr txBox="1"/>
          <p:nvPr/>
        </p:nvSpPr>
        <p:spPr>
          <a:xfrm>
            <a:off x="576072" y="2587752"/>
            <a:ext cx="40233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②</a:t>
            </a:r>
            <a:endParaRPr lang="ja-JP" sz="2400" dirty="0"/>
          </a:p>
        </p:txBody>
      </p:sp>
      <p:sp>
        <p:nvSpPr>
          <p:cNvPr id="16" name="Text 14"/>
          <p:cNvSpPr txBox="1"/>
          <p:nvPr/>
        </p:nvSpPr>
        <p:spPr>
          <a:xfrm>
            <a:off x="1051560" y="2587752"/>
            <a:ext cx="75255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酸素 5〜10 L/分 で 30 cmH2O まで膨らます</a:t>
            </a:r>
            <a:endParaRPr lang="ja-JP" sz="2400" dirty="0"/>
          </a:p>
        </p:txBody>
      </p:sp>
      <p:sp>
        <p:nvSpPr>
          <p:cNvPr id="17" name="Shape 15"/>
          <p:cNvSpPr/>
          <p:nvPr/>
        </p:nvSpPr>
        <p:spPr>
          <a:xfrm>
            <a:off x="502920" y="3337560"/>
            <a:ext cx="8119872" cy="603504"/>
          </a:xfrm>
          <a:prstGeom prst="roundRect">
            <a:avLst>
              <a:gd name="adj" fmla="val 12121"/>
            </a:avLst>
          </a:prstGeom>
          <a:solidFill>
            <a:srgbClr val="F2F2F2"/>
          </a:solidFill>
          <a:ln/>
        </p:spPr>
      </p:sp>
      <p:sp>
        <p:nvSpPr>
          <p:cNvPr id="18" name="Text 16"/>
          <p:cNvSpPr txBox="1"/>
          <p:nvPr/>
        </p:nvSpPr>
        <p:spPr>
          <a:xfrm>
            <a:off x="576072" y="3410712"/>
            <a:ext cx="40233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③</a:t>
            </a:r>
            <a:endParaRPr lang="ja-JP" sz="2400" dirty="0"/>
          </a:p>
        </p:txBody>
      </p:sp>
      <p:sp>
        <p:nvSpPr>
          <p:cNvPr id="19" name="Text 17"/>
          <p:cNvSpPr txBox="1"/>
          <p:nvPr/>
        </p:nvSpPr>
        <p:spPr>
          <a:xfrm>
            <a:off x="1051560" y="3410712"/>
            <a:ext cx="75255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バッグを押して 40〜50 cmH2O、漏れがない</a:t>
            </a:r>
            <a:endParaRPr lang="ja-JP" sz="2400" dirty="0"/>
          </a:p>
        </p:txBody>
      </p:sp>
      <p:sp>
        <p:nvSpPr>
          <p:cNvPr id="20" name="Shape 18"/>
          <p:cNvSpPr/>
          <p:nvPr/>
        </p:nvSpPr>
        <p:spPr>
          <a:xfrm>
            <a:off x="502920" y="4160520"/>
            <a:ext cx="8119872" cy="1060704"/>
          </a:xfrm>
          <a:prstGeom prst="roundRect">
            <a:avLst>
              <a:gd name="adj" fmla="val 6897"/>
            </a:avLst>
          </a:prstGeom>
          <a:solidFill>
            <a:srgbClr val="F2F2F2"/>
          </a:solidFill>
          <a:ln/>
        </p:spPr>
      </p:sp>
      <p:sp>
        <p:nvSpPr>
          <p:cNvPr id="21" name="Text 19"/>
          <p:cNvSpPr txBox="1"/>
          <p:nvPr/>
        </p:nvSpPr>
        <p:spPr>
          <a:xfrm>
            <a:off x="576072" y="4233672"/>
            <a:ext cx="40233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④</a:t>
            </a:r>
            <a:endParaRPr lang="ja-JP" sz="2400" dirty="0"/>
          </a:p>
        </p:txBody>
      </p:sp>
      <p:sp>
        <p:nvSpPr>
          <p:cNvPr id="22" name="Text 20"/>
          <p:cNvSpPr txBox="1"/>
          <p:nvPr/>
        </p:nvSpPr>
        <p:spPr>
          <a:xfrm>
            <a:off x="1051560" y="4233672"/>
            <a:ext cx="7525512"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APL 弁を開いて圧が下がる。</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酸素フラッシュが出る</a:t>
            </a:r>
            <a:endParaRPr lang="ja-JP" sz="2400" dirty="0"/>
          </a:p>
        </p:txBody>
      </p:sp>
      <p:sp>
        <p:nvSpPr>
          <p:cNvPr id="23" name="Shape 21"/>
          <p:cNvSpPr/>
          <p:nvPr/>
        </p:nvSpPr>
        <p:spPr>
          <a:xfrm>
            <a:off x="502920" y="5440680"/>
            <a:ext cx="8119872" cy="603504"/>
          </a:xfrm>
          <a:prstGeom prst="roundRect">
            <a:avLst>
              <a:gd name="adj" fmla="val 12121"/>
            </a:avLst>
          </a:prstGeom>
          <a:solidFill>
            <a:srgbClr val="F2F2F2"/>
          </a:solidFill>
          <a:ln/>
        </p:spPr>
      </p:sp>
      <p:sp>
        <p:nvSpPr>
          <p:cNvPr id="24" name="Text 22"/>
          <p:cNvSpPr txBox="1"/>
          <p:nvPr/>
        </p:nvSpPr>
        <p:spPr>
          <a:xfrm>
            <a:off x="576072" y="5513832"/>
            <a:ext cx="40233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⑤</a:t>
            </a:r>
            <a:endParaRPr lang="ja-JP" sz="2400" dirty="0"/>
          </a:p>
        </p:txBody>
      </p:sp>
      <p:sp>
        <p:nvSpPr>
          <p:cNvPr id="25" name="Text 23"/>
          <p:cNvSpPr txBox="1"/>
          <p:nvPr/>
        </p:nvSpPr>
        <p:spPr>
          <a:xfrm>
            <a:off x="1051560" y="5513832"/>
            <a:ext cx="75255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テスト肺をつけて用手換気、一方弁の動きを見る</a:t>
            </a:r>
            <a:endParaRPr lang="ja-JP" sz="2400" dirty="0"/>
          </a:p>
        </p:txBody>
      </p:sp>
      <p:sp>
        <p:nvSpPr>
          <p:cNvPr id="26" name="Text 24"/>
          <p:cNvSpPr/>
          <p:nvPr/>
        </p:nvSpPr>
        <p:spPr>
          <a:xfrm>
            <a:off x="8878824" y="2610612"/>
            <a:ext cx="2807208" cy="2514600"/>
          </a:xfrm>
          <a:prstGeom prst="roundRect">
            <a:avLst>
              <a:gd name="adj" fmla="val 3636"/>
            </a:avLst>
          </a:prstGeom>
          <a:solidFill>
            <a:srgbClr val="FFFFFF"/>
          </a:solidFill>
          <a:ln w="38100">
            <a:solidFill>
              <a:srgbClr val="C00000"/>
            </a:solidFill>
          </a:ln>
        </p:spPr>
        <p:txBody>
          <a:bodyPr wrap="square" lIns="91440" tIns="91440" rIns="91440" bIns="91440" rtlCol="0" anchor="ctr"/>
          <a:lstStyle/>
          <a:p>
            <a:pPr algn="ctr" indent="0" marL="0">
              <a:buNone/>
            </a:pPr>
            <a:r>
              <a:rPr lang="ja-JP" altLang="en-US" sz="2600" b="1" dirty="0">
                <a:solidFill>
                  <a:srgbClr val="C00000"/>
                </a:solidFill>
                <a:latin typeface="メイリオ" pitchFamily="34" charset="0"/>
                <a:ea typeface="メイリオ" pitchFamily="34" charset="-122"/>
                <a:cs typeface="メイリオ" pitchFamily="34" charset="-120"/>
              </a:rPr>
              <a:t>回路や吸収剤を</a:t>
            </a:r>
            <a:endParaRPr lang="ja-JP" sz="2600" dirty="0"/>
          </a:p>
          <a:p>
            <a:pPr algn="ctr" indent="0" marL="0">
              <a:buNone/>
            </a:pPr>
            <a:r>
              <a:rPr lang="ja-JP" altLang="en-US" sz="2600" b="1" dirty="0">
                <a:solidFill>
                  <a:srgbClr val="C00000"/>
                </a:solidFill>
                <a:latin typeface="メイリオ" pitchFamily="34" charset="0"/>
                <a:ea typeface="メイリオ" pitchFamily="34" charset="-122"/>
                <a:cs typeface="メイリオ" pitchFamily="34" charset="-120"/>
              </a:rPr>
              <a:t>交換したら、</a:t>
            </a:r>
            <a:endParaRPr lang="ja-JP" sz="2600" dirty="0"/>
          </a:p>
          <a:p>
            <a:pPr algn="ctr" indent="0" marL="0">
              <a:buNone/>
            </a:pPr>
            <a:r>
              <a:rPr lang="ja-JP" altLang="en-US" sz="2600" b="1" dirty="0">
                <a:solidFill>
                  <a:srgbClr val="C00000"/>
                </a:solidFill>
                <a:latin typeface="メイリオ" pitchFamily="34" charset="0"/>
                <a:ea typeface="メイリオ" pitchFamily="34" charset="-122"/>
                <a:cs typeface="メイリオ" pitchFamily="34" charset="-120"/>
              </a:rPr>
              <a:t>もう一度</a:t>
            </a:r>
            <a:endParaRPr lang="ja-JP" sz="2600" dirty="0"/>
          </a:p>
          <a:p>
            <a:pPr algn="ctr" indent="0" marL="0">
              <a:buNone/>
            </a:pPr>
            <a:r>
              <a:rPr lang="ja-JP" altLang="en-US" sz="2600" b="1" dirty="0">
                <a:solidFill>
                  <a:srgbClr val="C00000"/>
                </a:solidFill>
                <a:latin typeface="メイリオ" pitchFamily="34" charset="0"/>
                <a:ea typeface="メイリオ" pitchFamily="34" charset="-122"/>
                <a:cs typeface="メイリオ" pitchFamily="34" charset="-120"/>
              </a:rPr>
              <a:t>リークテスト</a:t>
            </a:r>
            <a:endParaRPr lang="ja-JP"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人工呼吸器とアラーム</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準備</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ガス</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回路</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呼吸器</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記録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日本麻酔科学会「麻酔器の始業点検」（2022年10月改訂第6版3）</a:t>
            </a:r>
            <a:endParaRPr lang="ja-JP" sz="1600" dirty="0"/>
          </a:p>
        </p:txBody>
      </p:sp>
      <p:sp>
        <p:nvSpPr>
          <p:cNvPr id="11" name="Shape 9"/>
          <p:cNvSpPr/>
          <p:nvPr/>
        </p:nvSpPr>
        <p:spPr>
          <a:xfrm>
            <a:off x="502920" y="1737360"/>
            <a:ext cx="8119872" cy="658368"/>
          </a:xfrm>
          <a:prstGeom prst="roundRect">
            <a:avLst>
              <a:gd name="adj" fmla="val 11111"/>
            </a:avLst>
          </a:prstGeom>
          <a:solidFill>
            <a:srgbClr val="F2F2F2"/>
          </a:solidFill>
          <a:ln/>
        </p:spPr>
      </p:sp>
      <p:sp>
        <p:nvSpPr>
          <p:cNvPr id="12" name="Text 10"/>
          <p:cNvSpPr txBox="1"/>
          <p:nvPr/>
        </p:nvSpPr>
        <p:spPr>
          <a:xfrm>
            <a:off x="576072" y="1837944"/>
            <a:ext cx="40233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①</a:t>
            </a:r>
            <a:endParaRPr lang="ja-JP" sz="2400" dirty="0"/>
          </a:p>
        </p:txBody>
      </p:sp>
      <p:sp>
        <p:nvSpPr>
          <p:cNvPr id="13" name="Text 11"/>
          <p:cNvSpPr txBox="1"/>
          <p:nvPr/>
        </p:nvSpPr>
        <p:spPr>
          <a:xfrm>
            <a:off x="1051560" y="1837944"/>
            <a:ext cx="75255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テスト肺をつけ、用手から人工呼吸に切り替える</a:t>
            </a:r>
            <a:endParaRPr lang="ja-JP" sz="2400" dirty="0"/>
          </a:p>
        </p:txBody>
      </p:sp>
      <p:sp>
        <p:nvSpPr>
          <p:cNvPr id="14" name="Shape 12"/>
          <p:cNvSpPr/>
          <p:nvPr/>
        </p:nvSpPr>
        <p:spPr>
          <a:xfrm>
            <a:off x="502920" y="2615184"/>
            <a:ext cx="8119872" cy="658368"/>
          </a:xfrm>
          <a:prstGeom prst="roundRect">
            <a:avLst>
              <a:gd name="adj" fmla="val 11111"/>
            </a:avLst>
          </a:prstGeom>
          <a:solidFill>
            <a:srgbClr val="F2F2F2"/>
          </a:solidFill>
          <a:ln/>
        </p:spPr>
      </p:sp>
      <p:sp>
        <p:nvSpPr>
          <p:cNvPr id="15" name="Text 13"/>
          <p:cNvSpPr txBox="1"/>
          <p:nvPr/>
        </p:nvSpPr>
        <p:spPr>
          <a:xfrm>
            <a:off x="576072" y="2715768"/>
            <a:ext cx="40233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②</a:t>
            </a:r>
            <a:endParaRPr lang="ja-JP" sz="2400" dirty="0"/>
          </a:p>
        </p:txBody>
      </p:sp>
      <p:sp>
        <p:nvSpPr>
          <p:cNvPr id="16" name="Text 14"/>
          <p:cNvSpPr txBox="1"/>
          <p:nvPr/>
        </p:nvSpPr>
        <p:spPr>
          <a:xfrm>
            <a:off x="1051560" y="2715768"/>
            <a:ext cx="75255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従量式で換気量・気道内圧の表示を見る</a:t>
            </a:r>
            <a:endParaRPr lang="ja-JP" sz="2400" dirty="0"/>
          </a:p>
        </p:txBody>
      </p:sp>
      <p:sp>
        <p:nvSpPr>
          <p:cNvPr id="17" name="Shape 15"/>
          <p:cNvSpPr/>
          <p:nvPr/>
        </p:nvSpPr>
        <p:spPr>
          <a:xfrm>
            <a:off x="502920" y="3493008"/>
            <a:ext cx="8119872" cy="658368"/>
          </a:xfrm>
          <a:prstGeom prst="roundRect">
            <a:avLst>
              <a:gd name="adj" fmla="val 11111"/>
            </a:avLst>
          </a:prstGeom>
          <a:solidFill>
            <a:srgbClr val="F2F2F2"/>
          </a:solidFill>
          <a:ln/>
        </p:spPr>
      </p:sp>
      <p:sp>
        <p:nvSpPr>
          <p:cNvPr id="18" name="Text 16"/>
          <p:cNvSpPr txBox="1"/>
          <p:nvPr/>
        </p:nvSpPr>
        <p:spPr>
          <a:xfrm>
            <a:off x="576072" y="3593592"/>
            <a:ext cx="40233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③</a:t>
            </a:r>
            <a:endParaRPr lang="ja-JP" sz="2400" dirty="0"/>
          </a:p>
        </p:txBody>
      </p:sp>
      <p:sp>
        <p:nvSpPr>
          <p:cNvPr id="19" name="Text 17"/>
          <p:cNvSpPr txBox="1"/>
          <p:nvPr/>
        </p:nvSpPr>
        <p:spPr>
          <a:xfrm>
            <a:off x="1051560" y="3593592"/>
            <a:ext cx="75255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従量式：テスト肺を外して低圧アラーム</a:t>
            </a:r>
            <a:endParaRPr lang="ja-JP" sz="2400" dirty="0"/>
          </a:p>
        </p:txBody>
      </p:sp>
      <p:sp>
        <p:nvSpPr>
          <p:cNvPr id="20" name="Shape 18"/>
          <p:cNvSpPr/>
          <p:nvPr/>
        </p:nvSpPr>
        <p:spPr>
          <a:xfrm>
            <a:off x="502920" y="4370832"/>
            <a:ext cx="8119872" cy="658368"/>
          </a:xfrm>
          <a:prstGeom prst="roundRect">
            <a:avLst>
              <a:gd name="adj" fmla="val 11111"/>
            </a:avLst>
          </a:prstGeom>
          <a:solidFill>
            <a:srgbClr val="F2F2F2"/>
          </a:solidFill>
          <a:ln/>
        </p:spPr>
      </p:sp>
      <p:sp>
        <p:nvSpPr>
          <p:cNvPr id="21" name="Text 19"/>
          <p:cNvSpPr txBox="1"/>
          <p:nvPr/>
        </p:nvSpPr>
        <p:spPr>
          <a:xfrm>
            <a:off x="576072" y="4471416"/>
            <a:ext cx="40233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④</a:t>
            </a:r>
            <a:endParaRPr lang="ja-JP" sz="2400" dirty="0"/>
          </a:p>
        </p:txBody>
      </p:sp>
      <p:sp>
        <p:nvSpPr>
          <p:cNvPr id="22" name="Text 20"/>
          <p:cNvSpPr txBox="1"/>
          <p:nvPr/>
        </p:nvSpPr>
        <p:spPr>
          <a:xfrm>
            <a:off x="1051560" y="4471416"/>
            <a:ext cx="75255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従量式：Y ピースを塞いで高圧アラーム</a:t>
            </a:r>
            <a:endParaRPr lang="ja-JP" sz="2400" dirty="0"/>
          </a:p>
        </p:txBody>
      </p:sp>
      <p:sp>
        <p:nvSpPr>
          <p:cNvPr id="23" name="Shape 21"/>
          <p:cNvSpPr/>
          <p:nvPr/>
        </p:nvSpPr>
        <p:spPr>
          <a:xfrm>
            <a:off x="502920" y="5248656"/>
            <a:ext cx="8119872" cy="658368"/>
          </a:xfrm>
          <a:prstGeom prst="roundRect">
            <a:avLst>
              <a:gd name="adj" fmla="val 11111"/>
            </a:avLst>
          </a:prstGeom>
          <a:solidFill>
            <a:srgbClr val="F2F2F2"/>
          </a:solidFill>
          <a:ln/>
        </p:spPr>
      </p:sp>
      <p:sp>
        <p:nvSpPr>
          <p:cNvPr id="24" name="Text 22"/>
          <p:cNvSpPr txBox="1"/>
          <p:nvPr/>
        </p:nvSpPr>
        <p:spPr>
          <a:xfrm>
            <a:off x="576072" y="5349240"/>
            <a:ext cx="40233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⑤</a:t>
            </a:r>
            <a:endParaRPr lang="ja-JP" sz="2400" dirty="0"/>
          </a:p>
        </p:txBody>
      </p:sp>
      <p:sp>
        <p:nvSpPr>
          <p:cNvPr id="25" name="Text 23"/>
          <p:cNvSpPr txBox="1"/>
          <p:nvPr/>
        </p:nvSpPr>
        <p:spPr>
          <a:xfrm>
            <a:off x="1051560" y="5349240"/>
            <a:ext cx="75255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従圧式：回路を塞いで低換気量アラーム</a:t>
            </a:r>
            <a:endParaRPr lang="ja-JP" sz="2400" dirty="0"/>
          </a:p>
        </p:txBody>
      </p:sp>
      <p:sp>
        <p:nvSpPr>
          <p:cNvPr id="26" name="Shape 24"/>
          <p:cNvSpPr/>
          <p:nvPr/>
        </p:nvSpPr>
        <p:spPr>
          <a:xfrm>
            <a:off x="8860536" y="2436876"/>
            <a:ext cx="2825496" cy="2770632"/>
          </a:xfrm>
          <a:prstGeom prst="roundRect">
            <a:avLst>
              <a:gd name="adj" fmla="val 2640"/>
            </a:avLst>
          </a:prstGeom>
          <a:solidFill>
            <a:srgbClr val="F2F2F2"/>
          </a:solidFill>
          <a:ln/>
        </p:spPr>
      </p:sp>
      <p:sp>
        <p:nvSpPr>
          <p:cNvPr id="27" name="Text 25"/>
          <p:cNvSpPr txBox="1"/>
          <p:nvPr/>
        </p:nvSpPr>
        <p:spPr>
          <a:xfrm>
            <a:off x="9079992" y="2638044"/>
            <a:ext cx="2386584"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切り替え</a:t>
            </a:r>
            <a:endParaRPr lang="ja-JP" sz="2400" dirty="0"/>
          </a:p>
        </p:txBody>
      </p:sp>
      <p:sp>
        <p:nvSpPr>
          <p:cNvPr id="28" name="Text 26"/>
          <p:cNvSpPr txBox="1"/>
          <p:nvPr/>
        </p:nvSpPr>
        <p:spPr>
          <a:xfrm>
            <a:off x="9079992" y="3369564"/>
            <a:ext cx="23865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バッグ </a:t>
            </a:r>
            <a:r>
              <a:rPr lang="ja-JP" altLang="en-US" sz="2200" b="1" dirty="0">
                <a:solidFill>
                  <a:srgbClr val="0072B2"/>
                </a:solidFill>
                <a:latin typeface="メイリオ" pitchFamily="34" charset="0"/>
                <a:ea typeface="メイリオ" pitchFamily="34" charset="-122"/>
                <a:cs typeface="メイリオ" pitchFamily="34" charset="-120"/>
              </a:rPr>
              <a:t>↔</a:t>
            </a:r>
            <a:r>
              <a:rPr lang="ja-JP" altLang="en-US" sz="2200" dirty="0">
                <a:solidFill>
                  <a:srgbClr val="262626"/>
                </a:solidFill>
                <a:latin typeface="メイリオ" pitchFamily="34" charset="0"/>
                <a:ea typeface="メイリオ" pitchFamily="34" charset="-122"/>
                <a:cs typeface="メイリオ" pitchFamily="34" charset="-120"/>
              </a:rPr>
              <a:t> 呼吸器</a:t>
            </a:r>
            <a:endParaRPr lang="ja-JP" sz="2200" dirty="0"/>
          </a:p>
        </p:txBody>
      </p:sp>
      <p:sp>
        <p:nvSpPr>
          <p:cNvPr id="29" name="Text 27"/>
          <p:cNvSpPr txBox="1"/>
          <p:nvPr/>
        </p:nvSpPr>
        <p:spPr>
          <a:xfrm>
            <a:off x="9079992" y="4155948"/>
            <a:ext cx="2386584"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切り替えたら</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胸と EtCO2</a:t>
            </a:r>
            <a:endParaRPr lang="ja-JP"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排除装置・吸引・予備</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準備</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ガス</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回路</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呼吸器</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記録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日本麻酔科学会「麻酔器の始業点検」（2022年10月改訂第6版3）</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Recommendations for Pre-Anesthesia Checkout Procedures（2008）</a:t>
            </a:r>
            <a:endParaRPr lang="ja-JP" sz="1600" dirty="0"/>
          </a:p>
        </p:txBody>
      </p:sp>
      <p:sp>
        <p:nvSpPr>
          <p:cNvPr id="11" name="Shape 9"/>
          <p:cNvSpPr/>
          <p:nvPr/>
        </p:nvSpPr>
        <p:spPr>
          <a:xfrm>
            <a:off x="502920" y="1691640"/>
            <a:ext cx="3581400" cy="3867912"/>
          </a:xfrm>
          <a:prstGeom prst="roundRect">
            <a:avLst>
              <a:gd name="adj" fmla="val 2043"/>
            </a:avLst>
          </a:prstGeom>
          <a:solidFill>
            <a:srgbClr val="F2F2F2"/>
          </a:solidFill>
          <a:ln/>
        </p:spPr>
      </p:sp>
      <p:sp>
        <p:nvSpPr>
          <p:cNvPr id="12" name="Text 10"/>
          <p:cNvSpPr txBox="1"/>
          <p:nvPr/>
        </p:nvSpPr>
        <p:spPr>
          <a:xfrm>
            <a:off x="722376" y="1874520"/>
            <a:ext cx="314248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余剰ガス排除</a:t>
            </a:r>
            <a:endParaRPr lang="ja-JP" sz="2400" dirty="0"/>
          </a:p>
        </p:txBody>
      </p:sp>
      <p:sp>
        <p:nvSpPr>
          <p:cNvPr id="13" name="Text 11"/>
          <p:cNvSpPr txBox="1"/>
          <p:nvPr/>
        </p:nvSpPr>
        <p:spPr>
          <a:xfrm>
            <a:off x="722376" y="2536546"/>
            <a:ext cx="3142488"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吸引圧 1 kPa 以上</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2 kPa 未満</a:t>
            </a:r>
            <a:endParaRPr lang="ja-JP" sz="2200" dirty="0"/>
          </a:p>
        </p:txBody>
      </p:sp>
      <p:sp>
        <p:nvSpPr>
          <p:cNvPr id="14" name="Text 12"/>
          <p:cNvSpPr txBox="1"/>
          <p:nvPr/>
        </p:nvSpPr>
        <p:spPr>
          <a:xfrm>
            <a:off x="722376" y="3743554"/>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または 25〜50 L/分</a:t>
            </a:r>
            <a:endParaRPr lang="ja-JP" sz="2200" dirty="0"/>
          </a:p>
        </p:txBody>
      </p:sp>
      <p:sp>
        <p:nvSpPr>
          <p:cNvPr id="15" name="Text 13"/>
          <p:cNvSpPr txBox="1"/>
          <p:nvPr/>
        </p:nvSpPr>
        <p:spPr>
          <a:xfrm>
            <a:off x="722376" y="4529938"/>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接続が外れていない</a:t>
            </a:r>
            <a:endParaRPr lang="ja-JP" sz="2200" dirty="0"/>
          </a:p>
        </p:txBody>
      </p:sp>
      <p:sp>
        <p:nvSpPr>
          <p:cNvPr id="16" name="Shape 14"/>
          <p:cNvSpPr/>
          <p:nvPr/>
        </p:nvSpPr>
        <p:spPr>
          <a:xfrm>
            <a:off x="4303776" y="1691640"/>
            <a:ext cx="3581400" cy="3867912"/>
          </a:xfrm>
          <a:prstGeom prst="roundRect">
            <a:avLst>
              <a:gd name="adj" fmla="val 2043"/>
            </a:avLst>
          </a:prstGeom>
          <a:solidFill>
            <a:srgbClr val="F2F2F2"/>
          </a:solidFill>
          <a:ln/>
        </p:spPr>
      </p:sp>
      <p:sp>
        <p:nvSpPr>
          <p:cNvPr id="17" name="Text 15"/>
          <p:cNvSpPr txBox="1"/>
          <p:nvPr/>
        </p:nvSpPr>
        <p:spPr>
          <a:xfrm>
            <a:off x="4523232" y="1874520"/>
            <a:ext cx="314248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吸引器</a:t>
            </a:r>
            <a:endParaRPr lang="ja-JP" sz="2400" dirty="0"/>
          </a:p>
        </p:txBody>
      </p:sp>
      <p:sp>
        <p:nvSpPr>
          <p:cNvPr id="18" name="Text 16"/>
          <p:cNvSpPr txBox="1"/>
          <p:nvPr/>
        </p:nvSpPr>
        <p:spPr>
          <a:xfrm>
            <a:off x="4523232" y="2536546"/>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吸引圧が上がる</a:t>
            </a:r>
            <a:endParaRPr lang="ja-JP" sz="2200" dirty="0"/>
          </a:p>
        </p:txBody>
      </p:sp>
      <p:sp>
        <p:nvSpPr>
          <p:cNvPr id="19" name="Text 17"/>
          <p:cNvSpPr txBox="1"/>
          <p:nvPr/>
        </p:nvSpPr>
        <p:spPr>
          <a:xfrm>
            <a:off x="4523232" y="3743554"/>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カテーテルと予備</a:t>
            </a:r>
            <a:endParaRPr lang="ja-JP" sz="2200" dirty="0"/>
          </a:p>
        </p:txBody>
      </p:sp>
      <p:sp>
        <p:nvSpPr>
          <p:cNvPr id="20" name="Text 18"/>
          <p:cNvSpPr txBox="1"/>
          <p:nvPr/>
        </p:nvSpPr>
        <p:spPr>
          <a:xfrm>
            <a:off x="4523232" y="4529938"/>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手の届く所に</a:t>
            </a:r>
            <a:endParaRPr lang="ja-JP" sz="2200" dirty="0"/>
          </a:p>
        </p:txBody>
      </p:sp>
      <p:sp>
        <p:nvSpPr>
          <p:cNvPr id="21" name="Shape 19"/>
          <p:cNvSpPr/>
          <p:nvPr/>
        </p:nvSpPr>
        <p:spPr>
          <a:xfrm>
            <a:off x="8104632" y="1691640"/>
            <a:ext cx="3581400" cy="3867912"/>
          </a:xfrm>
          <a:prstGeom prst="roundRect">
            <a:avLst>
              <a:gd name="adj" fmla="val 2043"/>
            </a:avLst>
          </a:prstGeom>
          <a:solidFill>
            <a:srgbClr val="F2F2F2"/>
          </a:solidFill>
          <a:ln/>
        </p:spPr>
      </p:sp>
      <p:sp>
        <p:nvSpPr>
          <p:cNvPr id="22" name="Text 20"/>
          <p:cNvSpPr txBox="1"/>
          <p:nvPr/>
        </p:nvSpPr>
        <p:spPr>
          <a:xfrm>
            <a:off x="8324088" y="1874520"/>
            <a:ext cx="314248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予備の換気</a:t>
            </a:r>
            <a:endParaRPr lang="ja-JP" sz="2400" dirty="0"/>
          </a:p>
        </p:txBody>
      </p:sp>
      <p:sp>
        <p:nvSpPr>
          <p:cNvPr id="23" name="Text 21"/>
          <p:cNvSpPr txBox="1"/>
          <p:nvPr/>
        </p:nvSpPr>
        <p:spPr>
          <a:xfrm>
            <a:off x="8324088" y="2536546"/>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自己膨張式バッグ</a:t>
            </a:r>
            <a:endParaRPr lang="ja-JP" sz="2200" dirty="0"/>
          </a:p>
        </p:txBody>
      </p:sp>
      <p:sp>
        <p:nvSpPr>
          <p:cNvPr id="24" name="Text 22"/>
          <p:cNvSpPr txBox="1"/>
          <p:nvPr/>
        </p:nvSpPr>
        <p:spPr>
          <a:xfrm>
            <a:off x="8324088" y="3743554"/>
            <a:ext cx="31424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予備の酸素ボンベ</a:t>
            </a:r>
            <a:endParaRPr lang="ja-JP" sz="2200" dirty="0"/>
          </a:p>
        </p:txBody>
      </p:sp>
      <p:sp>
        <p:nvSpPr>
          <p:cNvPr id="25" name="Text 23"/>
          <p:cNvSpPr txBox="1"/>
          <p:nvPr/>
        </p:nvSpPr>
        <p:spPr>
          <a:xfrm>
            <a:off x="8324088" y="4529938"/>
            <a:ext cx="3142488"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マスクと</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経口エアウェイ</a:t>
            </a:r>
            <a:endParaRPr lang="ja-JP"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記録と異常時</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準備</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ガス</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回路</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呼吸器</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記録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日本麻酔科学会「麻酔器の始業点検」（2022年10月改訂第6版3）</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Recommendations for Pre-Anesthesia Checkout Procedures（2008） / 施設の点検表</a:t>
            </a:r>
            <a:endParaRPr lang="ja-JP" sz="1600" dirty="0"/>
          </a:p>
        </p:txBody>
      </p:sp>
      <p:sp>
        <p:nvSpPr>
          <p:cNvPr id="11" name="Text 9"/>
          <p:cNvSpPr txBox="1"/>
          <p:nvPr/>
        </p:nvSpPr>
        <p:spPr>
          <a:xfrm>
            <a:off x="502920" y="1737360"/>
            <a:ext cx="11155680" cy="2816352"/>
          </a:xfrm>
          <a:prstGeom prst="rect">
            <a:avLst/>
          </a:prstGeom>
          <a:noFill/>
          <a:ln/>
        </p:spPr>
        <p:txBody>
          <a:bodyPr wrap="square" lIns="0" tIns="0" rIns="0" bIns="0" rtlCol="0" anchor="t"/>
          <a:lstStyle/>
          <a:p>
            <a:pPr algn="l" marL="368300" indent="-368300">
              <a:spcAft>
                <a:spcPts val="2200"/>
              </a:spcAft>
              <a:buSzPct val="100000"/>
              <a:buChar char="•"/>
            </a:pPr>
            <a:r>
              <a:rPr lang="ja-JP" altLang="en-US" sz="2500" dirty="0">
                <a:solidFill>
                  <a:srgbClr val="262626"/>
                </a:solidFill>
                <a:latin typeface="メイリオ" pitchFamily="34" charset="0"/>
                <a:ea typeface="メイリオ" pitchFamily="34" charset="-122"/>
                <a:cs typeface="メイリオ" pitchFamily="34" charset="-120"/>
              </a:rPr>
              <a:t>点検表にチェックし、日付と名前を書く</a:t>
            </a:r>
            <a:endParaRPr lang="ja-JP" sz="2500" dirty="0"/>
          </a:p>
          <a:p>
            <a:pPr algn="l" marL="368300" indent="-368300">
              <a:spcAft>
                <a:spcPts val="2200"/>
              </a:spcAft>
              <a:buSzPct val="100000"/>
              <a:buChar char="•"/>
            </a:pPr>
            <a:r>
              <a:rPr lang="ja-JP" altLang="en-US" sz="2500" dirty="0">
                <a:solidFill>
                  <a:srgbClr val="262626"/>
                </a:solidFill>
                <a:latin typeface="メイリオ" pitchFamily="34" charset="0"/>
                <a:ea typeface="メイリオ" pitchFamily="34" charset="-122"/>
                <a:cs typeface="メイリオ" pitchFamily="34" charset="-120"/>
              </a:rPr>
              <a:t>直らない異常があれば使わない。臨床工学技士に連絡する</a:t>
            </a:r>
            <a:endParaRPr lang="ja-JP" sz="2500" dirty="0"/>
          </a:p>
          <a:p>
            <a:pPr algn="l" marL="368300" indent="-368300">
              <a:spcAft>
                <a:spcPts val="2200"/>
              </a:spcAft>
              <a:buSzPct val="100000"/>
              <a:buChar char="•"/>
            </a:pPr>
            <a:r>
              <a:rPr lang="ja-JP" altLang="en-US" sz="2500" dirty="0">
                <a:solidFill>
                  <a:srgbClr val="262626"/>
                </a:solidFill>
                <a:latin typeface="メイリオ" pitchFamily="34" charset="0"/>
                <a:ea typeface="メイリオ" pitchFamily="34" charset="-122"/>
                <a:cs typeface="メイリオ" pitchFamily="34" charset="-120"/>
              </a:rPr>
              <a:t>別の麻酔器に替えるか、修理まで手術を延期する</a:t>
            </a:r>
            <a:endParaRPr lang="ja-JP" sz="2500" dirty="0"/>
          </a:p>
          <a:p>
            <a:pPr algn="l" marL="368300" indent="-368300">
              <a:spcAft>
                <a:spcPts val="2200"/>
              </a:spcAft>
              <a:buSzPct val="100000"/>
              <a:buChar char="•"/>
            </a:pPr>
            <a:r>
              <a:rPr lang="ja-JP" altLang="en-US" sz="2500" dirty="0">
                <a:solidFill>
                  <a:srgbClr val="262626"/>
                </a:solidFill>
                <a:latin typeface="メイリオ" pitchFamily="34" charset="0"/>
                <a:ea typeface="メイリオ" pitchFamily="34" charset="-122"/>
                <a:cs typeface="メイリオ" pitchFamily="34" charset="-120"/>
              </a:rPr>
              <a:t>症例の合間に回路を替えたら、リークテストをやり直す</a:t>
            </a:r>
            <a:endParaRPr lang="ja-JP" sz="2500" dirty="0"/>
          </a:p>
        </p:txBody>
      </p:sp>
      <p:sp>
        <p:nvSpPr>
          <p:cNvPr id="12" name="Text 10"/>
          <p:cNvSpPr/>
          <p:nvPr/>
        </p:nvSpPr>
        <p:spPr>
          <a:xfrm>
            <a:off x="502920" y="4846320"/>
            <a:ext cx="11183112" cy="822960"/>
          </a:xfrm>
          <a:prstGeom prst="roundRect">
            <a:avLst>
              <a:gd name="adj" fmla="val 11111"/>
            </a:avLst>
          </a:prstGeom>
          <a:solidFill>
            <a:srgbClr val="C00000"/>
          </a:solidFill>
          <a:ln/>
        </p:spPr>
        <p:txBody>
          <a:bodyPr wrap="square" lIns="91440" tIns="91440" rIns="91440" bIns="91440" rtlCol="0" anchor="ctr"/>
          <a:lstStyle/>
          <a:p>
            <a:pPr algn="ctr" indent="0" marL="0">
              <a:buNone/>
            </a:pPr>
            <a:r>
              <a:rPr lang="ja-JP" altLang="en-US" sz="2800" b="1" dirty="0">
                <a:solidFill>
                  <a:srgbClr val="FFFFFF"/>
                </a:solidFill>
                <a:latin typeface="メイリオ" pitchFamily="34" charset="0"/>
                <a:ea typeface="メイリオ" pitchFamily="34" charset="-122"/>
                <a:cs typeface="メイリオ" pitchFamily="34" charset="-120"/>
              </a:rPr>
              <a:t>麻酔器が止まっても、換気は止めない：自己膨張式バッグへ</a:t>
            </a:r>
            <a:endParaRPr lang="ja-JP"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準備</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ガス</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回路</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呼吸器</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記録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9</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日本麻酔科学会「麻酔器の始業点検」（2022年10月改訂第6版3）</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https://anesth.or.jp/files/pdf/guideline_checkout_20221117.pdf</a:t>
            </a:r>
            <a:endParaRPr lang="ja-JP" sz="1600" dirty="0"/>
          </a:p>
        </p:txBody>
      </p:sp>
      <p:sp>
        <p:nvSpPr>
          <p:cNvPr id="11" name="Text 9"/>
          <p:cNvSpPr txBox="1"/>
          <p:nvPr/>
        </p:nvSpPr>
        <p:spPr>
          <a:xfrm>
            <a:off x="502920" y="1783080"/>
            <a:ext cx="11155680" cy="4050792"/>
          </a:xfrm>
          <a:prstGeom prst="rect">
            <a:avLst/>
          </a:prstGeom>
          <a:noFill/>
          <a:ln/>
        </p:spPr>
        <p:txBody>
          <a:bodyPr wrap="square" lIns="0" tIns="0" rIns="0" bIns="0" rtlCol="0" anchor="t"/>
          <a:lstStyle/>
          <a:p>
            <a:pPr algn="l" marL="368300" indent="-368300">
              <a:spcAft>
                <a:spcPts val="3000"/>
              </a:spcAft>
              <a:buSzPct val="100000"/>
              <a:buChar char="•"/>
            </a:pPr>
            <a:r>
              <a:rPr lang="ja-JP" altLang="en-US" sz="2500" dirty="0">
                <a:solidFill>
                  <a:srgbClr val="262626"/>
                </a:solidFill>
                <a:latin typeface="メイリオ" pitchFamily="34" charset="0"/>
                <a:ea typeface="メイリオ" pitchFamily="34" charset="-122"/>
                <a:cs typeface="メイリオ" pitchFamily="34" charset="-120"/>
              </a:rPr>
              <a:t>使う人が、使う前に、毎回、同じ順番で</a:t>
            </a:r>
            <a:endParaRPr lang="ja-JP" sz="2500" dirty="0"/>
          </a:p>
          <a:p>
            <a:pPr algn="l" marL="368300" indent="-368300">
              <a:spcAft>
                <a:spcPts val="3000"/>
              </a:spcAft>
              <a:buSzPct val="100000"/>
              <a:buChar char="•"/>
            </a:pPr>
            <a:r>
              <a:rPr lang="ja-JP" altLang="en-US" sz="2500" dirty="0">
                <a:solidFill>
                  <a:srgbClr val="262626"/>
                </a:solidFill>
                <a:latin typeface="メイリオ" pitchFamily="34" charset="0"/>
                <a:ea typeface="メイリオ" pitchFamily="34" charset="-122"/>
                <a:cs typeface="メイリオ" pitchFamily="34" charset="-120"/>
              </a:rPr>
              <a:t>ボンベ → 配管 → 気化器・酸素濃度計 → 吸収剤・回路 → 呼吸器</a:t>
            </a:r>
            <a:endParaRPr lang="ja-JP" sz="2500" dirty="0"/>
          </a:p>
          <a:p>
            <a:pPr algn="l" marL="368300" indent="-368300">
              <a:spcAft>
                <a:spcPts val="3000"/>
              </a:spcAft>
              <a:buSzPct val="100000"/>
              <a:buChar char="•"/>
            </a:pPr>
            <a:r>
              <a:rPr lang="ja-JP" altLang="en-US" sz="2500" dirty="0">
                <a:solidFill>
                  <a:srgbClr val="262626"/>
                </a:solidFill>
                <a:latin typeface="メイリオ" pitchFamily="34" charset="0"/>
                <a:ea typeface="メイリオ" pitchFamily="34" charset="-122"/>
                <a:cs typeface="メイリオ" pitchFamily="34" charset="-120"/>
              </a:rPr>
              <a:t>回路や吸収剤を替えたら、リークテストをやり直す</a:t>
            </a:r>
            <a:endParaRPr lang="ja-JP" sz="2500" dirty="0"/>
          </a:p>
          <a:p>
            <a:pPr algn="l" marL="368300" indent="-368300">
              <a:spcAft>
                <a:spcPts val="3000"/>
              </a:spcAft>
              <a:buSzPct val="100000"/>
              <a:buChar char="•"/>
            </a:pPr>
            <a:r>
              <a:rPr lang="ja-JP" altLang="en-US" sz="2500" dirty="0">
                <a:solidFill>
                  <a:srgbClr val="262626"/>
                </a:solidFill>
                <a:latin typeface="メイリオ" pitchFamily="34" charset="0"/>
                <a:ea typeface="メイリオ" pitchFamily="34" charset="-122"/>
                <a:cs typeface="メイリオ" pitchFamily="34" charset="-120"/>
              </a:rPr>
              <a:t>酸素濃度計と予備の換気手段は毎朝確かめる</a:t>
            </a:r>
            <a:endParaRPr lang="ja-JP" sz="2500" dirty="0"/>
          </a:p>
          <a:p>
            <a:pPr algn="l" marL="368300" indent="-368300">
              <a:spcAft>
                <a:spcPts val="3000"/>
              </a:spcAft>
              <a:buSzPct val="100000"/>
              <a:buChar char="•"/>
            </a:pPr>
            <a:r>
              <a:rPr lang="ja-JP" altLang="en-US" sz="2500" dirty="0">
                <a:solidFill>
                  <a:srgbClr val="262626"/>
                </a:solidFill>
                <a:latin typeface="メイリオ" pitchFamily="34" charset="0"/>
                <a:ea typeface="メイリオ" pitchFamily="34" charset="-122"/>
                <a:cs typeface="メイリオ" pitchFamily="34" charset="-120"/>
              </a:rPr>
              <a:t>直らない異常があれば使わない。記録に残す</a:t>
            </a:r>
            <a:endParaRPr lang="ja-JP" sz="2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 始業点検の実際</dc:title>
  <dc:subject/>
  <dc:creator>初期研修医向け麻酔講義</dc:creator>
  <cp:lastModifiedBy>初期研修医向け麻酔講義</cp:lastModifiedBy>
  <cp:revision>1</cp:revision>
  <dcterms:created xsi:type="dcterms:W3CDTF">2026-10-14T00:26:17Z</dcterms:created>
  <dcterms:modified xsi:type="dcterms:W3CDTF">2026-10-14T00:26:17Z</dcterms:modified>
</cp:coreProperties>
</file>