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吸入麻酔薬は、気化器で新鮮ガスに混ぜ、肺から取り込ませて全身麻酔を維持する薬である。国内で主に使うのはセボフルランとデスフルラン。この回では、取り込みと排泄の仕組み、MAC（最小肺胞濃度）、2つの薬と亜酸化窒素の特徴、副作用、使い方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取り込み: 吸入した麻酔薬は肺胞から血液に溶け、脳に届く。肺胞の濃度は呼気終末の濃度（麻酔器のガス分析計で測れる）でほぼ分かり、平衡に達すれば脳の濃度の目安になる。だから吸入麻酔は「呼気濃度で管理する」。</a:t>
            </a:r>
          </a:p>
          <a:p>
            <a:r>
              <a:rPr lang="ja-JP" altLang="en-US" dirty="0"/>
              <a:t>溶けやすさ: 血液に溶けにくい薬（血液／ガス分配係数が小さい薬）は、血液が飽和しやすく肺胞濃度がすぐ上がるので、立ち上がりも覚醒も速い。デスフルラン（血液／ガス分配係数 約 0.42。0.424 ± 0.024：Eger 1987）はセボフルラン（約 0.65、文献により 0.63〜0.69。0.686 ± 0.047：Strum 1987）より速い。</a:t>
            </a:r>
          </a:p>
          <a:p>
            <a:r>
              <a:rPr lang="ja-JP" altLang="en-US" dirty="0"/>
              <a:t>速さを変えるもの: 新鮮ガス流量が多いほど、換気量が多いほど、肺胞濃度は速く上がる。心拍出量が多いと肺胞から血液に持ち去られる量が増えて、肺胞濃度の上昇は遅れる。</a:t>
            </a:r>
          </a:p>
          <a:p>
            <a:r>
              <a:rPr lang="ja-JP" altLang="en-US" dirty="0"/>
              <a:t>排泄: 肺から呼気に出る。換気量を保ち、新鮮ガス流量を上げて洗い出すと速く抜ける。</a:t>
            </a:r>
          </a:p>
          <a:p>
            <a:r>
              <a:rPr lang="ja-JP" altLang="en-US" dirty="0"/>
              <a:t>参考: Eger EI 2nd. Anesth Analg 1987;66:971-3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定義: MAC（minimum alveolar concentration）は、1 気圧で 50% の患者が皮膚切開に対して体動を示さなくなる肺胞濃度。薬の力価の指標で、1 MAC は薬によって濃度が違う。95% の患者が動かないのは約 1.2〜1.3 MAC（セボフルランでは 2.07% で、約 1.2 MAC：Katoh 1987）。</a:t>
            </a:r>
          </a:p>
          <a:p>
            <a:r>
              <a:rPr lang="ja-JP" altLang="en-US" dirty="0"/>
              <a:t>数値: セボフルランの MAC は、日本人成人で 1.71 ± 0.07%（平均 ± SE、Katoh 1987）、メタ解析の 40 歳換算で 1.80%（Mapleson 1996）。表の「約 1.7〜2.0%」はこの幅。デスフルランの MAC（酸素中）は 31〜65 歳で 6.0 ± 0.29%、18〜30 歳で 7.25%（平均 ± SD、Rampil 1991）、40 歳換算で 6.6%（Mapleson 1996）。表の「約 6%」は中高年の値で、若い成人ではもっと高い。亜酸化窒素は約 104%（Hornbein 1982、Mapleson 1996。慣用的に約 105%）で、1 気圧では単独で麻酔にならない。</a:t>
            </a:r>
          </a:p>
          <a:p>
            <a:r>
              <a:rPr lang="ja-JP" altLang="en-US" dirty="0"/>
              <a:t>年齢: MAC は 1 歳以降、どの吸入麻酔薬でも 10 年ごとに約 6% 下がる（Mapleson 1996 のメタ解析。MAC ＝ 40 歳の MAC × 10^(−0.00269 × (年齢 − 40))）。80 歳では 40 歳の約 8 割、20 歳の約 7 割になる。セボフルランの実測では、高齢者（平均 71.4 歳）で 1.48%（Nakajima 1993）。日本麻酔科学会のガイドラインでは、セボフルランで年齢が 10 歳上がると MAC が 7.2% 減少するとされ、従来の成人の MAC 1.71% はほぼ 60 歳の値で、80 歳では 1.4% まで下がる【要確認: ガイドライン第4版「Ⅳ 吸入麻酔薬」セボフルランの項（p.121〜）の原文で、7.2%、「1.71% はほぼ 60 歳の値」、80 歳で 1.4% の記載】。スライドの「約 6〜7%」はこの 2 つの資料の幅。だから高齢者では低い濃度で十分で、若い人と同じ濃度では深すぎる。逆に小児では成人より MAC が高く、乳児期に最も高い（Mapleson の式は 1 歳以上が対象）ので、高めの濃度が要る。</a:t>
            </a:r>
          </a:p>
          <a:p>
            <a:r>
              <a:rPr lang="ja-JP" altLang="en-US" dirty="0"/>
              <a:t>併用: オピオイド、亜酸化窒素、ベンゾジアゼピンの併用で MAC は下がる。低体温でも下がる。MAC はほぼ足し算できる。呼気 63.5% の亜酸化窒素（約 0.6 MAC）を併用すると、セボフルランの MAC は 0.66%（約 0.4 MAC）に下がった（Katoh 1987）。</a:t>
            </a:r>
          </a:p>
          <a:p>
            <a:r>
              <a:rPr lang="ja-JP" altLang="en-US" dirty="0"/>
              <a:t>MAC-awake: 50% の患者が呼びかけに応じる濃度。この濃度では記憶も通常失われる（Eger 2001）。揮発性麻酔薬では約 0.3〜0.4 MAC で、覚醒時の目安になる【要確認: 揮発性麻酔薬の MAC-awake／MAC 比（Eger 2001 本文の表など）】。</a:t>
            </a:r>
          </a:p>
          <a:p>
            <a:r>
              <a:rPr lang="ja-JP" altLang="en-US" dirty="0"/>
              <a:t>参考: Katoh T, Ikeda K. Anesthesiology 1987;66:301-3 / Rampil IJ, et al. Anesthesiology 1991;74:429-33 / Nakajima R, et al. Br J Anaesth 1993;70:273-5 / Hornbein TF, et al. Anesth Analg 1982;61:553-6 / Eger EI 2nd. Anesth Analg 2001;93:947-53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特徴: 気道刺激が少なく、においも穏やかなので、小児や静脈路のない患者のマスク導入（緩徐導入）に使える。気管支拡張作用があり、喘息の患者にも使いやすい。</a:t>
            </a:r>
          </a:p>
          <a:p>
            <a:r>
              <a:rPr lang="ja-JP" altLang="en-US" dirty="0"/>
              <a:t>用法: 添付文書（6. 用法及び用量）では、導入は「セボフルランと酸素もしくは酸素・亜酸化窒素混合ガスとで導入する。また、睡眠量の静脈麻酔剤を投与し、セボフルランと酸素もしくは酸素・亜酸化窒素混合ガスでも導入できる。本剤による導入は、通常、0.5〜5.0%で行うことができる。」、維持は「患者の臨床徴候を観察しながら、酸素・亜酸化窒素とともに、最小有効濃度で外科的麻酔状態を維持する。通常、4.0%以下の濃度で維持できる。」【要確認: セボフレン吸入麻酔液 添付文書「6. 用法及び用量」の原文（特に導入濃度の一文「本剤による導入は、通常、0.5〜5.0%で行うことができる」の文言）】。維持の「4.0% 以下」は、亜酸化窒素とともに使う前提の記載。実際は、呼気濃度を年齢補正した MAC に換算して管理する（添付文書外の目安。→ S3、S8）。</a:t>
            </a:r>
          </a:p>
          <a:p>
            <a:r>
              <a:rPr lang="ja-JP" altLang="en-US" dirty="0"/>
              <a:t>注意: 揮発性麻酔薬はすべて悪性高熱症の誘因になる。スキサメトニウムも誘因。亜酸化窒素とプロポフォールは誘因にならない（→ 6-9）。小児では覚醒時の興奮（emergence agitation）が多い。</a:t>
            </a:r>
          </a:p>
          <a:p>
            <a:r>
              <a:rPr lang="ja-JP" altLang="en-US" dirty="0"/>
              <a:t>コンパウンド A: 二酸化炭素吸収剤との反応でできるセボフルランの分解産物で、通常の含水した吸収剤でもできる。低流量（再呼吸が多い）、高濃度、吸収剤の高温、強塩基（KOH/NaOH）を含む吸収剤で増える（Fang 1996、Neumann 1999）。ラットで一過性の腎障害が報告されているが、ヒトで臨床的な腎障害ははっきりしない（長時間の低流量セボフルラン麻酔でも、腎障害の臨床所見・検査所見はなかった：Baum 2003）。英国の製品概要（SmPC）では「1〜2 L/分未満では 2 MAC・時間を超えない」「1 L/分未満は推奨しない」とされる。一方、ASA の声明は、流量の下限を支持する科学的根拠はないとしている【要確認: 国内のセボフレン吸入麻酔液 添付文書（PMDA）に、コンパウンド A や新鮮ガス流量の下限についての記載があるか（→ 2-1）】。</a:t>
            </a:r>
          </a:p>
          <a:p>
            <a:r>
              <a:rPr lang="ja-JP" altLang="en-US" dirty="0"/>
              <a:t>乾いた吸収剤: 吸収剤が乾燥すると分解の様子が変わる。KOH を含む乾燥ライムでは、コンパウンド A・メタノール・ホルムアルデヒドが増え、温度は 107℃まで上がった（Funk 1999）。乾燥した Baralyme とセボフルランでは 200℃を超え、5 回中 2 回で回路内に炎が出た（Laster 2004）。デスフルランは乾燥した吸収剤で CO を出す（Neumann 1999）。国内でも、海外で乾燥した吸収剤とセボフルランによる発火・異常発熱が報告されたことを受け、厚生労働省が吸収剤の製造販売業者に添付文書の自主点検を求めた【要確認: PMDA 掲載の厚生労働省通知（医療機器の安全対策）の発出日・文書番号と、医療機関向けの注意の内容】。症例が終わったら新鮮ガスを止め、吸収剤を開封したまま、または新鮮ガスを流したまま放置しない。乾燥が疑われたら（週明けの最初の症例、長時間流しっぱなしのあとなど）交換し、強塩基を含まない吸収剤を使う（APSF 2005）【要確認: APSF の吸収剤乾燥に関する合意会議（2005）の推奨の原文】。</a:t>
            </a:r>
          </a:p>
          <a:p>
            <a:r>
              <a:rPr lang="ja-JP" altLang="en-US" dirty="0"/>
              <a:t>参考: Fang ZX, et al. Anesth Analg 1996;82:775-81 / Neumann MA, et al. Anesth Analg 1999;89:768-73 / Funk W, et al. Br J Anaesth 1999;82:193-8 / Baum JA, Woehlck HJ. Best Pract Res Clin Anaesthesiol 2003;17:63-76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特徴: 血液にも脂肪にも溶けにくく、肺胞濃度の立ち上がりと覚醒が最も速い。長時間の手術や肥満の患者でも覚醒の遅れが少ない。高度肥満の腹腔鏡手術では、抜管までの時間がデスフルラン 6 ± 1 分、プロポフォール 13 ± 8 分、イソフルラン 12 ± 6 分だった（Juvin 2000）。体内でほとんど代謝されない。</a:t>
            </a:r>
          </a:p>
          <a:p>
            <a:r>
              <a:rPr lang="ja-JP" altLang="en-US" dirty="0"/>
              <a:t>用法: 添付文書（6. 用法及び用量）は「通常、成人には、デスフルランとして3.0%の濃度で開始し、適切な麻酔深度が得られるよう患者の全身状態を観察しながら、濃度を調節する。通常、成人では、亜酸化窒素の併用の有無にかかわらず、デスフルランとして7.6%以下の濃度で外科的手術に適切な麻酔深度が得られる。」。開始濃度と上限の目安を示したもので、「範囲」ではない。効能又は効果は「全身麻酔の維持」だけで、効能又は効果に関連する注意に「本剤は気道刺激性が強いため、全身麻酔の維持にのみ使用し、導入には使用しないこと。」とある。実際は、呼気濃度を年齢補正した MAC に換算して管理する（添付文書外の目安。→ S3、S8）。</a:t>
            </a:r>
          </a:p>
          <a:p>
            <a:r>
              <a:rPr lang="ja-JP" altLang="en-US" dirty="0"/>
              <a:t>注意: 気道刺激（咳、息こらえ、喉頭痙攣）が強いので、挿管後に使う。筋弛緩薬を投与していても、デスフルランの開始後に中等度の上気道閉塞が起きた例がある（Ebert 1993）。小児で気管挿管していない状態（声門上器具を含む）での維持は、気道合併症が多いとして米国の添付文書では推奨されていない【要確認: 米国 Suprane 添付文書の小児の記載と、国内のスープレン添付文書「9.7 小児等」の原文】。濃度を急に上げると交感神経が刺激され、一時的に頻脈と高血圧が出る（健康な若年者で 1.0 MAC から 1.5 MAC に上げると、心拍数が 30/分超、血圧が 30 mmHg 超上がった：Ebert 1993）。沸点が室温に近いので、専用の加温加圧型気化器が要る（→ 2-1）。温室効果が揮発性麻酔薬の中で最も大きく、環境負荷の観点から使用を減らす動きがある。</a:t>
            </a:r>
          </a:p>
          <a:p>
            <a:r>
              <a:rPr lang="ja-JP" altLang="en-US" dirty="0"/>
              <a:t>参考: Juvin P, et al. Anesth Analg 2000;91:714-9 / Rampil IJ, et al. Anesthesiology 1991;74:429-33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特徴: 鎮痛作用があり、揮発性麻酔薬やオピオイドの必要量を減らす。MAC は約 104%（Hornbein 1982、Mapleson 1996。慣用的に約 105%）なので、1 気圧では単独で全身麻酔にはならず、50〜70% で併用する。血液に溶けにくく、立ち上がりと排泄が速い。</a:t>
            </a:r>
          </a:p>
          <a:p>
            <a:r>
              <a:rPr lang="ja-JP" altLang="en-US" dirty="0"/>
              <a:t>閉鎖腔: 窒素より血液に溶けやすいので、体内の空気の入った閉鎖腔に窒素より速く入り、腔が膨らむか圧が上がる（Eger &amp; Saidman 1965）。気胸、腸閉塞、中耳の手術、空気塞栓、眼内ガス注入後では使わない。気管チューブのカフ圧は上がるので、使わないのではなく、カフ圧を監視する。添付文書上の扱い（禁忌か、9.1 合併症・既往歴等のある患者の注意か）は、各製品の添付文書で確認する【要確認: 各亜酸化窒素製剤の添付文書（PMDA）の「2. 禁忌」「9.1 合併症・既往歴等のある患者」の原文（閉鎖腔の扱い）】。</a:t>
            </a:r>
          </a:p>
          <a:p>
            <a:r>
              <a:rPr lang="ja-JP" altLang="en-US" dirty="0"/>
              <a:t>拡散性低酸素: 投与を止めると、血液から肺胞に大量の亜酸化窒素が出てきて肺胞の酸素が薄まる。終了時は数分間 100% 酸素を投与する。</a:t>
            </a:r>
          </a:p>
          <a:p>
            <a:r>
              <a:rPr lang="ja-JP" altLang="en-US" dirty="0"/>
              <a:t>PONV: 亜酸化窒素による術後悪心嘔吐（PONV）のリスクは曝露時間に依存する。45 分を超えると 1 時間ごとにリスク比が 20% 上がるが、1 時間未満では臨床的に意味のある増加はない（亜酸化窒素を避けて PONV を 1 人防ぐための NNT は、1 時間未満 128、1〜2 時間 23、2 時間超 9。Peyton 2014）。</a:t>
            </a:r>
          </a:p>
          <a:p>
            <a:r>
              <a:rPr lang="ja-JP" altLang="en-US" dirty="0"/>
              <a:t>その他: ビタミン B12 を不活化し（メチオニン合成酵素を阻害）、長時間や繰り返しの使用で骨髄抑制や神経障害の報告がある。臨床麻酔の 6 時間未満の曝露は通常は無害とされる（Weimann 2003）が、もともとビタミン B12 が欠乏している患者では、亜酸化窒素麻酔のあとに亜急性連合性脊髄変性症が出た報告がある（Flippo 1993）。メトトレキサートも同じ酵素を阻害するので、メトトレキサートを使っている小児では亜酸化窒素を避けるという提案がある（Forster 2020）。温室効果ガスでもある。これらの理由と、長時間の使用で PONV が増えることから、使用は減っている。</a:t>
            </a:r>
          </a:p>
          <a:p>
            <a:r>
              <a:rPr lang="ja-JP" altLang="en-US" dirty="0"/>
              <a:t>参考: Hornbein TF, et al. Anesth Analg 1982;61:553-6 / Eger EI 2nd, Saidman LJ. Anesthesiology 1965;26:61-6 / Weimann J. Best Pract Res Clin Anaesthesiol 2003;17:47-61 / Flippo TS, Holder WD Jr. Arch Surg 1993;128:1391-5 / Forster VJ, et al. Paediatr Anaesth 2020;30:9-16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悪性高熱症: 揮発性麻酔薬はすべて誘因になる。スキサメトニウムも誘因。亜酸化窒素とプロポフォールは誘因にならない。説明のつかない EtCO2 の上昇、頻脈、筋強直が出たら疑い、すぐに揮発性麻酔薬を止め、高流量の酸素で換気し、ダントロレンを準備する（→ 6-9、2-5b）。</a:t>
            </a:r>
          </a:p>
          <a:p>
            <a:r>
              <a:rPr lang="ja-JP" altLang="en-US" dirty="0"/>
              <a:t>循環: 濃度に応じて血管が拡張し、血圧が下がる。心抑制はセボフルランでは比較的小さい。濃度を下げ、昇圧薬や輸液で対応する（→ 3-8）。</a:t>
            </a:r>
          </a:p>
          <a:p>
            <a:r>
              <a:rPr lang="ja-JP" altLang="en-US" dirty="0"/>
              <a:t>呼吸: 自発呼吸下では換気量が減り、CO2 の上昇に対する換気の反応が鈍る。</a:t>
            </a:r>
          </a:p>
          <a:p>
            <a:r>
              <a:rPr lang="ja-JP" altLang="en-US" dirty="0"/>
              <a:t>覚醒時興奮: 小児で多い。鎮痛が不十分だと増える。</a:t>
            </a:r>
          </a:p>
          <a:p>
            <a:r>
              <a:rPr lang="ja-JP" altLang="en-US" dirty="0"/>
              <a:t>PONV: 揮発性麻酔薬と、長時間の亜酸化窒素は PONV の危険因子（亜酸化窒素は 1 時間未満ではほぼ増やさない：Peyton 2014 → S6）。リスクの高い患者では予防薬を使い、プロポフォールによる維持（TIVA）を考える（→ 5-4）。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①〜⑤の流量・濃度・時間は、添付文書の値ではなく実地の目安（添付文書外）。</a:t>
            </a:r>
          </a:p>
          <a:p>
            <a:r>
              <a:rPr lang="ja-JP" altLang="en-US" dirty="0"/>
              <a:t>① 挿管後、新鮮ガス流量を上げて（例: 4〜6 L/分）気化器の濃度を高めに設定し、呼気濃度を素早く上げる。</a:t>
            </a:r>
          </a:p>
          <a:p>
            <a:r>
              <a:rPr lang="ja-JP" altLang="en-US" dirty="0"/>
              <a:t>② 呼気濃度が目標（例: 年齢補正で約 0.8〜1.0 MAC）に達したら、新鮮ガス流量を下げる（低流量麻酔 → 2-1）。</a:t>
            </a:r>
          </a:p>
          <a:p>
            <a:r>
              <a:rPr lang="ja-JP" altLang="en-US" dirty="0"/>
              <a:t>③ 呼気濃度を MAC 換算で見て、血圧・心拍数・脳波モニター・体動を参考に調節する。高齢者では低い濃度でよい。MAC はほぼ足し算できるので、亜酸化窒素を併用するときはその分（60% で約 0.6 MAC）を足して考える。年齢と亜酸化窒素の併用を考えた目標の呼気濃度は、iso-MAC チャートで決められる（Nickalls &amp; Mapleson 2003）。</a:t>
            </a:r>
          </a:p>
          <a:p>
            <a:r>
              <a:rPr lang="ja-JP" altLang="en-US" dirty="0"/>
              <a:t>④ 手術終了の 10〜15 分前から濃度を下げ始める（セボフルランでは早め、デスフルランでは遅めでよい）。鎮痛（フェンタニル、区域麻酔）を先に効かせておく。</a:t>
            </a:r>
          </a:p>
          <a:p>
            <a:r>
              <a:rPr lang="ja-JP" altLang="en-US" dirty="0"/>
              <a:t>⑤ 終了したら気化器を閉じ、新鮮ガス流量を上げて洗い出す。亜酸化窒素を使っていたら 100% 酸素で拡散性低酸素を防ぐ。</a:t>
            </a:r>
          </a:p>
          <a:p>
            <a:r>
              <a:rPr lang="ja-JP" altLang="en-US" dirty="0"/>
              <a:t>下限アラーム: 筋弛緩薬を使っていて患者が動けないとき、呼気濃度の下限（目安: 年齢補正 0.7 MAC）にアラームを設定する（→ 2-8）。B-Unaware（Avidan 2008）は呼気濃度の目標範囲を 0.7〜1.3 MAC とし、BAG-RECALL（Avidan 2011）は 0.7 MAC 未満と 1.3 MAC 超で警報を出した。どちらも術中覚醒の高リスク患者を対象とし、筋弛緩薬の使用に限らず、呼気濃度群の全員にこの範囲を適用した。</a:t>
            </a:r>
          </a:p>
          <a:p>
            <a:r>
              <a:rPr lang="ja-JP" altLang="en-US" dirty="0"/>
              <a:t>参考: Avidan MS, et al. N Engl J Med 2008;358:1097-1108（B-Unaware） / Nickalls RW, Mapleson WW. Br J Anaesth 2003;91:170-4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分）。吸入麻酔は呼気濃度で管理し、溶けにくい薬ほど立ち上がりと覚醒が速い。MAC の目安（セボフルラン約 1.7〜2%、デスフルラン約 6%）と、年齢による減少（10 年で約 6〜7%）。セボフルランとデスフルランの使い分け。亜酸化窒素の閉鎖腔と拡散性低酸素。悪性高熱症への即応。</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吸入麻酔薬</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3-3 麻酔薬理</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取り込みと排泄</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MAC</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セボ・</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デス</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亜酸化</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窒素</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第4版」Ⅳ 吸入麻酔薬（2025）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Strum DP, Eger EI 2nd. Anesth Analg 1987;66:654-6</a:t>
            </a:r>
            <a:endParaRPr lang="ja-JP" sz="1600" dirty="0"/>
          </a:p>
        </p:txBody>
      </p:sp>
      <p:sp>
        <p:nvSpPr>
          <p:cNvPr id="11" name="Shape 9"/>
          <p:cNvSpPr/>
          <p:nvPr/>
        </p:nvSpPr>
        <p:spPr>
          <a:xfrm>
            <a:off x="1188720" y="3017520"/>
            <a:ext cx="5120640" cy="0"/>
          </a:xfrm>
          <a:prstGeom prst="line">
            <a:avLst/>
          </a:prstGeom>
          <a:noFill/>
          <a:ln w="19050">
            <a:solidFill>
              <a:srgbClr val="7F7F7F"/>
            </a:solidFill>
            <a:prstDash val="dash"/>
          </a:ln>
        </p:spPr>
      </p:sp>
      <p:sp>
        <p:nvSpPr>
          <p:cNvPr id="12" name="Shape 10"/>
          <p:cNvSpPr/>
          <p:nvPr/>
        </p:nvSpPr>
        <p:spPr>
          <a:xfrm>
            <a:off x="1188720" y="2845613"/>
            <a:ext cx="9144" cy="2183587"/>
          </a:xfrm>
          <a:custGeom>
            <a:avLst/>
            <a:gdLst/>
            <a:ahLst/>
            <a:cxnLst/>
            <a:rect l="l" t="t" r="r" b="b"/>
            <a:pathLst>
              <a:path w="9144" h="2183587">
                <a:moveTo>
                  <a:pt x="0" y="2183587"/>
                </a:moveTo>
                <a:lnTo>
                  <a:pt x="0" y="0"/>
                </a:lnTo>
              </a:path>
            </a:pathLst>
          </a:custGeom>
          <a:noFill/>
          <a:ln w="25400">
            <a:solidFill>
              <a:srgbClr val="7F7F7F"/>
            </a:solidFill>
            <a:prstDash val="solid"/>
          </a:ln>
        </p:spPr>
      </p:sp>
      <p:sp>
        <p:nvSpPr>
          <p:cNvPr id="13" name="Shape 11"/>
          <p:cNvSpPr/>
          <p:nvPr/>
        </p:nvSpPr>
        <p:spPr>
          <a:xfrm>
            <a:off x="1115568" y="2743200"/>
            <a:ext cx="146304" cy="146304"/>
          </a:xfrm>
          <a:custGeom>
            <a:avLst/>
            <a:gdLst/>
            <a:ahLst/>
            <a:cxnLst/>
            <a:rect l="l" t="t" r="r" b="b"/>
            <a:pathLst>
              <a:path w="146304" h="146304">
                <a:moveTo>
                  <a:pt x="73152" y="0"/>
                </a:moveTo>
                <a:lnTo>
                  <a:pt x="146304" y="146304"/>
                </a:lnTo>
                <a:lnTo>
                  <a:pt x="0" y="146304"/>
                </a:lnTo>
                <a:close/>
              </a:path>
            </a:pathLst>
          </a:custGeom>
          <a:solidFill>
            <a:srgbClr val="7F7F7F"/>
          </a:solidFill>
          <a:ln w="9525">
            <a:solidFill>
              <a:srgbClr val="7F7F7F"/>
            </a:solidFill>
            <a:prstDash val="solid"/>
          </a:ln>
        </p:spPr>
      </p:sp>
      <p:sp>
        <p:nvSpPr>
          <p:cNvPr id="14" name="Shape 12"/>
          <p:cNvSpPr/>
          <p:nvPr/>
        </p:nvSpPr>
        <p:spPr>
          <a:xfrm>
            <a:off x="1188720" y="5029200"/>
            <a:ext cx="5246827" cy="9144"/>
          </a:xfrm>
          <a:custGeom>
            <a:avLst/>
            <a:gdLst/>
            <a:ahLst/>
            <a:cxnLst/>
            <a:rect l="l" t="t" r="r" b="b"/>
            <a:pathLst>
              <a:path w="5246827" h="9144">
                <a:moveTo>
                  <a:pt x="0" y="0"/>
                </a:moveTo>
                <a:lnTo>
                  <a:pt x="5246827" y="0"/>
                </a:lnTo>
              </a:path>
            </a:pathLst>
          </a:custGeom>
          <a:noFill/>
          <a:ln w="25400">
            <a:solidFill>
              <a:srgbClr val="7F7F7F"/>
            </a:solidFill>
            <a:prstDash val="solid"/>
          </a:ln>
        </p:spPr>
      </p:sp>
      <p:sp>
        <p:nvSpPr>
          <p:cNvPr id="15" name="Shape 13"/>
          <p:cNvSpPr/>
          <p:nvPr/>
        </p:nvSpPr>
        <p:spPr>
          <a:xfrm>
            <a:off x="6391656" y="4956048"/>
            <a:ext cx="146304" cy="146304"/>
          </a:xfrm>
          <a:custGeom>
            <a:avLst/>
            <a:gdLst/>
            <a:ahLst/>
            <a:cxnLst/>
            <a:rect l="l" t="t" r="r" b="b"/>
            <a:pathLst>
              <a:path w="146304" h="146304">
                <a:moveTo>
                  <a:pt x="146304" y="73152"/>
                </a:moveTo>
                <a:lnTo>
                  <a:pt x="0" y="146304"/>
                </a:lnTo>
                <a:lnTo>
                  <a:pt x="0" y="0"/>
                </a:lnTo>
                <a:close/>
              </a:path>
            </a:pathLst>
          </a:custGeom>
          <a:solidFill>
            <a:srgbClr val="7F7F7F"/>
          </a:solidFill>
          <a:ln w="9525">
            <a:solidFill>
              <a:srgbClr val="7F7F7F"/>
            </a:solidFill>
            <a:prstDash val="solid"/>
          </a:ln>
        </p:spPr>
      </p:sp>
      <p:sp>
        <p:nvSpPr>
          <p:cNvPr id="16" name="Shape 14"/>
          <p:cNvSpPr/>
          <p:nvPr/>
        </p:nvSpPr>
        <p:spPr>
          <a:xfrm>
            <a:off x="1216152" y="3259836"/>
            <a:ext cx="5093208" cy="1769364"/>
          </a:xfrm>
          <a:custGeom>
            <a:avLst/>
            <a:gdLst/>
            <a:ahLst/>
            <a:cxnLst/>
            <a:rect l="l" t="t" r="r" b="b"/>
            <a:pathLst>
              <a:path w="5093208" h="1769364">
                <a:moveTo>
                  <a:pt x="0" y="1769364"/>
                </a:moveTo>
                <a:lnTo>
                  <a:pt x="33833" y="1591056"/>
                </a:lnTo>
                <a:lnTo>
                  <a:pt x="67666" y="1436522"/>
                </a:lnTo>
                <a:lnTo>
                  <a:pt x="101498" y="1303934"/>
                </a:lnTo>
                <a:lnTo>
                  <a:pt x="136246" y="1189634"/>
                </a:lnTo>
                <a:lnTo>
                  <a:pt x="170078" y="1089965"/>
                </a:lnTo>
                <a:lnTo>
                  <a:pt x="203911" y="1004011"/>
                </a:lnTo>
                <a:lnTo>
                  <a:pt x="237744" y="929945"/>
                </a:lnTo>
                <a:lnTo>
                  <a:pt x="271577" y="865022"/>
                </a:lnTo>
                <a:lnTo>
                  <a:pt x="305410" y="808330"/>
                </a:lnTo>
                <a:lnTo>
                  <a:pt x="339242" y="759866"/>
                </a:lnTo>
                <a:lnTo>
                  <a:pt x="373075" y="716890"/>
                </a:lnTo>
                <a:lnTo>
                  <a:pt x="407822" y="679399"/>
                </a:lnTo>
                <a:lnTo>
                  <a:pt x="441655" y="646481"/>
                </a:lnTo>
                <a:lnTo>
                  <a:pt x="475488" y="617220"/>
                </a:lnTo>
                <a:lnTo>
                  <a:pt x="509321" y="591617"/>
                </a:lnTo>
                <a:lnTo>
                  <a:pt x="543154" y="568757"/>
                </a:lnTo>
                <a:lnTo>
                  <a:pt x="576986" y="548640"/>
                </a:lnTo>
                <a:lnTo>
                  <a:pt x="610819" y="530352"/>
                </a:lnTo>
                <a:lnTo>
                  <a:pt x="645566" y="513893"/>
                </a:lnTo>
                <a:lnTo>
                  <a:pt x="679399" y="499262"/>
                </a:lnTo>
                <a:lnTo>
                  <a:pt x="713232" y="485546"/>
                </a:lnTo>
                <a:lnTo>
                  <a:pt x="747065" y="473659"/>
                </a:lnTo>
                <a:lnTo>
                  <a:pt x="780898" y="461772"/>
                </a:lnTo>
                <a:lnTo>
                  <a:pt x="814730" y="451714"/>
                </a:lnTo>
                <a:lnTo>
                  <a:pt x="848563" y="442570"/>
                </a:lnTo>
                <a:lnTo>
                  <a:pt x="882396" y="433426"/>
                </a:lnTo>
                <a:lnTo>
                  <a:pt x="917143" y="425196"/>
                </a:lnTo>
                <a:lnTo>
                  <a:pt x="950976" y="416966"/>
                </a:lnTo>
                <a:lnTo>
                  <a:pt x="984809" y="409651"/>
                </a:lnTo>
                <a:lnTo>
                  <a:pt x="1018642" y="402336"/>
                </a:lnTo>
                <a:lnTo>
                  <a:pt x="1052474" y="395935"/>
                </a:lnTo>
                <a:lnTo>
                  <a:pt x="1086307" y="389534"/>
                </a:lnTo>
                <a:lnTo>
                  <a:pt x="1120140" y="383134"/>
                </a:lnTo>
                <a:lnTo>
                  <a:pt x="1154887" y="376733"/>
                </a:lnTo>
                <a:lnTo>
                  <a:pt x="1188720" y="371246"/>
                </a:lnTo>
                <a:lnTo>
                  <a:pt x="1222553" y="365760"/>
                </a:lnTo>
                <a:lnTo>
                  <a:pt x="1256386" y="360274"/>
                </a:lnTo>
                <a:lnTo>
                  <a:pt x="1290218" y="354787"/>
                </a:lnTo>
                <a:lnTo>
                  <a:pt x="1324051" y="349301"/>
                </a:lnTo>
                <a:lnTo>
                  <a:pt x="1357884" y="344729"/>
                </a:lnTo>
                <a:lnTo>
                  <a:pt x="1391717" y="339242"/>
                </a:lnTo>
                <a:lnTo>
                  <a:pt x="1426464" y="334670"/>
                </a:lnTo>
                <a:lnTo>
                  <a:pt x="1460297" y="330098"/>
                </a:lnTo>
                <a:lnTo>
                  <a:pt x="1494130" y="324612"/>
                </a:lnTo>
                <a:lnTo>
                  <a:pt x="1527962" y="320040"/>
                </a:lnTo>
                <a:lnTo>
                  <a:pt x="1561795" y="315468"/>
                </a:lnTo>
                <a:lnTo>
                  <a:pt x="1595628" y="310896"/>
                </a:lnTo>
                <a:lnTo>
                  <a:pt x="1629461" y="306324"/>
                </a:lnTo>
                <a:lnTo>
                  <a:pt x="1664208" y="301752"/>
                </a:lnTo>
                <a:lnTo>
                  <a:pt x="1698041" y="297180"/>
                </a:lnTo>
                <a:lnTo>
                  <a:pt x="1731874" y="293522"/>
                </a:lnTo>
                <a:lnTo>
                  <a:pt x="1765706" y="288950"/>
                </a:lnTo>
                <a:lnTo>
                  <a:pt x="1799539" y="284378"/>
                </a:lnTo>
                <a:lnTo>
                  <a:pt x="1833372" y="280721"/>
                </a:lnTo>
                <a:lnTo>
                  <a:pt x="1867205" y="276149"/>
                </a:lnTo>
                <a:lnTo>
                  <a:pt x="1901038" y="271577"/>
                </a:lnTo>
                <a:lnTo>
                  <a:pt x="1935785" y="267919"/>
                </a:lnTo>
                <a:lnTo>
                  <a:pt x="1969618" y="263347"/>
                </a:lnTo>
                <a:lnTo>
                  <a:pt x="2003450" y="259690"/>
                </a:lnTo>
                <a:lnTo>
                  <a:pt x="2037283" y="256032"/>
                </a:lnTo>
                <a:lnTo>
                  <a:pt x="2071116" y="251460"/>
                </a:lnTo>
                <a:lnTo>
                  <a:pt x="2104949" y="247802"/>
                </a:lnTo>
                <a:lnTo>
                  <a:pt x="2138782" y="244145"/>
                </a:lnTo>
                <a:lnTo>
                  <a:pt x="2173529" y="239573"/>
                </a:lnTo>
                <a:lnTo>
                  <a:pt x="2207362" y="235915"/>
                </a:lnTo>
                <a:lnTo>
                  <a:pt x="2241194" y="232258"/>
                </a:lnTo>
                <a:lnTo>
                  <a:pt x="2275027" y="228600"/>
                </a:lnTo>
                <a:lnTo>
                  <a:pt x="2308860" y="224942"/>
                </a:lnTo>
                <a:lnTo>
                  <a:pt x="2342693" y="221285"/>
                </a:lnTo>
                <a:lnTo>
                  <a:pt x="2376526" y="217627"/>
                </a:lnTo>
                <a:lnTo>
                  <a:pt x="2410358" y="213970"/>
                </a:lnTo>
                <a:lnTo>
                  <a:pt x="2445106" y="210312"/>
                </a:lnTo>
                <a:lnTo>
                  <a:pt x="2478938" y="206654"/>
                </a:lnTo>
                <a:lnTo>
                  <a:pt x="2512771" y="202997"/>
                </a:lnTo>
                <a:lnTo>
                  <a:pt x="2546604" y="199339"/>
                </a:lnTo>
                <a:lnTo>
                  <a:pt x="2580437" y="195682"/>
                </a:lnTo>
                <a:lnTo>
                  <a:pt x="2614270" y="192024"/>
                </a:lnTo>
                <a:lnTo>
                  <a:pt x="2648102" y="189281"/>
                </a:lnTo>
                <a:lnTo>
                  <a:pt x="2682850" y="185623"/>
                </a:lnTo>
                <a:lnTo>
                  <a:pt x="2716682" y="181966"/>
                </a:lnTo>
                <a:lnTo>
                  <a:pt x="2750515" y="178308"/>
                </a:lnTo>
                <a:lnTo>
                  <a:pt x="2784348" y="175565"/>
                </a:lnTo>
                <a:lnTo>
                  <a:pt x="2818181" y="171907"/>
                </a:lnTo>
                <a:lnTo>
                  <a:pt x="2852014" y="168250"/>
                </a:lnTo>
                <a:lnTo>
                  <a:pt x="2885846" y="165506"/>
                </a:lnTo>
                <a:lnTo>
                  <a:pt x="2919679" y="161849"/>
                </a:lnTo>
                <a:lnTo>
                  <a:pt x="2954426" y="159106"/>
                </a:lnTo>
                <a:lnTo>
                  <a:pt x="2988259" y="155448"/>
                </a:lnTo>
                <a:lnTo>
                  <a:pt x="3022092" y="152705"/>
                </a:lnTo>
                <a:lnTo>
                  <a:pt x="3055925" y="149047"/>
                </a:lnTo>
                <a:lnTo>
                  <a:pt x="3089758" y="146304"/>
                </a:lnTo>
                <a:lnTo>
                  <a:pt x="3123590" y="143561"/>
                </a:lnTo>
                <a:lnTo>
                  <a:pt x="3157423" y="139903"/>
                </a:lnTo>
                <a:lnTo>
                  <a:pt x="3192170" y="137160"/>
                </a:lnTo>
                <a:lnTo>
                  <a:pt x="3226003" y="134417"/>
                </a:lnTo>
                <a:lnTo>
                  <a:pt x="3259836" y="130759"/>
                </a:lnTo>
                <a:lnTo>
                  <a:pt x="3293669" y="128016"/>
                </a:lnTo>
                <a:lnTo>
                  <a:pt x="3327502" y="125273"/>
                </a:lnTo>
                <a:lnTo>
                  <a:pt x="3361334" y="122530"/>
                </a:lnTo>
                <a:lnTo>
                  <a:pt x="3395167" y="118872"/>
                </a:lnTo>
                <a:lnTo>
                  <a:pt x="3429000" y="116129"/>
                </a:lnTo>
                <a:lnTo>
                  <a:pt x="3463747" y="113386"/>
                </a:lnTo>
                <a:lnTo>
                  <a:pt x="3497580" y="110642"/>
                </a:lnTo>
                <a:lnTo>
                  <a:pt x="3531413" y="107899"/>
                </a:lnTo>
                <a:lnTo>
                  <a:pt x="3565246" y="105156"/>
                </a:lnTo>
                <a:lnTo>
                  <a:pt x="3599078" y="102413"/>
                </a:lnTo>
                <a:lnTo>
                  <a:pt x="3632911" y="99670"/>
                </a:lnTo>
                <a:lnTo>
                  <a:pt x="3666744" y="96926"/>
                </a:lnTo>
                <a:lnTo>
                  <a:pt x="3701491" y="94183"/>
                </a:lnTo>
                <a:lnTo>
                  <a:pt x="3735324" y="91440"/>
                </a:lnTo>
                <a:lnTo>
                  <a:pt x="3769157" y="88697"/>
                </a:lnTo>
                <a:lnTo>
                  <a:pt x="3802990" y="85954"/>
                </a:lnTo>
                <a:lnTo>
                  <a:pt x="3836822" y="83210"/>
                </a:lnTo>
                <a:lnTo>
                  <a:pt x="3870655" y="81382"/>
                </a:lnTo>
                <a:lnTo>
                  <a:pt x="3904488" y="78638"/>
                </a:lnTo>
                <a:lnTo>
                  <a:pt x="3938321" y="75895"/>
                </a:lnTo>
                <a:lnTo>
                  <a:pt x="3973068" y="73152"/>
                </a:lnTo>
                <a:lnTo>
                  <a:pt x="4006901" y="70409"/>
                </a:lnTo>
                <a:lnTo>
                  <a:pt x="4040734" y="68580"/>
                </a:lnTo>
                <a:lnTo>
                  <a:pt x="4074566" y="65837"/>
                </a:lnTo>
                <a:lnTo>
                  <a:pt x="4108399" y="63094"/>
                </a:lnTo>
                <a:lnTo>
                  <a:pt x="4142232" y="61265"/>
                </a:lnTo>
                <a:lnTo>
                  <a:pt x="4176065" y="58522"/>
                </a:lnTo>
                <a:lnTo>
                  <a:pt x="4210812" y="55778"/>
                </a:lnTo>
                <a:lnTo>
                  <a:pt x="4244645" y="53950"/>
                </a:lnTo>
                <a:lnTo>
                  <a:pt x="4278478" y="51206"/>
                </a:lnTo>
                <a:lnTo>
                  <a:pt x="4312310" y="49378"/>
                </a:lnTo>
                <a:lnTo>
                  <a:pt x="4346143" y="46634"/>
                </a:lnTo>
                <a:lnTo>
                  <a:pt x="4379976" y="44806"/>
                </a:lnTo>
                <a:lnTo>
                  <a:pt x="4413809" y="42062"/>
                </a:lnTo>
                <a:lnTo>
                  <a:pt x="4447642" y="40234"/>
                </a:lnTo>
                <a:lnTo>
                  <a:pt x="4482389" y="37490"/>
                </a:lnTo>
                <a:lnTo>
                  <a:pt x="4516222" y="35662"/>
                </a:lnTo>
                <a:lnTo>
                  <a:pt x="4550054" y="32918"/>
                </a:lnTo>
                <a:lnTo>
                  <a:pt x="4583887" y="31090"/>
                </a:lnTo>
                <a:lnTo>
                  <a:pt x="4617720" y="28346"/>
                </a:lnTo>
                <a:lnTo>
                  <a:pt x="4651553" y="26518"/>
                </a:lnTo>
                <a:lnTo>
                  <a:pt x="4685386" y="24689"/>
                </a:lnTo>
                <a:lnTo>
                  <a:pt x="4720133" y="21946"/>
                </a:lnTo>
                <a:lnTo>
                  <a:pt x="4753966" y="20117"/>
                </a:lnTo>
                <a:lnTo>
                  <a:pt x="4787798" y="18288"/>
                </a:lnTo>
                <a:lnTo>
                  <a:pt x="4821631" y="16459"/>
                </a:lnTo>
                <a:lnTo>
                  <a:pt x="4855464" y="13716"/>
                </a:lnTo>
                <a:lnTo>
                  <a:pt x="4889297" y="11887"/>
                </a:lnTo>
                <a:lnTo>
                  <a:pt x="4923130" y="10058"/>
                </a:lnTo>
                <a:lnTo>
                  <a:pt x="4956962" y="8230"/>
                </a:lnTo>
                <a:lnTo>
                  <a:pt x="4991710" y="5486"/>
                </a:lnTo>
                <a:lnTo>
                  <a:pt x="5025542" y="3658"/>
                </a:lnTo>
                <a:lnTo>
                  <a:pt x="5059375" y="1829"/>
                </a:lnTo>
                <a:lnTo>
                  <a:pt x="5093208" y="0"/>
                </a:lnTo>
              </a:path>
            </a:pathLst>
          </a:custGeom>
          <a:noFill/>
          <a:ln w="44450">
            <a:solidFill>
              <a:srgbClr val="0072B2"/>
            </a:solidFill>
            <a:prstDash val="solid"/>
          </a:ln>
        </p:spPr>
      </p:sp>
      <p:sp>
        <p:nvSpPr>
          <p:cNvPr id="17" name="Shape 15"/>
          <p:cNvSpPr/>
          <p:nvPr/>
        </p:nvSpPr>
        <p:spPr>
          <a:xfrm>
            <a:off x="1216152" y="3120847"/>
            <a:ext cx="5093208" cy="1908353"/>
          </a:xfrm>
          <a:custGeom>
            <a:avLst/>
            <a:gdLst/>
            <a:ahLst/>
            <a:cxnLst/>
            <a:rect l="l" t="t" r="r" b="b"/>
            <a:pathLst>
              <a:path w="5093208" h="1908353">
                <a:moveTo>
                  <a:pt x="0" y="1908353"/>
                </a:moveTo>
                <a:lnTo>
                  <a:pt x="33833" y="1536192"/>
                </a:lnTo>
                <a:lnTo>
                  <a:pt x="67666" y="1246327"/>
                </a:lnTo>
                <a:lnTo>
                  <a:pt x="101498" y="1019556"/>
                </a:lnTo>
                <a:lnTo>
                  <a:pt x="136246" y="842162"/>
                </a:lnTo>
                <a:lnTo>
                  <a:pt x="170078" y="703174"/>
                </a:lnTo>
                <a:lnTo>
                  <a:pt x="203911" y="595274"/>
                </a:lnTo>
                <a:lnTo>
                  <a:pt x="237744" y="510235"/>
                </a:lnTo>
                <a:lnTo>
                  <a:pt x="271577" y="443484"/>
                </a:lnTo>
                <a:lnTo>
                  <a:pt x="305410" y="390449"/>
                </a:lnTo>
                <a:lnTo>
                  <a:pt x="339242" y="349301"/>
                </a:lnTo>
                <a:lnTo>
                  <a:pt x="373075" y="316382"/>
                </a:lnTo>
                <a:lnTo>
                  <a:pt x="407822" y="290779"/>
                </a:lnTo>
                <a:lnTo>
                  <a:pt x="441655" y="269748"/>
                </a:lnTo>
                <a:lnTo>
                  <a:pt x="475488" y="253289"/>
                </a:lnTo>
                <a:lnTo>
                  <a:pt x="509321" y="239573"/>
                </a:lnTo>
                <a:lnTo>
                  <a:pt x="543154" y="228600"/>
                </a:lnTo>
                <a:lnTo>
                  <a:pt x="576986" y="218542"/>
                </a:lnTo>
                <a:lnTo>
                  <a:pt x="610819" y="211226"/>
                </a:lnTo>
                <a:lnTo>
                  <a:pt x="645566" y="204826"/>
                </a:lnTo>
                <a:lnTo>
                  <a:pt x="679399" y="199339"/>
                </a:lnTo>
                <a:lnTo>
                  <a:pt x="713232" y="194767"/>
                </a:lnTo>
                <a:lnTo>
                  <a:pt x="747065" y="190195"/>
                </a:lnTo>
                <a:lnTo>
                  <a:pt x="780898" y="186538"/>
                </a:lnTo>
                <a:lnTo>
                  <a:pt x="814730" y="182880"/>
                </a:lnTo>
                <a:lnTo>
                  <a:pt x="848563" y="180137"/>
                </a:lnTo>
                <a:lnTo>
                  <a:pt x="882396" y="177394"/>
                </a:lnTo>
                <a:lnTo>
                  <a:pt x="917143" y="173736"/>
                </a:lnTo>
                <a:lnTo>
                  <a:pt x="950976" y="171907"/>
                </a:lnTo>
                <a:lnTo>
                  <a:pt x="984809" y="169164"/>
                </a:lnTo>
                <a:lnTo>
                  <a:pt x="1018642" y="166421"/>
                </a:lnTo>
                <a:lnTo>
                  <a:pt x="1052474" y="164592"/>
                </a:lnTo>
                <a:lnTo>
                  <a:pt x="1086307" y="161849"/>
                </a:lnTo>
                <a:lnTo>
                  <a:pt x="1120140" y="160020"/>
                </a:lnTo>
                <a:lnTo>
                  <a:pt x="1154887" y="157277"/>
                </a:lnTo>
                <a:lnTo>
                  <a:pt x="1188720" y="155448"/>
                </a:lnTo>
                <a:lnTo>
                  <a:pt x="1222553" y="153619"/>
                </a:lnTo>
                <a:lnTo>
                  <a:pt x="1256386" y="150876"/>
                </a:lnTo>
                <a:lnTo>
                  <a:pt x="1290218" y="149047"/>
                </a:lnTo>
                <a:lnTo>
                  <a:pt x="1324051" y="147218"/>
                </a:lnTo>
                <a:lnTo>
                  <a:pt x="1357884" y="145390"/>
                </a:lnTo>
                <a:lnTo>
                  <a:pt x="1391717" y="142646"/>
                </a:lnTo>
                <a:lnTo>
                  <a:pt x="1426464" y="140818"/>
                </a:lnTo>
                <a:lnTo>
                  <a:pt x="1460297" y="138989"/>
                </a:lnTo>
                <a:lnTo>
                  <a:pt x="1494130" y="137160"/>
                </a:lnTo>
                <a:lnTo>
                  <a:pt x="1527962" y="135331"/>
                </a:lnTo>
                <a:lnTo>
                  <a:pt x="1561795" y="133502"/>
                </a:lnTo>
                <a:lnTo>
                  <a:pt x="1595628" y="131674"/>
                </a:lnTo>
                <a:lnTo>
                  <a:pt x="1629461" y="129845"/>
                </a:lnTo>
                <a:lnTo>
                  <a:pt x="1664208" y="128016"/>
                </a:lnTo>
                <a:lnTo>
                  <a:pt x="1698041" y="126187"/>
                </a:lnTo>
                <a:lnTo>
                  <a:pt x="1731874" y="124358"/>
                </a:lnTo>
                <a:lnTo>
                  <a:pt x="1765706" y="122530"/>
                </a:lnTo>
                <a:lnTo>
                  <a:pt x="1799539" y="120701"/>
                </a:lnTo>
                <a:lnTo>
                  <a:pt x="1833372" y="118872"/>
                </a:lnTo>
                <a:lnTo>
                  <a:pt x="1867205" y="117043"/>
                </a:lnTo>
                <a:lnTo>
                  <a:pt x="1901038" y="115214"/>
                </a:lnTo>
                <a:lnTo>
                  <a:pt x="1935785" y="113386"/>
                </a:lnTo>
                <a:lnTo>
                  <a:pt x="1969618" y="111557"/>
                </a:lnTo>
                <a:lnTo>
                  <a:pt x="2003450" y="109728"/>
                </a:lnTo>
                <a:lnTo>
                  <a:pt x="2037283" y="107899"/>
                </a:lnTo>
                <a:lnTo>
                  <a:pt x="2071116" y="106985"/>
                </a:lnTo>
                <a:lnTo>
                  <a:pt x="2104949" y="105156"/>
                </a:lnTo>
                <a:lnTo>
                  <a:pt x="2138782" y="103327"/>
                </a:lnTo>
                <a:lnTo>
                  <a:pt x="2173529" y="101498"/>
                </a:lnTo>
                <a:lnTo>
                  <a:pt x="2207362" y="99670"/>
                </a:lnTo>
                <a:lnTo>
                  <a:pt x="2241194" y="98755"/>
                </a:lnTo>
                <a:lnTo>
                  <a:pt x="2275027" y="96926"/>
                </a:lnTo>
                <a:lnTo>
                  <a:pt x="2308860" y="95098"/>
                </a:lnTo>
                <a:lnTo>
                  <a:pt x="2342693" y="93269"/>
                </a:lnTo>
                <a:lnTo>
                  <a:pt x="2376526" y="92354"/>
                </a:lnTo>
                <a:lnTo>
                  <a:pt x="2410358" y="90526"/>
                </a:lnTo>
                <a:lnTo>
                  <a:pt x="2445106" y="88697"/>
                </a:lnTo>
                <a:lnTo>
                  <a:pt x="2478938" y="87782"/>
                </a:lnTo>
                <a:lnTo>
                  <a:pt x="2512771" y="85954"/>
                </a:lnTo>
                <a:lnTo>
                  <a:pt x="2546604" y="84125"/>
                </a:lnTo>
                <a:lnTo>
                  <a:pt x="2580437" y="83210"/>
                </a:lnTo>
                <a:lnTo>
                  <a:pt x="2614270" y="81382"/>
                </a:lnTo>
                <a:lnTo>
                  <a:pt x="2648102" y="79553"/>
                </a:lnTo>
                <a:lnTo>
                  <a:pt x="2682850" y="78638"/>
                </a:lnTo>
                <a:lnTo>
                  <a:pt x="2716682" y="76810"/>
                </a:lnTo>
                <a:lnTo>
                  <a:pt x="2750515" y="75895"/>
                </a:lnTo>
                <a:lnTo>
                  <a:pt x="2784348" y="74066"/>
                </a:lnTo>
                <a:lnTo>
                  <a:pt x="2818181" y="73152"/>
                </a:lnTo>
                <a:lnTo>
                  <a:pt x="2852014" y="71323"/>
                </a:lnTo>
                <a:lnTo>
                  <a:pt x="2885846" y="69494"/>
                </a:lnTo>
                <a:lnTo>
                  <a:pt x="2919679" y="68580"/>
                </a:lnTo>
                <a:lnTo>
                  <a:pt x="2954426" y="66751"/>
                </a:lnTo>
                <a:lnTo>
                  <a:pt x="2988259" y="65837"/>
                </a:lnTo>
                <a:lnTo>
                  <a:pt x="3022092" y="64922"/>
                </a:lnTo>
                <a:lnTo>
                  <a:pt x="3055925" y="63094"/>
                </a:lnTo>
                <a:lnTo>
                  <a:pt x="3089758" y="62179"/>
                </a:lnTo>
                <a:lnTo>
                  <a:pt x="3123590" y="60350"/>
                </a:lnTo>
                <a:lnTo>
                  <a:pt x="3157423" y="59436"/>
                </a:lnTo>
                <a:lnTo>
                  <a:pt x="3192170" y="57607"/>
                </a:lnTo>
                <a:lnTo>
                  <a:pt x="3226003" y="56693"/>
                </a:lnTo>
                <a:lnTo>
                  <a:pt x="3259836" y="55778"/>
                </a:lnTo>
                <a:lnTo>
                  <a:pt x="3293669" y="53950"/>
                </a:lnTo>
                <a:lnTo>
                  <a:pt x="3327502" y="53035"/>
                </a:lnTo>
                <a:lnTo>
                  <a:pt x="3361334" y="51206"/>
                </a:lnTo>
                <a:lnTo>
                  <a:pt x="3395167" y="50292"/>
                </a:lnTo>
                <a:lnTo>
                  <a:pt x="3429000" y="49378"/>
                </a:lnTo>
                <a:lnTo>
                  <a:pt x="3463747" y="47549"/>
                </a:lnTo>
                <a:lnTo>
                  <a:pt x="3497580" y="46634"/>
                </a:lnTo>
                <a:lnTo>
                  <a:pt x="3531413" y="45720"/>
                </a:lnTo>
                <a:lnTo>
                  <a:pt x="3565246" y="43891"/>
                </a:lnTo>
                <a:lnTo>
                  <a:pt x="3599078" y="42977"/>
                </a:lnTo>
                <a:lnTo>
                  <a:pt x="3632911" y="42062"/>
                </a:lnTo>
                <a:lnTo>
                  <a:pt x="3666744" y="41148"/>
                </a:lnTo>
                <a:lnTo>
                  <a:pt x="3701491" y="39319"/>
                </a:lnTo>
                <a:lnTo>
                  <a:pt x="3735324" y="38405"/>
                </a:lnTo>
                <a:lnTo>
                  <a:pt x="3769157" y="37490"/>
                </a:lnTo>
                <a:lnTo>
                  <a:pt x="3802990" y="36576"/>
                </a:lnTo>
                <a:lnTo>
                  <a:pt x="3836822" y="34747"/>
                </a:lnTo>
                <a:lnTo>
                  <a:pt x="3870655" y="33833"/>
                </a:lnTo>
                <a:lnTo>
                  <a:pt x="3904488" y="32918"/>
                </a:lnTo>
                <a:lnTo>
                  <a:pt x="3938321" y="32004"/>
                </a:lnTo>
                <a:lnTo>
                  <a:pt x="3973068" y="31090"/>
                </a:lnTo>
                <a:lnTo>
                  <a:pt x="4006901" y="30175"/>
                </a:lnTo>
                <a:lnTo>
                  <a:pt x="4040734" y="28346"/>
                </a:lnTo>
                <a:lnTo>
                  <a:pt x="4074566" y="27432"/>
                </a:lnTo>
                <a:lnTo>
                  <a:pt x="4108399" y="26518"/>
                </a:lnTo>
                <a:lnTo>
                  <a:pt x="4142232" y="25603"/>
                </a:lnTo>
                <a:lnTo>
                  <a:pt x="4176065" y="24689"/>
                </a:lnTo>
                <a:lnTo>
                  <a:pt x="4210812" y="23774"/>
                </a:lnTo>
                <a:lnTo>
                  <a:pt x="4244645" y="22860"/>
                </a:lnTo>
                <a:lnTo>
                  <a:pt x="4278478" y="21031"/>
                </a:lnTo>
                <a:lnTo>
                  <a:pt x="4312310" y="20117"/>
                </a:lnTo>
                <a:lnTo>
                  <a:pt x="4346143" y="19202"/>
                </a:lnTo>
                <a:lnTo>
                  <a:pt x="4379976" y="18288"/>
                </a:lnTo>
                <a:lnTo>
                  <a:pt x="4413809" y="17374"/>
                </a:lnTo>
                <a:lnTo>
                  <a:pt x="4447642" y="16459"/>
                </a:lnTo>
                <a:lnTo>
                  <a:pt x="4482389" y="15545"/>
                </a:lnTo>
                <a:lnTo>
                  <a:pt x="4516222" y="14630"/>
                </a:lnTo>
                <a:lnTo>
                  <a:pt x="4550054" y="13716"/>
                </a:lnTo>
                <a:lnTo>
                  <a:pt x="4583887" y="12802"/>
                </a:lnTo>
                <a:lnTo>
                  <a:pt x="4617720" y="11887"/>
                </a:lnTo>
                <a:lnTo>
                  <a:pt x="4651553" y="10973"/>
                </a:lnTo>
                <a:lnTo>
                  <a:pt x="4685386" y="10058"/>
                </a:lnTo>
                <a:lnTo>
                  <a:pt x="4720133" y="9144"/>
                </a:lnTo>
                <a:lnTo>
                  <a:pt x="4753966" y="8230"/>
                </a:lnTo>
                <a:lnTo>
                  <a:pt x="4787798" y="7315"/>
                </a:lnTo>
                <a:lnTo>
                  <a:pt x="4821631" y="6401"/>
                </a:lnTo>
                <a:lnTo>
                  <a:pt x="4855464" y="5486"/>
                </a:lnTo>
                <a:lnTo>
                  <a:pt x="4889297" y="4572"/>
                </a:lnTo>
                <a:lnTo>
                  <a:pt x="4923130" y="3658"/>
                </a:lnTo>
                <a:lnTo>
                  <a:pt x="4956962" y="2743"/>
                </a:lnTo>
                <a:lnTo>
                  <a:pt x="4991710" y="1829"/>
                </a:lnTo>
                <a:lnTo>
                  <a:pt x="5025542" y="914"/>
                </a:lnTo>
                <a:lnTo>
                  <a:pt x="5059375" y="914"/>
                </a:lnTo>
                <a:lnTo>
                  <a:pt x="5093208" y="0"/>
                </a:lnTo>
              </a:path>
            </a:pathLst>
          </a:custGeom>
          <a:noFill/>
          <a:ln w="44450">
            <a:solidFill>
              <a:srgbClr val="00A8AA"/>
            </a:solidFill>
            <a:prstDash val="solid"/>
          </a:ln>
        </p:spPr>
      </p:sp>
      <p:sp>
        <p:nvSpPr>
          <p:cNvPr id="18" name="Text 16"/>
          <p:cNvSpPr txBox="1"/>
          <p:nvPr/>
        </p:nvSpPr>
        <p:spPr>
          <a:xfrm>
            <a:off x="713232" y="2807208"/>
            <a:ext cx="365760" cy="420624"/>
          </a:xfrm>
          <a:prstGeom prst="rect">
            <a:avLst/>
          </a:prstGeom>
          <a:noFill/>
          <a:ln/>
        </p:spPr>
        <p:txBody>
          <a:bodyPr wrap="square" lIns="0" tIns="0" rIns="0" bIns="0" rtlCol="0" anchor="ctr"/>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1</a:t>
            </a:r>
            <a:endParaRPr lang="ja-JP" sz="2200" dirty="0"/>
          </a:p>
        </p:txBody>
      </p:sp>
      <p:sp>
        <p:nvSpPr>
          <p:cNvPr id="19" name="Text 17"/>
          <p:cNvSpPr txBox="1"/>
          <p:nvPr/>
        </p:nvSpPr>
        <p:spPr>
          <a:xfrm>
            <a:off x="713232" y="4818888"/>
            <a:ext cx="365760" cy="420624"/>
          </a:xfrm>
          <a:prstGeom prst="rect">
            <a:avLst/>
          </a:prstGeom>
          <a:noFill/>
          <a:ln/>
        </p:spPr>
        <p:txBody>
          <a:bodyPr wrap="square" lIns="0" tIns="0" rIns="0" bIns="0" rtlCol="0" anchor="ctr"/>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0</a:t>
            </a:r>
            <a:endParaRPr lang="ja-JP" sz="2200" dirty="0"/>
          </a:p>
        </p:txBody>
      </p:sp>
      <p:sp>
        <p:nvSpPr>
          <p:cNvPr id="20" name="Text 18"/>
          <p:cNvSpPr txBox="1"/>
          <p:nvPr/>
        </p:nvSpPr>
        <p:spPr>
          <a:xfrm>
            <a:off x="502920" y="1755648"/>
            <a:ext cx="320040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肺胞濃度 ÷ 吸入濃度</a:t>
            </a:r>
            <a:endParaRPr lang="ja-JP" sz="2200" dirty="0"/>
          </a:p>
        </p:txBody>
      </p:sp>
      <p:sp>
        <p:nvSpPr>
          <p:cNvPr id="21" name="Text 19"/>
          <p:cNvSpPr txBox="1"/>
          <p:nvPr/>
        </p:nvSpPr>
        <p:spPr>
          <a:xfrm>
            <a:off x="5440680" y="5184648"/>
            <a:ext cx="1097280" cy="42062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時間</a:t>
            </a:r>
            <a:endParaRPr lang="ja-JP" sz="2200" dirty="0"/>
          </a:p>
        </p:txBody>
      </p:sp>
      <p:sp>
        <p:nvSpPr>
          <p:cNvPr id="22" name="Shape 20"/>
          <p:cNvSpPr/>
          <p:nvPr/>
        </p:nvSpPr>
        <p:spPr>
          <a:xfrm>
            <a:off x="3977640" y="1965960"/>
            <a:ext cx="502920" cy="9144"/>
          </a:xfrm>
          <a:custGeom>
            <a:avLst/>
            <a:gdLst/>
            <a:ahLst/>
            <a:cxnLst/>
            <a:rect l="l" t="t" r="r" b="b"/>
            <a:pathLst>
              <a:path w="502920" h="9144">
                <a:moveTo>
                  <a:pt x="0" y="0"/>
                </a:moveTo>
                <a:lnTo>
                  <a:pt x="502920" y="0"/>
                </a:lnTo>
              </a:path>
            </a:pathLst>
          </a:custGeom>
          <a:noFill/>
          <a:ln w="44450">
            <a:solidFill>
              <a:srgbClr val="00A8AA"/>
            </a:solidFill>
            <a:prstDash val="solid"/>
          </a:ln>
        </p:spPr>
      </p:sp>
      <p:sp>
        <p:nvSpPr>
          <p:cNvPr id="23" name="Text 21"/>
          <p:cNvSpPr txBox="1"/>
          <p:nvPr/>
        </p:nvSpPr>
        <p:spPr>
          <a:xfrm>
            <a:off x="4617720" y="1755648"/>
            <a:ext cx="2103120" cy="420624"/>
          </a:xfrm>
          <a:prstGeom prst="rect">
            <a:avLst/>
          </a:prstGeom>
          <a:noFill/>
          <a:ln/>
        </p:spPr>
        <p:txBody>
          <a:bodyPr wrap="square" lIns="0" tIns="0" rIns="0" bIns="0" rtlCol="0" anchor="t"/>
          <a:lstStyle/>
          <a:p>
            <a:pPr algn="l" indent="0" marL="0">
              <a:buNone/>
            </a:pPr>
            <a:r>
              <a:rPr lang="ja-JP" altLang="en-US" sz="2200" b="1" dirty="0">
                <a:solidFill>
                  <a:srgbClr val="00A8AA"/>
                </a:solidFill>
                <a:latin typeface="メイリオ" pitchFamily="34" charset="0"/>
                <a:ea typeface="メイリオ" pitchFamily="34" charset="-122"/>
                <a:cs typeface="メイリオ" pitchFamily="34" charset="-120"/>
              </a:rPr>
              <a:t>デスフルラン</a:t>
            </a:r>
            <a:endParaRPr lang="ja-JP" sz="2200" dirty="0"/>
          </a:p>
        </p:txBody>
      </p:sp>
      <p:sp>
        <p:nvSpPr>
          <p:cNvPr id="24" name="Shape 22"/>
          <p:cNvSpPr/>
          <p:nvPr/>
        </p:nvSpPr>
        <p:spPr>
          <a:xfrm>
            <a:off x="3977640" y="2478024"/>
            <a:ext cx="502920" cy="9144"/>
          </a:xfrm>
          <a:custGeom>
            <a:avLst/>
            <a:gdLst/>
            <a:ahLst/>
            <a:cxnLst/>
            <a:rect l="l" t="t" r="r" b="b"/>
            <a:pathLst>
              <a:path w="502920" h="9144">
                <a:moveTo>
                  <a:pt x="0" y="0"/>
                </a:moveTo>
                <a:lnTo>
                  <a:pt x="502920" y="0"/>
                </a:lnTo>
              </a:path>
            </a:pathLst>
          </a:custGeom>
          <a:noFill/>
          <a:ln w="44450">
            <a:solidFill>
              <a:srgbClr val="0072B2"/>
            </a:solidFill>
            <a:prstDash val="solid"/>
          </a:ln>
        </p:spPr>
      </p:sp>
      <p:sp>
        <p:nvSpPr>
          <p:cNvPr id="25" name="Text 23"/>
          <p:cNvSpPr txBox="1"/>
          <p:nvPr/>
        </p:nvSpPr>
        <p:spPr>
          <a:xfrm>
            <a:off x="4617720" y="2267712"/>
            <a:ext cx="2103120" cy="42062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セボフルラン</a:t>
            </a:r>
            <a:endParaRPr lang="ja-JP" sz="2200" dirty="0"/>
          </a:p>
        </p:txBody>
      </p:sp>
      <p:sp>
        <p:nvSpPr>
          <p:cNvPr id="26" name="Text 24"/>
          <p:cNvSpPr txBox="1"/>
          <p:nvPr/>
        </p:nvSpPr>
        <p:spPr>
          <a:xfrm>
            <a:off x="7040880" y="2034540"/>
            <a:ext cx="3474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7" name="Text 25"/>
          <p:cNvSpPr txBox="1"/>
          <p:nvPr/>
        </p:nvSpPr>
        <p:spPr>
          <a:xfrm>
            <a:off x="7388352" y="2034540"/>
            <a:ext cx="4297680"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肺胞濃度（≈ 呼気濃度）が、</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脳の濃度の目安</a:t>
            </a:r>
            <a:endParaRPr lang="ja-JP" sz="2200" dirty="0"/>
          </a:p>
        </p:txBody>
      </p:sp>
      <p:sp>
        <p:nvSpPr>
          <p:cNvPr id="28" name="Text 26"/>
          <p:cNvSpPr txBox="1"/>
          <p:nvPr/>
        </p:nvSpPr>
        <p:spPr>
          <a:xfrm>
            <a:off x="7040880" y="3259836"/>
            <a:ext cx="3474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9" name="Text 27"/>
          <p:cNvSpPr txBox="1"/>
          <p:nvPr/>
        </p:nvSpPr>
        <p:spPr>
          <a:xfrm>
            <a:off x="7388352" y="3259836"/>
            <a:ext cx="4297680"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血液に</a:t>
            </a:r>
            <a:r>
              <a:rPr lang="ja-JP" altLang="en-US" sz="2200" b="1" dirty="0">
                <a:solidFill>
                  <a:srgbClr val="00A8AA"/>
                </a:solidFill>
                <a:latin typeface="メイリオ" pitchFamily="34" charset="0"/>
                <a:ea typeface="メイリオ" pitchFamily="34" charset="-122"/>
                <a:cs typeface="メイリオ" pitchFamily="34" charset="-120"/>
              </a:rPr>
              <a:t>溶けにくい</a:t>
            </a:r>
            <a:r>
              <a:rPr lang="ja-JP" altLang="en-US" sz="2200" dirty="0">
                <a:solidFill>
                  <a:srgbClr val="262626"/>
                </a:solidFill>
                <a:latin typeface="メイリオ" pitchFamily="34" charset="0"/>
                <a:ea typeface="メイリオ" pitchFamily="34" charset="-122"/>
                <a:cs typeface="メイリオ" pitchFamily="34" charset="-120"/>
              </a:rPr>
              <a:t>薬ほど、</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立ち上がりと覚醒が速い</a:t>
            </a:r>
            <a:endParaRPr lang="ja-JP" sz="2200" dirty="0"/>
          </a:p>
        </p:txBody>
      </p:sp>
      <p:sp>
        <p:nvSpPr>
          <p:cNvPr id="30" name="Text 28"/>
          <p:cNvSpPr txBox="1"/>
          <p:nvPr/>
        </p:nvSpPr>
        <p:spPr>
          <a:xfrm>
            <a:off x="7040880" y="4485132"/>
            <a:ext cx="3474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1" name="Text 29"/>
          <p:cNvSpPr txBox="1"/>
          <p:nvPr/>
        </p:nvSpPr>
        <p:spPr>
          <a:xfrm>
            <a:off x="7388352" y="4485132"/>
            <a:ext cx="4297680"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新鮮ガス流量・換気量・</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心拍出量で速さが変わる</a:t>
            </a:r>
            <a:endParaRPr lang="ja-JP"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MAC：最小肺胞濃度</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MAC</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セボ・</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デス</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亜酸化</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窒素</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第4版」Ⅳ 吸入麻酔薬（2025）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Mapleson WW. Br J Anaesth 1996;76:179-85</a:t>
            </a:r>
            <a:endParaRPr lang="ja-JP" sz="1600" dirty="0"/>
          </a:p>
        </p:txBody>
      </p:sp>
      <p:sp>
        <p:nvSpPr>
          <p:cNvPr id="11" name="Text 9"/>
          <p:cNvSpPr/>
          <p:nvPr/>
        </p:nvSpPr>
        <p:spPr>
          <a:xfrm>
            <a:off x="502920" y="1691640"/>
            <a:ext cx="11183112" cy="676656"/>
          </a:xfrm>
          <a:prstGeom prst="roundRect">
            <a:avLst>
              <a:gd name="adj" fmla="val 10811"/>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2800" b="1" dirty="0">
                <a:solidFill>
                  <a:srgbClr val="00A8AA"/>
                </a:solidFill>
                <a:latin typeface="メイリオ" pitchFamily="34" charset="0"/>
                <a:ea typeface="メイリオ" pitchFamily="34" charset="-122"/>
                <a:cs typeface="メイリオ" pitchFamily="34" charset="-120"/>
              </a:rPr>
              <a:t>MAC</a:t>
            </a:r>
            <a:r>
              <a:rPr lang="ja-JP" altLang="en-US" sz="2800" b="1" dirty="0">
                <a:solidFill>
                  <a:srgbClr val="262626"/>
                </a:solidFill>
                <a:latin typeface="メイリオ" pitchFamily="34" charset="0"/>
                <a:ea typeface="メイリオ" pitchFamily="34" charset="-122"/>
                <a:cs typeface="メイリオ" pitchFamily="34" charset="-120"/>
              </a:rPr>
              <a:t> ＝ </a:t>
            </a:r>
            <a:r>
              <a:rPr lang="ja-JP" altLang="en-US" sz="2800" b="1" dirty="0">
                <a:solidFill>
                  <a:srgbClr val="D55E00"/>
                </a:solidFill>
                <a:latin typeface="メイリオ" pitchFamily="34" charset="0"/>
                <a:ea typeface="メイリオ" pitchFamily="34" charset="-122"/>
                <a:cs typeface="メイリオ" pitchFamily="34" charset="-120"/>
              </a:rPr>
              <a:t>50%</a:t>
            </a:r>
            <a:r>
              <a:rPr lang="ja-JP" altLang="en-US" sz="2800" b="1" dirty="0">
                <a:solidFill>
                  <a:srgbClr val="262626"/>
                </a:solidFill>
                <a:latin typeface="メイリオ" pitchFamily="34" charset="0"/>
                <a:ea typeface="メイリオ" pitchFamily="34" charset="-122"/>
                <a:cs typeface="メイリオ" pitchFamily="34" charset="-120"/>
              </a:rPr>
              <a:t> の患者が皮膚切開で動かなくなる肺胞濃度</a:t>
            </a:r>
            <a:endParaRPr lang="ja-JP"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624328"/>
          <a:ext cx="11183112" cy="914400"/>
        </p:xfrm>
        <a:graphic>
          <a:graphicData uri="http://schemas.openxmlformats.org/drawingml/2006/table">
            <a:tbl>
              <a:tblPr/>
              <a:tblGrid>
                <a:gridCol w="3017520"/>
                <a:gridCol w="3566160"/>
                <a:gridCol w="4599432"/>
              </a:tblGrid>
              <a:tr h="484632">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薬</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MAC（成人の目安）</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備考</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484632">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セボフルラン</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約 1.7〜2.0%</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年齢で変わる</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84632">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デスフルラン</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約 6%</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年齢で変わる</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84632">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亜酸化窒素</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約 105%</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単独では麻酔にならない</a:t>
                      </a:r>
                      <a:endParaRPr lang="en-US" sz="2400" dirty="0">
                        <a:latin typeface="メイリオ" charset="0"/>
                        <a:ea typeface="メイリオ" charset="0"/>
                        <a:cs typeface="メイリオ" charset="0"/>
                      </a:endParaRPr>
                    </a:p>
                  </a:txBody>
                  <a:tcPr marL="101600" marR="1016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3" name="Text 10"/>
          <p:cNvSpPr txBox="1"/>
          <p:nvPr/>
        </p:nvSpPr>
        <p:spPr>
          <a:xfrm>
            <a:off x="502920" y="4818888"/>
            <a:ext cx="11155680" cy="1042416"/>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10 歳上がるごとに</a:t>
            </a:r>
            <a:r>
              <a:rPr lang="ja-JP" altLang="en-US" sz="2400" b="1" dirty="0">
                <a:solidFill>
                  <a:srgbClr val="262626"/>
                </a:solidFill>
                <a:latin typeface="メイリオ" pitchFamily="34" charset="0"/>
                <a:ea typeface="メイリオ" pitchFamily="34" charset="-122"/>
                <a:cs typeface="メイリオ" pitchFamily="34" charset="-120"/>
              </a:rPr>
              <a:t>約 6〜7%</a:t>
            </a:r>
            <a:r>
              <a:rPr lang="ja-JP" altLang="en-US" sz="2400" dirty="0">
                <a:solidFill>
                  <a:srgbClr val="262626"/>
                </a:solidFill>
                <a:latin typeface="メイリオ" pitchFamily="34" charset="0"/>
                <a:ea typeface="メイリオ" pitchFamily="34" charset="-122"/>
                <a:cs typeface="メイリオ" pitchFamily="34" charset="-120"/>
              </a:rPr>
              <a:t> 下がる（高齢者は減量）</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オピオイド・亜酸化窒素の併用で下がる</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セボフルラン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MAC</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セボ・</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デス</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亜酸化</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窒素</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セボフルラン吸入麻酔液 添付文書 / Laster M, et al. Anesth Analg 2004;99:769-74</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第4版」Ⅳ 吸入麻酔薬（2025）</a:t>
            </a:r>
            <a:endParaRPr lang="ja-JP" sz="1600" dirty="0"/>
          </a:p>
        </p:txBody>
      </p:sp>
      <p:sp>
        <p:nvSpPr>
          <p:cNvPr id="11" name="Shape 9"/>
          <p:cNvSpPr/>
          <p:nvPr/>
        </p:nvSpPr>
        <p:spPr>
          <a:xfrm>
            <a:off x="502920" y="1691640"/>
            <a:ext cx="3499409" cy="4032504"/>
          </a:xfrm>
          <a:prstGeom prst="roundRect">
            <a:avLst>
              <a:gd name="adj" fmla="val 2090"/>
            </a:avLst>
          </a:prstGeom>
          <a:solidFill>
            <a:srgbClr val="F2F2F2"/>
          </a:solidFill>
          <a:ln/>
        </p:spPr>
      </p:sp>
      <p:sp>
        <p:nvSpPr>
          <p:cNvPr id="12" name="Text 10"/>
          <p:cNvSpPr txBox="1"/>
          <p:nvPr/>
        </p:nvSpPr>
        <p:spPr>
          <a:xfrm>
            <a:off x="630936" y="1837944"/>
            <a:ext cx="3243377"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特徴</a:t>
            </a:r>
            <a:endParaRPr lang="ja-JP" sz="2600" dirty="0"/>
          </a:p>
        </p:txBody>
      </p:sp>
      <p:sp>
        <p:nvSpPr>
          <p:cNvPr id="13" name="Text 11"/>
          <p:cNvSpPr txBox="1"/>
          <p:nvPr/>
        </p:nvSpPr>
        <p:spPr>
          <a:xfrm>
            <a:off x="630936" y="2468880"/>
            <a:ext cx="324337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気道刺激が少ない</a:t>
            </a:r>
            <a:endParaRPr lang="ja-JP" sz="2400" dirty="0"/>
          </a:p>
        </p:txBody>
      </p:sp>
      <p:sp>
        <p:nvSpPr>
          <p:cNvPr id="14" name="Text 12"/>
          <p:cNvSpPr txBox="1"/>
          <p:nvPr/>
        </p:nvSpPr>
        <p:spPr>
          <a:xfrm>
            <a:off x="630936" y="3218688"/>
            <a:ext cx="324337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マスク（緩徐）</a:t>
            </a:r>
            <a:endParaRPr lang="ja-JP" sz="2400" dirty="0"/>
          </a:p>
        </p:txBody>
      </p:sp>
      <p:sp>
        <p:nvSpPr>
          <p:cNvPr id="15" name="Text 13"/>
          <p:cNvSpPr txBox="1"/>
          <p:nvPr/>
        </p:nvSpPr>
        <p:spPr>
          <a:xfrm>
            <a:off x="905256" y="3675888"/>
            <a:ext cx="296905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導入に使える</a:t>
            </a:r>
            <a:endParaRPr lang="ja-JP" sz="2400" dirty="0"/>
          </a:p>
        </p:txBody>
      </p:sp>
      <p:sp>
        <p:nvSpPr>
          <p:cNvPr id="16" name="Text 14"/>
          <p:cNvSpPr txBox="1"/>
          <p:nvPr/>
        </p:nvSpPr>
        <p:spPr>
          <a:xfrm>
            <a:off x="630936" y="4425696"/>
            <a:ext cx="324337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気管支拡張</a:t>
            </a:r>
            <a:endParaRPr lang="ja-JP" sz="2400" dirty="0"/>
          </a:p>
        </p:txBody>
      </p:sp>
      <p:sp>
        <p:nvSpPr>
          <p:cNvPr id="17" name="Shape 15"/>
          <p:cNvSpPr/>
          <p:nvPr/>
        </p:nvSpPr>
        <p:spPr>
          <a:xfrm>
            <a:off x="4221785" y="1691640"/>
            <a:ext cx="3745382" cy="4032504"/>
          </a:xfrm>
          <a:prstGeom prst="roundRect">
            <a:avLst>
              <a:gd name="adj" fmla="val 1953"/>
            </a:avLst>
          </a:prstGeom>
          <a:solidFill>
            <a:srgbClr val="F2F2F2"/>
          </a:solidFill>
          <a:ln/>
        </p:spPr>
      </p:sp>
      <p:sp>
        <p:nvSpPr>
          <p:cNvPr id="18" name="Text 16"/>
          <p:cNvSpPr txBox="1"/>
          <p:nvPr/>
        </p:nvSpPr>
        <p:spPr>
          <a:xfrm>
            <a:off x="4349801" y="1837944"/>
            <a:ext cx="3489350"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用法（添付文書）</a:t>
            </a:r>
            <a:endParaRPr lang="ja-JP" sz="2600" dirty="0"/>
          </a:p>
        </p:txBody>
      </p:sp>
      <p:sp>
        <p:nvSpPr>
          <p:cNvPr id="19" name="Text 17"/>
          <p:cNvSpPr txBox="1"/>
          <p:nvPr/>
        </p:nvSpPr>
        <p:spPr>
          <a:xfrm>
            <a:off x="4349801" y="2468880"/>
            <a:ext cx="348935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導入：通常 </a:t>
            </a:r>
            <a:r>
              <a:rPr lang="ja-JP" altLang="en-US" sz="2400" b="1" dirty="0">
                <a:solidFill>
                  <a:srgbClr val="262626"/>
                </a:solidFill>
                <a:latin typeface="メイリオ" pitchFamily="34" charset="0"/>
                <a:ea typeface="メイリオ" pitchFamily="34" charset="-122"/>
                <a:cs typeface="メイリオ" pitchFamily="34" charset="-120"/>
              </a:rPr>
              <a:t>0.5〜5.0%</a:t>
            </a:r>
            <a:endParaRPr lang="ja-JP" sz="2400" dirty="0"/>
          </a:p>
        </p:txBody>
      </p:sp>
      <p:sp>
        <p:nvSpPr>
          <p:cNvPr id="20" name="Text 18"/>
          <p:cNvSpPr txBox="1"/>
          <p:nvPr/>
        </p:nvSpPr>
        <p:spPr>
          <a:xfrm>
            <a:off x="4349801" y="3218688"/>
            <a:ext cx="348935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維持：通常 </a:t>
            </a:r>
            <a:r>
              <a:rPr lang="ja-JP" altLang="en-US" sz="2400" b="1" dirty="0">
                <a:solidFill>
                  <a:srgbClr val="262626"/>
                </a:solidFill>
                <a:latin typeface="メイリオ" pitchFamily="34" charset="0"/>
                <a:ea typeface="メイリオ" pitchFamily="34" charset="-122"/>
                <a:cs typeface="メイリオ" pitchFamily="34" charset="-120"/>
              </a:rPr>
              <a:t>4.0% 以下</a:t>
            </a:r>
            <a:endParaRPr lang="ja-JP" sz="2400" dirty="0"/>
          </a:p>
        </p:txBody>
      </p:sp>
      <p:sp>
        <p:nvSpPr>
          <p:cNvPr id="21" name="Text 19"/>
          <p:cNvSpPr txBox="1"/>
          <p:nvPr/>
        </p:nvSpPr>
        <p:spPr>
          <a:xfrm>
            <a:off x="4624121" y="3675888"/>
            <a:ext cx="321503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（最小有効濃度）</a:t>
            </a:r>
            <a:endParaRPr lang="ja-JP" sz="2400" dirty="0"/>
          </a:p>
        </p:txBody>
      </p:sp>
      <p:sp>
        <p:nvSpPr>
          <p:cNvPr id="22" name="Shape 20"/>
          <p:cNvSpPr/>
          <p:nvPr/>
        </p:nvSpPr>
        <p:spPr>
          <a:xfrm>
            <a:off x="8186623" y="1691640"/>
            <a:ext cx="3499409" cy="4032504"/>
          </a:xfrm>
          <a:prstGeom prst="roundRect">
            <a:avLst>
              <a:gd name="adj" fmla="val 2090"/>
            </a:avLst>
          </a:prstGeom>
          <a:solidFill>
            <a:srgbClr val="F2F2F2"/>
          </a:solidFill>
          <a:ln/>
        </p:spPr>
      </p:sp>
      <p:sp>
        <p:nvSpPr>
          <p:cNvPr id="23" name="Text 21"/>
          <p:cNvSpPr txBox="1"/>
          <p:nvPr/>
        </p:nvSpPr>
        <p:spPr>
          <a:xfrm>
            <a:off x="8314639" y="1837944"/>
            <a:ext cx="3243377" cy="502920"/>
          </a:xfrm>
          <a:prstGeom prst="rect">
            <a:avLst/>
          </a:prstGeom>
          <a:noFill/>
          <a:ln/>
        </p:spPr>
        <p:txBody>
          <a:bodyPr wrap="square" lIns="0" tIns="0" rIns="0" bIns="0" rtlCol="0" anchor="t"/>
          <a:lstStyle/>
          <a:p>
            <a:pPr algn="l" indent="0" marL="0">
              <a:buNone/>
            </a:pPr>
            <a:r>
              <a:rPr lang="ja-JP" altLang="en-US" sz="2600" b="1" dirty="0">
                <a:solidFill>
                  <a:srgbClr val="D55E00"/>
                </a:solidFill>
                <a:latin typeface="メイリオ" pitchFamily="34" charset="0"/>
                <a:ea typeface="メイリオ" pitchFamily="34" charset="-122"/>
                <a:cs typeface="メイリオ" pitchFamily="34" charset="-120"/>
              </a:rPr>
              <a:t>注意</a:t>
            </a:r>
            <a:endParaRPr lang="ja-JP" sz="2600" dirty="0"/>
          </a:p>
        </p:txBody>
      </p:sp>
      <p:sp>
        <p:nvSpPr>
          <p:cNvPr id="24" name="Text 22"/>
          <p:cNvSpPr txBox="1"/>
          <p:nvPr/>
        </p:nvSpPr>
        <p:spPr>
          <a:xfrm>
            <a:off x="8314639" y="2468880"/>
            <a:ext cx="3243377"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悪性高熱症</a:t>
            </a:r>
            <a:r>
              <a:rPr lang="ja-JP" altLang="en-US" sz="2400" dirty="0">
                <a:solidFill>
                  <a:srgbClr val="262626"/>
                </a:solidFill>
                <a:latin typeface="メイリオ" pitchFamily="34" charset="0"/>
                <a:ea typeface="メイリオ" pitchFamily="34" charset="-122"/>
                <a:cs typeface="メイリオ" pitchFamily="34" charset="-120"/>
              </a:rPr>
              <a:t>の誘因</a:t>
            </a:r>
            <a:endParaRPr lang="ja-JP" sz="2400" dirty="0"/>
          </a:p>
        </p:txBody>
      </p:sp>
      <p:sp>
        <p:nvSpPr>
          <p:cNvPr id="25" name="Text 23"/>
          <p:cNvSpPr txBox="1"/>
          <p:nvPr/>
        </p:nvSpPr>
        <p:spPr>
          <a:xfrm>
            <a:off x="8314639" y="3047695"/>
            <a:ext cx="324337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小児の覚醒時興奮</a:t>
            </a:r>
            <a:endParaRPr lang="ja-JP" sz="2400" dirty="0"/>
          </a:p>
        </p:txBody>
      </p:sp>
      <p:sp>
        <p:nvSpPr>
          <p:cNvPr id="26" name="Text 24"/>
          <p:cNvSpPr txBox="1"/>
          <p:nvPr/>
        </p:nvSpPr>
        <p:spPr>
          <a:xfrm>
            <a:off x="8314639" y="3627425"/>
            <a:ext cx="324337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コンパウンド A：</a:t>
            </a:r>
            <a:endParaRPr lang="ja-JP" sz="2400" dirty="0"/>
          </a:p>
        </p:txBody>
      </p:sp>
      <p:sp>
        <p:nvSpPr>
          <p:cNvPr id="27" name="Text 25"/>
          <p:cNvSpPr txBox="1"/>
          <p:nvPr/>
        </p:nvSpPr>
        <p:spPr>
          <a:xfrm>
            <a:off x="8588959" y="4084625"/>
            <a:ext cx="296905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低流量で増える</a:t>
            </a:r>
            <a:endParaRPr lang="ja-JP" sz="2400" dirty="0"/>
          </a:p>
        </p:txBody>
      </p:sp>
      <p:sp>
        <p:nvSpPr>
          <p:cNvPr id="28" name="Text 26"/>
          <p:cNvSpPr txBox="1"/>
          <p:nvPr/>
        </p:nvSpPr>
        <p:spPr>
          <a:xfrm>
            <a:off x="8314639" y="4663440"/>
            <a:ext cx="3243377"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乾いた吸収剤：</a:t>
            </a:r>
            <a:endParaRPr lang="ja-JP" sz="2400" dirty="0"/>
          </a:p>
        </p:txBody>
      </p:sp>
      <p:sp>
        <p:nvSpPr>
          <p:cNvPr id="29" name="Text 27"/>
          <p:cNvSpPr txBox="1"/>
          <p:nvPr/>
        </p:nvSpPr>
        <p:spPr>
          <a:xfrm>
            <a:off x="8588959" y="5120640"/>
            <a:ext cx="2969057"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異常発熱・発火</a:t>
            </a:r>
            <a:endParaRPr lang="ja-JP"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デスフルラン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MAC</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セボ・</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デス</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亜酸化</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窒素</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デスフルラン吸入麻酔液 添付文書 / Ebert TJ, Muzi M. Anesthesiology 1993;79:444-53</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第4版」Ⅳ 吸入麻酔薬（2025）</a:t>
            </a:r>
            <a:endParaRPr lang="ja-JP" sz="1600" dirty="0"/>
          </a:p>
        </p:txBody>
      </p:sp>
      <p:sp>
        <p:nvSpPr>
          <p:cNvPr id="11" name="Shape 9"/>
          <p:cNvSpPr/>
          <p:nvPr/>
        </p:nvSpPr>
        <p:spPr>
          <a:xfrm>
            <a:off x="502920" y="1691640"/>
            <a:ext cx="3581705" cy="4032504"/>
          </a:xfrm>
          <a:prstGeom prst="roundRect">
            <a:avLst>
              <a:gd name="adj" fmla="val 2042"/>
            </a:avLst>
          </a:prstGeom>
          <a:solidFill>
            <a:srgbClr val="F2F2F2"/>
          </a:solidFill>
          <a:ln/>
        </p:spPr>
      </p:sp>
      <p:sp>
        <p:nvSpPr>
          <p:cNvPr id="12" name="Text 10"/>
          <p:cNvSpPr txBox="1"/>
          <p:nvPr/>
        </p:nvSpPr>
        <p:spPr>
          <a:xfrm>
            <a:off x="630936" y="1837944"/>
            <a:ext cx="3325673"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特徴</a:t>
            </a:r>
            <a:endParaRPr lang="ja-JP" sz="2600" dirty="0"/>
          </a:p>
        </p:txBody>
      </p:sp>
      <p:sp>
        <p:nvSpPr>
          <p:cNvPr id="13" name="Text 11"/>
          <p:cNvSpPr txBox="1"/>
          <p:nvPr/>
        </p:nvSpPr>
        <p:spPr>
          <a:xfrm>
            <a:off x="630936" y="2468880"/>
            <a:ext cx="332567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最も溶けにくい</a:t>
            </a:r>
            <a:endParaRPr lang="ja-JP" sz="2400" dirty="0"/>
          </a:p>
        </p:txBody>
      </p:sp>
      <p:sp>
        <p:nvSpPr>
          <p:cNvPr id="14" name="Text 12"/>
          <p:cNvSpPr txBox="1"/>
          <p:nvPr/>
        </p:nvSpPr>
        <p:spPr>
          <a:xfrm>
            <a:off x="905256" y="2926080"/>
            <a:ext cx="305135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 </a:t>
            </a:r>
            <a:r>
              <a:rPr lang="ja-JP" altLang="en-US" sz="2400" b="1" dirty="0">
                <a:solidFill>
                  <a:srgbClr val="00A8AA"/>
                </a:solidFill>
                <a:latin typeface="メイリオ" pitchFamily="34" charset="0"/>
                <a:ea typeface="メイリオ" pitchFamily="34" charset="-122"/>
                <a:cs typeface="メイリオ" pitchFamily="34" charset="-120"/>
              </a:rPr>
              <a:t>覚醒が速い</a:t>
            </a:r>
            <a:endParaRPr lang="ja-JP" sz="2400" dirty="0"/>
          </a:p>
        </p:txBody>
      </p:sp>
      <p:sp>
        <p:nvSpPr>
          <p:cNvPr id="15" name="Text 13"/>
          <p:cNvSpPr txBox="1"/>
          <p:nvPr/>
        </p:nvSpPr>
        <p:spPr>
          <a:xfrm>
            <a:off x="630936" y="3675888"/>
            <a:ext cx="332567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長時間・肥満の</a:t>
            </a:r>
            <a:endParaRPr lang="ja-JP" sz="2400" dirty="0"/>
          </a:p>
        </p:txBody>
      </p:sp>
      <p:sp>
        <p:nvSpPr>
          <p:cNvPr id="16" name="Text 14"/>
          <p:cNvSpPr txBox="1"/>
          <p:nvPr/>
        </p:nvSpPr>
        <p:spPr>
          <a:xfrm>
            <a:off x="905256" y="4133088"/>
            <a:ext cx="305135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手術で有利</a:t>
            </a:r>
            <a:endParaRPr lang="ja-JP" sz="2400" dirty="0"/>
          </a:p>
        </p:txBody>
      </p:sp>
      <p:sp>
        <p:nvSpPr>
          <p:cNvPr id="17" name="Text 15"/>
          <p:cNvSpPr txBox="1"/>
          <p:nvPr/>
        </p:nvSpPr>
        <p:spPr>
          <a:xfrm>
            <a:off x="630936" y="4882896"/>
            <a:ext cx="332567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代謝がほとんどない</a:t>
            </a:r>
            <a:endParaRPr lang="ja-JP" sz="2400" dirty="0"/>
          </a:p>
        </p:txBody>
      </p:sp>
      <p:sp>
        <p:nvSpPr>
          <p:cNvPr id="18" name="Shape 16"/>
          <p:cNvSpPr/>
          <p:nvPr/>
        </p:nvSpPr>
        <p:spPr>
          <a:xfrm>
            <a:off x="4304081" y="1691640"/>
            <a:ext cx="3581705" cy="4032504"/>
          </a:xfrm>
          <a:prstGeom prst="roundRect">
            <a:avLst>
              <a:gd name="adj" fmla="val 2042"/>
            </a:avLst>
          </a:prstGeom>
          <a:solidFill>
            <a:srgbClr val="F2F2F2"/>
          </a:solidFill>
          <a:ln/>
        </p:spPr>
      </p:sp>
      <p:sp>
        <p:nvSpPr>
          <p:cNvPr id="19" name="Text 17"/>
          <p:cNvSpPr txBox="1"/>
          <p:nvPr/>
        </p:nvSpPr>
        <p:spPr>
          <a:xfrm>
            <a:off x="4432097" y="1837944"/>
            <a:ext cx="3325673"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用法（添付文書）</a:t>
            </a:r>
            <a:endParaRPr lang="ja-JP" sz="2600" dirty="0"/>
          </a:p>
        </p:txBody>
      </p:sp>
      <p:sp>
        <p:nvSpPr>
          <p:cNvPr id="20" name="Text 18"/>
          <p:cNvSpPr txBox="1"/>
          <p:nvPr/>
        </p:nvSpPr>
        <p:spPr>
          <a:xfrm>
            <a:off x="4432097" y="2468880"/>
            <a:ext cx="332567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維持：</a:t>
            </a:r>
            <a:r>
              <a:rPr lang="ja-JP" altLang="en-US" sz="2400" b="1" dirty="0">
                <a:solidFill>
                  <a:srgbClr val="262626"/>
                </a:solidFill>
                <a:latin typeface="メイリオ" pitchFamily="34" charset="0"/>
                <a:ea typeface="メイリオ" pitchFamily="34" charset="-122"/>
                <a:cs typeface="メイリオ" pitchFamily="34" charset="-120"/>
              </a:rPr>
              <a:t>3.0%</a:t>
            </a:r>
            <a:r>
              <a:rPr lang="ja-JP" altLang="en-US" sz="2400" dirty="0">
                <a:solidFill>
                  <a:srgbClr val="262626"/>
                </a:solidFill>
                <a:latin typeface="メイリオ" pitchFamily="34" charset="0"/>
                <a:ea typeface="メイリオ" pitchFamily="34" charset="-122"/>
                <a:cs typeface="メイリオ" pitchFamily="34" charset="-120"/>
              </a:rPr>
              <a:t> で開始、</a:t>
            </a:r>
            <a:endParaRPr lang="ja-JP" sz="2400" dirty="0"/>
          </a:p>
        </p:txBody>
      </p:sp>
      <p:sp>
        <p:nvSpPr>
          <p:cNvPr id="21" name="Text 19"/>
          <p:cNvSpPr txBox="1"/>
          <p:nvPr/>
        </p:nvSpPr>
        <p:spPr>
          <a:xfrm>
            <a:off x="4706417" y="2926080"/>
            <a:ext cx="305135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通常 </a:t>
            </a:r>
            <a:r>
              <a:rPr lang="ja-JP" altLang="en-US" sz="2400" b="1" dirty="0">
                <a:solidFill>
                  <a:srgbClr val="262626"/>
                </a:solidFill>
                <a:latin typeface="メイリオ" pitchFamily="34" charset="0"/>
                <a:ea typeface="メイリオ" pitchFamily="34" charset="-122"/>
                <a:cs typeface="メイリオ" pitchFamily="34" charset="-120"/>
              </a:rPr>
              <a:t>7.6% 以下</a:t>
            </a:r>
            <a:endParaRPr lang="ja-JP" sz="2400" dirty="0"/>
          </a:p>
        </p:txBody>
      </p:sp>
      <p:sp>
        <p:nvSpPr>
          <p:cNvPr id="22" name="Text 20"/>
          <p:cNvSpPr txBox="1"/>
          <p:nvPr/>
        </p:nvSpPr>
        <p:spPr>
          <a:xfrm>
            <a:off x="4432097" y="3675888"/>
            <a:ext cx="3325673"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導入には使わない</a:t>
            </a:r>
            <a:endParaRPr lang="ja-JP" sz="2400" dirty="0"/>
          </a:p>
        </p:txBody>
      </p:sp>
      <p:sp>
        <p:nvSpPr>
          <p:cNvPr id="23" name="Shape 21"/>
          <p:cNvSpPr/>
          <p:nvPr/>
        </p:nvSpPr>
        <p:spPr>
          <a:xfrm>
            <a:off x="8104327" y="1691640"/>
            <a:ext cx="3581705" cy="4032504"/>
          </a:xfrm>
          <a:prstGeom prst="roundRect">
            <a:avLst>
              <a:gd name="adj" fmla="val 2042"/>
            </a:avLst>
          </a:prstGeom>
          <a:solidFill>
            <a:srgbClr val="F2F2F2"/>
          </a:solidFill>
          <a:ln/>
        </p:spPr>
      </p:sp>
      <p:sp>
        <p:nvSpPr>
          <p:cNvPr id="24" name="Text 22"/>
          <p:cNvSpPr txBox="1"/>
          <p:nvPr/>
        </p:nvSpPr>
        <p:spPr>
          <a:xfrm>
            <a:off x="8232343" y="1837944"/>
            <a:ext cx="3325673" cy="502920"/>
          </a:xfrm>
          <a:prstGeom prst="rect">
            <a:avLst/>
          </a:prstGeom>
          <a:noFill/>
          <a:ln/>
        </p:spPr>
        <p:txBody>
          <a:bodyPr wrap="square" lIns="0" tIns="0" rIns="0" bIns="0" rtlCol="0" anchor="t"/>
          <a:lstStyle/>
          <a:p>
            <a:pPr algn="l" indent="0" marL="0">
              <a:buNone/>
            </a:pPr>
            <a:r>
              <a:rPr lang="ja-JP" altLang="en-US" sz="2600" b="1" dirty="0">
                <a:solidFill>
                  <a:srgbClr val="D55E00"/>
                </a:solidFill>
                <a:latin typeface="メイリオ" pitchFamily="34" charset="0"/>
                <a:ea typeface="メイリオ" pitchFamily="34" charset="-122"/>
                <a:cs typeface="メイリオ" pitchFamily="34" charset="-120"/>
              </a:rPr>
              <a:t>注意</a:t>
            </a:r>
            <a:endParaRPr lang="ja-JP" sz="2600" dirty="0"/>
          </a:p>
        </p:txBody>
      </p:sp>
      <p:sp>
        <p:nvSpPr>
          <p:cNvPr id="25" name="Text 23"/>
          <p:cNvSpPr txBox="1"/>
          <p:nvPr/>
        </p:nvSpPr>
        <p:spPr>
          <a:xfrm>
            <a:off x="8232343" y="2468880"/>
            <a:ext cx="332567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気道刺激が強い：</a:t>
            </a:r>
            <a:endParaRPr lang="ja-JP" sz="2400" dirty="0"/>
          </a:p>
        </p:txBody>
      </p:sp>
      <p:sp>
        <p:nvSpPr>
          <p:cNvPr id="26" name="Text 24"/>
          <p:cNvSpPr txBox="1"/>
          <p:nvPr/>
        </p:nvSpPr>
        <p:spPr>
          <a:xfrm>
            <a:off x="8506663" y="2926080"/>
            <a:ext cx="305135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咳・喉頭痙攣</a:t>
            </a:r>
            <a:endParaRPr lang="ja-JP" sz="2400" dirty="0"/>
          </a:p>
        </p:txBody>
      </p:sp>
      <p:sp>
        <p:nvSpPr>
          <p:cNvPr id="27" name="Text 25"/>
          <p:cNvSpPr txBox="1"/>
          <p:nvPr/>
        </p:nvSpPr>
        <p:spPr>
          <a:xfrm>
            <a:off x="8232343" y="3504895"/>
            <a:ext cx="332567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急に上げると</a:t>
            </a:r>
            <a:endParaRPr lang="ja-JP" sz="2400" dirty="0"/>
          </a:p>
        </p:txBody>
      </p:sp>
      <p:sp>
        <p:nvSpPr>
          <p:cNvPr id="28" name="Text 26"/>
          <p:cNvSpPr txBox="1"/>
          <p:nvPr/>
        </p:nvSpPr>
        <p:spPr>
          <a:xfrm>
            <a:off x="8506663" y="3962095"/>
            <a:ext cx="305135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頻脈・高血圧</a:t>
            </a:r>
            <a:endParaRPr lang="ja-JP" sz="2400" dirty="0"/>
          </a:p>
        </p:txBody>
      </p:sp>
      <p:sp>
        <p:nvSpPr>
          <p:cNvPr id="29" name="Text 27"/>
          <p:cNvSpPr txBox="1"/>
          <p:nvPr/>
        </p:nvSpPr>
        <p:spPr>
          <a:xfrm>
            <a:off x="8232343" y="4541825"/>
            <a:ext cx="332567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専用の加温気化器</a:t>
            </a:r>
            <a:endParaRPr lang="ja-JP" sz="2400" dirty="0"/>
          </a:p>
        </p:txBody>
      </p:sp>
      <p:sp>
        <p:nvSpPr>
          <p:cNvPr id="30" name="Text 28"/>
          <p:cNvSpPr txBox="1"/>
          <p:nvPr/>
        </p:nvSpPr>
        <p:spPr>
          <a:xfrm>
            <a:off x="8232343" y="5120640"/>
            <a:ext cx="3325673"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環境負荷が大きい</a:t>
            </a:r>
            <a:endParaRPr 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亜酸化窒素</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MAC</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セボ・</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デス</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亜酸化</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窒素</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第4版」Ⅳ 吸入麻酔薬（2025）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Peyton PJ, Wu CY. Anesthesiology 2014;120:1137-45</a:t>
            </a:r>
            <a:endParaRPr lang="ja-JP" sz="1600" dirty="0"/>
          </a:p>
        </p:txBody>
      </p:sp>
      <p:sp>
        <p:nvSpPr>
          <p:cNvPr id="11" name="Shape 9"/>
          <p:cNvSpPr/>
          <p:nvPr/>
        </p:nvSpPr>
        <p:spPr>
          <a:xfrm>
            <a:off x="502920" y="1691640"/>
            <a:ext cx="3954780" cy="4032504"/>
          </a:xfrm>
          <a:prstGeom prst="roundRect">
            <a:avLst>
              <a:gd name="adj" fmla="val 1850"/>
            </a:avLst>
          </a:prstGeom>
          <a:solidFill>
            <a:srgbClr val="F2F2F2"/>
          </a:solidFill>
          <a:ln/>
        </p:spPr>
      </p:sp>
      <p:sp>
        <p:nvSpPr>
          <p:cNvPr id="12" name="Text 10"/>
          <p:cNvSpPr txBox="1"/>
          <p:nvPr/>
        </p:nvSpPr>
        <p:spPr>
          <a:xfrm>
            <a:off x="621792" y="1828800"/>
            <a:ext cx="371703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特徴</a:t>
            </a:r>
            <a:endParaRPr lang="ja-JP" sz="2400" dirty="0"/>
          </a:p>
        </p:txBody>
      </p:sp>
      <p:sp>
        <p:nvSpPr>
          <p:cNvPr id="13" name="Text 11"/>
          <p:cNvSpPr txBox="1"/>
          <p:nvPr/>
        </p:nvSpPr>
        <p:spPr>
          <a:xfrm>
            <a:off x="621792" y="2395728"/>
            <a:ext cx="371703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鎮痛作用がある</a:t>
            </a:r>
            <a:endParaRPr lang="ja-JP" sz="2200" dirty="0"/>
          </a:p>
        </p:txBody>
      </p:sp>
      <p:sp>
        <p:nvSpPr>
          <p:cNvPr id="14" name="Text 12"/>
          <p:cNvSpPr txBox="1"/>
          <p:nvPr/>
        </p:nvSpPr>
        <p:spPr>
          <a:xfrm>
            <a:off x="621792" y="3090672"/>
            <a:ext cx="3717036"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MAC 約 105%</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5" name="Text 13"/>
          <p:cNvSpPr txBox="1"/>
          <p:nvPr/>
        </p:nvSpPr>
        <p:spPr>
          <a:xfrm>
            <a:off x="896112" y="3511296"/>
            <a:ext cx="344271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単独では麻酔にならない</a:t>
            </a:r>
            <a:endParaRPr lang="ja-JP" sz="2200" dirty="0"/>
          </a:p>
        </p:txBody>
      </p:sp>
      <p:sp>
        <p:nvSpPr>
          <p:cNvPr id="16" name="Text 14"/>
          <p:cNvSpPr txBox="1"/>
          <p:nvPr/>
        </p:nvSpPr>
        <p:spPr>
          <a:xfrm>
            <a:off x="621792" y="4206240"/>
            <a:ext cx="371703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他の薬の</a:t>
            </a:r>
            <a:endParaRPr lang="ja-JP" sz="2200" dirty="0"/>
          </a:p>
        </p:txBody>
      </p:sp>
      <p:sp>
        <p:nvSpPr>
          <p:cNvPr id="17" name="Text 15"/>
          <p:cNvSpPr txBox="1"/>
          <p:nvPr/>
        </p:nvSpPr>
        <p:spPr>
          <a:xfrm>
            <a:off x="896112" y="4626864"/>
            <a:ext cx="344271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必要量を減らす</a:t>
            </a:r>
            <a:endParaRPr lang="ja-JP" sz="2200" dirty="0"/>
          </a:p>
        </p:txBody>
      </p:sp>
      <p:sp>
        <p:nvSpPr>
          <p:cNvPr id="18" name="Shape 16"/>
          <p:cNvSpPr/>
          <p:nvPr/>
        </p:nvSpPr>
        <p:spPr>
          <a:xfrm>
            <a:off x="4677156" y="1691640"/>
            <a:ext cx="3954780" cy="4032504"/>
          </a:xfrm>
          <a:prstGeom prst="roundRect">
            <a:avLst>
              <a:gd name="adj" fmla="val 1850"/>
            </a:avLst>
          </a:prstGeom>
          <a:solidFill>
            <a:srgbClr val="F2F2F2"/>
          </a:solidFill>
          <a:ln/>
        </p:spPr>
      </p:sp>
      <p:sp>
        <p:nvSpPr>
          <p:cNvPr id="19" name="Text 17"/>
          <p:cNvSpPr txBox="1"/>
          <p:nvPr/>
        </p:nvSpPr>
        <p:spPr>
          <a:xfrm>
            <a:off x="4796028" y="1828800"/>
            <a:ext cx="3717036"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0" name="Text 18"/>
          <p:cNvSpPr txBox="1"/>
          <p:nvPr/>
        </p:nvSpPr>
        <p:spPr>
          <a:xfrm>
            <a:off x="4796028" y="2395728"/>
            <a:ext cx="3717036"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閉鎖腔に広がる</a:t>
            </a:r>
            <a:r>
              <a:rPr lang="ja-JP" altLang="en-US" sz="2200" dirty="0">
                <a:solidFill>
                  <a:srgbClr val="262626"/>
                </a:solidFill>
                <a:latin typeface="メイリオ" pitchFamily="34" charset="0"/>
                <a:ea typeface="メイリオ" pitchFamily="34" charset="-122"/>
                <a:cs typeface="メイリオ" pitchFamily="34" charset="-120"/>
              </a:rPr>
              <a:t>：気胸・</a:t>
            </a:r>
            <a:endParaRPr lang="ja-JP" sz="2200" dirty="0"/>
          </a:p>
        </p:txBody>
      </p:sp>
      <p:sp>
        <p:nvSpPr>
          <p:cNvPr id="21" name="Text 19"/>
          <p:cNvSpPr txBox="1"/>
          <p:nvPr/>
        </p:nvSpPr>
        <p:spPr>
          <a:xfrm>
            <a:off x="5070348" y="2816352"/>
            <a:ext cx="344271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腸閉塞・中耳・眼内ガス</a:t>
            </a:r>
            <a:endParaRPr lang="ja-JP" sz="2200" dirty="0"/>
          </a:p>
        </p:txBody>
      </p:sp>
      <p:sp>
        <p:nvSpPr>
          <p:cNvPr id="22" name="Text 20"/>
          <p:cNvSpPr txBox="1"/>
          <p:nvPr/>
        </p:nvSpPr>
        <p:spPr>
          <a:xfrm>
            <a:off x="4796028" y="3459175"/>
            <a:ext cx="371703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カフ圧が上がる</a:t>
            </a:r>
            <a:endParaRPr lang="ja-JP" sz="2200" dirty="0"/>
          </a:p>
        </p:txBody>
      </p:sp>
      <p:sp>
        <p:nvSpPr>
          <p:cNvPr id="23" name="Text 21"/>
          <p:cNvSpPr txBox="1"/>
          <p:nvPr/>
        </p:nvSpPr>
        <p:spPr>
          <a:xfrm>
            <a:off x="4796028" y="4102913"/>
            <a:ext cx="371703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終了時の拡散性低酸素</a:t>
            </a:r>
            <a:endParaRPr lang="ja-JP" sz="2200" dirty="0"/>
          </a:p>
        </p:txBody>
      </p:sp>
      <p:sp>
        <p:nvSpPr>
          <p:cNvPr id="24" name="Text 22"/>
          <p:cNvSpPr txBox="1"/>
          <p:nvPr/>
        </p:nvSpPr>
        <p:spPr>
          <a:xfrm>
            <a:off x="4796028" y="4745736"/>
            <a:ext cx="371703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長時間（1 時間超）で</a:t>
            </a:r>
            <a:endParaRPr lang="ja-JP" sz="2200" dirty="0"/>
          </a:p>
        </p:txBody>
      </p:sp>
      <p:sp>
        <p:nvSpPr>
          <p:cNvPr id="25" name="Text 23"/>
          <p:cNvSpPr txBox="1"/>
          <p:nvPr/>
        </p:nvSpPr>
        <p:spPr>
          <a:xfrm>
            <a:off x="5070348" y="5166360"/>
            <a:ext cx="344271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PONV を増やす</a:t>
            </a:r>
            <a:endParaRPr lang="ja-JP" sz="2200" dirty="0"/>
          </a:p>
        </p:txBody>
      </p:sp>
      <p:sp>
        <p:nvSpPr>
          <p:cNvPr id="26" name="Shape 24"/>
          <p:cNvSpPr/>
          <p:nvPr/>
        </p:nvSpPr>
        <p:spPr>
          <a:xfrm>
            <a:off x="8852306" y="1691640"/>
            <a:ext cx="2833726" cy="4032504"/>
          </a:xfrm>
          <a:prstGeom prst="roundRect">
            <a:avLst>
              <a:gd name="adj" fmla="val 2581"/>
            </a:avLst>
          </a:prstGeom>
          <a:solidFill>
            <a:srgbClr val="F2F2F2"/>
          </a:solidFill>
          <a:ln/>
        </p:spPr>
      </p:sp>
      <p:sp>
        <p:nvSpPr>
          <p:cNvPr id="27" name="Text 25"/>
          <p:cNvSpPr txBox="1"/>
          <p:nvPr/>
        </p:nvSpPr>
        <p:spPr>
          <a:xfrm>
            <a:off x="8971178" y="1828800"/>
            <a:ext cx="2595982"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その他</a:t>
            </a:r>
            <a:endParaRPr lang="ja-JP" sz="2400" dirty="0"/>
          </a:p>
        </p:txBody>
      </p:sp>
      <p:sp>
        <p:nvSpPr>
          <p:cNvPr id="28" name="Text 26"/>
          <p:cNvSpPr txBox="1"/>
          <p:nvPr/>
        </p:nvSpPr>
        <p:spPr>
          <a:xfrm>
            <a:off x="8971178" y="2395728"/>
            <a:ext cx="259598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ビタミン B12 を</a:t>
            </a:r>
            <a:endParaRPr lang="ja-JP" sz="2200" dirty="0"/>
          </a:p>
        </p:txBody>
      </p:sp>
      <p:sp>
        <p:nvSpPr>
          <p:cNvPr id="29" name="Text 27"/>
          <p:cNvSpPr txBox="1"/>
          <p:nvPr/>
        </p:nvSpPr>
        <p:spPr>
          <a:xfrm>
            <a:off x="9245498" y="2816352"/>
            <a:ext cx="232166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不活化</a:t>
            </a:r>
            <a:endParaRPr lang="ja-JP" sz="2200" dirty="0"/>
          </a:p>
        </p:txBody>
      </p:sp>
      <p:sp>
        <p:nvSpPr>
          <p:cNvPr id="30" name="Text 28"/>
          <p:cNvSpPr txBox="1"/>
          <p:nvPr/>
        </p:nvSpPr>
        <p:spPr>
          <a:xfrm>
            <a:off x="8971178" y="3511296"/>
            <a:ext cx="259598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温室効果ガス</a:t>
            </a:r>
            <a:endParaRPr lang="ja-JP" sz="2200" dirty="0"/>
          </a:p>
        </p:txBody>
      </p:sp>
      <p:sp>
        <p:nvSpPr>
          <p:cNvPr id="31" name="Text 29"/>
          <p:cNvSpPr txBox="1"/>
          <p:nvPr/>
        </p:nvSpPr>
        <p:spPr>
          <a:xfrm>
            <a:off x="8971178" y="4206240"/>
            <a:ext cx="259598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使用は減っている</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副作用と危険</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MAC</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セボ・</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デス</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亜酸化</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窒素</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第4版」Ⅳ 吸入麻酔薬（2025）</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5687568"/>
                <a:gridCol w="5495544"/>
              </a:tblGrid>
              <a:tr h="603504">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副作用</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対応</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1060704">
                <a:tc>
                  <a:txBody>
                    <a:bodyPr/>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悪性高熱症</a:t>
                      </a:r>
                      <a:r>
                        <a:rPr lang="ja-JP" altLang="en-US" sz="2400" b="1" dirty="0">
                          <a:solidFill>
                            <a:srgbClr val="262626"/>
                          </a:solidFill>
                          <a:latin typeface="メイリオ" pitchFamily="34" charset="0"/>
                          <a:ea typeface="メイリオ" pitchFamily="34" charset="-122"/>
                          <a:cs typeface="メイリオ" pitchFamily="34" charset="-120"/>
                        </a:rPr>
                        <a:t>（全揮発性麻酔薬）</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疑ったら即中止</a:t>
                      </a:r>
                      <a:r>
                        <a:rPr lang="ja-JP" altLang="en-US" sz="2400" dirty="0">
                          <a:solidFill>
                            <a:srgbClr val="262626"/>
                          </a:solidFill>
                          <a:latin typeface="メイリオ" pitchFamily="34" charset="0"/>
                          <a:ea typeface="メイリオ" pitchFamily="34" charset="-122"/>
                          <a:cs typeface="メイリオ" pitchFamily="34" charset="-120"/>
                        </a:rPr>
                        <a:t>、</a:t>
                      </a:r>
                      <a:endParaRPr lang="en-US" sz="2400" dirty="0">
                        <a:latin typeface="メイリオ" charset="0"/>
                        <a:ea typeface="メイリオ" charset="0"/>
                        <a:cs typeface="メイリオ" charset="0"/>
                      </a:endParaRPr>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ダントロレン → 6-9</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0350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血圧低下（血管拡張）</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濃度を下げる、昇圧薬、輸液</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0350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呼吸抑制（CO2 への応答が鈍る）</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自発呼吸では換気量を見る</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0350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覚醒時興奮（小児・セボフルラン）</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鎮痛を十分に、静かな覚醒</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03504">
                <a:tc>
                  <a:txBody>
                    <a:bodyP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PONV</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予防薬、TIVA への変更</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使い方：導入から覚醒まで</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MAC</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セボ・</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デス</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亜酸化</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窒素</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第4版」Ⅳ 吸入麻酔薬（2025）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Avidan MS, et al. N Engl J Med 2011;365:591-600</a:t>
            </a:r>
            <a:endParaRPr lang="ja-JP" sz="1600" dirty="0"/>
          </a:p>
        </p:txBody>
      </p:sp>
      <p:sp>
        <p:nvSpPr>
          <p:cNvPr id="11" name="Text 9"/>
          <p:cNvSpPr/>
          <p:nvPr/>
        </p:nvSpPr>
        <p:spPr>
          <a:xfrm>
            <a:off x="502920" y="1737360"/>
            <a:ext cx="3611880" cy="1060704"/>
          </a:xfrm>
          <a:prstGeom prst="roundRect">
            <a:avLst>
              <a:gd name="adj" fmla="val 10345"/>
            </a:avLst>
          </a:prstGeom>
          <a:solidFill>
            <a:srgbClr val="F2F2F2"/>
          </a:solidFill>
          <a:ln w="28575">
            <a:solidFill>
              <a:srgbClr val="0072B2"/>
            </a:solidFill>
          </a:ln>
        </p:spPr>
        <p:txBody>
          <a:bodyPr wrap="square" lIns="91440" tIns="91440" rIns="91440" bIns="91440"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① 挿管後、高流量で</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濃度を上げる</a:t>
            </a:r>
            <a:endParaRPr lang="ja-JP" sz="2400" dirty="0"/>
          </a:p>
        </p:txBody>
      </p:sp>
      <p:sp>
        <p:nvSpPr>
          <p:cNvPr id="12" name="Shape 10"/>
          <p:cNvSpPr/>
          <p:nvPr/>
        </p:nvSpPr>
        <p:spPr>
          <a:xfrm>
            <a:off x="4187952" y="2267712"/>
            <a:ext cx="256032" cy="0"/>
          </a:xfrm>
          <a:prstGeom prst="line">
            <a:avLst/>
          </a:prstGeom>
          <a:noFill/>
          <a:ln w="38100">
            <a:solidFill>
              <a:srgbClr val="404040"/>
            </a:solidFill>
            <a:prstDash val="solid"/>
          </a:ln>
        </p:spPr>
      </p:sp>
      <p:sp>
        <p:nvSpPr>
          <p:cNvPr id="13" name="Shape 11"/>
          <p:cNvSpPr/>
          <p:nvPr/>
        </p:nvSpPr>
        <p:spPr>
          <a:xfrm>
            <a:off x="4425696" y="2157984"/>
            <a:ext cx="182880" cy="219456"/>
          </a:xfrm>
          <a:custGeom>
            <a:avLst/>
            <a:gdLst/>
            <a:ahLst/>
            <a:cxnLst/>
            <a:rect l="l" t="t" r="r" b="b"/>
            <a:pathLst>
              <a:path w="182880" h="219456">
                <a:moveTo>
                  <a:pt x="182880" y="109728"/>
                </a:moveTo>
                <a:lnTo>
                  <a:pt x="0" y="219456"/>
                </a:lnTo>
                <a:lnTo>
                  <a:pt x="0" y="0"/>
                </a:lnTo>
                <a:close/>
              </a:path>
            </a:pathLst>
          </a:custGeom>
          <a:solidFill>
            <a:srgbClr val="404040"/>
          </a:solidFill>
          <a:ln w="12700">
            <a:solidFill>
              <a:srgbClr val="404040"/>
            </a:solidFill>
            <a:prstDash val="solid"/>
          </a:ln>
        </p:spPr>
      </p:sp>
      <p:sp>
        <p:nvSpPr>
          <p:cNvPr id="14" name="Text 12"/>
          <p:cNvSpPr/>
          <p:nvPr/>
        </p:nvSpPr>
        <p:spPr>
          <a:xfrm>
            <a:off x="4681728" y="1737360"/>
            <a:ext cx="4191610" cy="1060704"/>
          </a:xfrm>
          <a:prstGeom prst="roundRect">
            <a:avLst>
              <a:gd name="adj" fmla="val 10345"/>
            </a:avLst>
          </a:prstGeom>
          <a:solidFill>
            <a:srgbClr val="F2F2F2"/>
          </a:solidFill>
          <a:ln w="28575">
            <a:solidFill>
              <a:srgbClr val="0072B2"/>
            </a:solidFill>
          </a:ln>
        </p:spPr>
        <p:txBody>
          <a:bodyPr wrap="square" lIns="91440" tIns="91440" rIns="91440" bIns="91440"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② 呼気濃度が</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目標に達したら低流量へ</a:t>
            </a:r>
            <a:endParaRPr lang="ja-JP" sz="2400" dirty="0"/>
          </a:p>
        </p:txBody>
      </p:sp>
      <p:sp>
        <p:nvSpPr>
          <p:cNvPr id="15" name="Shape 13"/>
          <p:cNvSpPr/>
          <p:nvPr/>
        </p:nvSpPr>
        <p:spPr>
          <a:xfrm>
            <a:off x="8946490" y="2267712"/>
            <a:ext cx="256032" cy="0"/>
          </a:xfrm>
          <a:prstGeom prst="line">
            <a:avLst/>
          </a:prstGeom>
          <a:noFill/>
          <a:ln w="38100">
            <a:solidFill>
              <a:srgbClr val="404040"/>
            </a:solidFill>
            <a:prstDash val="solid"/>
          </a:ln>
        </p:spPr>
      </p:sp>
      <p:sp>
        <p:nvSpPr>
          <p:cNvPr id="16" name="Shape 14"/>
          <p:cNvSpPr/>
          <p:nvPr/>
        </p:nvSpPr>
        <p:spPr>
          <a:xfrm>
            <a:off x="9184234" y="2157984"/>
            <a:ext cx="182880" cy="219456"/>
          </a:xfrm>
          <a:custGeom>
            <a:avLst/>
            <a:gdLst/>
            <a:ahLst/>
            <a:cxnLst/>
            <a:rect l="l" t="t" r="r" b="b"/>
            <a:pathLst>
              <a:path w="182880" h="219456">
                <a:moveTo>
                  <a:pt x="182880" y="109728"/>
                </a:moveTo>
                <a:lnTo>
                  <a:pt x="0" y="219456"/>
                </a:lnTo>
                <a:lnTo>
                  <a:pt x="0" y="0"/>
                </a:lnTo>
                <a:close/>
              </a:path>
            </a:pathLst>
          </a:custGeom>
          <a:solidFill>
            <a:srgbClr val="404040"/>
          </a:solidFill>
          <a:ln w="12700">
            <a:solidFill>
              <a:srgbClr val="404040"/>
            </a:solidFill>
            <a:prstDash val="solid"/>
          </a:ln>
        </p:spPr>
      </p:sp>
      <p:sp>
        <p:nvSpPr>
          <p:cNvPr id="17" name="Text 15"/>
          <p:cNvSpPr/>
          <p:nvPr/>
        </p:nvSpPr>
        <p:spPr>
          <a:xfrm>
            <a:off x="9440266" y="1737360"/>
            <a:ext cx="2245766" cy="1060704"/>
          </a:xfrm>
          <a:prstGeom prst="roundRect">
            <a:avLst>
              <a:gd name="adj" fmla="val 10345"/>
            </a:avLst>
          </a:prstGeom>
          <a:solidFill>
            <a:srgbClr val="F2F2F2"/>
          </a:solidFill>
          <a:ln w="28575">
            <a:solidFill>
              <a:srgbClr val="00A8AA"/>
            </a:solidFill>
          </a:ln>
        </p:spPr>
        <p:txBody>
          <a:bodyPr wrap="square" lIns="91440" tIns="91440" rIns="91440" bIns="91440"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③ 年齢補正</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MAC で調節</a:t>
            </a:r>
            <a:endParaRPr lang="ja-JP" sz="2400" dirty="0"/>
          </a:p>
        </p:txBody>
      </p:sp>
      <p:sp>
        <p:nvSpPr>
          <p:cNvPr id="18" name="Text 16"/>
          <p:cNvSpPr/>
          <p:nvPr/>
        </p:nvSpPr>
        <p:spPr>
          <a:xfrm>
            <a:off x="502920" y="3364992"/>
            <a:ext cx="3611880" cy="1060704"/>
          </a:xfrm>
          <a:prstGeom prst="roundRect">
            <a:avLst>
              <a:gd name="adj" fmla="val 10345"/>
            </a:avLst>
          </a:prstGeom>
          <a:solidFill>
            <a:srgbClr val="F2F2F2"/>
          </a:solidFill>
          <a:ln w="28575">
            <a:solidFill>
              <a:srgbClr val="0072B2"/>
            </a:solidFill>
          </a:ln>
        </p:spPr>
        <p:txBody>
          <a:bodyPr wrap="square" lIns="91440" tIns="91440" rIns="91440" bIns="91440"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④ 終了前に</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濃度を下げる</a:t>
            </a:r>
            <a:endParaRPr lang="ja-JP" sz="2400" dirty="0"/>
          </a:p>
        </p:txBody>
      </p:sp>
      <p:sp>
        <p:nvSpPr>
          <p:cNvPr id="19" name="Shape 17"/>
          <p:cNvSpPr/>
          <p:nvPr/>
        </p:nvSpPr>
        <p:spPr>
          <a:xfrm>
            <a:off x="4187952" y="3895344"/>
            <a:ext cx="256032" cy="0"/>
          </a:xfrm>
          <a:prstGeom prst="line">
            <a:avLst/>
          </a:prstGeom>
          <a:noFill/>
          <a:ln w="38100">
            <a:solidFill>
              <a:srgbClr val="404040"/>
            </a:solidFill>
            <a:prstDash val="solid"/>
          </a:ln>
        </p:spPr>
      </p:sp>
      <p:sp>
        <p:nvSpPr>
          <p:cNvPr id="20" name="Shape 18"/>
          <p:cNvSpPr/>
          <p:nvPr/>
        </p:nvSpPr>
        <p:spPr>
          <a:xfrm>
            <a:off x="4425696" y="3785616"/>
            <a:ext cx="182880" cy="219456"/>
          </a:xfrm>
          <a:custGeom>
            <a:avLst/>
            <a:gdLst/>
            <a:ahLst/>
            <a:cxnLst/>
            <a:rect l="l" t="t" r="r" b="b"/>
            <a:pathLst>
              <a:path w="182880" h="219456">
                <a:moveTo>
                  <a:pt x="182880" y="109728"/>
                </a:moveTo>
                <a:lnTo>
                  <a:pt x="0" y="219456"/>
                </a:lnTo>
                <a:lnTo>
                  <a:pt x="0" y="0"/>
                </a:lnTo>
                <a:close/>
              </a:path>
            </a:pathLst>
          </a:custGeom>
          <a:solidFill>
            <a:srgbClr val="404040"/>
          </a:solidFill>
          <a:ln w="12700">
            <a:solidFill>
              <a:srgbClr val="404040"/>
            </a:solidFill>
            <a:prstDash val="solid"/>
          </a:ln>
        </p:spPr>
      </p:sp>
      <p:sp>
        <p:nvSpPr>
          <p:cNvPr id="21" name="Text 19"/>
          <p:cNvSpPr/>
          <p:nvPr/>
        </p:nvSpPr>
        <p:spPr>
          <a:xfrm>
            <a:off x="4681728" y="3364992"/>
            <a:ext cx="4191610" cy="1060704"/>
          </a:xfrm>
          <a:prstGeom prst="roundRect">
            <a:avLst>
              <a:gd name="adj" fmla="val 10345"/>
            </a:avLst>
          </a:prstGeom>
          <a:solidFill>
            <a:srgbClr val="F2F2F2"/>
          </a:solidFill>
          <a:ln w="28575">
            <a:solidFill>
              <a:srgbClr val="0072B2"/>
            </a:solidFill>
          </a:ln>
        </p:spPr>
        <p:txBody>
          <a:bodyPr wrap="square" lIns="91440" tIns="91440" rIns="91440" bIns="91440"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⑤ 最後は高流量で</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洗い出す</a:t>
            </a:r>
            <a:endParaRPr lang="ja-JP" sz="2400" dirty="0"/>
          </a:p>
        </p:txBody>
      </p:sp>
      <p:sp>
        <p:nvSpPr>
          <p:cNvPr id="22" name="Shape 20"/>
          <p:cNvSpPr/>
          <p:nvPr/>
        </p:nvSpPr>
        <p:spPr>
          <a:xfrm>
            <a:off x="2308860" y="2871216"/>
            <a:ext cx="8254289" cy="256032"/>
          </a:xfrm>
          <a:custGeom>
            <a:avLst/>
            <a:gdLst/>
            <a:ahLst/>
            <a:cxnLst/>
            <a:rect l="l" t="t" r="r" b="b"/>
            <a:pathLst>
              <a:path w="8254289" h="256032">
                <a:moveTo>
                  <a:pt x="8254289" y="0"/>
                </a:moveTo>
                <a:lnTo>
                  <a:pt x="8254289" y="210312"/>
                </a:lnTo>
                <a:lnTo>
                  <a:pt x="0" y="210312"/>
                </a:lnTo>
                <a:lnTo>
                  <a:pt x="0" y="256032"/>
                </a:lnTo>
              </a:path>
            </a:pathLst>
          </a:custGeom>
          <a:noFill/>
          <a:ln w="38100">
            <a:solidFill>
              <a:srgbClr val="404040"/>
            </a:solidFill>
            <a:prstDash val="solid"/>
          </a:ln>
        </p:spPr>
      </p:sp>
      <p:sp>
        <p:nvSpPr>
          <p:cNvPr id="23" name="Shape 21"/>
          <p:cNvSpPr/>
          <p:nvPr/>
        </p:nvSpPr>
        <p:spPr>
          <a:xfrm>
            <a:off x="2199132" y="3108960"/>
            <a:ext cx="219456" cy="182880"/>
          </a:xfrm>
          <a:custGeom>
            <a:avLst/>
            <a:gdLst/>
            <a:ahLst/>
            <a:cxnLst/>
            <a:rect l="l" t="t" r="r" b="b"/>
            <a:pathLst>
              <a:path w="219456" h="182880">
                <a:moveTo>
                  <a:pt x="109728" y="182880"/>
                </a:moveTo>
                <a:lnTo>
                  <a:pt x="0" y="0"/>
                </a:lnTo>
                <a:lnTo>
                  <a:pt x="219456" y="0"/>
                </a:lnTo>
                <a:close/>
              </a:path>
            </a:pathLst>
          </a:custGeom>
          <a:solidFill>
            <a:srgbClr val="404040"/>
          </a:solidFill>
          <a:ln w="12700">
            <a:solidFill>
              <a:srgbClr val="404040"/>
            </a:solidFill>
            <a:prstDash val="solid"/>
          </a:ln>
        </p:spPr>
      </p:sp>
      <p:sp>
        <p:nvSpPr>
          <p:cNvPr id="24" name="Text 22"/>
          <p:cNvSpPr txBox="1"/>
          <p:nvPr/>
        </p:nvSpPr>
        <p:spPr>
          <a:xfrm>
            <a:off x="502920" y="4736592"/>
            <a:ext cx="11155680" cy="1042416"/>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筋弛緩薬の使用中は、呼気濃度の下限アラーム（目安 </a:t>
            </a:r>
            <a:r>
              <a:rPr lang="ja-JP" altLang="en-US" sz="2400" b="1" dirty="0">
                <a:solidFill>
                  <a:srgbClr val="262626"/>
                </a:solidFill>
                <a:latin typeface="メイリオ" pitchFamily="34" charset="0"/>
                <a:ea typeface="メイリオ" pitchFamily="34" charset="-122"/>
                <a:cs typeface="メイリオ" pitchFamily="34" charset="-120"/>
              </a:rPr>
              <a:t>0.7 MAC</a:t>
            </a: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悪性高熱症を疑ったら、</a:t>
            </a:r>
            <a:r>
              <a:rPr lang="ja-JP" altLang="en-US" sz="2400" b="1" dirty="0">
                <a:solidFill>
                  <a:srgbClr val="C00000"/>
                </a:solidFill>
                <a:latin typeface="メイリオ" pitchFamily="34" charset="0"/>
                <a:ea typeface="メイリオ" pitchFamily="34" charset="-122"/>
                <a:cs typeface="メイリオ" pitchFamily="34" charset="-120"/>
              </a:rPr>
              <a:t>即座に中止</a:t>
            </a:r>
            <a:r>
              <a:rPr lang="ja-JP" altLang="en-US" sz="2400" dirty="0">
                <a:solidFill>
                  <a:srgbClr val="262626"/>
                </a:solidFill>
                <a:latin typeface="メイリオ" pitchFamily="34" charset="0"/>
                <a:ea typeface="メイリオ" pitchFamily="34" charset="-122"/>
                <a:cs typeface="メイリオ" pitchFamily="34" charset="-120"/>
              </a:rPr>
              <a:t>して高流量</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MAC</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セボ・</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デス</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亜酸化</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窒素</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使い方</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第4版」Ⅳ 吸入麻酔薬（2025）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各薬剤の添付文書</a:t>
            </a:r>
            <a:endParaRPr lang="ja-JP" sz="1600" dirty="0"/>
          </a:p>
        </p:txBody>
      </p:sp>
      <p:sp>
        <p:nvSpPr>
          <p:cNvPr id="11" name="Text 9"/>
          <p:cNvSpPr txBox="1"/>
          <p:nvPr/>
        </p:nvSpPr>
        <p:spPr>
          <a:xfrm>
            <a:off x="502920" y="1883664"/>
            <a:ext cx="11155680" cy="3831336"/>
          </a:xfrm>
          <a:prstGeom prst="rect">
            <a:avLst/>
          </a:prstGeom>
          <a:noFill/>
          <a:ln/>
        </p:spPr>
        <p:txBody>
          <a:bodyPr wrap="square" lIns="0" tIns="0" rIns="0" bIns="0" rtlCol="0" anchor="t"/>
          <a:lstStyle/>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呼気濃度で管理する。溶けにくい薬ほど速い</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MAC：セボフルラン</a:t>
            </a:r>
            <a:r>
              <a:rPr lang="ja-JP" altLang="en-US" sz="2400" b="1" dirty="0">
                <a:solidFill>
                  <a:srgbClr val="262626"/>
                </a:solidFill>
                <a:latin typeface="メイリオ" pitchFamily="34" charset="0"/>
                <a:ea typeface="メイリオ" pitchFamily="34" charset="-122"/>
                <a:cs typeface="メイリオ" pitchFamily="34" charset="-120"/>
              </a:rPr>
              <a:t>約 1.7〜2%</a:t>
            </a:r>
            <a:r>
              <a:rPr lang="ja-JP" altLang="en-US" sz="2400" dirty="0">
                <a:solidFill>
                  <a:srgbClr val="262626"/>
                </a:solidFill>
                <a:latin typeface="メイリオ" pitchFamily="34" charset="0"/>
                <a:ea typeface="メイリオ" pitchFamily="34" charset="-122"/>
                <a:cs typeface="メイリオ" pitchFamily="34" charset="-120"/>
              </a:rPr>
              <a:t>、デスフルラン</a:t>
            </a:r>
            <a:r>
              <a:rPr lang="ja-JP" altLang="en-US" sz="2400" b="1" dirty="0">
                <a:solidFill>
                  <a:srgbClr val="262626"/>
                </a:solidFill>
                <a:latin typeface="メイリオ" pitchFamily="34" charset="0"/>
                <a:ea typeface="メイリオ" pitchFamily="34" charset="-122"/>
                <a:cs typeface="メイリオ" pitchFamily="34" charset="-120"/>
              </a:rPr>
              <a:t>約 6%</a:t>
            </a:r>
            <a:r>
              <a:rPr lang="ja-JP" altLang="en-US" sz="2400" dirty="0">
                <a:solidFill>
                  <a:srgbClr val="262626"/>
                </a:solidFill>
                <a:latin typeface="メイリオ" pitchFamily="34" charset="0"/>
                <a:ea typeface="メイリオ" pitchFamily="34" charset="-122"/>
                <a:cs typeface="メイリオ" pitchFamily="34" charset="-120"/>
              </a:rPr>
              <a:t>、年齢で下がる</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セボフルランはマスク導入に、デスフルランは覚醒の速さに</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亜酸化窒素は閉鎖腔に広がる。終了時は 100% 酸素</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悪性高熱症を疑ったら、</a:t>
            </a:r>
            <a:r>
              <a:rPr lang="ja-JP" altLang="en-US" sz="2400" b="1" dirty="0">
                <a:solidFill>
                  <a:srgbClr val="C00000"/>
                </a:solidFill>
                <a:latin typeface="メイリオ" pitchFamily="34" charset="0"/>
                <a:ea typeface="メイリオ" pitchFamily="34" charset="-122"/>
                <a:cs typeface="メイリオ" pitchFamily="34" charset="-120"/>
              </a:rPr>
              <a:t>即座に中止</a:t>
            </a:r>
            <a:r>
              <a:rPr lang="ja-JP" altLang="en-US" sz="2400" dirty="0">
                <a:solidFill>
                  <a:srgbClr val="262626"/>
                </a:solidFill>
                <a:latin typeface="メイリオ" pitchFamily="34" charset="0"/>
                <a:ea typeface="メイリオ" pitchFamily="34" charset="-122"/>
                <a:cs typeface="メイリオ" pitchFamily="34" charset="-120"/>
              </a:rPr>
              <a:t>して高流量</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3-3 吸入麻酔薬</dc:title>
  <dc:subject/>
  <dc:creator>初期研修医向け麻酔講義</dc:creator>
  <cp:lastModifiedBy>初期研修医向け麻酔講義</cp:lastModifiedBy>
  <cp:revision>1</cp:revision>
  <dcterms:created xsi:type="dcterms:W3CDTF">2026-10-13T18:30:09Z</dcterms:created>
  <dcterms:modified xsi:type="dcterms:W3CDTF">2026-10-13T18:30:09Z</dcterms:modified>
</cp:coreProperties>
</file>