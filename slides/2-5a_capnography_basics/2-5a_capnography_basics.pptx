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カプノグラフィは、呼気中の二酸化炭素（CO2）の分圧を連続的に測って波形で表示するモニターである。日本麻酔科学会のモニター指針では、全身麻酔ではカプノメータを装着することが求められている。この前半では、原理、正常波形、数値の意味、基本的な使い方を扱う。異常波形は後半（2-5b）で扱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CO2 は組織で産生され（代謝）、静脈血で肺に運ばれ（循環）、肺胞から呼気に排出される（換気）。呼気終末の CO2 分圧（EtCO2: end-tidal CO2）は、この3つの過程の結果である。だから EtCO2 が変わったときは、「代謝が変わったのか、循環が変わったのか、換気が変わったのか」の順に考える。</a:t>
            </a:r>
          </a:p>
          <a:p>
            <a:r>
              <a:rPr lang="ja-JP" altLang="en-US" dirty="0"/>
              <a:t>カプノグラフィが他のモニターと違う点: 換気が止まれば数呼吸で変化し、循環が止まればすぐに下がる。SpO2 より早く異常を知らせる。気管チューブが食道に入っていないことを確かめる方法の中心になるモニターでもある（→ 7-5）。ただし、片側の気管支に入っていても CO2 は出るので、深さは区別できない。</a:t>
            </a:r>
          </a:p>
          <a:p>
            <a:r>
              <a:rPr lang="ja-JP" altLang="en-US" dirty="0"/>
              <a:t>第2部の軸（酸素の流れ）に対応させると、CO2 は酸素の流れを逆向きにたどる指標になる。入口（気道）→ 取り込み（換気）→ 運搬（循環）の各段階が止まると、EtCO2 に現れる。</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赤外線吸収法: CO2 は波長約 4.3 µm 付近の赤外線をよく吸収する。ガスに赤外線を当て、吸収された量から CO2 分圧を求める。N2O（亜酸化窒素）も近い波長を吸収するので、装置は補正している。</a:t>
            </a:r>
          </a:p>
          <a:p>
            <a:r>
              <a:rPr lang="ja-JP" altLang="en-US" dirty="0"/>
              <a:t>メインストリーム: 気管チューブと回路の間にセンサー（キュベット）を置く。測定の遅れがなく波形が鮮明だが、センサーが重く、小児では死腔が増える。</a:t>
            </a:r>
          </a:p>
          <a:p>
            <a:r>
              <a:rPr lang="ja-JP" altLang="en-US" dirty="0"/>
              <a:t>サイドストリーム: 回路の近くからガスを細い管で吸引し、本体で測る。サンプリング流量は装置により異なり、低流量型で約 50 mL/分、従来型で 150〜200 mL/分程度【要確認: 自施設の装置の仕様書】。流量が多い装置では、1回換気量の小さい新生児・乳児で値が不正確になることがある。吸引から表示まで数秒の遅れがある。水分や分泌物で管が詰まると波形が消える（ウォータートラップを確認）。麻酔器の多くはサイドストリーム型で、麻酔ガス濃度も同じ管で測っている。</a:t>
            </a:r>
          </a:p>
          <a:p>
            <a:r>
              <a:rPr lang="ja-JP" altLang="en-US" dirty="0"/>
              <a:t>非挿管患者でも、鼻カニュラ型のサンプリングで使える。ただし、投与している酸素などで呼気が薄まるため値は低めに出やすく、数値そのものは当てにしにくい。波形があるか、呼吸数はいくつか、を見るのが主な目的になる。</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時間カプノグラム（横軸が時間）の各相。相 I: 呼気の最初に出てくる解剖学的死腔（気管・気管支）のガスで、CO2 を含まない。相 II: 死腔のガスと肺胞のガスが混ざり、急峻に立ち上がる。相 III: 肺胞のガスで、プラトー（平坦部）を作る。正常でもわずかに右上がりで、終点の値が EtCO2。相 0（吸気相）: 吸気が始まり CO2 は急速に 0 に戻る。正常では吸気の基線は 0（吸入ガスに CO2 はない）。基線が上がるのは再呼吸のサインである（→ 2-5b）。</a:t>
            </a:r>
          </a:p>
          <a:p>
            <a:r>
              <a:rPr lang="ja-JP" altLang="en-US" dirty="0"/>
              <a:t>角度: 相 II と相 III の間の角を α 角と呼ぶ（教育資料では、正常はおよそ 100〜110 度とされる）。気道閉塞（気管支攣縮など）ではプラトーの傾きが増え、α 角が大きくなる。相 III と下降脚の間の角を β 角と呼び、正常はおよそ 90 度で、再呼吸があると大きくなる。</a:t>
            </a:r>
          </a:p>
          <a:p>
            <a:r>
              <a:rPr lang="ja-JP" altLang="en-US" dirty="0"/>
              <a:t>相 IV: 妊婦や肥満の患者で、呼気の最後に小さな立ち上がり（相 IV）が見えることがある。</a:t>
            </a:r>
          </a:p>
          <a:p>
            <a:r>
              <a:rPr lang="ja-JP" altLang="en-US" dirty="0"/>
              <a:t>容量カプノグラム（横軸が呼気量）は死腔の定量に使うが、ここでは扱わない。</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EtCO2 の正常範囲として 35〜45 mmHg が教育資料で広く使われている（ガイドラインが定めた基準値ではない）。健康な肺では、動脈血 CO2 分圧（PaCO2）より EtCO2 のほうが 2〜5 mmHg 程度低い。差ができる理由は、換気されているのに血流のない肺胞（肺胞死腔）からの CO2 を含まないガスが混ざるため。</a:t>
            </a:r>
          </a:p>
          <a:p>
            <a:r>
              <a:rPr lang="ja-JP" altLang="en-US" dirty="0"/>
              <a:t>差が広がる状況: 肺塞栓（血流が途絶える）、心拍出量の低下（肺の血流が減る）、COPD（換気血流比の不均等）、低血圧。逆に言うと、こうした患者では EtCO2 を PaCO2 の代わりにはできない。EtCO2 が「正常」でも PaCO2 は高いことがある。較差は人と状況で変わるので、長い手術や肺疾患のある患者では、麻酔の早い段階で一度動脈血ガスを取り、PaCO2 と EtCO2 の差を把握してから EtCO2 で換気を調節する。</a:t>
            </a:r>
          </a:p>
          <a:p>
            <a:r>
              <a:rPr lang="ja-JP" altLang="en-US" dirty="0"/>
              <a:t>麻酔中の目標: 患者ごとに決める（多くは正常範囲内）。COPD の患者では普段の PaCO2 に合わせる（→ 8-2 人工呼吸の初期設定）。頭蓋内圧が高い患者でも、ルーチンに過換気にはしない。重症頭部外傷のガイドライン（Brain Trauma Foundation 第4版、2017）では、PaCO2 25 mmHg 以下にする予防的・長時間の過換気は推奨されない。過換気は頭蓋内圧上昇に対する一時的な手段にとどめる。目標は本来 PaCO2 で考え、EtCO2 はそれより低く出ることを忘れない。</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上がる: 産生が増える（発熱、シバリング、悪性高熱症、甲状腺クリーゼ）。運搬が増える（駆血帯を解除して下肢にたまった CO2 が戻る、腹腔鏡の CO2 気腹で吸収される、重炭酸ナトリウムの投与）。排出が減る（換気量の設定が少ない、自発呼吸が弱い、二酸化炭素吸収剤の劣化で再呼吸）。</a:t>
            </a:r>
          </a:p>
          <a:p>
            <a:r>
              <a:rPr lang="ja-JP" altLang="en-US" dirty="0"/>
              <a:t>下がる: 産生が減る（低体温、深い麻酔）。運搬が減る（低血圧、大量出血、肺塞栓、空気塞栓、心停止）。排出が増える（換気量の設定が多い）。回路外れやチューブの閉塞では波形そのものが消える。これは CO2 の生理的な変化ではなく、換気と測定が途絶える機器の問題なので、別に扱う（→ 2-5b）。</a:t>
            </a:r>
          </a:p>
          <a:p>
            <a:r>
              <a:rPr lang="ja-JP" altLang="en-US" dirty="0"/>
              <a:t>使い方: 変化の「速さ」と「形」で絞り込む。急に消える／急に下がる／じわじわ変わる、の違いは後半で扱う。</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気管挿管の確認で最も信頼できるのは、持続する呼気 CO2 の波形である。胸の動き、聴診、チューブの曇りは当てにならない。</a:t>
            </a:r>
          </a:p>
          <a:p>
            <a:r>
              <a:rPr lang="ja-JP" altLang="en-US" dirty="0"/>
              <a:t>2022年に PUMA（Project for Universal Management of Airways）と国際的な気道関連学会が出した合意ガイドライン（Chrimes ら, Anaesthesia 2022）は、波形カプノグラフィで「持続する呼気 CO2」を検出することを、食道挿管を否定する中心の方法としている。「持続する呼気 CO2」の基準は4つ: ①呼気で上がり、吸気で下がる。②少なくとも 7 呼吸にわたって、振幅が一定か大きくなっていく。③ピークが基線より 1 kPa（7.5 mmHg）を超えて高い。④臨床状況に合う。7 呼吸は食道挿管を否定するための条件で、波形がない・不十分と分かった時点で動き、7 呼吸を待たない。</a:t>
            </a:r>
          </a:p>
          <a:p>
            <a:r>
              <a:rPr lang="ja-JP" altLang="en-US" dirty="0"/>
              <a:t>確認できなければ、チューブを抜いてフェイスマスクか声門上器具で換気するのが標準の対応。抜くことが危険と判断されるときは、CO2 が出ない他の原因を探すのと並行して、有効な方法（喉頭鏡での再確認、気管支ファイバースコープ、超音波、食道挿管検知器）で至急食道挿管を否定する。聴診などの診察で食道挿管を否定してはいけない。食道挿管を否定できないとき、持続する呼気 CO2 をすぐに回復できないとき、回復する前に SpO2 が下がったときは抜く。</a:t>
            </a:r>
          </a:p>
          <a:p>
            <a:r>
              <a:rPr lang="ja-JP" altLang="en-US" dirty="0"/>
              <a:t>「波形が出ない」だけでなく、だんだん小さくなる・振幅が小さい・形がおかしい・臨床状況に合わない波形も、チューブの位置を確かめるきっかけにする。英国で使われていた標語「No trace = wrong place」は、PUMA ガイドラインの採用に伴い、英国麻酔科学会（RCoA）が「sustained exhaled CO2（持続する呼気 CO2）」に置き換えた。</a:t>
            </a:r>
          </a:p>
          <a:p>
            <a:r>
              <a:rPr lang="ja-JP" altLang="en-US" dirty="0"/>
              <a:t>胃の CO2: 食道挿管でも、マスク換気で胃に送り込まれた CO2 が最初の数回の呼気で低く出ることがあるが、数回の換気で消える。だから「持続する」波形が必要。</a:t>
            </a:r>
          </a:p>
          <a:p>
            <a:r>
              <a:rPr lang="ja-JP" altLang="en-US" dirty="0"/>
              <a:t>波形が平坦なとき: まず食道挿管を疑い、否定できなければチューブを抜く。同時に、回路外れ、チューブの閉塞・屈曲、サンプルラインの外れ・詰まりも確認する。心停止でも、胸骨圧迫中は小さいながら波形が出る。平坦な波形を心停止のせいにしない（→ 2-5b）。</a:t>
            </a:r>
          </a:p>
          <a:p>
            <a:r>
              <a:rPr lang="ja-JP" altLang="en-US" dirty="0"/>
              <a:t>2人で声に出して確認する習慣（「EtCO2 波形、連続して出ています」）は、見逃しを減らす。詳しい手順は 7-5 で扱う。</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心肺蘇生: 胸骨圧迫で肺血流が生まれると EtCO2 が出る。EtCO2 が低いか下がっていれば、圧迫の質（深さ・位置・交代）を見直す。自己心拍再開（ROSC: Return of Spontaneous Circulation）のときは EtCO2 が急に上がり、その高さが続く（AHA 2020 の成人心停止アルゴリズムでは「典型的には 40 mmHg 以上」）。上がったら脈と血圧を確かめる。</a:t>
            </a:r>
          </a:p>
          <a:p>
            <a:r>
              <a:rPr lang="ja-JP" altLang="en-US" dirty="0"/>
              <a:t>蘇生中止の判断: 気管挿管されている患者で、20 分の二次救命処置のあとも波形カプノグラフィで EtCO2 が 10 mmHg を超えないことは、蘇生中止を判断する材料の一つとして考えてよい。ただし、これだけで決めない。挿管していない患者では、EtCO2 の値を中止の根拠にしない（AHA 2025 Part 9）。</a:t>
            </a:r>
          </a:p>
          <a:p>
            <a:r>
              <a:rPr lang="ja-JP" altLang="en-US" dirty="0"/>
              <a:t>鎮静・搬送: 鎮静中や病棟で、酸素投与下では SpO2 が保たれたまま低換気が進む。カプノグラフィは呼吸が止まればすぐに波形が消えるので、SpO2 より早く気づける。</a:t>
            </a:r>
          </a:p>
          <a:p>
            <a:r>
              <a:rPr lang="ja-JP" altLang="en-US" dirty="0"/>
              <a:t>挿管患者: 挿管した患者を移動させるときは、カプノグラフィをつけたまま運ぶ。事故抜管や回路外れに最も早く気づける。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後半（2-5b）では、波形が消えた・下がった・上がった・形が変わった、の順に異常波形の読み方と最初にすることを扱う。</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カプノグラフィ① 原理と正常波形</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2-5 モニタリング</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なぜ CO2 を測るのか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原理</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波形</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数値</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使い方</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日本麻酔科学会「安全な麻酔のためのモニター指針」（2025年8月改訂）</a:t>
            </a:r>
            <a:endParaRPr lang="ja-JP" sz="1600" dirty="0"/>
          </a:p>
        </p:txBody>
      </p:sp>
      <p:sp>
        <p:nvSpPr>
          <p:cNvPr id="11" name="Shape 9"/>
          <p:cNvSpPr/>
          <p:nvPr/>
        </p:nvSpPr>
        <p:spPr>
          <a:xfrm>
            <a:off x="502920" y="2377440"/>
            <a:ext cx="3179064" cy="1965960"/>
          </a:xfrm>
          <a:prstGeom prst="roundRect">
            <a:avLst>
              <a:gd name="adj" fmla="val 3721"/>
            </a:avLst>
          </a:prstGeom>
          <a:solidFill>
            <a:srgbClr val="F2F2F2"/>
          </a:solidFill>
          <a:ln/>
        </p:spPr>
      </p:sp>
      <p:sp>
        <p:nvSpPr>
          <p:cNvPr id="12" name="Text 10"/>
          <p:cNvSpPr txBox="1"/>
          <p:nvPr/>
        </p:nvSpPr>
        <p:spPr>
          <a:xfrm>
            <a:off x="612648" y="2487168"/>
            <a:ext cx="2959608" cy="457200"/>
          </a:xfrm>
          <a:prstGeom prst="rect">
            <a:avLst/>
          </a:prstGeom>
          <a:noFill/>
          <a:ln/>
        </p:spPr>
        <p:txBody>
          <a:bodyPr wrap="square" lIns="0" tIns="0" rIns="0" bIns="0" rtlCol="0" anchor="t"/>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産生（代謝）</a:t>
            </a:r>
            <a:endParaRPr lang="ja-JP" sz="2400" dirty="0"/>
          </a:p>
        </p:txBody>
      </p:sp>
      <p:sp>
        <p:nvSpPr>
          <p:cNvPr id="13" name="Text 11"/>
          <p:cNvSpPr txBox="1"/>
          <p:nvPr/>
        </p:nvSpPr>
        <p:spPr>
          <a:xfrm>
            <a:off x="612648" y="3017520"/>
            <a:ext cx="2959608" cy="1216152"/>
          </a:xfrm>
          <a:prstGeom prst="rect">
            <a:avLst/>
          </a:prstGeom>
          <a:noFill/>
          <a:ln/>
        </p:spPr>
        <p:txBody>
          <a:bodyPr wrap="square" lIns="0" tIns="0" rIns="0" bIns="0" rtlCol="0" anchor="t"/>
          <a:lstStyle/>
          <a:p>
            <a:pPr algn="l" indent="0" marL="0">
              <a:spcAft>
                <a:spcPts val="1400"/>
              </a:spcAft>
              <a:buNone/>
            </a:pPr>
            <a:r>
              <a:rPr lang="ja-JP" altLang="en-US" sz="2200" b="1" dirty="0">
                <a:solidFill>
                  <a:srgbClr val="D55E00"/>
                </a:solidFill>
                <a:latin typeface="メイリオ" pitchFamily="34" charset="0"/>
                <a:ea typeface="メイリオ" pitchFamily="34" charset="-122"/>
                <a:cs typeface="メイリオ" pitchFamily="34" charset="-120"/>
              </a:rPr>
              <a:t>↑</a:t>
            </a:r>
            <a:r>
              <a:rPr lang="ja-JP" altLang="en-US" sz="2200" dirty="0">
                <a:solidFill>
                  <a:srgbClr val="262626"/>
                </a:solidFill>
                <a:latin typeface="メイリオ" pitchFamily="34" charset="0"/>
                <a:ea typeface="メイリオ" pitchFamily="34" charset="-122"/>
                <a:cs typeface="メイリオ" pitchFamily="34" charset="-120"/>
              </a:rPr>
              <a:t> 発熱・悪性高熱症</a:t>
            </a:r>
            <a:endParaRPr lang="ja-JP" sz="2200" dirty="0"/>
          </a:p>
          <a:p>
            <a:pPr algn="l" indent="0" marL="0">
              <a:spcAft>
                <a:spcPts val="1400"/>
              </a:spcAft>
              <a:buNone/>
            </a:pPr>
            <a:r>
              <a:rPr lang="ja-JP" altLang="en-US" sz="2200" b="1" dirty="0">
                <a:solidFill>
                  <a:srgbClr val="0072B2"/>
                </a:solidFill>
                <a:latin typeface="メイリオ" pitchFamily="34" charset="0"/>
                <a:ea typeface="メイリオ" pitchFamily="34" charset="-122"/>
                <a:cs typeface="メイリオ" pitchFamily="34" charset="-120"/>
              </a:rPr>
              <a:t>↓</a:t>
            </a:r>
            <a:r>
              <a:rPr lang="ja-JP" altLang="en-US" sz="2200" dirty="0">
                <a:solidFill>
                  <a:srgbClr val="262626"/>
                </a:solidFill>
                <a:latin typeface="メイリオ" pitchFamily="34" charset="0"/>
                <a:ea typeface="メイリオ" pitchFamily="34" charset="-122"/>
                <a:cs typeface="メイリオ" pitchFamily="34" charset="-120"/>
              </a:rPr>
              <a:t> 低体温</a:t>
            </a:r>
            <a:endParaRPr lang="ja-JP" sz="2200" dirty="0"/>
          </a:p>
        </p:txBody>
      </p:sp>
      <p:sp>
        <p:nvSpPr>
          <p:cNvPr id="14" name="Shape 12"/>
          <p:cNvSpPr/>
          <p:nvPr/>
        </p:nvSpPr>
        <p:spPr>
          <a:xfrm>
            <a:off x="3901440" y="3131820"/>
            <a:ext cx="384048" cy="457200"/>
          </a:xfrm>
          <a:custGeom>
            <a:avLst/>
            <a:gdLst/>
            <a:ahLst/>
            <a:cxnLst/>
            <a:rect l="l" t="t" r="r" b="b"/>
            <a:pathLst>
              <a:path w="384048" h="457200">
                <a:moveTo>
                  <a:pt x="0" y="146304"/>
                </a:moveTo>
                <a:lnTo>
                  <a:pt x="182880" y="146304"/>
                </a:lnTo>
                <a:lnTo>
                  <a:pt x="182880" y="0"/>
                </a:lnTo>
                <a:lnTo>
                  <a:pt x="384048" y="228600"/>
                </a:lnTo>
                <a:lnTo>
                  <a:pt x="182880" y="457200"/>
                </a:lnTo>
                <a:lnTo>
                  <a:pt x="182880" y="310896"/>
                </a:lnTo>
                <a:lnTo>
                  <a:pt x="0" y="310896"/>
                </a:lnTo>
                <a:close/>
              </a:path>
            </a:pathLst>
          </a:custGeom>
          <a:solidFill>
            <a:srgbClr val="595959"/>
          </a:solidFill>
          <a:ln w="9525">
            <a:solidFill>
              <a:srgbClr val="595959"/>
            </a:solidFill>
            <a:prstDash val="solid"/>
          </a:ln>
        </p:spPr>
      </p:sp>
      <p:sp>
        <p:nvSpPr>
          <p:cNvPr id="15" name="Shape 13"/>
          <p:cNvSpPr/>
          <p:nvPr/>
        </p:nvSpPr>
        <p:spPr>
          <a:xfrm>
            <a:off x="4504944" y="2377440"/>
            <a:ext cx="3179064" cy="1965960"/>
          </a:xfrm>
          <a:prstGeom prst="roundRect">
            <a:avLst>
              <a:gd name="adj" fmla="val 3721"/>
            </a:avLst>
          </a:prstGeom>
          <a:solidFill>
            <a:srgbClr val="F2F2F2"/>
          </a:solidFill>
          <a:ln/>
        </p:spPr>
      </p:sp>
      <p:sp>
        <p:nvSpPr>
          <p:cNvPr id="16" name="Text 14"/>
          <p:cNvSpPr txBox="1"/>
          <p:nvPr/>
        </p:nvSpPr>
        <p:spPr>
          <a:xfrm>
            <a:off x="4614672" y="2487168"/>
            <a:ext cx="2959608" cy="457200"/>
          </a:xfrm>
          <a:prstGeom prst="rect">
            <a:avLst/>
          </a:prstGeom>
          <a:noFill/>
          <a:ln/>
        </p:spPr>
        <p:txBody>
          <a:bodyPr wrap="square" lIns="0" tIns="0" rIns="0" bIns="0" rtlCol="0" anchor="t"/>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運搬（循環）</a:t>
            </a:r>
            <a:endParaRPr lang="ja-JP" sz="2400" dirty="0"/>
          </a:p>
        </p:txBody>
      </p:sp>
      <p:sp>
        <p:nvSpPr>
          <p:cNvPr id="17" name="Text 15"/>
          <p:cNvSpPr txBox="1"/>
          <p:nvPr/>
        </p:nvSpPr>
        <p:spPr>
          <a:xfrm>
            <a:off x="4614672" y="3017520"/>
            <a:ext cx="2959608" cy="1216152"/>
          </a:xfrm>
          <a:prstGeom prst="rect">
            <a:avLst/>
          </a:prstGeom>
          <a:noFill/>
          <a:ln/>
        </p:spPr>
        <p:txBody>
          <a:bodyPr wrap="square" lIns="0" tIns="0" rIns="0" bIns="0" rtlCol="0" anchor="t"/>
          <a:lstStyle/>
          <a:p>
            <a:pPr algn="l" indent="0" marL="0">
              <a:spcAft>
                <a:spcPts val="1400"/>
              </a:spcAft>
              <a:buNone/>
            </a:pPr>
            <a:r>
              <a:rPr lang="ja-JP" altLang="en-US" sz="2200" b="1" dirty="0">
                <a:solidFill>
                  <a:srgbClr val="0072B2"/>
                </a:solidFill>
                <a:latin typeface="メイリオ" pitchFamily="34" charset="0"/>
                <a:ea typeface="メイリオ" pitchFamily="34" charset="-122"/>
                <a:cs typeface="メイリオ" pitchFamily="34" charset="-120"/>
              </a:rPr>
              <a:t>↓</a:t>
            </a:r>
            <a:r>
              <a:rPr lang="ja-JP" altLang="en-US" sz="2200" dirty="0">
                <a:solidFill>
                  <a:srgbClr val="262626"/>
                </a:solidFill>
                <a:latin typeface="メイリオ" pitchFamily="34" charset="0"/>
                <a:ea typeface="メイリオ" pitchFamily="34" charset="-122"/>
                <a:cs typeface="メイリオ" pitchFamily="34" charset="-120"/>
              </a:rPr>
              <a:t> 心拍出量の低下</a:t>
            </a:r>
            <a:endParaRPr lang="ja-JP" sz="2200" dirty="0"/>
          </a:p>
          <a:p>
            <a:pPr algn="l" indent="0" marL="0">
              <a:spcAft>
                <a:spcPts val="1400"/>
              </a:spcAft>
              <a:buNone/>
            </a:pPr>
            <a:r>
              <a:rPr lang="ja-JP" altLang="en-US" sz="2200" b="1" dirty="0">
                <a:solidFill>
                  <a:srgbClr val="0072B2"/>
                </a:solidFill>
                <a:latin typeface="メイリオ" pitchFamily="34" charset="0"/>
                <a:ea typeface="メイリオ" pitchFamily="34" charset="-122"/>
                <a:cs typeface="メイリオ" pitchFamily="34" charset="-120"/>
              </a:rPr>
              <a:t>↓</a:t>
            </a:r>
            <a:r>
              <a:rPr lang="ja-JP" altLang="en-US" sz="2200" dirty="0">
                <a:solidFill>
                  <a:srgbClr val="262626"/>
                </a:solidFill>
                <a:latin typeface="メイリオ" pitchFamily="34" charset="0"/>
                <a:ea typeface="メイリオ" pitchFamily="34" charset="-122"/>
                <a:cs typeface="メイリオ" pitchFamily="34" charset="-120"/>
              </a:rPr>
              <a:t> 肺塞栓</a:t>
            </a:r>
            <a:endParaRPr lang="ja-JP" sz="2200" dirty="0"/>
          </a:p>
        </p:txBody>
      </p:sp>
      <p:sp>
        <p:nvSpPr>
          <p:cNvPr id="18" name="Shape 16"/>
          <p:cNvSpPr/>
          <p:nvPr/>
        </p:nvSpPr>
        <p:spPr>
          <a:xfrm>
            <a:off x="7903464" y="3131820"/>
            <a:ext cx="384048" cy="457200"/>
          </a:xfrm>
          <a:custGeom>
            <a:avLst/>
            <a:gdLst/>
            <a:ahLst/>
            <a:cxnLst/>
            <a:rect l="l" t="t" r="r" b="b"/>
            <a:pathLst>
              <a:path w="384048" h="457200">
                <a:moveTo>
                  <a:pt x="0" y="146304"/>
                </a:moveTo>
                <a:lnTo>
                  <a:pt x="182880" y="146304"/>
                </a:lnTo>
                <a:lnTo>
                  <a:pt x="182880" y="0"/>
                </a:lnTo>
                <a:lnTo>
                  <a:pt x="384048" y="228600"/>
                </a:lnTo>
                <a:lnTo>
                  <a:pt x="182880" y="457200"/>
                </a:lnTo>
                <a:lnTo>
                  <a:pt x="182880" y="310896"/>
                </a:lnTo>
                <a:lnTo>
                  <a:pt x="0" y="310896"/>
                </a:lnTo>
                <a:close/>
              </a:path>
            </a:pathLst>
          </a:custGeom>
          <a:solidFill>
            <a:srgbClr val="595959"/>
          </a:solidFill>
          <a:ln w="9525">
            <a:solidFill>
              <a:srgbClr val="595959"/>
            </a:solidFill>
            <a:prstDash val="solid"/>
          </a:ln>
        </p:spPr>
      </p:sp>
      <p:sp>
        <p:nvSpPr>
          <p:cNvPr id="19" name="Shape 17"/>
          <p:cNvSpPr/>
          <p:nvPr/>
        </p:nvSpPr>
        <p:spPr>
          <a:xfrm>
            <a:off x="8506968" y="2377440"/>
            <a:ext cx="3179064" cy="1965960"/>
          </a:xfrm>
          <a:prstGeom prst="roundRect">
            <a:avLst>
              <a:gd name="adj" fmla="val 3721"/>
            </a:avLst>
          </a:prstGeom>
          <a:solidFill>
            <a:srgbClr val="F2F2F2"/>
          </a:solidFill>
          <a:ln/>
        </p:spPr>
      </p:sp>
      <p:sp>
        <p:nvSpPr>
          <p:cNvPr id="20" name="Text 18"/>
          <p:cNvSpPr txBox="1"/>
          <p:nvPr/>
        </p:nvSpPr>
        <p:spPr>
          <a:xfrm>
            <a:off x="8616696" y="2487168"/>
            <a:ext cx="2959608" cy="457200"/>
          </a:xfrm>
          <a:prstGeom prst="rect">
            <a:avLst/>
          </a:prstGeom>
          <a:noFill/>
          <a:ln/>
        </p:spPr>
        <p:txBody>
          <a:bodyPr wrap="square" lIns="0" tIns="0" rIns="0" bIns="0" rtlCol="0" anchor="t"/>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排出（換気）</a:t>
            </a:r>
            <a:endParaRPr lang="ja-JP" sz="2400" dirty="0"/>
          </a:p>
        </p:txBody>
      </p:sp>
      <p:sp>
        <p:nvSpPr>
          <p:cNvPr id="21" name="Text 19"/>
          <p:cNvSpPr txBox="1"/>
          <p:nvPr/>
        </p:nvSpPr>
        <p:spPr>
          <a:xfrm>
            <a:off x="8616696" y="3017520"/>
            <a:ext cx="2959608" cy="1216152"/>
          </a:xfrm>
          <a:prstGeom prst="rect">
            <a:avLst/>
          </a:prstGeom>
          <a:noFill/>
          <a:ln/>
        </p:spPr>
        <p:txBody>
          <a:bodyPr wrap="square" lIns="0" tIns="0" rIns="0" bIns="0" rtlCol="0" anchor="t"/>
          <a:lstStyle/>
          <a:p>
            <a:pPr algn="l" indent="0" marL="0">
              <a:spcAft>
                <a:spcPts val="1400"/>
              </a:spcAft>
              <a:buNone/>
            </a:pPr>
            <a:r>
              <a:rPr lang="ja-JP" altLang="en-US" sz="2200" b="1" dirty="0">
                <a:solidFill>
                  <a:srgbClr val="D55E00"/>
                </a:solidFill>
                <a:latin typeface="メイリオ" pitchFamily="34" charset="0"/>
                <a:ea typeface="メイリオ" pitchFamily="34" charset="-122"/>
                <a:cs typeface="メイリオ" pitchFamily="34" charset="-120"/>
              </a:rPr>
              <a:t>↑</a:t>
            </a:r>
            <a:r>
              <a:rPr lang="ja-JP" altLang="en-US" sz="2200" dirty="0">
                <a:solidFill>
                  <a:srgbClr val="262626"/>
                </a:solidFill>
                <a:latin typeface="メイリオ" pitchFamily="34" charset="0"/>
                <a:ea typeface="メイリオ" pitchFamily="34" charset="-122"/>
                <a:cs typeface="メイリオ" pitchFamily="34" charset="-120"/>
              </a:rPr>
              <a:t> 低換気</a:t>
            </a:r>
            <a:endParaRPr lang="ja-JP" sz="2200" dirty="0"/>
          </a:p>
          <a:p>
            <a:pPr algn="l" indent="0" marL="0">
              <a:spcAft>
                <a:spcPts val="1400"/>
              </a:spcAft>
              <a:buNone/>
            </a:pPr>
            <a:r>
              <a:rPr lang="ja-JP" altLang="en-US" sz="2200" b="1" dirty="0">
                <a:solidFill>
                  <a:srgbClr val="0072B2"/>
                </a:solidFill>
                <a:latin typeface="メイリオ" pitchFamily="34" charset="0"/>
                <a:ea typeface="メイリオ" pitchFamily="34" charset="-122"/>
                <a:cs typeface="メイリオ" pitchFamily="34" charset="-120"/>
              </a:rPr>
              <a:t>↓</a:t>
            </a:r>
            <a:r>
              <a:rPr lang="ja-JP" altLang="en-US" sz="2200" dirty="0">
                <a:solidFill>
                  <a:srgbClr val="262626"/>
                </a:solidFill>
                <a:latin typeface="メイリオ" pitchFamily="34" charset="0"/>
                <a:ea typeface="メイリオ" pitchFamily="34" charset="-122"/>
                <a:cs typeface="メイリオ" pitchFamily="34" charset="-120"/>
              </a:rPr>
              <a:t> 過換気</a:t>
            </a:r>
            <a:endParaRPr lang="ja-JP" sz="2200" dirty="0"/>
          </a:p>
        </p:txBody>
      </p:sp>
      <p:sp>
        <p:nvSpPr>
          <p:cNvPr id="22" name="Text 20"/>
          <p:cNvSpPr txBox="1"/>
          <p:nvPr/>
        </p:nvSpPr>
        <p:spPr>
          <a:xfrm>
            <a:off x="502920" y="4983480"/>
            <a:ext cx="11183112" cy="539496"/>
          </a:xfrm>
          <a:prstGeom prst="rect">
            <a:avLst/>
          </a:prstGeom>
          <a:noFill/>
          <a:ln/>
        </p:spPr>
        <p:txBody>
          <a:bodyPr wrap="square" lIns="0" tIns="0" rIns="0" bIns="0" rtlCol="0" anchor="t"/>
          <a:lstStyle/>
          <a:p>
            <a:pPr algn="ctr" indent="0" marL="0">
              <a:buNone/>
            </a:pPr>
            <a:r>
              <a:rPr lang="ja-JP" altLang="en-US" sz="2800" b="1" dirty="0">
                <a:solidFill>
                  <a:srgbClr val="00A8AA"/>
                </a:solidFill>
                <a:latin typeface="メイリオ" pitchFamily="34" charset="0"/>
                <a:ea typeface="メイリオ" pitchFamily="34" charset="-122"/>
                <a:cs typeface="メイリオ" pitchFamily="34" charset="-120"/>
              </a:rPr>
              <a:t>EtCO2 は代謝・循環・換気の3つを同時に映す</a:t>
            </a:r>
            <a:endParaRPr lang="ja-JP"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測定の原理</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原理</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波形</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数値</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使い方</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教科書的記述（原理）</a:t>
            </a:r>
            <a:endParaRPr lang="ja-JP" sz="1600" dirty="0"/>
          </a:p>
        </p:txBody>
      </p:sp>
      <p:sp>
        <p:nvSpPr>
          <p:cNvPr id="11" name="Text 9"/>
          <p:cNvSpPr txBox="1"/>
          <p:nvPr/>
        </p:nvSpPr>
        <p:spPr>
          <a:xfrm>
            <a:off x="502920" y="2784348"/>
            <a:ext cx="411480" cy="539496"/>
          </a:xfrm>
          <a:prstGeom prst="rect">
            <a:avLst/>
          </a:prstGeom>
          <a:noFill/>
          <a:ln/>
        </p:spPr>
        <p:txBody>
          <a:bodyPr wrap="square" lIns="0" tIns="0" rIns="0" bIns="0" rtlCol="0" anchor="t"/>
          <a:lstStyle/>
          <a:p>
            <a:pPr algn="l" indent="0" marL="0">
              <a:buNone/>
            </a:pPr>
            <a:r>
              <a:rPr lang="ja-JP" altLang="en-US" sz="2800" dirty="0">
                <a:solidFill>
                  <a:srgbClr val="262626"/>
                </a:solidFill>
                <a:latin typeface="メイリオ" pitchFamily="34" charset="0"/>
                <a:ea typeface="メイリオ" pitchFamily="34" charset="-122"/>
                <a:cs typeface="メイリオ" pitchFamily="34" charset="-120"/>
              </a:rPr>
              <a:t>•</a:t>
            </a:r>
            <a:endParaRPr lang="ja-JP" sz="2800" dirty="0"/>
          </a:p>
        </p:txBody>
      </p:sp>
      <p:sp>
        <p:nvSpPr>
          <p:cNvPr id="12" name="Text 10"/>
          <p:cNvSpPr txBox="1"/>
          <p:nvPr/>
        </p:nvSpPr>
        <p:spPr>
          <a:xfrm>
            <a:off x="960120" y="2784348"/>
            <a:ext cx="3886200" cy="1069848"/>
          </a:xfrm>
          <a:prstGeom prst="rect">
            <a:avLst/>
          </a:prstGeom>
          <a:noFill/>
          <a:ln/>
        </p:spPr>
        <p:txBody>
          <a:bodyPr wrap="square" lIns="0" tIns="0" rIns="0" bIns="0" rtlCol="0" anchor="t"/>
          <a:lstStyle/>
          <a:p>
            <a:pPr algn="l" indent="0" marL="0">
              <a:buNone/>
            </a:pPr>
            <a:r>
              <a:rPr lang="ja-JP" altLang="en-US" sz="2800" dirty="0">
                <a:solidFill>
                  <a:srgbClr val="262626"/>
                </a:solidFill>
                <a:latin typeface="メイリオ" pitchFamily="34" charset="0"/>
                <a:ea typeface="メイリオ" pitchFamily="34" charset="-122"/>
                <a:cs typeface="メイリオ" pitchFamily="34" charset="-120"/>
              </a:rPr>
              <a:t>CO2 は特定の波長の</a:t>
            </a:r>
            <a:endParaRPr lang="ja-JP" sz="2800" dirty="0"/>
          </a:p>
          <a:p>
            <a:pPr algn="l" indent="0" marL="0">
              <a:buNone/>
            </a:pPr>
            <a:r>
              <a:rPr lang="ja-JP" altLang="en-US" sz="2800" dirty="0">
                <a:solidFill>
                  <a:srgbClr val="262626"/>
                </a:solidFill>
                <a:latin typeface="メイリオ" pitchFamily="34" charset="0"/>
                <a:ea typeface="メイリオ" pitchFamily="34" charset="-122"/>
                <a:cs typeface="メイリオ" pitchFamily="34" charset="-120"/>
              </a:rPr>
              <a:t>赤外線を吸収する</a:t>
            </a:r>
            <a:endParaRPr lang="ja-JP" sz="2800" dirty="0"/>
          </a:p>
        </p:txBody>
      </p:sp>
      <p:sp>
        <p:nvSpPr>
          <p:cNvPr id="13" name="Text 11"/>
          <p:cNvSpPr txBox="1"/>
          <p:nvPr/>
        </p:nvSpPr>
        <p:spPr>
          <a:xfrm>
            <a:off x="502920" y="4265676"/>
            <a:ext cx="411480" cy="539496"/>
          </a:xfrm>
          <a:prstGeom prst="rect">
            <a:avLst/>
          </a:prstGeom>
          <a:noFill/>
          <a:ln/>
        </p:spPr>
        <p:txBody>
          <a:bodyPr wrap="square" lIns="0" tIns="0" rIns="0" bIns="0" rtlCol="0" anchor="t"/>
          <a:lstStyle/>
          <a:p>
            <a:pPr algn="l" indent="0" marL="0">
              <a:buNone/>
            </a:pPr>
            <a:r>
              <a:rPr lang="ja-JP" altLang="en-US" sz="2800" dirty="0">
                <a:solidFill>
                  <a:srgbClr val="262626"/>
                </a:solidFill>
                <a:latin typeface="メイリオ" pitchFamily="34" charset="0"/>
                <a:ea typeface="メイリオ" pitchFamily="34" charset="-122"/>
                <a:cs typeface="メイリオ" pitchFamily="34" charset="-120"/>
              </a:rPr>
              <a:t>•</a:t>
            </a:r>
            <a:endParaRPr lang="ja-JP" sz="2800" dirty="0"/>
          </a:p>
        </p:txBody>
      </p:sp>
      <p:sp>
        <p:nvSpPr>
          <p:cNvPr id="14" name="Text 12"/>
          <p:cNvSpPr txBox="1"/>
          <p:nvPr/>
        </p:nvSpPr>
        <p:spPr>
          <a:xfrm>
            <a:off x="960120" y="4265676"/>
            <a:ext cx="3886200" cy="539496"/>
          </a:xfrm>
          <a:prstGeom prst="rect">
            <a:avLst/>
          </a:prstGeom>
          <a:noFill/>
          <a:ln/>
        </p:spPr>
        <p:txBody>
          <a:bodyPr wrap="square" lIns="0" tIns="0" rIns="0" bIns="0" rtlCol="0" anchor="t"/>
          <a:lstStyle/>
          <a:p>
            <a:pPr algn="l" indent="0" marL="0">
              <a:buNone/>
            </a:pPr>
            <a:r>
              <a:rPr lang="ja-JP" altLang="en-US" sz="2800" dirty="0">
                <a:solidFill>
                  <a:srgbClr val="262626"/>
                </a:solidFill>
                <a:latin typeface="メイリオ" pitchFamily="34" charset="0"/>
                <a:ea typeface="メイリオ" pitchFamily="34" charset="-122"/>
                <a:cs typeface="メイリオ" pitchFamily="34" charset="-120"/>
              </a:rPr>
              <a:t>吸収の量 → CO2 分圧</a:t>
            </a:r>
            <a:endParaRPr lang="ja-JP" sz="2800" dirty="0"/>
          </a:p>
        </p:txBody>
      </p:sp>
      <p:sp>
        <p:nvSpPr>
          <p:cNvPr id="15" name="Shape 13"/>
          <p:cNvSpPr/>
          <p:nvPr/>
        </p:nvSpPr>
        <p:spPr>
          <a:xfrm>
            <a:off x="5120640" y="2560320"/>
            <a:ext cx="3154680" cy="2468880"/>
          </a:xfrm>
          <a:prstGeom prst="roundRect">
            <a:avLst>
              <a:gd name="adj" fmla="val 2963"/>
            </a:avLst>
          </a:prstGeom>
          <a:solidFill>
            <a:srgbClr val="F2F2F2"/>
          </a:solidFill>
          <a:ln/>
        </p:spPr>
      </p:sp>
      <p:sp>
        <p:nvSpPr>
          <p:cNvPr id="16" name="Text 14"/>
          <p:cNvSpPr txBox="1"/>
          <p:nvPr/>
        </p:nvSpPr>
        <p:spPr>
          <a:xfrm>
            <a:off x="5257800" y="2697480"/>
            <a:ext cx="2880360"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メインストリーム</a:t>
            </a:r>
            <a:endParaRPr lang="ja-JP" sz="2400" dirty="0"/>
          </a:p>
        </p:txBody>
      </p:sp>
      <p:sp>
        <p:nvSpPr>
          <p:cNvPr id="17" name="Text 15"/>
          <p:cNvSpPr txBox="1"/>
          <p:nvPr/>
        </p:nvSpPr>
        <p:spPr>
          <a:xfrm>
            <a:off x="5257800" y="3328416"/>
            <a:ext cx="288036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回路の途中で測る</a:t>
            </a:r>
            <a:endParaRPr lang="ja-JP" sz="2200" dirty="0"/>
          </a:p>
        </p:txBody>
      </p:sp>
      <p:sp>
        <p:nvSpPr>
          <p:cNvPr id="18" name="Text 16"/>
          <p:cNvSpPr txBox="1"/>
          <p:nvPr/>
        </p:nvSpPr>
        <p:spPr>
          <a:xfrm>
            <a:off x="5257800" y="3877056"/>
            <a:ext cx="288036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遅れがない</a:t>
            </a:r>
            <a:endParaRPr lang="ja-JP" sz="2200" dirty="0"/>
          </a:p>
        </p:txBody>
      </p:sp>
      <p:sp>
        <p:nvSpPr>
          <p:cNvPr id="19" name="Text 17"/>
          <p:cNvSpPr txBox="1"/>
          <p:nvPr/>
        </p:nvSpPr>
        <p:spPr>
          <a:xfrm>
            <a:off x="5257800" y="4425696"/>
            <a:ext cx="288036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センサーが重い</a:t>
            </a:r>
            <a:endParaRPr lang="ja-JP" sz="2200" dirty="0"/>
          </a:p>
        </p:txBody>
      </p:sp>
      <p:sp>
        <p:nvSpPr>
          <p:cNvPr id="20" name="Shape 18"/>
          <p:cNvSpPr/>
          <p:nvPr/>
        </p:nvSpPr>
        <p:spPr>
          <a:xfrm>
            <a:off x="8531352" y="2560320"/>
            <a:ext cx="3154680" cy="2468880"/>
          </a:xfrm>
          <a:prstGeom prst="roundRect">
            <a:avLst>
              <a:gd name="adj" fmla="val 2963"/>
            </a:avLst>
          </a:prstGeom>
          <a:solidFill>
            <a:srgbClr val="F2F2F2"/>
          </a:solidFill>
          <a:ln/>
        </p:spPr>
      </p:sp>
      <p:sp>
        <p:nvSpPr>
          <p:cNvPr id="21" name="Text 19"/>
          <p:cNvSpPr txBox="1"/>
          <p:nvPr/>
        </p:nvSpPr>
        <p:spPr>
          <a:xfrm>
            <a:off x="8668512" y="2697480"/>
            <a:ext cx="2880360"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サイドストリーム</a:t>
            </a:r>
            <a:endParaRPr lang="ja-JP" sz="2400" dirty="0"/>
          </a:p>
        </p:txBody>
      </p:sp>
      <p:sp>
        <p:nvSpPr>
          <p:cNvPr id="22" name="Text 20"/>
          <p:cNvSpPr txBox="1"/>
          <p:nvPr/>
        </p:nvSpPr>
        <p:spPr>
          <a:xfrm>
            <a:off x="8668512" y="3328416"/>
            <a:ext cx="288036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ガスを吸引して測る</a:t>
            </a:r>
            <a:endParaRPr lang="ja-JP" sz="2200" dirty="0"/>
          </a:p>
        </p:txBody>
      </p:sp>
      <p:sp>
        <p:nvSpPr>
          <p:cNvPr id="23" name="Text 21"/>
          <p:cNvSpPr txBox="1"/>
          <p:nvPr/>
        </p:nvSpPr>
        <p:spPr>
          <a:xfrm>
            <a:off x="8668512" y="3877056"/>
            <a:ext cx="288036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数秒の遅れ</a:t>
            </a:r>
            <a:endParaRPr lang="ja-JP" sz="2200" dirty="0"/>
          </a:p>
        </p:txBody>
      </p:sp>
      <p:sp>
        <p:nvSpPr>
          <p:cNvPr id="24" name="Text 22"/>
          <p:cNvSpPr txBox="1"/>
          <p:nvPr/>
        </p:nvSpPr>
        <p:spPr>
          <a:xfrm>
            <a:off x="8668512" y="4425696"/>
            <a:ext cx="288036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水で詰まる</a:t>
            </a:r>
            <a:endParaRPr lang="ja-JP"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正常波形の4つの相</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原理</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波形</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数値</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使い方</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Kodali BS. Capnography outside the operating rooms.</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Anesthesiology 2013;118:192-201（相の定義） / capnography.com（α角・β角）</a:t>
            </a:r>
            <a:endParaRPr lang="ja-JP" sz="1600" dirty="0"/>
          </a:p>
        </p:txBody>
      </p:sp>
      <p:sp>
        <p:nvSpPr>
          <p:cNvPr id="11" name="Shape 9"/>
          <p:cNvSpPr/>
          <p:nvPr/>
        </p:nvSpPr>
        <p:spPr>
          <a:xfrm>
            <a:off x="6108192" y="1783080"/>
            <a:ext cx="5577840" cy="731520"/>
          </a:xfrm>
          <a:prstGeom prst="roundRect">
            <a:avLst>
              <a:gd name="adj" fmla="val 10000"/>
            </a:avLst>
          </a:prstGeom>
          <a:solidFill>
            <a:srgbClr val="F2F2F2"/>
          </a:solidFill>
          <a:ln/>
        </p:spPr>
      </p:sp>
      <p:sp>
        <p:nvSpPr>
          <p:cNvPr id="12" name="Text 10"/>
          <p:cNvSpPr txBox="1"/>
          <p:nvPr/>
        </p:nvSpPr>
        <p:spPr>
          <a:xfrm>
            <a:off x="6227064" y="1874520"/>
            <a:ext cx="1051560" cy="548640"/>
          </a:xfrm>
          <a:prstGeom prst="rect">
            <a:avLst/>
          </a:prstGeom>
          <a:noFill/>
          <a:ln/>
        </p:spPr>
        <p:txBody>
          <a:bodyPr wrap="square" lIns="0" tIns="0" rIns="0" bIns="0" rtlCol="0" anchor="ctr"/>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相 I</a:t>
            </a:r>
            <a:endParaRPr lang="ja-JP" sz="2400" dirty="0"/>
          </a:p>
        </p:txBody>
      </p:sp>
      <p:sp>
        <p:nvSpPr>
          <p:cNvPr id="13" name="Text 11"/>
          <p:cNvSpPr txBox="1"/>
          <p:nvPr/>
        </p:nvSpPr>
        <p:spPr>
          <a:xfrm>
            <a:off x="7370064" y="1874520"/>
            <a:ext cx="4206240" cy="548640"/>
          </a:xfrm>
          <a:prstGeom prst="rect">
            <a:avLst/>
          </a:prstGeom>
          <a:noFill/>
          <a:ln/>
        </p:spPr>
        <p:txBody>
          <a:bodyPr wrap="square" lIns="0" tIns="0" rIns="0" bIns="0" rtlCol="0" anchor="ct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死腔のガス（CO2 = 0）</a:t>
            </a:r>
            <a:endParaRPr lang="ja-JP" sz="2200" dirty="0"/>
          </a:p>
        </p:txBody>
      </p:sp>
      <p:sp>
        <p:nvSpPr>
          <p:cNvPr id="14" name="Shape 12"/>
          <p:cNvSpPr/>
          <p:nvPr/>
        </p:nvSpPr>
        <p:spPr>
          <a:xfrm>
            <a:off x="6108192" y="2788920"/>
            <a:ext cx="5577840" cy="731520"/>
          </a:xfrm>
          <a:prstGeom prst="roundRect">
            <a:avLst>
              <a:gd name="adj" fmla="val 10000"/>
            </a:avLst>
          </a:prstGeom>
          <a:solidFill>
            <a:srgbClr val="F2F2F2"/>
          </a:solidFill>
          <a:ln/>
        </p:spPr>
      </p:sp>
      <p:sp>
        <p:nvSpPr>
          <p:cNvPr id="15" name="Text 13"/>
          <p:cNvSpPr txBox="1"/>
          <p:nvPr/>
        </p:nvSpPr>
        <p:spPr>
          <a:xfrm>
            <a:off x="6227064" y="2880360"/>
            <a:ext cx="1051560" cy="548640"/>
          </a:xfrm>
          <a:prstGeom prst="rect">
            <a:avLst/>
          </a:prstGeom>
          <a:noFill/>
          <a:ln/>
        </p:spPr>
        <p:txBody>
          <a:bodyPr wrap="square" lIns="0" tIns="0" rIns="0" bIns="0" rtlCol="0" anchor="ctr"/>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相 II</a:t>
            </a:r>
            <a:endParaRPr lang="ja-JP" sz="2400" dirty="0"/>
          </a:p>
        </p:txBody>
      </p:sp>
      <p:sp>
        <p:nvSpPr>
          <p:cNvPr id="16" name="Text 14"/>
          <p:cNvSpPr txBox="1"/>
          <p:nvPr/>
        </p:nvSpPr>
        <p:spPr>
          <a:xfrm>
            <a:off x="7370064" y="2880360"/>
            <a:ext cx="4206240" cy="548640"/>
          </a:xfrm>
          <a:prstGeom prst="rect">
            <a:avLst/>
          </a:prstGeom>
          <a:noFill/>
          <a:ln/>
        </p:spPr>
        <p:txBody>
          <a:bodyPr wrap="square" lIns="0" tIns="0" rIns="0" bIns="0" rtlCol="0" anchor="ct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死腔と肺胞ガスの混合</a:t>
            </a:r>
            <a:endParaRPr lang="ja-JP" sz="2200" dirty="0"/>
          </a:p>
        </p:txBody>
      </p:sp>
      <p:sp>
        <p:nvSpPr>
          <p:cNvPr id="17" name="Shape 15"/>
          <p:cNvSpPr/>
          <p:nvPr/>
        </p:nvSpPr>
        <p:spPr>
          <a:xfrm>
            <a:off x="6108192" y="3794760"/>
            <a:ext cx="5577840" cy="731520"/>
          </a:xfrm>
          <a:prstGeom prst="roundRect">
            <a:avLst>
              <a:gd name="adj" fmla="val 10000"/>
            </a:avLst>
          </a:prstGeom>
          <a:solidFill>
            <a:srgbClr val="F2F2F2"/>
          </a:solidFill>
          <a:ln/>
        </p:spPr>
      </p:sp>
      <p:sp>
        <p:nvSpPr>
          <p:cNvPr id="18" name="Text 16"/>
          <p:cNvSpPr txBox="1"/>
          <p:nvPr/>
        </p:nvSpPr>
        <p:spPr>
          <a:xfrm>
            <a:off x="6227064" y="3886200"/>
            <a:ext cx="1051560" cy="548640"/>
          </a:xfrm>
          <a:prstGeom prst="rect">
            <a:avLst/>
          </a:prstGeom>
          <a:noFill/>
          <a:ln/>
        </p:spPr>
        <p:txBody>
          <a:bodyPr wrap="square" lIns="0" tIns="0" rIns="0" bIns="0" rtlCol="0" anchor="ctr"/>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相 III</a:t>
            </a:r>
            <a:endParaRPr lang="ja-JP" sz="2400" dirty="0"/>
          </a:p>
        </p:txBody>
      </p:sp>
      <p:sp>
        <p:nvSpPr>
          <p:cNvPr id="19" name="Text 17"/>
          <p:cNvSpPr txBox="1"/>
          <p:nvPr/>
        </p:nvSpPr>
        <p:spPr>
          <a:xfrm>
            <a:off x="7370064" y="3886200"/>
            <a:ext cx="4206240" cy="548640"/>
          </a:xfrm>
          <a:prstGeom prst="rect">
            <a:avLst/>
          </a:prstGeom>
          <a:noFill/>
          <a:ln/>
        </p:spPr>
        <p:txBody>
          <a:bodyPr wrap="square" lIns="0" tIns="0" rIns="0" bIns="0" rtlCol="0" anchor="ct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肺胞プラトー、終点が EtCO2</a:t>
            </a:r>
            <a:endParaRPr lang="ja-JP" sz="2200" dirty="0"/>
          </a:p>
        </p:txBody>
      </p:sp>
      <p:sp>
        <p:nvSpPr>
          <p:cNvPr id="20" name="Shape 18"/>
          <p:cNvSpPr/>
          <p:nvPr/>
        </p:nvSpPr>
        <p:spPr>
          <a:xfrm>
            <a:off x="6108192" y="4800600"/>
            <a:ext cx="5577840" cy="731520"/>
          </a:xfrm>
          <a:prstGeom prst="roundRect">
            <a:avLst>
              <a:gd name="adj" fmla="val 10000"/>
            </a:avLst>
          </a:prstGeom>
          <a:solidFill>
            <a:srgbClr val="F2F2F2"/>
          </a:solidFill>
          <a:ln/>
        </p:spPr>
      </p:sp>
      <p:sp>
        <p:nvSpPr>
          <p:cNvPr id="21" name="Text 19"/>
          <p:cNvSpPr txBox="1"/>
          <p:nvPr/>
        </p:nvSpPr>
        <p:spPr>
          <a:xfrm>
            <a:off x="6227064" y="4892040"/>
            <a:ext cx="1051560" cy="548640"/>
          </a:xfrm>
          <a:prstGeom prst="rect">
            <a:avLst/>
          </a:prstGeom>
          <a:noFill/>
          <a:ln/>
        </p:spPr>
        <p:txBody>
          <a:bodyPr wrap="square" lIns="0" tIns="0" rIns="0" bIns="0" rtlCol="0" anchor="ctr"/>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相 0</a:t>
            </a:r>
            <a:endParaRPr lang="ja-JP" sz="2400" dirty="0"/>
          </a:p>
        </p:txBody>
      </p:sp>
      <p:sp>
        <p:nvSpPr>
          <p:cNvPr id="22" name="Text 20"/>
          <p:cNvSpPr txBox="1"/>
          <p:nvPr/>
        </p:nvSpPr>
        <p:spPr>
          <a:xfrm>
            <a:off x="7370064" y="4892040"/>
            <a:ext cx="4206240" cy="548640"/>
          </a:xfrm>
          <a:prstGeom prst="rect">
            <a:avLst/>
          </a:prstGeom>
          <a:noFill/>
          <a:ln/>
        </p:spPr>
        <p:txBody>
          <a:bodyPr wrap="square" lIns="0" tIns="0" rIns="0" bIns="0" rtlCol="0" anchor="ct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吸気、基線は 0 に戻る</a:t>
            </a:r>
            <a:endParaRPr lang="ja-JP" sz="2200" dirty="0"/>
          </a:p>
        </p:txBody>
      </p:sp>
      <p:sp>
        <p:nvSpPr>
          <p:cNvPr id="23" name="Shape 21"/>
          <p:cNvSpPr/>
          <p:nvPr/>
        </p:nvSpPr>
        <p:spPr>
          <a:xfrm flipV="1">
            <a:off x="594360" y="2331720"/>
            <a:ext cx="0" cy="2697480"/>
          </a:xfrm>
          <a:prstGeom prst="line">
            <a:avLst/>
          </a:prstGeom>
          <a:noFill/>
          <a:ln w="25400">
            <a:solidFill>
              <a:srgbClr val="7F7F7F"/>
            </a:solidFill>
            <a:prstDash val="solid"/>
            <a:tailEnd type="triangle"/>
          </a:ln>
        </p:spPr>
      </p:sp>
      <p:sp>
        <p:nvSpPr>
          <p:cNvPr id="24" name="Shape 22"/>
          <p:cNvSpPr/>
          <p:nvPr/>
        </p:nvSpPr>
        <p:spPr>
          <a:xfrm>
            <a:off x="594360" y="5029200"/>
            <a:ext cx="5276088" cy="0"/>
          </a:xfrm>
          <a:prstGeom prst="line">
            <a:avLst/>
          </a:prstGeom>
          <a:noFill/>
          <a:ln w="25400">
            <a:solidFill>
              <a:srgbClr val="7F7F7F"/>
            </a:solidFill>
            <a:prstDash val="solid"/>
            <a:tailEnd type="triangle"/>
          </a:ln>
        </p:spPr>
      </p:sp>
      <p:sp>
        <p:nvSpPr>
          <p:cNvPr id="25" name="Text 23"/>
          <p:cNvSpPr txBox="1"/>
          <p:nvPr/>
        </p:nvSpPr>
        <p:spPr>
          <a:xfrm>
            <a:off x="502920" y="1691640"/>
            <a:ext cx="1325880"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CO2 分圧</a:t>
            </a:r>
            <a:endParaRPr lang="ja-JP" sz="2200" dirty="0"/>
          </a:p>
        </p:txBody>
      </p:sp>
      <p:sp>
        <p:nvSpPr>
          <p:cNvPr id="26" name="Text 24"/>
          <p:cNvSpPr txBox="1"/>
          <p:nvPr/>
        </p:nvSpPr>
        <p:spPr>
          <a:xfrm>
            <a:off x="5184648" y="5166360"/>
            <a:ext cx="685800" cy="420624"/>
          </a:xfrm>
          <a:prstGeom prst="rect">
            <a:avLst/>
          </a:prstGeom>
          <a:noFill/>
          <a:ln/>
        </p:spPr>
        <p:txBody>
          <a:bodyPr wrap="square" lIns="0" tIns="0" rIns="0" bIns="0" rtlCol="0" anchor="t"/>
          <a:lstStyle/>
          <a:p>
            <a:pPr algn="r" indent="0" marL="0">
              <a:buNone/>
            </a:pPr>
            <a:r>
              <a:rPr lang="ja-JP" altLang="en-US" sz="2200" dirty="0">
                <a:solidFill>
                  <a:srgbClr val="262626"/>
                </a:solidFill>
                <a:latin typeface="メイリオ" pitchFamily="34" charset="0"/>
                <a:ea typeface="メイリオ" pitchFamily="34" charset="-122"/>
                <a:cs typeface="メイリオ" pitchFamily="34" charset="-120"/>
              </a:rPr>
              <a:t>時間</a:t>
            </a:r>
            <a:endParaRPr lang="ja-JP" sz="2200" dirty="0"/>
          </a:p>
        </p:txBody>
      </p:sp>
      <p:sp>
        <p:nvSpPr>
          <p:cNvPr id="27" name="Shape 25"/>
          <p:cNvSpPr/>
          <p:nvPr/>
        </p:nvSpPr>
        <p:spPr>
          <a:xfrm>
            <a:off x="640080" y="3063240"/>
            <a:ext cx="5166360" cy="1965960"/>
          </a:xfrm>
          <a:custGeom>
            <a:avLst/>
            <a:gdLst/>
            <a:ahLst/>
            <a:cxnLst/>
            <a:rect l="l" t="t" r="r" b="b"/>
            <a:pathLst>
              <a:path w="5166360" h="1965960">
                <a:moveTo>
                  <a:pt x="0" y="1965960"/>
                </a:moveTo>
                <a:lnTo>
                  <a:pt x="758952" y="1965960"/>
                </a:lnTo>
                <a:lnTo>
                  <a:pt x="813816" y="1856232"/>
                </a:lnTo>
                <a:lnTo>
                  <a:pt x="868680" y="1280160"/>
                </a:lnTo>
                <a:lnTo>
                  <a:pt x="923544" y="548640"/>
                </a:lnTo>
                <a:lnTo>
                  <a:pt x="969264" y="365760"/>
                </a:lnTo>
                <a:lnTo>
                  <a:pt x="1014984" y="192024"/>
                </a:lnTo>
                <a:lnTo>
                  <a:pt x="1051560" y="137160"/>
                </a:lnTo>
                <a:lnTo>
                  <a:pt x="2194560" y="0"/>
                </a:lnTo>
                <a:lnTo>
                  <a:pt x="2258568" y="457200"/>
                </a:lnTo>
                <a:lnTo>
                  <a:pt x="2313432" y="1691640"/>
                </a:lnTo>
                <a:lnTo>
                  <a:pt x="2350008" y="1965960"/>
                </a:lnTo>
                <a:lnTo>
                  <a:pt x="3538728" y="1965960"/>
                </a:lnTo>
                <a:lnTo>
                  <a:pt x="3593592" y="1856232"/>
                </a:lnTo>
                <a:lnTo>
                  <a:pt x="3648456" y="1280160"/>
                </a:lnTo>
                <a:lnTo>
                  <a:pt x="3703320" y="548640"/>
                </a:lnTo>
                <a:lnTo>
                  <a:pt x="3749040" y="365760"/>
                </a:lnTo>
                <a:lnTo>
                  <a:pt x="3794760" y="192024"/>
                </a:lnTo>
                <a:lnTo>
                  <a:pt x="3831336" y="137160"/>
                </a:lnTo>
                <a:lnTo>
                  <a:pt x="4974336" y="0"/>
                </a:lnTo>
                <a:lnTo>
                  <a:pt x="5038344" y="457200"/>
                </a:lnTo>
                <a:lnTo>
                  <a:pt x="5093208" y="1691640"/>
                </a:lnTo>
                <a:lnTo>
                  <a:pt x="5129784" y="1965960"/>
                </a:lnTo>
                <a:lnTo>
                  <a:pt x="5166360" y="1965960"/>
                </a:lnTo>
              </a:path>
            </a:pathLst>
          </a:custGeom>
          <a:noFill/>
          <a:ln w="44450">
            <a:solidFill>
              <a:srgbClr val="0072B2"/>
            </a:solidFill>
            <a:prstDash val="solid"/>
          </a:ln>
        </p:spPr>
      </p:sp>
      <p:sp>
        <p:nvSpPr>
          <p:cNvPr id="28" name="Text 26"/>
          <p:cNvSpPr txBox="1"/>
          <p:nvPr/>
        </p:nvSpPr>
        <p:spPr>
          <a:xfrm>
            <a:off x="1110996" y="5166360"/>
            <a:ext cx="868680" cy="457200"/>
          </a:xfrm>
          <a:prstGeom prst="rect">
            <a:avLst/>
          </a:prstGeom>
          <a:noFill/>
          <a:ln/>
        </p:spPr>
        <p:txBody>
          <a:bodyPr wrap="square" lIns="0" tIns="0" rIns="0" bIns="0" rtlCol="0" anchor="t"/>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相 II</a:t>
            </a:r>
            <a:endParaRPr lang="ja-JP" sz="2400" dirty="0"/>
          </a:p>
        </p:txBody>
      </p:sp>
      <p:sp>
        <p:nvSpPr>
          <p:cNvPr id="29" name="Text 27"/>
          <p:cNvSpPr txBox="1"/>
          <p:nvPr/>
        </p:nvSpPr>
        <p:spPr>
          <a:xfrm>
            <a:off x="1737360" y="2377440"/>
            <a:ext cx="1051560" cy="457200"/>
          </a:xfrm>
          <a:prstGeom prst="rect">
            <a:avLst/>
          </a:prstGeom>
          <a:noFill/>
          <a:ln/>
        </p:spPr>
        <p:txBody>
          <a:bodyPr wrap="square" lIns="0" tIns="0" rIns="0" bIns="0" rtlCol="0" anchor="t"/>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相 III</a:t>
            </a:r>
            <a:endParaRPr lang="ja-JP" sz="2400" dirty="0"/>
          </a:p>
        </p:txBody>
      </p:sp>
      <p:sp>
        <p:nvSpPr>
          <p:cNvPr id="30" name="Text 28"/>
          <p:cNvSpPr txBox="1"/>
          <p:nvPr/>
        </p:nvSpPr>
        <p:spPr>
          <a:xfrm>
            <a:off x="2569464" y="5166360"/>
            <a:ext cx="685800" cy="457200"/>
          </a:xfrm>
          <a:prstGeom prst="rect">
            <a:avLst/>
          </a:prstGeom>
          <a:noFill/>
          <a:ln/>
        </p:spPr>
        <p:txBody>
          <a:bodyPr wrap="square" lIns="0" tIns="0" rIns="0" bIns="0" rtlCol="0" anchor="t"/>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相 0</a:t>
            </a:r>
            <a:endParaRPr lang="ja-JP" sz="2400" dirty="0"/>
          </a:p>
        </p:txBody>
      </p:sp>
      <p:sp>
        <p:nvSpPr>
          <p:cNvPr id="31" name="Text 29"/>
          <p:cNvSpPr txBox="1"/>
          <p:nvPr/>
        </p:nvSpPr>
        <p:spPr>
          <a:xfrm>
            <a:off x="3474720" y="5166360"/>
            <a:ext cx="685800" cy="457200"/>
          </a:xfrm>
          <a:prstGeom prst="rect">
            <a:avLst/>
          </a:prstGeom>
          <a:noFill/>
          <a:ln/>
        </p:spPr>
        <p:txBody>
          <a:bodyPr wrap="square" lIns="0" tIns="0" rIns="0" bIns="0" rtlCol="0" anchor="t"/>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相 I</a:t>
            </a:r>
            <a:endParaRPr lang="ja-JP" sz="2400" dirty="0"/>
          </a:p>
        </p:txBody>
      </p:sp>
      <p:sp>
        <p:nvSpPr>
          <p:cNvPr id="32" name="Shape 30"/>
          <p:cNvSpPr/>
          <p:nvPr/>
        </p:nvSpPr>
        <p:spPr>
          <a:xfrm>
            <a:off x="1602580" y="3150970"/>
            <a:ext cx="326704" cy="287109"/>
          </a:xfrm>
          <a:custGeom>
            <a:avLst/>
            <a:gdLst/>
            <a:ahLst/>
            <a:cxnLst/>
            <a:rect l="l" t="t" r="r" b="b"/>
            <a:pathLst>
              <a:path w="326704" h="287109">
                <a:moveTo>
                  <a:pt x="321869" y="0"/>
                </a:moveTo>
                <a:lnTo>
                  <a:pt x="326441" y="42062"/>
                </a:lnTo>
                <a:lnTo>
                  <a:pt x="323698" y="85039"/>
                </a:lnTo>
                <a:lnTo>
                  <a:pt x="313639" y="127102"/>
                </a:lnTo>
                <a:lnTo>
                  <a:pt x="296266" y="165506"/>
                </a:lnTo>
                <a:lnTo>
                  <a:pt x="272491" y="201168"/>
                </a:lnTo>
                <a:lnTo>
                  <a:pt x="242316" y="231343"/>
                </a:lnTo>
                <a:lnTo>
                  <a:pt x="206654" y="256032"/>
                </a:lnTo>
                <a:lnTo>
                  <a:pt x="167335" y="273406"/>
                </a:lnTo>
                <a:lnTo>
                  <a:pt x="126187" y="284378"/>
                </a:lnTo>
                <a:lnTo>
                  <a:pt x="83210" y="287122"/>
                </a:lnTo>
                <a:lnTo>
                  <a:pt x="41148" y="282550"/>
                </a:lnTo>
                <a:lnTo>
                  <a:pt x="0" y="269748"/>
                </a:lnTo>
              </a:path>
            </a:pathLst>
          </a:custGeom>
          <a:noFill/>
          <a:ln w="25400">
            <a:solidFill>
              <a:srgbClr val="D55E00"/>
            </a:solidFill>
            <a:prstDash val="solid"/>
          </a:ln>
        </p:spPr>
      </p:sp>
      <p:sp>
        <p:nvSpPr>
          <p:cNvPr id="33" name="Shape 31"/>
          <p:cNvSpPr/>
          <p:nvPr/>
        </p:nvSpPr>
        <p:spPr>
          <a:xfrm>
            <a:off x="2602989" y="3116721"/>
            <a:ext cx="256502" cy="184233"/>
          </a:xfrm>
          <a:custGeom>
            <a:avLst/>
            <a:gdLst/>
            <a:ahLst/>
            <a:cxnLst/>
            <a:rect l="l" t="t" r="r" b="b"/>
            <a:pathLst>
              <a:path w="256502" h="184233">
                <a:moveTo>
                  <a:pt x="256946" y="182880"/>
                </a:moveTo>
                <a:lnTo>
                  <a:pt x="227686" y="183794"/>
                </a:lnTo>
                <a:lnTo>
                  <a:pt x="199339" y="181966"/>
                </a:lnTo>
                <a:lnTo>
                  <a:pt x="170993" y="176479"/>
                </a:lnTo>
                <a:lnTo>
                  <a:pt x="143561" y="167335"/>
                </a:lnTo>
                <a:lnTo>
                  <a:pt x="117958" y="155448"/>
                </a:lnTo>
                <a:lnTo>
                  <a:pt x="93269" y="139903"/>
                </a:lnTo>
                <a:lnTo>
                  <a:pt x="71323" y="121615"/>
                </a:lnTo>
                <a:lnTo>
                  <a:pt x="51206" y="101498"/>
                </a:lnTo>
                <a:lnTo>
                  <a:pt x="33833" y="78638"/>
                </a:lnTo>
                <a:lnTo>
                  <a:pt x="19202" y="53950"/>
                </a:lnTo>
                <a:lnTo>
                  <a:pt x="8230" y="27432"/>
                </a:lnTo>
                <a:lnTo>
                  <a:pt x="0" y="0"/>
                </a:lnTo>
              </a:path>
            </a:pathLst>
          </a:custGeom>
          <a:noFill/>
          <a:ln w="25400">
            <a:solidFill>
              <a:srgbClr val="D55E00"/>
            </a:solidFill>
            <a:prstDash val="solid"/>
          </a:ln>
        </p:spPr>
      </p:sp>
      <p:sp>
        <p:nvSpPr>
          <p:cNvPr id="34" name="Text 32"/>
          <p:cNvSpPr txBox="1"/>
          <p:nvPr/>
        </p:nvSpPr>
        <p:spPr>
          <a:xfrm>
            <a:off x="813816" y="2377440"/>
            <a:ext cx="694944" cy="457200"/>
          </a:xfrm>
          <a:prstGeom prst="rect">
            <a:avLst/>
          </a:prstGeom>
          <a:noFill/>
          <a:ln/>
        </p:spPr>
        <p:txBody>
          <a:bodyPr wrap="square" lIns="0" tIns="0" rIns="0" bIns="0" rtlCol="0" anchor="t"/>
          <a:lstStyle/>
          <a:p>
            <a:pPr algn="ctr" indent="0" marL="0">
              <a:buNone/>
            </a:pPr>
            <a:r>
              <a:rPr lang="ja-JP" altLang="en-US" sz="2400" b="1" dirty="0">
                <a:solidFill>
                  <a:srgbClr val="D55E00"/>
                </a:solidFill>
                <a:latin typeface="メイリオ" pitchFamily="34" charset="0"/>
                <a:ea typeface="メイリオ" pitchFamily="34" charset="-122"/>
                <a:cs typeface="メイリオ" pitchFamily="34" charset="-120"/>
              </a:rPr>
              <a:t>α角</a:t>
            </a:r>
            <a:endParaRPr lang="ja-JP" sz="2400" dirty="0"/>
          </a:p>
        </p:txBody>
      </p:sp>
      <p:sp>
        <p:nvSpPr>
          <p:cNvPr id="35" name="Shape 33"/>
          <p:cNvSpPr/>
          <p:nvPr/>
        </p:nvSpPr>
        <p:spPr>
          <a:xfrm>
            <a:off x="1453896" y="2862072"/>
            <a:ext cx="201168" cy="283464"/>
          </a:xfrm>
          <a:custGeom>
            <a:avLst/>
            <a:gdLst/>
            <a:ahLst/>
            <a:cxnLst/>
            <a:rect l="l" t="t" r="r" b="b"/>
            <a:pathLst>
              <a:path w="201168" h="283464">
                <a:moveTo>
                  <a:pt x="0" y="0"/>
                </a:moveTo>
                <a:lnTo>
                  <a:pt x="201168" y="283464"/>
                </a:lnTo>
              </a:path>
            </a:pathLst>
          </a:custGeom>
          <a:noFill/>
          <a:ln w="19050">
            <a:solidFill>
              <a:srgbClr val="D55E00"/>
            </a:solidFill>
            <a:prstDash val="solid"/>
          </a:ln>
        </p:spPr>
      </p:sp>
      <p:sp>
        <p:nvSpPr>
          <p:cNvPr id="36" name="Text 34"/>
          <p:cNvSpPr txBox="1"/>
          <p:nvPr/>
        </p:nvSpPr>
        <p:spPr>
          <a:xfrm>
            <a:off x="3017520" y="2377440"/>
            <a:ext cx="694944" cy="457200"/>
          </a:xfrm>
          <a:prstGeom prst="rect">
            <a:avLst/>
          </a:prstGeom>
          <a:noFill/>
          <a:ln/>
        </p:spPr>
        <p:txBody>
          <a:bodyPr wrap="square" lIns="0" tIns="0" rIns="0" bIns="0" rtlCol="0" anchor="t"/>
          <a:lstStyle/>
          <a:p>
            <a:pPr algn="ctr" indent="0" marL="0">
              <a:buNone/>
            </a:pPr>
            <a:r>
              <a:rPr lang="ja-JP" altLang="en-US" sz="2400" b="1" dirty="0">
                <a:solidFill>
                  <a:srgbClr val="D55E00"/>
                </a:solidFill>
                <a:latin typeface="メイリオ" pitchFamily="34" charset="0"/>
                <a:ea typeface="メイリオ" pitchFamily="34" charset="-122"/>
                <a:cs typeface="メイリオ" pitchFamily="34" charset="-120"/>
              </a:rPr>
              <a:t>β角</a:t>
            </a:r>
            <a:endParaRPr lang="ja-JP" sz="2400" dirty="0"/>
          </a:p>
        </p:txBody>
      </p:sp>
      <p:sp>
        <p:nvSpPr>
          <p:cNvPr id="37" name="Shape 35"/>
          <p:cNvSpPr/>
          <p:nvPr/>
        </p:nvSpPr>
        <p:spPr>
          <a:xfrm>
            <a:off x="2871216" y="2862072"/>
            <a:ext cx="201168" cy="146304"/>
          </a:xfrm>
          <a:custGeom>
            <a:avLst/>
            <a:gdLst/>
            <a:ahLst/>
            <a:cxnLst/>
            <a:rect l="l" t="t" r="r" b="b"/>
            <a:pathLst>
              <a:path w="201168" h="146304">
                <a:moveTo>
                  <a:pt x="201168" y="0"/>
                </a:moveTo>
                <a:lnTo>
                  <a:pt x="0" y="146304"/>
                </a:lnTo>
              </a:path>
            </a:pathLst>
          </a:custGeom>
          <a:noFill/>
          <a:ln w="19050">
            <a:solidFill>
              <a:srgbClr val="D55E00"/>
            </a:solidFill>
            <a:prstDash val="solid"/>
          </a:ln>
        </p:spPr>
      </p:sp>
      <p:sp>
        <p:nvSpPr>
          <p:cNvPr id="38" name="Shape 36"/>
          <p:cNvSpPr/>
          <p:nvPr/>
        </p:nvSpPr>
        <p:spPr>
          <a:xfrm>
            <a:off x="5536692" y="2985516"/>
            <a:ext cx="155448" cy="155448"/>
          </a:xfrm>
          <a:prstGeom prst="ellipse">
            <a:avLst/>
          </a:prstGeom>
          <a:solidFill>
            <a:srgbClr val="00A8AA"/>
          </a:solidFill>
          <a:ln/>
        </p:spPr>
      </p:sp>
      <p:sp>
        <p:nvSpPr>
          <p:cNvPr id="39" name="Text 37"/>
          <p:cNvSpPr txBox="1"/>
          <p:nvPr/>
        </p:nvSpPr>
        <p:spPr>
          <a:xfrm>
            <a:off x="4882896" y="2377440"/>
            <a:ext cx="1005840" cy="457200"/>
          </a:xfrm>
          <a:prstGeom prst="rect">
            <a:avLst/>
          </a:prstGeom>
          <a:noFill/>
          <a:ln/>
        </p:spPr>
        <p:txBody>
          <a:bodyPr wrap="square" lIns="0" tIns="0" rIns="0" bIns="0" rtlCol="0" anchor="t"/>
          <a:lstStyle/>
          <a:p>
            <a:pPr algn="ctr" indent="0" marL="0">
              <a:buNone/>
            </a:pPr>
            <a:r>
              <a:rPr lang="ja-JP" altLang="en-US" sz="2400" b="1" dirty="0">
                <a:solidFill>
                  <a:srgbClr val="00A8AA"/>
                </a:solidFill>
                <a:latin typeface="メイリオ" pitchFamily="34" charset="0"/>
                <a:ea typeface="メイリオ" pitchFamily="34" charset="-122"/>
                <a:cs typeface="メイリオ" pitchFamily="34" charset="-120"/>
              </a:rPr>
              <a:t>EtCO2</a:t>
            </a:r>
            <a:endParaRPr lang="ja-JP" sz="2400" dirty="0"/>
          </a:p>
        </p:txBody>
      </p:sp>
      <p:sp>
        <p:nvSpPr>
          <p:cNvPr id="40" name="Shape 38"/>
          <p:cNvSpPr/>
          <p:nvPr/>
        </p:nvSpPr>
        <p:spPr>
          <a:xfrm>
            <a:off x="5614416" y="2862072"/>
            <a:ext cx="9144" cy="86868"/>
          </a:xfrm>
          <a:custGeom>
            <a:avLst/>
            <a:gdLst/>
            <a:ahLst/>
            <a:cxnLst/>
            <a:rect l="l" t="t" r="r" b="b"/>
            <a:pathLst>
              <a:path w="9144" h="86868">
                <a:moveTo>
                  <a:pt x="0" y="0"/>
                </a:moveTo>
                <a:lnTo>
                  <a:pt x="0" y="86868"/>
                </a:lnTo>
              </a:path>
            </a:pathLst>
          </a:custGeom>
          <a:noFill/>
          <a:ln w="19050">
            <a:solidFill>
              <a:srgbClr val="00A8AA"/>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EtCO2 の正常値</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原理</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波形</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数値</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使い方</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教育資料（例: Medtronic カプノグラフィ波形ポスター）</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Brain Trauma Foundation. Guidelines for the Management of Severe TBI, 4th ed. 2017</a:t>
            </a:r>
            <a:endParaRPr lang="ja-JP" sz="1600" dirty="0"/>
          </a:p>
        </p:txBody>
      </p:sp>
      <p:sp>
        <p:nvSpPr>
          <p:cNvPr id="11" name="Shape 9"/>
          <p:cNvSpPr/>
          <p:nvPr/>
        </p:nvSpPr>
        <p:spPr>
          <a:xfrm>
            <a:off x="502920" y="2331720"/>
            <a:ext cx="3931920" cy="2743200"/>
          </a:xfrm>
          <a:prstGeom prst="roundRect">
            <a:avLst>
              <a:gd name="adj" fmla="val 3333"/>
            </a:avLst>
          </a:prstGeom>
          <a:solidFill>
            <a:srgbClr val="F2F2F2"/>
          </a:solidFill>
          <a:ln/>
        </p:spPr>
      </p:sp>
      <p:sp>
        <p:nvSpPr>
          <p:cNvPr id="12" name="Text 10"/>
          <p:cNvSpPr txBox="1"/>
          <p:nvPr/>
        </p:nvSpPr>
        <p:spPr>
          <a:xfrm>
            <a:off x="557784" y="2958084"/>
            <a:ext cx="3822192" cy="841248"/>
          </a:xfrm>
          <a:prstGeom prst="rect">
            <a:avLst/>
          </a:prstGeom>
          <a:noFill/>
          <a:ln/>
        </p:spPr>
        <p:txBody>
          <a:bodyPr wrap="square" lIns="0" tIns="0" rIns="0" bIns="0" rtlCol="0" anchor="t"/>
          <a:lstStyle/>
          <a:p>
            <a:pPr algn="ctr" indent="0" marL="0">
              <a:buNone/>
            </a:pPr>
            <a:r>
              <a:rPr lang="ja-JP" altLang="en-US" sz="4400" b="1" dirty="0">
                <a:solidFill>
                  <a:srgbClr val="00A8AA"/>
                </a:solidFill>
                <a:latin typeface="メイリオ" pitchFamily="34" charset="0"/>
                <a:ea typeface="メイリオ" pitchFamily="34" charset="-122"/>
                <a:cs typeface="メイリオ" pitchFamily="34" charset="-120"/>
              </a:rPr>
              <a:t>35–45 mmHg</a:t>
            </a:r>
            <a:endParaRPr lang="ja-JP" sz="4400" dirty="0"/>
          </a:p>
        </p:txBody>
      </p:sp>
      <p:sp>
        <p:nvSpPr>
          <p:cNvPr id="13" name="Text 11"/>
          <p:cNvSpPr txBox="1"/>
          <p:nvPr/>
        </p:nvSpPr>
        <p:spPr>
          <a:xfrm>
            <a:off x="557784" y="4027932"/>
            <a:ext cx="3822192" cy="420624"/>
          </a:xfrm>
          <a:prstGeom prst="rect">
            <a:avLst/>
          </a:prstGeom>
          <a:noFill/>
          <a:ln/>
        </p:spPr>
        <p:txBody>
          <a:bodyPr wrap="square" lIns="0" tIns="0" rIns="0" bIns="0" rtlCol="0" anchor="t"/>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EtCO2 の一般的な正常範囲</a:t>
            </a:r>
            <a:endParaRPr lang="ja-JP" sz="2200" dirty="0"/>
          </a:p>
        </p:txBody>
      </p:sp>
      <p:sp>
        <p:nvSpPr>
          <p:cNvPr id="14" name="Text 12"/>
          <p:cNvSpPr txBox="1"/>
          <p:nvPr/>
        </p:nvSpPr>
        <p:spPr>
          <a:xfrm>
            <a:off x="4654296" y="2724912"/>
            <a:ext cx="7031736" cy="1956816"/>
          </a:xfrm>
          <a:prstGeom prst="rect">
            <a:avLst/>
          </a:prstGeom>
          <a:noFill/>
          <a:ln/>
        </p:spPr>
        <p:txBody>
          <a:bodyPr wrap="square" lIns="0" tIns="0" rIns="0" bIns="0" rtlCol="0" anchor="t"/>
          <a:lstStyle/>
          <a:p>
            <a:pPr algn="l" marL="355600" indent="-355600">
              <a:spcAft>
                <a:spcPts val="2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PaCO2 より </a:t>
            </a:r>
            <a:r>
              <a:rPr lang="ja-JP" altLang="en-US" sz="2400" b="1" dirty="0">
                <a:solidFill>
                  <a:srgbClr val="D55E00"/>
                </a:solidFill>
                <a:latin typeface="メイリオ" pitchFamily="34" charset="0"/>
                <a:ea typeface="メイリオ" pitchFamily="34" charset="-122"/>
                <a:cs typeface="メイリオ" pitchFamily="34" charset="-120"/>
              </a:rPr>
              <a:t>2〜5 mmHg</a:t>
            </a:r>
            <a:r>
              <a:rPr lang="ja-JP" altLang="en-US" sz="2400" dirty="0">
                <a:solidFill>
                  <a:srgbClr val="262626"/>
                </a:solidFill>
                <a:latin typeface="メイリオ" pitchFamily="34" charset="0"/>
                <a:ea typeface="メイリオ" pitchFamily="34" charset="-122"/>
                <a:cs typeface="メイリオ" pitchFamily="34" charset="-120"/>
              </a:rPr>
              <a:t> 低い（健康な肺）</a:t>
            </a:r>
            <a:endParaRPr lang="ja-JP" sz="2400" dirty="0"/>
          </a:p>
          <a:p>
            <a:pPr algn="l" marL="355600" indent="-355600">
              <a:spcAft>
                <a:spcPts val="2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差が広がる ＝ 死腔が増えた</a:t>
            </a:r>
            <a:endParaRPr lang="ja-JP" sz="2400" dirty="0"/>
          </a:p>
          <a:p>
            <a:pPr algn="l" marL="355600" indent="-355600">
              <a:spcAft>
                <a:spcPts val="2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肺塞栓・心拍出量の低下・COPD</a:t>
            </a:r>
            <a:endParaRPr lang="ja-JP"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変化の三つの理由</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原理</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波形</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数値</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使い方</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11183112" cy="914400"/>
        </p:xfrm>
        <a:graphic>
          <a:graphicData uri="http://schemas.openxmlformats.org/drawingml/2006/table">
            <a:tbl>
              <a:tblPr/>
              <a:tblGrid>
                <a:gridCol w="1463040"/>
                <a:gridCol w="3240024"/>
                <a:gridCol w="3240024"/>
                <a:gridCol w="3240024"/>
              </a:tblGrid>
              <a:tr h="685800">
                <a:tc>
                  <a:txBody>
                    <a:bodyPr/>
                    <a:lstStyle/>
                    <a:p>
                      <a:pPr algn="ctr" indent="0" marL="0">
                        <a:buNone/>
                      </a:pPr>
                      <a:endParaRPr lang="en-US" sz="24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産生（代謝）</a:t>
                      </a:r>
                      <a:endParaRPr lang="en-US" sz="24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運搬（循環）</a:t>
                      </a:r>
                      <a:endParaRPr lang="en-US" sz="24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排出（換気）</a:t>
                      </a:r>
                      <a:endParaRPr lang="en-US" sz="24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1234440">
                <a:tc>
                  <a:txBody>
                    <a:bodyPr/>
                    <a:lstStyle/>
                    <a:p>
                      <a:pPr algn="ctr" indent="0" marL="0">
                        <a:buNone/>
                      </a:pPr>
                      <a:r>
                        <a:rPr lang="ja-JP" altLang="en-US" sz="2400" b="1" dirty="0">
                          <a:solidFill>
                            <a:srgbClr val="D55E00"/>
                          </a:solidFill>
                          <a:latin typeface="メイリオ" pitchFamily="34" charset="0"/>
                          <a:ea typeface="メイリオ" pitchFamily="34" charset="-122"/>
                          <a:cs typeface="メイリオ" pitchFamily="34" charset="-120"/>
                        </a:rPr>
                        <a:t>上がる</a:t>
                      </a:r>
                      <a:endParaRPr lang="en-US" sz="24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発熱・シバリング</a:t>
                      </a:r>
                      <a:endParaRPr lang="en-US" sz="2400" dirty="0">
                        <a:latin typeface="メイリオ" charset="0"/>
                        <a:ea typeface="メイリオ" charset="0"/>
                        <a:cs typeface="メイリオ" charset="0"/>
                      </a:endParaRPr>
                    </a:p>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悪性高熱症</a:t>
                      </a:r>
                      <a:endParaRPr lang="en-US" sz="24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駆血帯の解除</a:t>
                      </a:r>
                      <a:endParaRPr lang="en-US" sz="2400" dirty="0">
                        <a:latin typeface="メイリオ" charset="0"/>
                        <a:ea typeface="メイリオ" charset="0"/>
                        <a:cs typeface="メイリオ" charset="0"/>
                      </a:endParaRPr>
                    </a:p>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CO2 気腹</a:t>
                      </a:r>
                      <a:endParaRPr lang="en-US" sz="24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低換気</a:t>
                      </a:r>
                      <a:endParaRPr lang="en-US" sz="2400" dirty="0">
                        <a:latin typeface="メイリオ" charset="0"/>
                        <a:ea typeface="メイリオ" charset="0"/>
                        <a:cs typeface="メイリオ" charset="0"/>
                      </a:endParaRPr>
                    </a:p>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吸収剤の劣化</a:t>
                      </a:r>
                      <a:endParaRPr lang="en-US" sz="24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234440">
                <a:tc>
                  <a:txBody>
                    <a:bodyPr/>
                    <a:lstStyle/>
                    <a:p>
                      <a:pPr algn="ctr" indent="0" marL="0">
                        <a:buNone/>
                      </a:pPr>
                      <a:r>
                        <a:rPr lang="ja-JP" altLang="en-US" sz="2400" b="1" dirty="0">
                          <a:solidFill>
                            <a:srgbClr val="0072B2"/>
                          </a:solidFill>
                          <a:latin typeface="メイリオ" pitchFamily="34" charset="0"/>
                          <a:ea typeface="メイリオ" pitchFamily="34" charset="-122"/>
                          <a:cs typeface="メイリオ" pitchFamily="34" charset="-120"/>
                        </a:rPr>
                        <a:t>下がる</a:t>
                      </a:r>
                      <a:endParaRPr lang="en-US" sz="24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低体温</a:t>
                      </a:r>
                      <a:endParaRPr lang="en-US" sz="24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低血圧・出血</a:t>
                      </a:r>
                      <a:endParaRPr lang="en-US" sz="2400" dirty="0">
                        <a:latin typeface="メイリオ" charset="0"/>
                        <a:ea typeface="メイリオ" charset="0"/>
                        <a:cs typeface="メイリオ" charset="0"/>
                      </a:endParaRPr>
                    </a:p>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肺塞栓・心停止</a:t>
                      </a:r>
                      <a:endParaRPr lang="en-US" sz="24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400" dirty="0">
                          <a:solidFill>
                            <a:srgbClr val="262626"/>
                          </a:solidFill>
                          <a:latin typeface="メイリオ" pitchFamily="34" charset="0"/>
                          <a:ea typeface="メイリオ" pitchFamily="34" charset="-122"/>
                          <a:cs typeface="メイリオ" pitchFamily="34" charset="-120"/>
                        </a:rPr>
                        <a:t>過換気</a:t>
                      </a:r>
                      <a:endParaRPr lang="en-US" sz="24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11" name="Text 8"/>
          <p:cNvSpPr txBox="1"/>
          <p:nvPr/>
        </p:nvSpPr>
        <p:spPr>
          <a:xfrm>
            <a:off x="502920" y="5349240"/>
            <a:ext cx="1118311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波形が消える（回路外れ・閉塞・食道挿管）は別に扱う </a:t>
            </a:r>
            <a:r>
              <a:rPr lang="ja-JP" altLang="en-US" sz="2400" b="1" dirty="0">
                <a:solidFill>
                  <a:srgbClr val="00A8AA"/>
                </a:solidFill>
                <a:latin typeface="メイリオ" pitchFamily="34" charset="0"/>
                <a:ea typeface="メイリオ" pitchFamily="34" charset="-122"/>
                <a:cs typeface="メイリオ" pitchFamily="34" charset="-120"/>
              </a:rPr>
              <a:t>→ 2-5b</a:t>
            </a:r>
            <a:endParaRPr lang="ja-JP"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チューブ位置の確認</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原理</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波形</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数値</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使い方</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Chrimes N, et al. Preventing unrecognised oesophageal intubation: a consensus guideline</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from PUMA and international airway societies. Anaesthesia 2022;77:1395-1415</a:t>
            </a:r>
            <a:endParaRPr lang="ja-JP" sz="1600" dirty="0"/>
          </a:p>
        </p:txBody>
      </p:sp>
      <p:sp>
        <p:nvSpPr>
          <p:cNvPr id="11" name="Text 9"/>
          <p:cNvSpPr/>
          <p:nvPr/>
        </p:nvSpPr>
        <p:spPr>
          <a:xfrm>
            <a:off x="502920" y="1737360"/>
            <a:ext cx="11183112" cy="731520"/>
          </a:xfrm>
          <a:prstGeom prst="roundRect">
            <a:avLst>
              <a:gd name="adj" fmla="val 10000"/>
            </a:avLst>
          </a:prstGeom>
          <a:solidFill>
            <a:srgbClr val="F2F2F2"/>
          </a:solidFill>
          <a:ln w="28575">
            <a:solidFill>
              <a:srgbClr val="C00000"/>
            </a:solidFill>
          </a:ln>
        </p:spPr>
        <p:txBody>
          <a:bodyPr wrap="square" lIns="73152" tIns="73152" rIns="73152" bIns="73152" rtlCol="0" anchor="ctr"/>
          <a:lstStyle/>
          <a:p>
            <a:pPr algn="ctr" indent="0" marL="0">
              <a:buNone/>
            </a:pPr>
            <a:r>
              <a:rPr lang="ja-JP" altLang="en-US" sz="2800" b="1" dirty="0">
                <a:solidFill>
                  <a:srgbClr val="C00000"/>
                </a:solidFill>
                <a:latin typeface="メイリオ" pitchFamily="34" charset="0"/>
                <a:ea typeface="メイリオ" pitchFamily="34" charset="-122"/>
                <a:cs typeface="メイリオ" pitchFamily="34" charset="-120"/>
              </a:rPr>
              <a:t>持続する呼気 CO2 がなければ、チューブを抜くのが原則</a:t>
            </a:r>
            <a:endParaRPr lang="ja-JP" sz="2800" dirty="0"/>
          </a:p>
        </p:txBody>
      </p:sp>
      <p:sp>
        <p:nvSpPr>
          <p:cNvPr id="12" name="Text 10"/>
          <p:cNvSpPr txBox="1"/>
          <p:nvPr/>
        </p:nvSpPr>
        <p:spPr>
          <a:xfrm>
            <a:off x="502920" y="2743200"/>
            <a:ext cx="8641080" cy="457200"/>
          </a:xfrm>
          <a:prstGeom prst="rect">
            <a:avLst/>
          </a:prstGeom>
          <a:noFill/>
          <a:ln/>
        </p:spPr>
        <p:txBody>
          <a:bodyPr wrap="square" lIns="0" tIns="0" rIns="0" bIns="0" rtlCol="0" anchor="t"/>
          <a:lstStyle/>
          <a:p>
            <a:pPr algn="l" marL="355600" indent="-355600">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呼気で上がる波形が </a:t>
            </a:r>
            <a:r>
              <a:rPr lang="ja-JP" altLang="en-US" sz="2400" b="1" dirty="0">
                <a:solidFill>
                  <a:srgbClr val="D55E00"/>
                </a:solidFill>
                <a:latin typeface="メイリオ" pitchFamily="34" charset="0"/>
                <a:ea typeface="メイリオ" pitchFamily="34" charset="-122"/>
                <a:cs typeface="メイリオ" pitchFamily="34" charset="-120"/>
              </a:rPr>
              <a:t>7 呼吸以上</a:t>
            </a:r>
            <a:r>
              <a:rPr lang="ja-JP" altLang="en-US" sz="2400" dirty="0">
                <a:solidFill>
                  <a:srgbClr val="262626"/>
                </a:solidFill>
                <a:latin typeface="メイリオ" pitchFamily="34" charset="0"/>
                <a:ea typeface="メイリオ" pitchFamily="34" charset="-122"/>
                <a:cs typeface="メイリオ" pitchFamily="34" charset="-120"/>
              </a:rPr>
              <a:t>、小さくならずに続く</a:t>
            </a:r>
            <a:endParaRPr lang="ja-JP" sz="2400" dirty="0"/>
          </a:p>
        </p:txBody>
      </p:sp>
      <p:sp>
        <p:nvSpPr>
          <p:cNvPr id="13" name="Text 11"/>
          <p:cNvSpPr txBox="1"/>
          <p:nvPr/>
        </p:nvSpPr>
        <p:spPr>
          <a:xfrm>
            <a:off x="502920" y="3310128"/>
            <a:ext cx="8641080" cy="457200"/>
          </a:xfrm>
          <a:prstGeom prst="rect">
            <a:avLst/>
          </a:prstGeom>
          <a:noFill/>
          <a:ln/>
        </p:spPr>
        <p:txBody>
          <a:bodyPr wrap="square" lIns="0" tIns="0" rIns="0" bIns="0" rtlCol="0" anchor="t"/>
          <a:lstStyle/>
          <a:p>
            <a:pPr algn="l" marL="355600" indent="-355600">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ピークが基線より </a:t>
            </a:r>
            <a:r>
              <a:rPr lang="ja-JP" altLang="en-US" sz="2400" b="1" dirty="0">
                <a:solidFill>
                  <a:srgbClr val="D55E00"/>
                </a:solidFill>
                <a:latin typeface="メイリオ" pitchFamily="34" charset="0"/>
                <a:ea typeface="メイリオ" pitchFamily="34" charset="-122"/>
                <a:cs typeface="メイリオ" pitchFamily="34" charset="-120"/>
              </a:rPr>
              <a:t>7.5 mmHg（1 kPa）</a:t>
            </a:r>
            <a:r>
              <a:rPr lang="ja-JP" altLang="en-US" sz="2400" dirty="0">
                <a:solidFill>
                  <a:srgbClr val="262626"/>
                </a:solidFill>
                <a:latin typeface="メイリオ" pitchFamily="34" charset="0"/>
                <a:ea typeface="メイリオ" pitchFamily="34" charset="-122"/>
                <a:cs typeface="メイリオ" pitchFamily="34" charset="-120"/>
              </a:rPr>
              <a:t>を超える</a:t>
            </a:r>
            <a:endParaRPr lang="ja-JP" sz="2400" dirty="0"/>
          </a:p>
        </p:txBody>
      </p:sp>
      <p:sp>
        <p:nvSpPr>
          <p:cNvPr id="14" name="Text 12"/>
          <p:cNvSpPr txBox="1"/>
          <p:nvPr/>
        </p:nvSpPr>
        <p:spPr>
          <a:xfrm>
            <a:off x="502920" y="3877056"/>
            <a:ext cx="8641080" cy="457200"/>
          </a:xfrm>
          <a:prstGeom prst="rect">
            <a:avLst/>
          </a:prstGeom>
          <a:noFill/>
          <a:ln/>
        </p:spPr>
        <p:txBody>
          <a:bodyPr wrap="square" lIns="0" tIns="0" rIns="0" bIns="0" rtlCol="0" anchor="t"/>
          <a:lstStyle/>
          <a:p>
            <a:pPr algn="l" marL="355600" indent="-355600">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SpO2 は遅れて下がる。待たない</a:t>
            </a:r>
            <a:endParaRPr lang="ja-JP" sz="2400" dirty="0"/>
          </a:p>
        </p:txBody>
      </p:sp>
      <p:sp>
        <p:nvSpPr>
          <p:cNvPr id="15" name="Text 13"/>
          <p:cNvSpPr txBox="1"/>
          <p:nvPr/>
        </p:nvSpPr>
        <p:spPr>
          <a:xfrm>
            <a:off x="502920" y="4443984"/>
            <a:ext cx="8641080" cy="457200"/>
          </a:xfrm>
          <a:prstGeom prst="rect">
            <a:avLst/>
          </a:prstGeom>
          <a:noFill/>
          <a:ln/>
        </p:spPr>
        <p:txBody>
          <a:bodyPr wrap="square" lIns="0" tIns="0" rIns="0" bIns="0" rtlCol="0" anchor="t"/>
          <a:lstStyle/>
          <a:p>
            <a:pPr algn="l" marL="355600" indent="-355600">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胃に入った CO2 は低く、数呼吸で消える</a:t>
            </a:r>
            <a:endParaRPr lang="ja-JP" sz="2400" dirty="0"/>
          </a:p>
        </p:txBody>
      </p:sp>
      <p:sp>
        <p:nvSpPr>
          <p:cNvPr id="16" name="Text 14"/>
          <p:cNvSpPr txBox="1"/>
          <p:nvPr/>
        </p:nvSpPr>
        <p:spPr>
          <a:xfrm>
            <a:off x="502920" y="5010912"/>
            <a:ext cx="8403336" cy="457200"/>
          </a:xfrm>
          <a:prstGeom prst="rect">
            <a:avLst/>
          </a:prstGeom>
          <a:noFill/>
          <a:ln/>
        </p:spPr>
        <p:txBody>
          <a:bodyPr wrap="square" lIns="0" tIns="0" rIns="0" bIns="0" rtlCol="0" anchor="t"/>
          <a:lstStyle/>
          <a:p>
            <a:pPr algn="l" marL="355600" indent="-355600">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平坦なら、回路外れ・閉塞も同時に確認する</a:t>
            </a:r>
            <a:endParaRPr lang="ja-JP" sz="2400" dirty="0"/>
          </a:p>
        </p:txBody>
      </p:sp>
      <p:sp>
        <p:nvSpPr>
          <p:cNvPr id="17" name="Text 15"/>
          <p:cNvSpPr txBox="1"/>
          <p:nvPr/>
        </p:nvSpPr>
        <p:spPr>
          <a:xfrm>
            <a:off x="9125712" y="5010912"/>
            <a:ext cx="2560320" cy="457200"/>
          </a:xfrm>
          <a:prstGeom prst="rect">
            <a:avLst/>
          </a:prstGeom>
          <a:noFill/>
          <a:ln/>
        </p:spPr>
        <p:txBody>
          <a:bodyPr wrap="square" lIns="0" tIns="0" rIns="0" bIns="0" rtlCol="0" anchor="t"/>
          <a:lstStyle/>
          <a:p>
            <a:pPr algn="r" indent="0" marL="0">
              <a:buNone/>
            </a:pPr>
            <a:r>
              <a:rPr lang="ja-JP" altLang="en-US" sz="2400" b="1" dirty="0">
                <a:solidFill>
                  <a:srgbClr val="00A8AA"/>
                </a:solidFill>
                <a:latin typeface="メイリオ" pitchFamily="34" charset="0"/>
                <a:ea typeface="メイリオ" pitchFamily="34" charset="-122"/>
                <a:cs typeface="メイリオ" pitchFamily="34" charset="-120"/>
              </a:rPr>
              <a:t>→ 7-5 で詳しく</a:t>
            </a:r>
            <a:endParaRPr lang="ja-JP"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手術室の外での使い方</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原理</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波形</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数値</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使い方</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Part 9: Adult Advanced Life Support: 2025 AHA Guidelines for CPR and ECC. Circulation</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2025 (doi:10.1161/CIR.0000000000001376) / AHA Adult Cardiac Arrest Algorithm (2020)</a:t>
            </a:r>
            <a:endParaRPr lang="ja-JP" sz="1600" dirty="0"/>
          </a:p>
        </p:txBody>
      </p:sp>
      <p:sp>
        <p:nvSpPr>
          <p:cNvPr id="11" name="Shape 9"/>
          <p:cNvSpPr/>
          <p:nvPr/>
        </p:nvSpPr>
        <p:spPr>
          <a:xfrm>
            <a:off x="502920" y="1965960"/>
            <a:ext cx="3544824" cy="3383280"/>
          </a:xfrm>
          <a:prstGeom prst="roundRect">
            <a:avLst>
              <a:gd name="adj" fmla="val 2162"/>
            </a:avLst>
          </a:prstGeom>
          <a:solidFill>
            <a:srgbClr val="F2F2F2"/>
          </a:solidFill>
          <a:ln/>
        </p:spPr>
      </p:sp>
      <p:sp>
        <p:nvSpPr>
          <p:cNvPr id="12" name="Text 10"/>
          <p:cNvSpPr txBox="1"/>
          <p:nvPr/>
        </p:nvSpPr>
        <p:spPr>
          <a:xfrm>
            <a:off x="640080" y="2103120"/>
            <a:ext cx="3270504"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心肺蘇生</a:t>
            </a:r>
            <a:endParaRPr lang="ja-JP" sz="2400" dirty="0"/>
          </a:p>
        </p:txBody>
      </p:sp>
      <p:sp>
        <p:nvSpPr>
          <p:cNvPr id="13" name="Text 11"/>
          <p:cNvSpPr txBox="1"/>
          <p:nvPr/>
        </p:nvSpPr>
        <p:spPr>
          <a:xfrm>
            <a:off x="640080" y="2688336"/>
            <a:ext cx="327050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胸骨圧迫の質を映す</a:t>
            </a:r>
            <a:endParaRPr lang="ja-JP" sz="2200" dirty="0"/>
          </a:p>
        </p:txBody>
      </p:sp>
      <p:sp>
        <p:nvSpPr>
          <p:cNvPr id="14" name="Text 12"/>
          <p:cNvSpPr txBox="1"/>
          <p:nvPr/>
        </p:nvSpPr>
        <p:spPr>
          <a:xfrm>
            <a:off x="640080" y="3291840"/>
            <a:ext cx="3270504"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低い・下がる</a:t>
            </a:r>
            <a:endParaRPr lang="ja-JP" sz="2200" dirty="0"/>
          </a:p>
          <a:p>
            <a:pPr algn="l" indent="0" marL="0">
              <a:buNone/>
            </a:pPr>
            <a:r>
              <a:rPr lang="ja-JP" altLang="en-US" sz="2200" b="1" dirty="0">
                <a:solidFill>
                  <a:srgbClr val="D55E00"/>
                </a:solidFill>
                <a:latin typeface="メイリオ" pitchFamily="34" charset="0"/>
                <a:ea typeface="メイリオ" pitchFamily="34" charset="-122"/>
                <a:cs typeface="メイリオ" pitchFamily="34" charset="-120"/>
              </a:rPr>
              <a:t>→ 圧迫を見直す</a:t>
            </a:r>
            <a:endParaRPr lang="ja-JP" sz="2200" dirty="0"/>
          </a:p>
        </p:txBody>
      </p:sp>
      <p:sp>
        <p:nvSpPr>
          <p:cNvPr id="15" name="Text 13"/>
          <p:cNvSpPr txBox="1"/>
          <p:nvPr/>
        </p:nvSpPr>
        <p:spPr>
          <a:xfrm>
            <a:off x="640080" y="4315968"/>
            <a:ext cx="3270504"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急に上がって続く</a:t>
            </a:r>
            <a:endParaRPr lang="ja-JP" sz="2200" dirty="0"/>
          </a:p>
          <a:p>
            <a:pPr algn="l" indent="0" marL="0">
              <a:buNone/>
            </a:pPr>
            <a:r>
              <a:rPr lang="ja-JP" altLang="en-US" sz="2200" b="1" dirty="0">
                <a:solidFill>
                  <a:srgbClr val="00A8AA"/>
                </a:solidFill>
                <a:latin typeface="メイリオ" pitchFamily="34" charset="0"/>
                <a:ea typeface="メイリオ" pitchFamily="34" charset="-122"/>
                <a:cs typeface="メイリオ" pitchFamily="34" charset="-120"/>
              </a:rPr>
              <a:t>→ 自己心拍再開</a:t>
            </a:r>
            <a:endParaRPr lang="ja-JP" sz="2200" dirty="0"/>
          </a:p>
        </p:txBody>
      </p:sp>
      <p:sp>
        <p:nvSpPr>
          <p:cNvPr id="16" name="Shape 14"/>
          <p:cNvSpPr/>
          <p:nvPr/>
        </p:nvSpPr>
        <p:spPr>
          <a:xfrm>
            <a:off x="4322064" y="1965960"/>
            <a:ext cx="3544824" cy="3383280"/>
          </a:xfrm>
          <a:prstGeom prst="roundRect">
            <a:avLst>
              <a:gd name="adj" fmla="val 2162"/>
            </a:avLst>
          </a:prstGeom>
          <a:solidFill>
            <a:srgbClr val="F2F2F2"/>
          </a:solidFill>
          <a:ln/>
        </p:spPr>
      </p:sp>
      <p:sp>
        <p:nvSpPr>
          <p:cNvPr id="17" name="Text 15"/>
          <p:cNvSpPr txBox="1"/>
          <p:nvPr/>
        </p:nvSpPr>
        <p:spPr>
          <a:xfrm>
            <a:off x="4459224" y="2103120"/>
            <a:ext cx="3270504"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鎮静・搬送</a:t>
            </a:r>
            <a:endParaRPr lang="ja-JP" sz="2400" dirty="0"/>
          </a:p>
        </p:txBody>
      </p:sp>
      <p:sp>
        <p:nvSpPr>
          <p:cNvPr id="18" name="Text 16"/>
          <p:cNvSpPr txBox="1"/>
          <p:nvPr/>
        </p:nvSpPr>
        <p:spPr>
          <a:xfrm>
            <a:off x="4459224" y="3346704"/>
            <a:ext cx="327050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無呼吸をすぐ検出</a:t>
            </a:r>
            <a:endParaRPr lang="ja-JP" sz="2200" dirty="0"/>
          </a:p>
        </p:txBody>
      </p:sp>
      <p:sp>
        <p:nvSpPr>
          <p:cNvPr id="19" name="Text 17"/>
          <p:cNvSpPr txBox="1"/>
          <p:nvPr/>
        </p:nvSpPr>
        <p:spPr>
          <a:xfrm>
            <a:off x="4459224" y="4133088"/>
            <a:ext cx="327050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SpO2 より早い</a:t>
            </a:r>
            <a:endParaRPr lang="ja-JP" sz="2200" dirty="0"/>
          </a:p>
        </p:txBody>
      </p:sp>
      <p:sp>
        <p:nvSpPr>
          <p:cNvPr id="20" name="Shape 18"/>
          <p:cNvSpPr/>
          <p:nvPr/>
        </p:nvSpPr>
        <p:spPr>
          <a:xfrm>
            <a:off x="8141208" y="1965960"/>
            <a:ext cx="3544824" cy="3383280"/>
          </a:xfrm>
          <a:prstGeom prst="roundRect">
            <a:avLst>
              <a:gd name="adj" fmla="val 2162"/>
            </a:avLst>
          </a:prstGeom>
          <a:solidFill>
            <a:srgbClr val="F2F2F2"/>
          </a:solidFill>
          <a:ln/>
        </p:spPr>
      </p:sp>
      <p:sp>
        <p:nvSpPr>
          <p:cNvPr id="21" name="Text 19"/>
          <p:cNvSpPr txBox="1"/>
          <p:nvPr/>
        </p:nvSpPr>
        <p:spPr>
          <a:xfrm>
            <a:off x="8278368" y="2103120"/>
            <a:ext cx="3270504" cy="457200"/>
          </a:xfrm>
          <a:prstGeom prst="rect">
            <a:avLst/>
          </a:prstGeom>
          <a:noFill/>
          <a:ln/>
        </p:spPr>
        <p:txBody>
          <a:bodyPr wrap="square" lIns="0" tIns="0" rIns="0" bIns="0" rtlCol="0" anchor="t"/>
          <a:lstStyle/>
          <a:p>
            <a:pPr algn="l" indent="0" marL="0">
              <a:buNone/>
            </a:pPr>
            <a:r>
              <a:rPr lang="ja-JP" altLang="en-US" sz="2400" b="1" dirty="0">
                <a:solidFill>
                  <a:srgbClr val="00A8AA"/>
                </a:solidFill>
                <a:latin typeface="メイリオ" pitchFamily="34" charset="0"/>
                <a:ea typeface="メイリオ" pitchFamily="34" charset="-122"/>
                <a:cs typeface="メイリオ" pitchFamily="34" charset="-120"/>
              </a:rPr>
              <a:t>挿管患者</a:t>
            </a:r>
            <a:endParaRPr lang="ja-JP" sz="2400" dirty="0"/>
          </a:p>
        </p:txBody>
      </p:sp>
      <p:sp>
        <p:nvSpPr>
          <p:cNvPr id="22" name="Text 20"/>
          <p:cNvSpPr txBox="1"/>
          <p:nvPr/>
        </p:nvSpPr>
        <p:spPr>
          <a:xfrm>
            <a:off x="8278368" y="3346704"/>
            <a:ext cx="327050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搬送中もつける</a:t>
            </a:r>
            <a:endParaRPr lang="ja-JP" sz="2200" dirty="0"/>
          </a:p>
        </p:txBody>
      </p:sp>
      <p:sp>
        <p:nvSpPr>
          <p:cNvPr id="23" name="Text 21"/>
          <p:cNvSpPr txBox="1"/>
          <p:nvPr/>
        </p:nvSpPr>
        <p:spPr>
          <a:xfrm>
            <a:off x="8278368" y="4133088"/>
            <a:ext cx="327050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事故抜管の検出</a:t>
            </a:r>
            <a:endParaRPr lang="ja-JP"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原理</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波形</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数値</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使い方</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8</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Kodali BS. Anesthesiology 2013;118:192-201 / Chrimes N, et al. Anaesthesia</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2022;77:1395-1415 / 日本麻酔科学会「安全な麻酔のためのモニター指針」（2025年8月改訂）</a:t>
            </a:r>
            <a:endParaRPr lang="ja-JP" sz="1600" dirty="0"/>
          </a:p>
        </p:txBody>
      </p:sp>
      <p:sp>
        <p:nvSpPr>
          <p:cNvPr id="11" name="Text 9"/>
          <p:cNvSpPr txBox="1"/>
          <p:nvPr/>
        </p:nvSpPr>
        <p:spPr>
          <a:xfrm>
            <a:off x="502920" y="1828800"/>
            <a:ext cx="11155680" cy="3483864"/>
          </a:xfrm>
          <a:prstGeom prst="rect">
            <a:avLst/>
          </a:prstGeom>
          <a:noFill/>
          <a:ln/>
        </p:spPr>
        <p:txBody>
          <a:bodyPr wrap="square" lIns="0" tIns="0" rIns="0" bIns="0" rtlCol="0" anchor="t"/>
          <a:lstStyle/>
          <a:p>
            <a:pPr algn="l" marL="406400" indent="-406400">
              <a:spcAft>
                <a:spcPts val="16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CO2 は代謝→循環→換気の流れを映す</a:t>
            </a:r>
            <a:endParaRPr lang="ja-JP" sz="2800" dirty="0"/>
          </a:p>
          <a:p>
            <a:pPr algn="l" marL="406400" indent="-406400">
              <a:spcAft>
                <a:spcPts val="16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4つの相：死腔 → 混合 → 肺胞プラトー → 吸気</a:t>
            </a:r>
            <a:endParaRPr lang="ja-JP" sz="2800" dirty="0"/>
          </a:p>
          <a:p>
            <a:pPr algn="l" marL="406400" indent="-406400">
              <a:spcAft>
                <a:spcPts val="16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正常は </a:t>
            </a:r>
            <a:r>
              <a:rPr lang="ja-JP" altLang="en-US" sz="2800" b="1" dirty="0">
                <a:solidFill>
                  <a:srgbClr val="00A8AA"/>
                </a:solidFill>
                <a:latin typeface="メイリオ" pitchFamily="34" charset="0"/>
                <a:ea typeface="メイリオ" pitchFamily="34" charset="-122"/>
                <a:cs typeface="メイリオ" pitchFamily="34" charset="-120"/>
              </a:rPr>
              <a:t>35–45 mmHg</a:t>
            </a:r>
            <a:r>
              <a:rPr lang="ja-JP" altLang="en-US" sz="2800" dirty="0">
                <a:solidFill>
                  <a:srgbClr val="262626"/>
                </a:solidFill>
                <a:latin typeface="メイリオ" pitchFamily="34" charset="0"/>
                <a:ea typeface="メイリオ" pitchFamily="34" charset="-122"/>
                <a:cs typeface="メイリオ" pitchFamily="34" charset="-120"/>
              </a:rPr>
              <a:t>、PaCO2 より 2〜5 mmHg 低い</a:t>
            </a:r>
            <a:endParaRPr lang="ja-JP" sz="2800" dirty="0"/>
          </a:p>
          <a:p>
            <a:pPr algn="l" marL="406400" indent="-406400">
              <a:spcAft>
                <a:spcPts val="16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持続する呼気 CO2 がなければ、</a:t>
            </a:r>
            <a:r>
              <a:rPr lang="ja-JP" altLang="en-US" sz="2800" b="1" dirty="0">
                <a:solidFill>
                  <a:srgbClr val="C00000"/>
                </a:solidFill>
                <a:latin typeface="メイリオ" pitchFamily="34" charset="0"/>
                <a:ea typeface="メイリオ" pitchFamily="34" charset="-122"/>
                <a:cs typeface="メイリオ" pitchFamily="34" charset="-120"/>
              </a:rPr>
              <a:t>気管内と見なさない</a:t>
            </a:r>
            <a:endParaRPr lang="ja-JP" sz="2800" dirty="0"/>
          </a:p>
          <a:p>
            <a:pPr algn="l" marL="406400" indent="-406400">
              <a:spcAft>
                <a:spcPts val="16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蘇生でも鎮静でも搬送でも使う</a:t>
            </a:r>
            <a:endParaRPr lang="ja-JP"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2-5a カプノグラフィ①：原理と正常波形</dc:title>
  <dc:subject/>
  <dc:creator>Anes-lecture</dc:creator>
  <cp:lastModifiedBy>Anes-lecture</cp:lastModifiedBy>
  <cp:revision>1</cp:revision>
  <dcterms:created xsi:type="dcterms:W3CDTF">2026-10-14T00:26:26Z</dcterms:created>
  <dcterms:modified xsi:type="dcterms:W3CDTF">2026-10-14T00:26:26Z</dcterms:modified>
</cp:coreProperties>
</file>