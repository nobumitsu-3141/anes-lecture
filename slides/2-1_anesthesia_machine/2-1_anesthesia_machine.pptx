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麻酔器は「酸素と麻酔ガスを決まった濃度と流量で患者に送り、呼気を処理して戻す」装置である。この回では、ガスが配管やボンベから患者に届くまでの流れを、高圧部・中圧部・低圧部の順にたどり、各部の役割と安全装置を扱う。実際に麻酔器の前で確認する手順は 2-2（始業点検）で行う。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ガスの流れ: ボンベ（高圧部。酸素ボンベは満充填で約 14.7 MPa）または医療ガス配管（中圧部。約 0.4 MPa）から麻酔器に入り、圧力調整器で一定の圧にそろえられ、流量計で流量を決め、気化器で揮発性麻酔薬を加え、共通ガス出口から呼吸回路に入り、患者に届く。</a:t>
            </a:r>
          </a:p>
          <a:p>
            <a:r>
              <a:rPr lang="ja-JP" altLang="en-US" dirty="0"/>
              <a:t>区分: 高圧部はボンベからその圧力調整器まで。中圧部は配管入口や調整器の出口から流量計の調節弁まで（約 0.4 MPa）。低圧部は流量計の調節弁から共通ガス出口まで（ほぼ大気圧に近い）。低圧部は圧が低いので、気化器の装着部の緩みや亀裂などの漏れが起きても気づきにくい。始業点検でリークテストをする理由がここにある。</a:t>
            </a:r>
          </a:p>
          <a:p>
            <a:r>
              <a:rPr lang="ja-JP" altLang="en-US" dirty="0"/>
              <a:t>酸素フラッシュ: 流量計と気化器を通らず、共通ガス出口に直接高流量（35〜75 L/分）の酸素を送る。麻酔薬の濃度が薄まること、人工呼吸中に押すと回路の圧が上がりうることに注意する。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配管: 病院の中央供給から医療ガス配管で手術室の端末に届く。供給圧は酸素で 392 ± 49 kPa（約 0.4 MPa）が目安で、亜酸化窒素と空気は酸素より 30 kPa 低い（日本麻酔科学会「麻酔器の始業点検」の記載）。端末の識別色は JIS T 7101:2020 で決まっており、酸素は緑、亜酸化窒素は青、治療用空気は黄、吸引は黒、二酸化炭素はだいだい。端末と麻酔器のホースはガスごとに形が違い（ピン方式などの誤接続防止）、互いに挿せない。</a:t>
            </a:r>
          </a:p>
          <a:p>
            <a:r>
              <a:rPr lang="ja-JP" altLang="en-US" dirty="0"/>
              <a:t>ボンベ: 配管が止まったときの予備。始業点検では補助の酸素ボンベの圧が 5 MPa 以上あることを確認する（→ 2-2）。ボンベの塗色は高圧ガス保安法の容器保安規則（第10条）で決まり、酸素は黒、液化炭酸ガス（二酸化炭素）は緑。亜酸化窒素と空気は「その他の高圧ガス」としてねずみ色になる。配管の識別色（酸素＝緑）とボンベの塗色（酸素＝黒、二酸化炭素＝緑）は別の決まりで決まっていて、色が食い違う。手術室には気腹用の二酸化炭素ボンベ（緑）もあり、酸素ボンベと取り違えた事故が報告されている。色だけで判断せず、ボンベのラベル（ガス名）を読んで確かめる【要確認: 取り違え防止を求める厚生労働省の通知（平成23年7月25日 医政総発0725第3号・薬食安発0725第1号）と PMDA 医療安全情報 No.13 の原文】。ボンベの残量は、酸素では圧力に比例する（内容積 3.4 L × 14.7 MPa ÷ 約 0.1 MPa（1 気圧）≒ 500 L。残量(L) ≒ 500 × 圧力計の値(MPa) ÷ 14.7）。亜酸化窒素は液体で入っているので、液がなくなるまで圧は下がらず、圧力計では残量が分からない。残量はボンベの重さで見る。</a:t>
            </a:r>
          </a:p>
          <a:p>
            <a:r>
              <a:rPr lang="ja-JP" altLang="en-US" dirty="0"/>
              <a:t>ピンインデックス: ボンベの取り付け部（ヨーク）とボンベのピンの配置がガスごとに違い、別のガスのボンベを付けられない。ワッシャーを2枚重ねると効かなくなることがある。</a:t>
            </a:r>
          </a:p>
          <a:p>
            <a:r>
              <a:rPr lang="ja-JP" altLang="en-US" dirty="0"/>
              <a:t>吸引と余剰ガス: 吸引器は吸引の端末（黒）につなぐ。余剰麻酔ガス排除装置は、呼気弁や APL 弁から出た余りのガスを手術室の外に出す（→ S9）。</a:t>
            </a:r>
          </a:p>
          <a:p>
            <a:r>
              <a:rPr lang="ja-JP" altLang="en-US" dirty="0"/>
              <a:t>出典（全文）: 日本麻酔科学会「麻酔器の始業点検」（2022年10月改訂第6版3） / JIS T 7101:2020 医療ガス設備 / 容器保安規則 第10条 / 厚生労働省「医療ガスの安全管理について」（医政発0817第6号、令和2年8月17日、令和3年12月16日一部改正）</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流量計: ガスごとに流量計（機械式の浮き子、または電子式）がある。酸素の流量計を合流部の最も下流に置くのは、上流の流量計に亀裂があっても酸素が優先して患者側に届くようにするためである。</a:t>
            </a:r>
          </a:p>
          <a:p>
            <a:r>
              <a:rPr lang="ja-JP" altLang="en-US" dirty="0"/>
              <a:t>低酸素防止装置: 亜酸化窒素と酸素の流量比を機械的または電子的に制限し、新鮮ガスの酸素濃度が一定以下にならないようにする（多くの機種で約 25%。米国の規格 ASTM F1850 が求める下限は 21%。機種ごとの値は添付文書で確認する）。これは新鮮ガスの濃度で、吸気の酸素濃度は保証しない。低流量では患者の酸素消費により、吸気の酸素濃度が 21% を下回ることがある（De Cooman 2015）。空気と酸素の組み合わせ、配管の取り違え、流量計の故障にも効かない。酸素濃度計で実際の吸気酸素濃度を見ることが最終の守りになる。</a:t>
            </a:r>
          </a:p>
          <a:p>
            <a:r>
              <a:rPr lang="ja-JP" altLang="en-US" dirty="0"/>
              <a:t>フェイルセーフ: 酸素の供給圧が下がると、亜酸化窒素の供給が止まり（または減り）、アラームが鳴る。これは「圧」を見ている装置なので、配管の取り違えで別のガスが酸素の圧で来ている場合には働かない。</a:t>
            </a:r>
          </a:p>
          <a:p>
            <a:r>
              <a:rPr lang="ja-JP" altLang="en-US" dirty="0"/>
              <a:t>酸素フラッシュ: 流量計と気化器を通らずに、共通ガス出口へ 35〜75 L/分の酸素を送る。回路を急いで満たすとき、リークテストに使う。麻酔中に押すと吸入麻酔薬の濃度が薄まる。人工呼吸の吸気中に押すと回路内圧が上がり、圧外傷の原因になりうる。</a:t>
            </a:r>
          </a:p>
          <a:p>
            <a:r>
              <a:rPr lang="ja-JP" altLang="en-US" dirty="0"/>
              <a:t>出典（全文）: 日本麻酔科学会「麻酔器の始業点検」（2022年10月改訂第6版3） / Subrahmanyam M, Mohan S. Indian J Anaesth 2013;57:472-480 / De Cooman S, et al. J Clin Monit Comput 2015;29:491-497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可変バイパス型: 新鮮ガスの一部を気化室（液体の麻酔薬の上）に通して飽和させ、残りのガス（バイパス）と混ぜて出す。ダイヤルで気化室に通す割合を決め、濃度を設定する。薬ごとに蒸気圧が違うので、気化器は薬剤専用で、充填口と容器は色分けされている（国際的な色分けで、セボフルランは黄、イソフルランは紫、デスフルランは青【要確認: ISO 5360 の規格本文】）。温度が下がると蒸気圧が下がるので、温度補正の機構がある。</a:t>
            </a:r>
          </a:p>
          <a:p>
            <a:r>
              <a:rPr lang="ja-JP" altLang="en-US" dirty="0"/>
              <a:t>デスフルラン: 沸点が約 22.8 ℃と室温に近く、蒸気圧が高いため、通常の可変バイパス型では濃度が安定しない。専用の気化器（Tec 6 など）は薬の容器を電気で約 39 ℃（機種により約 40 ℃）に加温し、約 2 気圧（約 200 kPa）の飽和蒸気にして、新鮮ガスの流量に比例した量を加える。電源が要り、使う前に温まるのを待つ必要がある。</a:t>
            </a:r>
          </a:p>
          <a:p>
            <a:r>
              <a:rPr lang="ja-JP" altLang="en-US" dirty="0"/>
              <a:t>取り扱い: 気化器を傾けると液がバイパス側に入り、高濃度の蒸気が出ることがある（傾けたあとは、ダイヤルを低濃度にして高流量でしばらく流す。時間は機種の説明書に従う）。複数の気化器は、同時に開けられないようインターロックがかかっている。薬を間違えて充填すると、濃度が過量にも過少にもなる。薬ごとの専用の充填口でも誤充填は起こりうるので、呼気の麻酔薬濃度モニターで確かめる。残量と充填口の色を毎朝確認する。</a:t>
            </a:r>
          </a:p>
          <a:p>
            <a:r>
              <a:rPr lang="ja-JP" altLang="en-US" dirty="0"/>
              <a:t>出典（全文）: Chakravarti S, Basu S. Indian J Anaesth 2013;57:464-471 / Kapoor MC, Vakamudi M. J Anaesthesiol Clin Pharmacol 2012;28:92-100 / 日本麻酔科学会「麻酔器の始業点検」（2022年10月改訂第6版3）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循環式回路: 新鮮ガスが入り、吸気弁を通って患者に届き、呼気は呼気弁を通ってバッグ（または人工呼吸器）側に戻り、CO2 吸収缶で二酸化炭素を除かれて、再び吸気側に回る。一方弁（吸気弁・呼気弁）が流れの向きを決め、呼気を直接吸い直さないようにしている。弁が固着すると再呼吸が起こり、EtCO2 の基線が上がる（→ 2-5b）。</a:t>
            </a:r>
          </a:p>
          <a:p>
            <a:r>
              <a:rPr lang="ja-JP" altLang="en-US" dirty="0"/>
              <a:t>APL 弁（adjustable pressure-limiting valve: 圧調整弁）: 用手換気のとき、バッグを押して余った圧を逃がす弁。閉めすぎると回路内圧が上がり続け、開けすぎるとバッグが膨らまない。人工呼吸器に切り替えると APL 弁は回路から外れ、呼吸器側の圧の上限設定が働く。</a:t>
            </a:r>
          </a:p>
          <a:p>
            <a:r>
              <a:rPr lang="ja-JP" altLang="en-US" dirty="0"/>
              <a:t>バッグと人工呼吸器: 切り替えスイッチでどちらかを選ぶ。導入時はバッグで用手換気し、挿管後に人工呼吸器へ切り替える。切り替え忘れ（呼吸器に切り替えたつもりでバッグのまま）は換気が止まる原因になるので、切り替えたら胸の動きと EtCO2 を見る。</a:t>
            </a:r>
          </a:p>
          <a:p>
            <a:r>
              <a:rPr lang="ja-JP" altLang="en-US" dirty="0"/>
              <a:t>その他の部品: 加温加湿器または人工鼻、ガスサンプリングポート、気道内圧計、呼気量計。回路の各接続部は漏れやすいので、組み立てたらリークテストをする（→ 2-2）。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働き: 吸収剤（ソーダライムなど。主成分は水酸化カルシウム）が呼気の CO2 と反応して炭酸カルシウムになる。消耗すると指示薬の色が変わる（製品により紫などに）。ただし色は当てにならないことがある。交換の目安は製品の説明書に従い、色にかかわらず EtCO2 の基線（吸気 CO2）が 0 に戻らなければ交換する。</a:t>
            </a:r>
          </a:p>
          <a:p>
            <a:r>
              <a:rPr lang="ja-JP" altLang="en-US" dirty="0"/>
              <a:t>落とし穴: 吸収剤が乾燥すると（週末に新鮮ガスを流しっぱなしにした、など）、揮発性麻酔薬が分解して一酸化炭素（CO）ができることがある（デスフルランで最も多く、イソフルランでもできる。セボフルランでは少ない）。セボフルランは乾燥した吸収剤と反応すると強く発熱し、回路の中で火が出た報告もある。コンパウンド A は、セボフルランと強塩基を含む吸収剤から、乾燥していなくてもでき、低流量・長時間・高濃度で増える（→ S8）。水酸化ナトリウムや水酸化カリウムなどの強塩基を含まない製剤では、CO もコンパウンド A もほとんどできない。乾燥が疑われる吸収剤は使わずに交換する。指示薬の色は時間がたつと戻ることがあるので、色だけでなく使用時間でも管理する。</a:t>
            </a:r>
          </a:p>
          <a:p>
            <a:r>
              <a:rPr lang="ja-JP" altLang="en-US" dirty="0"/>
              <a:t>交換: EtCO2 の基線が 0 に戻らなくなったら（再呼吸）、交換する。交換のあとは缶の接続部から漏れやすいので、リークテストをする。離島では在庫が限られるので、交換日と在庫を記録しておく。</a:t>
            </a:r>
          </a:p>
          <a:p>
            <a:r>
              <a:rPr lang="ja-JP" altLang="en-US" dirty="0"/>
              <a:t>出典（全文）: Fang ZX, et al. Anesth Analg 1995;80:1187-1193 / Kharasch ED, et al. Anesthesiology 2002;96:173-182 / Laster M, et al. Anesth Analg 2004;99:769-774 / Parthasarathy S. Indian J Anaesth 2013;57:516-524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新鮮ガス流量: 新鮮ガスの流量が患者の分時換気量より多いと、呼気のほとんどは捨てられ、吸入ガスは新鮮ガスとほぼ同じ組成になる。流量が少ないと、呼気（CO2 を除いた）が再利用される割合が増え、吸入ガスの組成は新鮮ガスの設定とずれる。酸素は患者が消費するので、低流量では吸入酸素濃度が設定より下がりうる。だから酸素濃度計と、呼気の麻酔薬濃度を見て調節する。</a:t>
            </a:r>
          </a:p>
          <a:p>
            <a:r>
              <a:rPr lang="ja-JP" altLang="en-US" dirty="0"/>
              <a:t>低流量麻酔: 新鮮ガス流量を 1 L/分 以下程度に下げる方法（定義は資料により異なる）。揮発性麻酔薬の消費が減り、回路内のガスが温かく湿るので気道の乾燥が減り、大気に出る麻酔ガスも減る。欠点は、設定と実際の濃度のずれが大きくなること、濃度の変化に時間がかかること、CO2 吸収剤の消耗が早いこと、セボフルランではコンパウンド A が増えること（→ S7）。セボフルランの添付文書には低流量での使用に関する注意がある【要確認: 国内添付文書の記載（新鮮ガス流量と時間の条件）】。導入直後や覚醒時は高流量にして、素早く濃度を変える。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酸素濃度計: 低酸素防止装置やフェイルセーフは「設定」や「圧」を見ているだけで、実際に患者に届く酸素濃度は酸素濃度計でしか分からない。配管の取り違え、流量計の故障、低流量での酸素の消費など、すべての最終的な守りになる。低流量では、低酸素防止装置が働いていても吸気の酸素濃度が 21% を下回りうる（De Cooman 2015）。アラームの下限を設定する。日本麻酔科学会の始業点検は、セルフチェック機構を持たない麻酔器を対象にしており、セルフチェック機構のある機種はその手順に準じて点検する（→ 2-2）。</a:t>
            </a:r>
          </a:p>
          <a:p>
            <a:r>
              <a:rPr lang="ja-JP" altLang="en-US" dirty="0"/>
              <a:t>アラーム: 気道内圧の上限（閉塞）と下限（回路外れ）、呼気量の下限、無呼吸、酸素濃度の下限、麻酔薬濃度の上限など。既定値のままにせず、患者に合わせる。</a:t>
            </a:r>
          </a:p>
          <a:p>
            <a:r>
              <a:rPr lang="ja-JP" altLang="en-US" dirty="0"/>
              <a:t>余剰ガス排除装置: 呼気弁や APL 弁から出た余りのガスを、吸引で手術室の外に出す。日本麻酔科学会の始業点検では、吸引圧 1 kPa 以上 2 kPa 未満、または吸引量 25 L/分 以上 50 L/分 以下の範囲にあることを確認する。接続が外れていると手術室に麻酔ガスが漏れ、吸引が強すぎると回路のガスまで吸われる。</a:t>
            </a:r>
          </a:p>
          <a:p>
            <a:r>
              <a:rPr lang="ja-JP" altLang="en-US" dirty="0"/>
              <a:t>電源: 停電時はバッテリーで動くが、持続時間は機種で違う（説明書で確認）。バッテリーが切れると人工呼吸器や電子式流量計が止まる機種がある。用手換気と自己膨張式バッグに切り替えられるよう、置き場所を確認しておく（→ 2-2）。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ガスの流れを配管・ボンベから患者まで順にたどれること、酸素が最も下流で合流する理由、酸素フラッシュが気化器を通らないこと、循環式回路で一方弁と吸収剤が呼気を再利用していること、設定ではなく実測（酸素濃度計・呼気ガス濃度）を見ること、乾いた吸収剤を使わないこと。次回の 2-2 では、麻酔器の前で始業点検を実際に行う。</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麻酔器の構造とガスの流れ</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2-1 モニタリング・麻酔器</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ガスの流れの全体像</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教科書的記述（麻酔器の構造）</a:t>
            </a:r>
            <a:endParaRPr lang="ja-JP" sz="1600" dirty="0"/>
          </a:p>
        </p:txBody>
      </p:sp>
      <p:sp>
        <p:nvSpPr>
          <p:cNvPr id="11" name="Text 9"/>
          <p:cNvSpPr/>
          <p:nvPr/>
        </p:nvSpPr>
        <p:spPr>
          <a:xfrm>
            <a:off x="502920" y="1783080"/>
            <a:ext cx="1097280" cy="960120"/>
          </a:xfrm>
          <a:prstGeom prst="roundRect">
            <a:avLst>
              <a:gd name="adj" fmla="val 9524"/>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配管・</a:t>
            </a:r>
            <a:endParaRPr lang="ja-JP" sz="2200" dirty="0"/>
          </a:p>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ボンベ</a:t>
            </a:r>
            <a:endParaRPr lang="ja-JP" sz="2200" dirty="0"/>
          </a:p>
        </p:txBody>
      </p:sp>
      <p:sp>
        <p:nvSpPr>
          <p:cNvPr id="12" name="Shape 10"/>
          <p:cNvSpPr/>
          <p:nvPr/>
        </p:nvSpPr>
        <p:spPr>
          <a:xfrm>
            <a:off x="1673352" y="2263140"/>
            <a:ext cx="274320" cy="0"/>
          </a:xfrm>
          <a:prstGeom prst="line">
            <a:avLst/>
          </a:prstGeom>
          <a:noFill/>
          <a:ln w="38100">
            <a:solidFill>
              <a:srgbClr val="404040"/>
            </a:solidFill>
            <a:prstDash val="solid"/>
            <a:tailEnd type="triangle"/>
          </a:ln>
        </p:spPr>
      </p:sp>
      <p:sp>
        <p:nvSpPr>
          <p:cNvPr id="13" name="Text 11"/>
          <p:cNvSpPr/>
          <p:nvPr/>
        </p:nvSpPr>
        <p:spPr>
          <a:xfrm>
            <a:off x="2020824" y="1783080"/>
            <a:ext cx="1371600" cy="960120"/>
          </a:xfrm>
          <a:prstGeom prst="roundRect">
            <a:avLst>
              <a:gd name="adj" fmla="val 9524"/>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圧力</a:t>
            </a:r>
            <a:endParaRPr lang="ja-JP" sz="2200" dirty="0"/>
          </a:p>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調整器</a:t>
            </a:r>
            <a:endParaRPr lang="ja-JP" sz="2200" dirty="0"/>
          </a:p>
        </p:txBody>
      </p:sp>
      <p:sp>
        <p:nvSpPr>
          <p:cNvPr id="14" name="Shape 12"/>
          <p:cNvSpPr/>
          <p:nvPr/>
        </p:nvSpPr>
        <p:spPr>
          <a:xfrm>
            <a:off x="3465576" y="2263140"/>
            <a:ext cx="274320" cy="0"/>
          </a:xfrm>
          <a:prstGeom prst="line">
            <a:avLst/>
          </a:prstGeom>
          <a:noFill/>
          <a:ln w="38100">
            <a:solidFill>
              <a:srgbClr val="404040"/>
            </a:solidFill>
            <a:prstDash val="solid"/>
            <a:tailEnd type="triangle"/>
          </a:ln>
        </p:spPr>
      </p:sp>
      <p:sp>
        <p:nvSpPr>
          <p:cNvPr id="15" name="Text 13"/>
          <p:cNvSpPr/>
          <p:nvPr/>
        </p:nvSpPr>
        <p:spPr>
          <a:xfrm>
            <a:off x="3813048" y="1783080"/>
            <a:ext cx="1371600" cy="960120"/>
          </a:xfrm>
          <a:prstGeom prst="roundRect">
            <a:avLst>
              <a:gd name="adj" fmla="val 9524"/>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流量計</a:t>
            </a:r>
            <a:endParaRPr lang="ja-JP" sz="2200" dirty="0"/>
          </a:p>
        </p:txBody>
      </p:sp>
      <p:sp>
        <p:nvSpPr>
          <p:cNvPr id="16" name="Shape 14"/>
          <p:cNvSpPr/>
          <p:nvPr/>
        </p:nvSpPr>
        <p:spPr>
          <a:xfrm>
            <a:off x="5257800" y="2263140"/>
            <a:ext cx="265176" cy="0"/>
          </a:xfrm>
          <a:prstGeom prst="line">
            <a:avLst/>
          </a:prstGeom>
          <a:noFill/>
          <a:ln w="38100">
            <a:solidFill>
              <a:srgbClr val="404040"/>
            </a:solidFill>
            <a:prstDash val="solid"/>
            <a:tailEnd type="triangle"/>
          </a:ln>
        </p:spPr>
      </p:sp>
      <p:sp>
        <p:nvSpPr>
          <p:cNvPr id="17" name="Text 15"/>
          <p:cNvSpPr/>
          <p:nvPr/>
        </p:nvSpPr>
        <p:spPr>
          <a:xfrm>
            <a:off x="5596128" y="1783080"/>
            <a:ext cx="1097280" cy="960120"/>
          </a:xfrm>
          <a:prstGeom prst="roundRect">
            <a:avLst>
              <a:gd name="adj" fmla="val 9524"/>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気化器</a:t>
            </a:r>
            <a:endParaRPr lang="ja-JP" sz="2200" dirty="0"/>
          </a:p>
        </p:txBody>
      </p:sp>
      <p:sp>
        <p:nvSpPr>
          <p:cNvPr id="18" name="Shape 16"/>
          <p:cNvSpPr/>
          <p:nvPr/>
        </p:nvSpPr>
        <p:spPr>
          <a:xfrm>
            <a:off x="6766560" y="2263140"/>
            <a:ext cx="274320" cy="0"/>
          </a:xfrm>
          <a:prstGeom prst="line">
            <a:avLst/>
          </a:prstGeom>
          <a:noFill/>
          <a:ln w="38100">
            <a:solidFill>
              <a:srgbClr val="404040"/>
            </a:solidFill>
            <a:prstDash val="solid"/>
            <a:tailEnd type="triangle"/>
          </a:ln>
        </p:spPr>
      </p:sp>
      <p:sp>
        <p:nvSpPr>
          <p:cNvPr id="19" name="Text 17"/>
          <p:cNvSpPr/>
          <p:nvPr/>
        </p:nvSpPr>
        <p:spPr>
          <a:xfrm>
            <a:off x="7114032" y="1783080"/>
            <a:ext cx="1408176" cy="960120"/>
          </a:xfrm>
          <a:prstGeom prst="roundRect">
            <a:avLst>
              <a:gd name="adj" fmla="val 9524"/>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共通ガス</a:t>
            </a:r>
            <a:endParaRPr lang="ja-JP" sz="2200" dirty="0"/>
          </a:p>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出口</a:t>
            </a:r>
            <a:endParaRPr lang="ja-JP" sz="2200" dirty="0"/>
          </a:p>
        </p:txBody>
      </p:sp>
      <p:sp>
        <p:nvSpPr>
          <p:cNvPr id="20" name="Shape 18"/>
          <p:cNvSpPr/>
          <p:nvPr/>
        </p:nvSpPr>
        <p:spPr>
          <a:xfrm>
            <a:off x="8595360" y="2263140"/>
            <a:ext cx="274320" cy="0"/>
          </a:xfrm>
          <a:prstGeom prst="line">
            <a:avLst/>
          </a:prstGeom>
          <a:noFill/>
          <a:ln w="38100">
            <a:solidFill>
              <a:srgbClr val="404040"/>
            </a:solidFill>
            <a:prstDash val="solid"/>
            <a:tailEnd type="triangle"/>
          </a:ln>
        </p:spPr>
      </p:sp>
      <p:sp>
        <p:nvSpPr>
          <p:cNvPr id="21" name="Text 19"/>
          <p:cNvSpPr/>
          <p:nvPr/>
        </p:nvSpPr>
        <p:spPr>
          <a:xfrm>
            <a:off x="8942832" y="1783080"/>
            <a:ext cx="1408176" cy="960120"/>
          </a:xfrm>
          <a:prstGeom prst="roundRect">
            <a:avLst>
              <a:gd name="adj" fmla="val 9524"/>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呼吸回路</a:t>
            </a:r>
            <a:endParaRPr lang="ja-JP" sz="2200" dirty="0"/>
          </a:p>
        </p:txBody>
      </p:sp>
      <p:sp>
        <p:nvSpPr>
          <p:cNvPr id="22" name="Shape 20"/>
          <p:cNvSpPr/>
          <p:nvPr/>
        </p:nvSpPr>
        <p:spPr>
          <a:xfrm>
            <a:off x="10424160" y="2263140"/>
            <a:ext cx="274320" cy="0"/>
          </a:xfrm>
          <a:prstGeom prst="line">
            <a:avLst/>
          </a:prstGeom>
          <a:noFill/>
          <a:ln w="38100">
            <a:solidFill>
              <a:srgbClr val="404040"/>
            </a:solidFill>
            <a:prstDash val="solid"/>
            <a:tailEnd type="triangle"/>
          </a:ln>
        </p:spPr>
      </p:sp>
      <p:sp>
        <p:nvSpPr>
          <p:cNvPr id="23" name="Text 21"/>
          <p:cNvSpPr/>
          <p:nvPr/>
        </p:nvSpPr>
        <p:spPr>
          <a:xfrm>
            <a:off x="10771632" y="1783080"/>
            <a:ext cx="914400" cy="960120"/>
          </a:xfrm>
          <a:prstGeom prst="roundRect">
            <a:avLst>
              <a:gd name="adj" fmla="val 10000"/>
            </a:avLst>
          </a:prstGeom>
          <a:solidFill>
            <a:srgbClr val="0072B2"/>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患者</a:t>
            </a:r>
            <a:endParaRPr lang="ja-JP" sz="2200" dirty="0"/>
          </a:p>
        </p:txBody>
      </p:sp>
      <p:sp>
        <p:nvSpPr>
          <p:cNvPr id="24" name="Shape 22"/>
          <p:cNvSpPr/>
          <p:nvPr/>
        </p:nvSpPr>
        <p:spPr>
          <a:xfrm>
            <a:off x="502920" y="3127248"/>
            <a:ext cx="1975104" cy="0"/>
          </a:xfrm>
          <a:prstGeom prst="line">
            <a:avLst/>
          </a:prstGeom>
          <a:noFill/>
          <a:ln w="63500">
            <a:solidFill>
              <a:srgbClr val="D55E00"/>
            </a:solidFill>
            <a:prstDash val="solid"/>
          </a:ln>
        </p:spPr>
      </p:sp>
      <p:sp>
        <p:nvSpPr>
          <p:cNvPr id="25" name="Shape 23"/>
          <p:cNvSpPr/>
          <p:nvPr/>
        </p:nvSpPr>
        <p:spPr>
          <a:xfrm>
            <a:off x="502920" y="3008376"/>
            <a:ext cx="0" cy="237744"/>
          </a:xfrm>
          <a:prstGeom prst="line">
            <a:avLst/>
          </a:prstGeom>
          <a:noFill/>
          <a:ln w="38100">
            <a:solidFill>
              <a:srgbClr val="D55E00"/>
            </a:solidFill>
            <a:prstDash val="solid"/>
          </a:ln>
        </p:spPr>
      </p:sp>
      <p:sp>
        <p:nvSpPr>
          <p:cNvPr id="26" name="Shape 24"/>
          <p:cNvSpPr/>
          <p:nvPr/>
        </p:nvSpPr>
        <p:spPr>
          <a:xfrm>
            <a:off x="2478024" y="3008376"/>
            <a:ext cx="0" cy="237744"/>
          </a:xfrm>
          <a:prstGeom prst="line">
            <a:avLst/>
          </a:prstGeom>
          <a:noFill/>
          <a:ln w="38100">
            <a:solidFill>
              <a:srgbClr val="D55E00"/>
            </a:solidFill>
            <a:prstDash val="solid"/>
          </a:ln>
        </p:spPr>
      </p:sp>
      <p:sp>
        <p:nvSpPr>
          <p:cNvPr id="27" name="Shape 25"/>
          <p:cNvSpPr/>
          <p:nvPr/>
        </p:nvSpPr>
        <p:spPr>
          <a:xfrm>
            <a:off x="2935224" y="3127248"/>
            <a:ext cx="1335024" cy="0"/>
          </a:xfrm>
          <a:prstGeom prst="line">
            <a:avLst/>
          </a:prstGeom>
          <a:noFill/>
          <a:ln w="63500">
            <a:solidFill>
              <a:srgbClr val="0072B2"/>
            </a:solidFill>
            <a:prstDash val="solid"/>
          </a:ln>
        </p:spPr>
      </p:sp>
      <p:sp>
        <p:nvSpPr>
          <p:cNvPr id="28" name="Shape 26"/>
          <p:cNvSpPr/>
          <p:nvPr/>
        </p:nvSpPr>
        <p:spPr>
          <a:xfrm>
            <a:off x="2935224" y="3008376"/>
            <a:ext cx="0" cy="237744"/>
          </a:xfrm>
          <a:prstGeom prst="line">
            <a:avLst/>
          </a:prstGeom>
          <a:noFill/>
          <a:ln w="38100">
            <a:solidFill>
              <a:srgbClr val="0072B2"/>
            </a:solidFill>
            <a:prstDash val="solid"/>
          </a:ln>
        </p:spPr>
      </p:sp>
      <p:sp>
        <p:nvSpPr>
          <p:cNvPr id="29" name="Shape 27"/>
          <p:cNvSpPr/>
          <p:nvPr/>
        </p:nvSpPr>
        <p:spPr>
          <a:xfrm>
            <a:off x="4270248" y="3008376"/>
            <a:ext cx="0" cy="237744"/>
          </a:xfrm>
          <a:prstGeom prst="line">
            <a:avLst/>
          </a:prstGeom>
          <a:noFill/>
          <a:ln w="38100">
            <a:solidFill>
              <a:srgbClr val="0072B2"/>
            </a:solidFill>
            <a:prstDash val="solid"/>
          </a:ln>
        </p:spPr>
      </p:sp>
      <p:sp>
        <p:nvSpPr>
          <p:cNvPr id="30" name="Shape 28"/>
          <p:cNvSpPr/>
          <p:nvPr/>
        </p:nvSpPr>
        <p:spPr>
          <a:xfrm>
            <a:off x="4727448" y="3127248"/>
            <a:ext cx="3803904" cy="0"/>
          </a:xfrm>
          <a:prstGeom prst="line">
            <a:avLst/>
          </a:prstGeom>
          <a:noFill/>
          <a:ln w="63500">
            <a:solidFill>
              <a:srgbClr val="00A8AA"/>
            </a:solidFill>
            <a:prstDash val="solid"/>
          </a:ln>
        </p:spPr>
      </p:sp>
      <p:sp>
        <p:nvSpPr>
          <p:cNvPr id="31" name="Shape 29"/>
          <p:cNvSpPr/>
          <p:nvPr/>
        </p:nvSpPr>
        <p:spPr>
          <a:xfrm>
            <a:off x="4727448" y="3008376"/>
            <a:ext cx="0" cy="237744"/>
          </a:xfrm>
          <a:prstGeom prst="line">
            <a:avLst/>
          </a:prstGeom>
          <a:noFill/>
          <a:ln w="38100">
            <a:solidFill>
              <a:srgbClr val="00A8AA"/>
            </a:solidFill>
            <a:prstDash val="solid"/>
          </a:ln>
        </p:spPr>
      </p:sp>
      <p:sp>
        <p:nvSpPr>
          <p:cNvPr id="32" name="Shape 30"/>
          <p:cNvSpPr/>
          <p:nvPr/>
        </p:nvSpPr>
        <p:spPr>
          <a:xfrm>
            <a:off x="8522208" y="3008376"/>
            <a:ext cx="0" cy="237744"/>
          </a:xfrm>
          <a:prstGeom prst="line">
            <a:avLst/>
          </a:prstGeom>
          <a:noFill/>
          <a:ln w="38100">
            <a:solidFill>
              <a:srgbClr val="00A8AA"/>
            </a:solidFill>
            <a:prstDash val="solid"/>
          </a:ln>
        </p:spPr>
      </p:sp>
      <p:sp>
        <p:nvSpPr>
          <p:cNvPr id="33" name="Shape 31"/>
          <p:cNvSpPr/>
          <p:nvPr/>
        </p:nvSpPr>
        <p:spPr>
          <a:xfrm>
            <a:off x="2706624" y="2743200"/>
            <a:ext cx="0" cy="502920"/>
          </a:xfrm>
          <a:prstGeom prst="line">
            <a:avLst/>
          </a:prstGeom>
          <a:noFill/>
          <a:ln w="19050">
            <a:solidFill>
              <a:srgbClr val="7F7F7F"/>
            </a:solidFill>
            <a:prstDash val="dash"/>
          </a:ln>
        </p:spPr>
      </p:sp>
      <p:sp>
        <p:nvSpPr>
          <p:cNvPr id="34" name="Shape 32"/>
          <p:cNvSpPr/>
          <p:nvPr/>
        </p:nvSpPr>
        <p:spPr>
          <a:xfrm>
            <a:off x="4498848" y="2743200"/>
            <a:ext cx="0" cy="502920"/>
          </a:xfrm>
          <a:prstGeom prst="line">
            <a:avLst/>
          </a:prstGeom>
          <a:noFill/>
          <a:ln w="19050">
            <a:solidFill>
              <a:srgbClr val="7F7F7F"/>
            </a:solidFill>
            <a:prstDash val="dash"/>
          </a:ln>
        </p:spPr>
      </p:sp>
      <p:sp>
        <p:nvSpPr>
          <p:cNvPr id="35" name="Text 33"/>
          <p:cNvSpPr txBox="1"/>
          <p:nvPr/>
        </p:nvSpPr>
        <p:spPr>
          <a:xfrm>
            <a:off x="685800" y="3465576"/>
            <a:ext cx="1600200" cy="841248"/>
          </a:xfrm>
          <a:prstGeom prst="rect">
            <a:avLst/>
          </a:prstGeom>
          <a:noFill/>
          <a:ln/>
        </p:spPr>
        <p:txBody>
          <a:bodyPr wrap="square" lIns="0" tIns="0" rIns="0" bIns="0" rtlCol="0" anchor="t"/>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高圧部</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（ボンベ）</a:t>
            </a:r>
            <a:endParaRPr lang="ja-JP" sz="2200" dirty="0"/>
          </a:p>
        </p:txBody>
      </p:sp>
      <p:sp>
        <p:nvSpPr>
          <p:cNvPr id="36" name="Text 34"/>
          <p:cNvSpPr txBox="1"/>
          <p:nvPr/>
        </p:nvSpPr>
        <p:spPr>
          <a:xfrm>
            <a:off x="2468880" y="3465576"/>
            <a:ext cx="2542032" cy="841248"/>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中圧部</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（配管〜流量計）</a:t>
            </a:r>
            <a:endParaRPr lang="ja-JP" sz="2200" dirty="0"/>
          </a:p>
        </p:txBody>
      </p:sp>
      <p:sp>
        <p:nvSpPr>
          <p:cNvPr id="37" name="Text 35"/>
          <p:cNvSpPr txBox="1"/>
          <p:nvPr/>
        </p:nvSpPr>
        <p:spPr>
          <a:xfrm>
            <a:off x="5358384" y="3465576"/>
            <a:ext cx="2542032" cy="841248"/>
          </a:xfrm>
          <a:prstGeom prst="rect">
            <a:avLst/>
          </a:prstGeom>
          <a:noFill/>
          <a:ln/>
        </p:spPr>
        <p:txBody>
          <a:bodyPr wrap="square" lIns="0" tIns="0" rIns="0" bIns="0" rtlCol="0" anchor="t"/>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低圧部</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（流量計〜出口）</a:t>
            </a:r>
            <a:endParaRPr lang="ja-JP" sz="2200" dirty="0"/>
          </a:p>
        </p:txBody>
      </p:sp>
      <p:sp>
        <p:nvSpPr>
          <p:cNvPr id="38" name="Text 36"/>
          <p:cNvSpPr txBox="1"/>
          <p:nvPr/>
        </p:nvSpPr>
        <p:spPr>
          <a:xfrm>
            <a:off x="502920" y="4764024"/>
            <a:ext cx="402336" cy="502920"/>
          </a:xfrm>
          <a:prstGeom prst="rect">
            <a:avLst/>
          </a:prstGeom>
          <a:noFill/>
          <a:ln/>
        </p:spPr>
        <p:txBody>
          <a:bodyPr wrap="square" lIns="0" tIns="0" rIns="0" bIns="0" rtlCol="0" anchor="t"/>
          <a:lstStyle/>
          <a:p>
            <a:pPr algn="l" indent="0" marL="0">
              <a:buNone/>
            </a:pPr>
            <a:r>
              <a:rPr lang="ja-JP" altLang="en-US" sz="2600" dirty="0">
                <a:solidFill>
                  <a:srgbClr val="404040"/>
                </a:solidFill>
                <a:latin typeface="メイリオ" pitchFamily="34" charset="0"/>
                <a:ea typeface="メイリオ" pitchFamily="34" charset="-122"/>
                <a:cs typeface="メイリオ" pitchFamily="34" charset="-120"/>
              </a:rPr>
              <a:t>•</a:t>
            </a:r>
            <a:endParaRPr lang="ja-JP" sz="2600" dirty="0"/>
          </a:p>
        </p:txBody>
      </p:sp>
      <p:sp>
        <p:nvSpPr>
          <p:cNvPr id="39" name="Text 37"/>
          <p:cNvSpPr txBox="1"/>
          <p:nvPr/>
        </p:nvSpPr>
        <p:spPr>
          <a:xfrm>
            <a:off x="905256" y="4764024"/>
            <a:ext cx="10780776"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酸素フラッシュは流量計と気化器を通らず、出口に直接入る</a:t>
            </a:r>
            <a:endParaRPr lang="ja-JP" sz="2600" dirty="0"/>
          </a:p>
        </p:txBody>
      </p:sp>
      <p:sp>
        <p:nvSpPr>
          <p:cNvPr id="40" name="Text 38"/>
          <p:cNvSpPr txBox="1"/>
          <p:nvPr/>
        </p:nvSpPr>
        <p:spPr>
          <a:xfrm>
            <a:off x="502920" y="5468112"/>
            <a:ext cx="402336" cy="502920"/>
          </a:xfrm>
          <a:prstGeom prst="rect">
            <a:avLst/>
          </a:prstGeom>
          <a:noFill/>
          <a:ln/>
        </p:spPr>
        <p:txBody>
          <a:bodyPr wrap="square" lIns="0" tIns="0" rIns="0" bIns="0" rtlCol="0" anchor="t"/>
          <a:lstStyle/>
          <a:p>
            <a:pPr algn="l" indent="0" marL="0">
              <a:buNone/>
            </a:pPr>
            <a:r>
              <a:rPr lang="ja-JP" altLang="en-US" sz="2600" dirty="0">
                <a:solidFill>
                  <a:srgbClr val="404040"/>
                </a:solidFill>
                <a:latin typeface="メイリオ" pitchFamily="34" charset="0"/>
                <a:ea typeface="メイリオ" pitchFamily="34" charset="-122"/>
                <a:cs typeface="メイリオ" pitchFamily="34" charset="-120"/>
              </a:rPr>
              <a:t>•</a:t>
            </a:r>
            <a:endParaRPr lang="ja-JP" sz="2600" dirty="0"/>
          </a:p>
        </p:txBody>
      </p:sp>
      <p:sp>
        <p:nvSpPr>
          <p:cNvPr id="41" name="Text 39"/>
          <p:cNvSpPr txBox="1"/>
          <p:nvPr/>
        </p:nvSpPr>
        <p:spPr>
          <a:xfrm>
            <a:off x="905256" y="5468112"/>
            <a:ext cx="10780776"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低圧部は圧が低く、漏れが見つけにくい → </a:t>
            </a:r>
            <a:r>
              <a:rPr lang="ja-JP" altLang="en-US" sz="2600" b="1" dirty="0">
                <a:solidFill>
                  <a:srgbClr val="00A8AA"/>
                </a:solidFill>
                <a:latin typeface="メイリオ" pitchFamily="34" charset="0"/>
                <a:ea typeface="メイリオ" pitchFamily="34" charset="-122"/>
                <a:cs typeface="メイリオ" pitchFamily="34" charset="-120"/>
              </a:rPr>
              <a:t>リークテスト</a:t>
            </a:r>
            <a:endParaRPr lang="ja-JP"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医療ガスの供給</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 / JIS T 7101:2020 医療ガス設備</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容器保安規則 第10条 / 厚生労働省「医療ガスの安全管理について」（医政発0817第6号）</a:t>
            </a:r>
            <a:endParaRPr lang="ja-JP" sz="1600" dirty="0"/>
          </a:p>
        </p:txBody>
      </p:sp>
      <p:sp>
        <p:nvSpPr>
          <p:cNvPr id="11" name="Shape 9"/>
          <p:cNvSpPr/>
          <p:nvPr/>
        </p:nvSpPr>
        <p:spPr>
          <a:xfrm>
            <a:off x="502920" y="1755648"/>
            <a:ext cx="3575304" cy="3191256"/>
          </a:xfrm>
          <a:prstGeom prst="roundRect">
            <a:avLst>
              <a:gd name="adj" fmla="val 2292"/>
            </a:avLst>
          </a:prstGeom>
          <a:solidFill>
            <a:srgbClr val="F2F2F2"/>
          </a:solidFill>
          <a:ln/>
        </p:spPr>
      </p:sp>
      <p:sp>
        <p:nvSpPr>
          <p:cNvPr id="12" name="Text 10"/>
          <p:cNvSpPr txBox="1"/>
          <p:nvPr/>
        </p:nvSpPr>
        <p:spPr>
          <a:xfrm>
            <a:off x="612648" y="1901952"/>
            <a:ext cx="3355848"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配管（中央供給）</a:t>
            </a:r>
            <a:endParaRPr lang="ja-JP" sz="2800" dirty="0"/>
          </a:p>
        </p:txBody>
      </p:sp>
      <p:sp>
        <p:nvSpPr>
          <p:cNvPr id="13" name="Text 11"/>
          <p:cNvSpPr txBox="1"/>
          <p:nvPr/>
        </p:nvSpPr>
        <p:spPr>
          <a:xfrm>
            <a:off x="612648" y="2569464"/>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約 0.4 MPa で供給</a:t>
            </a:r>
            <a:endParaRPr lang="ja-JP" sz="2200" dirty="0"/>
          </a:p>
        </p:txBody>
      </p:sp>
      <p:sp>
        <p:nvSpPr>
          <p:cNvPr id="14" name="Text 12"/>
          <p:cNvSpPr txBox="1"/>
          <p:nvPr/>
        </p:nvSpPr>
        <p:spPr>
          <a:xfrm>
            <a:off x="612648" y="3264408"/>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端末の色：酸素 緑</a:t>
            </a:r>
            <a:endParaRPr lang="ja-JP" sz="2200" dirty="0"/>
          </a:p>
        </p:txBody>
      </p:sp>
      <p:sp>
        <p:nvSpPr>
          <p:cNvPr id="15" name="Text 13"/>
          <p:cNvSpPr txBox="1"/>
          <p:nvPr/>
        </p:nvSpPr>
        <p:spPr>
          <a:xfrm>
            <a:off x="612648" y="4379976"/>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亜酸化窒素 青・空気 黄</a:t>
            </a:r>
            <a:endParaRPr lang="ja-JP" sz="2200" dirty="0"/>
          </a:p>
        </p:txBody>
      </p:sp>
      <p:sp>
        <p:nvSpPr>
          <p:cNvPr id="16" name="Shape 14"/>
          <p:cNvSpPr/>
          <p:nvPr/>
        </p:nvSpPr>
        <p:spPr>
          <a:xfrm>
            <a:off x="4306824" y="1755648"/>
            <a:ext cx="3575304" cy="3191256"/>
          </a:xfrm>
          <a:prstGeom prst="roundRect">
            <a:avLst>
              <a:gd name="adj" fmla="val 2292"/>
            </a:avLst>
          </a:prstGeom>
          <a:solidFill>
            <a:srgbClr val="F2F2F2"/>
          </a:solidFill>
          <a:ln/>
        </p:spPr>
      </p:sp>
      <p:sp>
        <p:nvSpPr>
          <p:cNvPr id="17" name="Text 15"/>
          <p:cNvSpPr txBox="1"/>
          <p:nvPr/>
        </p:nvSpPr>
        <p:spPr>
          <a:xfrm>
            <a:off x="4416552" y="1901952"/>
            <a:ext cx="3355848" cy="5394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ボンベ（予備）</a:t>
            </a:r>
            <a:endParaRPr lang="ja-JP" sz="2800" dirty="0"/>
          </a:p>
        </p:txBody>
      </p:sp>
      <p:sp>
        <p:nvSpPr>
          <p:cNvPr id="18" name="Text 16"/>
          <p:cNvSpPr txBox="1"/>
          <p:nvPr/>
        </p:nvSpPr>
        <p:spPr>
          <a:xfrm>
            <a:off x="4416552" y="2569464"/>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酸素ボンベは黒色</a:t>
            </a:r>
            <a:endParaRPr lang="ja-JP" sz="2200" dirty="0"/>
          </a:p>
        </p:txBody>
      </p:sp>
      <p:sp>
        <p:nvSpPr>
          <p:cNvPr id="19" name="Text 17"/>
          <p:cNvSpPr txBox="1"/>
          <p:nvPr/>
        </p:nvSpPr>
        <p:spPr>
          <a:xfrm>
            <a:off x="4416552" y="3264408"/>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ピンインデックスで</a:t>
            </a:r>
            <a:endParaRPr lang="ja-JP" sz="2200" dirty="0"/>
          </a:p>
        </p:txBody>
      </p:sp>
      <p:sp>
        <p:nvSpPr>
          <p:cNvPr id="20" name="Text 18"/>
          <p:cNvSpPr txBox="1"/>
          <p:nvPr/>
        </p:nvSpPr>
        <p:spPr>
          <a:xfrm>
            <a:off x="4416552" y="368503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取り違え防止</a:t>
            </a:r>
            <a:endParaRPr lang="ja-JP" sz="2200" dirty="0"/>
          </a:p>
        </p:txBody>
      </p:sp>
      <p:sp>
        <p:nvSpPr>
          <p:cNvPr id="21" name="Text 19"/>
          <p:cNvSpPr txBox="1"/>
          <p:nvPr/>
        </p:nvSpPr>
        <p:spPr>
          <a:xfrm>
            <a:off x="4416552" y="4379976"/>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残量は圧力計で見る</a:t>
            </a:r>
            <a:endParaRPr lang="ja-JP" sz="2200" dirty="0"/>
          </a:p>
        </p:txBody>
      </p:sp>
      <p:sp>
        <p:nvSpPr>
          <p:cNvPr id="22" name="Shape 20"/>
          <p:cNvSpPr/>
          <p:nvPr/>
        </p:nvSpPr>
        <p:spPr>
          <a:xfrm>
            <a:off x="8110728" y="1755648"/>
            <a:ext cx="3575304" cy="3191256"/>
          </a:xfrm>
          <a:prstGeom prst="roundRect">
            <a:avLst>
              <a:gd name="adj" fmla="val 2292"/>
            </a:avLst>
          </a:prstGeom>
          <a:solidFill>
            <a:srgbClr val="F2F2F2"/>
          </a:solidFill>
          <a:ln/>
        </p:spPr>
      </p:sp>
      <p:sp>
        <p:nvSpPr>
          <p:cNvPr id="23" name="Text 21"/>
          <p:cNvSpPr txBox="1"/>
          <p:nvPr/>
        </p:nvSpPr>
        <p:spPr>
          <a:xfrm>
            <a:off x="8220456" y="1901952"/>
            <a:ext cx="3355848" cy="539496"/>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吸引・排除</a:t>
            </a:r>
            <a:endParaRPr lang="ja-JP" sz="2800" dirty="0"/>
          </a:p>
        </p:txBody>
      </p:sp>
      <p:sp>
        <p:nvSpPr>
          <p:cNvPr id="24" name="Text 22"/>
          <p:cNvSpPr txBox="1"/>
          <p:nvPr/>
        </p:nvSpPr>
        <p:spPr>
          <a:xfrm>
            <a:off x="8220456" y="2569464"/>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吸引の端末は黒</a:t>
            </a:r>
            <a:endParaRPr lang="ja-JP" sz="2200" dirty="0"/>
          </a:p>
        </p:txBody>
      </p:sp>
      <p:sp>
        <p:nvSpPr>
          <p:cNvPr id="25" name="Text 23"/>
          <p:cNvSpPr txBox="1"/>
          <p:nvPr/>
        </p:nvSpPr>
        <p:spPr>
          <a:xfrm>
            <a:off x="8220456" y="3264408"/>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余剰ガス排除装置に</a:t>
            </a:r>
            <a:endParaRPr lang="ja-JP" sz="2200" dirty="0"/>
          </a:p>
        </p:txBody>
      </p:sp>
      <p:sp>
        <p:nvSpPr>
          <p:cNvPr id="26" name="Text 24"/>
          <p:cNvSpPr txBox="1"/>
          <p:nvPr/>
        </p:nvSpPr>
        <p:spPr>
          <a:xfrm>
            <a:off x="8220456" y="368503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つなぐ</a:t>
            </a:r>
            <a:endParaRPr lang="ja-JP" sz="2200" dirty="0"/>
          </a:p>
        </p:txBody>
      </p:sp>
      <p:sp>
        <p:nvSpPr>
          <p:cNvPr id="27" name="Text 25"/>
          <p:cNvSpPr txBox="1"/>
          <p:nvPr/>
        </p:nvSpPr>
        <p:spPr>
          <a:xfrm>
            <a:off x="502920" y="5221224"/>
            <a:ext cx="11183112"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ボンベの色と配管の色は別の規格。酸素ボンベは黒、配管は緑</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流量計と酸素フラッシュ</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 / Subrahmanyam M, Mohan S.</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Indian J Anaesth 2013;57:472-80 / De Cooman S, et al. J Clin Monit Comput 2015;29:491-497</a:t>
            </a:r>
            <a:endParaRPr lang="ja-JP" sz="1600" dirty="0"/>
          </a:p>
        </p:txBody>
      </p:sp>
      <p:sp>
        <p:nvSpPr>
          <p:cNvPr id="11" name="Shape 9"/>
          <p:cNvSpPr/>
          <p:nvPr/>
        </p:nvSpPr>
        <p:spPr>
          <a:xfrm>
            <a:off x="1325880" y="1920240"/>
            <a:ext cx="0" cy="411480"/>
          </a:xfrm>
          <a:prstGeom prst="line">
            <a:avLst/>
          </a:prstGeom>
          <a:noFill/>
          <a:ln w="38100">
            <a:solidFill>
              <a:srgbClr val="404040"/>
            </a:solidFill>
            <a:prstDash val="solid"/>
          </a:ln>
        </p:spPr>
      </p:sp>
      <p:sp>
        <p:nvSpPr>
          <p:cNvPr id="12" name="Shape 10"/>
          <p:cNvSpPr/>
          <p:nvPr/>
        </p:nvSpPr>
        <p:spPr>
          <a:xfrm>
            <a:off x="1133856" y="2331720"/>
            <a:ext cx="384048" cy="2468880"/>
          </a:xfrm>
          <a:prstGeom prst="roundRect">
            <a:avLst>
              <a:gd name="adj" fmla="val 42857"/>
            </a:avLst>
          </a:prstGeom>
          <a:solidFill>
            <a:srgbClr val="F2F2F2"/>
          </a:solidFill>
          <a:ln w="25400">
            <a:solidFill>
              <a:srgbClr val="7F7F7F"/>
            </a:solidFill>
            <a:prstDash val="solid"/>
          </a:ln>
        </p:spPr>
      </p:sp>
      <p:sp>
        <p:nvSpPr>
          <p:cNvPr id="13" name="Shape 11"/>
          <p:cNvSpPr/>
          <p:nvPr/>
        </p:nvSpPr>
        <p:spPr>
          <a:xfrm>
            <a:off x="1188720" y="3474720"/>
            <a:ext cx="274320" cy="274320"/>
          </a:xfrm>
          <a:prstGeom prst="ellipse">
            <a:avLst/>
          </a:prstGeom>
          <a:solidFill>
            <a:srgbClr val="404040"/>
          </a:solidFill>
          <a:ln/>
        </p:spPr>
      </p:sp>
      <p:sp>
        <p:nvSpPr>
          <p:cNvPr id="14" name="Shape 12"/>
          <p:cNvSpPr/>
          <p:nvPr/>
        </p:nvSpPr>
        <p:spPr>
          <a:xfrm>
            <a:off x="2651760" y="1920240"/>
            <a:ext cx="0" cy="411480"/>
          </a:xfrm>
          <a:prstGeom prst="line">
            <a:avLst/>
          </a:prstGeom>
          <a:noFill/>
          <a:ln w="38100">
            <a:solidFill>
              <a:srgbClr val="404040"/>
            </a:solidFill>
            <a:prstDash val="solid"/>
          </a:ln>
        </p:spPr>
      </p:sp>
      <p:sp>
        <p:nvSpPr>
          <p:cNvPr id="15" name="Shape 13"/>
          <p:cNvSpPr/>
          <p:nvPr/>
        </p:nvSpPr>
        <p:spPr>
          <a:xfrm>
            <a:off x="2459736" y="2331720"/>
            <a:ext cx="384048" cy="2468880"/>
          </a:xfrm>
          <a:prstGeom prst="roundRect">
            <a:avLst>
              <a:gd name="adj" fmla="val 42857"/>
            </a:avLst>
          </a:prstGeom>
          <a:solidFill>
            <a:srgbClr val="F2F2F2"/>
          </a:solidFill>
          <a:ln w="25400">
            <a:solidFill>
              <a:srgbClr val="7F7F7F"/>
            </a:solidFill>
            <a:prstDash val="solid"/>
          </a:ln>
        </p:spPr>
      </p:sp>
      <p:sp>
        <p:nvSpPr>
          <p:cNvPr id="16" name="Shape 14"/>
          <p:cNvSpPr/>
          <p:nvPr/>
        </p:nvSpPr>
        <p:spPr>
          <a:xfrm>
            <a:off x="2514600" y="3931920"/>
            <a:ext cx="274320" cy="274320"/>
          </a:xfrm>
          <a:prstGeom prst="ellipse">
            <a:avLst/>
          </a:prstGeom>
          <a:solidFill>
            <a:srgbClr val="404040"/>
          </a:solidFill>
          <a:ln/>
        </p:spPr>
      </p:sp>
      <p:sp>
        <p:nvSpPr>
          <p:cNvPr id="17" name="Shape 15"/>
          <p:cNvSpPr/>
          <p:nvPr/>
        </p:nvSpPr>
        <p:spPr>
          <a:xfrm>
            <a:off x="3977640" y="1920240"/>
            <a:ext cx="0" cy="411480"/>
          </a:xfrm>
          <a:prstGeom prst="line">
            <a:avLst/>
          </a:prstGeom>
          <a:noFill/>
          <a:ln w="38100">
            <a:solidFill>
              <a:srgbClr val="404040"/>
            </a:solidFill>
            <a:prstDash val="solid"/>
          </a:ln>
        </p:spPr>
      </p:sp>
      <p:sp>
        <p:nvSpPr>
          <p:cNvPr id="18" name="Shape 16"/>
          <p:cNvSpPr/>
          <p:nvPr/>
        </p:nvSpPr>
        <p:spPr>
          <a:xfrm>
            <a:off x="3785616" y="2331720"/>
            <a:ext cx="384048" cy="2468880"/>
          </a:xfrm>
          <a:prstGeom prst="roundRect">
            <a:avLst>
              <a:gd name="adj" fmla="val 42857"/>
            </a:avLst>
          </a:prstGeom>
          <a:solidFill>
            <a:srgbClr val="F2F2F2"/>
          </a:solidFill>
          <a:ln w="38100">
            <a:solidFill>
              <a:srgbClr val="00A8AA"/>
            </a:solidFill>
            <a:prstDash val="solid"/>
          </a:ln>
        </p:spPr>
      </p:sp>
      <p:sp>
        <p:nvSpPr>
          <p:cNvPr id="19" name="Shape 17"/>
          <p:cNvSpPr/>
          <p:nvPr/>
        </p:nvSpPr>
        <p:spPr>
          <a:xfrm>
            <a:off x="3840480" y="2926080"/>
            <a:ext cx="274320" cy="274320"/>
          </a:xfrm>
          <a:prstGeom prst="ellipse">
            <a:avLst/>
          </a:prstGeom>
          <a:solidFill>
            <a:srgbClr val="00A8AA"/>
          </a:solidFill>
          <a:ln/>
        </p:spPr>
      </p:sp>
      <p:sp>
        <p:nvSpPr>
          <p:cNvPr id="20" name="Shape 18"/>
          <p:cNvSpPr/>
          <p:nvPr/>
        </p:nvSpPr>
        <p:spPr>
          <a:xfrm>
            <a:off x="1325880" y="1920240"/>
            <a:ext cx="3063240" cy="0"/>
          </a:xfrm>
          <a:prstGeom prst="line">
            <a:avLst/>
          </a:prstGeom>
          <a:noFill/>
          <a:ln w="38100">
            <a:solidFill>
              <a:srgbClr val="404040"/>
            </a:solidFill>
            <a:prstDash val="solid"/>
            <a:tailEnd type="triangle"/>
          </a:ln>
        </p:spPr>
      </p:sp>
      <p:sp>
        <p:nvSpPr>
          <p:cNvPr id="21" name="Text 19"/>
          <p:cNvSpPr txBox="1"/>
          <p:nvPr/>
        </p:nvSpPr>
        <p:spPr>
          <a:xfrm>
            <a:off x="4526280" y="1709928"/>
            <a:ext cx="1325880" cy="420624"/>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気化器へ</a:t>
            </a:r>
            <a:endParaRPr lang="ja-JP" sz="2200" dirty="0"/>
          </a:p>
        </p:txBody>
      </p:sp>
      <p:sp>
        <p:nvSpPr>
          <p:cNvPr id="22" name="Text 20"/>
          <p:cNvSpPr txBox="1"/>
          <p:nvPr/>
        </p:nvSpPr>
        <p:spPr>
          <a:xfrm>
            <a:off x="521208" y="5020056"/>
            <a:ext cx="1600200"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亜酸化窒素</a:t>
            </a:r>
            <a:endParaRPr lang="ja-JP" sz="2200" dirty="0"/>
          </a:p>
        </p:txBody>
      </p:sp>
      <p:sp>
        <p:nvSpPr>
          <p:cNvPr id="23" name="Text 21"/>
          <p:cNvSpPr txBox="1"/>
          <p:nvPr/>
        </p:nvSpPr>
        <p:spPr>
          <a:xfrm>
            <a:off x="2322576" y="5020056"/>
            <a:ext cx="658368"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空気</a:t>
            </a:r>
            <a:endParaRPr lang="ja-JP" sz="2200" dirty="0"/>
          </a:p>
        </p:txBody>
      </p:sp>
      <p:sp>
        <p:nvSpPr>
          <p:cNvPr id="24" name="Text 22"/>
          <p:cNvSpPr txBox="1"/>
          <p:nvPr/>
        </p:nvSpPr>
        <p:spPr>
          <a:xfrm>
            <a:off x="3648456" y="5020056"/>
            <a:ext cx="658368" cy="420624"/>
          </a:xfrm>
          <a:prstGeom prst="rect">
            <a:avLst/>
          </a:prstGeom>
          <a:noFill/>
          <a:ln/>
        </p:spPr>
        <p:txBody>
          <a:bodyPr wrap="square" lIns="0" tIns="0" rIns="0" bIns="0" rtlCol="0" anchor="t"/>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酸素</a:t>
            </a:r>
            <a:endParaRPr lang="ja-JP" sz="2200" dirty="0"/>
          </a:p>
        </p:txBody>
      </p:sp>
      <p:sp>
        <p:nvSpPr>
          <p:cNvPr id="25" name="Text 23"/>
          <p:cNvSpPr txBox="1"/>
          <p:nvPr/>
        </p:nvSpPr>
        <p:spPr>
          <a:xfrm>
            <a:off x="6309360" y="1700784"/>
            <a:ext cx="347472"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26" name="Text 24"/>
          <p:cNvSpPr txBox="1"/>
          <p:nvPr/>
        </p:nvSpPr>
        <p:spPr>
          <a:xfrm>
            <a:off x="6638544" y="1700784"/>
            <a:ext cx="5047488"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酸素は最も下流で合流する</a:t>
            </a:r>
            <a:endParaRPr lang="ja-JP" sz="2400" dirty="0"/>
          </a:p>
        </p:txBody>
      </p:sp>
      <p:sp>
        <p:nvSpPr>
          <p:cNvPr id="27" name="Text 25"/>
          <p:cNvSpPr txBox="1"/>
          <p:nvPr/>
        </p:nvSpPr>
        <p:spPr>
          <a:xfrm>
            <a:off x="6501384" y="2157984"/>
            <a:ext cx="51846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（漏れても酸素が残る）</a:t>
            </a:r>
            <a:endParaRPr lang="ja-JP" sz="2400" dirty="0"/>
          </a:p>
        </p:txBody>
      </p:sp>
      <p:sp>
        <p:nvSpPr>
          <p:cNvPr id="28" name="Text 26"/>
          <p:cNvSpPr txBox="1"/>
          <p:nvPr/>
        </p:nvSpPr>
        <p:spPr>
          <a:xfrm>
            <a:off x="6309360" y="2761488"/>
            <a:ext cx="347472"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29" name="Text 27"/>
          <p:cNvSpPr txBox="1"/>
          <p:nvPr/>
        </p:nvSpPr>
        <p:spPr>
          <a:xfrm>
            <a:off x="6638544" y="2761488"/>
            <a:ext cx="5047488"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低酸素防止装置：</a:t>
            </a:r>
            <a:endParaRPr lang="ja-JP" sz="2400" dirty="0"/>
          </a:p>
        </p:txBody>
      </p:sp>
      <p:sp>
        <p:nvSpPr>
          <p:cNvPr id="30" name="Text 28"/>
          <p:cNvSpPr txBox="1"/>
          <p:nvPr/>
        </p:nvSpPr>
        <p:spPr>
          <a:xfrm>
            <a:off x="6638544" y="3218688"/>
            <a:ext cx="504748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酸素の割合を一定以上に保つ</a:t>
            </a:r>
            <a:endParaRPr lang="ja-JP" sz="2400" dirty="0"/>
          </a:p>
        </p:txBody>
      </p:sp>
      <p:sp>
        <p:nvSpPr>
          <p:cNvPr id="31" name="Text 29"/>
          <p:cNvSpPr txBox="1"/>
          <p:nvPr/>
        </p:nvSpPr>
        <p:spPr>
          <a:xfrm>
            <a:off x="6309360" y="3822192"/>
            <a:ext cx="347472"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32" name="Text 30"/>
          <p:cNvSpPr txBox="1"/>
          <p:nvPr/>
        </p:nvSpPr>
        <p:spPr>
          <a:xfrm>
            <a:off x="6638544" y="3822192"/>
            <a:ext cx="5047488"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酸素供給圧が下がると</a:t>
            </a:r>
            <a:endParaRPr lang="ja-JP" sz="2400" dirty="0"/>
          </a:p>
        </p:txBody>
      </p:sp>
      <p:sp>
        <p:nvSpPr>
          <p:cNvPr id="33" name="Text 31"/>
          <p:cNvSpPr txBox="1"/>
          <p:nvPr/>
        </p:nvSpPr>
        <p:spPr>
          <a:xfrm>
            <a:off x="6638544" y="4279392"/>
            <a:ext cx="504748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亜酸化窒素が止まる</a:t>
            </a:r>
            <a:endParaRPr lang="ja-JP" sz="2400" dirty="0"/>
          </a:p>
        </p:txBody>
      </p:sp>
      <p:sp>
        <p:nvSpPr>
          <p:cNvPr id="34" name="Text 32"/>
          <p:cNvSpPr txBox="1"/>
          <p:nvPr/>
        </p:nvSpPr>
        <p:spPr>
          <a:xfrm>
            <a:off x="6309360" y="4882896"/>
            <a:ext cx="347472"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35" name="Text 33"/>
          <p:cNvSpPr txBox="1"/>
          <p:nvPr/>
        </p:nvSpPr>
        <p:spPr>
          <a:xfrm>
            <a:off x="6638544" y="4882896"/>
            <a:ext cx="5047488"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酸素フラッシュ：</a:t>
            </a:r>
            <a:endParaRPr lang="ja-JP" sz="2400" dirty="0"/>
          </a:p>
        </p:txBody>
      </p:sp>
      <p:sp>
        <p:nvSpPr>
          <p:cNvPr id="36" name="Text 34"/>
          <p:cNvSpPr txBox="1"/>
          <p:nvPr/>
        </p:nvSpPr>
        <p:spPr>
          <a:xfrm>
            <a:off x="6638544" y="5340096"/>
            <a:ext cx="504748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35〜75 L/分、気化器を通らない</a:t>
            </a:r>
            <a:endParaRPr lang="ja-JP"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気化器</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Chakravarti S, Basu S. Indian J Anaesth 2013;57:464-471 / Kapoor MC, Vakamudi M.</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 Anaesthesiol Clin Pharmacol 2012;28:92-100 / 日本麻酔科学会「麻酔器の始業点検」（2022）</a:t>
            </a:r>
            <a:endParaRPr lang="ja-JP" sz="1600" dirty="0"/>
          </a:p>
        </p:txBody>
      </p:sp>
      <p:sp>
        <p:nvSpPr>
          <p:cNvPr id="11" name="Shape 9"/>
          <p:cNvSpPr/>
          <p:nvPr/>
        </p:nvSpPr>
        <p:spPr>
          <a:xfrm>
            <a:off x="502920" y="1783080"/>
            <a:ext cx="3575304" cy="3520440"/>
          </a:xfrm>
          <a:prstGeom prst="roundRect">
            <a:avLst>
              <a:gd name="adj" fmla="val 2078"/>
            </a:avLst>
          </a:prstGeom>
          <a:solidFill>
            <a:srgbClr val="F2F2F2"/>
          </a:solidFill>
          <a:ln/>
        </p:spPr>
      </p:sp>
      <p:sp>
        <p:nvSpPr>
          <p:cNvPr id="12" name="Text 10"/>
          <p:cNvSpPr txBox="1"/>
          <p:nvPr/>
        </p:nvSpPr>
        <p:spPr>
          <a:xfrm>
            <a:off x="612648" y="2002536"/>
            <a:ext cx="3355848"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可変バイパス型</a:t>
            </a:r>
            <a:endParaRPr lang="ja-JP" sz="2800" dirty="0"/>
          </a:p>
        </p:txBody>
      </p:sp>
      <p:sp>
        <p:nvSpPr>
          <p:cNvPr id="13" name="Text 11"/>
          <p:cNvSpPr txBox="1"/>
          <p:nvPr/>
        </p:nvSpPr>
        <p:spPr>
          <a:xfrm>
            <a:off x="612648" y="2743200"/>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ガスの一部を</a:t>
            </a:r>
            <a:endParaRPr lang="ja-JP" sz="2200" dirty="0"/>
          </a:p>
        </p:txBody>
      </p:sp>
      <p:sp>
        <p:nvSpPr>
          <p:cNvPr id="14" name="Text 12"/>
          <p:cNvSpPr txBox="1"/>
          <p:nvPr/>
        </p:nvSpPr>
        <p:spPr>
          <a:xfrm>
            <a:off x="612648" y="3163824"/>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液の上に通す</a:t>
            </a:r>
            <a:endParaRPr lang="ja-JP" sz="2200" dirty="0"/>
          </a:p>
        </p:txBody>
      </p:sp>
      <p:sp>
        <p:nvSpPr>
          <p:cNvPr id="15" name="Text 13"/>
          <p:cNvSpPr txBox="1"/>
          <p:nvPr/>
        </p:nvSpPr>
        <p:spPr>
          <a:xfrm>
            <a:off x="612648" y="391363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薬ごとに専用</a:t>
            </a:r>
            <a:endParaRPr lang="ja-JP" sz="2200" dirty="0"/>
          </a:p>
        </p:txBody>
      </p:sp>
      <p:sp>
        <p:nvSpPr>
          <p:cNvPr id="16" name="Text 14"/>
          <p:cNvSpPr txBox="1"/>
          <p:nvPr/>
        </p:nvSpPr>
        <p:spPr>
          <a:xfrm>
            <a:off x="612648" y="4663440"/>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温度で補正</a:t>
            </a:r>
            <a:endParaRPr lang="ja-JP" sz="2200" dirty="0"/>
          </a:p>
        </p:txBody>
      </p:sp>
      <p:sp>
        <p:nvSpPr>
          <p:cNvPr id="17" name="Shape 15"/>
          <p:cNvSpPr/>
          <p:nvPr/>
        </p:nvSpPr>
        <p:spPr>
          <a:xfrm>
            <a:off x="4306824" y="1783080"/>
            <a:ext cx="3575304" cy="3520440"/>
          </a:xfrm>
          <a:prstGeom prst="roundRect">
            <a:avLst>
              <a:gd name="adj" fmla="val 2078"/>
            </a:avLst>
          </a:prstGeom>
          <a:solidFill>
            <a:srgbClr val="F2F2F2"/>
          </a:solidFill>
          <a:ln/>
        </p:spPr>
      </p:sp>
      <p:sp>
        <p:nvSpPr>
          <p:cNvPr id="18" name="Text 16"/>
          <p:cNvSpPr txBox="1"/>
          <p:nvPr/>
        </p:nvSpPr>
        <p:spPr>
          <a:xfrm>
            <a:off x="4416552" y="2002536"/>
            <a:ext cx="3355848" cy="5394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デスフルラン用</a:t>
            </a:r>
            <a:endParaRPr lang="ja-JP" sz="2800" dirty="0"/>
          </a:p>
        </p:txBody>
      </p:sp>
      <p:sp>
        <p:nvSpPr>
          <p:cNvPr id="19" name="Text 17"/>
          <p:cNvSpPr txBox="1"/>
          <p:nvPr/>
        </p:nvSpPr>
        <p:spPr>
          <a:xfrm>
            <a:off x="4416552" y="2743200"/>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沸点が低い</a:t>
            </a:r>
            <a:endParaRPr lang="ja-JP" sz="2200" dirty="0"/>
          </a:p>
        </p:txBody>
      </p:sp>
      <p:sp>
        <p:nvSpPr>
          <p:cNvPr id="20" name="Text 18"/>
          <p:cNvSpPr txBox="1"/>
          <p:nvPr/>
        </p:nvSpPr>
        <p:spPr>
          <a:xfrm>
            <a:off x="4325112" y="3163824"/>
            <a:ext cx="3447288" cy="42062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（約 22.8 ℃）</a:t>
            </a:r>
            <a:endParaRPr lang="ja-JP" sz="2200" dirty="0"/>
          </a:p>
        </p:txBody>
      </p:sp>
      <p:sp>
        <p:nvSpPr>
          <p:cNvPr id="21" name="Text 19"/>
          <p:cNvSpPr txBox="1"/>
          <p:nvPr/>
        </p:nvSpPr>
        <p:spPr>
          <a:xfrm>
            <a:off x="4416552" y="391363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加温・加圧して気化</a:t>
            </a:r>
            <a:endParaRPr lang="ja-JP" sz="2200" dirty="0"/>
          </a:p>
        </p:txBody>
      </p:sp>
      <p:sp>
        <p:nvSpPr>
          <p:cNvPr id="22" name="Text 20"/>
          <p:cNvSpPr txBox="1"/>
          <p:nvPr/>
        </p:nvSpPr>
        <p:spPr>
          <a:xfrm>
            <a:off x="4416552" y="4663440"/>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電源が要る</a:t>
            </a:r>
            <a:endParaRPr lang="ja-JP" sz="2200" dirty="0"/>
          </a:p>
        </p:txBody>
      </p:sp>
      <p:sp>
        <p:nvSpPr>
          <p:cNvPr id="23" name="Shape 21"/>
          <p:cNvSpPr/>
          <p:nvPr/>
        </p:nvSpPr>
        <p:spPr>
          <a:xfrm>
            <a:off x="8110728" y="1783080"/>
            <a:ext cx="3575304" cy="3520440"/>
          </a:xfrm>
          <a:prstGeom prst="roundRect">
            <a:avLst>
              <a:gd name="adj" fmla="val 2078"/>
            </a:avLst>
          </a:prstGeom>
          <a:solidFill>
            <a:srgbClr val="F2F2F2"/>
          </a:solidFill>
          <a:ln/>
        </p:spPr>
      </p:sp>
      <p:sp>
        <p:nvSpPr>
          <p:cNvPr id="24" name="Text 22"/>
          <p:cNvSpPr txBox="1"/>
          <p:nvPr/>
        </p:nvSpPr>
        <p:spPr>
          <a:xfrm>
            <a:off x="8220456" y="2002536"/>
            <a:ext cx="3355848" cy="539496"/>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取り扱い</a:t>
            </a:r>
            <a:endParaRPr lang="ja-JP" sz="2800" dirty="0"/>
          </a:p>
        </p:txBody>
      </p:sp>
      <p:sp>
        <p:nvSpPr>
          <p:cNvPr id="25" name="Text 23"/>
          <p:cNvSpPr txBox="1"/>
          <p:nvPr/>
        </p:nvSpPr>
        <p:spPr>
          <a:xfrm>
            <a:off x="8220456" y="2743200"/>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傾けない</a:t>
            </a:r>
            <a:endParaRPr lang="ja-JP" sz="2200" dirty="0"/>
          </a:p>
        </p:txBody>
      </p:sp>
      <p:sp>
        <p:nvSpPr>
          <p:cNvPr id="26" name="Text 24"/>
          <p:cNvSpPr txBox="1"/>
          <p:nvPr/>
        </p:nvSpPr>
        <p:spPr>
          <a:xfrm>
            <a:off x="8220456" y="391363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同時に2つ開かない</a:t>
            </a:r>
            <a:endParaRPr lang="ja-JP" sz="2200" dirty="0"/>
          </a:p>
        </p:txBody>
      </p:sp>
      <p:sp>
        <p:nvSpPr>
          <p:cNvPr id="27" name="Text 25"/>
          <p:cNvSpPr txBox="1"/>
          <p:nvPr/>
        </p:nvSpPr>
        <p:spPr>
          <a:xfrm>
            <a:off x="8220456" y="4663440"/>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充填口は薬ごとの色</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呼吸回路（循環式）</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教科書的記述（呼吸回路）</a:t>
            </a:r>
            <a:endParaRPr lang="ja-JP" sz="1600" dirty="0"/>
          </a:p>
        </p:txBody>
      </p:sp>
      <p:sp>
        <p:nvSpPr>
          <p:cNvPr id="11" name="Shape 9"/>
          <p:cNvSpPr/>
          <p:nvPr/>
        </p:nvSpPr>
        <p:spPr>
          <a:xfrm>
            <a:off x="2103120" y="2423160"/>
            <a:ext cx="3017520" cy="1143000"/>
          </a:xfrm>
          <a:custGeom>
            <a:avLst/>
            <a:gdLst/>
            <a:ahLst/>
            <a:cxnLst/>
            <a:rect l="l" t="t" r="r" b="b"/>
            <a:pathLst>
              <a:path w="3017520" h="1143000">
                <a:moveTo>
                  <a:pt x="0" y="1143000"/>
                </a:moveTo>
                <a:lnTo>
                  <a:pt x="0" y="0"/>
                </a:lnTo>
                <a:lnTo>
                  <a:pt x="2651760" y="0"/>
                </a:lnTo>
                <a:lnTo>
                  <a:pt x="3017520" y="1051560"/>
                </a:lnTo>
              </a:path>
            </a:pathLst>
          </a:custGeom>
          <a:noFill/>
          <a:ln w="38100">
            <a:solidFill>
              <a:srgbClr val="0072B2"/>
            </a:solidFill>
            <a:prstDash val="solid"/>
          </a:ln>
        </p:spPr>
      </p:sp>
      <p:sp>
        <p:nvSpPr>
          <p:cNvPr id="12" name="Shape 10"/>
          <p:cNvSpPr/>
          <p:nvPr/>
        </p:nvSpPr>
        <p:spPr>
          <a:xfrm>
            <a:off x="2103120" y="3474720"/>
            <a:ext cx="3017520" cy="1051560"/>
          </a:xfrm>
          <a:custGeom>
            <a:avLst/>
            <a:gdLst/>
            <a:ahLst/>
            <a:cxnLst/>
            <a:rect l="l" t="t" r="r" b="b"/>
            <a:pathLst>
              <a:path w="3017520" h="1051560">
                <a:moveTo>
                  <a:pt x="3017520" y="0"/>
                </a:moveTo>
                <a:lnTo>
                  <a:pt x="2651760" y="1051560"/>
                </a:lnTo>
                <a:lnTo>
                  <a:pt x="0" y="1051560"/>
                </a:lnTo>
                <a:lnTo>
                  <a:pt x="0" y="731520"/>
                </a:lnTo>
              </a:path>
            </a:pathLst>
          </a:custGeom>
          <a:noFill/>
          <a:ln w="38100">
            <a:solidFill>
              <a:srgbClr val="D55E00"/>
            </a:solidFill>
            <a:prstDash val="solid"/>
          </a:ln>
        </p:spPr>
      </p:sp>
      <p:sp>
        <p:nvSpPr>
          <p:cNvPr id="13" name="Shape 11"/>
          <p:cNvSpPr/>
          <p:nvPr/>
        </p:nvSpPr>
        <p:spPr>
          <a:xfrm>
            <a:off x="1783080" y="3566160"/>
            <a:ext cx="640080" cy="640080"/>
          </a:xfrm>
          <a:prstGeom prst="rect">
            <a:avLst/>
          </a:prstGeom>
          <a:solidFill>
            <a:srgbClr val="F2F2F2"/>
          </a:solidFill>
          <a:ln w="38100">
            <a:solidFill>
              <a:srgbClr val="00A8AA"/>
            </a:solidFill>
            <a:prstDash val="solid"/>
          </a:ln>
        </p:spPr>
      </p:sp>
      <p:sp>
        <p:nvSpPr>
          <p:cNvPr id="14" name="Text 12"/>
          <p:cNvSpPr txBox="1"/>
          <p:nvPr/>
        </p:nvSpPr>
        <p:spPr>
          <a:xfrm>
            <a:off x="594360" y="3465576"/>
            <a:ext cx="969264" cy="841248"/>
          </a:xfrm>
          <a:prstGeom prst="rect">
            <a:avLst/>
          </a:prstGeom>
          <a:noFill/>
          <a:ln/>
        </p:spPr>
        <p:txBody>
          <a:bodyPr wrap="square" lIns="0" tIns="0" rIns="0" bIns="0" rtlCol="0" anchor="t"/>
          <a:lstStyle/>
          <a:p>
            <a:pPr algn="r" indent="0" marL="0">
              <a:buNone/>
            </a:pPr>
            <a:r>
              <a:rPr lang="ja-JP" altLang="en-US" sz="2200" b="1" dirty="0">
                <a:solidFill>
                  <a:srgbClr val="00A8AA"/>
                </a:solidFill>
                <a:latin typeface="メイリオ" pitchFamily="34" charset="0"/>
                <a:ea typeface="メイリオ" pitchFamily="34" charset="-122"/>
                <a:cs typeface="メイリオ" pitchFamily="34" charset="-120"/>
              </a:rPr>
              <a:t>CO2</a:t>
            </a:r>
            <a:endParaRPr lang="ja-JP" sz="2200" dirty="0"/>
          </a:p>
          <a:p>
            <a:pPr algn="r" indent="0" marL="0">
              <a:buNone/>
            </a:pPr>
            <a:r>
              <a:rPr lang="ja-JP" altLang="en-US" sz="2200" b="1" dirty="0">
                <a:solidFill>
                  <a:srgbClr val="00A8AA"/>
                </a:solidFill>
                <a:latin typeface="メイリオ" pitchFamily="34" charset="0"/>
                <a:ea typeface="メイリオ" pitchFamily="34" charset="-122"/>
                <a:cs typeface="メイリオ" pitchFamily="34" charset="-120"/>
              </a:rPr>
              <a:t>吸収缶</a:t>
            </a:r>
            <a:endParaRPr lang="ja-JP" sz="2200" dirty="0"/>
          </a:p>
        </p:txBody>
      </p:sp>
      <p:sp>
        <p:nvSpPr>
          <p:cNvPr id="15" name="Shape 13"/>
          <p:cNvSpPr/>
          <p:nvPr/>
        </p:nvSpPr>
        <p:spPr>
          <a:xfrm>
            <a:off x="5120640" y="3474720"/>
            <a:ext cx="676656" cy="0"/>
          </a:xfrm>
          <a:prstGeom prst="line">
            <a:avLst/>
          </a:prstGeom>
          <a:noFill/>
          <a:ln w="38100">
            <a:solidFill>
              <a:srgbClr val="404040"/>
            </a:solidFill>
            <a:prstDash val="solid"/>
          </a:ln>
        </p:spPr>
      </p:sp>
      <p:sp>
        <p:nvSpPr>
          <p:cNvPr id="16" name="Shape 14"/>
          <p:cNvSpPr/>
          <p:nvPr/>
        </p:nvSpPr>
        <p:spPr>
          <a:xfrm>
            <a:off x="5797296" y="3282696"/>
            <a:ext cx="384048" cy="384048"/>
          </a:xfrm>
          <a:prstGeom prst="ellipse">
            <a:avLst/>
          </a:prstGeom>
          <a:solidFill>
            <a:srgbClr val="F2F2F2"/>
          </a:solidFill>
          <a:ln w="31750">
            <a:solidFill>
              <a:srgbClr val="404040"/>
            </a:solidFill>
            <a:prstDash val="solid"/>
          </a:ln>
        </p:spPr>
      </p:sp>
      <p:sp>
        <p:nvSpPr>
          <p:cNvPr id="17" name="Text 15"/>
          <p:cNvSpPr txBox="1"/>
          <p:nvPr/>
        </p:nvSpPr>
        <p:spPr>
          <a:xfrm>
            <a:off x="5065776" y="3886200"/>
            <a:ext cx="1856232" cy="841248"/>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患者</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（Y ピース）</a:t>
            </a:r>
            <a:endParaRPr lang="ja-JP" sz="2200" dirty="0"/>
          </a:p>
        </p:txBody>
      </p:sp>
      <p:sp>
        <p:nvSpPr>
          <p:cNvPr id="18" name="Shape 16"/>
          <p:cNvSpPr/>
          <p:nvPr/>
        </p:nvSpPr>
        <p:spPr>
          <a:xfrm>
            <a:off x="2907792" y="2221992"/>
            <a:ext cx="402336" cy="402336"/>
          </a:xfrm>
          <a:custGeom>
            <a:avLst/>
            <a:gdLst/>
            <a:ahLst/>
            <a:cxnLst/>
            <a:rect l="l" t="t" r="r" b="b"/>
            <a:pathLst>
              <a:path w="402336" h="402336">
                <a:moveTo>
                  <a:pt x="0" y="0"/>
                </a:moveTo>
                <a:lnTo>
                  <a:pt x="402336" y="201168"/>
                </a:lnTo>
                <a:lnTo>
                  <a:pt x="0" y="402336"/>
                </a:lnTo>
                <a:close/>
              </a:path>
            </a:pathLst>
          </a:custGeom>
          <a:solidFill>
            <a:srgbClr val="0072B2"/>
          </a:solidFill>
          <a:ln w="12700">
            <a:solidFill>
              <a:srgbClr val="0072B2"/>
            </a:solidFill>
            <a:prstDash val="solid"/>
          </a:ln>
        </p:spPr>
      </p:sp>
      <p:sp>
        <p:nvSpPr>
          <p:cNvPr id="19" name="Text 17"/>
          <p:cNvSpPr txBox="1"/>
          <p:nvPr/>
        </p:nvSpPr>
        <p:spPr>
          <a:xfrm>
            <a:off x="2560320" y="1581912"/>
            <a:ext cx="1097280" cy="420624"/>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吸気弁</a:t>
            </a:r>
            <a:endParaRPr lang="ja-JP" sz="2200" dirty="0"/>
          </a:p>
        </p:txBody>
      </p:sp>
      <p:sp>
        <p:nvSpPr>
          <p:cNvPr id="20" name="Shape 18"/>
          <p:cNvSpPr/>
          <p:nvPr/>
        </p:nvSpPr>
        <p:spPr>
          <a:xfrm>
            <a:off x="3867912" y="4325112"/>
            <a:ext cx="402336" cy="402336"/>
          </a:xfrm>
          <a:custGeom>
            <a:avLst/>
            <a:gdLst/>
            <a:ahLst/>
            <a:cxnLst/>
            <a:rect l="l" t="t" r="r" b="b"/>
            <a:pathLst>
              <a:path w="402336" h="402336">
                <a:moveTo>
                  <a:pt x="402336" y="0"/>
                </a:moveTo>
                <a:lnTo>
                  <a:pt x="0" y="201168"/>
                </a:lnTo>
                <a:lnTo>
                  <a:pt x="402336" y="402336"/>
                </a:lnTo>
                <a:close/>
              </a:path>
            </a:pathLst>
          </a:custGeom>
          <a:solidFill>
            <a:srgbClr val="D55E00"/>
          </a:solidFill>
          <a:ln w="12700">
            <a:solidFill>
              <a:srgbClr val="D55E00"/>
            </a:solidFill>
            <a:prstDash val="solid"/>
          </a:ln>
        </p:spPr>
      </p:sp>
      <p:sp>
        <p:nvSpPr>
          <p:cNvPr id="21" name="Text 19"/>
          <p:cNvSpPr txBox="1"/>
          <p:nvPr/>
        </p:nvSpPr>
        <p:spPr>
          <a:xfrm>
            <a:off x="3520440" y="3685032"/>
            <a:ext cx="1097280" cy="420624"/>
          </a:xfrm>
          <a:prstGeom prst="rect">
            <a:avLst/>
          </a:prstGeom>
          <a:noFill/>
          <a:ln/>
        </p:spPr>
        <p:txBody>
          <a:bodyPr wrap="square" lIns="0" tIns="0" rIns="0" bIns="0" rtlCol="0" anchor="t"/>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呼気弁</a:t>
            </a:r>
            <a:endParaRPr lang="ja-JP" sz="2200" dirty="0"/>
          </a:p>
        </p:txBody>
      </p:sp>
      <p:sp>
        <p:nvSpPr>
          <p:cNvPr id="22" name="Shape 20"/>
          <p:cNvSpPr/>
          <p:nvPr/>
        </p:nvSpPr>
        <p:spPr>
          <a:xfrm>
            <a:off x="3200400" y="4526280"/>
            <a:ext cx="0" cy="502920"/>
          </a:xfrm>
          <a:prstGeom prst="line">
            <a:avLst/>
          </a:prstGeom>
          <a:noFill/>
          <a:ln w="38100">
            <a:solidFill>
              <a:srgbClr val="404040"/>
            </a:solidFill>
            <a:prstDash val="solid"/>
          </a:ln>
        </p:spPr>
      </p:sp>
      <p:sp>
        <p:nvSpPr>
          <p:cNvPr id="23" name="Shape 21"/>
          <p:cNvSpPr/>
          <p:nvPr/>
        </p:nvSpPr>
        <p:spPr>
          <a:xfrm>
            <a:off x="3063240" y="5029200"/>
            <a:ext cx="274320" cy="274320"/>
          </a:xfrm>
          <a:prstGeom prst="rect">
            <a:avLst/>
          </a:prstGeom>
          <a:solidFill>
            <a:srgbClr val="FFFFFF"/>
          </a:solidFill>
          <a:ln w="31750">
            <a:solidFill>
              <a:srgbClr val="404040"/>
            </a:solidFill>
            <a:prstDash val="solid"/>
          </a:ln>
        </p:spPr>
      </p:sp>
      <p:sp>
        <p:nvSpPr>
          <p:cNvPr id="24" name="Text 22"/>
          <p:cNvSpPr txBox="1"/>
          <p:nvPr/>
        </p:nvSpPr>
        <p:spPr>
          <a:xfrm>
            <a:off x="3557016" y="4956048"/>
            <a:ext cx="96926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APL 弁</a:t>
            </a:r>
            <a:endParaRPr lang="ja-JP" sz="2200" dirty="0"/>
          </a:p>
        </p:txBody>
      </p:sp>
      <p:sp>
        <p:nvSpPr>
          <p:cNvPr id="25" name="Shape 23"/>
          <p:cNvSpPr/>
          <p:nvPr/>
        </p:nvSpPr>
        <p:spPr>
          <a:xfrm>
            <a:off x="2514600" y="4526280"/>
            <a:ext cx="0" cy="274320"/>
          </a:xfrm>
          <a:prstGeom prst="line">
            <a:avLst/>
          </a:prstGeom>
          <a:noFill/>
          <a:ln w="38100">
            <a:solidFill>
              <a:srgbClr val="404040"/>
            </a:solidFill>
            <a:prstDash val="solid"/>
          </a:ln>
        </p:spPr>
      </p:sp>
      <p:sp>
        <p:nvSpPr>
          <p:cNvPr id="26" name="Shape 24"/>
          <p:cNvSpPr/>
          <p:nvPr/>
        </p:nvSpPr>
        <p:spPr>
          <a:xfrm>
            <a:off x="2258568" y="4800600"/>
            <a:ext cx="512064" cy="731520"/>
          </a:xfrm>
          <a:prstGeom prst="ellipse">
            <a:avLst/>
          </a:prstGeom>
          <a:solidFill>
            <a:srgbClr val="F2F2F2"/>
          </a:solidFill>
          <a:ln w="31750">
            <a:solidFill>
              <a:srgbClr val="404040"/>
            </a:solidFill>
            <a:prstDash val="solid"/>
          </a:ln>
        </p:spPr>
      </p:sp>
      <p:sp>
        <p:nvSpPr>
          <p:cNvPr id="27" name="Text 25"/>
          <p:cNvSpPr txBox="1"/>
          <p:nvPr/>
        </p:nvSpPr>
        <p:spPr>
          <a:xfrm>
            <a:off x="1069848" y="4956048"/>
            <a:ext cx="969264" cy="42062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バッグ</a:t>
            </a:r>
            <a:endParaRPr lang="ja-JP" sz="2200" dirty="0"/>
          </a:p>
        </p:txBody>
      </p:sp>
      <p:sp>
        <p:nvSpPr>
          <p:cNvPr id="28" name="Shape 26"/>
          <p:cNvSpPr/>
          <p:nvPr/>
        </p:nvSpPr>
        <p:spPr>
          <a:xfrm>
            <a:off x="640080" y="2788920"/>
            <a:ext cx="1463040" cy="0"/>
          </a:xfrm>
          <a:prstGeom prst="line">
            <a:avLst/>
          </a:prstGeom>
          <a:noFill/>
          <a:ln w="44450">
            <a:solidFill>
              <a:srgbClr val="0072B2"/>
            </a:solidFill>
            <a:prstDash val="solid"/>
            <a:tailEnd type="triangle"/>
          </a:ln>
        </p:spPr>
      </p:sp>
      <p:sp>
        <p:nvSpPr>
          <p:cNvPr id="29" name="Text 27"/>
          <p:cNvSpPr txBox="1"/>
          <p:nvPr/>
        </p:nvSpPr>
        <p:spPr>
          <a:xfrm>
            <a:off x="502920" y="2148840"/>
            <a:ext cx="1289304"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新鮮ガス</a:t>
            </a:r>
            <a:endParaRPr lang="ja-JP" sz="2200" dirty="0"/>
          </a:p>
        </p:txBody>
      </p:sp>
      <p:sp>
        <p:nvSpPr>
          <p:cNvPr id="30" name="Shape 28"/>
          <p:cNvSpPr/>
          <p:nvPr/>
        </p:nvSpPr>
        <p:spPr>
          <a:xfrm>
            <a:off x="3950208" y="2295144"/>
            <a:ext cx="146304" cy="256032"/>
          </a:xfrm>
          <a:custGeom>
            <a:avLst/>
            <a:gdLst/>
            <a:ahLst/>
            <a:cxnLst/>
            <a:rect l="l" t="t" r="r" b="b"/>
            <a:pathLst>
              <a:path w="146304" h="256032">
                <a:moveTo>
                  <a:pt x="0" y="0"/>
                </a:moveTo>
                <a:lnTo>
                  <a:pt x="146304" y="128016"/>
                </a:lnTo>
                <a:lnTo>
                  <a:pt x="0" y="256032"/>
                </a:lnTo>
              </a:path>
            </a:pathLst>
          </a:custGeom>
          <a:noFill/>
          <a:ln w="57150">
            <a:solidFill>
              <a:srgbClr val="0072B2"/>
            </a:solidFill>
            <a:prstDash val="solid"/>
          </a:ln>
        </p:spPr>
      </p:sp>
      <p:sp>
        <p:nvSpPr>
          <p:cNvPr id="31" name="Shape 29"/>
          <p:cNvSpPr/>
          <p:nvPr/>
        </p:nvSpPr>
        <p:spPr>
          <a:xfrm>
            <a:off x="3465576" y="4398264"/>
            <a:ext cx="146304" cy="256032"/>
          </a:xfrm>
          <a:custGeom>
            <a:avLst/>
            <a:gdLst/>
            <a:ahLst/>
            <a:cxnLst/>
            <a:rect l="l" t="t" r="r" b="b"/>
            <a:pathLst>
              <a:path w="146304" h="256032">
                <a:moveTo>
                  <a:pt x="146304" y="0"/>
                </a:moveTo>
                <a:lnTo>
                  <a:pt x="0" y="128016"/>
                </a:lnTo>
                <a:lnTo>
                  <a:pt x="146304" y="256032"/>
                </a:lnTo>
              </a:path>
            </a:pathLst>
          </a:custGeom>
          <a:noFill/>
          <a:ln w="57150">
            <a:solidFill>
              <a:srgbClr val="D55E00"/>
            </a:solidFill>
            <a:prstDash val="solid"/>
          </a:ln>
        </p:spPr>
      </p:sp>
      <p:sp>
        <p:nvSpPr>
          <p:cNvPr id="32" name="Shape 30"/>
          <p:cNvSpPr/>
          <p:nvPr/>
        </p:nvSpPr>
        <p:spPr>
          <a:xfrm>
            <a:off x="1975104" y="3099816"/>
            <a:ext cx="256032" cy="146304"/>
          </a:xfrm>
          <a:custGeom>
            <a:avLst/>
            <a:gdLst/>
            <a:ahLst/>
            <a:cxnLst/>
            <a:rect l="l" t="t" r="r" b="b"/>
            <a:pathLst>
              <a:path w="256032" h="146304">
                <a:moveTo>
                  <a:pt x="0" y="146304"/>
                </a:moveTo>
                <a:lnTo>
                  <a:pt x="128016" y="0"/>
                </a:lnTo>
                <a:lnTo>
                  <a:pt x="256032" y="146304"/>
                </a:lnTo>
              </a:path>
            </a:pathLst>
          </a:custGeom>
          <a:noFill/>
          <a:ln w="57150">
            <a:solidFill>
              <a:srgbClr val="0072B2"/>
            </a:solidFill>
            <a:prstDash val="solid"/>
          </a:ln>
        </p:spPr>
      </p:sp>
      <p:sp>
        <p:nvSpPr>
          <p:cNvPr id="33" name="Text 31"/>
          <p:cNvSpPr txBox="1"/>
          <p:nvPr/>
        </p:nvSpPr>
        <p:spPr>
          <a:xfrm>
            <a:off x="7178040" y="1737360"/>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34" name="Text 32"/>
          <p:cNvSpPr txBox="1"/>
          <p:nvPr/>
        </p:nvSpPr>
        <p:spPr>
          <a:xfrm>
            <a:off x="7543800" y="1737360"/>
            <a:ext cx="41422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一方弁が</a:t>
            </a:r>
            <a:endParaRPr lang="ja-JP" sz="2400" dirty="0"/>
          </a:p>
        </p:txBody>
      </p:sp>
      <p:sp>
        <p:nvSpPr>
          <p:cNvPr id="35" name="Text 33"/>
          <p:cNvSpPr txBox="1"/>
          <p:nvPr/>
        </p:nvSpPr>
        <p:spPr>
          <a:xfrm>
            <a:off x="7543800" y="2194560"/>
            <a:ext cx="41422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吸気と呼気を分ける</a:t>
            </a:r>
            <a:endParaRPr lang="ja-JP" sz="2400" dirty="0"/>
          </a:p>
        </p:txBody>
      </p:sp>
      <p:sp>
        <p:nvSpPr>
          <p:cNvPr id="36" name="Text 34"/>
          <p:cNvSpPr txBox="1"/>
          <p:nvPr/>
        </p:nvSpPr>
        <p:spPr>
          <a:xfrm>
            <a:off x="7178040" y="2852928"/>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37" name="Text 35"/>
          <p:cNvSpPr txBox="1"/>
          <p:nvPr/>
        </p:nvSpPr>
        <p:spPr>
          <a:xfrm>
            <a:off x="7543800" y="2852928"/>
            <a:ext cx="41422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呼気は CO2 吸収缶を</a:t>
            </a:r>
            <a:endParaRPr lang="ja-JP" sz="2400" dirty="0"/>
          </a:p>
        </p:txBody>
      </p:sp>
      <p:sp>
        <p:nvSpPr>
          <p:cNvPr id="38" name="Text 36"/>
          <p:cNvSpPr txBox="1"/>
          <p:nvPr/>
        </p:nvSpPr>
        <p:spPr>
          <a:xfrm>
            <a:off x="7543800" y="3310128"/>
            <a:ext cx="41422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通って再利用される</a:t>
            </a:r>
            <a:endParaRPr lang="ja-JP" sz="2400" dirty="0"/>
          </a:p>
        </p:txBody>
      </p:sp>
      <p:sp>
        <p:nvSpPr>
          <p:cNvPr id="39" name="Text 37"/>
          <p:cNvSpPr txBox="1"/>
          <p:nvPr/>
        </p:nvSpPr>
        <p:spPr>
          <a:xfrm>
            <a:off x="7178040" y="3968496"/>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40" name="Text 38"/>
          <p:cNvSpPr txBox="1"/>
          <p:nvPr/>
        </p:nvSpPr>
        <p:spPr>
          <a:xfrm>
            <a:off x="7543800" y="3968496"/>
            <a:ext cx="41422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APL 弁：用手換気のときに</a:t>
            </a:r>
            <a:endParaRPr lang="ja-JP" sz="2400" dirty="0"/>
          </a:p>
        </p:txBody>
      </p:sp>
      <p:sp>
        <p:nvSpPr>
          <p:cNvPr id="41" name="Text 39"/>
          <p:cNvSpPr txBox="1"/>
          <p:nvPr/>
        </p:nvSpPr>
        <p:spPr>
          <a:xfrm>
            <a:off x="7543800" y="4425696"/>
            <a:ext cx="41422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圧を逃がす</a:t>
            </a:r>
            <a:endParaRPr lang="ja-JP" sz="2400" dirty="0"/>
          </a:p>
        </p:txBody>
      </p:sp>
      <p:sp>
        <p:nvSpPr>
          <p:cNvPr id="42" name="Text 40"/>
          <p:cNvSpPr txBox="1"/>
          <p:nvPr/>
        </p:nvSpPr>
        <p:spPr>
          <a:xfrm>
            <a:off x="7178040" y="5084064"/>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43" name="Text 41"/>
          <p:cNvSpPr txBox="1"/>
          <p:nvPr/>
        </p:nvSpPr>
        <p:spPr>
          <a:xfrm>
            <a:off x="7543800" y="5084064"/>
            <a:ext cx="41422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バッグ ↔ 人工呼吸器を</a:t>
            </a:r>
            <a:endParaRPr lang="ja-JP" sz="2400" dirty="0"/>
          </a:p>
        </p:txBody>
      </p:sp>
      <p:sp>
        <p:nvSpPr>
          <p:cNvPr id="44" name="Text 42"/>
          <p:cNvSpPr txBox="1"/>
          <p:nvPr/>
        </p:nvSpPr>
        <p:spPr>
          <a:xfrm>
            <a:off x="7543800" y="5541264"/>
            <a:ext cx="41422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切り替えて使う</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二酸化炭素吸収剤</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Fang ZX, et al. Anesth Analg 1995 / Kharasch ED, et al. Anesthesiology 2002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Laster M, et al. Anesth Analg 2004 / Parthasarathy S. Indian J Anaesth 2013</a:t>
            </a:r>
            <a:endParaRPr lang="ja-JP" sz="1600" dirty="0"/>
          </a:p>
        </p:txBody>
      </p:sp>
      <p:sp>
        <p:nvSpPr>
          <p:cNvPr id="11" name="Shape 9"/>
          <p:cNvSpPr/>
          <p:nvPr/>
        </p:nvSpPr>
        <p:spPr>
          <a:xfrm>
            <a:off x="502920" y="1783080"/>
            <a:ext cx="3575304" cy="3840480"/>
          </a:xfrm>
          <a:prstGeom prst="roundRect">
            <a:avLst>
              <a:gd name="adj" fmla="val 2046"/>
            </a:avLst>
          </a:prstGeom>
          <a:solidFill>
            <a:srgbClr val="F2F2F2"/>
          </a:solidFill>
          <a:ln/>
        </p:spPr>
      </p:sp>
      <p:sp>
        <p:nvSpPr>
          <p:cNvPr id="12" name="Text 10"/>
          <p:cNvSpPr txBox="1"/>
          <p:nvPr/>
        </p:nvSpPr>
        <p:spPr>
          <a:xfrm>
            <a:off x="612648" y="1984248"/>
            <a:ext cx="3355848"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働き</a:t>
            </a:r>
            <a:endParaRPr lang="ja-JP" sz="2800" dirty="0"/>
          </a:p>
        </p:txBody>
      </p:sp>
      <p:sp>
        <p:nvSpPr>
          <p:cNvPr id="13" name="Text 11"/>
          <p:cNvSpPr txBox="1"/>
          <p:nvPr/>
        </p:nvSpPr>
        <p:spPr>
          <a:xfrm>
            <a:off x="612648" y="272491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呼気の CO2 を</a:t>
            </a:r>
            <a:endParaRPr lang="ja-JP" sz="2200" dirty="0"/>
          </a:p>
        </p:txBody>
      </p:sp>
      <p:sp>
        <p:nvSpPr>
          <p:cNvPr id="14" name="Text 12"/>
          <p:cNvSpPr txBox="1"/>
          <p:nvPr/>
        </p:nvSpPr>
        <p:spPr>
          <a:xfrm>
            <a:off x="612648" y="3145536"/>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化学反応で吸収</a:t>
            </a:r>
            <a:endParaRPr lang="ja-JP" sz="2200" dirty="0"/>
          </a:p>
        </p:txBody>
      </p:sp>
      <p:sp>
        <p:nvSpPr>
          <p:cNvPr id="15" name="Text 13"/>
          <p:cNvSpPr txBox="1"/>
          <p:nvPr/>
        </p:nvSpPr>
        <p:spPr>
          <a:xfrm>
            <a:off x="612648" y="3858768"/>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色の変化で消耗を知る</a:t>
            </a:r>
            <a:endParaRPr lang="ja-JP" sz="2200" dirty="0"/>
          </a:p>
        </p:txBody>
      </p:sp>
      <p:sp>
        <p:nvSpPr>
          <p:cNvPr id="16" name="Shape 14"/>
          <p:cNvSpPr/>
          <p:nvPr/>
        </p:nvSpPr>
        <p:spPr>
          <a:xfrm>
            <a:off x="4306824" y="1783080"/>
            <a:ext cx="3575304" cy="3840480"/>
          </a:xfrm>
          <a:prstGeom prst="roundRect">
            <a:avLst>
              <a:gd name="adj" fmla="val 2046"/>
            </a:avLst>
          </a:prstGeom>
          <a:solidFill>
            <a:srgbClr val="F2F2F2"/>
          </a:solidFill>
          <a:ln/>
        </p:spPr>
      </p:sp>
      <p:sp>
        <p:nvSpPr>
          <p:cNvPr id="17" name="Text 15"/>
          <p:cNvSpPr txBox="1"/>
          <p:nvPr/>
        </p:nvSpPr>
        <p:spPr>
          <a:xfrm>
            <a:off x="4416552" y="1984248"/>
            <a:ext cx="3355848" cy="539496"/>
          </a:xfrm>
          <a:prstGeom prst="rect">
            <a:avLst/>
          </a:prstGeom>
          <a:noFill/>
          <a:ln/>
        </p:spPr>
        <p:txBody>
          <a:bodyPr wrap="square" lIns="0" tIns="0" rIns="0" bIns="0" rtlCol="0" anchor="t"/>
          <a:lstStyle/>
          <a:p>
            <a:pPr algn="l" indent="0" marL="0">
              <a:buNone/>
            </a:pPr>
            <a:r>
              <a:rPr lang="ja-JP" altLang="en-US" sz="2800" b="1" dirty="0">
                <a:solidFill>
                  <a:srgbClr val="C00000"/>
                </a:solidFill>
                <a:latin typeface="メイリオ" pitchFamily="34" charset="0"/>
                <a:ea typeface="メイリオ" pitchFamily="34" charset="-122"/>
                <a:cs typeface="メイリオ" pitchFamily="34" charset="-120"/>
              </a:rPr>
              <a:t>落とし穴</a:t>
            </a:r>
            <a:endParaRPr lang="ja-JP" sz="2800" dirty="0"/>
          </a:p>
        </p:txBody>
      </p:sp>
      <p:sp>
        <p:nvSpPr>
          <p:cNvPr id="18" name="Text 16"/>
          <p:cNvSpPr txBox="1"/>
          <p:nvPr/>
        </p:nvSpPr>
        <p:spPr>
          <a:xfrm>
            <a:off x="4416552" y="2724912"/>
            <a:ext cx="3355848" cy="420624"/>
          </a:xfrm>
          <a:prstGeom prst="rect">
            <a:avLst/>
          </a:prstGeom>
          <a:noFill/>
          <a:ln/>
        </p:spPr>
        <p:txBody>
          <a:bodyPr wrap="square" lIns="0" tIns="0" rIns="0" bIns="0" rtlCol="0" anchor="t"/>
          <a:lstStyle/>
          <a:p>
            <a:pPr algn="l" indent="0" marL="0">
              <a:buNone/>
            </a:pPr>
            <a:r>
              <a:rPr lang="ja-JP" altLang="en-US" sz="2200" b="1" dirty="0">
                <a:solidFill>
                  <a:srgbClr val="C00000"/>
                </a:solidFill>
                <a:latin typeface="メイリオ" pitchFamily="34" charset="0"/>
                <a:ea typeface="メイリオ" pitchFamily="34" charset="-122"/>
                <a:cs typeface="メイリオ" pitchFamily="34" charset="-120"/>
              </a:rPr>
              <a:t>乾燥すると</a:t>
            </a:r>
            <a:endParaRPr lang="ja-JP" sz="2200" dirty="0"/>
          </a:p>
        </p:txBody>
      </p:sp>
      <p:sp>
        <p:nvSpPr>
          <p:cNvPr id="19" name="Text 17"/>
          <p:cNvSpPr txBox="1"/>
          <p:nvPr/>
        </p:nvSpPr>
        <p:spPr>
          <a:xfrm>
            <a:off x="4416552" y="3145536"/>
            <a:ext cx="3355848" cy="420624"/>
          </a:xfrm>
          <a:prstGeom prst="rect">
            <a:avLst/>
          </a:prstGeom>
          <a:noFill/>
          <a:ln/>
        </p:spPr>
        <p:txBody>
          <a:bodyPr wrap="square" lIns="0" tIns="0" rIns="0" bIns="0" rtlCol="0" anchor="t"/>
          <a:lstStyle/>
          <a:p>
            <a:pPr algn="l" indent="0" marL="0">
              <a:buNone/>
            </a:pPr>
            <a:r>
              <a:rPr lang="ja-JP" altLang="en-US" sz="2200" b="1" dirty="0">
                <a:solidFill>
                  <a:srgbClr val="C00000"/>
                </a:solidFill>
                <a:latin typeface="メイリオ" pitchFamily="34" charset="0"/>
                <a:ea typeface="メイリオ" pitchFamily="34" charset="-122"/>
                <a:cs typeface="メイリオ" pitchFamily="34" charset="-120"/>
              </a:rPr>
              <a:t>CO・異常発熱</a:t>
            </a:r>
            <a:endParaRPr lang="ja-JP" sz="2200" dirty="0"/>
          </a:p>
        </p:txBody>
      </p:sp>
      <p:sp>
        <p:nvSpPr>
          <p:cNvPr id="20" name="Text 18"/>
          <p:cNvSpPr txBox="1"/>
          <p:nvPr/>
        </p:nvSpPr>
        <p:spPr>
          <a:xfrm>
            <a:off x="4416552" y="3858768"/>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色が戻ることがある</a:t>
            </a:r>
            <a:endParaRPr lang="ja-JP" sz="2200" dirty="0"/>
          </a:p>
        </p:txBody>
      </p:sp>
      <p:sp>
        <p:nvSpPr>
          <p:cNvPr id="21" name="Text 19"/>
          <p:cNvSpPr txBox="1"/>
          <p:nvPr/>
        </p:nvSpPr>
        <p:spPr>
          <a:xfrm>
            <a:off x="4416552" y="4992624"/>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時間でも管理する</a:t>
            </a:r>
            <a:endParaRPr lang="ja-JP" sz="2200" dirty="0"/>
          </a:p>
        </p:txBody>
      </p:sp>
      <p:sp>
        <p:nvSpPr>
          <p:cNvPr id="22" name="Shape 20"/>
          <p:cNvSpPr/>
          <p:nvPr/>
        </p:nvSpPr>
        <p:spPr>
          <a:xfrm>
            <a:off x="8110728" y="1783080"/>
            <a:ext cx="3575304" cy="3840480"/>
          </a:xfrm>
          <a:prstGeom prst="roundRect">
            <a:avLst>
              <a:gd name="adj" fmla="val 2046"/>
            </a:avLst>
          </a:prstGeom>
          <a:solidFill>
            <a:srgbClr val="F2F2F2"/>
          </a:solidFill>
          <a:ln/>
        </p:spPr>
      </p:sp>
      <p:sp>
        <p:nvSpPr>
          <p:cNvPr id="23" name="Text 21"/>
          <p:cNvSpPr txBox="1"/>
          <p:nvPr/>
        </p:nvSpPr>
        <p:spPr>
          <a:xfrm>
            <a:off x="8220456" y="1984248"/>
            <a:ext cx="3355848" cy="539496"/>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交換</a:t>
            </a:r>
            <a:endParaRPr lang="ja-JP" sz="2800" dirty="0"/>
          </a:p>
        </p:txBody>
      </p:sp>
      <p:sp>
        <p:nvSpPr>
          <p:cNvPr id="24" name="Text 22"/>
          <p:cNvSpPr txBox="1"/>
          <p:nvPr/>
        </p:nvSpPr>
        <p:spPr>
          <a:xfrm>
            <a:off x="8220456" y="272491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基線が上がったら交換</a:t>
            </a:r>
            <a:endParaRPr lang="ja-JP" sz="2200" dirty="0"/>
          </a:p>
        </p:txBody>
      </p:sp>
      <p:sp>
        <p:nvSpPr>
          <p:cNvPr id="25" name="Text 23"/>
          <p:cNvSpPr txBox="1"/>
          <p:nvPr/>
        </p:nvSpPr>
        <p:spPr>
          <a:xfrm>
            <a:off x="8220456" y="3858768"/>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交換したら回路の</a:t>
            </a:r>
            <a:endParaRPr lang="ja-JP" sz="2200" dirty="0"/>
          </a:p>
        </p:txBody>
      </p:sp>
      <p:sp>
        <p:nvSpPr>
          <p:cNvPr id="26" name="Text 24"/>
          <p:cNvSpPr txBox="1"/>
          <p:nvPr/>
        </p:nvSpPr>
        <p:spPr>
          <a:xfrm>
            <a:off x="8220456" y="4279392"/>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リークテスト</a:t>
            </a:r>
            <a:endParaRPr lang="ja-JP" sz="2200" dirty="0"/>
          </a:p>
        </p:txBody>
      </p:sp>
      <p:sp>
        <p:nvSpPr>
          <p:cNvPr id="27" name="Text 25"/>
          <p:cNvSpPr txBox="1"/>
          <p:nvPr/>
        </p:nvSpPr>
        <p:spPr>
          <a:xfrm>
            <a:off x="8220456" y="4992624"/>
            <a:ext cx="33558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在庫と記録</a:t>
            </a:r>
            <a:endParaRPr lang="ja-JP"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新鮮ガス流量と低流量麻酔</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Parthasarathy S. Indian J Anaesth 2013;57:516-524 / セボフルラン吸入麻酔液 添付文書</a:t>
            </a:r>
            <a:endParaRPr lang="ja-JP" sz="1600" dirty="0"/>
          </a:p>
        </p:txBody>
      </p:sp>
      <p:sp>
        <p:nvSpPr>
          <p:cNvPr id="11" name="Shape 9"/>
          <p:cNvSpPr/>
          <p:nvPr/>
        </p:nvSpPr>
        <p:spPr>
          <a:xfrm>
            <a:off x="2596896" y="2240280"/>
            <a:ext cx="2523744" cy="402336"/>
          </a:xfrm>
          <a:prstGeom prst="rect">
            <a:avLst/>
          </a:prstGeom>
          <a:solidFill>
            <a:srgbClr val="0072B2"/>
          </a:solidFill>
          <a:ln/>
        </p:spPr>
      </p:sp>
      <p:sp>
        <p:nvSpPr>
          <p:cNvPr id="12" name="Text 10"/>
          <p:cNvSpPr txBox="1"/>
          <p:nvPr/>
        </p:nvSpPr>
        <p:spPr>
          <a:xfrm>
            <a:off x="1719072" y="2231136"/>
            <a:ext cx="658368" cy="420624"/>
          </a:xfrm>
          <a:prstGeom prst="rect">
            <a:avLst/>
          </a:prstGeom>
          <a:noFill/>
          <a:ln/>
        </p:spPr>
        <p:txBody>
          <a:bodyPr wrap="square" lIns="0" tIns="0" rIns="0" bIns="0" rtlCol="0" anchor="t"/>
          <a:lstStyle/>
          <a:p>
            <a:pPr algn="r" indent="0" marL="0">
              <a:buNone/>
            </a:pPr>
            <a:r>
              <a:rPr lang="ja-JP" altLang="en-US" sz="2200" b="1" dirty="0">
                <a:solidFill>
                  <a:srgbClr val="0072B2"/>
                </a:solidFill>
                <a:latin typeface="メイリオ" pitchFamily="34" charset="0"/>
                <a:ea typeface="メイリオ" pitchFamily="34" charset="-122"/>
                <a:cs typeface="メイリオ" pitchFamily="34" charset="-120"/>
              </a:rPr>
              <a:t>設定</a:t>
            </a:r>
            <a:endParaRPr lang="ja-JP" sz="2200" dirty="0"/>
          </a:p>
        </p:txBody>
      </p:sp>
      <p:sp>
        <p:nvSpPr>
          <p:cNvPr id="13" name="Shape 11"/>
          <p:cNvSpPr/>
          <p:nvPr/>
        </p:nvSpPr>
        <p:spPr>
          <a:xfrm>
            <a:off x="2596896" y="2880360"/>
            <a:ext cx="2395728" cy="402336"/>
          </a:xfrm>
          <a:prstGeom prst="rect">
            <a:avLst/>
          </a:prstGeom>
          <a:solidFill>
            <a:srgbClr val="D55E00"/>
          </a:solidFill>
          <a:ln/>
        </p:spPr>
      </p:sp>
      <p:sp>
        <p:nvSpPr>
          <p:cNvPr id="14" name="Text 12"/>
          <p:cNvSpPr txBox="1"/>
          <p:nvPr/>
        </p:nvSpPr>
        <p:spPr>
          <a:xfrm>
            <a:off x="1719072" y="2871216"/>
            <a:ext cx="658368" cy="420624"/>
          </a:xfrm>
          <a:prstGeom prst="rect">
            <a:avLst/>
          </a:prstGeom>
          <a:noFill/>
          <a:ln/>
        </p:spPr>
        <p:txBody>
          <a:bodyPr wrap="square" lIns="0" tIns="0" rIns="0" bIns="0" rtlCol="0" anchor="t"/>
          <a:lstStyle/>
          <a:p>
            <a:pPr algn="r" indent="0" marL="0">
              <a:buNone/>
            </a:pPr>
            <a:r>
              <a:rPr lang="ja-JP" altLang="en-US" sz="2200" b="1" dirty="0">
                <a:solidFill>
                  <a:srgbClr val="D55E00"/>
                </a:solidFill>
                <a:latin typeface="メイリオ" pitchFamily="34" charset="0"/>
                <a:ea typeface="メイリオ" pitchFamily="34" charset="-122"/>
                <a:cs typeface="メイリオ" pitchFamily="34" charset="-120"/>
              </a:rPr>
              <a:t>吸入</a:t>
            </a:r>
            <a:endParaRPr lang="ja-JP" sz="2200" dirty="0"/>
          </a:p>
        </p:txBody>
      </p:sp>
      <p:sp>
        <p:nvSpPr>
          <p:cNvPr id="15" name="Shape 13"/>
          <p:cNvSpPr/>
          <p:nvPr/>
        </p:nvSpPr>
        <p:spPr>
          <a:xfrm>
            <a:off x="5184648" y="2075688"/>
            <a:ext cx="0" cy="1371600"/>
          </a:xfrm>
          <a:prstGeom prst="line">
            <a:avLst/>
          </a:prstGeom>
          <a:noFill/>
          <a:ln w="19050">
            <a:solidFill>
              <a:srgbClr val="404040"/>
            </a:solidFill>
            <a:prstDash val="dash"/>
          </a:ln>
        </p:spPr>
      </p:sp>
      <p:sp>
        <p:nvSpPr>
          <p:cNvPr id="16" name="Text 14"/>
          <p:cNvSpPr txBox="1"/>
          <p:nvPr/>
        </p:nvSpPr>
        <p:spPr>
          <a:xfrm>
            <a:off x="502920" y="2551176"/>
            <a:ext cx="100584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高流量</a:t>
            </a:r>
            <a:endParaRPr lang="ja-JP" sz="2200" dirty="0"/>
          </a:p>
        </p:txBody>
      </p:sp>
      <p:sp>
        <p:nvSpPr>
          <p:cNvPr id="17" name="Shape 15"/>
          <p:cNvSpPr/>
          <p:nvPr/>
        </p:nvSpPr>
        <p:spPr>
          <a:xfrm>
            <a:off x="2596896" y="4069080"/>
            <a:ext cx="2523744" cy="402336"/>
          </a:xfrm>
          <a:prstGeom prst="rect">
            <a:avLst/>
          </a:prstGeom>
          <a:solidFill>
            <a:srgbClr val="0072B2"/>
          </a:solidFill>
          <a:ln/>
        </p:spPr>
      </p:sp>
      <p:sp>
        <p:nvSpPr>
          <p:cNvPr id="18" name="Text 16"/>
          <p:cNvSpPr txBox="1"/>
          <p:nvPr/>
        </p:nvSpPr>
        <p:spPr>
          <a:xfrm>
            <a:off x="1719072" y="4059936"/>
            <a:ext cx="658368" cy="420624"/>
          </a:xfrm>
          <a:prstGeom prst="rect">
            <a:avLst/>
          </a:prstGeom>
          <a:noFill/>
          <a:ln/>
        </p:spPr>
        <p:txBody>
          <a:bodyPr wrap="square" lIns="0" tIns="0" rIns="0" bIns="0" rtlCol="0" anchor="t"/>
          <a:lstStyle/>
          <a:p>
            <a:pPr algn="r" indent="0" marL="0">
              <a:buNone/>
            </a:pPr>
            <a:r>
              <a:rPr lang="ja-JP" altLang="en-US" sz="2200" b="1" dirty="0">
                <a:solidFill>
                  <a:srgbClr val="0072B2"/>
                </a:solidFill>
                <a:latin typeface="メイリオ" pitchFamily="34" charset="0"/>
                <a:ea typeface="メイリオ" pitchFamily="34" charset="-122"/>
                <a:cs typeface="メイリオ" pitchFamily="34" charset="-120"/>
              </a:rPr>
              <a:t>設定</a:t>
            </a:r>
            <a:endParaRPr lang="ja-JP" sz="2200" dirty="0"/>
          </a:p>
        </p:txBody>
      </p:sp>
      <p:sp>
        <p:nvSpPr>
          <p:cNvPr id="19" name="Shape 17"/>
          <p:cNvSpPr/>
          <p:nvPr/>
        </p:nvSpPr>
        <p:spPr>
          <a:xfrm>
            <a:off x="2596896" y="4709160"/>
            <a:ext cx="1517904" cy="402336"/>
          </a:xfrm>
          <a:prstGeom prst="rect">
            <a:avLst/>
          </a:prstGeom>
          <a:solidFill>
            <a:srgbClr val="D55E00"/>
          </a:solidFill>
          <a:ln/>
        </p:spPr>
      </p:sp>
      <p:sp>
        <p:nvSpPr>
          <p:cNvPr id="20" name="Text 18"/>
          <p:cNvSpPr txBox="1"/>
          <p:nvPr/>
        </p:nvSpPr>
        <p:spPr>
          <a:xfrm>
            <a:off x="1719072" y="4700016"/>
            <a:ext cx="658368" cy="420624"/>
          </a:xfrm>
          <a:prstGeom prst="rect">
            <a:avLst/>
          </a:prstGeom>
          <a:noFill/>
          <a:ln/>
        </p:spPr>
        <p:txBody>
          <a:bodyPr wrap="square" lIns="0" tIns="0" rIns="0" bIns="0" rtlCol="0" anchor="t"/>
          <a:lstStyle/>
          <a:p>
            <a:pPr algn="r" indent="0" marL="0">
              <a:buNone/>
            </a:pPr>
            <a:r>
              <a:rPr lang="ja-JP" altLang="en-US" sz="2200" b="1" dirty="0">
                <a:solidFill>
                  <a:srgbClr val="D55E00"/>
                </a:solidFill>
                <a:latin typeface="メイリオ" pitchFamily="34" charset="0"/>
                <a:ea typeface="メイリオ" pitchFamily="34" charset="-122"/>
                <a:cs typeface="メイリオ" pitchFamily="34" charset="-120"/>
              </a:rPr>
              <a:t>吸入</a:t>
            </a:r>
            <a:endParaRPr lang="ja-JP" sz="2200" dirty="0"/>
          </a:p>
        </p:txBody>
      </p:sp>
      <p:sp>
        <p:nvSpPr>
          <p:cNvPr id="21" name="Shape 19"/>
          <p:cNvSpPr/>
          <p:nvPr/>
        </p:nvSpPr>
        <p:spPr>
          <a:xfrm>
            <a:off x="5184648" y="3904488"/>
            <a:ext cx="0" cy="1371600"/>
          </a:xfrm>
          <a:prstGeom prst="line">
            <a:avLst/>
          </a:prstGeom>
          <a:noFill/>
          <a:ln w="19050">
            <a:solidFill>
              <a:srgbClr val="404040"/>
            </a:solidFill>
            <a:prstDash val="dash"/>
          </a:ln>
        </p:spPr>
      </p:sp>
      <p:sp>
        <p:nvSpPr>
          <p:cNvPr id="22" name="Text 20"/>
          <p:cNvSpPr txBox="1"/>
          <p:nvPr/>
        </p:nvSpPr>
        <p:spPr>
          <a:xfrm>
            <a:off x="502920" y="4379976"/>
            <a:ext cx="100584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低流量</a:t>
            </a:r>
            <a:endParaRPr lang="ja-JP" sz="2200" dirty="0"/>
          </a:p>
        </p:txBody>
      </p:sp>
      <p:sp>
        <p:nvSpPr>
          <p:cNvPr id="23" name="Text 21"/>
          <p:cNvSpPr txBox="1"/>
          <p:nvPr/>
        </p:nvSpPr>
        <p:spPr>
          <a:xfrm>
            <a:off x="5806440" y="1755648"/>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24" name="Text 22"/>
          <p:cNvSpPr txBox="1"/>
          <p:nvPr/>
        </p:nvSpPr>
        <p:spPr>
          <a:xfrm>
            <a:off x="6172200" y="1755648"/>
            <a:ext cx="55138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流量が多いほど、</a:t>
            </a:r>
            <a:endParaRPr lang="ja-JP" sz="2400" dirty="0"/>
          </a:p>
        </p:txBody>
      </p:sp>
      <p:sp>
        <p:nvSpPr>
          <p:cNvPr id="25" name="Text 23"/>
          <p:cNvSpPr txBox="1"/>
          <p:nvPr/>
        </p:nvSpPr>
        <p:spPr>
          <a:xfrm>
            <a:off x="6172200" y="2212848"/>
            <a:ext cx="55138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吸入濃度は設定値に近づく</a:t>
            </a:r>
            <a:endParaRPr lang="ja-JP" sz="2400" dirty="0"/>
          </a:p>
        </p:txBody>
      </p:sp>
      <p:sp>
        <p:nvSpPr>
          <p:cNvPr id="26" name="Text 24"/>
          <p:cNvSpPr txBox="1"/>
          <p:nvPr/>
        </p:nvSpPr>
        <p:spPr>
          <a:xfrm>
            <a:off x="5806440" y="2871216"/>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27" name="Text 25"/>
          <p:cNvSpPr txBox="1"/>
          <p:nvPr/>
        </p:nvSpPr>
        <p:spPr>
          <a:xfrm>
            <a:off x="6172200" y="2871216"/>
            <a:ext cx="55138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低流量では再呼吸が増え、</a:t>
            </a:r>
            <a:endParaRPr lang="ja-JP" sz="2400" dirty="0"/>
          </a:p>
        </p:txBody>
      </p:sp>
      <p:sp>
        <p:nvSpPr>
          <p:cNvPr id="28" name="Text 26"/>
          <p:cNvSpPr txBox="1"/>
          <p:nvPr/>
        </p:nvSpPr>
        <p:spPr>
          <a:xfrm>
            <a:off x="6172200" y="3328416"/>
            <a:ext cx="55138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設定と吸入濃度がずれる</a:t>
            </a:r>
            <a:endParaRPr lang="ja-JP" sz="2400" dirty="0"/>
          </a:p>
        </p:txBody>
      </p:sp>
      <p:sp>
        <p:nvSpPr>
          <p:cNvPr id="29" name="Text 27"/>
          <p:cNvSpPr txBox="1"/>
          <p:nvPr/>
        </p:nvSpPr>
        <p:spPr>
          <a:xfrm>
            <a:off x="5806440" y="3986784"/>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30" name="Text 28"/>
          <p:cNvSpPr txBox="1"/>
          <p:nvPr/>
        </p:nvSpPr>
        <p:spPr>
          <a:xfrm>
            <a:off x="6172200" y="3986784"/>
            <a:ext cx="55138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酸素濃度計と呼気ガス濃度で</a:t>
            </a:r>
            <a:endParaRPr lang="ja-JP" sz="2400" dirty="0"/>
          </a:p>
        </p:txBody>
      </p:sp>
      <p:sp>
        <p:nvSpPr>
          <p:cNvPr id="31" name="Text 29"/>
          <p:cNvSpPr txBox="1"/>
          <p:nvPr/>
        </p:nvSpPr>
        <p:spPr>
          <a:xfrm>
            <a:off x="6172200" y="4443984"/>
            <a:ext cx="55138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実際の値を見る</a:t>
            </a:r>
            <a:endParaRPr lang="ja-JP" sz="2400" dirty="0"/>
          </a:p>
        </p:txBody>
      </p:sp>
      <p:sp>
        <p:nvSpPr>
          <p:cNvPr id="32" name="Text 30"/>
          <p:cNvSpPr txBox="1"/>
          <p:nvPr/>
        </p:nvSpPr>
        <p:spPr>
          <a:xfrm>
            <a:off x="5806440" y="5102352"/>
            <a:ext cx="365760" cy="457200"/>
          </a:xfrm>
          <a:prstGeom prst="rect">
            <a:avLst/>
          </a:prstGeom>
          <a:noFill/>
          <a:ln/>
        </p:spPr>
        <p:txBody>
          <a:bodyPr wrap="square" lIns="0" tIns="0" rIns="0" bIns="0" rtlCol="0" anchor="t"/>
          <a:lstStyle/>
          <a:p>
            <a:pPr algn="l" indent="0" marL="0">
              <a:buNone/>
            </a:pPr>
            <a:r>
              <a:rPr lang="ja-JP" altLang="en-US" sz="2400" dirty="0">
                <a:solidFill>
                  <a:srgbClr val="404040"/>
                </a:solidFill>
                <a:latin typeface="メイリオ" pitchFamily="34" charset="0"/>
                <a:ea typeface="メイリオ" pitchFamily="34" charset="-122"/>
                <a:cs typeface="メイリオ" pitchFamily="34" charset="-120"/>
              </a:rPr>
              <a:t>•</a:t>
            </a:r>
            <a:endParaRPr lang="ja-JP" sz="2400" dirty="0"/>
          </a:p>
        </p:txBody>
      </p:sp>
      <p:sp>
        <p:nvSpPr>
          <p:cNvPr id="33" name="Text 31"/>
          <p:cNvSpPr txBox="1"/>
          <p:nvPr/>
        </p:nvSpPr>
        <p:spPr>
          <a:xfrm>
            <a:off x="6172200" y="5102352"/>
            <a:ext cx="551383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低流量の利点：</a:t>
            </a:r>
            <a:endParaRPr lang="ja-JP" sz="2400" dirty="0"/>
          </a:p>
        </p:txBody>
      </p:sp>
      <p:sp>
        <p:nvSpPr>
          <p:cNvPr id="34" name="Text 32"/>
          <p:cNvSpPr txBox="1"/>
          <p:nvPr/>
        </p:nvSpPr>
        <p:spPr>
          <a:xfrm>
            <a:off x="6172200" y="5559552"/>
            <a:ext cx="551383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薬の節約・加湿・環境負荷の低減</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安全装置と余剰ガス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p:txBody>
      </p:sp>
      <p:sp>
        <p:nvSpPr>
          <p:cNvPr id="11" name="Shape 9"/>
          <p:cNvSpPr/>
          <p:nvPr/>
        </p:nvSpPr>
        <p:spPr>
          <a:xfrm>
            <a:off x="502920" y="1783080"/>
            <a:ext cx="3520440" cy="3767328"/>
          </a:xfrm>
          <a:prstGeom prst="roundRect">
            <a:avLst>
              <a:gd name="adj" fmla="val 2078"/>
            </a:avLst>
          </a:prstGeom>
          <a:solidFill>
            <a:srgbClr val="F2F2F2"/>
          </a:solidFill>
          <a:ln/>
        </p:spPr>
      </p:sp>
      <p:sp>
        <p:nvSpPr>
          <p:cNvPr id="12" name="Text 10"/>
          <p:cNvSpPr txBox="1"/>
          <p:nvPr/>
        </p:nvSpPr>
        <p:spPr>
          <a:xfrm>
            <a:off x="612648" y="1984248"/>
            <a:ext cx="3300984" cy="539496"/>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必ず見るもの</a:t>
            </a:r>
            <a:endParaRPr lang="ja-JP" sz="2800" dirty="0"/>
          </a:p>
        </p:txBody>
      </p:sp>
      <p:sp>
        <p:nvSpPr>
          <p:cNvPr id="13" name="Text 11"/>
          <p:cNvSpPr txBox="1"/>
          <p:nvPr/>
        </p:nvSpPr>
        <p:spPr>
          <a:xfrm>
            <a:off x="612648" y="2688336"/>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吸気酸素濃度計</a:t>
            </a:r>
            <a:endParaRPr lang="ja-JP" sz="2200" dirty="0"/>
          </a:p>
        </p:txBody>
      </p:sp>
      <p:sp>
        <p:nvSpPr>
          <p:cNvPr id="14" name="Text 12"/>
          <p:cNvSpPr txBox="1"/>
          <p:nvPr/>
        </p:nvSpPr>
        <p:spPr>
          <a:xfrm>
            <a:off x="612648" y="3803904"/>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気道内圧・</a:t>
            </a:r>
            <a:endParaRPr lang="ja-JP" sz="2200" dirty="0"/>
          </a:p>
        </p:txBody>
      </p:sp>
      <p:sp>
        <p:nvSpPr>
          <p:cNvPr id="15" name="Text 13"/>
          <p:cNvSpPr txBox="1"/>
          <p:nvPr/>
        </p:nvSpPr>
        <p:spPr>
          <a:xfrm>
            <a:off x="612648" y="4224528"/>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回路外れアラーム</a:t>
            </a:r>
            <a:endParaRPr lang="ja-JP" sz="2200" dirty="0"/>
          </a:p>
        </p:txBody>
      </p:sp>
      <p:sp>
        <p:nvSpPr>
          <p:cNvPr id="16" name="Text 14"/>
          <p:cNvSpPr txBox="1"/>
          <p:nvPr/>
        </p:nvSpPr>
        <p:spPr>
          <a:xfrm>
            <a:off x="612648" y="4919472"/>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呼気ガス濃度</a:t>
            </a:r>
            <a:endParaRPr lang="ja-JP" sz="2200" dirty="0"/>
          </a:p>
        </p:txBody>
      </p:sp>
      <p:sp>
        <p:nvSpPr>
          <p:cNvPr id="17" name="Shape 15"/>
          <p:cNvSpPr/>
          <p:nvPr/>
        </p:nvSpPr>
        <p:spPr>
          <a:xfrm>
            <a:off x="4242816" y="1783080"/>
            <a:ext cx="3520440" cy="3767328"/>
          </a:xfrm>
          <a:prstGeom prst="roundRect">
            <a:avLst>
              <a:gd name="adj" fmla="val 2078"/>
            </a:avLst>
          </a:prstGeom>
          <a:solidFill>
            <a:srgbClr val="F2F2F2"/>
          </a:solidFill>
          <a:ln/>
        </p:spPr>
      </p:sp>
      <p:sp>
        <p:nvSpPr>
          <p:cNvPr id="18" name="Text 16"/>
          <p:cNvSpPr txBox="1"/>
          <p:nvPr/>
        </p:nvSpPr>
        <p:spPr>
          <a:xfrm>
            <a:off x="4352544" y="1984248"/>
            <a:ext cx="3300984"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余剰ガス排除</a:t>
            </a:r>
            <a:endParaRPr lang="ja-JP" sz="2800" dirty="0"/>
          </a:p>
        </p:txBody>
      </p:sp>
      <p:sp>
        <p:nvSpPr>
          <p:cNvPr id="19" name="Text 17"/>
          <p:cNvSpPr txBox="1"/>
          <p:nvPr/>
        </p:nvSpPr>
        <p:spPr>
          <a:xfrm>
            <a:off x="4352544" y="2688336"/>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吸引圧 1 kPa 以上</a:t>
            </a:r>
            <a:endParaRPr lang="ja-JP" sz="2200" dirty="0"/>
          </a:p>
        </p:txBody>
      </p:sp>
      <p:sp>
        <p:nvSpPr>
          <p:cNvPr id="20" name="Text 18"/>
          <p:cNvSpPr txBox="1"/>
          <p:nvPr/>
        </p:nvSpPr>
        <p:spPr>
          <a:xfrm>
            <a:off x="4352544" y="3108960"/>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 kPa 未満</a:t>
            </a:r>
            <a:endParaRPr lang="ja-JP" sz="2200" dirty="0"/>
          </a:p>
        </p:txBody>
      </p:sp>
      <p:sp>
        <p:nvSpPr>
          <p:cNvPr id="21" name="Text 19"/>
          <p:cNvSpPr txBox="1"/>
          <p:nvPr/>
        </p:nvSpPr>
        <p:spPr>
          <a:xfrm>
            <a:off x="4352544" y="3803904"/>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または 25〜50 L/分</a:t>
            </a:r>
            <a:endParaRPr lang="ja-JP" sz="2200" dirty="0"/>
          </a:p>
        </p:txBody>
      </p:sp>
      <p:sp>
        <p:nvSpPr>
          <p:cNvPr id="22" name="Text 20"/>
          <p:cNvSpPr txBox="1"/>
          <p:nvPr/>
        </p:nvSpPr>
        <p:spPr>
          <a:xfrm>
            <a:off x="4352544" y="4919472"/>
            <a:ext cx="33009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接続を毎朝確認</a:t>
            </a:r>
            <a:endParaRPr lang="ja-JP" sz="2200" dirty="0"/>
          </a:p>
        </p:txBody>
      </p:sp>
      <p:sp>
        <p:nvSpPr>
          <p:cNvPr id="23" name="Shape 21"/>
          <p:cNvSpPr/>
          <p:nvPr/>
        </p:nvSpPr>
        <p:spPr>
          <a:xfrm>
            <a:off x="7982712" y="1783080"/>
            <a:ext cx="3703320" cy="3767328"/>
          </a:xfrm>
          <a:prstGeom prst="roundRect">
            <a:avLst>
              <a:gd name="adj" fmla="val 1975"/>
            </a:avLst>
          </a:prstGeom>
          <a:solidFill>
            <a:srgbClr val="F2F2F2"/>
          </a:solidFill>
          <a:ln/>
        </p:spPr>
      </p:sp>
      <p:sp>
        <p:nvSpPr>
          <p:cNvPr id="24" name="Text 22"/>
          <p:cNvSpPr txBox="1"/>
          <p:nvPr/>
        </p:nvSpPr>
        <p:spPr>
          <a:xfrm>
            <a:off x="8092440" y="1984248"/>
            <a:ext cx="3483864" cy="5394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電源</a:t>
            </a:r>
            <a:endParaRPr lang="ja-JP" sz="2800" dirty="0"/>
          </a:p>
        </p:txBody>
      </p:sp>
      <p:sp>
        <p:nvSpPr>
          <p:cNvPr id="25" name="Text 23"/>
          <p:cNvSpPr txBox="1"/>
          <p:nvPr/>
        </p:nvSpPr>
        <p:spPr>
          <a:xfrm>
            <a:off x="8092440" y="2688336"/>
            <a:ext cx="348386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停電時の</a:t>
            </a:r>
            <a:endParaRPr lang="ja-JP" sz="2200" dirty="0"/>
          </a:p>
        </p:txBody>
      </p:sp>
      <p:sp>
        <p:nvSpPr>
          <p:cNvPr id="26" name="Text 24"/>
          <p:cNvSpPr txBox="1"/>
          <p:nvPr/>
        </p:nvSpPr>
        <p:spPr>
          <a:xfrm>
            <a:off x="8092440" y="3108960"/>
            <a:ext cx="348386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バッテリー時間を知る</a:t>
            </a:r>
            <a:endParaRPr lang="ja-JP" sz="2200" dirty="0"/>
          </a:p>
        </p:txBody>
      </p:sp>
      <p:sp>
        <p:nvSpPr>
          <p:cNvPr id="27" name="Text 25"/>
          <p:cNvSpPr txBox="1"/>
          <p:nvPr/>
        </p:nvSpPr>
        <p:spPr>
          <a:xfrm>
            <a:off x="8092440" y="3803904"/>
            <a:ext cx="348386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バッテリーが切れても</a:t>
            </a:r>
            <a:endParaRPr lang="ja-JP" sz="2200" dirty="0"/>
          </a:p>
        </p:txBody>
      </p:sp>
      <p:sp>
        <p:nvSpPr>
          <p:cNvPr id="28" name="Text 26"/>
          <p:cNvSpPr txBox="1"/>
          <p:nvPr/>
        </p:nvSpPr>
        <p:spPr>
          <a:xfrm>
            <a:off x="8092440" y="4224528"/>
            <a:ext cx="348386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用手換気はできる機種か</a:t>
            </a:r>
            <a:endParaRPr lang="ja-JP"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供給</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流量</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気化器</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回路</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安全</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日本麻酔科学会「麻酔器の始業点検」（2022年10月改訂第6版3）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https://anesth.or.jp/files/pdf/guideline_checkout_20221117.pdf</a:t>
            </a:r>
            <a:endParaRPr lang="ja-JP" sz="1600" dirty="0"/>
          </a:p>
        </p:txBody>
      </p:sp>
      <p:sp>
        <p:nvSpPr>
          <p:cNvPr id="11" name="Text 9"/>
          <p:cNvSpPr txBox="1"/>
          <p:nvPr/>
        </p:nvSpPr>
        <p:spPr>
          <a:xfrm>
            <a:off x="502920" y="1810512"/>
            <a:ext cx="402336" cy="502920"/>
          </a:xfrm>
          <a:prstGeom prst="rect">
            <a:avLst/>
          </a:prstGeom>
          <a:noFill/>
          <a:ln/>
        </p:spPr>
        <p:txBody>
          <a:bodyPr wrap="square" lIns="0" tIns="0" rIns="0" bIns="0" rtlCol="0" anchor="t"/>
          <a:lstStyle/>
          <a:p>
            <a:pPr algn="l" indent="0" marL="0">
              <a:buNone/>
            </a:pPr>
            <a:r>
              <a:rPr lang="ja-JP" altLang="en-US" sz="2600" dirty="0">
                <a:solidFill>
                  <a:srgbClr val="404040"/>
                </a:solidFill>
                <a:latin typeface="メイリオ" pitchFamily="34" charset="0"/>
                <a:ea typeface="メイリオ" pitchFamily="34" charset="-122"/>
                <a:cs typeface="メイリオ" pitchFamily="34" charset="-120"/>
              </a:rPr>
              <a:t>•</a:t>
            </a:r>
            <a:endParaRPr lang="ja-JP" sz="2600" dirty="0"/>
          </a:p>
        </p:txBody>
      </p:sp>
      <p:sp>
        <p:nvSpPr>
          <p:cNvPr id="12" name="Text 10"/>
          <p:cNvSpPr txBox="1"/>
          <p:nvPr/>
        </p:nvSpPr>
        <p:spPr>
          <a:xfrm>
            <a:off x="905256" y="1810512"/>
            <a:ext cx="10780776"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配管・ボンベ → 流量計 → 気化器 → 回路 → 患者</a:t>
            </a:r>
            <a:endParaRPr lang="ja-JP" sz="2600" dirty="0"/>
          </a:p>
        </p:txBody>
      </p:sp>
      <p:sp>
        <p:nvSpPr>
          <p:cNvPr id="13" name="Text 11"/>
          <p:cNvSpPr txBox="1"/>
          <p:nvPr/>
        </p:nvSpPr>
        <p:spPr>
          <a:xfrm>
            <a:off x="502920" y="2606040"/>
            <a:ext cx="402336" cy="502920"/>
          </a:xfrm>
          <a:prstGeom prst="rect">
            <a:avLst/>
          </a:prstGeom>
          <a:noFill/>
          <a:ln/>
        </p:spPr>
        <p:txBody>
          <a:bodyPr wrap="square" lIns="0" tIns="0" rIns="0" bIns="0" rtlCol="0" anchor="t"/>
          <a:lstStyle/>
          <a:p>
            <a:pPr algn="l" indent="0" marL="0">
              <a:buNone/>
            </a:pPr>
            <a:r>
              <a:rPr lang="ja-JP" altLang="en-US" sz="2600" dirty="0">
                <a:solidFill>
                  <a:srgbClr val="404040"/>
                </a:solidFill>
                <a:latin typeface="メイリオ" pitchFamily="34" charset="0"/>
                <a:ea typeface="メイリオ" pitchFamily="34" charset="-122"/>
                <a:cs typeface="メイリオ" pitchFamily="34" charset="-120"/>
              </a:rPr>
              <a:t>•</a:t>
            </a:r>
            <a:endParaRPr lang="ja-JP" sz="2600" dirty="0"/>
          </a:p>
        </p:txBody>
      </p:sp>
      <p:sp>
        <p:nvSpPr>
          <p:cNvPr id="14" name="Text 12"/>
          <p:cNvSpPr txBox="1"/>
          <p:nvPr/>
        </p:nvSpPr>
        <p:spPr>
          <a:xfrm>
            <a:off x="905256" y="2606040"/>
            <a:ext cx="10780776"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酸素は最も下流で合流。フラッシュは気化器を通らない</a:t>
            </a:r>
            <a:endParaRPr lang="ja-JP" sz="2600" dirty="0"/>
          </a:p>
        </p:txBody>
      </p:sp>
      <p:sp>
        <p:nvSpPr>
          <p:cNvPr id="15" name="Text 13"/>
          <p:cNvSpPr txBox="1"/>
          <p:nvPr/>
        </p:nvSpPr>
        <p:spPr>
          <a:xfrm>
            <a:off x="502920" y="3401568"/>
            <a:ext cx="402336" cy="502920"/>
          </a:xfrm>
          <a:prstGeom prst="rect">
            <a:avLst/>
          </a:prstGeom>
          <a:noFill/>
          <a:ln/>
        </p:spPr>
        <p:txBody>
          <a:bodyPr wrap="square" lIns="0" tIns="0" rIns="0" bIns="0" rtlCol="0" anchor="t"/>
          <a:lstStyle/>
          <a:p>
            <a:pPr algn="l" indent="0" marL="0">
              <a:buNone/>
            </a:pPr>
            <a:r>
              <a:rPr lang="ja-JP" altLang="en-US" sz="2600" dirty="0">
                <a:solidFill>
                  <a:srgbClr val="404040"/>
                </a:solidFill>
                <a:latin typeface="メイリオ" pitchFamily="34" charset="0"/>
                <a:ea typeface="メイリオ" pitchFamily="34" charset="-122"/>
                <a:cs typeface="メイリオ" pitchFamily="34" charset="-120"/>
              </a:rPr>
              <a:t>•</a:t>
            </a:r>
            <a:endParaRPr lang="ja-JP" sz="2600" dirty="0"/>
          </a:p>
        </p:txBody>
      </p:sp>
      <p:sp>
        <p:nvSpPr>
          <p:cNvPr id="16" name="Text 14"/>
          <p:cNvSpPr txBox="1"/>
          <p:nvPr/>
        </p:nvSpPr>
        <p:spPr>
          <a:xfrm>
            <a:off x="905256" y="3401568"/>
            <a:ext cx="10780776"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一方弁と吸収剤で呼気を再利用する循環式</a:t>
            </a:r>
            <a:endParaRPr lang="ja-JP" sz="2600" dirty="0"/>
          </a:p>
        </p:txBody>
      </p:sp>
      <p:sp>
        <p:nvSpPr>
          <p:cNvPr id="17" name="Text 15"/>
          <p:cNvSpPr txBox="1"/>
          <p:nvPr/>
        </p:nvSpPr>
        <p:spPr>
          <a:xfrm>
            <a:off x="502920" y="4197096"/>
            <a:ext cx="402336" cy="502920"/>
          </a:xfrm>
          <a:prstGeom prst="rect">
            <a:avLst/>
          </a:prstGeom>
          <a:noFill/>
          <a:ln/>
        </p:spPr>
        <p:txBody>
          <a:bodyPr wrap="square" lIns="0" tIns="0" rIns="0" bIns="0" rtlCol="0" anchor="t"/>
          <a:lstStyle/>
          <a:p>
            <a:pPr algn="l" indent="0" marL="0">
              <a:buNone/>
            </a:pPr>
            <a:r>
              <a:rPr lang="ja-JP" altLang="en-US" sz="2600" dirty="0">
                <a:solidFill>
                  <a:srgbClr val="404040"/>
                </a:solidFill>
                <a:latin typeface="メイリオ" pitchFamily="34" charset="0"/>
                <a:ea typeface="メイリオ" pitchFamily="34" charset="-122"/>
                <a:cs typeface="メイリオ" pitchFamily="34" charset="-120"/>
              </a:rPr>
              <a:t>•</a:t>
            </a:r>
            <a:endParaRPr lang="ja-JP" sz="2600" dirty="0"/>
          </a:p>
        </p:txBody>
      </p:sp>
      <p:sp>
        <p:nvSpPr>
          <p:cNvPr id="18" name="Text 16"/>
          <p:cNvSpPr txBox="1"/>
          <p:nvPr/>
        </p:nvSpPr>
        <p:spPr>
          <a:xfrm>
            <a:off x="905256" y="4197096"/>
            <a:ext cx="10780776" cy="502920"/>
          </a:xfrm>
          <a:prstGeom prst="rect">
            <a:avLst/>
          </a:prstGeom>
          <a:noFill/>
          <a:ln/>
        </p:spPr>
        <p:txBody>
          <a:bodyPr wrap="square" lIns="0" tIns="0" rIns="0" bIns="0" rtlCol="0" anchor="t"/>
          <a:lstStyle/>
          <a:p>
            <a:pPr algn="l" indent="0" marL="0">
              <a:buNone/>
            </a:pPr>
            <a:r>
              <a:rPr lang="ja-JP" altLang="en-US" sz="2600" b="1" dirty="0">
                <a:solidFill>
                  <a:srgbClr val="00A8AA"/>
                </a:solidFill>
                <a:latin typeface="メイリオ" pitchFamily="34" charset="0"/>
                <a:ea typeface="メイリオ" pitchFamily="34" charset="-122"/>
                <a:cs typeface="メイリオ" pitchFamily="34" charset="-120"/>
              </a:rPr>
              <a:t>設定より実測</a:t>
            </a:r>
            <a:r>
              <a:rPr lang="ja-JP" altLang="en-US" sz="2600" dirty="0">
                <a:solidFill>
                  <a:srgbClr val="262626"/>
                </a:solidFill>
                <a:latin typeface="メイリオ" pitchFamily="34" charset="0"/>
                <a:ea typeface="メイリオ" pitchFamily="34" charset="-122"/>
                <a:cs typeface="メイリオ" pitchFamily="34" charset="-120"/>
              </a:rPr>
              <a:t>：酸素濃度計と呼気ガス濃度</a:t>
            </a:r>
            <a:endParaRPr lang="ja-JP" sz="2600" dirty="0"/>
          </a:p>
        </p:txBody>
      </p:sp>
      <p:sp>
        <p:nvSpPr>
          <p:cNvPr id="19" name="Text 17"/>
          <p:cNvSpPr txBox="1"/>
          <p:nvPr/>
        </p:nvSpPr>
        <p:spPr>
          <a:xfrm>
            <a:off x="502920" y="4992624"/>
            <a:ext cx="402336" cy="502920"/>
          </a:xfrm>
          <a:prstGeom prst="rect">
            <a:avLst/>
          </a:prstGeom>
          <a:noFill/>
          <a:ln/>
        </p:spPr>
        <p:txBody>
          <a:bodyPr wrap="square" lIns="0" tIns="0" rIns="0" bIns="0" rtlCol="0" anchor="t"/>
          <a:lstStyle/>
          <a:p>
            <a:pPr algn="l" indent="0" marL="0">
              <a:buNone/>
            </a:pPr>
            <a:r>
              <a:rPr lang="ja-JP" altLang="en-US" sz="2600" dirty="0">
                <a:solidFill>
                  <a:srgbClr val="404040"/>
                </a:solidFill>
                <a:latin typeface="メイリオ" pitchFamily="34" charset="0"/>
                <a:ea typeface="メイリオ" pitchFamily="34" charset="-122"/>
                <a:cs typeface="メイリオ" pitchFamily="34" charset="-120"/>
              </a:rPr>
              <a:t>•</a:t>
            </a:r>
            <a:endParaRPr lang="ja-JP" sz="2600" dirty="0"/>
          </a:p>
        </p:txBody>
      </p:sp>
      <p:sp>
        <p:nvSpPr>
          <p:cNvPr id="20" name="Text 18"/>
          <p:cNvSpPr txBox="1"/>
          <p:nvPr/>
        </p:nvSpPr>
        <p:spPr>
          <a:xfrm>
            <a:off x="905256" y="4992624"/>
            <a:ext cx="10780776" cy="502920"/>
          </a:xfrm>
          <a:prstGeom prst="rect">
            <a:avLst/>
          </a:prstGeom>
          <a:noFill/>
          <a:ln/>
        </p:spPr>
        <p:txBody>
          <a:bodyPr wrap="square" lIns="0" tIns="0" rIns="0" bIns="0" rtlCol="0" anchor="t"/>
          <a:lstStyle/>
          <a:p>
            <a:pPr algn="l" indent="0" marL="0">
              <a:buNone/>
            </a:pPr>
            <a:r>
              <a:rPr lang="ja-JP" altLang="en-US" sz="2600" b="1" dirty="0">
                <a:solidFill>
                  <a:srgbClr val="C00000"/>
                </a:solidFill>
                <a:latin typeface="メイリオ" pitchFamily="34" charset="0"/>
                <a:ea typeface="メイリオ" pitchFamily="34" charset="-122"/>
                <a:cs typeface="メイリオ" pitchFamily="34" charset="-120"/>
              </a:rPr>
              <a:t>乾いた吸収剤は使わない</a:t>
            </a:r>
            <a:r>
              <a:rPr lang="ja-JP" altLang="en-US" sz="2600" dirty="0">
                <a:solidFill>
                  <a:srgbClr val="262626"/>
                </a:solidFill>
                <a:latin typeface="メイリオ" pitchFamily="34" charset="0"/>
                <a:ea typeface="メイリオ" pitchFamily="34" charset="-122"/>
                <a:cs typeface="メイリオ" pitchFamily="34" charset="-120"/>
              </a:rPr>
              <a:t>。基線が上がったら交換</a:t>
            </a:r>
            <a:endParaRPr lang="ja-JP"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麻酔器の構造とガスの流れ</dc:title>
  <dc:subject/>
  <dc:creator>初期研修医向け麻酔講義</dc:creator>
  <cp:lastModifiedBy>初期研修医向け麻酔講義</cp:lastModifiedBy>
  <cp:revision>1</cp:revision>
  <dcterms:created xsi:type="dcterms:W3CDTF">2026-10-14T00:26:14Z</dcterms:created>
  <dcterms:modified xsi:type="dcterms:W3CDTF">2026-10-14T00:26:14Z</dcterms:modified>
</cp:coreProperties>
</file>