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麻酔薬は「どれだけ入れたか」ではなく「効果部位にどれだけあるか」で効く。この回では、静注した薬が効果部位に届き、分布し、消えていく過程と、持続投与の切れ方、患者による違いを、麻酔薬を安全に使うために必要な範囲で扱う。式や係数は覚えなくてよい。「なぜそうなるか」の形を持ち帰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静注した薬は血液に乗って効果部位（全身麻酔薬なら脳）に届き、そこの濃度が上がってから効く。血中濃度のピークは注射直後だが、効果部位の濃度のピークは遅れる。この遅れ（効果部位平衡）は薬によって違う。ボーラス後に効果がピークになるまで、プロポフォールで約 1.6 分（Schnider 1999）、フェンタニルで約 3.6 分（Shafer 1991）。レミフェンタニルも平衡が速い（血中と効果部位の平衡半減期 約 1.3 分。Minto 1997 の ke0 0.516/分から計算）。モルヒネは平衡がずっと遅い（平衡半減期 約 4.4 時間、Dahan 2004）。鎮痛も呼吸抑制もゆっくり強まるので、「まだ痛い」と追加を重ねると、痛みが十分に取れないまま、あとから強い呼吸抑制が出ることがある（Dahan 2004）。</a:t>
            </a:r>
          </a:p>
          <a:p>
            <a:r>
              <a:rPr lang="ja-JP" altLang="en-US" dirty="0"/>
              <a:t>実務: 導入薬を入れて「まだ寝ない」と思ってすぐ追加すると、最初の分がこれから効いてくるところに重なり、効きすぎて血圧が下がる。効果のピークまで待ってから追加する（titration）。逆に、挿管や執刀の刺激に合わせて薬を効かせたいなら、刺激の数分前に投与する。</a:t>
            </a:r>
          </a:p>
          <a:p>
            <a:r>
              <a:rPr lang="ja-JP" altLang="en-US" dirty="0"/>
              <a:t>参考: Minto CF, et al. Anesthesiology 1997;86:10-23（レミフェンタニル） / Shafer SL, Varvel JR. Anesthesiology 1991;74:53-63（フェンタニルの 3.6 分は二次資料による）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分布: 静注した薬は、まず血流の多い臓器（脳、心臓、肝臓、腎臓）に届く。だから静注直後に脳の濃度が上がって効く。その後、薬は血流の少ない筋肉へ移り（再分布）、脳の濃度が下がって効果が切れる。脂肪へはさらにゆっくり移ってたまっていく（→ 蓄積）。プロポフォールやチオペンタールを 1 回静注したときの効果が数分で切れるのは、主に再分布のためである（代謝されるより先に、脳から筋肉などへ移る）。プロポフォールは代謝も速く（クリアランス 約 2.2 L/分で、肝血流量を上回る: Sahinovic 2018）、これも早い覚醒を助ける。</a:t>
            </a:r>
          </a:p>
          <a:p>
            <a:r>
              <a:rPr lang="ja-JP" altLang="en-US" dirty="0"/>
              <a:t>蓄積: 繰り返し投与したり持続投与したりすると、筋肉や脂肪に薬がたまる。投与をやめると、たまった薬が血液に戻ってくるので、濃度が下がるのに時間がかかる（→ S5 持続投与）。脂溶性の高い薬（フェンタニルなど）で顕著。</a:t>
            </a:r>
          </a:p>
          <a:p>
            <a:r>
              <a:rPr lang="ja-JP" altLang="en-US" dirty="0"/>
              <a:t>分布容積: 薬が体のどこまで広がるかの目安。脂溶性の薬は分布容積が大きく、脂肪の多い人（肥満）ではさらに大きくなることが多い。ただし一律ではない。レミフェンタニルは肥満でも薬物動態がほとんど変わらず、総体重で計算すると濃度が高くなりすぎる（Egan 1998。→ S8）。</a:t>
            </a:r>
          </a:p>
          <a:p>
            <a:r>
              <a:rPr lang="ja-JP" altLang="en-US" dirty="0"/>
              <a:t>参考: Avram 2020（チオペンタールの再分布の先は主に筋肉などで、脂肪への移行はもっと遅いとする Price 1960 のモデルを紹介）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肝代謝: 多くの静脈麻酔薬は肝臓で代謝される。プロポフォールは肝臓での抽出率が約 90% と高く、代謝は肝血流に左右される（ショックなどで肝血流が減ると代謝も落ちる）。一方、腎臓など肝臓以外でも代謝され（クリアランスの約 40%）、肝機能低下の影響は比較的小さい（Sahinovic 2018）。ミダゾラムは肝臓のチトクロム P450（CYP3A4）で代謝され、肝機能低下や併用薬（CYP3A4 阻害薬）で遷延する。</a:t>
            </a:r>
          </a:p>
          <a:p>
            <a:r>
              <a:rPr lang="ja-JP" altLang="en-US" dirty="0"/>
              <a:t>酵素による分解: レミフェンタニルは血液や組織の非特異的エステラーゼで分解されるので、肝臓や腎臓の機能に依存せず、長く入れても切れ方が変わらない。レミマゾラムもエステラーゼで分解されるが、主に肝臓のカルボキシルエステラーゼ 1（CES1）による（ヒトの血漿中では分解されない: Schmalix 2024）。CYP を介さないが、重度の肝機能障害では回復が遅れる（回復時間 健常 8.0 分、中等度 12.1 分、重度 16.7 分。Stöhr 2021）。腎機能障害では血漿クリアランスは変わらない。長時間の持続投与ではプロポフォールと同じように蓄積し、覚醒が遅れることがある（Masui 2026）。</a:t>
            </a:r>
          </a:p>
          <a:p>
            <a:r>
              <a:rPr lang="ja-JP" altLang="en-US" dirty="0"/>
              <a:t>腎排泄: 活性のある代謝物や、薬そのものが腎臓から排泄される薬に注意する。モルヒネの代謝物（モルヒネ-6-グルクロニド）は腎不全で蓄積して呼吸抑制を長引かせる。ロクロニウムはほとんど代謝されず、主に肝臓に取り込まれて胆汁へ出る。未変化体の約 4 分の 1 は尿へ出る（4〜8 日間の回収で尿 27%、便 31%。Proost 2000）ので、腎不全でも作用が延びることがある。</a:t>
            </a:r>
          </a:p>
          <a:p>
            <a:r>
              <a:rPr lang="ja-JP" altLang="en-US" dirty="0"/>
              <a:t>肺排泄: 吸入麻酔薬は肺から呼気に出ていく。換気量が多いほど、血液に溶けにくい薬ほど速く抜ける（→ 3-3）。</a:t>
            </a:r>
          </a:p>
          <a:p>
            <a:r>
              <a:rPr lang="ja-JP" altLang="en-US" dirty="0"/>
              <a:t>参考: Schmalix W, et al. Curr Drug Metab 2024;25:164-173 / Sahinovic MM, et al. Clin Pharmacokinet 2018;57:1539-1558 / Masui K. J Intensive Care 2026;14:31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context-sensitive half-time（持続静注後半減時間）: 血中濃度を一定に保つ持続投与をやめてから、血中（血漿）濃度が半分になるまでの時間。この時間は、持続投与した時間（context）によって変わる。投与時間が長いほど、筋肉や脂肪にたまった薬が戻ってくるので、濃度が下がりにくい。ただし、半分になる時間は覚醒までの時間と同じではない。覚めるのに要る濃度の低下は、薬、併用薬、維持していた濃度で変わる。</a:t>
            </a:r>
          </a:p>
          <a:p>
            <a:r>
              <a:rPr lang="ja-JP" altLang="en-US" dirty="0"/>
              <a:t>薬による違い: レミフェンタニルは血液・組織のエステラーゼで分解されるので、投与時間によらず約 3〜4 分で濃度が半分になる（3 時間投与後の血中濃度の実測で 3.2 ± 0.9 分、Kapila 1995。効果部位濃度のシミュレーションでは 3.65 分、Westmoreland 1993）。呼吸抑制が半分戻るまでは 5.4 ± 1.8 分（Kapila 1995）。プロポフォールは投与時間が長くなると緩やかに延びるが、フェンタニルほどではない。8 時間までの投与でも 40 分未満とされる【要確認: Hughes 1992（Anesthesiology 76:334-341）本文の図で、8 時間投与後のプロポフォールの値】。覚醒に要る濃度の低下は 50% より小さいことが多く、長時間投与後も比較的速く覚める。ただし大きく下げる必要があるときは時間がかかる（80% 下がるまでの時間は、3 時間未満の投与で 50 分未満、12 時間を超える投与で最大 3.5 時間: Sahinovic 2018）。フェンタニルは数時間入れると大きく延び、切れにくくなる。</a:t>
            </a:r>
          </a:p>
          <a:p>
            <a:r>
              <a:rPr lang="ja-JP" altLang="en-US" dirty="0"/>
              <a:t>実務: 手術の終わりに合わせて切れるように、薬ごとに止める時刻を変える。レミフェンタニルは最後まで入れて直前に止めてよいが、切れたとたんに痛みが戻るので、別の鎮痛（フェンタニル、アセトアミノフェン、区域麻酔）を先に効かせておく（→ 3-4）。フェンタニルは長時間の持続投与を避け、必要なら少量ずつ追加する。</a:t>
            </a:r>
          </a:p>
          <a:p>
            <a:r>
              <a:rPr lang="ja-JP" altLang="en-US" dirty="0"/>
              <a:t>参考: Westmoreland CL, et al. Anesthesiology 1993;79:893-903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用量反応: ある効果（例: 入眠）が 50% の人に出る用量を ED50、95% の人に出る用量を ED95 と呼ぶ。添付文書の「通常量」は集団の値で、実際に必要な量は人によって大きく違う（例: プロポフォールで意識が消える濃度 C50 は、25 歳で 2.35 µg/mL、75 歳で 1.25 µg/mL。Schnider 1999）。だから、決まった量を一度に入れるのではなく、反応を見ながら分けて入れる（titration）。</a:t>
            </a:r>
          </a:p>
          <a:p>
            <a:r>
              <a:rPr lang="ja-JP" altLang="en-US" dirty="0"/>
              <a:t>相乗作用: 鎮静薬（プロポフォール、吸入麻酔薬）とオピオイド（フェンタニル、レミフェンタニル）を併用すると、それぞれの必要量が大きく減る（曲線が左に移る）。だから併用のときは、単独のときの量を入れると効きすぎる。ベンゾジアゼピンとオピオイドの併用では呼吸抑制が強く出る。</a:t>
            </a:r>
          </a:p>
          <a:p>
            <a:r>
              <a:rPr lang="ja-JP" altLang="en-US" dirty="0"/>
              <a:t>効果の指標: 全身麻酔の深さは脳波モニター（→ 2-8）、筋弛緩は TOF（→ 2-6）、循環への影響は血圧と心拍数で見る。「いつもの量」ではなく「いまの反応」で決める。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高齢者: 同じ血中濃度でも効果が強く（感受性の上昇）、心拍出量と肝血流の低下で薬の分布と代謝が遅れる。プロポフォールもオピオイドも減量し、ゆっくり入れる。血圧も下がりやすい。効果部位との平衡も遅くなる（レミフェンタニルの ke0 は 20 歳から 85 歳で約 50% 下がる: Minto 1997）。プロポフォールによる血圧の低下は入眠（BIS の低下）より遅れて出て、高齢者ではさらに遅く、下がり方も大きい（収縮期血圧に対する平衡半減期 20〜39 歳 5.7 分、70〜85 歳 10.2 分: Kazama 1999）。入眠したあとも血圧を見続け、追加は若い人より長く待つ。</a:t>
            </a:r>
          </a:p>
          <a:p>
            <a:r>
              <a:rPr lang="ja-JP" altLang="en-US" dirty="0"/>
              <a:t>肥満: 脂溶性の薬（プロポフォール、フェンタニル）は脂肪に分布するので、総体重で計算すると初回量が多すぎることがある。薬によってどの体重で計算するかが違う（→ 次のスライド）。</a:t>
            </a:r>
          </a:p>
          <a:p>
            <a:r>
              <a:rPr lang="ja-JP" altLang="en-US" dirty="0"/>
              <a:t>腎機能低下: 腎排泄される活性代謝物（モルヒネの M6G）が蓄積する。モルヒネを避け、フェンタニルなどを使う。ロクロニウムも作用が延びる。スガマデクスは腎臓から排泄されるので、重度の腎機能障害（CLcr 30 mL/分未満）では、ロクロニウムとの複合体が長く体に残る（7 日後も血漿中に検出、Panhuizen 2015）。この集団での安全性のデータは少なく、米国・欧州の添付文書は使用を推奨していない。国内での扱いは添付文書の 9.2（腎機能障害患者）に従う【要確認: ブリディオン静注 添付文書 9.2 腎機能障害患者 の原文（PMDA）。3-6 の記載とそろえる】（→ 3-6）。</a:t>
            </a:r>
          </a:p>
          <a:p>
            <a:r>
              <a:rPr lang="ja-JP" altLang="en-US" dirty="0"/>
              <a:t>肝機能低下: 肝で代謝される薬（ミダゾラム）や、肝に取り込まれて胆汁へ出る薬（ロクロニウム）が遷延する（肝硬変ではロクロニウムのクリアランスが下がり、回復が遅れる。van Miert 1997）。プロポフォールの影響は比較的小さいが、感受性は上がっていることがある。</a:t>
            </a:r>
          </a:p>
          <a:p>
            <a:r>
              <a:rPr lang="ja-JP" altLang="en-US" dirty="0"/>
              <a:t>循環不全・出血: 心拍出量が少ないと、薬が効果部位に届くのが遅れ、しかも血中濃度は高くなるので強く効く。「効かないから追加」が最も危険。少量から入れ、効果を待つ。ケタミンやエトミデート（国内未承認）などの選択も考える（→ 3-2）。</a:t>
            </a:r>
          </a:p>
          <a:p>
            <a:r>
              <a:rPr lang="ja-JP" altLang="en-US" dirty="0"/>
              <a:t>小児: 体重あたりの分布容積が大きく（細胞外液に分布する筋弛緩薬など）、体重あたりのクリアランスは 1〜2 歳で最も大きい。このため mg/kg では多め、追加間隔は短めになる薬が多い。ただし新生児や早期乳児はクリアランスが未熟で、薬が残りやすい（成熟はおおむね生後 2 年以内に終わる。Morse 2022）。</a:t>
            </a:r>
          </a:p>
          <a:p>
            <a:r>
              <a:rPr lang="ja-JP" altLang="en-US" dirty="0"/>
              <a:t>参考: Minto CF, et al. Anesthesiology 1997;86:10-23 / Kazama T, et al. Anesthesiology 1999;90:1517-1527 / van Miert MM, et al. Br J Clin Pharmacol 1997;44:139-144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体重の種類: 総体重（実際の体重）、理想体重（身長から計算した標準的な体重）、除脂肪体重（脂肪を除いた体重）、補正体重（理想体重に超過分の一部を足したもの）。肥満患者では、どの体重で計算するかで用量が大きく変わる。</a:t>
            </a:r>
          </a:p>
          <a:p>
            <a:r>
              <a:rPr lang="ja-JP" altLang="en-US" dirty="0"/>
              <a:t>薬ごとの目安（代表的な考え方。添付文書の記載と施設の方式を優先する【要確認: ディプリバン・アルチバ・エスラックス各添付文書（PMDA）の 6. 用法及び用量 と 7. 用法及び用量に関連する注意 に、肥満患者で使う体重の指定があるか】）: スガマデクスは実体重で計算する（海外の添付文書は実体重での投与を定めている。BMI 40 以上の RCT では、実体重で投与すると理想体重より回復が 1.5 分速く、再クラーレ化もなかった: Horrow 2021）。国内添付文書の用量は mg/kg で記載されている【要確認: ブリディオン静注 添付文書 6. 用法及び用量 に、どの体重で計算するかの記載があるか（PMDA）】。ロクロニウムは理想体重で計算すると作用の遷延を避けられる【要確認: この記述の根拠文献（肥満患者でのロクロニウムの体重の扱い）】。局所麻酔薬の最大用量は、肥満でも総体重で増やさず、理想体重または除脂肪体重で考える（どの体重を使うかには議論がある。小柄な人や筋肉量の少ない人では中毒が起きやすい: Neal 2018。添付文書外の目安として、気道の表面麻酔に使うリドカインは除脂肪体重あたり 9 mg/kg までとされる: DAS 覚醒下挿管ガイドライン、Ahmad 2020）。プロポフォールは、導入は除脂肪体重（Ingrande 2011）、維持は総体重（Servin 1993）で計算する考え方がある。レミフェンタニルは除脂肪体重または理想体重で計算する（肥満でも薬物動態がほとんど変わらず、総体重で計算すると濃度が高くなりすぎる: Egan 1998）。</a:t>
            </a:r>
          </a:p>
          <a:p>
            <a:r>
              <a:rPr lang="ja-JP" altLang="en-US" dirty="0"/>
              <a:t>実務: 肥満患者では、まず理想体重を計算しておく（理想体重 = 22 ×〔身長 m〕²。身長 160 cm なら 56.3 kg、170 cm なら 63.6 kg: Lemmens 2005。Devine 式のように男女で値が変わる式もあるので、施設の方式に従う）。持続投与の γ計算（→ 3-10）でも、どの体重（どの式）を入れたかを記録する。</a:t>
            </a:r>
          </a:p>
          <a:p>
            <a:r>
              <a:rPr lang="ja-JP" altLang="en-US" dirty="0"/>
              <a:t>参考: Servin F, et al. Anesthesiology 1993;78:657-665 / Egan TD, et al. Anesthesiology 1998;89:562-573 / Lemmens HJ, et al. Obes Surg 2005;15:1082-1083 / Neal JM, et al. Reg Anesth Pain Med 2018;43:113-123 / Ahmad I, et al. Anaesthesia 2020;75:509-528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この回の要点を行動に落とすと、この5つになる。効果部位平衡を待つ、titration、context-sensitive half-time を考えて止める、高リスクの患者は減量してゆっくり、相乗作用を考えて併用時は減らす。次回以降の各論（静脈麻酔薬、吸入麻酔薬、オピオイド、筋弛緩薬）で、薬ごとの数値をこの枠組みに当てはめる。</a:t>
            </a:r>
          </a:p>
          <a:p>
            <a:r>
              <a:rPr lang="ja-JP" altLang="en-US" dirty="0"/>
              <a:t>半量は教育上の目安で、添付文書の値ではない。高齢者では意識消失に必要な濃度が下がる（Schnider 1999: 75 歳で 1.25 µg/mL、25 歳で 2.35 µg/mL）。出血性ショックではさらに少なくてよいことがある（ブタでは効果部位の EC50 が 2.7 分の 1: Johnson 2003）。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まとめ（約 1 分）。効果部位平衡、再分布と蓄積、context-sensitive half-time、相乗作用、患者差。この5つを押さえれば、各論の数値が「なぜそうなるか」とつながる。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WAZO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indent="0" marL="0">
              <a:buNone/>
              <a:defRPr 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WAZOE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2920" y="150876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algn="ctr" indent="0" marL="0">
              <a:buNone/>
              <a:defRPr 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1508760"/>
            <a:ext cx="111831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薬物動態の基本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3749040"/>
            <a:ext cx="11183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3-1 麻酔薬理</a:t>
            </a:r>
            <a:endParaRPr lang="ja-JP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693920"/>
            <a:ext cx="11183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初期研修医向け麻酔講義</a:t>
            </a:r>
            <a:endParaRPr lang="ja-JP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濃度と効果のずれ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教科書的記述（薬物動態） / Schnider TW, et al. Anesthesiology 1999;90:1502-1516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Dahan A, et al. Anesthesiology 2004;101:1201-1209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1943100" y="4215384"/>
            <a:ext cx="0" cy="813816"/>
          </a:xfrm>
          <a:prstGeom prst="line">
            <a:avLst/>
          </a:prstGeom>
          <a:noFill/>
          <a:ln w="22225">
            <a:solidFill>
              <a:srgbClr val="D55E0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50976" y="5248656"/>
            <a:ext cx="992033" cy="0"/>
          </a:xfrm>
          <a:prstGeom prst="line">
            <a:avLst/>
          </a:prstGeom>
          <a:noFill/>
          <a:ln w="31750">
            <a:solidFill>
              <a:srgbClr val="D55E00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2799893"/>
            <a:ext cx="9144" cy="2229307"/>
          </a:xfrm>
          <a:custGeom>
            <a:avLst/>
            <a:gdLst/>
            <a:ahLst/>
            <a:cxnLst/>
            <a:rect l="l" t="t" r="r" b="b"/>
            <a:pathLst>
              <a:path w="9144" h="2229307">
                <a:moveTo>
                  <a:pt x="0" y="2229307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9748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73152" y="0"/>
                </a:moveTo>
                <a:lnTo>
                  <a:pt x="146304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29200"/>
            <a:ext cx="5383987" cy="9144"/>
          </a:xfrm>
          <a:custGeom>
            <a:avLst/>
            <a:gdLst/>
            <a:ahLst/>
            <a:cxnLst/>
            <a:rect l="l" t="t" r="r" b="b"/>
            <a:pathLst>
              <a:path w="5383987" h="9144">
                <a:moveTo>
                  <a:pt x="0" y="0"/>
                </a:moveTo>
                <a:lnTo>
                  <a:pt x="5383987" y="0"/>
                </a:lnTo>
              </a:path>
            </a:pathLst>
          </a:cu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495604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146304" y="73152"/>
                </a:move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2926080"/>
            <a:ext cx="5221224" cy="1904695"/>
          </a:xfrm>
          <a:custGeom>
            <a:avLst/>
            <a:gdLst/>
            <a:ahLst/>
            <a:cxnLst/>
            <a:rect l="l" t="t" r="r" b="b"/>
            <a:pathLst>
              <a:path w="5221224" h="1904695">
                <a:moveTo>
                  <a:pt x="0" y="0"/>
                </a:moveTo>
                <a:lnTo>
                  <a:pt x="26518" y="60350"/>
                </a:lnTo>
                <a:lnTo>
                  <a:pt x="52121" y="117043"/>
                </a:lnTo>
                <a:lnTo>
                  <a:pt x="78638" y="172822"/>
                </a:lnTo>
                <a:lnTo>
                  <a:pt x="104242" y="224942"/>
                </a:lnTo>
                <a:lnTo>
                  <a:pt x="130759" y="275234"/>
                </a:lnTo>
                <a:lnTo>
                  <a:pt x="156362" y="323698"/>
                </a:lnTo>
                <a:lnTo>
                  <a:pt x="182880" y="370332"/>
                </a:lnTo>
                <a:lnTo>
                  <a:pt x="208483" y="414223"/>
                </a:lnTo>
                <a:lnTo>
                  <a:pt x="235001" y="457200"/>
                </a:lnTo>
                <a:lnTo>
                  <a:pt x="261518" y="497434"/>
                </a:lnTo>
                <a:lnTo>
                  <a:pt x="287122" y="536753"/>
                </a:lnTo>
                <a:lnTo>
                  <a:pt x="313639" y="574243"/>
                </a:lnTo>
                <a:lnTo>
                  <a:pt x="339242" y="610819"/>
                </a:lnTo>
                <a:lnTo>
                  <a:pt x="365760" y="645566"/>
                </a:lnTo>
                <a:lnTo>
                  <a:pt x="391363" y="678485"/>
                </a:lnTo>
                <a:lnTo>
                  <a:pt x="417881" y="710489"/>
                </a:lnTo>
                <a:lnTo>
                  <a:pt x="443484" y="740664"/>
                </a:lnTo>
                <a:lnTo>
                  <a:pt x="470002" y="770839"/>
                </a:lnTo>
                <a:lnTo>
                  <a:pt x="495605" y="799186"/>
                </a:lnTo>
                <a:lnTo>
                  <a:pt x="522122" y="825703"/>
                </a:lnTo>
                <a:lnTo>
                  <a:pt x="548640" y="852221"/>
                </a:lnTo>
                <a:lnTo>
                  <a:pt x="574243" y="877824"/>
                </a:lnTo>
                <a:lnTo>
                  <a:pt x="600761" y="901598"/>
                </a:lnTo>
                <a:lnTo>
                  <a:pt x="626364" y="925373"/>
                </a:lnTo>
                <a:lnTo>
                  <a:pt x="652882" y="948233"/>
                </a:lnTo>
                <a:lnTo>
                  <a:pt x="678485" y="970178"/>
                </a:lnTo>
                <a:lnTo>
                  <a:pt x="705002" y="991210"/>
                </a:lnTo>
                <a:lnTo>
                  <a:pt x="730606" y="1011326"/>
                </a:lnTo>
                <a:lnTo>
                  <a:pt x="757123" y="1030529"/>
                </a:lnTo>
                <a:lnTo>
                  <a:pt x="783641" y="1049731"/>
                </a:lnTo>
                <a:lnTo>
                  <a:pt x="809244" y="1068019"/>
                </a:lnTo>
                <a:lnTo>
                  <a:pt x="835762" y="1085393"/>
                </a:lnTo>
                <a:lnTo>
                  <a:pt x="861365" y="1102766"/>
                </a:lnTo>
                <a:lnTo>
                  <a:pt x="887882" y="1119226"/>
                </a:lnTo>
                <a:lnTo>
                  <a:pt x="913486" y="1134770"/>
                </a:lnTo>
                <a:lnTo>
                  <a:pt x="940003" y="1150315"/>
                </a:lnTo>
                <a:lnTo>
                  <a:pt x="965606" y="1164946"/>
                </a:lnTo>
                <a:lnTo>
                  <a:pt x="992124" y="1179576"/>
                </a:lnTo>
                <a:lnTo>
                  <a:pt x="1017727" y="1193292"/>
                </a:lnTo>
                <a:lnTo>
                  <a:pt x="1044245" y="1207008"/>
                </a:lnTo>
                <a:lnTo>
                  <a:pt x="1070762" y="1220724"/>
                </a:lnTo>
                <a:lnTo>
                  <a:pt x="1096366" y="1233526"/>
                </a:lnTo>
                <a:lnTo>
                  <a:pt x="1122883" y="1245413"/>
                </a:lnTo>
                <a:lnTo>
                  <a:pt x="1148486" y="1258214"/>
                </a:lnTo>
                <a:lnTo>
                  <a:pt x="1175004" y="1269187"/>
                </a:lnTo>
                <a:lnTo>
                  <a:pt x="1200607" y="1281074"/>
                </a:lnTo>
                <a:lnTo>
                  <a:pt x="1227125" y="1292047"/>
                </a:lnTo>
                <a:lnTo>
                  <a:pt x="1252728" y="1303020"/>
                </a:lnTo>
                <a:lnTo>
                  <a:pt x="1279246" y="1313078"/>
                </a:lnTo>
                <a:lnTo>
                  <a:pt x="1304849" y="1323137"/>
                </a:lnTo>
                <a:lnTo>
                  <a:pt x="1331366" y="1333195"/>
                </a:lnTo>
                <a:lnTo>
                  <a:pt x="1357884" y="1343254"/>
                </a:lnTo>
                <a:lnTo>
                  <a:pt x="1383487" y="1352398"/>
                </a:lnTo>
                <a:lnTo>
                  <a:pt x="1410005" y="1361542"/>
                </a:lnTo>
                <a:lnTo>
                  <a:pt x="1435608" y="1370686"/>
                </a:lnTo>
                <a:lnTo>
                  <a:pt x="1462126" y="1379830"/>
                </a:lnTo>
                <a:lnTo>
                  <a:pt x="1487729" y="1388059"/>
                </a:lnTo>
                <a:lnTo>
                  <a:pt x="1514246" y="1396289"/>
                </a:lnTo>
                <a:lnTo>
                  <a:pt x="1539850" y="1404518"/>
                </a:lnTo>
                <a:lnTo>
                  <a:pt x="1566367" y="1412748"/>
                </a:lnTo>
                <a:lnTo>
                  <a:pt x="1592885" y="1420978"/>
                </a:lnTo>
                <a:lnTo>
                  <a:pt x="1618488" y="1428293"/>
                </a:lnTo>
                <a:lnTo>
                  <a:pt x="1645006" y="1435608"/>
                </a:lnTo>
                <a:lnTo>
                  <a:pt x="1670609" y="1442923"/>
                </a:lnTo>
                <a:lnTo>
                  <a:pt x="1697126" y="1450238"/>
                </a:lnTo>
                <a:lnTo>
                  <a:pt x="1722730" y="1457554"/>
                </a:lnTo>
                <a:lnTo>
                  <a:pt x="1749247" y="1464869"/>
                </a:lnTo>
                <a:lnTo>
                  <a:pt x="1774850" y="1471270"/>
                </a:lnTo>
                <a:lnTo>
                  <a:pt x="1801368" y="1477670"/>
                </a:lnTo>
                <a:lnTo>
                  <a:pt x="1826971" y="1484986"/>
                </a:lnTo>
                <a:lnTo>
                  <a:pt x="1853489" y="1491386"/>
                </a:lnTo>
                <a:lnTo>
                  <a:pt x="1880006" y="1496873"/>
                </a:lnTo>
                <a:lnTo>
                  <a:pt x="1905610" y="1503274"/>
                </a:lnTo>
                <a:lnTo>
                  <a:pt x="1932127" y="1509674"/>
                </a:lnTo>
                <a:lnTo>
                  <a:pt x="1957730" y="1515161"/>
                </a:lnTo>
                <a:lnTo>
                  <a:pt x="1984248" y="1521562"/>
                </a:lnTo>
                <a:lnTo>
                  <a:pt x="2009851" y="1527048"/>
                </a:lnTo>
                <a:lnTo>
                  <a:pt x="2036369" y="1532534"/>
                </a:lnTo>
                <a:lnTo>
                  <a:pt x="2061972" y="1538021"/>
                </a:lnTo>
                <a:lnTo>
                  <a:pt x="2088490" y="1544422"/>
                </a:lnTo>
                <a:lnTo>
                  <a:pt x="2115007" y="1548994"/>
                </a:lnTo>
                <a:lnTo>
                  <a:pt x="2140610" y="1554480"/>
                </a:lnTo>
                <a:lnTo>
                  <a:pt x="2167128" y="1559966"/>
                </a:lnTo>
                <a:lnTo>
                  <a:pt x="2192731" y="1565453"/>
                </a:lnTo>
                <a:lnTo>
                  <a:pt x="2219249" y="1570025"/>
                </a:lnTo>
                <a:lnTo>
                  <a:pt x="2244852" y="1575511"/>
                </a:lnTo>
                <a:lnTo>
                  <a:pt x="2271370" y="1580083"/>
                </a:lnTo>
                <a:lnTo>
                  <a:pt x="2296973" y="1585570"/>
                </a:lnTo>
                <a:lnTo>
                  <a:pt x="2323490" y="1590142"/>
                </a:lnTo>
                <a:lnTo>
                  <a:pt x="2349094" y="1594714"/>
                </a:lnTo>
                <a:lnTo>
                  <a:pt x="2375611" y="1599286"/>
                </a:lnTo>
                <a:lnTo>
                  <a:pt x="2402129" y="1603858"/>
                </a:lnTo>
                <a:lnTo>
                  <a:pt x="2427732" y="1608430"/>
                </a:lnTo>
                <a:lnTo>
                  <a:pt x="2454250" y="1613002"/>
                </a:lnTo>
                <a:lnTo>
                  <a:pt x="2479853" y="1617574"/>
                </a:lnTo>
                <a:lnTo>
                  <a:pt x="2506370" y="1622146"/>
                </a:lnTo>
                <a:lnTo>
                  <a:pt x="2531974" y="1626718"/>
                </a:lnTo>
                <a:lnTo>
                  <a:pt x="2558491" y="1630375"/>
                </a:lnTo>
                <a:lnTo>
                  <a:pt x="2584094" y="1634947"/>
                </a:lnTo>
                <a:lnTo>
                  <a:pt x="2610612" y="1638605"/>
                </a:lnTo>
                <a:lnTo>
                  <a:pt x="2637130" y="1643177"/>
                </a:lnTo>
                <a:lnTo>
                  <a:pt x="2662733" y="1646834"/>
                </a:lnTo>
                <a:lnTo>
                  <a:pt x="2689250" y="1651406"/>
                </a:lnTo>
                <a:lnTo>
                  <a:pt x="2714854" y="1655064"/>
                </a:lnTo>
                <a:lnTo>
                  <a:pt x="2741371" y="1659636"/>
                </a:lnTo>
                <a:lnTo>
                  <a:pt x="2766974" y="1663294"/>
                </a:lnTo>
                <a:lnTo>
                  <a:pt x="2793492" y="1666951"/>
                </a:lnTo>
                <a:lnTo>
                  <a:pt x="2819095" y="1670609"/>
                </a:lnTo>
                <a:lnTo>
                  <a:pt x="2845613" y="1674266"/>
                </a:lnTo>
                <a:lnTo>
                  <a:pt x="2871216" y="1677924"/>
                </a:lnTo>
                <a:lnTo>
                  <a:pt x="2897734" y="1682496"/>
                </a:lnTo>
                <a:lnTo>
                  <a:pt x="2924251" y="1686154"/>
                </a:lnTo>
                <a:lnTo>
                  <a:pt x="2949854" y="1688897"/>
                </a:lnTo>
                <a:lnTo>
                  <a:pt x="2976372" y="1692554"/>
                </a:lnTo>
                <a:lnTo>
                  <a:pt x="3001975" y="1696212"/>
                </a:lnTo>
                <a:lnTo>
                  <a:pt x="3028493" y="1699870"/>
                </a:lnTo>
                <a:lnTo>
                  <a:pt x="3054096" y="1703527"/>
                </a:lnTo>
                <a:lnTo>
                  <a:pt x="3080614" y="1707185"/>
                </a:lnTo>
                <a:lnTo>
                  <a:pt x="3106217" y="1709928"/>
                </a:lnTo>
                <a:lnTo>
                  <a:pt x="3132734" y="1713586"/>
                </a:lnTo>
                <a:lnTo>
                  <a:pt x="3159252" y="1717243"/>
                </a:lnTo>
                <a:lnTo>
                  <a:pt x="3184855" y="1719986"/>
                </a:lnTo>
                <a:lnTo>
                  <a:pt x="3211373" y="1723644"/>
                </a:lnTo>
                <a:lnTo>
                  <a:pt x="3236976" y="1726387"/>
                </a:lnTo>
                <a:lnTo>
                  <a:pt x="3263494" y="1730045"/>
                </a:lnTo>
                <a:lnTo>
                  <a:pt x="3289097" y="1732788"/>
                </a:lnTo>
                <a:lnTo>
                  <a:pt x="3315614" y="1736446"/>
                </a:lnTo>
                <a:lnTo>
                  <a:pt x="3341218" y="1739189"/>
                </a:lnTo>
                <a:lnTo>
                  <a:pt x="3367735" y="1742846"/>
                </a:lnTo>
                <a:lnTo>
                  <a:pt x="3393338" y="1745590"/>
                </a:lnTo>
                <a:lnTo>
                  <a:pt x="3419856" y="1748333"/>
                </a:lnTo>
                <a:lnTo>
                  <a:pt x="3446374" y="1751990"/>
                </a:lnTo>
                <a:lnTo>
                  <a:pt x="3471977" y="1754734"/>
                </a:lnTo>
                <a:lnTo>
                  <a:pt x="3498494" y="1757477"/>
                </a:lnTo>
                <a:lnTo>
                  <a:pt x="3524098" y="1760220"/>
                </a:lnTo>
                <a:lnTo>
                  <a:pt x="3550615" y="1762963"/>
                </a:lnTo>
                <a:lnTo>
                  <a:pt x="3576218" y="1766621"/>
                </a:lnTo>
                <a:lnTo>
                  <a:pt x="3602736" y="1769364"/>
                </a:lnTo>
                <a:lnTo>
                  <a:pt x="3628339" y="1772107"/>
                </a:lnTo>
                <a:lnTo>
                  <a:pt x="3654857" y="1774850"/>
                </a:lnTo>
                <a:lnTo>
                  <a:pt x="3681374" y="1777594"/>
                </a:lnTo>
                <a:lnTo>
                  <a:pt x="3706978" y="1780337"/>
                </a:lnTo>
                <a:lnTo>
                  <a:pt x="3733495" y="1783080"/>
                </a:lnTo>
                <a:lnTo>
                  <a:pt x="3759098" y="1785823"/>
                </a:lnTo>
                <a:lnTo>
                  <a:pt x="3785616" y="1788566"/>
                </a:lnTo>
                <a:lnTo>
                  <a:pt x="3811219" y="1791310"/>
                </a:lnTo>
                <a:lnTo>
                  <a:pt x="3837737" y="1793138"/>
                </a:lnTo>
                <a:lnTo>
                  <a:pt x="3863340" y="1795882"/>
                </a:lnTo>
                <a:lnTo>
                  <a:pt x="3889858" y="1798625"/>
                </a:lnTo>
                <a:lnTo>
                  <a:pt x="3915461" y="1801368"/>
                </a:lnTo>
                <a:lnTo>
                  <a:pt x="3941978" y="1804111"/>
                </a:lnTo>
                <a:lnTo>
                  <a:pt x="3968496" y="1805940"/>
                </a:lnTo>
                <a:lnTo>
                  <a:pt x="3994099" y="1808683"/>
                </a:lnTo>
                <a:lnTo>
                  <a:pt x="4020617" y="1811426"/>
                </a:lnTo>
                <a:lnTo>
                  <a:pt x="4046220" y="1813255"/>
                </a:lnTo>
                <a:lnTo>
                  <a:pt x="4072738" y="1815998"/>
                </a:lnTo>
                <a:lnTo>
                  <a:pt x="4098341" y="1818742"/>
                </a:lnTo>
                <a:lnTo>
                  <a:pt x="4124858" y="1820570"/>
                </a:lnTo>
                <a:lnTo>
                  <a:pt x="4150462" y="1823314"/>
                </a:lnTo>
                <a:lnTo>
                  <a:pt x="4176979" y="1825142"/>
                </a:lnTo>
                <a:lnTo>
                  <a:pt x="4203497" y="1827886"/>
                </a:lnTo>
                <a:lnTo>
                  <a:pt x="4229100" y="1830629"/>
                </a:lnTo>
                <a:lnTo>
                  <a:pt x="4255618" y="1832458"/>
                </a:lnTo>
                <a:lnTo>
                  <a:pt x="4281221" y="1834286"/>
                </a:lnTo>
                <a:lnTo>
                  <a:pt x="4307738" y="1837030"/>
                </a:lnTo>
                <a:lnTo>
                  <a:pt x="4333342" y="1838858"/>
                </a:lnTo>
                <a:lnTo>
                  <a:pt x="4359859" y="1841602"/>
                </a:lnTo>
                <a:lnTo>
                  <a:pt x="4385462" y="1843430"/>
                </a:lnTo>
                <a:lnTo>
                  <a:pt x="4411980" y="1846174"/>
                </a:lnTo>
                <a:lnTo>
                  <a:pt x="4437583" y="1848002"/>
                </a:lnTo>
                <a:lnTo>
                  <a:pt x="4464101" y="1849831"/>
                </a:lnTo>
                <a:lnTo>
                  <a:pt x="4490618" y="1851660"/>
                </a:lnTo>
                <a:lnTo>
                  <a:pt x="4516222" y="1854403"/>
                </a:lnTo>
                <a:lnTo>
                  <a:pt x="4542739" y="1856232"/>
                </a:lnTo>
                <a:lnTo>
                  <a:pt x="4568342" y="1858061"/>
                </a:lnTo>
                <a:lnTo>
                  <a:pt x="4594860" y="1860804"/>
                </a:lnTo>
                <a:lnTo>
                  <a:pt x="4620463" y="1862633"/>
                </a:lnTo>
                <a:lnTo>
                  <a:pt x="4646981" y="1864462"/>
                </a:lnTo>
                <a:lnTo>
                  <a:pt x="4672584" y="1866290"/>
                </a:lnTo>
                <a:lnTo>
                  <a:pt x="4699102" y="1868119"/>
                </a:lnTo>
                <a:lnTo>
                  <a:pt x="4725619" y="1869948"/>
                </a:lnTo>
                <a:lnTo>
                  <a:pt x="4751222" y="1872691"/>
                </a:lnTo>
                <a:lnTo>
                  <a:pt x="4777740" y="1874520"/>
                </a:lnTo>
                <a:lnTo>
                  <a:pt x="4803343" y="1876349"/>
                </a:lnTo>
                <a:lnTo>
                  <a:pt x="4829861" y="1878178"/>
                </a:lnTo>
                <a:lnTo>
                  <a:pt x="4855464" y="1880006"/>
                </a:lnTo>
                <a:lnTo>
                  <a:pt x="4881982" y="1881835"/>
                </a:lnTo>
                <a:lnTo>
                  <a:pt x="4907585" y="1883664"/>
                </a:lnTo>
                <a:lnTo>
                  <a:pt x="4934102" y="1885493"/>
                </a:lnTo>
                <a:lnTo>
                  <a:pt x="4960620" y="1887322"/>
                </a:lnTo>
                <a:lnTo>
                  <a:pt x="4986223" y="1889150"/>
                </a:lnTo>
                <a:lnTo>
                  <a:pt x="5012741" y="1890979"/>
                </a:lnTo>
                <a:lnTo>
                  <a:pt x="5038344" y="1892808"/>
                </a:lnTo>
                <a:lnTo>
                  <a:pt x="5064862" y="1894637"/>
                </a:lnTo>
                <a:lnTo>
                  <a:pt x="5090465" y="1895551"/>
                </a:lnTo>
                <a:lnTo>
                  <a:pt x="5116982" y="1897380"/>
                </a:lnTo>
                <a:lnTo>
                  <a:pt x="5142586" y="1899209"/>
                </a:lnTo>
                <a:lnTo>
                  <a:pt x="5169103" y="1901038"/>
                </a:lnTo>
                <a:lnTo>
                  <a:pt x="5194706" y="1902866"/>
                </a:lnTo>
                <a:lnTo>
                  <a:pt x="5221224" y="1904695"/>
                </a:lnTo>
              </a:path>
            </a:pathLst>
          </a:custGeom>
          <a:noFill/>
          <a:ln w="44450">
            <a:solidFill>
              <a:srgbClr val="0072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" y="4105656"/>
            <a:ext cx="5221224" cy="923544"/>
          </a:xfrm>
          <a:custGeom>
            <a:avLst/>
            <a:gdLst/>
            <a:ahLst/>
            <a:cxnLst/>
            <a:rect l="l" t="t" r="r" b="b"/>
            <a:pathLst>
              <a:path w="5221224" h="923544">
                <a:moveTo>
                  <a:pt x="0" y="923544"/>
                </a:moveTo>
                <a:lnTo>
                  <a:pt x="26518" y="852221"/>
                </a:lnTo>
                <a:lnTo>
                  <a:pt x="52121" y="785470"/>
                </a:lnTo>
                <a:lnTo>
                  <a:pt x="78638" y="722376"/>
                </a:lnTo>
                <a:lnTo>
                  <a:pt x="104242" y="663854"/>
                </a:lnTo>
                <a:lnTo>
                  <a:pt x="130759" y="608990"/>
                </a:lnTo>
                <a:lnTo>
                  <a:pt x="156362" y="557784"/>
                </a:lnTo>
                <a:lnTo>
                  <a:pt x="182880" y="510235"/>
                </a:lnTo>
                <a:lnTo>
                  <a:pt x="208483" y="465430"/>
                </a:lnTo>
                <a:lnTo>
                  <a:pt x="235001" y="423367"/>
                </a:lnTo>
                <a:lnTo>
                  <a:pt x="261518" y="384962"/>
                </a:lnTo>
                <a:lnTo>
                  <a:pt x="287122" y="348386"/>
                </a:lnTo>
                <a:lnTo>
                  <a:pt x="313639" y="315468"/>
                </a:lnTo>
                <a:lnTo>
                  <a:pt x="339242" y="284378"/>
                </a:lnTo>
                <a:lnTo>
                  <a:pt x="365760" y="255118"/>
                </a:lnTo>
                <a:lnTo>
                  <a:pt x="391363" y="228600"/>
                </a:lnTo>
                <a:lnTo>
                  <a:pt x="417881" y="203911"/>
                </a:lnTo>
                <a:lnTo>
                  <a:pt x="443484" y="181051"/>
                </a:lnTo>
                <a:lnTo>
                  <a:pt x="470002" y="160934"/>
                </a:lnTo>
                <a:lnTo>
                  <a:pt x="495605" y="141732"/>
                </a:lnTo>
                <a:lnTo>
                  <a:pt x="522122" y="123444"/>
                </a:lnTo>
                <a:lnTo>
                  <a:pt x="548640" y="107899"/>
                </a:lnTo>
                <a:lnTo>
                  <a:pt x="574243" y="93269"/>
                </a:lnTo>
                <a:lnTo>
                  <a:pt x="600761" y="80467"/>
                </a:lnTo>
                <a:lnTo>
                  <a:pt x="626364" y="68580"/>
                </a:lnTo>
                <a:lnTo>
                  <a:pt x="652882" y="57607"/>
                </a:lnTo>
                <a:lnTo>
                  <a:pt x="678485" y="47549"/>
                </a:lnTo>
                <a:lnTo>
                  <a:pt x="705002" y="39319"/>
                </a:lnTo>
                <a:lnTo>
                  <a:pt x="730606" y="32004"/>
                </a:lnTo>
                <a:lnTo>
                  <a:pt x="757123" y="25603"/>
                </a:lnTo>
                <a:lnTo>
                  <a:pt x="783641" y="19202"/>
                </a:lnTo>
                <a:lnTo>
                  <a:pt x="809244" y="14630"/>
                </a:lnTo>
                <a:lnTo>
                  <a:pt x="835762" y="10973"/>
                </a:lnTo>
                <a:lnTo>
                  <a:pt x="861365" y="7315"/>
                </a:lnTo>
                <a:lnTo>
                  <a:pt x="887882" y="4572"/>
                </a:lnTo>
                <a:lnTo>
                  <a:pt x="913486" y="2743"/>
                </a:lnTo>
                <a:lnTo>
                  <a:pt x="940003" y="914"/>
                </a:lnTo>
                <a:lnTo>
                  <a:pt x="965606" y="914"/>
                </a:lnTo>
                <a:lnTo>
                  <a:pt x="992124" y="0"/>
                </a:lnTo>
                <a:lnTo>
                  <a:pt x="1017727" y="914"/>
                </a:lnTo>
                <a:lnTo>
                  <a:pt x="1044245" y="914"/>
                </a:lnTo>
                <a:lnTo>
                  <a:pt x="1070762" y="2743"/>
                </a:lnTo>
                <a:lnTo>
                  <a:pt x="1096366" y="3658"/>
                </a:lnTo>
                <a:lnTo>
                  <a:pt x="1122883" y="5486"/>
                </a:lnTo>
                <a:lnTo>
                  <a:pt x="1148486" y="8230"/>
                </a:lnTo>
                <a:lnTo>
                  <a:pt x="1175004" y="10973"/>
                </a:lnTo>
                <a:lnTo>
                  <a:pt x="1200607" y="13716"/>
                </a:lnTo>
                <a:lnTo>
                  <a:pt x="1227125" y="16459"/>
                </a:lnTo>
                <a:lnTo>
                  <a:pt x="1252728" y="20117"/>
                </a:lnTo>
                <a:lnTo>
                  <a:pt x="1279246" y="23774"/>
                </a:lnTo>
                <a:lnTo>
                  <a:pt x="1304849" y="28346"/>
                </a:lnTo>
                <a:lnTo>
                  <a:pt x="1331366" y="32004"/>
                </a:lnTo>
                <a:lnTo>
                  <a:pt x="1357884" y="36576"/>
                </a:lnTo>
                <a:lnTo>
                  <a:pt x="1383487" y="41148"/>
                </a:lnTo>
                <a:lnTo>
                  <a:pt x="1410005" y="45720"/>
                </a:lnTo>
                <a:lnTo>
                  <a:pt x="1435608" y="50292"/>
                </a:lnTo>
                <a:lnTo>
                  <a:pt x="1462126" y="55778"/>
                </a:lnTo>
                <a:lnTo>
                  <a:pt x="1487729" y="60350"/>
                </a:lnTo>
                <a:lnTo>
                  <a:pt x="1514246" y="65837"/>
                </a:lnTo>
                <a:lnTo>
                  <a:pt x="1539850" y="71323"/>
                </a:lnTo>
                <a:lnTo>
                  <a:pt x="1566367" y="76810"/>
                </a:lnTo>
                <a:lnTo>
                  <a:pt x="1592885" y="82296"/>
                </a:lnTo>
                <a:lnTo>
                  <a:pt x="1618488" y="87782"/>
                </a:lnTo>
                <a:lnTo>
                  <a:pt x="1645006" y="93269"/>
                </a:lnTo>
                <a:lnTo>
                  <a:pt x="1670609" y="98755"/>
                </a:lnTo>
                <a:lnTo>
                  <a:pt x="1697126" y="105156"/>
                </a:lnTo>
                <a:lnTo>
                  <a:pt x="1722730" y="110642"/>
                </a:lnTo>
                <a:lnTo>
                  <a:pt x="1749247" y="117043"/>
                </a:lnTo>
                <a:lnTo>
                  <a:pt x="1774850" y="122530"/>
                </a:lnTo>
                <a:lnTo>
                  <a:pt x="1801368" y="128930"/>
                </a:lnTo>
                <a:lnTo>
                  <a:pt x="1826971" y="134417"/>
                </a:lnTo>
                <a:lnTo>
                  <a:pt x="1853489" y="140818"/>
                </a:lnTo>
                <a:lnTo>
                  <a:pt x="1880006" y="146304"/>
                </a:lnTo>
                <a:lnTo>
                  <a:pt x="1905610" y="152705"/>
                </a:lnTo>
                <a:lnTo>
                  <a:pt x="1932127" y="158191"/>
                </a:lnTo>
                <a:lnTo>
                  <a:pt x="1957730" y="164592"/>
                </a:lnTo>
                <a:lnTo>
                  <a:pt x="1984248" y="170078"/>
                </a:lnTo>
                <a:lnTo>
                  <a:pt x="2009851" y="176479"/>
                </a:lnTo>
                <a:lnTo>
                  <a:pt x="2036369" y="182880"/>
                </a:lnTo>
                <a:lnTo>
                  <a:pt x="2061972" y="188366"/>
                </a:lnTo>
                <a:lnTo>
                  <a:pt x="2088490" y="194767"/>
                </a:lnTo>
                <a:lnTo>
                  <a:pt x="2115007" y="200254"/>
                </a:lnTo>
                <a:lnTo>
                  <a:pt x="2140610" y="206654"/>
                </a:lnTo>
                <a:lnTo>
                  <a:pt x="2167128" y="212141"/>
                </a:lnTo>
                <a:lnTo>
                  <a:pt x="2192731" y="217627"/>
                </a:lnTo>
                <a:lnTo>
                  <a:pt x="2219249" y="224028"/>
                </a:lnTo>
                <a:lnTo>
                  <a:pt x="2244852" y="229514"/>
                </a:lnTo>
                <a:lnTo>
                  <a:pt x="2271370" y="235915"/>
                </a:lnTo>
                <a:lnTo>
                  <a:pt x="2296973" y="241402"/>
                </a:lnTo>
                <a:lnTo>
                  <a:pt x="2323490" y="246888"/>
                </a:lnTo>
                <a:lnTo>
                  <a:pt x="2349094" y="252374"/>
                </a:lnTo>
                <a:lnTo>
                  <a:pt x="2375611" y="258775"/>
                </a:lnTo>
                <a:lnTo>
                  <a:pt x="2402129" y="264262"/>
                </a:lnTo>
                <a:lnTo>
                  <a:pt x="2427732" y="269748"/>
                </a:lnTo>
                <a:lnTo>
                  <a:pt x="2454250" y="275234"/>
                </a:lnTo>
                <a:lnTo>
                  <a:pt x="2479853" y="280721"/>
                </a:lnTo>
                <a:lnTo>
                  <a:pt x="2506370" y="286207"/>
                </a:lnTo>
                <a:lnTo>
                  <a:pt x="2531974" y="291694"/>
                </a:lnTo>
                <a:lnTo>
                  <a:pt x="2558491" y="297180"/>
                </a:lnTo>
                <a:lnTo>
                  <a:pt x="2584094" y="302666"/>
                </a:lnTo>
                <a:lnTo>
                  <a:pt x="2610612" y="308153"/>
                </a:lnTo>
                <a:lnTo>
                  <a:pt x="2637130" y="312725"/>
                </a:lnTo>
                <a:lnTo>
                  <a:pt x="2662733" y="318211"/>
                </a:lnTo>
                <a:lnTo>
                  <a:pt x="2689250" y="323698"/>
                </a:lnTo>
                <a:lnTo>
                  <a:pt x="2714854" y="328270"/>
                </a:lnTo>
                <a:lnTo>
                  <a:pt x="2741371" y="333756"/>
                </a:lnTo>
                <a:lnTo>
                  <a:pt x="2766974" y="339242"/>
                </a:lnTo>
                <a:lnTo>
                  <a:pt x="2793492" y="343814"/>
                </a:lnTo>
                <a:lnTo>
                  <a:pt x="2819095" y="349301"/>
                </a:lnTo>
                <a:lnTo>
                  <a:pt x="2845613" y="353873"/>
                </a:lnTo>
                <a:lnTo>
                  <a:pt x="2871216" y="358445"/>
                </a:lnTo>
                <a:lnTo>
                  <a:pt x="2897734" y="363931"/>
                </a:lnTo>
                <a:lnTo>
                  <a:pt x="2924251" y="368503"/>
                </a:lnTo>
                <a:lnTo>
                  <a:pt x="2949854" y="373075"/>
                </a:lnTo>
                <a:lnTo>
                  <a:pt x="2976372" y="377647"/>
                </a:lnTo>
                <a:lnTo>
                  <a:pt x="3001975" y="383134"/>
                </a:lnTo>
                <a:lnTo>
                  <a:pt x="3028493" y="387706"/>
                </a:lnTo>
                <a:lnTo>
                  <a:pt x="3054096" y="392278"/>
                </a:lnTo>
                <a:lnTo>
                  <a:pt x="3080614" y="396850"/>
                </a:lnTo>
                <a:lnTo>
                  <a:pt x="3106217" y="401422"/>
                </a:lnTo>
                <a:lnTo>
                  <a:pt x="3132734" y="405994"/>
                </a:lnTo>
                <a:lnTo>
                  <a:pt x="3159252" y="410566"/>
                </a:lnTo>
                <a:lnTo>
                  <a:pt x="3184855" y="414223"/>
                </a:lnTo>
                <a:lnTo>
                  <a:pt x="3211373" y="418795"/>
                </a:lnTo>
                <a:lnTo>
                  <a:pt x="3236976" y="423367"/>
                </a:lnTo>
                <a:lnTo>
                  <a:pt x="3263494" y="427939"/>
                </a:lnTo>
                <a:lnTo>
                  <a:pt x="3289097" y="431597"/>
                </a:lnTo>
                <a:lnTo>
                  <a:pt x="3315614" y="436169"/>
                </a:lnTo>
                <a:lnTo>
                  <a:pt x="3341218" y="440741"/>
                </a:lnTo>
                <a:lnTo>
                  <a:pt x="3367735" y="444398"/>
                </a:lnTo>
                <a:lnTo>
                  <a:pt x="3393338" y="448970"/>
                </a:lnTo>
                <a:lnTo>
                  <a:pt x="3419856" y="452628"/>
                </a:lnTo>
                <a:lnTo>
                  <a:pt x="3446374" y="457200"/>
                </a:lnTo>
                <a:lnTo>
                  <a:pt x="3471977" y="460858"/>
                </a:lnTo>
                <a:lnTo>
                  <a:pt x="3498494" y="464515"/>
                </a:lnTo>
                <a:lnTo>
                  <a:pt x="3524098" y="469087"/>
                </a:lnTo>
                <a:lnTo>
                  <a:pt x="3550615" y="472745"/>
                </a:lnTo>
                <a:lnTo>
                  <a:pt x="3576218" y="476402"/>
                </a:lnTo>
                <a:lnTo>
                  <a:pt x="3602736" y="480060"/>
                </a:lnTo>
                <a:lnTo>
                  <a:pt x="3628339" y="484632"/>
                </a:lnTo>
                <a:lnTo>
                  <a:pt x="3654857" y="488290"/>
                </a:lnTo>
                <a:lnTo>
                  <a:pt x="3681374" y="491947"/>
                </a:lnTo>
                <a:lnTo>
                  <a:pt x="3706978" y="495605"/>
                </a:lnTo>
                <a:lnTo>
                  <a:pt x="3733495" y="499262"/>
                </a:lnTo>
                <a:lnTo>
                  <a:pt x="3759098" y="502920"/>
                </a:lnTo>
                <a:lnTo>
                  <a:pt x="3785616" y="506578"/>
                </a:lnTo>
                <a:lnTo>
                  <a:pt x="3811219" y="510235"/>
                </a:lnTo>
                <a:lnTo>
                  <a:pt x="3837737" y="512978"/>
                </a:lnTo>
                <a:lnTo>
                  <a:pt x="3863340" y="516636"/>
                </a:lnTo>
                <a:lnTo>
                  <a:pt x="3889858" y="520294"/>
                </a:lnTo>
                <a:lnTo>
                  <a:pt x="3915461" y="523951"/>
                </a:lnTo>
                <a:lnTo>
                  <a:pt x="3941978" y="527609"/>
                </a:lnTo>
                <a:lnTo>
                  <a:pt x="3968496" y="530352"/>
                </a:lnTo>
                <a:lnTo>
                  <a:pt x="3994099" y="534010"/>
                </a:lnTo>
                <a:lnTo>
                  <a:pt x="4020617" y="537667"/>
                </a:lnTo>
                <a:lnTo>
                  <a:pt x="4046220" y="540410"/>
                </a:lnTo>
                <a:lnTo>
                  <a:pt x="4072738" y="544068"/>
                </a:lnTo>
                <a:lnTo>
                  <a:pt x="4098341" y="546811"/>
                </a:lnTo>
                <a:lnTo>
                  <a:pt x="4124858" y="550469"/>
                </a:lnTo>
                <a:lnTo>
                  <a:pt x="4150462" y="553212"/>
                </a:lnTo>
                <a:lnTo>
                  <a:pt x="4176979" y="556870"/>
                </a:lnTo>
                <a:lnTo>
                  <a:pt x="4203497" y="559613"/>
                </a:lnTo>
                <a:lnTo>
                  <a:pt x="4229100" y="562356"/>
                </a:lnTo>
                <a:lnTo>
                  <a:pt x="4255618" y="566014"/>
                </a:lnTo>
                <a:lnTo>
                  <a:pt x="4281221" y="568757"/>
                </a:lnTo>
                <a:lnTo>
                  <a:pt x="4307738" y="571500"/>
                </a:lnTo>
                <a:lnTo>
                  <a:pt x="4333342" y="575158"/>
                </a:lnTo>
                <a:lnTo>
                  <a:pt x="4359859" y="577901"/>
                </a:lnTo>
                <a:lnTo>
                  <a:pt x="4385462" y="580644"/>
                </a:lnTo>
                <a:lnTo>
                  <a:pt x="4411980" y="583387"/>
                </a:lnTo>
                <a:lnTo>
                  <a:pt x="4437583" y="586130"/>
                </a:lnTo>
                <a:lnTo>
                  <a:pt x="4464101" y="589788"/>
                </a:lnTo>
                <a:lnTo>
                  <a:pt x="4490618" y="592531"/>
                </a:lnTo>
                <a:lnTo>
                  <a:pt x="4516222" y="595274"/>
                </a:lnTo>
                <a:lnTo>
                  <a:pt x="4542739" y="598018"/>
                </a:lnTo>
                <a:lnTo>
                  <a:pt x="4568342" y="600761"/>
                </a:lnTo>
                <a:lnTo>
                  <a:pt x="4594860" y="603504"/>
                </a:lnTo>
                <a:lnTo>
                  <a:pt x="4620463" y="606247"/>
                </a:lnTo>
                <a:lnTo>
                  <a:pt x="4646981" y="608990"/>
                </a:lnTo>
                <a:lnTo>
                  <a:pt x="4672584" y="611734"/>
                </a:lnTo>
                <a:lnTo>
                  <a:pt x="4699102" y="613562"/>
                </a:lnTo>
                <a:lnTo>
                  <a:pt x="4725619" y="616306"/>
                </a:lnTo>
                <a:lnTo>
                  <a:pt x="4751222" y="619049"/>
                </a:lnTo>
                <a:lnTo>
                  <a:pt x="4777740" y="621792"/>
                </a:lnTo>
                <a:lnTo>
                  <a:pt x="4803343" y="624535"/>
                </a:lnTo>
                <a:lnTo>
                  <a:pt x="4829861" y="626364"/>
                </a:lnTo>
                <a:lnTo>
                  <a:pt x="4855464" y="629107"/>
                </a:lnTo>
                <a:lnTo>
                  <a:pt x="4881982" y="631850"/>
                </a:lnTo>
                <a:lnTo>
                  <a:pt x="4907585" y="634594"/>
                </a:lnTo>
                <a:lnTo>
                  <a:pt x="4934102" y="636422"/>
                </a:lnTo>
                <a:lnTo>
                  <a:pt x="4960620" y="639166"/>
                </a:lnTo>
                <a:lnTo>
                  <a:pt x="4986223" y="640994"/>
                </a:lnTo>
                <a:lnTo>
                  <a:pt x="5012741" y="643738"/>
                </a:lnTo>
                <a:lnTo>
                  <a:pt x="5038344" y="646481"/>
                </a:lnTo>
                <a:lnTo>
                  <a:pt x="5064862" y="648310"/>
                </a:lnTo>
                <a:lnTo>
                  <a:pt x="5090465" y="651053"/>
                </a:lnTo>
                <a:lnTo>
                  <a:pt x="5116982" y="652882"/>
                </a:lnTo>
                <a:lnTo>
                  <a:pt x="5142586" y="655625"/>
                </a:lnTo>
                <a:lnTo>
                  <a:pt x="5169103" y="657454"/>
                </a:lnTo>
                <a:lnTo>
                  <a:pt x="5194706" y="660197"/>
                </a:lnTo>
                <a:lnTo>
                  <a:pt x="5221224" y="662026"/>
                </a:lnTo>
              </a:path>
            </a:pathLst>
          </a:custGeom>
          <a:noFill/>
          <a:ln w="44450">
            <a:solidFill>
              <a:srgbClr val="D55E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1783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5212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時間</a:t>
            </a:r>
            <a:endParaRPr lang="ja-JP" sz="2200" dirty="0"/>
          </a:p>
        </p:txBody>
      </p:sp>
      <p:sp>
        <p:nvSpPr>
          <p:cNvPr id="21" name="Shape 19"/>
          <p:cNvSpPr/>
          <p:nvPr/>
        </p:nvSpPr>
        <p:spPr>
          <a:xfrm>
            <a:off x="3520440" y="1993392"/>
            <a:ext cx="502920" cy="9144"/>
          </a:xfrm>
          <a:custGeom>
            <a:avLst/>
            <a:gdLst/>
            <a:ahLst/>
            <a:cxnLst/>
            <a:rect l="l" t="t" r="r" b="b"/>
            <a:pathLst>
              <a:path w="502920" h="9144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44450">
            <a:solidFill>
              <a:srgbClr val="0072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0520" y="1783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血中濃度</a:t>
            </a:r>
            <a:endParaRPr lang="ja-JP" sz="2200" dirty="0"/>
          </a:p>
        </p:txBody>
      </p:sp>
      <p:sp>
        <p:nvSpPr>
          <p:cNvPr id="23" name="Shape 21"/>
          <p:cNvSpPr/>
          <p:nvPr/>
        </p:nvSpPr>
        <p:spPr>
          <a:xfrm>
            <a:off x="3520440" y="2523744"/>
            <a:ext cx="502920" cy="9144"/>
          </a:xfrm>
          <a:custGeom>
            <a:avLst/>
            <a:gdLst/>
            <a:ahLst/>
            <a:cxnLst/>
            <a:rect l="l" t="t" r="r" b="b"/>
            <a:pathLst>
              <a:path w="502920" h="9144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44450">
            <a:solidFill>
              <a:srgbClr val="D55E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0520" y="231343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効果部位の濃度</a:t>
            </a:r>
            <a:endParaRPr lang="ja-JP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195224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196328" y="1952244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薬は</a:t>
            </a: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血中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ではなく、</a:t>
            </a: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効果部位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（脳など）の濃度で効く</a:t>
            </a:r>
            <a:endParaRPr lang="ja-JP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2506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196328" y="325069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静注から効果のピークまで、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数十秒〜数分の遅れ</a:t>
            </a:r>
            <a:endParaRPr lang="ja-JP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45491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196328" y="4549140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待たずに追加すると、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重なって効きすぎる</a:t>
            </a:r>
            <a:endParaRPr lang="ja-JP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分布と再分布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教科書的記述（薬物動態） / Sahinovic MM, et al. Clin Pharmacokinet 2018;57:1539-1558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Egan TD, et al. Anesthesiology 1998;89:562-573</a:t>
            </a:r>
            <a:endParaRPr lang="ja-JP" sz="1600" dirty="0"/>
          </a:p>
        </p:txBody>
      </p:sp>
      <p:sp>
        <p:nvSpPr>
          <p:cNvPr id="11" name="Text 9"/>
          <p:cNvSpPr/>
          <p:nvPr/>
        </p:nvSpPr>
        <p:spPr>
          <a:xfrm>
            <a:off x="525780" y="1783080"/>
            <a:ext cx="393192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脳・心臓（血流が多い）</a:t>
            </a:r>
            <a:endParaRPr lang="ja-JP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513892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筋肉</a:t>
            </a:r>
            <a:endParaRPr lang="ja-JP" sz="2400" dirty="0"/>
          </a:p>
        </p:txBody>
      </p:sp>
      <p:sp>
        <p:nvSpPr>
          <p:cNvPr id="13" name="Text 11"/>
          <p:cNvSpPr/>
          <p:nvPr/>
        </p:nvSpPr>
        <p:spPr>
          <a:xfrm>
            <a:off x="2834640" y="513892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脂肪</a:t>
            </a:r>
            <a:endParaRPr lang="ja-JP" sz="2400" dirty="0"/>
          </a:p>
        </p:txBody>
      </p:sp>
      <p:sp>
        <p:nvSpPr>
          <p:cNvPr id="14" name="Text 12"/>
          <p:cNvSpPr/>
          <p:nvPr/>
        </p:nvSpPr>
        <p:spPr>
          <a:xfrm>
            <a:off x="1851660" y="3090672"/>
            <a:ext cx="1280160" cy="1280160"/>
          </a:xfrm>
          <a:prstGeom prst="ellipse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血液</a:t>
            </a:r>
            <a:endParaRPr lang="ja-JP" sz="2400" dirty="0"/>
          </a:p>
        </p:txBody>
      </p:sp>
      <p:sp>
        <p:nvSpPr>
          <p:cNvPr id="15" name="Shape 13"/>
          <p:cNvSpPr/>
          <p:nvPr/>
        </p:nvSpPr>
        <p:spPr>
          <a:xfrm>
            <a:off x="2107692" y="2768854"/>
            <a:ext cx="9144" cy="376682"/>
          </a:xfrm>
          <a:custGeom>
            <a:avLst/>
            <a:gdLst/>
            <a:ahLst/>
            <a:cxnLst/>
            <a:rect l="l" t="t" r="r" b="b"/>
            <a:pathLst>
              <a:path w="9144" h="376682">
                <a:moveTo>
                  <a:pt x="0" y="376733"/>
                </a:moveTo>
                <a:lnTo>
                  <a:pt x="0" y="0"/>
                </a:lnTo>
              </a:path>
            </a:pathLst>
          </a:custGeom>
          <a:noFill/>
          <a:ln w="139700">
            <a:solidFill>
              <a:srgbClr val="0072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98142" y="2514600"/>
            <a:ext cx="419100" cy="363220"/>
          </a:xfrm>
          <a:custGeom>
            <a:avLst/>
            <a:gdLst/>
            <a:ahLst/>
            <a:cxnLst/>
            <a:rect l="l" t="t" r="r" b="b"/>
            <a:pathLst>
              <a:path w="419100" h="363220">
                <a:moveTo>
                  <a:pt x="209398" y="0"/>
                </a:moveTo>
                <a:lnTo>
                  <a:pt x="418795" y="363017"/>
                </a:lnTo>
                <a:lnTo>
                  <a:pt x="0" y="363017"/>
                </a:lnTo>
                <a:close/>
              </a:path>
            </a:pathLst>
          </a:custGeom>
          <a:solidFill>
            <a:srgbClr val="0072B2"/>
          </a:solidFill>
          <a:ln w="9525">
            <a:solidFill>
              <a:srgbClr val="0072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5788" y="2514600"/>
            <a:ext cx="9144" cy="502920"/>
          </a:xfrm>
          <a:custGeom>
            <a:avLst/>
            <a:gdLst/>
            <a:ahLst/>
            <a:cxnLst/>
            <a:rect l="l" t="t" r="r" b="b"/>
            <a:pathLst>
              <a:path w="9144" h="502920">
                <a:moveTo>
                  <a:pt x="0" y="0"/>
                </a:moveTo>
                <a:lnTo>
                  <a:pt x="0" y="502920"/>
                </a:lnTo>
              </a:path>
            </a:pathLst>
          </a:custGeom>
          <a:noFill/>
          <a:ln w="63500">
            <a:solidFill>
              <a:srgbClr val="D55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75204" y="2962656"/>
            <a:ext cx="201168" cy="182880"/>
          </a:xfrm>
          <a:custGeom>
            <a:avLst/>
            <a:gdLst/>
            <a:ahLst/>
            <a:cxnLst/>
            <a:rect l="l" t="t" r="r" b="b"/>
            <a:pathLst>
              <a:path w="201168" h="182880">
                <a:moveTo>
                  <a:pt x="100584" y="182880"/>
                </a:moveTo>
                <a:lnTo>
                  <a:pt x="0" y="0"/>
                </a:lnTo>
                <a:lnTo>
                  <a:pt x="201168" y="0"/>
                </a:lnTo>
                <a:close/>
              </a:path>
            </a:pathLst>
          </a:custGeom>
          <a:solidFill>
            <a:srgbClr val="D55E00"/>
          </a:solidFill>
          <a:ln w="9525">
            <a:solidFill>
              <a:srgbClr val="D55E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38935" y="4272540"/>
            <a:ext cx="588946" cy="687888"/>
          </a:xfrm>
          <a:custGeom>
            <a:avLst/>
            <a:gdLst/>
            <a:ahLst/>
            <a:cxnLst/>
            <a:rect l="l" t="t" r="r" b="b"/>
            <a:pathLst>
              <a:path w="588946" h="687888">
                <a:moveTo>
                  <a:pt x="588874" y="0"/>
                </a:moveTo>
                <a:lnTo>
                  <a:pt x="0" y="687629"/>
                </a:lnTo>
              </a:path>
            </a:pathLst>
          </a:custGeom>
          <a:noFill/>
          <a:ln w="76200">
            <a:solidFill>
              <a:srgbClr val="0072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48740" y="4840943"/>
            <a:ext cx="215675" cy="224833"/>
          </a:xfrm>
          <a:custGeom>
            <a:avLst/>
            <a:gdLst/>
            <a:ahLst/>
            <a:cxnLst/>
            <a:rect l="l" t="t" r="r" b="b"/>
            <a:pathLst>
              <a:path w="215675" h="224833">
                <a:moveTo>
                  <a:pt x="0" y="224942"/>
                </a:moveTo>
                <a:lnTo>
                  <a:pt x="42062" y="0"/>
                </a:lnTo>
                <a:lnTo>
                  <a:pt x="215798" y="149047"/>
                </a:lnTo>
                <a:close/>
              </a:path>
            </a:pathLst>
          </a:custGeom>
          <a:solidFill>
            <a:srgbClr val="0072B2"/>
          </a:solidFill>
          <a:ln w="9525">
            <a:solidFill>
              <a:srgbClr val="0072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55600" y="4272540"/>
            <a:ext cx="595884" cy="695992"/>
          </a:xfrm>
          <a:custGeom>
            <a:avLst/>
            <a:gdLst/>
            <a:ahLst/>
            <a:cxnLst/>
            <a:rect l="l" t="t" r="r" b="b"/>
            <a:pathLst>
              <a:path w="595884" h="695992">
                <a:moveTo>
                  <a:pt x="0" y="0"/>
                </a:moveTo>
                <a:lnTo>
                  <a:pt x="596189" y="695858"/>
                </a:lnTo>
              </a:path>
            </a:pathLst>
          </a:custGeom>
          <a:noFill/>
          <a:ln w="31750">
            <a:solidFill>
              <a:srgbClr val="0072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9396" y="4861440"/>
            <a:ext cx="195344" cy="204336"/>
          </a:xfrm>
          <a:custGeom>
            <a:avLst/>
            <a:gdLst/>
            <a:ahLst/>
            <a:cxnLst/>
            <a:rect l="l" t="t" r="r" b="b"/>
            <a:pathLst>
              <a:path w="195344" h="204336">
                <a:moveTo>
                  <a:pt x="195682" y="203911"/>
                </a:moveTo>
                <a:lnTo>
                  <a:pt x="0" y="130759"/>
                </a:lnTo>
                <a:lnTo>
                  <a:pt x="152705" y="0"/>
                </a:lnTo>
                <a:close/>
              </a:path>
            </a:pathLst>
          </a:custGeom>
          <a:solidFill>
            <a:srgbClr val="0072B2"/>
          </a:solidFill>
          <a:ln w="9525">
            <a:solidFill>
              <a:srgbClr val="0072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36592" y="2318004"/>
            <a:ext cx="6949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血流の多い脳・心臓にまず届く（効く）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次に筋肉へ移る（</a:t>
            </a: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再分布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）→ 効果が切れる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単回静注の導入薬は、主に</a:t>
            </a: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再分布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で切れる</a:t>
            </a:r>
            <a:endParaRPr lang="ja-JP" sz="2400" dirty="0"/>
          </a:p>
          <a:p>
            <a:pPr algn="l" marL="355600" indent="-355600">
              <a:spcAft>
                <a:spcPts val="2600"/>
              </a:spcAft>
              <a:buSzPct val="100000"/>
              <a:buChar char="•"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繰り返すと脂肪にたまり、切れにくくなる</a:t>
            </a:r>
            <a:endParaRPr lang="ja-JP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消失：代謝と排泄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 / Proost JH, et al.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Br J Anaesth 2000;85:717-723 / Stöhr T, et al. Br J Anaesth 2021;127:415-423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1691640"/>
            <a:ext cx="5477256" cy="2121408"/>
          </a:xfrm>
          <a:prstGeom prst="roundRect">
            <a:avLst>
              <a:gd name="adj" fmla="val 3448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5202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肝臓で代謝</a:t>
            </a:r>
            <a:endParaRPr lang="ja-JP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59152"/>
            <a:ext cx="52029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プロポフォール、ミダゾラム、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レミマゾラム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肝血流・肝機能で変わる</a:t>
            </a:r>
            <a:endParaRPr lang="ja-JP" sz="2200" dirty="0"/>
          </a:p>
        </p:txBody>
      </p:sp>
      <p:sp>
        <p:nvSpPr>
          <p:cNvPr id="14" name="Shape 12"/>
          <p:cNvSpPr/>
          <p:nvPr/>
        </p:nvSpPr>
        <p:spPr>
          <a:xfrm>
            <a:off x="6208776" y="1691640"/>
            <a:ext cx="5477256" cy="2121408"/>
          </a:xfrm>
          <a:prstGeom prst="roundRect">
            <a:avLst>
              <a:gd name="adj" fmla="val 3448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1828800"/>
            <a:ext cx="5202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A8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血液・組織の酵素</a:t>
            </a:r>
            <a:endParaRPr lang="ja-JP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359152"/>
            <a:ext cx="52029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レミフェンタニル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臓器の機能によらない</a:t>
            </a:r>
            <a:endParaRPr lang="ja-JP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4041648"/>
            <a:ext cx="5477256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178808"/>
            <a:ext cx="5202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腎臓から排泄</a:t>
            </a:r>
            <a:endParaRPr lang="ja-JP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52029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モルヒネ：活性代謝物がたまる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ロクロニウム：一部は尿へ</a:t>
            </a:r>
            <a:endParaRPr lang="ja-JP" sz="2200" dirty="0"/>
          </a:p>
        </p:txBody>
      </p:sp>
      <p:sp>
        <p:nvSpPr>
          <p:cNvPr id="20" name="Shape 18"/>
          <p:cNvSpPr/>
          <p:nvPr/>
        </p:nvSpPr>
        <p:spPr>
          <a:xfrm>
            <a:off x="6208776" y="4041648"/>
            <a:ext cx="5477256" cy="18288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45936" y="4178808"/>
            <a:ext cx="5202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肺から排泄</a:t>
            </a:r>
            <a:endParaRPr lang="ja-JP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345936" y="4709160"/>
            <a:ext cx="52029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吸入麻酔薬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換気量と溶けやすさで決まる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持続投与の切れ方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Hughes MA, et al. Anesthesiology 1992;76:334-341 / Kapila A, et al. Anesthesiology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1995;83:968-975 / Sahinovic MM, et al. Clin Pharmacokinet 2018;57:1539-1558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388413"/>
            <a:ext cx="9144" cy="2732227"/>
          </a:xfrm>
          <a:custGeom>
            <a:avLst/>
            <a:gdLst/>
            <a:ahLst/>
            <a:cxnLst/>
            <a:rect l="l" t="t" r="r" b="b"/>
            <a:pathLst>
              <a:path w="9144" h="2732227">
                <a:moveTo>
                  <a:pt x="0" y="2732227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2860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73152" y="0"/>
                </a:moveTo>
                <a:lnTo>
                  <a:pt x="146304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120640"/>
            <a:ext cx="3235147" cy="9144"/>
          </a:xfrm>
          <a:custGeom>
            <a:avLst/>
            <a:gdLst/>
            <a:ahLst/>
            <a:cxnLst/>
            <a:rect l="l" t="t" r="r" b="b"/>
            <a:pathLst>
              <a:path w="3235147" h="9144">
                <a:moveTo>
                  <a:pt x="0" y="0"/>
                </a:moveTo>
                <a:lnTo>
                  <a:pt x="3235147" y="0"/>
                </a:lnTo>
              </a:path>
            </a:pathLst>
          </a:cu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05656" y="504748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146304" y="73152"/>
                </a:move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2450592"/>
            <a:ext cx="3118104" cy="2468880"/>
          </a:xfrm>
          <a:custGeom>
            <a:avLst/>
            <a:gdLst/>
            <a:ahLst/>
            <a:cxnLst/>
            <a:rect l="l" t="t" r="r" b="b"/>
            <a:pathLst>
              <a:path w="3118104" h="2468880">
                <a:moveTo>
                  <a:pt x="0" y="2468880"/>
                </a:moveTo>
                <a:lnTo>
                  <a:pt x="19202" y="2459736"/>
                </a:lnTo>
                <a:lnTo>
                  <a:pt x="39319" y="2446934"/>
                </a:lnTo>
                <a:lnTo>
                  <a:pt x="58522" y="2432304"/>
                </a:lnTo>
                <a:lnTo>
                  <a:pt x="77724" y="2416759"/>
                </a:lnTo>
                <a:lnTo>
                  <a:pt x="97841" y="2399386"/>
                </a:lnTo>
                <a:lnTo>
                  <a:pt x="117043" y="2381098"/>
                </a:lnTo>
                <a:lnTo>
                  <a:pt x="136246" y="2361895"/>
                </a:lnTo>
                <a:lnTo>
                  <a:pt x="156362" y="2341778"/>
                </a:lnTo>
                <a:lnTo>
                  <a:pt x="175565" y="2321662"/>
                </a:lnTo>
                <a:lnTo>
                  <a:pt x="194767" y="2300630"/>
                </a:lnTo>
                <a:lnTo>
                  <a:pt x="213970" y="2279599"/>
                </a:lnTo>
                <a:lnTo>
                  <a:pt x="234086" y="2257654"/>
                </a:lnTo>
                <a:lnTo>
                  <a:pt x="253289" y="2235708"/>
                </a:lnTo>
                <a:lnTo>
                  <a:pt x="272491" y="2212848"/>
                </a:lnTo>
                <a:lnTo>
                  <a:pt x="292608" y="2189988"/>
                </a:lnTo>
                <a:lnTo>
                  <a:pt x="311810" y="2167128"/>
                </a:lnTo>
                <a:lnTo>
                  <a:pt x="331013" y="2143354"/>
                </a:lnTo>
                <a:lnTo>
                  <a:pt x="351130" y="2119579"/>
                </a:lnTo>
                <a:lnTo>
                  <a:pt x="370332" y="2095805"/>
                </a:lnTo>
                <a:lnTo>
                  <a:pt x="389534" y="2072030"/>
                </a:lnTo>
                <a:lnTo>
                  <a:pt x="409651" y="2047342"/>
                </a:lnTo>
                <a:lnTo>
                  <a:pt x="428854" y="2022653"/>
                </a:lnTo>
                <a:lnTo>
                  <a:pt x="448056" y="1998878"/>
                </a:lnTo>
                <a:lnTo>
                  <a:pt x="467258" y="1974190"/>
                </a:lnTo>
                <a:lnTo>
                  <a:pt x="487375" y="1949501"/>
                </a:lnTo>
                <a:lnTo>
                  <a:pt x="506578" y="1923898"/>
                </a:lnTo>
                <a:lnTo>
                  <a:pt x="525780" y="1899209"/>
                </a:lnTo>
                <a:lnTo>
                  <a:pt x="545897" y="1874520"/>
                </a:lnTo>
                <a:lnTo>
                  <a:pt x="565099" y="1849831"/>
                </a:lnTo>
                <a:lnTo>
                  <a:pt x="584302" y="1825142"/>
                </a:lnTo>
                <a:lnTo>
                  <a:pt x="604418" y="1799539"/>
                </a:lnTo>
                <a:lnTo>
                  <a:pt x="623621" y="1774850"/>
                </a:lnTo>
                <a:lnTo>
                  <a:pt x="642823" y="1750162"/>
                </a:lnTo>
                <a:lnTo>
                  <a:pt x="662940" y="1725473"/>
                </a:lnTo>
                <a:lnTo>
                  <a:pt x="682142" y="1700784"/>
                </a:lnTo>
                <a:lnTo>
                  <a:pt x="701345" y="1676095"/>
                </a:lnTo>
                <a:lnTo>
                  <a:pt x="721462" y="1651406"/>
                </a:lnTo>
                <a:lnTo>
                  <a:pt x="740664" y="1626718"/>
                </a:lnTo>
                <a:lnTo>
                  <a:pt x="759866" y="1602029"/>
                </a:lnTo>
                <a:lnTo>
                  <a:pt x="779983" y="1577340"/>
                </a:lnTo>
                <a:lnTo>
                  <a:pt x="799186" y="1552651"/>
                </a:lnTo>
                <a:lnTo>
                  <a:pt x="818388" y="1528877"/>
                </a:lnTo>
                <a:lnTo>
                  <a:pt x="837590" y="1505102"/>
                </a:lnTo>
                <a:lnTo>
                  <a:pt x="857707" y="1480414"/>
                </a:lnTo>
                <a:lnTo>
                  <a:pt x="876910" y="1456639"/>
                </a:lnTo>
                <a:lnTo>
                  <a:pt x="896112" y="1432865"/>
                </a:lnTo>
                <a:lnTo>
                  <a:pt x="916229" y="1409090"/>
                </a:lnTo>
                <a:lnTo>
                  <a:pt x="935431" y="1386230"/>
                </a:lnTo>
                <a:lnTo>
                  <a:pt x="954634" y="1362456"/>
                </a:lnTo>
                <a:lnTo>
                  <a:pt x="974750" y="1339596"/>
                </a:lnTo>
                <a:lnTo>
                  <a:pt x="993953" y="1316736"/>
                </a:lnTo>
                <a:lnTo>
                  <a:pt x="1013155" y="1293876"/>
                </a:lnTo>
                <a:lnTo>
                  <a:pt x="1033272" y="1271016"/>
                </a:lnTo>
                <a:lnTo>
                  <a:pt x="1052474" y="1249070"/>
                </a:lnTo>
                <a:lnTo>
                  <a:pt x="1071677" y="1226210"/>
                </a:lnTo>
                <a:lnTo>
                  <a:pt x="1091794" y="1204265"/>
                </a:lnTo>
                <a:lnTo>
                  <a:pt x="1110996" y="1182319"/>
                </a:lnTo>
                <a:lnTo>
                  <a:pt x="1130198" y="1160374"/>
                </a:lnTo>
                <a:lnTo>
                  <a:pt x="1149401" y="1139342"/>
                </a:lnTo>
                <a:lnTo>
                  <a:pt x="1169518" y="1117397"/>
                </a:lnTo>
                <a:lnTo>
                  <a:pt x="1188720" y="1096366"/>
                </a:lnTo>
                <a:lnTo>
                  <a:pt x="1207922" y="1075334"/>
                </a:lnTo>
                <a:lnTo>
                  <a:pt x="1228039" y="1055218"/>
                </a:lnTo>
                <a:lnTo>
                  <a:pt x="1247242" y="1034186"/>
                </a:lnTo>
                <a:lnTo>
                  <a:pt x="1266444" y="1014070"/>
                </a:lnTo>
                <a:lnTo>
                  <a:pt x="1286561" y="993953"/>
                </a:lnTo>
                <a:lnTo>
                  <a:pt x="1305763" y="973836"/>
                </a:lnTo>
                <a:lnTo>
                  <a:pt x="1324966" y="954634"/>
                </a:lnTo>
                <a:lnTo>
                  <a:pt x="1345082" y="935431"/>
                </a:lnTo>
                <a:lnTo>
                  <a:pt x="1364285" y="916229"/>
                </a:lnTo>
                <a:lnTo>
                  <a:pt x="1383487" y="897026"/>
                </a:lnTo>
                <a:lnTo>
                  <a:pt x="1403604" y="877824"/>
                </a:lnTo>
                <a:lnTo>
                  <a:pt x="1422806" y="859536"/>
                </a:lnTo>
                <a:lnTo>
                  <a:pt x="1442009" y="841248"/>
                </a:lnTo>
                <a:lnTo>
                  <a:pt x="1461211" y="822960"/>
                </a:lnTo>
                <a:lnTo>
                  <a:pt x="1481328" y="805586"/>
                </a:lnTo>
                <a:lnTo>
                  <a:pt x="1500530" y="788213"/>
                </a:lnTo>
                <a:lnTo>
                  <a:pt x="1519733" y="769925"/>
                </a:lnTo>
                <a:lnTo>
                  <a:pt x="1539850" y="753466"/>
                </a:lnTo>
                <a:lnTo>
                  <a:pt x="1559052" y="736092"/>
                </a:lnTo>
                <a:lnTo>
                  <a:pt x="1578254" y="719633"/>
                </a:lnTo>
                <a:lnTo>
                  <a:pt x="1598371" y="703174"/>
                </a:lnTo>
                <a:lnTo>
                  <a:pt x="1617574" y="686714"/>
                </a:lnTo>
                <a:lnTo>
                  <a:pt x="1636776" y="670255"/>
                </a:lnTo>
                <a:lnTo>
                  <a:pt x="1656893" y="654710"/>
                </a:lnTo>
                <a:lnTo>
                  <a:pt x="1676095" y="639166"/>
                </a:lnTo>
                <a:lnTo>
                  <a:pt x="1695298" y="623621"/>
                </a:lnTo>
                <a:lnTo>
                  <a:pt x="1715414" y="608990"/>
                </a:lnTo>
                <a:lnTo>
                  <a:pt x="1734617" y="593446"/>
                </a:lnTo>
                <a:lnTo>
                  <a:pt x="1753819" y="578815"/>
                </a:lnTo>
                <a:lnTo>
                  <a:pt x="1773022" y="564185"/>
                </a:lnTo>
                <a:lnTo>
                  <a:pt x="1793138" y="550469"/>
                </a:lnTo>
                <a:lnTo>
                  <a:pt x="1812341" y="535838"/>
                </a:lnTo>
                <a:lnTo>
                  <a:pt x="1831543" y="522122"/>
                </a:lnTo>
                <a:lnTo>
                  <a:pt x="1851660" y="508406"/>
                </a:lnTo>
                <a:lnTo>
                  <a:pt x="1870862" y="495605"/>
                </a:lnTo>
                <a:lnTo>
                  <a:pt x="1890065" y="481889"/>
                </a:lnTo>
                <a:lnTo>
                  <a:pt x="1910182" y="469087"/>
                </a:lnTo>
                <a:lnTo>
                  <a:pt x="1929384" y="456286"/>
                </a:lnTo>
                <a:lnTo>
                  <a:pt x="1948586" y="443484"/>
                </a:lnTo>
                <a:lnTo>
                  <a:pt x="1968703" y="431597"/>
                </a:lnTo>
                <a:lnTo>
                  <a:pt x="1987906" y="418795"/>
                </a:lnTo>
                <a:lnTo>
                  <a:pt x="2007108" y="406908"/>
                </a:lnTo>
                <a:lnTo>
                  <a:pt x="2027225" y="395935"/>
                </a:lnTo>
                <a:lnTo>
                  <a:pt x="2046427" y="384048"/>
                </a:lnTo>
                <a:lnTo>
                  <a:pt x="2065630" y="373075"/>
                </a:lnTo>
                <a:lnTo>
                  <a:pt x="2084832" y="361188"/>
                </a:lnTo>
                <a:lnTo>
                  <a:pt x="2104949" y="350215"/>
                </a:lnTo>
                <a:lnTo>
                  <a:pt x="2124151" y="340157"/>
                </a:lnTo>
                <a:lnTo>
                  <a:pt x="2143354" y="329184"/>
                </a:lnTo>
                <a:lnTo>
                  <a:pt x="2163470" y="319126"/>
                </a:lnTo>
                <a:lnTo>
                  <a:pt x="2182673" y="309067"/>
                </a:lnTo>
                <a:lnTo>
                  <a:pt x="2201875" y="299009"/>
                </a:lnTo>
                <a:lnTo>
                  <a:pt x="2221992" y="288950"/>
                </a:lnTo>
                <a:lnTo>
                  <a:pt x="2241194" y="278892"/>
                </a:lnTo>
                <a:lnTo>
                  <a:pt x="2260397" y="269748"/>
                </a:lnTo>
                <a:lnTo>
                  <a:pt x="2280514" y="260604"/>
                </a:lnTo>
                <a:lnTo>
                  <a:pt x="2299716" y="251460"/>
                </a:lnTo>
                <a:lnTo>
                  <a:pt x="2318918" y="242316"/>
                </a:lnTo>
                <a:lnTo>
                  <a:pt x="2339035" y="234086"/>
                </a:lnTo>
                <a:lnTo>
                  <a:pt x="2358238" y="224942"/>
                </a:lnTo>
                <a:lnTo>
                  <a:pt x="2377440" y="216713"/>
                </a:lnTo>
                <a:lnTo>
                  <a:pt x="2396642" y="208483"/>
                </a:lnTo>
                <a:lnTo>
                  <a:pt x="2416759" y="200254"/>
                </a:lnTo>
                <a:lnTo>
                  <a:pt x="2435962" y="192938"/>
                </a:lnTo>
                <a:lnTo>
                  <a:pt x="2455164" y="184709"/>
                </a:lnTo>
                <a:lnTo>
                  <a:pt x="2475281" y="177394"/>
                </a:lnTo>
                <a:lnTo>
                  <a:pt x="2494483" y="170078"/>
                </a:lnTo>
                <a:lnTo>
                  <a:pt x="2513686" y="162763"/>
                </a:lnTo>
                <a:lnTo>
                  <a:pt x="2533802" y="155448"/>
                </a:lnTo>
                <a:lnTo>
                  <a:pt x="2553005" y="148133"/>
                </a:lnTo>
                <a:lnTo>
                  <a:pt x="2572207" y="141732"/>
                </a:lnTo>
                <a:lnTo>
                  <a:pt x="2592324" y="134417"/>
                </a:lnTo>
                <a:lnTo>
                  <a:pt x="2611526" y="128016"/>
                </a:lnTo>
                <a:lnTo>
                  <a:pt x="2630729" y="121615"/>
                </a:lnTo>
                <a:lnTo>
                  <a:pt x="2650846" y="115214"/>
                </a:lnTo>
                <a:lnTo>
                  <a:pt x="2670048" y="108814"/>
                </a:lnTo>
                <a:lnTo>
                  <a:pt x="2689250" y="103327"/>
                </a:lnTo>
                <a:lnTo>
                  <a:pt x="2708453" y="96926"/>
                </a:lnTo>
                <a:lnTo>
                  <a:pt x="2728570" y="91440"/>
                </a:lnTo>
                <a:lnTo>
                  <a:pt x="2747772" y="85954"/>
                </a:lnTo>
                <a:lnTo>
                  <a:pt x="2766974" y="80467"/>
                </a:lnTo>
                <a:lnTo>
                  <a:pt x="2787091" y="74981"/>
                </a:lnTo>
                <a:lnTo>
                  <a:pt x="2806294" y="69494"/>
                </a:lnTo>
                <a:lnTo>
                  <a:pt x="2825496" y="64922"/>
                </a:lnTo>
                <a:lnTo>
                  <a:pt x="2845613" y="59436"/>
                </a:lnTo>
                <a:lnTo>
                  <a:pt x="2864815" y="54864"/>
                </a:lnTo>
                <a:lnTo>
                  <a:pt x="2884018" y="49378"/>
                </a:lnTo>
                <a:lnTo>
                  <a:pt x="2904134" y="44806"/>
                </a:lnTo>
                <a:lnTo>
                  <a:pt x="2923337" y="40234"/>
                </a:lnTo>
                <a:lnTo>
                  <a:pt x="2942539" y="35662"/>
                </a:lnTo>
                <a:lnTo>
                  <a:pt x="2962656" y="31090"/>
                </a:lnTo>
                <a:lnTo>
                  <a:pt x="2981858" y="27432"/>
                </a:lnTo>
                <a:lnTo>
                  <a:pt x="3001061" y="22860"/>
                </a:lnTo>
                <a:lnTo>
                  <a:pt x="3020263" y="19202"/>
                </a:lnTo>
                <a:lnTo>
                  <a:pt x="3040380" y="14630"/>
                </a:lnTo>
                <a:lnTo>
                  <a:pt x="3059582" y="10973"/>
                </a:lnTo>
                <a:lnTo>
                  <a:pt x="3078785" y="7315"/>
                </a:lnTo>
                <a:lnTo>
                  <a:pt x="3098902" y="3658"/>
                </a:lnTo>
                <a:lnTo>
                  <a:pt x="3118104" y="0"/>
                </a:lnTo>
              </a:path>
            </a:pathLst>
          </a:custGeom>
          <a:noFill/>
          <a:ln w="44450">
            <a:solidFill>
              <a:srgbClr val="D55E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4453128"/>
            <a:ext cx="3118104" cy="466344"/>
          </a:xfrm>
          <a:custGeom>
            <a:avLst/>
            <a:gdLst/>
            <a:ahLst/>
            <a:cxnLst/>
            <a:rect l="l" t="t" r="r" b="b"/>
            <a:pathLst>
              <a:path w="3118104" h="466344">
                <a:moveTo>
                  <a:pt x="0" y="466344"/>
                </a:moveTo>
                <a:lnTo>
                  <a:pt x="19202" y="448056"/>
                </a:lnTo>
                <a:lnTo>
                  <a:pt x="39319" y="434340"/>
                </a:lnTo>
                <a:lnTo>
                  <a:pt x="58522" y="422453"/>
                </a:lnTo>
                <a:lnTo>
                  <a:pt x="77724" y="411480"/>
                </a:lnTo>
                <a:lnTo>
                  <a:pt x="97841" y="400507"/>
                </a:lnTo>
                <a:lnTo>
                  <a:pt x="117043" y="391363"/>
                </a:lnTo>
                <a:lnTo>
                  <a:pt x="136246" y="382219"/>
                </a:lnTo>
                <a:lnTo>
                  <a:pt x="156362" y="373075"/>
                </a:lnTo>
                <a:lnTo>
                  <a:pt x="175565" y="363931"/>
                </a:lnTo>
                <a:lnTo>
                  <a:pt x="194767" y="355702"/>
                </a:lnTo>
                <a:lnTo>
                  <a:pt x="213970" y="348386"/>
                </a:lnTo>
                <a:lnTo>
                  <a:pt x="234086" y="340157"/>
                </a:lnTo>
                <a:lnTo>
                  <a:pt x="253289" y="332842"/>
                </a:lnTo>
                <a:lnTo>
                  <a:pt x="272491" y="325526"/>
                </a:lnTo>
                <a:lnTo>
                  <a:pt x="292608" y="318211"/>
                </a:lnTo>
                <a:lnTo>
                  <a:pt x="311810" y="311810"/>
                </a:lnTo>
                <a:lnTo>
                  <a:pt x="331013" y="305410"/>
                </a:lnTo>
                <a:lnTo>
                  <a:pt x="351130" y="299009"/>
                </a:lnTo>
                <a:lnTo>
                  <a:pt x="370332" y="292608"/>
                </a:lnTo>
                <a:lnTo>
                  <a:pt x="389534" y="286207"/>
                </a:lnTo>
                <a:lnTo>
                  <a:pt x="409651" y="279806"/>
                </a:lnTo>
                <a:lnTo>
                  <a:pt x="428854" y="274320"/>
                </a:lnTo>
                <a:lnTo>
                  <a:pt x="448056" y="268834"/>
                </a:lnTo>
                <a:lnTo>
                  <a:pt x="467258" y="263347"/>
                </a:lnTo>
                <a:lnTo>
                  <a:pt x="487375" y="257861"/>
                </a:lnTo>
                <a:lnTo>
                  <a:pt x="506578" y="252374"/>
                </a:lnTo>
                <a:lnTo>
                  <a:pt x="525780" y="246888"/>
                </a:lnTo>
                <a:lnTo>
                  <a:pt x="545897" y="242316"/>
                </a:lnTo>
                <a:lnTo>
                  <a:pt x="565099" y="236830"/>
                </a:lnTo>
                <a:lnTo>
                  <a:pt x="584302" y="232258"/>
                </a:lnTo>
                <a:lnTo>
                  <a:pt x="604418" y="227686"/>
                </a:lnTo>
                <a:lnTo>
                  <a:pt x="623621" y="223114"/>
                </a:lnTo>
                <a:lnTo>
                  <a:pt x="642823" y="218542"/>
                </a:lnTo>
                <a:lnTo>
                  <a:pt x="662940" y="213970"/>
                </a:lnTo>
                <a:lnTo>
                  <a:pt x="682142" y="209398"/>
                </a:lnTo>
                <a:lnTo>
                  <a:pt x="701345" y="204826"/>
                </a:lnTo>
                <a:lnTo>
                  <a:pt x="721462" y="201168"/>
                </a:lnTo>
                <a:lnTo>
                  <a:pt x="740664" y="196596"/>
                </a:lnTo>
                <a:lnTo>
                  <a:pt x="759866" y="192938"/>
                </a:lnTo>
                <a:lnTo>
                  <a:pt x="779983" y="188366"/>
                </a:lnTo>
                <a:lnTo>
                  <a:pt x="799186" y="184709"/>
                </a:lnTo>
                <a:lnTo>
                  <a:pt x="818388" y="181051"/>
                </a:lnTo>
                <a:lnTo>
                  <a:pt x="837590" y="177394"/>
                </a:lnTo>
                <a:lnTo>
                  <a:pt x="857707" y="173736"/>
                </a:lnTo>
                <a:lnTo>
                  <a:pt x="876910" y="170078"/>
                </a:lnTo>
                <a:lnTo>
                  <a:pt x="896112" y="166421"/>
                </a:lnTo>
                <a:lnTo>
                  <a:pt x="916229" y="162763"/>
                </a:lnTo>
                <a:lnTo>
                  <a:pt x="935431" y="160020"/>
                </a:lnTo>
                <a:lnTo>
                  <a:pt x="954634" y="156362"/>
                </a:lnTo>
                <a:lnTo>
                  <a:pt x="974750" y="153619"/>
                </a:lnTo>
                <a:lnTo>
                  <a:pt x="993953" y="149962"/>
                </a:lnTo>
                <a:lnTo>
                  <a:pt x="1013155" y="147218"/>
                </a:lnTo>
                <a:lnTo>
                  <a:pt x="1033272" y="143561"/>
                </a:lnTo>
                <a:lnTo>
                  <a:pt x="1052474" y="140818"/>
                </a:lnTo>
                <a:lnTo>
                  <a:pt x="1071677" y="138074"/>
                </a:lnTo>
                <a:lnTo>
                  <a:pt x="1091794" y="135331"/>
                </a:lnTo>
                <a:lnTo>
                  <a:pt x="1110996" y="132588"/>
                </a:lnTo>
                <a:lnTo>
                  <a:pt x="1130198" y="129845"/>
                </a:lnTo>
                <a:lnTo>
                  <a:pt x="1149401" y="127102"/>
                </a:lnTo>
                <a:lnTo>
                  <a:pt x="1169518" y="124358"/>
                </a:lnTo>
                <a:lnTo>
                  <a:pt x="1188720" y="121615"/>
                </a:lnTo>
                <a:lnTo>
                  <a:pt x="1207922" y="118872"/>
                </a:lnTo>
                <a:lnTo>
                  <a:pt x="1228039" y="116129"/>
                </a:lnTo>
                <a:lnTo>
                  <a:pt x="1247242" y="113386"/>
                </a:lnTo>
                <a:lnTo>
                  <a:pt x="1266444" y="111557"/>
                </a:lnTo>
                <a:lnTo>
                  <a:pt x="1286561" y="108814"/>
                </a:lnTo>
                <a:lnTo>
                  <a:pt x="1305763" y="106985"/>
                </a:lnTo>
                <a:lnTo>
                  <a:pt x="1324966" y="104242"/>
                </a:lnTo>
                <a:lnTo>
                  <a:pt x="1345082" y="102413"/>
                </a:lnTo>
                <a:lnTo>
                  <a:pt x="1364285" y="99670"/>
                </a:lnTo>
                <a:lnTo>
                  <a:pt x="1383487" y="97841"/>
                </a:lnTo>
                <a:lnTo>
                  <a:pt x="1403604" y="95098"/>
                </a:lnTo>
                <a:lnTo>
                  <a:pt x="1422806" y="93269"/>
                </a:lnTo>
                <a:lnTo>
                  <a:pt x="1442009" y="91440"/>
                </a:lnTo>
                <a:lnTo>
                  <a:pt x="1461211" y="89611"/>
                </a:lnTo>
                <a:lnTo>
                  <a:pt x="1481328" y="86868"/>
                </a:lnTo>
                <a:lnTo>
                  <a:pt x="1500530" y="85039"/>
                </a:lnTo>
                <a:lnTo>
                  <a:pt x="1519733" y="83210"/>
                </a:lnTo>
                <a:lnTo>
                  <a:pt x="1539850" y="81382"/>
                </a:lnTo>
                <a:lnTo>
                  <a:pt x="1559052" y="79553"/>
                </a:lnTo>
                <a:lnTo>
                  <a:pt x="1578254" y="77724"/>
                </a:lnTo>
                <a:lnTo>
                  <a:pt x="1598371" y="75895"/>
                </a:lnTo>
                <a:lnTo>
                  <a:pt x="1617574" y="74066"/>
                </a:lnTo>
                <a:lnTo>
                  <a:pt x="1636776" y="72238"/>
                </a:lnTo>
                <a:lnTo>
                  <a:pt x="1656893" y="70409"/>
                </a:lnTo>
                <a:lnTo>
                  <a:pt x="1676095" y="69494"/>
                </a:lnTo>
                <a:lnTo>
                  <a:pt x="1695298" y="67666"/>
                </a:lnTo>
                <a:lnTo>
                  <a:pt x="1715414" y="65837"/>
                </a:lnTo>
                <a:lnTo>
                  <a:pt x="1734617" y="64008"/>
                </a:lnTo>
                <a:lnTo>
                  <a:pt x="1753819" y="63094"/>
                </a:lnTo>
                <a:lnTo>
                  <a:pt x="1773022" y="61265"/>
                </a:lnTo>
                <a:lnTo>
                  <a:pt x="1793138" y="59436"/>
                </a:lnTo>
                <a:lnTo>
                  <a:pt x="1812341" y="58522"/>
                </a:lnTo>
                <a:lnTo>
                  <a:pt x="1831543" y="56693"/>
                </a:lnTo>
                <a:lnTo>
                  <a:pt x="1851660" y="54864"/>
                </a:lnTo>
                <a:lnTo>
                  <a:pt x="1870862" y="53950"/>
                </a:lnTo>
                <a:lnTo>
                  <a:pt x="1890065" y="52121"/>
                </a:lnTo>
                <a:lnTo>
                  <a:pt x="1910182" y="51206"/>
                </a:lnTo>
                <a:lnTo>
                  <a:pt x="1929384" y="49378"/>
                </a:lnTo>
                <a:lnTo>
                  <a:pt x="1948586" y="48463"/>
                </a:lnTo>
                <a:lnTo>
                  <a:pt x="1968703" y="47549"/>
                </a:lnTo>
                <a:lnTo>
                  <a:pt x="1987906" y="45720"/>
                </a:lnTo>
                <a:lnTo>
                  <a:pt x="2007108" y="44806"/>
                </a:lnTo>
                <a:lnTo>
                  <a:pt x="2027225" y="43891"/>
                </a:lnTo>
                <a:lnTo>
                  <a:pt x="2046427" y="42062"/>
                </a:lnTo>
                <a:lnTo>
                  <a:pt x="2065630" y="41148"/>
                </a:lnTo>
                <a:lnTo>
                  <a:pt x="2084832" y="40234"/>
                </a:lnTo>
                <a:lnTo>
                  <a:pt x="2104949" y="38405"/>
                </a:lnTo>
                <a:lnTo>
                  <a:pt x="2124151" y="37490"/>
                </a:lnTo>
                <a:lnTo>
                  <a:pt x="2143354" y="36576"/>
                </a:lnTo>
                <a:lnTo>
                  <a:pt x="2163470" y="35662"/>
                </a:lnTo>
                <a:lnTo>
                  <a:pt x="2182673" y="34747"/>
                </a:lnTo>
                <a:lnTo>
                  <a:pt x="2201875" y="33833"/>
                </a:lnTo>
                <a:lnTo>
                  <a:pt x="2221992" y="32004"/>
                </a:lnTo>
                <a:lnTo>
                  <a:pt x="2241194" y="31090"/>
                </a:lnTo>
                <a:lnTo>
                  <a:pt x="2260397" y="30175"/>
                </a:lnTo>
                <a:lnTo>
                  <a:pt x="2280514" y="29261"/>
                </a:lnTo>
                <a:lnTo>
                  <a:pt x="2299716" y="28346"/>
                </a:lnTo>
                <a:lnTo>
                  <a:pt x="2318918" y="27432"/>
                </a:lnTo>
                <a:lnTo>
                  <a:pt x="2339035" y="26518"/>
                </a:lnTo>
                <a:lnTo>
                  <a:pt x="2358238" y="25603"/>
                </a:lnTo>
                <a:lnTo>
                  <a:pt x="2377440" y="24689"/>
                </a:lnTo>
                <a:lnTo>
                  <a:pt x="2396642" y="23774"/>
                </a:lnTo>
                <a:lnTo>
                  <a:pt x="2416759" y="22860"/>
                </a:lnTo>
                <a:lnTo>
                  <a:pt x="2435962" y="21946"/>
                </a:lnTo>
                <a:lnTo>
                  <a:pt x="2455164" y="21031"/>
                </a:lnTo>
                <a:lnTo>
                  <a:pt x="2475281" y="20117"/>
                </a:lnTo>
                <a:lnTo>
                  <a:pt x="2494483" y="20117"/>
                </a:lnTo>
                <a:lnTo>
                  <a:pt x="2513686" y="19202"/>
                </a:lnTo>
                <a:lnTo>
                  <a:pt x="2533802" y="18288"/>
                </a:lnTo>
                <a:lnTo>
                  <a:pt x="2553005" y="17374"/>
                </a:lnTo>
                <a:lnTo>
                  <a:pt x="2572207" y="16459"/>
                </a:lnTo>
                <a:lnTo>
                  <a:pt x="2592324" y="15545"/>
                </a:lnTo>
                <a:lnTo>
                  <a:pt x="2611526" y="15545"/>
                </a:lnTo>
                <a:lnTo>
                  <a:pt x="2630729" y="14630"/>
                </a:lnTo>
                <a:lnTo>
                  <a:pt x="2650846" y="13716"/>
                </a:lnTo>
                <a:lnTo>
                  <a:pt x="2670048" y="12802"/>
                </a:lnTo>
                <a:lnTo>
                  <a:pt x="2689250" y="12802"/>
                </a:lnTo>
                <a:lnTo>
                  <a:pt x="2708453" y="11887"/>
                </a:lnTo>
                <a:lnTo>
                  <a:pt x="2728570" y="10973"/>
                </a:lnTo>
                <a:lnTo>
                  <a:pt x="2747772" y="10058"/>
                </a:lnTo>
                <a:lnTo>
                  <a:pt x="2766974" y="10058"/>
                </a:lnTo>
                <a:lnTo>
                  <a:pt x="2787091" y="9144"/>
                </a:lnTo>
                <a:lnTo>
                  <a:pt x="2806294" y="8230"/>
                </a:lnTo>
                <a:lnTo>
                  <a:pt x="2825496" y="8230"/>
                </a:lnTo>
                <a:lnTo>
                  <a:pt x="2845613" y="7315"/>
                </a:lnTo>
                <a:lnTo>
                  <a:pt x="2864815" y="6401"/>
                </a:lnTo>
                <a:lnTo>
                  <a:pt x="2884018" y="6401"/>
                </a:lnTo>
                <a:lnTo>
                  <a:pt x="2904134" y="5486"/>
                </a:lnTo>
                <a:lnTo>
                  <a:pt x="2923337" y="5486"/>
                </a:lnTo>
                <a:lnTo>
                  <a:pt x="2942539" y="4572"/>
                </a:lnTo>
                <a:lnTo>
                  <a:pt x="2962656" y="3658"/>
                </a:lnTo>
                <a:lnTo>
                  <a:pt x="2981858" y="3658"/>
                </a:lnTo>
                <a:lnTo>
                  <a:pt x="3001061" y="2743"/>
                </a:lnTo>
                <a:lnTo>
                  <a:pt x="3020263" y="2743"/>
                </a:lnTo>
                <a:lnTo>
                  <a:pt x="3040380" y="1829"/>
                </a:lnTo>
                <a:lnTo>
                  <a:pt x="3059582" y="1829"/>
                </a:lnTo>
                <a:lnTo>
                  <a:pt x="3078785" y="914"/>
                </a:lnTo>
                <a:lnTo>
                  <a:pt x="3098902" y="0"/>
                </a:lnTo>
                <a:lnTo>
                  <a:pt x="3118104" y="0"/>
                </a:lnTo>
              </a:path>
            </a:pathLst>
          </a:custGeom>
          <a:noFill/>
          <a:ln w="44450">
            <a:solidFill>
              <a:srgbClr val="0072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4919472"/>
            <a:ext cx="3118104" cy="9144"/>
          </a:xfrm>
          <a:custGeom>
            <a:avLst/>
            <a:gdLst/>
            <a:ahLst/>
            <a:cxnLst/>
            <a:rect l="l" t="t" r="r" b="b"/>
            <a:pathLst>
              <a:path w="3118104" h="9144">
                <a:moveTo>
                  <a:pt x="0" y="0"/>
                </a:moveTo>
                <a:lnTo>
                  <a:pt x="19202" y="0"/>
                </a:lnTo>
                <a:lnTo>
                  <a:pt x="39319" y="0"/>
                </a:lnTo>
                <a:lnTo>
                  <a:pt x="58522" y="0"/>
                </a:lnTo>
                <a:lnTo>
                  <a:pt x="77724" y="0"/>
                </a:lnTo>
                <a:lnTo>
                  <a:pt x="97841" y="0"/>
                </a:lnTo>
                <a:lnTo>
                  <a:pt x="117043" y="0"/>
                </a:lnTo>
                <a:lnTo>
                  <a:pt x="136246" y="0"/>
                </a:lnTo>
                <a:lnTo>
                  <a:pt x="156362" y="0"/>
                </a:lnTo>
                <a:lnTo>
                  <a:pt x="175565" y="0"/>
                </a:lnTo>
                <a:lnTo>
                  <a:pt x="194767" y="0"/>
                </a:lnTo>
                <a:lnTo>
                  <a:pt x="213970" y="0"/>
                </a:lnTo>
                <a:lnTo>
                  <a:pt x="234086" y="0"/>
                </a:lnTo>
                <a:lnTo>
                  <a:pt x="253289" y="0"/>
                </a:lnTo>
                <a:lnTo>
                  <a:pt x="272491" y="0"/>
                </a:lnTo>
                <a:lnTo>
                  <a:pt x="292608" y="0"/>
                </a:lnTo>
                <a:lnTo>
                  <a:pt x="311810" y="0"/>
                </a:lnTo>
                <a:lnTo>
                  <a:pt x="331013" y="0"/>
                </a:lnTo>
                <a:lnTo>
                  <a:pt x="351130" y="0"/>
                </a:lnTo>
                <a:lnTo>
                  <a:pt x="370332" y="0"/>
                </a:lnTo>
                <a:lnTo>
                  <a:pt x="389534" y="0"/>
                </a:lnTo>
                <a:lnTo>
                  <a:pt x="409651" y="0"/>
                </a:lnTo>
                <a:lnTo>
                  <a:pt x="428854" y="0"/>
                </a:lnTo>
                <a:lnTo>
                  <a:pt x="448056" y="0"/>
                </a:lnTo>
                <a:lnTo>
                  <a:pt x="467258" y="0"/>
                </a:lnTo>
                <a:lnTo>
                  <a:pt x="487375" y="0"/>
                </a:lnTo>
                <a:lnTo>
                  <a:pt x="506578" y="0"/>
                </a:lnTo>
                <a:lnTo>
                  <a:pt x="525780" y="0"/>
                </a:lnTo>
                <a:lnTo>
                  <a:pt x="545897" y="0"/>
                </a:lnTo>
                <a:lnTo>
                  <a:pt x="565099" y="0"/>
                </a:lnTo>
                <a:lnTo>
                  <a:pt x="584302" y="0"/>
                </a:lnTo>
                <a:lnTo>
                  <a:pt x="604418" y="0"/>
                </a:lnTo>
                <a:lnTo>
                  <a:pt x="623621" y="0"/>
                </a:lnTo>
                <a:lnTo>
                  <a:pt x="642823" y="0"/>
                </a:lnTo>
                <a:lnTo>
                  <a:pt x="662940" y="0"/>
                </a:lnTo>
                <a:lnTo>
                  <a:pt x="682142" y="0"/>
                </a:lnTo>
                <a:lnTo>
                  <a:pt x="701345" y="0"/>
                </a:lnTo>
                <a:lnTo>
                  <a:pt x="721462" y="0"/>
                </a:lnTo>
                <a:lnTo>
                  <a:pt x="740664" y="0"/>
                </a:lnTo>
                <a:lnTo>
                  <a:pt x="759866" y="0"/>
                </a:lnTo>
                <a:lnTo>
                  <a:pt x="779983" y="0"/>
                </a:lnTo>
                <a:lnTo>
                  <a:pt x="799186" y="0"/>
                </a:lnTo>
                <a:lnTo>
                  <a:pt x="818388" y="0"/>
                </a:lnTo>
                <a:lnTo>
                  <a:pt x="837590" y="0"/>
                </a:lnTo>
                <a:lnTo>
                  <a:pt x="857707" y="0"/>
                </a:lnTo>
                <a:lnTo>
                  <a:pt x="876910" y="0"/>
                </a:lnTo>
                <a:lnTo>
                  <a:pt x="896112" y="0"/>
                </a:lnTo>
                <a:lnTo>
                  <a:pt x="916229" y="0"/>
                </a:lnTo>
                <a:lnTo>
                  <a:pt x="935431" y="0"/>
                </a:lnTo>
                <a:lnTo>
                  <a:pt x="954634" y="0"/>
                </a:lnTo>
                <a:lnTo>
                  <a:pt x="974750" y="0"/>
                </a:lnTo>
                <a:lnTo>
                  <a:pt x="993953" y="0"/>
                </a:lnTo>
                <a:lnTo>
                  <a:pt x="1013155" y="0"/>
                </a:lnTo>
                <a:lnTo>
                  <a:pt x="1033272" y="0"/>
                </a:lnTo>
                <a:lnTo>
                  <a:pt x="1052474" y="0"/>
                </a:lnTo>
                <a:lnTo>
                  <a:pt x="1071677" y="0"/>
                </a:lnTo>
                <a:lnTo>
                  <a:pt x="1091794" y="0"/>
                </a:lnTo>
                <a:lnTo>
                  <a:pt x="1110996" y="0"/>
                </a:lnTo>
                <a:lnTo>
                  <a:pt x="1130198" y="0"/>
                </a:lnTo>
                <a:lnTo>
                  <a:pt x="1149401" y="0"/>
                </a:lnTo>
                <a:lnTo>
                  <a:pt x="1169518" y="0"/>
                </a:lnTo>
                <a:lnTo>
                  <a:pt x="1188720" y="0"/>
                </a:lnTo>
                <a:lnTo>
                  <a:pt x="1207922" y="0"/>
                </a:lnTo>
                <a:lnTo>
                  <a:pt x="1228039" y="0"/>
                </a:lnTo>
                <a:lnTo>
                  <a:pt x="1247242" y="0"/>
                </a:lnTo>
                <a:lnTo>
                  <a:pt x="1266444" y="0"/>
                </a:lnTo>
                <a:lnTo>
                  <a:pt x="1286561" y="0"/>
                </a:lnTo>
                <a:lnTo>
                  <a:pt x="1305763" y="0"/>
                </a:lnTo>
                <a:lnTo>
                  <a:pt x="1324966" y="0"/>
                </a:lnTo>
                <a:lnTo>
                  <a:pt x="1345082" y="0"/>
                </a:lnTo>
                <a:lnTo>
                  <a:pt x="1364285" y="0"/>
                </a:lnTo>
                <a:lnTo>
                  <a:pt x="1383487" y="0"/>
                </a:lnTo>
                <a:lnTo>
                  <a:pt x="1403604" y="0"/>
                </a:lnTo>
                <a:lnTo>
                  <a:pt x="1422806" y="0"/>
                </a:lnTo>
                <a:lnTo>
                  <a:pt x="1442009" y="0"/>
                </a:lnTo>
                <a:lnTo>
                  <a:pt x="1461211" y="0"/>
                </a:lnTo>
                <a:lnTo>
                  <a:pt x="1481328" y="0"/>
                </a:lnTo>
                <a:lnTo>
                  <a:pt x="1500530" y="0"/>
                </a:lnTo>
                <a:lnTo>
                  <a:pt x="1519733" y="0"/>
                </a:lnTo>
                <a:lnTo>
                  <a:pt x="1539850" y="0"/>
                </a:lnTo>
                <a:lnTo>
                  <a:pt x="1559052" y="0"/>
                </a:lnTo>
                <a:lnTo>
                  <a:pt x="1578254" y="0"/>
                </a:lnTo>
                <a:lnTo>
                  <a:pt x="1598371" y="0"/>
                </a:lnTo>
                <a:lnTo>
                  <a:pt x="1617574" y="0"/>
                </a:lnTo>
                <a:lnTo>
                  <a:pt x="1636776" y="0"/>
                </a:lnTo>
                <a:lnTo>
                  <a:pt x="1656893" y="0"/>
                </a:lnTo>
                <a:lnTo>
                  <a:pt x="1676095" y="0"/>
                </a:lnTo>
                <a:lnTo>
                  <a:pt x="1695298" y="0"/>
                </a:lnTo>
                <a:lnTo>
                  <a:pt x="1715414" y="0"/>
                </a:lnTo>
                <a:lnTo>
                  <a:pt x="1734617" y="0"/>
                </a:lnTo>
                <a:lnTo>
                  <a:pt x="1753819" y="0"/>
                </a:lnTo>
                <a:lnTo>
                  <a:pt x="1773022" y="0"/>
                </a:lnTo>
                <a:lnTo>
                  <a:pt x="1793138" y="0"/>
                </a:lnTo>
                <a:lnTo>
                  <a:pt x="1812341" y="0"/>
                </a:lnTo>
                <a:lnTo>
                  <a:pt x="1831543" y="0"/>
                </a:lnTo>
                <a:lnTo>
                  <a:pt x="1851660" y="0"/>
                </a:lnTo>
                <a:lnTo>
                  <a:pt x="1870862" y="0"/>
                </a:lnTo>
                <a:lnTo>
                  <a:pt x="1890065" y="0"/>
                </a:lnTo>
                <a:lnTo>
                  <a:pt x="1910182" y="0"/>
                </a:lnTo>
                <a:lnTo>
                  <a:pt x="1929384" y="0"/>
                </a:lnTo>
                <a:lnTo>
                  <a:pt x="1948586" y="0"/>
                </a:lnTo>
                <a:lnTo>
                  <a:pt x="1968703" y="0"/>
                </a:lnTo>
                <a:lnTo>
                  <a:pt x="1987906" y="0"/>
                </a:lnTo>
                <a:lnTo>
                  <a:pt x="2007108" y="0"/>
                </a:lnTo>
                <a:lnTo>
                  <a:pt x="2027225" y="0"/>
                </a:lnTo>
                <a:lnTo>
                  <a:pt x="2046427" y="0"/>
                </a:lnTo>
                <a:lnTo>
                  <a:pt x="2065630" y="0"/>
                </a:lnTo>
                <a:lnTo>
                  <a:pt x="2084832" y="0"/>
                </a:lnTo>
                <a:lnTo>
                  <a:pt x="2104949" y="0"/>
                </a:lnTo>
                <a:lnTo>
                  <a:pt x="2124151" y="0"/>
                </a:lnTo>
                <a:lnTo>
                  <a:pt x="2143354" y="0"/>
                </a:lnTo>
                <a:lnTo>
                  <a:pt x="2163470" y="0"/>
                </a:lnTo>
                <a:lnTo>
                  <a:pt x="2182673" y="0"/>
                </a:lnTo>
                <a:lnTo>
                  <a:pt x="2201875" y="0"/>
                </a:lnTo>
                <a:lnTo>
                  <a:pt x="2221992" y="0"/>
                </a:lnTo>
                <a:lnTo>
                  <a:pt x="2241194" y="0"/>
                </a:lnTo>
                <a:lnTo>
                  <a:pt x="2260397" y="0"/>
                </a:lnTo>
                <a:lnTo>
                  <a:pt x="2280514" y="0"/>
                </a:lnTo>
                <a:lnTo>
                  <a:pt x="2299716" y="0"/>
                </a:lnTo>
                <a:lnTo>
                  <a:pt x="2318918" y="0"/>
                </a:lnTo>
                <a:lnTo>
                  <a:pt x="2339035" y="0"/>
                </a:lnTo>
                <a:lnTo>
                  <a:pt x="2358238" y="0"/>
                </a:lnTo>
                <a:lnTo>
                  <a:pt x="2377440" y="0"/>
                </a:lnTo>
                <a:lnTo>
                  <a:pt x="2396642" y="0"/>
                </a:lnTo>
                <a:lnTo>
                  <a:pt x="2416759" y="0"/>
                </a:lnTo>
                <a:lnTo>
                  <a:pt x="2435962" y="0"/>
                </a:lnTo>
                <a:lnTo>
                  <a:pt x="2455164" y="0"/>
                </a:lnTo>
                <a:lnTo>
                  <a:pt x="2475281" y="0"/>
                </a:lnTo>
                <a:lnTo>
                  <a:pt x="2494483" y="0"/>
                </a:lnTo>
                <a:lnTo>
                  <a:pt x="2513686" y="0"/>
                </a:lnTo>
                <a:lnTo>
                  <a:pt x="2533802" y="0"/>
                </a:lnTo>
                <a:lnTo>
                  <a:pt x="2553005" y="0"/>
                </a:lnTo>
                <a:lnTo>
                  <a:pt x="2572207" y="0"/>
                </a:lnTo>
                <a:lnTo>
                  <a:pt x="2592324" y="0"/>
                </a:lnTo>
                <a:lnTo>
                  <a:pt x="2611526" y="0"/>
                </a:lnTo>
                <a:lnTo>
                  <a:pt x="2630729" y="0"/>
                </a:lnTo>
                <a:lnTo>
                  <a:pt x="2650846" y="0"/>
                </a:lnTo>
                <a:lnTo>
                  <a:pt x="2670048" y="0"/>
                </a:lnTo>
                <a:lnTo>
                  <a:pt x="2689250" y="0"/>
                </a:lnTo>
                <a:lnTo>
                  <a:pt x="2708453" y="0"/>
                </a:lnTo>
                <a:lnTo>
                  <a:pt x="2728570" y="0"/>
                </a:lnTo>
                <a:lnTo>
                  <a:pt x="2747772" y="0"/>
                </a:lnTo>
                <a:lnTo>
                  <a:pt x="2766974" y="0"/>
                </a:lnTo>
                <a:lnTo>
                  <a:pt x="2787091" y="0"/>
                </a:lnTo>
                <a:lnTo>
                  <a:pt x="2806294" y="0"/>
                </a:lnTo>
                <a:lnTo>
                  <a:pt x="2825496" y="0"/>
                </a:lnTo>
                <a:lnTo>
                  <a:pt x="2845613" y="0"/>
                </a:lnTo>
                <a:lnTo>
                  <a:pt x="2864815" y="0"/>
                </a:lnTo>
                <a:lnTo>
                  <a:pt x="2884018" y="0"/>
                </a:lnTo>
                <a:lnTo>
                  <a:pt x="2904134" y="0"/>
                </a:lnTo>
                <a:lnTo>
                  <a:pt x="2923337" y="0"/>
                </a:lnTo>
                <a:lnTo>
                  <a:pt x="2942539" y="0"/>
                </a:lnTo>
                <a:lnTo>
                  <a:pt x="2962656" y="0"/>
                </a:lnTo>
                <a:lnTo>
                  <a:pt x="2981858" y="0"/>
                </a:lnTo>
                <a:lnTo>
                  <a:pt x="3001061" y="0"/>
                </a:lnTo>
                <a:lnTo>
                  <a:pt x="3020263" y="0"/>
                </a:lnTo>
                <a:lnTo>
                  <a:pt x="3040380" y="0"/>
                </a:lnTo>
                <a:lnTo>
                  <a:pt x="3059582" y="0"/>
                </a:lnTo>
                <a:lnTo>
                  <a:pt x="3078785" y="0"/>
                </a:lnTo>
                <a:lnTo>
                  <a:pt x="3098902" y="0"/>
                </a:lnTo>
                <a:lnTo>
                  <a:pt x="3118104" y="0"/>
                </a:lnTo>
              </a:path>
            </a:pathLst>
          </a:custGeom>
          <a:noFill/>
          <a:ln w="44450">
            <a:solidFill>
              <a:srgbClr val="00A8A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2402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フェンタニル</a:t>
            </a:r>
            <a:endParaRPr lang="ja-JP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2428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プロポフォール</a:t>
            </a:r>
            <a:endParaRPr lang="ja-JP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7091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00A8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レミフェンタニル</a:t>
            </a:r>
            <a:endParaRPr lang="ja-JP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17556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半分になるまでの時間</a:t>
            </a:r>
            <a:endParaRPr lang="ja-JP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3035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持続投与した時間</a:t>
            </a:r>
            <a:endParaRPr lang="ja-JP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066544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2066544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止めてから濃度が半分になる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時間は、入れた時間で変わる</a:t>
            </a:r>
            <a:endParaRPr lang="ja-JP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19272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3319272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00A8A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レミフェンタニル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は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何時間入れても数分で切れる</a:t>
            </a:r>
            <a:endParaRPr lang="ja-JP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572000"/>
            <a:ext cx="347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525512" y="4572000"/>
            <a:ext cx="4160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フェンタニル</a:t>
            </a: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は長く</a:t>
            </a:r>
            <a:endParaRPr lang="ja-JP" sz="2200" dirty="0"/>
          </a:p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入れるほど、切れにくくなる</a:t>
            </a:r>
            <a:endParaRPr lang="ja-JP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用量反応と相乗作用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教科書的記述（薬力学） / Schnider TW, et al. Anesthesiology 1999;90:1502-1516</a:t>
            </a:r>
            <a:endParaRPr lang="ja-JP" sz="1600" dirty="0"/>
          </a:p>
        </p:txBody>
      </p:sp>
      <p:sp>
        <p:nvSpPr>
          <p:cNvPr id="11" name="Shape 9"/>
          <p:cNvSpPr/>
          <p:nvPr/>
        </p:nvSpPr>
        <p:spPr>
          <a:xfrm>
            <a:off x="1463040" y="4137660"/>
            <a:ext cx="4754880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463040" y="3129991"/>
            <a:ext cx="4754880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463040" y="2845613"/>
            <a:ext cx="9144" cy="2412187"/>
          </a:xfrm>
          <a:custGeom>
            <a:avLst/>
            <a:gdLst/>
            <a:ahLst/>
            <a:cxnLst/>
            <a:rect l="l" t="t" r="r" b="b"/>
            <a:pathLst>
              <a:path w="9144" h="2412187">
                <a:moveTo>
                  <a:pt x="0" y="2412187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9888" y="274320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73152" y="0"/>
                </a:moveTo>
                <a:lnTo>
                  <a:pt x="146304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5257800"/>
            <a:ext cx="4835347" cy="9144"/>
          </a:xfrm>
          <a:custGeom>
            <a:avLst/>
            <a:gdLst/>
            <a:ahLst/>
            <a:cxnLst/>
            <a:rect l="l" t="t" r="r" b="b"/>
            <a:pathLst>
              <a:path w="4835347" h="9144">
                <a:moveTo>
                  <a:pt x="0" y="0"/>
                </a:moveTo>
                <a:lnTo>
                  <a:pt x="4835347" y="0"/>
                </a:lnTo>
              </a:path>
            </a:pathLst>
          </a:custGeom>
          <a:noFill/>
          <a:ln w="25400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5184648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146304" y="73152"/>
                </a:move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99616" y="3021178"/>
            <a:ext cx="4718304" cy="2236622"/>
          </a:xfrm>
          <a:custGeom>
            <a:avLst/>
            <a:gdLst/>
            <a:ahLst/>
            <a:cxnLst/>
            <a:rect l="l" t="t" r="r" b="b"/>
            <a:pathLst>
              <a:path w="4718304" h="2236622">
                <a:moveTo>
                  <a:pt x="0" y="2236622"/>
                </a:moveTo>
                <a:lnTo>
                  <a:pt x="39319" y="2236622"/>
                </a:lnTo>
                <a:lnTo>
                  <a:pt x="78638" y="2236622"/>
                </a:lnTo>
                <a:lnTo>
                  <a:pt x="117958" y="2236622"/>
                </a:lnTo>
                <a:lnTo>
                  <a:pt x="157277" y="2236622"/>
                </a:lnTo>
                <a:lnTo>
                  <a:pt x="196596" y="2236622"/>
                </a:lnTo>
                <a:lnTo>
                  <a:pt x="235915" y="2236622"/>
                </a:lnTo>
                <a:lnTo>
                  <a:pt x="275234" y="2236622"/>
                </a:lnTo>
                <a:lnTo>
                  <a:pt x="314554" y="2236622"/>
                </a:lnTo>
                <a:lnTo>
                  <a:pt x="353873" y="2236622"/>
                </a:lnTo>
                <a:lnTo>
                  <a:pt x="393192" y="2236622"/>
                </a:lnTo>
                <a:lnTo>
                  <a:pt x="432511" y="2236622"/>
                </a:lnTo>
                <a:lnTo>
                  <a:pt x="471830" y="2236622"/>
                </a:lnTo>
                <a:lnTo>
                  <a:pt x="511150" y="2236622"/>
                </a:lnTo>
                <a:lnTo>
                  <a:pt x="550469" y="2236622"/>
                </a:lnTo>
                <a:lnTo>
                  <a:pt x="589788" y="2236622"/>
                </a:lnTo>
                <a:lnTo>
                  <a:pt x="629107" y="2236622"/>
                </a:lnTo>
                <a:lnTo>
                  <a:pt x="668426" y="2236622"/>
                </a:lnTo>
                <a:lnTo>
                  <a:pt x="707746" y="2236622"/>
                </a:lnTo>
                <a:lnTo>
                  <a:pt x="747065" y="2236622"/>
                </a:lnTo>
                <a:lnTo>
                  <a:pt x="786384" y="2236622"/>
                </a:lnTo>
                <a:lnTo>
                  <a:pt x="825703" y="2235708"/>
                </a:lnTo>
                <a:lnTo>
                  <a:pt x="865022" y="2235708"/>
                </a:lnTo>
                <a:lnTo>
                  <a:pt x="904342" y="2235708"/>
                </a:lnTo>
                <a:lnTo>
                  <a:pt x="943661" y="2235708"/>
                </a:lnTo>
                <a:lnTo>
                  <a:pt x="982980" y="2235708"/>
                </a:lnTo>
                <a:lnTo>
                  <a:pt x="1022299" y="2235708"/>
                </a:lnTo>
                <a:lnTo>
                  <a:pt x="1061618" y="2235708"/>
                </a:lnTo>
                <a:lnTo>
                  <a:pt x="1100938" y="2234794"/>
                </a:lnTo>
                <a:lnTo>
                  <a:pt x="1140257" y="2234794"/>
                </a:lnTo>
                <a:lnTo>
                  <a:pt x="1179576" y="2234794"/>
                </a:lnTo>
                <a:lnTo>
                  <a:pt x="1218895" y="2234794"/>
                </a:lnTo>
                <a:lnTo>
                  <a:pt x="1258214" y="2233879"/>
                </a:lnTo>
                <a:lnTo>
                  <a:pt x="1297534" y="2233879"/>
                </a:lnTo>
                <a:lnTo>
                  <a:pt x="1336853" y="2232965"/>
                </a:lnTo>
                <a:lnTo>
                  <a:pt x="1376172" y="2232965"/>
                </a:lnTo>
                <a:lnTo>
                  <a:pt x="1415491" y="2232050"/>
                </a:lnTo>
                <a:lnTo>
                  <a:pt x="1454810" y="2231136"/>
                </a:lnTo>
                <a:lnTo>
                  <a:pt x="1494130" y="2230222"/>
                </a:lnTo>
                <a:lnTo>
                  <a:pt x="1533449" y="2229307"/>
                </a:lnTo>
                <a:lnTo>
                  <a:pt x="1572768" y="2228393"/>
                </a:lnTo>
                <a:lnTo>
                  <a:pt x="1612087" y="2226564"/>
                </a:lnTo>
                <a:lnTo>
                  <a:pt x="1651406" y="2224735"/>
                </a:lnTo>
                <a:lnTo>
                  <a:pt x="1690726" y="2222906"/>
                </a:lnTo>
                <a:lnTo>
                  <a:pt x="1730045" y="2221078"/>
                </a:lnTo>
                <a:lnTo>
                  <a:pt x="1769364" y="2218334"/>
                </a:lnTo>
                <a:lnTo>
                  <a:pt x="1808683" y="2215591"/>
                </a:lnTo>
                <a:lnTo>
                  <a:pt x="1848002" y="2211934"/>
                </a:lnTo>
                <a:lnTo>
                  <a:pt x="1887322" y="2208276"/>
                </a:lnTo>
                <a:lnTo>
                  <a:pt x="1926641" y="2203704"/>
                </a:lnTo>
                <a:lnTo>
                  <a:pt x="1965960" y="2198218"/>
                </a:lnTo>
                <a:lnTo>
                  <a:pt x="2005279" y="2192731"/>
                </a:lnTo>
                <a:lnTo>
                  <a:pt x="2044598" y="2185416"/>
                </a:lnTo>
                <a:lnTo>
                  <a:pt x="2083918" y="2177186"/>
                </a:lnTo>
                <a:lnTo>
                  <a:pt x="2123237" y="2168042"/>
                </a:lnTo>
                <a:lnTo>
                  <a:pt x="2162556" y="2157070"/>
                </a:lnTo>
                <a:lnTo>
                  <a:pt x="2201875" y="2144268"/>
                </a:lnTo>
                <a:lnTo>
                  <a:pt x="2241194" y="2130552"/>
                </a:lnTo>
                <a:lnTo>
                  <a:pt x="2280514" y="2114093"/>
                </a:lnTo>
                <a:lnTo>
                  <a:pt x="2319833" y="2094890"/>
                </a:lnTo>
                <a:lnTo>
                  <a:pt x="2359152" y="2073859"/>
                </a:lnTo>
                <a:lnTo>
                  <a:pt x="2398471" y="2049170"/>
                </a:lnTo>
                <a:lnTo>
                  <a:pt x="2437790" y="2021738"/>
                </a:lnTo>
                <a:lnTo>
                  <a:pt x="2477110" y="1990649"/>
                </a:lnTo>
                <a:lnTo>
                  <a:pt x="2516429" y="1954987"/>
                </a:lnTo>
                <a:lnTo>
                  <a:pt x="2555748" y="1915668"/>
                </a:lnTo>
                <a:lnTo>
                  <a:pt x="2595067" y="1871777"/>
                </a:lnTo>
                <a:lnTo>
                  <a:pt x="2634386" y="1822399"/>
                </a:lnTo>
                <a:lnTo>
                  <a:pt x="2673706" y="1769364"/>
                </a:lnTo>
                <a:lnTo>
                  <a:pt x="2713025" y="1710842"/>
                </a:lnTo>
                <a:lnTo>
                  <a:pt x="2752344" y="1647749"/>
                </a:lnTo>
                <a:lnTo>
                  <a:pt x="2791663" y="1579169"/>
                </a:lnTo>
                <a:lnTo>
                  <a:pt x="2830982" y="1506931"/>
                </a:lnTo>
                <a:lnTo>
                  <a:pt x="2870302" y="1430122"/>
                </a:lnTo>
                <a:lnTo>
                  <a:pt x="2909621" y="1350569"/>
                </a:lnTo>
                <a:lnTo>
                  <a:pt x="2948940" y="1268273"/>
                </a:lnTo>
                <a:lnTo>
                  <a:pt x="2988259" y="1184148"/>
                </a:lnTo>
                <a:lnTo>
                  <a:pt x="3027578" y="1099109"/>
                </a:lnTo>
                <a:lnTo>
                  <a:pt x="3066898" y="1014984"/>
                </a:lnTo>
                <a:lnTo>
                  <a:pt x="3106217" y="931774"/>
                </a:lnTo>
                <a:lnTo>
                  <a:pt x="3145536" y="850392"/>
                </a:lnTo>
                <a:lnTo>
                  <a:pt x="3184855" y="771754"/>
                </a:lnTo>
                <a:lnTo>
                  <a:pt x="3224174" y="696773"/>
                </a:lnTo>
                <a:lnTo>
                  <a:pt x="3263494" y="626364"/>
                </a:lnTo>
                <a:lnTo>
                  <a:pt x="3302813" y="559613"/>
                </a:lnTo>
                <a:lnTo>
                  <a:pt x="3342132" y="498348"/>
                </a:lnTo>
                <a:lnTo>
                  <a:pt x="3381451" y="441655"/>
                </a:lnTo>
                <a:lnTo>
                  <a:pt x="3420770" y="390449"/>
                </a:lnTo>
                <a:lnTo>
                  <a:pt x="3460090" y="342900"/>
                </a:lnTo>
                <a:lnTo>
                  <a:pt x="3499409" y="300838"/>
                </a:lnTo>
                <a:lnTo>
                  <a:pt x="3538728" y="263347"/>
                </a:lnTo>
                <a:lnTo>
                  <a:pt x="3578047" y="229514"/>
                </a:lnTo>
                <a:lnTo>
                  <a:pt x="3617366" y="200254"/>
                </a:lnTo>
                <a:lnTo>
                  <a:pt x="3656686" y="173736"/>
                </a:lnTo>
                <a:lnTo>
                  <a:pt x="3696005" y="149962"/>
                </a:lnTo>
                <a:lnTo>
                  <a:pt x="3735324" y="129845"/>
                </a:lnTo>
                <a:lnTo>
                  <a:pt x="3774643" y="112471"/>
                </a:lnTo>
                <a:lnTo>
                  <a:pt x="3813962" y="96926"/>
                </a:lnTo>
                <a:lnTo>
                  <a:pt x="3853282" y="83210"/>
                </a:lnTo>
                <a:lnTo>
                  <a:pt x="3892601" y="71323"/>
                </a:lnTo>
                <a:lnTo>
                  <a:pt x="3931920" y="61265"/>
                </a:lnTo>
                <a:lnTo>
                  <a:pt x="3971239" y="52121"/>
                </a:lnTo>
                <a:lnTo>
                  <a:pt x="4010558" y="44806"/>
                </a:lnTo>
                <a:lnTo>
                  <a:pt x="4049878" y="37490"/>
                </a:lnTo>
                <a:lnTo>
                  <a:pt x="4089197" y="32004"/>
                </a:lnTo>
                <a:lnTo>
                  <a:pt x="4128516" y="27432"/>
                </a:lnTo>
                <a:lnTo>
                  <a:pt x="4167835" y="22860"/>
                </a:lnTo>
                <a:lnTo>
                  <a:pt x="4207154" y="19202"/>
                </a:lnTo>
                <a:lnTo>
                  <a:pt x="4246474" y="15545"/>
                </a:lnTo>
                <a:lnTo>
                  <a:pt x="4285793" y="12802"/>
                </a:lnTo>
                <a:lnTo>
                  <a:pt x="4325112" y="10973"/>
                </a:lnTo>
                <a:lnTo>
                  <a:pt x="4364431" y="9144"/>
                </a:lnTo>
                <a:lnTo>
                  <a:pt x="4403750" y="7315"/>
                </a:lnTo>
                <a:lnTo>
                  <a:pt x="4443070" y="5486"/>
                </a:lnTo>
                <a:lnTo>
                  <a:pt x="4482389" y="4572"/>
                </a:lnTo>
                <a:lnTo>
                  <a:pt x="4521708" y="2743"/>
                </a:lnTo>
                <a:lnTo>
                  <a:pt x="4561027" y="1829"/>
                </a:lnTo>
                <a:lnTo>
                  <a:pt x="4600346" y="1829"/>
                </a:lnTo>
                <a:lnTo>
                  <a:pt x="4639666" y="914"/>
                </a:lnTo>
                <a:lnTo>
                  <a:pt x="4678985" y="0"/>
                </a:lnTo>
                <a:lnTo>
                  <a:pt x="4718304" y="0"/>
                </a:lnTo>
              </a:path>
            </a:pathLst>
          </a:custGeom>
          <a:noFill/>
          <a:ln w="44450">
            <a:solidFill>
              <a:srgbClr val="0072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9616" y="3017520"/>
            <a:ext cx="4718304" cy="2236622"/>
          </a:xfrm>
          <a:custGeom>
            <a:avLst/>
            <a:gdLst/>
            <a:ahLst/>
            <a:cxnLst/>
            <a:rect l="l" t="t" r="r" b="b"/>
            <a:pathLst>
              <a:path w="4718304" h="2236622">
                <a:moveTo>
                  <a:pt x="0" y="2236622"/>
                </a:moveTo>
                <a:lnTo>
                  <a:pt x="39319" y="2236622"/>
                </a:lnTo>
                <a:lnTo>
                  <a:pt x="78638" y="2235708"/>
                </a:lnTo>
                <a:lnTo>
                  <a:pt x="117958" y="2234794"/>
                </a:lnTo>
                <a:lnTo>
                  <a:pt x="157277" y="2234794"/>
                </a:lnTo>
                <a:lnTo>
                  <a:pt x="196596" y="2233879"/>
                </a:lnTo>
                <a:lnTo>
                  <a:pt x="235915" y="2232050"/>
                </a:lnTo>
                <a:lnTo>
                  <a:pt x="275234" y="2231136"/>
                </a:lnTo>
                <a:lnTo>
                  <a:pt x="314554" y="2229307"/>
                </a:lnTo>
                <a:lnTo>
                  <a:pt x="353873" y="2227478"/>
                </a:lnTo>
                <a:lnTo>
                  <a:pt x="393192" y="2225650"/>
                </a:lnTo>
                <a:lnTo>
                  <a:pt x="432511" y="2223821"/>
                </a:lnTo>
                <a:lnTo>
                  <a:pt x="471830" y="2221078"/>
                </a:lnTo>
                <a:lnTo>
                  <a:pt x="511150" y="2217420"/>
                </a:lnTo>
                <a:lnTo>
                  <a:pt x="550469" y="2213762"/>
                </a:lnTo>
                <a:lnTo>
                  <a:pt x="589788" y="2209190"/>
                </a:lnTo>
                <a:lnTo>
                  <a:pt x="629107" y="2204618"/>
                </a:lnTo>
                <a:lnTo>
                  <a:pt x="668426" y="2199132"/>
                </a:lnTo>
                <a:lnTo>
                  <a:pt x="707746" y="2191817"/>
                </a:lnTo>
                <a:lnTo>
                  <a:pt x="747065" y="2184502"/>
                </a:lnTo>
                <a:lnTo>
                  <a:pt x="786384" y="2175358"/>
                </a:lnTo>
                <a:lnTo>
                  <a:pt x="825703" y="2165299"/>
                </a:lnTo>
                <a:lnTo>
                  <a:pt x="865022" y="2153412"/>
                </a:lnTo>
                <a:lnTo>
                  <a:pt x="904342" y="2139696"/>
                </a:lnTo>
                <a:lnTo>
                  <a:pt x="943661" y="2124151"/>
                </a:lnTo>
                <a:lnTo>
                  <a:pt x="982980" y="2106778"/>
                </a:lnTo>
                <a:lnTo>
                  <a:pt x="1022299" y="2086661"/>
                </a:lnTo>
                <a:lnTo>
                  <a:pt x="1061618" y="2062886"/>
                </a:lnTo>
                <a:lnTo>
                  <a:pt x="1100938" y="2036369"/>
                </a:lnTo>
                <a:lnTo>
                  <a:pt x="1140257" y="2007108"/>
                </a:lnTo>
                <a:lnTo>
                  <a:pt x="1179576" y="1973275"/>
                </a:lnTo>
                <a:lnTo>
                  <a:pt x="1218895" y="1935785"/>
                </a:lnTo>
                <a:lnTo>
                  <a:pt x="1258214" y="1893722"/>
                </a:lnTo>
                <a:lnTo>
                  <a:pt x="1297534" y="1846174"/>
                </a:lnTo>
                <a:lnTo>
                  <a:pt x="1336853" y="1794967"/>
                </a:lnTo>
                <a:lnTo>
                  <a:pt x="1376172" y="1738274"/>
                </a:lnTo>
                <a:lnTo>
                  <a:pt x="1415491" y="1677010"/>
                </a:lnTo>
                <a:lnTo>
                  <a:pt x="1454810" y="1610258"/>
                </a:lnTo>
                <a:lnTo>
                  <a:pt x="1494130" y="1539850"/>
                </a:lnTo>
                <a:lnTo>
                  <a:pt x="1533449" y="1464869"/>
                </a:lnTo>
                <a:lnTo>
                  <a:pt x="1572768" y="1386230"/>
                </a:lnTo>
                <a:lnTo>
                  <a:pt x="1612087" y="1304849"/>
                </a:lnTo>
                <a:lnTo>
                  <a:pt x="1651406" y="1221638"/>
                </a:lnTo>
                <a:lnTo>
                  <a:pt x="1690726" y="1137514"/>
                </a:lnTo>
                <a:lnTo>
                  <a:pt x="1730045" y="1052474"/>
                </a:lnTo>
                <a:lnTo>
                  <a:pt x="1769364" y="968350"/>
                </a:lnTo>
                <a:lnTo>
                  <a:pt x="1808683" y="886054"/>
                </a:lnTo>
                <a:lnTo>
                  <a:pt x="1848002" y="806501"/>
                </a:lnTo>
                <a:lnTo>
                  <a:pt x="1887322" y="729691"/>
                </a:lnTo>
                <a:lnTo>
                  <a:pt x="1926641" y="657454"/>
                </a:lnTo>
                <a:lnTo>
                  <a:pt x="1965960" y="588874"/>
                </a:lnTo>
                <a:lnTo>
                  <a:pt x="2005279" y="525780"/>
                </a:lnTo>
                <a:lnTo>
                  <a:pt x="2044598" y="467258"/>
                </a:lnTo>
                <a:lnTo>
                  <a:pt x="2083918" y="414223"/>
                </a:lnTo>
                <a:lnTo>
                  <a:pt x="2123237" y="364846"/>
                </a:lnTo>
                <a:lnTo>
                  <a:pt x="2162556" y="320954"/>
                </a:lnTo>
                <a:lnTo>
                  <a:pt x="2201875" y="281635"/>
                </a:lnTo>
                <a:lnTo>
                  <a:pt x="2241194" y="245974"/>
                </a:lnTo>
                <a:lnTo>
                  <a:pt x="2280514" y="214884"/>
                </a:lnTo>
                <a:lnTo>
                  <a:pt x="2319833" y="187452"/>
                </a:lnTo>
                <a:lnTo>
                  <a:pt x="2359152" y="162763"/>
                </a:lnTo>
                <a:lnTo>
                  <a:pt x="2398471" y="141732"/>
                </a:lnTo>
                <a:lnTo>
                  <a:pt x="2437790" y="122530"/>
                </a:lnTo>
                <a:lnTo>
                  <a:pt x="2477110" y="106070"/>
                </a:lnTo>
                <a:lnTo>
                  <a:pt x="2516429" y="92354"/>
                </a:lnTo>
                <a:lnTo>
                  <a:pt x="2555748" y="79553"/>
                </a:lnTo>
                <a:lnTo>
                  <a:pt x="2595067" y="68580"/>
                </a:lnTo>
                <a:lnTo>
                  <a:pt x="2634386" y="59436"/>
                </a:lnTo>
                <a:lnTo>
                  <a:pt x="2673706" y="51206"/>
                </a:lnTo>
                <a:lnTo>
                  <a:pt x="2713025" y="43891"/>
                </a:lnTo>
                <a:lnTo>
                  <a:pt x="2752344" y="38405"/>
                </a:lnTo>
                <a:lnTo>
                  <a:pt x="2791663" y="32918"/>
                </a:lnTo>
                <a:lnTo>
                  <a:pt x="2830982" y="28346"/>
                </a:lnTo>
                <a:lnTo>
                  <a:pt x="2870302" y="24689"/>
                </a:lnTo>
                <a:lnTo>
                  <a:pt x="2909621" y="21031"/>
                </a:lnTo>
                <a:lnTo>
                  <a:pt x="2948940" y="18288"/>
                </a:lnTo>
                <a:lnTo>
                  <a:pt x="2988259" y="15545"/>
                </a:lnTo>
                <a:lnTo>
                  <a:pt x="3027578" y="13716"/>
                </a:lnTo>
                <a:lnTo>
                  <a:pt x="3066898" y="11887"/>
                </a:lnTo>
                <a:lnTo>
                  <a:pt x="3106217" y="10058"/>
                </a:lnTo>
                <a:lnTo>
                  <a:pt x="3145536" y="8230"/>
                </a:lnTo>
                <a:lnTo>
                  <a:pt x="3184855" y="7315"/>
                </a:lnTo>
                <a:lnTo>
                  <a:pt x="3224174" y="6401"/>
                </a:lnTo>
                <a:lnTo>
                  <a:pt x="3263494" y="5486"/>
                </a:lnTo>
                <a:lnTo>
                  <a:pt x="3302813" y="4572"/>
                </a:lnTo>
                <a:lnTo>
                  <a:pt x="3342132" y="3658"/>
                </a:lnTo>
                <a:lnTo>
                  <a:pt x="3381451" y="3658"/>
                </a:lnTo>
                <a:lnTo>
                  <a:pt x="3420770" y="2743"/>
                </a:lnTo>
                <a:lnTo>
                  <a:pt x="3460090" y="2743"/>
                </a:lnTo>
                <a:lnTo>
                  <a:pt x="3499409" y="1829"/>
                </a:lnTo>
                <a:lnTo>
                  <a:pt x="3538728" y="1829"/>
                </a:lnTo>
                <a:lnTo>
                  <a:pt x="3578047" y="1829"/>
                </a:lnTo>
                <a:lnTo>
                  <a:pt x="3617366" y="1829"/>
                </a:lnTo>
                <a:lnTo>
                  <a:pt x="3656686" y="914"/>
                </a:lnTo>
                <a:lnTo>
                  <a:pt x="3696005" y="914"/>
                </a:lnTo>
                <a:lnTo>
                  <a:pt x="3735324" y="914"/>
                </a:lnTo>
                <a:lnTo>
                  <a:pt x="3774643" y="914"/>
                </a:lnTo>
                <a:lnTo>
                  <a:pt x="3813962" y="914"/>
                </a:lnTo>
                <a:lnTo>
                  <a:pt x="3853282" y="914"/>
                </a:lnTo>
                <a:lnTo>
                  <a:pt x="3892601" y="914"/>
                </a:lnTo>
                <a:lnTo>
                  <a:pt x="3931920" y="0"/>
                </a:lnTo>
                <a:lnTo>
                  <a:pt x="3971239" y="0"/>
                </a:lnTo>
                <a:lnTo>
                  <a:pt x="4010558" y="0"/>
                </a:lnTo>
                <a:lnTo>
                  <a:pt x="4049878" y="0"/>
                </a:lnTo>
                <a:lnTo>
                  <a:pt x="4089197" y="0"/>
                </a:lnTo>
                <a:lnTo>
                  <a:pt x="4128516" y="0"/>
                </a:lnTo>
                <a:lnTo>
                  <a:pt x="4167835" y="0"/>
                </a:lnTo>
                <a:lnTo>
                  <a:pt x="4207154" y="0"/>
                </a:lnTo>
                <a:lnTo>
                  <a:pt x="4246474" y="0"/>
                </a:lnTo>
                <a:lnTo>
                  <a:pt x="4285793" y="0"/>
                </a:lnTo>
                <a:lnTo>
                  <a:pt x="4325112" y="0"/>
                </a:lnTo>
                <a:lnTo>
                  <a:pt x="4364431" y="0"/>
                </a:lnTo>
                <a:lnTo>
                  <a:pt x="4403750" y="0"/>
                </a:lnTo>
                <a:lnTo>
                  <a:pt x="4443070" y="0"/>
                </a:lnTo>
                <a:lnTo>
                  <a:pt x="4482389" y="0"/>
                </a:lnTo>
                <a:lnTo>
                  <a:pt x="4521708" y="0"/>
                </a:lnTo>
                <a:lnTo>
                  <a:pt x="4561027" y="0"/>
                </a:lnTo>
                <a:lnTo>
                  <a:pt x="4600346" y="0"/>
                </a:lnTo>
                <a:lnTo>
                  <a:pt x="4639666" y="0"/>
                </a:lnTo>
                <a:lnTo>
                  <a:pt x="4678985" y="0"/>
                </a:lnTo>
                <a:lnTo>
                  <a:pt x="4718304" y="0"/>
                </a:lnTo>
              </a:path>
            </a:pathLst>
          </a:custGeom>
          <a:noFill/>
          <a:ln w="44450">
            <a:solidFill>
              <a:srgbClr val="D55E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8284" y="4697730"/>
            <a:ext cx="918789" cy="9144"/>
          </a:xfrm>
          <a:custGeom>
            <a:avLst/>
            <a:gdLst/>
            <a:ahLst/>
            <a:cxnLst/>
            <a:rect l="l" t="t" r="r" b="b"/>
            <a:pathLst>
              <a:path w="918789" h="9144">
                <a:moveTo>
                  <a:pt x="918972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D55E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50268" y="4597146"/>
            <a:ext cx="182880" cy="201168"/>
          </a:xfrm>
          <a:custGeom>
            <a:avLst/>
            <a:gdLst/>
            <a:ahLst/>
            <a:cxnLst/>
            <a:rect l="l" t="t" r="r" b="b"/>
            <a:pathLst>
              <a:path w="182880" h="201168">
                <a:moveTo>
                  <a:pt x="0" y="100584"/>
                </a:moveTo>
                <a:lnTo>
                  <a:pt x="182880" y="0"/>
                </a:lnTo>
                <a:lnTo>
                  <a:pt x="182880" y="201168"/>
                </a:lnTo>
                <a:close/>
              </a:path>
            </a:pathLst>
          </a:custGeom>
          <a:solidFill>
            <a:srgbClr val="D55E00"/>
          </a:solidFill>
          <a:ln w="9525">
            <a:solidFill>
              <a:srgbClr val="D55E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" y="2919679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ED95</a:t>
            </a:r>
            <a:endParaRPr lang="ja-JP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" y="39273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2200" b="1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ED50</a:t>
            </a:r>
            <a:endParaRPr lang="ja-JP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17830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効く人の割合</a:t>
            </a:r>
            <a:endParaRPr lang="ja-JP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53949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ja-JP" altLang="en-US" sz="22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用量</a:t>
            </a:r>
            <a:endParaRPr lang="ja-JP" sz="2200" dirty="0"/>
          </a:p>
        </p:txBody>
      </p:sp>
      <p:sp>
        <p:nvSpPr>
          <p:cNvPr id="25" name="Shape 23"/>
          <p:cNvSpPr/>
          <p:nvPr/>
        </p:nvSpPr>
        <p:spPr>
          <a:xfrm>
            <a:off x="3657600" y="1993392"/>
            <a:ext cx="502920" cy="9144"/>
          </a:xfrm>
          <a:custGeom>
            <a:avLst/>
            <a:gdLst/>
            <a:ahLst/>
            <a:cxnLst/>
            <a:rect l="l" t="t" r="r" b="b"/>
            <a:pathLst>
              <a:path w="502920" h="9144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44450">
            <a:solidFill>
              <a:srgbClr val="0072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0" y="17830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0072B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鎮静薬だけ</a:t>
            </a:r>
            <a:endParaRPr lang="ja-JP" sz="2200" dirty="0"/>
          </a:p>
        </p:txBody>
      </p:sp>
      <p:sp>
        <p:nvSpPr>
          <p:cNvPr id="27" name="Shape 25"/>
          <p:cNvSpPr/>
          <p:nvPr/>
        </p:nvSpPr>
        <p:spPr>
          <a:xfrm>
            <a:off x="3657600" y="2523744"/>
            <a:ext cx="502920" cy="9144"/>
          </a:xfrm>
          <a:custGeom>
            <a:avLst/>
            <a:gdLst/>
            <a:ahLst/>
            <a:cxnLst/>
            <a:rect l="l" t="t" r="r" b="b"/>
            <a:pathLst>
              <a:path w="502920" h="9144">
                <a:moveTo>
                  <a:pt x="0" y="0"/>
                </a:moveTo>
                <a:lnTo>
                  <a:pt x="502920" y="0"/>
                </a:lnTo>
              </a:path>
            </a:pathLst>
          </a:custGeom>
          <a:noFill/>
          <a:ln w="44450">
            <a:solidFill>
              <a:srgbClr val="D55E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97680" y="23134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オピオイド併用</a:t>
            </a:r>
            <a:endParaRPr lang="ja-JP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20162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196328" y="201625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ED50・ED95 は集団の値。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個人差は大きい</a:t>
            </a:r>
            <a:endParaRPr lang="ja-JP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34213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196328" y="334213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鎮静薬とオピオイドは</a:t>
            </a:r>
            <a:r>
              <a:rPr lang="ja-JP" altLang="en-US" sz="2400" b="1" dirty="0">
                <a:solidFill>
                  <a:srgbClr val="D55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相乗</a:t>
            </a: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：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併用で必要量が減る</a:t>
            </a:r>
            <a:endParaRPr lang="ja-JP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46680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•</a:t>
            </a:r>
            <a:endParaRPr lang="ja-JP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196328" y="4668012"/>
            <a:ext cx="4489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効き目は反応で見る：</a:t>
            </a:r>
            <a:endParaRPr lang="ja-JP" sz="2400" dirty="0"/>
          </a:p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脳波、血圧、TOF</a:t>
            </a:r>
            <a:endParaRPr lang="ja-JP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患者による違い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 / Panhuizen IF,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et al. Br J Anaesth 2015;114:777-784 / Morse JD, et al. J Clin Med 2022;11:3009</a:t>
            </a:r>
            <a:endParaRPr lang="ja-JP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49240"/>
                <a:gridCol w="345643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患者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何が変わるか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どうするか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高齢者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感受性↑、分布と代謝↓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減らして、ゆっくり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肥満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脂溶性の薬の分布容積↑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体重の使い分け（次）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腎機能低下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活性代謝物が蓄積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モルヒネを避ける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肝機能低下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肝で処理される薬が遅れる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ミダゾラム・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ロクロニウム遷延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循環不全・出血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効果部位に届くのが遅く、強く効く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少量から、待って追加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小児（乳幼児）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分布容積大、代謝が速い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（新生児は未熟で遅い）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mg/kg は多め、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ja-JP" altLang="en-US" sz="22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間隔は短め</a:t>
                      </a:r>
                      <a:endParaRPr lang="en-US" sz="22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体重の使い分け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7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第4版」(2025) / Horrow JC, et al. BMC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Anesthesiol 2021;21:62 / Ingrande J, et al. Anesth Analg 2011;113:57-62 / 各薬剤の添付文書</a:t>
            </a:r>
            <a:endParaRPr lang="ja-JP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9768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体重の種類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使う場面の例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総体重（実体重）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スガマデクス、プロポフォール維持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理想体重（身長から）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ロクロニウム、局所麻酔薬の最大用量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除脂肪体重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プロポフォール導入、レミフェンタニル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補正体重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ja-JP" altLang="en-US" sz="2400" b="1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（理想＋超過分の一部）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ja-JP" altLang="en-US" sz="2400" dirty="0">
                          <a:solidFill>
                            <a:srgbClr val="262626"/>
                          </a:solidFill>
                          <a:latin typeface="メイリオ" pitchFamily="34" charset="0"/>
                          <a:ea typeface="メイリオ" pitchFamily="34" charset="-122"/>
                          <a:cs typeface="メイリオ" pitchFamily="34" charset="-120"/>
                        </a:rPr>
                        <a:t>施設の方式に従う</a:t>
                      </a:r>
                      <a:endParaRPr lang="en-US" sz="2400" dirty="0">
                        <a:latin typeface="メイリオ" charset="0"/>
                        <a:ea typeface="メイリオ" charset="0"/>
                        <a:cs typeface="メイリオ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5276088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F2F2F2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ja-JP" altLang="en-US" sz="24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どの体重を使うかは薬と施設の方式で決まる。迷ったら指導医に</a:t>
            </a:r>
            <a:endParaRPr lang="ja-JP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現場での使い方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Schnider TW, et al. Anesthesiology 1999;90:1502-1516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Johnson KB, et al. Anesthesiology 2003;99:409-420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10512"/>
            <a:ext cx="111556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入れたら、効果のピークまで待つ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反応を見て、少量ずつ追加する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持続投与は、切れ方を考えて止める時刻を決める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高齢者・循環不全は、減らして（目安 半量）ゆっくり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併用するなら、それぞれの量を減らす</a:t>
            </a:r>
            <a:endParaRPr lang="ja-JP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2920" y="3200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4400" b="1" dirty="0">
                <a:ln w="28575">
                  <a:solidFill>
                    <a:srgbClr val="000000"/>
                  </a:solidFill>
                </a:ln>
                <a:solidFill>
                  <a:srgbClr val="BF90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ja-JP" sz="4400" dirty="0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91970" cy="0"/>
          </a:xfrm>
          <a:prstGeom prst="line">
            <a:avLst/>
          </a:prstGeom>
          <a:noFill/>
          <a:ln w="101600">
            <a:solidFill>
              <a:srgbClr val="BF9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7656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濃度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9354312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分布</a:t>
            </a:r>
            <a:endParaRPr lang="ja-JP" sz="1100" dirty="0"/>
          </a:p>
        </p:txBody>
      </p:sp>
      <p:sp>
        <p:nvSpPr>
          <p:cNvPr id="6" name="Text 4"/>
          <p:cNvSpPr/>
          <p:nvPr/>
        </p:nvSpPr>
        <p:spPr>
          <a:xfrm>
            <a:off x="10030968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消失</a:t>
            </a:r>
            <a:endParaRPr lang="ja-JP" sz="1100" dirty="0"/>
          </a:p>
        </p:txBody>
      </p:sp>
      <p:sp>
        <p:nvSpPr>
          <p:cNvPr id="7" name="Text 5"/>
          <p:cNvSpPr/>
          <p:nvPr/>
        </p:nvSpPr>
        <p:spPr>
          <a:xfrm>
            <a:off x="10707624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40404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</a:t>
            </a:r>
            <a:endParaRPr lang="ja-JP" sz="1100" dirty="0"/>
          </a:p>
        </p:txBody>
      </p:sp>
      <p:sp>
        <p:nvSpPr>
          <p:cNvPr id="8" name="Text 6"/>
          <p:cNvSpPr/>
          <p:nvPr/>
        </p:nvSpPr>
        <p:spPr>
          <a:xfrm>
            <a:off x="11384280" y="54864"/>
            <a:ext cx="621792" cy="585216"/>
          </a:xfrm>
          <a:prstGeom prst="roundRect">
            <a:avLst>
              <a:gd name="adj" fmla="val 15625"/>
            </a:avLst>
          </a:prstGeom>
          <a:solidFill>
            <a:srgbClr val="00A8A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患者差</a:t>
            </a:r>
            <a:endParaRPr lang="ja-JP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</a:t>
            </a:r>
            <a:endParaRPr lang="ja-JP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943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Hughes MA, et al. Anesthesiology 1992;76:334-341</a:t>
            </a:r>
            <a:endParaRPr lang="ja-JP" sz="1600" dirty="0"/>
          </a:p>
          <a:p>
            <a:pPr algn="l" indent="0" marL="0">
              <a:buNone/>
            </a:pPr>
            <a:r>
              <a:rPr lang="ja-JP" altLang="en-US" sz="1600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日本麻酔科学会「麻酔薬および麻酔関連薬使用ガイドライン 第4版」（2025）</a:t>
            </a:r>
            <a:endParaRPr lang="ja-JP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10512"/>
            <a:ext cx="1115568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効くのは効果部位の濃度。静注から効果まで数分の遅れ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単回静注は主に再分布で切れ、繰り返すと蓄積する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持続投与の切れ方は、入れた時間で変わる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鎮静薬とオピオイドは相乗。併用で量を減らす</a:t>
            </a:r>
            <a:endParaRPr lang="ja-JP" sz="2800" dirty="0"/>
          </a:p>
          <a:p>
            <a:pPr algn="l" marL="406400" indent="-406400">
              <a:spcAft>
                <a:spcPts val="2400"/>
              </a:spcAft>
              <a:buSzPct val="100000"/>
              <a:buChar char="•"/>
            </a:pPr>
            <a:r>
              <a:rPr lang="ja-JP" altLang="en-US" sz="2800" dirty="0">
                <a:solidFill>
                  <a:srgbClr val="26262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高齢・肥満・腎肝・循環不全で、量と速さを変える</a:t>
            </a:r>
            <a:endParaRPr lang="ja-JP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メイリオ"/>
        <a:ea typeface="メイリオ"/>
        <a:cs typeface=""/>
        <a:font script="Jpan" typeface="メイリオ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メイリオ"/>
        <a:ea typeface="メイリオ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3-1 薬物動態の基本</dc:title>
  <dc:subject/>
  <dc:creator>Anes-lecture</dc:creator>
  <cp:lastModifiedBy>Anes-lecture</cp:lastModifiedBy>
  <cp:revision>1</cp:revision>
  <dcterms:created xsi:type="dcterms:W3CDTF">2026-10-13T18:08:06Z</dcterms:created>
  <dcterms:modified xsi:type="dcterms:W3CDTF">2026-10-13T18:08:06Z</dcterms:modified>
</cp:coreProperties>
</file>