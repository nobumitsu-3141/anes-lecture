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麻酔薬は「どれだけ入れたか」ではなく「効果部位にどれだけあるか」で効く。この回では、静注した薬が効果部位に届き、分布し、消えていく過程と、持続投与の切れ方、患者による違いを、麻酔薬を安全に使うために必要な範囲で扱う。式や係数は覚えなくてよい。「なぜそうなるか」の形を持ち帰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静注した薬は血液に乗って効果部位（全身麻酔薬なら脳）に届き、そこの濃度が上がってから効く。血中濃度のピークは注射直後だが、効果部位の濃度のピークは遅れる。この遅れ（効果部位平衡）は薬によって違う。ボーラス後に効果がピークになるまで、プロポフォールで約 1.6 分（Schnider 1999）、フェンタニルで約 3.6 分（Shafer 1991）。レミフェンタニルも平衡が速い（血中と効果部位の平衡半減期 約 1.3 分。Minto 1997 の ke0 0.516/分から計算）。モルヒネは平衡がずっと遅い（平衡半減期 約 4.4 時間、Dahan 2004）。鎮痛も呼吸抑制もゆっくり強まるので、「まだ痛い」と追加を重ねると、痛みが十分に取れないまま、あとから強い呼吸抑制が出ることがある（Dahan 2004）。</a:t>
            </a:r>
          </a:p>
          <a:p>
            <a:r>
              <a:rPr lang="ja-JP" altLang="en-US" dirty="0"/>
              <a:t>実務: 導入薬を入れて「まだ寝ない」と思ってすぐ追加すると、最初の分がこれから効いてくるところに重なり、効きすぎて血圧が下がる。効果のピークまで待ってから追加する（titration）。逆に、挿管や執刀の刺激に合わせて薬を効かせたいなら、刺激の数分前に投与する。</a:t>
            </a:r>
          </a:p>
          <a:p>
            <a:r>
              <a:rPr lang="ja-JP" altLang="en-US" dirty="0"/>
              <a:t>参考: Minto CF, et al. Anesthesiology 1997;86:10-23（レミフェンタニル） / Shafer SL, Varvel JR. Anesthesiology 1991;74:53-63（フェンタニルの 3.6 分は二次資料による）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分布: 静注した薬は、まず血流の多い臓器（脳、心臓、肝臓、腎臓）に届く。だから静注直後に脳の濃度が上がって効く。その後、薬は血流の少ない筋肉へ移り（再分布）、脳の濃度が下がって効果が切れる。脂肪へはさらにゆっくり移ってたまっていく（→ 蓄積）。プロポフォールやチオペンタールを 1 回静注したときの効果が数分で切れるのは、主に再分布のためである（代謝されるより先に、脳から筋肉などへ移る）。プロポフォールは代謝も速く（クリアランス 約 2.2 L/分で、肝血流量を上回る: Sahinovic 2018）、これも早い覚醒を助ける。</a:t>
            </a:r>
          </a:p>
          <a:p>
            <a:r>
              <a:rPr lang="ja-JP" altLang="en-US" dirty="0"/>
              <a:t>蓄積: 繰り返し投与したり持続投与したりすると、筋肉や脂肪に薬がたまる。投与をやめると、たまった薬が血液に戻ってくるので、濃度が下がるのに時間がかかる（→ S5 持続投与）。脂溶性の高い薬（フェンタニルなど）で顕著。</a:t>
            </a:r>
          </a:p>
          <a:p>
            <a:r>
              <a:rPr lang="ja-JP" altLang="en-US" dirty="0"/>
              <a:t>分布容積: 薬が体のどこまで広がるかの目安。脂溶性の薬は分布容積が大きく、脂肪の多い人（肥満）ではさらに大きくなることが多い。ただし一律ではない。レミフェンタニルは肥満でも薬物動態がほとんど変わらず、総体重で計算すると濃度が高くなりすぎる（Egan 1998。→ S8）。</a:t>
            </a:r>
          </a:p>
          <a:p>
            <a:r>
              <a:rPr lang="ja-JP" altLang="en-US" dirty="0"/>
              <a:t>参考: Avram 2020（チオペンタールの再分布の先は主に筋肉などで、脂肪への移行はもっと遅いとする Price 1960 のモデルを紹介）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肝代謝: 多くの静脈麻酔薬は肝臓で代謝される。プロポフォールは肝臓での抽出率が約 90% と高く、代謝は肝血流に左右される（ショックなどで肝血流が減ると代謝も落ちる）。一方、腎臓など肝臓以外でも代謝され（クリアランスの約 40%）、肝機能低下の影響は比較的小さい（Sahinovic 2018）。ミダゾラムは肝臓のチトクロム P450（CYP3A4）で代謝され、肝機能低下や併用薬（CYP3A4 阻害薬）で遷延する。</a:t>
            </a:r>
          </a:p>
          <a:p>
            <a:r>
              <a:rPr lang="ja-JP" altLang="en-US" dirty="0"/>
              <a:t>酵素による分解: レミフェンタニルは血液や組織の非特異的エステラーゼで分解されるので、肝臓や腎臓の機能に依存せず、長く入れても切れ方が変わらない。レミマゾラムもエステラーゼで分解されるが、主に肝臓のカルボキシルエステラーゼ 1（CES1）による（ヒトの血漿中では分解されない: Schmalix 2024）。CYP を介さないが、重度の肝機能障害では回復が遅れる（回復時間 健常 8.0 分、中等度 12.1 分、重度 16.7 分。Stöhr 2021）。腎機能障害では血漿クリアランスは変わらない。長時間の持続投与ではプロポフォールと同じように蓄積し、覚醒が遅れることがある（Masui 2026）。</a:t>
            </a:r>
          </a:p>
          <a:p>
            <a:r>
              <a:rPr lang="ja-JP" altLang="en-US" dirty="0"/>
              <a:t>腎排泄: 活性のある代謝物や、薬そのものが腎臓から排泄される薬に注意する。モルヒネの代謝物（モルヒネ-6-グルクロニド）は腎不全で蓄積して呼吸抑制を長引かせる。ロクロニウムはほとんど代謝されず、主に肝臓に取り込まれて胆汁へ出る。未変化体の約 4 分の 1 は尿へ出る（4〜8 日間の回収で尿 27%、便 31%。Proost 2000）ので、腎不全でも作用が延びることがある。</a:t>
            </a:r>
          </a:p>
          <a:p>
            <a:r>
              <a:rPr lang="ja-JP" altLang="en-US" dirty="0"/>
              <a:t>肺排泄: 吸入麻酔薬は肺から呼気に出ていく。換気量が多いほど、血液に溶けにくい薬ほど速く抜ける（→ 3-3）。</a:t>
            </a:r>
          </a:p>
          <a:p>
            <a:r>
              <a:rPr lang="ja-JP" altLang="en-US" dirty="0"/>
              <a:t>参考: Schmalix W, et al. Curr Drug Metab 2024;25:164-173 / Sahinovic MM, et al. Clin Pharmacokinet 2018;57:1539-1558 / Masui K. J Intensive Care 2026;14:31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context-sensitive half-time（持続静注後半減時間）: 血中濃度を一定に保つ持続投与をやめてから、血中（血漿）濃度が半分になるまでの時間。この時間は、持続投与した時間（context）によって変わる。投与時間が長いほど、筋肉や脂肪にたまった薬が戻ってくるので、濃度が下がりにくい。ただし、半分になる時間は覚醒までの時間と同じではない。覚めるのに要る濃度の低下は、薬、併用薬、維持していた濃度で変わる。</a:t>
            </a:r>
          </a:p>
          <a:p>
            <a:r>
              <a:rPr lang="ja-JP" altLang="en-US" dirty="0"/>
              <a:t>薬による違い: レミフェンタニルは血液・組織のエステラーゼで分解されるので、投与時間によらず約 3〜4 分で濃度が半分になる（3 時間投与後の血中濃度の実測で 3.2 ± 0.9 分、Kapila 1995。効果部位濃度のシミュレーションでは 3.65 分、Westmoreland 1993）。呼吸抑制が半分戻るまでは 5.4 ± 1.8 分（Kapila 1995）。プロポフォールは投与時間が長くなると緩やかに延びるが、フェンタニルほどではない。8 時間までの投与でも 40 分未満とされる【要確認: Hughes 1992（Anesthesiology 76:334-341）本文の図で、8 時間投与後のプロポフォールの値】。覚醒に要る濃度の低下は 50% より小さいことが多く、長時間投与後も比較的速く覚める。ただし大きく下げる必要があるときは時間がかかる（80% 下がるまでの時間は、3 時間未満の投与で 50 分未満、12 時間を超える投与で最大 3.5 時間: Sahinovic 2018）。フェンタニルは数時間入れると大きく延び、切れにくくなる。</a:t>
            </a:r>
          </a:p>
          <a:p>
            <a:r>
              <a:rPr lang="ja-JP" altLang="en-US" dirty="0"/>
              <a:t>実務: 手術の終わりに合わせて切れるように、薬ごとに止める時刻を変える。レミフェンタニルは最後まで入れて直前に止めてよいが、切れたとたんに痛みが戻るので、別の鎮痛（フェンタニル、アセトアミノフェン、区域麻酔）を先に効かせておく（→ 3-4）。フェンタニルは長時間の持続投与を避け、必要なら少量ずつ追加する。</a:t>
            </a:r>
          </a:p>
          <a:p>
            <a:r>
              <a:rPr lang="ja-JP" altLang="en-US" dirty="0"/>
              <a:t>参考: Westmoreland CL, et al. Anesthesiology 1993;79:893-903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用量反応: ある効果（例: 入眠）が 50% の人に出る用量を ED50、95% の人に出る用量を ED95 と呼ぶ。添付文書の「通常量」は集団の値で、実際に必要な量は人によって大きく違う（例: プロポフォールで意識が消える濃度 C50 は、25 歳で 2.35 µg/mL、75 歳で 1.25 µg/mL。Schnider 1999）。だから、決まった量を一度に入れるのではなく、反応を見ながら分けて入れる（titration）。</a:t>
            </a:r>
          </a:p>
          <a:p>
            <a:r>
              <a:rPr lang="ja-JP" altLang="en-US" dirty="0"/>
              <a:t>相乗作用: 鎮静薬（プロポフォール、吸入麻酔薬）とオピオイド（フェンタニル、レミフェンタニル）を併用すると、それぞれの必要量が大きく減る（曲線が左に移る）。だから併用のときは、単独のときの量を入れると効きすぎる。ベンゾジアゼピンとオピオイドの併用では呼吸抑制が強く出る。</a:t>
            </a:r>
          </a:p>
          <a:p>
            <a:r>
              <a:rPr lang="ja-JP" altLang="en-US" dirty="0"/>
              <a:t>効果の指標: 全身麻酔の深さは脳波モニター（→ 2-8）、筋弛緩は TOF（→ 2-6）、循環への影響は血圧と心拍数で見る。「いつもの量」ではなく「いまの反応」で決める。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高齢者: 同じ血中濃度でも効果が強く（感受性の上昇）、心拍出量と肝血流の低下で薬の分布と代謝が遅れる。プロポフォールもオピオイドも減量し、ゆっくり入れる。血圧も下がりやすい。効果部位との平衡も遅くなる（レミフェンタニルの ke0 は 20 歳から 85 歳で約 50% 下がる: Minto 1997）。プロポフォールによる血圧の低下は入眠（BIS の低下）より遅れて出て、高齢者ではさらに遅く、下がり方も大きい（収縮期血圧に対する平衡半減期 20〜39 歳 5.7 分、70〜85 歳 10.2 分: Kazama 1999）。入眠したあとも血圧を見続け、追加は若い人より長く待つ。</a:t>
            </a:r>
          </a:p>
          <a:p>
            <a:r>
              <a:rPr lang="ja-JP" altLang="en-US" dirty="0"/>
              <a:t>肥満: 脂溶性の薬（プロポフォール、フェンタニル）は脂肪に分布するので、総体重で計算すると初回量が多すぎることがある。薬によってどの体重で計算するかが違う（→ 次のスライド）。</a:t>
            </a:r>
          </a:p>
          <a:p>
            <a:r>
              <a:rPr lang="ja-JP" altLang="en-US" dirty="0"/>
              <a:t>腎機能低下: 腎排泄される活性代謝物（モルヒネの M6G）が蓄積する。モルヒネを避け、フェンタニルなどを使う。ロクロニウムも作用が延びる。スガマデクスは腎臓から排泄されるので、重度の腎機能障害（CLcr 30 mL/分未満）では、ロクロニウムとの複合体が長く体に残る（7 日後も血漿中に検出、Panhuizen 2015）。この集団での安全性のデータは少なく、米国・欧州の添付文書は使用を推奨していない。国内での扱いは添付文書の 9.2（腎機能障害患者）に従う【要確認: ブリディオン静注 添付文書 9.2 腎機能障害患者 の原文（PMDA）。3-6 の記載とそろえる】（→ 3-6）。</a:t>
            </a:r>
          </a:p>
          <a:p>
            <a:r>
              <a:rPr lang="ja-JP" altLang="en-US" dirty="0"/>
              <a:t>肝機能低下: 肝で代謝される薬（ミダゾラム）や、肝に取り込まれて胆汁へ出る薬（ロクロニウム）が遷延する（肝硬変ではロクロニウムのクリアランスが下がり、回復が遅れる。van Miert 1997）。プロポフォールの影響は比較的小さいが、感受性は上がっていることがある。</a:t>
            </a:r>
          </a:p>
          <a:p>
            <a:r>
              <a:rPr lang="ja-JP" altLang="en-US" dirty="0"/>
              <a:t>循環不全・出血: 心拍出量が少ないと、薬が効果部位に届くのが遅れ、しかも血中濃度は高くなるので強く効く。「効かないから追加」が最も危険。少量から入れ、効果を待つ。ケタミンやエトミデート（国内未承認）などの選択も考える（→ 3-2）。</a:t>
            </a:r>
          </a:p>
          <a:p>
            <a:r>
              <a:rPr lang="ja-JP" altLang="en-US" dirty="0"/>
              <a:t>小児: 体重あたりの分布容積が大きく（細胞外液に分布する筋弛緩薬など）、体重あたりのクリアランスは 1〜2 歳で最も大きい。このため mg/kg では多め、追加間隔は短めになる薬が多い。ただし新生児や早期乳児はクリアランスが未熟で、薬が残りやすい（成熟はおおむね生後 2 年以内に終わる。Morse 2022）。</a:t>
            </a:r>
          </a:p>
          <a:p>
            <a:r>
              <a:rPr lang="ja-JP" altLang="en-US" dirty="0"/>
              <a:t>参考: Minto CF, et al. Anesthesiology 1997;86:10-23 / Kazama T, et al. Anesthesiology 1999;90:1517-1527 / van Miert MM, et al. Br J Clin Pharmacol 1997;44:139-144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体重の種類: 総体重（実際の体重）、理想体重（身長から計算した標準的な体重）、除脂肪体重（脂肪を除いた体重）、補正体重（理想体重に超過分の一部を足したもの）。肥満患者では、どの体重で計算するかで用量が大きく変わる。</a:t>
            </a:r>
          </a:p>
          <a:p>
            <a:r>
              <a:rPr lang="ja-JP" altLang="en-US" dirty="0"/>
              <a:t>薬ごとの目安（代表的な考え方。添付文書の記載と施設の方式を優先する【要確認: ディプリバン・アルチバ・エスラックス各添付文書（PMDA）の 6. 用法及び用量 と 7. 用法及び用量に関連する注意 に、肥満患者で使う体重の指定があるか】）: スガマデクスは実体重で計算する（海外の添付文書は実体重での投与を定めている。BMI 40 以上の RCT では、実体重で投与すると理想体重より回復が 1.5 分速く、再クラーレ化もなかった: Horrow 2021）。国内添付文書の用量は mg/kg で記載されている【要確認: ブリディオン静注 添付文書 6. 用法及び用量 に、どの体重で計算するかの記載があるか（PMDA）】。ロクロニウムは理想体重で計算すると作用の遷延を避けられる【要確認: この記述の根拠文献（肥満患者でのロクロニウムの体重の扱い）】。局所麻酔薬の最大用量は、肥満でも総体重で増やさず、理想体重または除脂肪体重で考える（どの体重を使うかには議論がある。小柄な人や筋肉量の少ない人では中毒が起きやすい: Neal 2018。添付文書外の目安として、気道の表面麻酔に使うリドカインは除脂肪体重あたり 9 mg/kg までとされる: DAS 覚醒下挿管ガイドライン、Ahmad 2020）。プロポフォールは、導入は除脂肪体重（Ingrande 2011）、維持は総体重（Servin 1993）で計算する考え方がある。レミフェンタニルは除脂肪体重または理想体重で計算する（肥満でも薬物動態がほとんど変わらず、総体重で計算すると濃度が高くなりすぎる: Egan 1998）。</a:t>
            </a:r>
          </a:p>
          <a:p>
            <a:r>
              <a:rPr lang="ja-JP" altLang="en-US" dirty="0"/>
              <a:t>実務: 肥満患者では、まず理想体重を計算しておく（理想体重 = 22 ×〔身長 m〕²。身長 160 cm なら 56.3 kg、170 cm なら 63.6 kg: Lemmens 2005。Devine 式のように男女で値が変わる式もあるので、施設の方式に従う）。持続投与の γ計算（→ 3-10）でも、どの体重（どの式）を入れたかを記録する。</a:t>
            </a:r>
          </a:p>
          <a:p>
            <a:r>
              <a:rPr lang="ja-JP" altLang="en-US" dirty="0"/>
              <a:t>参考: Servin F, et al. Anesthesiology 1993;78:657-665 / Egan TD, et al. Anesthesiology 1998;89:562-573 / Lemmens HJ, et al. Obes Surg 2005;15:1082-1083 / Neal JM, et al. Reg Anesth Pain Med 2018;43:113-123 / Ahmad I, et al. Anaesthesia 2020;75:509-528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この回の要点を行動に落とすと、この5つになる。効果部位平衡を待つ、titration、context-sensitive half-time を考えて止める、高リスクの患者は減量してゆっくり、相乗作用を考えて併用時は減らす。次回以降の各論（静脈麻酔薬、吸入麻酔薬、オピオイド、筋弛緩薬）で、薬ごとの数値をこの枠組みに当てはめる。</a:t>
            </a:r>
          </a:p>
          <a:p>
            <a:r>
              <a:rPr lang="ja-JP" altLang="en-US" dirty="0"/>
              <a:t>半量は教育上の目安で、添付文書の値ではない。高齢者では意識消失に必要な濃度が下がる（Schnider 1999: 75 歳で 1.25 µg/mL、25 歳で 2.35 µg/mL）。出血性ショックではさらに少なくてよいことがある（ブタでは効果部位の EC50 が 2.7 分の 1: Johnson 2003）。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まとめ（約 1 分）。効果部位平衡、再分布と蓄積、context-sensitive half-time、相乗作用、患者差。この5つを押さえれば、各論の数値が「なぜそうなるか」とつながる。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WAZO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502920" y="320040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algn="l" indent="0" marL="0">
              <a:buNone/>
              <a:defRPr 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WAZOE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502920" y="1508760"/>
            <a:ext cx="111831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>
            <a:lvl1pPr algn="ctr" indent="0" marL="0">
              <a:buNone/>
              <a:defRPr 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defRPr>
            </a:lvl1pPr>
          </a:lstStyle>
          <a:p>
            <a:pPr algn="ctr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1508760"/>
            <a:ext cx="111831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薬物動態の基本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3474720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3749040"/>
            <a:ext cx="1118311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3-1 麻酔薬理</a:t>
            </a:r>
            <a:endParaRPr lang="ja-JP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693920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ja-JP" altLang="en-US" sz="22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初期研修医向け麻酔講義</a:t>
            </a:r>
            <a:endParaRPr lang="ja-JP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320040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濃度と効果のずれ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1389888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77656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00A8A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濃度</a:t>
            </a:r>
            <a:endParaRPr lang="ja-JP" sz="1100" dirty="0"/>
          </a:p>
        </p:txBody>
      </p:sp>
      <p:sp>
        <p:nvSpPr>
          <p:cNvPr id="5" name="Text 3"/>
          <p:cNvSpPr/>
          <p:nvPr/>
        </p:nvSpPr>
        <p:spPr>
          <a:xfrm>
            <a:off x="9354312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分布</a:t>
            </a:r>
            <a:endParaRPr lang="ja-JP" sz="1100" dirty="0"/>
          </a:p>
        </p:txBody>
      </p:sp>
      <p:sp>
        <p:nvSpPr>
          <p:cNvPr id="6" name="Text 4"/>
          <p:cNvSpPr/>
          <p:nvPr/>
        </p:nvSpPr>
        <p:spPr>
          <a:xfrm>
            <a:off x="10030968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消失</a:t>
            </a:r>
            <a:endParaRPr lang="ja-JP" sz="1100" dirty="0"/>
          </a:p>
        </p:txBody>
      </p:sp>
      <p:sp>
        <p:nvSpPr>
          <p:cNvPr id="7" name="Text 5"/>
          <p:cNvSpPr/>
          <p:nvPr/>
        </p:nvSpPr>
        <p:spPr>
          <a:xfrm>
            <a:off x="10707624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持続</a:t>
            </a:r>
            <a:endParaRPr lang="ja-JP" sz="1100" dirty="0"/>
          </a:p>
        </p:txBody>
      </p:sp>
      <p:sp>
        <p:nvSpPr>
          <p:cNvPr id="8" name="Text 6"/>
          <p:cNvSpPr/>
          <p:nvPr/>
        </p:nvSpPr>
        <p:spPr>
          <a:xfrm>
            <a:off x="11384280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患者差</a:t>
            </a:r>
            <a:endParaRPr lang="ja-JP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</a:t>
            </a:r>
            <a:endParaRPr lang="ja-JP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59436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教科書的記述（薬物動態） / Schnider TW, et al. Anesthesiology 1999;90:1502-1516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Dahan A, et al. Anesthesiology 2004;101:1201-1209</a:t>
            </a:r>
            <a:endParaRPr lang="ja-JP" sz="1600" dirty="0"/>
          </a:p>
        </p:txBody>
      </p:sp>
      <p:sp>
        <p:nvSpPr>
          <p:cNvPr id="11" name="Shape 9"/>
          <p:cNvSpPr/>
          <p:nvPr/>
        </p:nvSpPr>
        <p:spPr>
          <a:xfrm>
            <a:off x="1943100" y="4215384"/>
            <a:ext cx="0" cy="813816"/>
          </a:xfrm>
          <a:prstGeom prst="line">
            <a:avLst/>
          </a:prstGeom>
          <a:noFill/>
          <a:ln w="22225">
            <a:solidFill>
              <a:srgbClr val="D55E00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950976" y="5248656"/>
            <a:ext cx="992033" cy="0"/>
          </a:xfrm>
          <a:prstGeom prst="line">
            <a:avLst/>
          </a:prstGeom>
          <a:noFill/>
          <a:ln w="31750">
            <a:solidFill>
              <a:srgbClr val="D55E00"/>
            </a:solidFill>
            <a:prstDash val="solid"/>
            <a:headEnd type="triangl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14400" y="2799893"/>
            <a:ext cx="9144" cy="2229307"/>
          </a:xfrm>
          <a:custGeom>
            <a:avLst/>
            <a:gdLst/>
            <a:ahLst/>
            <a:cxnLst/>
            <a:rect l="l" t="t" r="r" b="b"/>
            <a:pathLst>
              <a:path w="9144" h="2229307">
                <a:moveTo>
                  <a:pt x="0" y="2229307"/>
                </a:moveTo>
                <a:lnTo>
                  <a:pt x="0" y="0"/>
                </a:lnTo>
              </a:path>
            </a:pathLst>
          </a:custGeom>
          <a:noFill/>
          <a:ln w="25400">
            <a:solidFill>
              <a:srgbClr val="7F7F7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2697480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146304" h="146304">
                <a:moveTo>
                  <a:pt x="73152" y="0"/>
                </a:moveTo>
                <a:lnTo>
                  <a:pt x="146304" y="146304"/>
                </a:lnTo>
                <a:lnTo>
                  <a:pt x="0" y="146304"/>
                </a:lnTo>
                <a:close/>
              </a:path>
            </a:pathLst>
          </a:custGeom>
          <a:solidFill>
            <a:srgbClr val="7F7F7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029200"/>
            <a:ext cx="5383987" cy="9144"/>
          </a:xfrm>
          <a:custGeom>
            <a:avLst/>
            <a:gdLst/>
            <a:ahLst/>
            <a:cxnLst/>
            <a:rect l="l" t="t" r="r" b="b"/>
            <a:pathLst>
              <a:path w="5383987" h="9144">
                <a:moveTo>
                  <a:pt x="0" y="0"/>
                </a:moveTo>
                <a:lnTo>
                  <a:pt x="5383987" y="0"/>
                </a:lnTo>
              </a:path>
            </a:pathLst>
          </a:custGeom>
          <a:noFill/>
          <a:ln w="25400">
            <a:solidFill>
              <a:srgbClr val="7F7F7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54496" y="4956048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146304" h="146304">
                <a:moveTo>
                  <a:pt x="146304" y="73152"/>
                </a:moveTo>
                <a:lnTo>
                  <a:pt x="0" y="146304"/>
                </a:lnTo>
                <a:lnTo>
                  <a:pt x="0" y="0"/>
                </a:lnTo>
                <a:close/>
              </a:path>
            </a:pathLst>
          </a:custGeom>
          <a:solidFill>
            <a:srgbClr val="7F7F7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50976" y="2926080"/>
            <a:ext cx="5221224" cy="1904695"/>
          </a:xfrm>
          <a:custGeom>
            <a:avLst/>
            <a:gdLst/>
            <a:ahLst/>
            <a:cxnLst/>
            <a:rect l="l" t="t" r="r" b="b"/>
            <a:pathLst>
              <a:path w="5221224" h="1904695">
                <a:moveTo>
                  <a:pt x="0" y="0"/>
                </a:moveTo>
                <a:lnTo>
                  <a:pt x="26518" y="60350"/>
                </a:lnTo>
                <a:lnTo>
                  <a:pt x="52121" y="117043"/>
                </a:lnTo>
                <a:lnTo>
                  <a:pt x="78638" y="172822"/>
                </a:lnTo>
                <a:lnTo>
                  <a:pt x="104242" y="224942"/>
                </a:lnTo>
                <a:lnTo>
                  <a:pt x="130759" y="275234"/>
                </a:lnTo>
                <a:lnTo>
                  <a:pt x="156362" y="323698"/>
                </a:lnTo>
                <a:lnTo>
                  <a:pt x="182880" y="370332"/>
                </a:lnTo>
                <a:lnTo>
                  <a:pt x="208483" y="414223"/>
                </a:lnTo>
                <a:lnTo>
                  <a:pt x="235001" y="457200"/>
                </a:lnTo>
                <a:lnTo>
                  <a:pt x="261518" y="497434"/>
                </a:lnTo>
                <a:lnTo>
                  <a:pt x="287122" y="536753"/>
                </a:lnTo>
                <a:lnTo>
                  <a:pt x="313639" y="574243"/>
                </a:lnTo>
                <a:lnTo>
                  <a:pt x="339242" y="610819"/>
                </a:lnTo>
                <a:lnTo>
                  <a:pt x="365760" y="645566"/>
                </a:lnTo>
                <a:lnTo>
                  <a:pt x="391363" y="678485"/>
                </a:lnTo>
                <a:lnTo>
                  <a:pt x="417881" y="710489"/>
                </a:lnTo>
                <a:lnTo>
                  <a:pt x="443484" y="740664"/>
                </a:lnTo>
                <a:lnTo>
                  <a:pt x="470002" y="770839"/>
                </a:lnTo>
                <a:lnTo>
                  <a:pt x="495605" y="799186"/>
                </a:lnTo>
                <a:lnTo>
                  <a:pt x="522122" y="825703"/>
                </a:lnTo>
                <a:lnTo>
                  <a:pt x="548640" y="852221"/>
                </a:lnTo>
                <a:lnTo>
                  <a:pt x="574243" y="877824"/>
                </a:lnTo>
                <a:lnTo>
                  <a:pt x="600761" y="901598"/>
                </a:lnTo>
                <a:lnTo>
                  <a:pt x="626364" y="925373"/>
                </a:lnTo>
                <a:lnTo>
                  <a:pt x="652882" y="948233"/>
                </a:lnTo>
                <a:lnTo>
                  <a:pt x="678485" y="970178"/>
                </a:lnTo>
                <a:lnTo>
                  <a:pt x="705002" y="991210"/>
                </a:lnTo>
                <a:lnTo>
                  <a:pt x="730606" y="1011326"/>
                </a:lnTo>
                <a:lnTo>
                  <a:pt x="757123" y="1030529"/>
                </a:lnTo>
                <a:lnTo>
                  <a:pt x="783641" y="1049731"/>
                </a:lnTo>
                <a:lnTo>
                  <a:pt x="809244" y="1068019"/>
                </a:lnTo>
                <a:lnTo>
                  <a:pt x="835762" y="1085393"/>
                </a:lnTo>
                <a:lnTo>
                  <a:pt x="861365" y="1102766"/>
                </a:lnTo>
                <a:lnTo>
                  <a:pt x="887882" y="1119226"/>
                </a:lnTo>
                <a:lnTo>
                  <a:pt x="913486" y="1134770"/>
                </a:lnTo>
                <a:lnTo>
                  <a:pt x="940003" y="1150315"/>
                </a:lnTo>
                <a:lnTo>
                  <a:pt x="965606" y="1164946"/>
                </a:lnTo>
                <a:lnTo>
                  <a:pt x="992124" y="1179576"/>
                </a:lnTo>
                <a:lnTo>
                  <a:pt x="1017727" y="1193292"/>
                </a:lnTo>
                <a:lnTo>
                  <a:pt x="1044245" y="1207008"/>
                </a:lnTo>
                <a:lnTo>
                  <a:pt x="1070762" y="1220724"/>
                </a:lnTo>
                <a:lnTo>
                  <a:pt x="1096366" y="1233526"/>
                </a:lnTo>
                <a:lnTo>
                  <a:pt x="1122883" y="1245413"/>
                </a:lnTo>
                <a:lnTo>
                  <a:pt x="1148486" y="1258214"/>
                </a:lnTo>
                <a:lnTo>
                  <a:pt x="1175004" y="1269187"/>
                </a:lnTo>
                <a:lnTo>
                  <a:pt x="1200607" y="1281074"/>
                </a:lnTo>
                <a:lnTo>
                  <a:pt x="1227125" y="1292047"/>
                </a:lnTo>
                <a:lnTo>
                  <a:pt x="1252728" y="1303020"/>
                </a:lnTo>
                <a:lnTo>
                  <a:pt x="1279246" y="1313078"/>
                </a:lnTo>
                <a:lnTo>
                  <a:pt x="1304849" y="1323137"/>
                </a:lnTo>
                <a:lnTo>
                  <a:pt x="1331366" y="1333195"/>
                </a:lnTo>
                <a:lnTo>
                  <a:pt x="1357884" y="1343254"/>
                </a:lnTo>
                <a:lnTo>
                  <a:pt x="1383487" y="1352398"/>
                </a:lnTo>
                <a:lnTo>
                  <a:pt x="1410005" y="1361542"/>
                </a:lnTo>
                <a:lnTo>
                  <a:pt x="1435608" y="1370686"/>
                </a:lnTo>
                <a:lnTo>
                  <a:pt x="1462126" y="1379830"/>
                </a:lnTo>
                <a:lnTo>
                  <a:pt x="1487729" y="1388059"/>
                </a:lnTo>
                <a:lnTo>
                  <a:pt x="1514246" y="1396289"/>
                </a:lnTo>
                <a:lnTo>
                  <a:pt x="1539850" y="1404518"/>
                </a:lnTo>
                <a:lnTo>
                  <a:pt x="1566367" y="1412748"/>
                </a:lnTo>
                <a:lnTo>
                  <a:pt x="1592885" y="1420978"/>
                </a:lnTo>
                <a:lnTo>
                  <a:pt x="1618488" y="1428293"/>
                </a:lnTo>
                <a:lnTo>
                  <a:pt x="1645006" y="1435608"/>
                </a:lnTo>
                <a:lnTo>
                  <a:pt x="1670609" y="1442923"/>
                </a:lnTo>
                <a:lnTo>
                  <a:pt x="1697126" y="1450238"/>
                </a:lnTo>
                <a:lnTo>
                  <a:pt x="1722730" y="1457554"/>
                </a:lnTo>
                <a:lnTo>
                  <a:pt x="1749247" y="1464869"/>
                </a:lnTo>
                <a:lnTo>
                  <a:pt x="1774850" y="1471270"/>
                </a:lnTo>
                <a:lnTo>
                  <a:pt x="1801368" y="1477670"/>
                </a:lnTo>
                <a:lnTo>
                  <a:pt x="1826971" y="1484986"/>
                </a:lnTo>
                <a:lnTo>
                  <a:pt x="1853489" y="1491386"/>
                </a:lnTo>
                <a:lnTo>
                  <a:pt x="1880006" y="1496873"/>
                </a:lnTo>
                <a:lnTo>
                  <a:pt x="1905610" y="1503274"/>
                </a:lnTo>
                <a:lnTo>
                  <a:pt x="1932127" y="1509674"/>
                </a:lnTo>
                <a:lnTo>
                  <a:pt x="1957730" y="1515161"/>
                </a:lnTo>
                <a:lnTo>
                  <a:pt x="1984248" y="1521562"/>
                </a:lnTo>
                <a:lnTo>
                  <a:pt x="2009851" y="1527048"/>
                </a:lnTo>
                <a:lnTo>
                  <a:pt x="2036369" y="1532534"/>
                </a:lnTo>
                <a:lnTo>
                  <a:pt x="2061972" y="1538021"/>
                </a:lnTo>
                <a:lnTo>
                  <a:pt x="2088490" y="1544422"/>
                </a:lnTo>
                <a:lnTo>
                  <a:pt x="2115007" y="1548994"/>
                </a:lnTo>
                <a:lnTo>
                  <a:pt x="2140610" y="1554480"/>
                </a:lnTo>
                <a:lnTo>
                  <a:pt x="2167128" y="1559966"/>
                </a:lnTo>
                <a:lnTo>
                  <a:pt x="2192731" y="1565453"/>
                </a:lnTo>
                <a:lnTo>
                  <a:pt x="2219249" y="1570025"/>
                </a:lnTo>
                <a:lnTo>
                  <a:pt x="2244852" y="1575511"/>
                </a:lnTo>
                <a:lnTo>
                  <a:pt x="2271370" y="1580083"/>
                </a:lnTo>
                <a:lnTo>
                  <a:pt x="2296973" y="1585570"/>
                </a:lnTo>
                <a:lnTo>
                  <a:pt x="2323490" y="1590142"/>
                </a:lnTo>
                <a:lnTo>
                  <a:pt x="2349094" y="1594714"/>
                </a:lnTo>
                <a:lnTo>
                  <a:pt x="2375611" y="1599286"/>
                </a:lnTo>
                <a:lnTo>
                  <a:pt x="2402129" y="1603858"/>
                </a:lnTo>
                <a:lnTo>
                  <a:pt x="2427732" y="1608430"/>
                </a:lnTo>
                <a:lnTo>
                  <a:pt x="2454250" y="1613002"/>
                </a:lnTo>
                <a:lnTo>
                  <a:pt x="2479853" y="1617574"/>
                </a:lnTo>
                <a:lnTo>
                  <a:pt x="2506370" y="1622146"/>
                </a:lnTo>
                <a:lnTo>
                  <a:pt x="2531974" y="1626718"/>
                </a:lnTo>
                <a:lnTo>
                  <a:pt x="2558491" y="1630375"/>
                </a:lnTo>
                <a:lnTo>
                  <a:pt x="2584094" y="1634947"/>
                </a:lnTo>
                <a:lnTo>
                  <a:pt x="2610612" y="1638605"/>
                </a:lnTo>
                <a:lnTo>
                  <a:pt x="2637130" y="1643177"/>
                </a:lnTo>
                <a:lnTo>
                  <a:pt x="2662733" y="1646834"/>
                </a:lnTo>
                <a:lnTo>
                  <a:pt x="2689250" y="1651406"/>
                </a:lnTo>
                <a:lnTo>
                  <a:pt x="2714854" y="1655064"/>
                </a:lnTo>
                <a:lnTo>
                  <a:pt x="2741371" y="1659636"/>
                </a:lnTo>
                <a:lnTo>
                  <a:pt x="2766974" y="1663294"/>
                </a:lnTo>
                <a:lnTo>
                  <a:pt x="2793492" y="1666951"/>
                </a:lnTo>
                <a:lnTo>
                  <a:pt x="2819095" y="1670609"/>
                </a:lnTo>
                <a:lnTo>
                  <a:pt x="2845613" y="1674266"/>
                </a:lnTo>
                <a:lnTo>
                  <a:pt x="2871216" y="1677924"/>
                </a:lnTo>
                <a:lnTo>
                  <a:pt x="2897734" y="1682496"/>
                </a:lnTo>
                <a:lnTo>
                  <a:pt x="2924251" y="1686154"/>
                </a:lnTo>
                <a:lnTo>
                  <a:pt x="2949854" y="1688897"/>
                </a:lnTo>
                <a:lnTo>
                  <a:pt x="2976372" y="1692554"/>
                </a:lnTo>
                <a:lnTo>
                  <a:pt x="3001975" y="1696212"/>
                </a:lnTo>
                <a:lnTo>
                  <a:pt x="3028493" y="1699870"/>
                </a:lnTo>
                <a:lnTo>
                  <a:pt x="3054096" y="1703527"/>
                </a:lnTo>
                <a:lnTo>
                  <a:pt x="3080614" y="1707185"/>
                </a:lnTo>
                <a:lnTo>
                  <a:pt x="3106217" y="1709928"/>
                </a:lnTo>
                <a:lnTo>
                  <a:pt x="3132734" y="1713586"/>
                </a:lnTo>
                <a:lnTo>
                  <a:pt x="3159252" y="1717243"/>
                </a:lnTo>
                <a:lnTo>
                  <a:pt x="3184855" y="1719986"/>
                </a:lnTo>
                <a:lnTo>
                  <a:pt x="3211373" y="1723644"/>
                </a:lnTo>
                <a:lnTo>
                  <a:pt x="3236976" y="1726387"/>
                </a:lnTo>
                <a:lnTo>
                  <a:pt x="3263494" y="1730045"/>
                </a:lnTo>
                <a:lnTo>
                  <a:pt x="3289097" y="1732788"/>
                </a:lnTo>
                <a:lnTo>
                  <a:pt x="3315614" y="1736446"/>
                </a:lnTo>
                <a:lnTo>
                  <a:pt x="3341218" y="1739189"/>
                </a:lnTo>
                <a:lnTo>
                  <a:pt x="3367735" y="1742846"/>
                </a:lnTo>
                <a:lnTo>
                  <a:pt x="3393338" y="1745590"/>
                </a:lnTo>
                <a:lnTo>
                  <a:pt x="3419856" y="1748333"/>
                </a:lnTo>
                <a:lnTo>
                  <a:pt x="3446374" y="1751990"/>
                </a:lnTo>
                <a:lnTo>
                  <a:pt x="3471977" y="1754734"/>
                </a:lnTo>
                <a:lnTo>
                  <a:pt x="3498494" y="1757477"/>
                </a:lnTo>
                <a:lnTo>
                  <a:pt x="3524098" y="1760220"/>
                </a:lnTo>
                <a:lnTo>
                  <a:pt x="3550615" y="1762963"/>
                </a:lnTo>
                <a:lnTo>
                  <a:pt x="3576218" y="1766621"/>
                </a:lnTo>
                <a:lnTo>
                  <a:pt x="3602736" y="1769364"/>
                </a:lnTo>
                <a:lnTo>
                  <a:pt x="3628339" y="1772107"/>
                </a:lnTo>
                <a:lnTo>
                  <a:pt x="3654857" y="1774850"/>
                </a:lnTo>
                <a:lnTo>
                  <a:pt x="3681374" y="1777594"/>
                </a:lnTo>
                <a:lnTo>
                  <a:pt x="3706978" y="1780337"/>
                </a:lnTo>
                <a:lnTo>
                  <a:pt x="3733495" y="1783080"/>
                </a:lnTo>
                <a:lnTo>
                  <a:pt x="3759098" y="1785823"/>
                </a:lnTo>
                <a:lnTo>
                  <a:pt x="3785616" y="1788566"/>
                </a:lnTo>
                <a:lnTo>
                  <a:pt x="3811219" y="1791310"/>
                </a:lnTo>
                <a:lnTo>
                  <a:pt x="3837737" y="1793138"/>
                </a:lnTo>
                <a:lnTo>
                  <a:pt x="3863340" y="1795882"/>
                </a:lnTo>
                <a:lnTo>
                  <a:pt x="3889858" y="1798625"/>
                </a:lnTo>
                <a:lnTo>
                  <a:pt x="3915461" y="1801368"/>
                </a:lnTo>
                <a:lnTo>
                  <a:pt x="3941978" y="1804111"/>
                </a:lnTo>
                <a:lnTo>
                  <a:pt x="3968496" y="1805940"/>
                </a:lnTo>
                <a:lnTo>
                  <a:pt x="3994099" y="1808683"/>
                </a:lnTo>
                <a:lnTo>
                  <a:pt x="4020617" y="1811426"/>
                </a:lnTo>
                <a:lnTo>
                  <a:pt x="4046220" y="1813255"/>
                </a:lnTo>
                <a:lnTo>
                  <a:pt x="4072738" y="1815998"/>
                </a:lnTo>
                <a:lnTo>
                  <a:pt x="4098341" y="1818742"/>
                </a:lnTo>
                <a:lnTo>
                  <a:pt x="4124858" y="1820570"/>
                </a:lnTo>
                <a:lnTo>
                  <a:pt x="4150462" y="1823314"/>
                </a:lnTo>
                <a:lnTo>
                  <a:pt x="4176979" y="1825142"/>
                </a:lnTo>
                <a:lnTo>
                  <a:pt x="4203497" y="1827886"/>
                </a:lnTo>
                <a:lnTo>
                  <a:pt x="4229100" y="1830629"/>
                </a:lnTo>
                <a:lnTo>
                  <a:pt x="4255618" y="1832458"/>
                </a:lnTo>
                <a:lnTo>
                  <a:pt x="4281221" y="1834286"/>
                </a:lnTo>
                <a:lnTo>
                  <a:pt x="4307738" y="1837030"/>
                </a:lnTo>
                <a:lnTo>
                  <a:pt x="4333342" y="1838858"/>
                </a:lnTo>
                <a:lnTo>
                  <a:pt x="4359859" y="1841602"/>
                </a:lnTo>
                <a:lnTo>
                  <a:pt x="4385462" y="1843430"/>
                </a:lnTo>
                <a:lnTo>
                  <a:pt x="4411980" y="1846174"/>
                </a:lnTo>
                <a:lnTo>
                  <a:pt x="4437583" y="1848002"/>
                </a:lnTo>
                <a:lnTo>
                  <a:pt x="4464101" y="1849831"/>
                </a:lnTo>
                <a:lnTo>
                  <a:pt x="4490618" y="1851660"/>
                </a:lnTo>
                <a:lnTo>
                  <a:pt x="4516222" y="1854403"/>
                </a:lnTo>
                <a:lnTo>
                  <a:pt x="4542739" y="1856232"/>
                </a:lnTo>
                <a:lnTo>
                  <a:pt x="4568342" y="1858061"/>
                </a:lnTo>
                <a:lnTo>
                  <a:pt x="4594860" y="1860804"/>
                </a:lnTo>
                <a:lnTo>
                  <a:pt x="4620463" y="1862633"/>
                </a:lnTo>
                <a:lnTo>
                  <a:pt x="4646981" y="1864462"/>
                </a:lnTo>
                <a:lnTo>
                  <a:pt x="4672584" y="1866290"/>
                </a:lnTo>
                <a:lnTo>
                  <a:pt x="4699102" y="1868119"/>
                </a:lnTo>
                <a:lnTo>
                  <a:pt x="4725619" y="1869948"/>
                </a:lnTo>
                <a:lnTo>
                  <a:pt x="4751222" y="1872691"/>
                </a:lnTo>
                <a:lnTo>
                  <a:pt x="4777740" y="1874520"/>
                </a:lnTo>
                <a:lnTo>
                  <a:pt x="4803343" y="1876349"/>
                </a:lnTo>
                <a:lnTo>
                  <a:pt x="4829861" y="1878178"/>
                </a:lnTo>
                <a:lnTo>
                  <a:pt x="4855464" y="1880006"/>
                </a:lnTo>
                <a:lnTo>
                  <a:pt x="4881982" y="1881835"/>
                </a:lnTo>
                <a:lnTo>
                  <a:pt x="4907585" y="1883664"/>
                </a:lnTo>
                <a:lnTo>
                  <a:pt x="4934102" y="1885493"/>
                </a:lnTo>
                <a:lnTo>
                  <a:pt x="4960620" y="1887322"/>
                </a:lnTo>
                <a:lnTo>
                  <a:pt x="4986223" y="1889150"/>
                </a:lnTo>
                <a:lnTo>
                  <a:pt x="5012741" y="1890979"/>
                </a:lnTo>
                <a:lnTo>
                  <a:pt x="5038344" y="1892808"/>
                </a:lnTo>
                <a:lnTo>
                  <a:pt x="5064862" y="1894637"/>
                </a:lnTo>
                <a:lnTo>
                  <a:pt x="5090465" y="1895551"/>
                </a:lnTo>
                <a:lnTo>
                  <a:pt x="5116982" y="1897380"/>
                </a:lnTo>
                <a:lnTo>
                  <a:pt x="5142586" y="1899209"/>
                </a:lnTo>
                <a:lnTo>
                  <a:pt x="5169103" y="1901038"/>
                </a:lnTo>
                <a:lnTo>
                  <a:pt x="5194706" y="1902866"/>
                </a:lnTo>
                <a:lnTo>
                  <a:pt x="5221224" y="1904695"/>
                </a:lnTo>
              </a:path>
            </a:pathLst>
          </a:custGeom>
          <a:noFill/>
          <a:ln w="44450">
            <a:solidFill>
              <a:srgbClr val="0072B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50976" y="4105656"/>
            <a:ext cx="5221224" cy="923544"/>
          </a:xfrm>
          <a:custGeom>
            <a:avLst/>
            <a:gdLst/>
            <a:ahLst/>
            <a:cxnLst/>
            <a:rect l="l" t="t" r="r" b="b"/>
            <a:pathLst>
              <a:path w="5221224" h="923544">
                <a:moveTo>
                  <a:pt x="0" y="923544"/>
                </a:moveTo>
                <a:lnTo>
                  <a:pt x="26518" y="852221"/>
                </a:lnTo>
                <a:lnTo>
                  <a:pt x="52121" y="785470"/>
                </a:lnTo>
                <a:lnTo>
                  <a:pt x="78638" y="722376"/>
                </a:lnTo>
                <a:lnTo>
                  <a:pt x="104242" y="663854"/>
                </a:lnTo>
                <a:lnTo>
                  <a:pt x="130759" y="608990"/>
                </a:lnTo>
                <a:lnTo>
                  <a:pt x="156362" y="557784"/>
                </a:lnTo>
                <a:lnTo>
                  <a:pt x="182880" y="510235"/>
                </a:lnTo>
                <a:lnTo>
                  <a:pt x="208483" y="465430"/>
                </a:lnTo>
                <a:lnTo>
                  <a:pt x="235001" y="423367"/>
                </a:lnTo>
                <a:lnTo>
                  <a:pt x="261518" y="384962"/>
                </a:lnTo>
                <a:lnTo>
                  <a:pt x="287122" y="348386"/>
                </a:lnTo>
                <a:lnTo>
                  <a:pt x="313639" y="315468"/>
                </a:lnTo>
                <a:lnTo>
                  <a:pt x="339242" y="284378"/>
                </a:lnTo>
                <a:lnTo>
                  <a:pt x="365760" y="255118"/>
                </a:lnTo>
                <a:lnTo>
                  <a:pt x="391363" y="228600"/>
                </a:lnTo>
                <a:lnTo>
                  <a:pt x="417881" y="203911"/>
                </a:lnTo>
                <a:lnTo>
                  <a:pt x="443484" y="181051"/>
                </a:lnTo>
                <a:lnTo>
                  <a:pt x="470002" y="160934"/>
                </a:lnTo>
                <a:lnTo>
                  <a:pt x="495605" y="141732"/>
                </a:lnTo>
                <a:lnTo>
                  <a:pt x="522122" y="123444"/>
                </a:lnTo>
                <a:lnTo>
                  <a:pt x="548640" y="107899"/>
                </a:lnTo>
                <a:lnTo>
                  <a:pt x="574243" y="93269"/>
                </a:lnTo>
                <a:lnTo>
                  <a:pt x="600761" y="80467"/>
                </a:lnTo>
                <a:lnTo>
                  <a:pt x="626364" y="68580"/>
                </a:lnTo>
                <a:lnTo>
                  <a:pt x="652882" y="57607"/>
                </a:lnTo>
                <a:lnTo>
                  <a:pt x="678485" y="47549"/>
                </a:lnTo>
                <a:lnTo>
                  <a:pt x="705002" y="39319"/>
                </a:lnTo>
                <a:lnTo>
                  <a:pt x="730606" y="32004"/>
                </a:lnTo>
                <a:lnTo>
                  <a:pt x="757123" y="25603"/>
                </a:lnTo>
                <a:lnTo>
                  <a:pt x="783641" y="19202"/>
                </a:lnTo>
                <a:lnTo>
                  <a:pt x="809244" y="14630"/>
                </a:lnTo>
                <a:lnTo>
                  <a:pt x="835762" y="10973"/>
                </a:lnTo>
                <a:lnTo>
                  <a:pt x="861365" y="7315"/>
                </a:lnTo>
                <a:lnTo>
                  <a:pt x="887882" y="4572"/>
                </a:lnTo>
                <a:lnTo>
                  <a:pt x="913486" y="2743"/>
                </a:lnTo>
                <a:lnTo>
                  <a:pt x="940003" y="914"/>
                </a:lnTo>
                <a:lnTo>
                  <a:pt x="965606" y="914"/>
                </a:lnTo>
                <a:lnTo>
                  <a:pt x="992124" y="0"/>
                </a:lnTo>
                <a:lnTo>
                  <a:pt x="1017727" y="914"/>
                </a:lnTo>
                <a:lnTo>
                  <a:pt x="1044245" y="914"/>
                </a:lnTo>
                <a:lnTo>
                  <a:pt x="1070762" y="2743"/>
                </a:lnTo>
                <a:lnTo>
                  <a:pt x="1096366" y="3658"/>
                </a:lnTo>
                <a:lnTo>
                  <a:pt x="1122883" y="5486"/>
                </a:lnTo>
                <a:lnTo>
                  <a:pt x="1148486" y="8230"/>
                </a:lnTo>
                <a:lnTo>
                  <a:pt x="1175004" y="10973"/>
                </a:lnTo>
                <a:lnTo>
                  <a:pt x="1200607" y="13716"/>
                </a:lnTo>
                <a:lnTo>
                  <a:pt x="1227125" y="16459"/>
                </a:lnTo>
                <a:lnTo>
                  <a:pt x="1252728" y="20117"/>
                </a:lnTo>
                <a:lnTo>
                  <a:pt x="1279246" y="23774"/>
                </a:lnTo>
                <a:lnTo>
                  <a:pt x="1304849" y="28346"/>
                </a:lnTo>
                <a:lnTo>
                  <a:pt x="1331366" y="32004"/>
                </a:lnTo>
                <a:lnTo>
                  <a:pt x="1357884" y="36576"/>
                </a:lnTo>
                <a:lnTo>
                  <a:pt x="1383487" y="41148"/>
                </a:lnTo>
                <a:lnTo>
                  <a:pt x="1410005" y="45720"/>
                </a:lnTo>
                <a:lnTo>
                  <a:pt x="1435608" y="50292"/>
                </a:lnTo>
                <a:lnTo>
                  <a:pt x="1462126" y="55778"/>
                </a:lnTo>
                <a:lnTo>
                  <a:pt x="1487729" y="60350"/>
                </a:lnTo>
                <a:lnTo>
                  <a:pt x="1514246" y="65837"/>
                </a:lnTo>
                <a:lnTo>
                  <a:pt x="1539850" y="71323"/>
                </a:lnTo>
                <a:lnTo>
                  <a:pt x="1566367" y="76810"/>
                </a:lnTo>
                <a:lnTo>
                  <a:pt x="1592885" y="82296"/>
                </a:lnTo>
                <a:lnTo>
                  <a:pt x="1618488" y="87782"/>
                </a:lnTo>
                <a:lnTo>
                  <a:pt x="1645006" y="93269"/>
                </a:lnTo>
                <a:lnTo>
                  <a:pt x="1670609" y="98755"/>
                </a:lnTo>
                <a:lnTo>
                  <a:pt x="1697126" y="105156"/>
                </a:lnTo>
                <a:lnTo>
                  <a:pt x="1722730" y="110642"/>
                </a:lnTo>
                <a:lnTo>
                  <a:pt x="1749247" y="117043"/>
                </a:lnTo>
                <a:lnTo>
                  <a:pt x="1774850" y="122530"/>
                </a:lnTo>
                <a:lnTo>
                  <a:pt x="1801368" y="128930"/>
                </a:lnTo>
                <a:lnTo>
                  <a:pt x="1826971" y="134417"/>
                </a:lnTo>
                <a:lnTo>
                  <a:pt x="1853489" y="140818"/>
                </a:lnTo>
                <a:lnTo>
                  <a:pt x="1880006" y="146304"/>
                </a:lnTo>
                <a:lnTo>
                  <a:pt x="1905610" y="152705"/>
                </a:lnTo>
                <a:lnTo>
                  <a:pt x="1932127" y="158191"/>
                </a:lnTo>
                <a:lnTo>
                  <a:pt x="1957730" y="164592"/>
                </a:lnTo>
                <a:lnTo>
                  <a:pt x="1984248" y="170078"/>
                </a:lnTo>
                <a:lnTo>
                  <a:pt x="2009851" y="176479"/>
                </a:lnTo>
                <a:lnTo>
                  <a:pt x="2036369" y="182880"/>
                </a:lnTo>
                <a:lnTo>
                  <a:pt x="2061972" y="188366"/>
                </a:lnTo>
                <a:lnTo>
                  <a:pt x="2088490" y="194767"/>
                </a:lnTo>
                <a:lnTo>
                  <a:pt x="2115007" y="200254"/>
                </a:lnTo>
                <a:lnTo>
                  <a:pt x="2140610" y="206654"/>
                </a:lnTo>
                <a:lnTo>
                  <a:pt x="2167128" y="212141"/>
                </a:lnTo>
                <a:lnTo>
                  <a:pt x="2192731" y="217627"/>
                </a:lnTo>
                <a:lnTo>
                  <a:pt x="2219249" y="224028"/>
                </a:lnTo>
                <a:lnTo>
                  <a:pt x="2244852" y="229514"/>
                </a:lnTo>
                <a:lnTo>
                  <a:pt x="2271370" y="235915"/>
                </a:lnTo>
                <a:lnTo>
                  <a:pt x="2296973" y="241402"/>
                </a:lnTo>
                <a:lnTo>
                  <a:pt x="2323490" y="246888"/>
                </a:lnTo>
                <a:lnTo>
                  <a:pt x="2349094" y="252374"/>
                </a:lnTo>
                <a:lnTo>
                  <a:pt x="2375611" y="258775"/>
                </a:lnTo>
                <a:lnTo>
                  <a:pt x="2402129" y="264262"/>
                </a:lnTo>
                <a:lnTo>
                  <a:pt x="2427732" y="269748"/>
                </a:lnTo>
                <a:lnTo>
                  <a:pt x="2454250" y="275234"/>
                </a:lnTo>
                <a:lnTo>
                  <a:pt x="2479853" y="280721"/>
                </a:lnTo>
                <a:lnTo>
                  <a:pt x="2506370" y="286207"/>
                </a:lnTo>
                <a:lnTo>
                  <a:pt x="2531974" y="291694"/>
                </a:lnTo>
                <a:lnTo>
                  <a:pt x="2558491" y="297180"/>
                </a:lnTo>
                <a:lnTo>
                  <a:pt x="2584094" y="302666"/>
                </a:lnTo>
                <a:lnTo>
                  <a:pt x="2610612" y="308153"/>
                </a:lnTo>
                <a:lnTo>
                  <a:pt x="2637130" y="312725"/>
                </a:lnTo>
                <a:lnTo>
                  <a:pt x="2662733" y="318211"/>
                </a:lnTo>
                <a:lnTo>
                  <a:pt x="2689250" y="323698"/>
                </a:lnTo>
                <a:lnTo>
                  <a:pt x="2714854" y="328270"/>
                </a:lnTo>
                <a:lnTo>
                  <a:pt x="2741371" y="333756"/>
                </a:lnTo>
                <a:lnTo>
                  <a:pt x="2766974" y="339242"/>
                </a:lnTo>
                <a:lnTo>
                  <a:pt x="2793492" y="343814"/>
                </a:lnTo>
                <a:lnTo>
                  <a:pt x="2819095" y="349301"/>
                </a:lnTo>
                <a:lnTo>
                  <a:pt x="2845613" y="353873"/>
                </a:lnTo>
                <a:lnTo>
                  <a:pt x="2871216" y="358445"/>
                </a:lnTo>
                <a:lnTo>
                  <a:pt x="2897734" y="363931"/>
                </a:lnTo>
                <a:lnTo>
                  <a:pt x="2924251" y="368503"/>
                </a:lnTo>
                <a:lnTo>
                  <a:pt x="2949854" y="373075"/>
                </a:lnTo>
                <a:lnTo>
                  <a:pt x="2976372" y="377647"/>
                </a:lnTo>
                <a:lnTo>
                  <a:pt x="3001975" y="383134"/>
                </a:lnTo>
                <a:lnTo>
                  <a:pt x="3028493" y="387706"/>
                </a:lnTo>
                <a:lnTo>
                  <a:pt x="3054096" y="392278"/>
                </a:lnTo>
                <a:lnTo>
                  <a:pt x="3080614" y="396850"/>
                </a:lnTo>
                <a:lnTo>
                  <a:pt x="3106217" y="401422"/>
                </a:lnTo>
                <a:lnTo>
                  <a:pt x="3132734" y="405994"/>
                </a:lnTo>
                <a:lnTo>
                  <a:pt x="3159252" y="410566"/>
                </a:lnTo>
                <a:lnTo>
                  <a:pt x="3184855" y="414223"/>
                </a:lnTo>
                <a:lnTo>
                  <a:pt x="3211373" y="418795"/>
                </a:lnTo>
                <a:lnTo>
                  <a:pt x="3236976" y="423367"/>
                </a:lnTo>
                <a:lnTo>
                  <a:pt x="3263494" y="427939"/>
                </a:lnTo>
                <a:lnTo>
                  <a:pt x="3289097" y="431597"/>
                </a:lnTo>
                <a:lnTo>
                  <a:pt x="3315614" y="436169"/>
                </a:lnTo>
                <a:lnTo>
                  <a:pt x="3341218" y="440741"/>
                </a:lnTo>
                <a:lnTo>
                  <a:pt x="3367735" y="444398"/>
                </a:lnTo>
                <a:lnTo>
                  <a:pt x="3393338" y="448970"/>
                </a:lnTo>
                <a:lnTo>
                  <a:pt x="3419856" y="452628"/>
                </a:lnTo>
                <a:lnTo>
                  <a:pt x="3446374" y="457200"/>
                </a:lnTo>
                <a:lnTo>
                  <a:pt x="3471977" y="460858"/>
                </a:lnTo>
                <a:lnTo>
                  <a:pt x="3498494" y="464515"/>
                </a:lnTo>
                <a:lnTo>
                  <a:pt x="3524098" y="469087"/>
                </a:lnTo>
                <a:lnTo>
                  <a:pt x="3550615" y="472745"/>
                </a:lnTo>
                <a:lnTo>
                  <a:pt x="3576218" y="476402"/>
                </a:lnTo>
                <a:lnTo>
                  <a:pt x="3602736" y="480060"/>
                </a:lnTo>
                <a:lnTo>
                  <a:pt x="3628339" y="484632"/>
                </a:lnTo>
                <a:lnTo>
                  <a:pt x="3654857" y="488290"/>
                </a:lnTo>
                <a:lnTo>
                  <a:pt x="3681374" y="491947"/>
                </a:lnTo>
                <a:lnTo>
                  <a:pt x="3706978" y="495605"/>
                </a:lnTo>
                <a:lnTo>
                  <a:pt x="3733495" y="499262"/>
                </a:lnTo>
                <a:lnTo>
                  <a:pt x="3759098" y="502920"/>
                </a:lnTo>
                <a:lnTo>
                  <a:pt x="3785616" y="506578"/>
                </a:lnTo>
                <a:lnTo>
                  <a:pt x="3811219" y="510235"/>
                </a:lnTo>
                <a:lnTo>
                  <a:pt x="3837737" y="512978"/>
                </a:lnTo>
                <a:lnTo>
                  <a:pt x="3863340" y="516636"/>
                </a:lnTo>
                <a:lnTo>
                  <a:pt x="3889858" y="520294"/>
                </a:lnTo>
                <a:lnTo>
                  <a:pt x="3915461" y="523951"/>
                </a:lnTo>
                <a:lnTo>
                  <a:pt x="3941978" y="527609"/>
                </a:lnTo>
                <a:lnTo>
                  <a:pt x="3968496" y="530352"/>
                </a:lnTo>
                <a:lnTo>
                  <a:pt x="3994099" y="534010"/>
                </a:lnTo>
                <a:lnTo>
                  <a:pt x="4020617" y="537667"/>
                </a:lnTo>
                <a:lnTo>
                  <a:pt x="4046220" y="540410"/>
                </a:lnTo>
                <a:lnTo>
                  <a:pt x="4072738" y="544068"/>
                </a:lnTo>
                <a:lnTo>
                  <a:pt x="4098341" y="546811"/>
                </a:lnTo>
                <a:lnTo>
                  <a:pt x="4124858" y="550469"/>
                </a:lnTo>
                <a:lnTo>
                  <a:pt x="4150462" y="553212"/>
                </a:lnTo>
                <a:lnTo>
                  <a:pt x="4176979" y="556870"/>
                </a:lnTo>
                <a:lnTo>
                  <a:pt x="4203497" y="559613"/>
                </a:lnTo>
                <a:lnTo>
                  <a:pt x="4229100" y="562356"/>
                </a:lnTo>
                <a:lnTo>
                  <a:pt x="4255618" y="566014"/>
                </a:lnTo>
                <a:lnTo>
                  <a:pt x="4281221" y="568757"/>
                </a:lnTo>
                <a:lnTo>
                  <a:pt x="4307738" y="571500"/>
                </a:lnTo>
                <a:lnTo>
                  <a:pt x="4333342" y="575158"/>
                </a:lnTo>
                <a:lnTo>
                  <a:pt x="4359859" y="577901"/>
                </a:lnTo>
                <a:lnTo>
                  <a:pt x="4385462" y="580644"/>
                </a:lnTo>
                <a:lnTo>
                  <a:pt x="4411980" y="583387"/>
                </a:lnTo>
                <a:lnTo>
                  <a:pt x="4437583" y="586130"/>
                </a:lnTo>
                <a:lnTo>
                  <a:pt x="4464101" y="589788"/>
                </a:lnTo>
                <a:lnTo>
                  <a:pt x="4490618" y="592531"/>
                </a:lnTo>
                <a:lnTo>
                  <a:pt x="4516222" y="595274"/>
                </a:lnTo>
                <a:lnTo>
                  <a:pt x="4542739" y="598018"/>
                </a:lnTo>
                <a:lnTo>
                  <a:pt x="4568342" y="600761"/>
                </a:lnTo>
                <a:lnTo>
                  <a:pt x="4594860" y="603504"/>
                </a:lnTo>
                <a:lnTo>
                  <a:pt x="4620463" y="606247"/>
                </a:lnTo>
                <a:lnTo>
                  <a:pt x="4646981" y="608990"/>
                </a:lnTo>
                <a:lnTo>
                  <a:pt x="4672584" y="611734"/>
                </a:lnTo>
                <a:lnTo>
                  <a:pt x="4699102" y="613562"/>
                </a:lnTo>
                <a:lnTo>
                  <a:pt x="4725619" y="616306"/>
                </a:lnTo>
                <a:lnTo>
                  <a:pt x="4751222" y="619049"/>
                </a:lnTo>
                <a:lnTo>
                  <a:pt x="4777740" y="621792"/>
                </a:lnTo>
                <a:lnTo>
                  <a:pt x="4803343" y="624535"/>
                </a:lnTo>
                <a:lnTo>
                  <a:pt x="4829861" y="626364"/>
                </a:lnTo>
                <a:lnTo>
                  <a:pt x="4855464" y="629107"/>
                </a:lnTo>
                <a:lnTo>
                  <a:pt x="4881982" y="631850"/>
                </a:lnTo>
                <a:lnTo>
                  <a:pt x="4907585" y="634594"/>
                </a:lnTo>
                <a:lnTo>
                  <a:pt x="4934102" y="636422"/>
                </a:lnTo>
                <a:lnTo>
                  <a:pt x="4960620" y="639166"/>
                </a:lnTo>
                <a:lnTo>
                  <a:pt x="4986223" y="640994"/>
                </a:lnTo>
                <a:lnTo>
                  <a:pt x="5012741" y="643738"/>
                </a:lnTo>
                <a:lnTo>
                  <a:pt x="5038344" y="646481"/>
                </a:lnTo>
                <a:lnTo>
                  <a:pt x="5064862" y="648310"/>
                </a:lnTo>
                <a:lnTo>
                  <a:pt x="5090465" y="651053"/>
                </a:lnTo>
                <a:lnTo>
                  <a:pt x="5116982" y="652882"/>
                </a:lnTo>
                <a:lnTo>
                  <a:pt x="5142586" y="655625"/>
                </a:lnTo>
                <a:lnTo>
                  <a:pt x="5169103" y="657454"/>
                </a:lnTo>
                <a:lnTo>
                  <a:pt x="5194706" y="660197"/>
                </a:lnTo>
                <a:lnTo>
                  <a:pt x="5221224" y="662026"/>
                </a:lnTo>
              </a:path>
            </a:pathLst>
          </a:custGeom>
          <a:noFill/>
          <a:ln w="44450">
            <a:solidFill>
              <a:srgbClr val="D55E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2920" y="178308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濃度</a:t>
            </a:r>
            <a:endParaRPr lang="ja-JP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5303520" y="521208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時間</a:t>
            </a:r>
            <a:endParaRPr lang="ja-JP" sz="2200" dirty="0"/>
          </a:p>
        </p:txBody>
      </p:sp>
      <p:sp>
        <p:nvSpPr>
          <p:cNvPr id="21" name="Shape 19"/>
          <p:cNvSpPr/>
          <p:nvPr/>
        </p:nvSpPr>
        <p:spPr>
          <a:xfrm>
            <a:off x="3520440" y="1993392"/>
            <a:ext cx="502920" cy="9144"/>
          </a:xfrm>
          <a:custGeom>
            <a:avLst/>
            <a:gdLst/>
            <a:ahLst/>
            <a:cxnLst/>
            <a:rect l="l" t="t" r="r" b="b"/>
            <a:pathLst>
              <a:path w="502920" h="9144">
                <a:moveTo>
                  <a:pt x="0" y="0"/>
                </a:moveTo>
                <a:lnTo>
                  <a:pt x="502920" y="0"/>
                </a:lnTo>
              </a:path>
            </a:pathLst>
          </a:custGeom>
          <a:noFill/>
          <a:ln w="44450">
            <a:solidFill>
              <a:srgbClr val="0072B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60520" y="1783080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血中濃度</a:t>
            </a:r>
            <a:endParaRPr lang="ja-JP" sz="2200" dirty="0"/>
          </a:p>
        </p:txBody>
      </p:sp>
      <p:sp>
        <p:nvSpPr>
          <p:cNvPr id="23" name="Shape 21"/>
          <p:cNvSpPr/>
          <p:nvPr/>
        </p:nvSpPr>
        <p:spPr>
          <a:xfrm>
            <a:off x="3520440" y="2523744"/>
            <a:ext cx="502920" cy="9144"/>
          </a:xfrm>
          <a:custGeom>
            <a:avLst/>
            <a:gdLst/>
            <a:ahLst/>
            <a:cxnLst/>
            <a:rect l="l" t="t" r="r" b="b"/>
            <a:pathLst>
              <a:path w="502920" h="9144">
                <a:moveTo>
                  <a:pt x="0" y="0"/>
                </a:moveTo>
                <a:lnTo>
                  <a:pt x="502920" y="0"/>
                </a:lnTo>
              </a:path>
            </a:pathLst>
          </a:custGeom>
          <a:noFill/>
          <a:ln w="44450">
            <a:solidFill>
              <a:srgbClr val="D55E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160520" y="231343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効果部位の濃度</a:t>
            </a:r>
            <a:endParaRPr lang="ja-JP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6812280" y="1952244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•</a:t>
            </a:r>
            <a:endParaRPr lang="ja-JP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7196328" y="1952244"/>
            <a:ext cx="4489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薬は</a:t>
            </a:r>
            <a:r>
              <a:rPr lang="ja-JP" altLang="en-US" sz="24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血中</a:t>
            </a: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ではなく、</a:t>
            </a:r>
            <a:r>
              <a:rPr lang="ja-JP" altLang="en-US" sz="24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効果部位</a:t>
            </a:r>
            <a:endParaRPr lang="ja-JP" sz="2400" dirty="0"/>
          </a:p>
          <a:p>
            <a:pPr algn="l" indent="0" marL="0"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（脳など）の濃度で効く</a:t>
            </a:r>
            <a:endParaRPr lang="ja-JP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6812280" y="3250692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•</a:t>
            </a:r>
            <a:endParaRPr lang="ja-JP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7196328" y="3250692"/>
            <a:ext cx="4489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静注から効果のピークまで、</a:t>
            </a:r>
            <a:endParaRPr lang="ja-JP" sz="2400" dirty="0"/>
          </a:p>
          <a:p>
            <a:pPr algn="l" indent="0" marL="0"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数十秒〜数分の遅れ</a:t>
            </a:r>
            <a:endParaRPr lang="ja-JP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6812280" y="4549140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•</a:t>
            </a:r>
            <a:endParaRPr lang="ja-JP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7196328" y="4549140"/>
            <a:ext cx="4489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待たずに追加すると、</a:t>
            </a:r>
            <a:endParaRPr lang="ja-JP" sz="2400" dirty="0"/>
          </a:p>
          <a:p>
            <a:pPr algn="l" indent="0" marL="0"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重なって効きすぎる</a:t>
            </a:r>
            <a:endParaRPr lang="ja-JP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320040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分布と再分布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1389888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77656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濃度</a:t>
            </a:r>
            <a:endParaRPr lang="ja-JP" sz="1100" dirty="0"/>
          </a:p>
        </p:txBody>
      </p:sp>
      <p:sp>
        <p:nvSpPr>
          <p:cNvPr id="5" name="Text 3"/>
          <p:cNvSpPr/>
          <p:nvPr/>
        </p:nvSpPr>
        <p:spPr>
          <a:xfrm>
            <a:off x="9354312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00A8A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分布</a:t>
            </a:r>
            <a:endParaRPr lang="ja-JP" sz="1100" dirty="0"/>
          </a:p>
        </p:txBody>
      </p:sp>
      <p:sp>
        <p:nvSpPr>
          <p:cNvPr id="6" name="Text 4"/>
          <p:cNvSpPr/>
          <p:nvPr/>
        </p:nvSpPr>
        <p:spPr>
          <a:xfrm>
            <a:off x="10030968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消失</a:t>
            </a:r>
            <a:endParaRPr lang="ja-JP" sz="1100" dirty="0"/>
          </a:p>
        </p:txBody>
      </p:sp>
      <p:sp>
        <p:nvSpPr>
          <p:cNvPr id="7" name="Text 5"/>
          <p:cNvSpPr/>
          <p:nvPr/>
        </p:nvSpPr>
        <p:spPr>
          <a:xfrm>
            <a:off x="10707624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持続</a:t>
            </a:r>
            <a:endParaRPr lang="ja-JP" sz="1100" dirty="0"/>
          </a:p>
        </p:txBody>
      </p:sp>
      <p:sp>
        <p:nvSpPr>
          <p:cNvPr id="8" name="Text 6"/>
          <p:cNvSpPr/>
          <p:nvPr/>
        </p:nvSpPr>
        <p:spPr>
          <a:xfrm>
            <a:off x="11384280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患者差</a:t>
            </a:r>
            <a:endParaRPr lang="ja-JP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2</a:t>
            </a:r>
            <a:endParaRPr lang="ja-JP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59436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教科書的記述（薬物動態） / Sahinovic MM, et al. Clin Pharmacokinet 2018;57:1539-1558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Egan TD, et al. Anesthesiology 1998;89:562-573</a:t>
            </a:r>
            <a:endParaRPr lang="ja-JP" sz="1600" dirty="0"/>
          </a:p>
        </p:txBody>
      </p:sp>
      <p:sp>
        <p:nvSpPr>
          <p:cNvPr id="11" name="Text 9"/>
          <p:cNvSpPr/>
          <p:nvPr/>
        </p:nvSpPr>
        <p:spPr>
          <a:xfrm>
            <a:off x="525780" y="1783080"/>
            <a:ext cx="393192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 w="15875">
            <a:solidFill>
              <a:srgbClr val="7F7F7F"/>
            </a:solidFill>
          </a:ln>
        </p:spPr>
        <p:txBody>
          <a:bodyPr wrap="square" lIns="73152" tIns="73152" rIns="73152" bIns="73152" rtlCol="0" anchor="ctr"/>
          <a:lstStyle/>
          <a:p>
            <a:pPr algn="ctr" indent="0" marL="0">
              <a:buNone/>
            </a:pPr>
            <a:r>
              <a:rPr lang="ja-JP" altLang="en-US" sz="24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脳・心臓（血流が多い）</a:t>
            </a:r>
            <a:endParaRPr lang="ja-JP" sz="2400" dirty="0"/>
          </a:p>
        </p:txBody>
      </p:sp>
      <p:sp>
        <p:nvSpPr>
          <p:cNvPr id="12" name="Text 10"/>
          <p:cNvSpPr/>
          <p:nvPr/>
        </p:nvSpPr>
        <p:spPr>
          <a:xfrm>
            <a:off x="548640" y="5138928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 w="15875">
            <a:solidFill>
              <a:srgbClr val="7F7F7F"/>
            </a:solidFill>
          </a:ln>
        </p:spPr>
        <p:txBody>
          <a:bodyPr wrap="square" lIns="73152" tIns="73152" rIns="73152" bIns="73152" rtlCol="0" anchor="ctr"/>
          <a:lstStyle/>
          <a:p>
            <a:pPr algn="ctr" indent="0" marL="0">
              <a:buNone/>
            </a:pPr>
            <a:r>
              <a:rPr lang="ja-JP" altLang="en-US" sz="24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筋肉</a:t>
            </a:r>
            <a:endParaRPr lang="ja-JP" sz="2400" dirty="0"/>
          </a:p>
        </p:txBody>
      </p:sp>
      <p:sp>
        <p:nvSpPr>
          <p:cNvPr id="13" name="Text 11"/>
          <p:cNvSpPr/>
          <p:nvPr/>
        </p:nvSpPr>
        <p:spPr>
          <a:xfrm>
            <a:off x="2834640" y="5138928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 w="15875">
            <a:solidFill>
              <a:srgbClr val="7F7F7F"/>
            </a:solidFill>
          </a:ln>
        </p:spPr>
        <p:txBody>
          <a:bodyPr wrap="square" lIns="73152" tIns="73152" rIns="73152" bIns="73152" rtlCol="0" anchor="ctr"/>
          <a:lstStyle/>
          <a:p>
            <a:pPr algn="ctr" indent="0" marL="0">
              <a:buNone/>
            </a:pPr>
            <a:r>
              <a:rPr lang="ja-JP" altLang="en-US" sz="24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脂肪</a:t>
            </a:r>
            <a:endParaRPr lang="ja-JP" sz="2400" dirty="0"/>
          </a:p>
        </p:txBody>
      </p:sp>
      <p:sp>
        <p:nvSpPr>
          <p:cNvPr id="14" name="Text 12"/>
          <p:cNvSpPr/>
          <p:nvPr/>
        </p:nvSpPr>
        <p:spPr>
          <a:xfrm>
            <a:off x="1851660" y="3090672"/>
            <a:ext cx="1280160" cy="1280160"/>
          </a:xfrm>
          <a:prstGeom prst="ellipse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</p:spPr>
        <p:txBody>
          <a:bodyPr wrap="square" lIns="73152" tIns="73152" rIns="73152" bIns="73152" rtlCol="0" anchor="ctr"/>
          <a:lstStyle/>
          <a:p>
            <a:pPr algn="ctr" indent="0" marL="0">
              <a:buNone/>
            </a:pPr>
            <a:r>
              <a:rPr lang="ja-JP" altLang="en-US" sz="24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血液</a:t>
            </a:r>
            <a:endParaRPr lang="ja-JP" sz="2400" dirty="0"/>
          </a:p>
        </p:txBody>
      </p:sp>
      <p:sp>
        <p:nvSpPr>
          <p:cNvPr id="15" name="Shape 13"/>
          <p:cNvSpPr/>
          <p:nvPr/>
        </p:nvSpPr>
        <p:spPr>
          <a:xfrm>
            <a:off x="2107692" y="2768854"/>
            <a:ext cx="9144" cy="376682"/>
          </a:xfrm>
          <a:custGeom>
            <a:avLst/>
            <a:gdLst/>
            <a:ahLst/>
            <a:cxnLst/>
            <a:rect l="l" t="t" r="r" b="b"/>
            <a:pathLst>
              <a:path w="9144" h="376682">
                <a:moveTo>
                  <a:pt x="0" y="376733"/>
                </a:moveTo>
                <a:lnTo>
                  <a:pt x="0" y="0"/>
                </a:lnTo>
              </a:path>
            </a:pathLst>
          </a:custGeom>
          <a:noFill/>
          <a:ln w="139700">
            <a:solidFill>
              <a:srgbClr val="0072B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898142" y="2514600"/>
            <a:ext cx="419100" cy="363220"/>
          </a:xfrm>
          <a:custGeom>
            <a:avLst/>
            <a:gdLst/>
            <a:ahLst/>
            <a:cxnLst/>
            <a:rect l="l" t="t" r="r" b="b"/>
            <a:pathLst>
              <a:path w="419100" h="363220">
                <a:moveTo>
                  <a:pt x="209398" y="0"/>
                </a:moveTo>
                <a:lnTo>
                  <a:pt x="418795" y="363017"/>
                </a:lnTo>
                <a:lnTo>
                  <a:pt x="0" y="363017"/>
                </a:lnTo>
                <a:close/>
              </a:path>
            </a:pathLst>
          </a:custGeom>
          <a:solidFill>
            <a:srgbClr val="0072B2"/>
          </a:solidFill>
          <a:ln w="9525">
            <a:solidFill>
              <a:srgbClr val="0072B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5788" y="2514600"/>
            <a:ext cx="9144" cy="502920"/>
          </a:xfrm>
          <a:custGeom>
            <a:avLst/>
            <a:gdLst/>
            <a:ahLst/>
            <a:cxnLst/>
            <a:rect l="l" t="t" r="r" b="b"/>
            <a:pathLst>
              <a:path w="9144" h="502920">
                <a:moveTo>
                  <a:pt x="0" y="0"/>
                </a:moveTo>
                <a:lnTo>
                  <a:pt x="0" y="502920"/>
                </a:lnTo>
              </a:path>
            </a:pathLst>
          </a:custGeom>
          <a:noFill/>
          <a:ln w="63500">
            <a:solidFill>
              <a:srgbClr val="D55E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75204" y="2962656"/>
            <a:ext cx="201168" cy="182880"/>
          </a:xfrm>
          <a:custGeom>
            <a:avLst/>
            <a:gdLst/>
            <a:ahLst/>
            <a:cxnLst/>
            <a:rect l="l" t="t" r="r" b="b"/>
            <a:pathLst>
              <a:path w="201168" h="182880">
                <a:moveTo>
                  <a:pt x="100584" y="182880"/>
                </a:moveTo>
                <a:lnTo>
                  <a:pt x="0" y="0"/>
                </a:lnTo>
                <a:lnTo>
                  <a:pt x="201168" y="0"/>
                </a:lnTo>
                <a:close/>
              </a:path>
            </a:pathLst>
          </a:custGeom>
          <a:solidFill>
            <a:srgbClr val="D55E00"/>
          </a:solidFill>
          <a:ln w="9525">
            <a:solidFill>
              <a:srgbClr val="D55E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38935" y="4272540"/>
            <a:ext cx="588946" cy="687888"/>
          </a:xfrm>
          <a:custGeom>
            <a:avLst/>
            <a:gdLst/>
            <a:ahLst/>
            <a:cxnLst/>
            <a:rect l="l" t="t" r="r" b="b"/>
            <a:pathLst>
              <a:path w="588946" h="687888">
                <a:moveTo>
                  <a:pt x="588874" y="0"/>
                </a:moveTo>
                <a:lnTo>
                  <a:pt x="0" y="687629"/>
                </a:lnTo>
              </a:path>
            </a:pathLst>
          </a:custGeom>
          <a:noFill/>
          <a:ln w="76200">
            <a:solidFill>
              <a:srgbClr val="0072B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48740" y="4840943"/>
            <a:ext cx="215675" cy="224833"/>
          </a:xfrm>
          <a:custGeom>
            <a:avLst/>
            <a:gdLst/>
            <a:ahLst/>
            <a:cxnLst/>
            <a:rect l="l" t="t" r="r" b="b"/>
            <a:pathLst>
              <a:path w="215675" h="224833">
                <a:moveTo>
                  <a:pt x="0" y="224942"/>
                </a:moveTo>
                <a:lnTo>
                  <a:pt x="42062" y="0"/>
                </a:lnTo>
                <a:lnTo>
                  <a:pt x="215798" y="149047"/>
                </a:lnTo>
                <a:close/>
              </a:path>
            </a:pathLst>
          </a:custGeom>
          <a:solidFill>
            <a:srgbClr val="0072B2"/>
          </a:solidFill>
          <a:ln w="9525">
            <a:solidFill>
              <a:srgbClr val="0072B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55600" y="4272540"/>
            <a:ext cx="595884" cy="695992"/>
          </a:xfrm>
          <a:custGeom>
            <a:avLst/>
            <a:gdLst/>
            <a:ahLst/>
            <a:cxnLst/>
            <a:rect l="l" t="t" r="r" b="b"/>
            <a:pathLst>
              <a:path w="595884" h="695992">
                <a:moveTo>
                  <a:pt x="0" y="0"/>
                </a:moveTo>
                <a:lnTo>
                  <a:pt x="596189" y="695858"/>
                </a:lnTo>
              </a:path>
            </a:pathLst>
          </a:custGeom>
          <a:noFill/>
          <a:ln w="31750">
            <a:solidFill>
              <a:srgbClr val="0072B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39396" y="4861440"/>
            <a:ext cx="195344" cy="204336"/>
          </a:xfrm>
          <a:custGeom>
            <a:avLst/>
            <a:gdLst/>
            <a:ahLst/>
            <a:cxnLst/>
            <a:rect l="l" t="t" r="r" b="b"/>
            <a:pathLst>
              <a:path w="195344" h="204336">
                <a:moveTo>
                  <a:pt x="195682" y="203911"/>
                </a:moveTo>
                <a:lnTo>
                  <a:pt x="0" y="130759"/>
                </a:lnTo>
                <a:lnTo>
                  <a:pt x="152705" y="0"/>
                </a:lnTo>
                <a:close/>
              </a:path>
            </a:pathLst>
          </a:custGeom>
          <a:solidFill>
            <a:srgbClr val="0072B2"/>
          </a:solidFill>
          <a:ln w="9525">
            <a:solidFill>
              <a:srgbClr val="0072B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36592" y="2318004"/>
            <a:ext cx="6949440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55600" indent="-355600">
              <a:spcAft>
                <a:spcPts val="2600"/>
              </a:spcAft>
              <a:buSzPct val="100000"/>
              <a:buChar char="•"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血流の多い脳・心臓にまず届く（効く）</a:t>
            </a:r>
            <a:endParaRPr lang="ja-JP" sz="2400" dirty="0"/>
          </a:p>
          <a:p>
            <a:pPr algn="l" marL="355600" indent="-355600">
              <a:spcAft>
                <a:spcPts val="2600"/>
              </a:spcAft>
              <a:buSzPct val="100000"/>
              <a:buChar char="•"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次に筋肉へ移る（</a:t>
            </a:r>
            <a:r>
              <a:rPr lang="ja-JP" altLang="en-US" sz="24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再分布</a:t>
            </a: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）→ 効果が切れる</a:t>
            </a:r>
            <a:endParaRPr lang="ja-JP" sz="2400" dirty="0"/>
          </a:p>
          <a:p>
            <a:pPr algn="l" marL="355600" indent="-355600">
              <a:spcAft>
                <a:spcPts val="2600"/>
              </a:spcAft>
              <a:buSzPct val="100000"/>
              <a:buChar char="•"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単回静注の導入薬は、主に</a:t>
            </a:r>
            <a:r>
              <a:rPr lang="ja-JP" altLang="en-US" sz="24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再分布</a:t>
            </a: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で切れる</a:t>
            </a:r>
            <a:endParaRPr lang="ja-JP" sz="2400" dirty="0"/>
          </a:p>
          <a:p>
            <a:pPr algn="l" marL="355600" indent="-355600">
              <a:spcAft>
                <a:spcPts val="2600"/>
              </a:spcAft>
              <a:buSzPct val="100000"/>
              <a:buChar char="•"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繰り返すと脂肪にたまり、切れにくくなる</a:t>
            </a:r>
            <a:endParaRPr lang="ja-JP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320040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消失：代謝と排泄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1389888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77656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濃度</a:t>
            </a:r>
            <a:endParaRPr lang="ja-JP" sz="1100" dirty="0"/>
          </a:p>
        </p:txBody>
      </p:sp>
      <p:sp>
        <p:nvSpPr>
          <p:cNvPr id="5" name="Text 3"/>
          <p:cNvSpPr/>
          <p:nvPr/>
        </p:nvSpPr>
        <p:spPr>
          <a:xfrm>
            <a:off x="9354312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分布</a:t>
            </a:r>
            <a:endParaRPr lang="ja-JP" sz="1100" dirty="0"/>
          </a:p>
        </p:txBody>
      </p:sp>
      <p:sp>
        <p:nvSpPr>
          <p:cNvPr id="6" name="Text 4"/>
          <p:cNvSpPr/>
          <p:nvPr/>
        </p:nvSpPr>
        <p:spPr>
          <a:xfrm>
            <a:off x="10030968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00A8A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消失</a:t>
            </a:r>
            <a:endParaRPr lang="ja-JP" sz="1100" dirty="0"/>
          </a:p>
        </p:txBody>
      </p:sp>
      <p:sp>
        <p:nvSpPr>
          <p:cNvPr id="7" name="Text 5"/>
          <p:cNvSpPr/>
          <p:nvPr/>
        </p:nvSpPr>
        <p:spPr>
          <a:xfrm>
            <a:off x="10707624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持続</a:t>
            </a:r>
            <a:endParaRPr lang="ja-JP" sz="1100" dirty="0"/>
          </a:p>
        </p:txBody>
      </p:sp>
      <p:sp>
        <p:nvSpPr>
          <p:cNvPr id="8" name="Text 6"/>
          <p:cNvSpPr/>
          <p:nvPr/>
        </p:nvSpPr>
        <p:spPr>
          <a:xfrm>
            <a:off x="11384280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患者差</a:t>
            </a:r>
            <a:endParaRPr lang="ja-JP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3</a:t>
            </a:r>
            <a:endParaRPr lang="ja-JP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59436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日本麻酔科学会「麻酔薬および麻酔関連薬使用ガイドライン 第4版」（2025）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Proost et al. Br J Anaesth 2000;85:717-723 / Stöhr et al. Br J Anaesth 2021;127:415-423</a:t>
            </a:r>
            <a:endParaRPr lang="ja-JP" sz="1600" dirty="0"/>
          </a:p>
        </p:txBody>
      </p:sp>
      <p:sp>
        <p:nvSpPr>
          <p:cNvPr id="11" name="Shape 9"/>
          <p:cNvSpPr/>
          <p:nvPr/>
        </p:nvSpPr>
        <p:spPr>
          <a:xfrm>
            <a:off x="502920" y="1691640"/>
            <a:ext cx="6537960" cy="1874520"/>
          </a:xfrm>
          <a:prstGeom prst="roundRect">
            <a:avLst>
              <a:gd name="adj" fmla="val 3902"/>
            </a:avLst>
          </a:prstGeom>
          <a:solidFill>
            <a:srgbClr val="F2F2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1828800"/>
            <a:ext cx="6263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肝臓で代謝</a:t>
            </a:r>
            <a:endParaRPr lang="ja-JP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359152"/>
            <a:ext cx="626364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プロポフォール、ミダゾラム、レミマゾラム</a:t>
            </a:r>
            <a:endParaRPr lang="ja-JP" sz="2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肝血流・肝機能で変わる</a:t>
            </a:r>
            <a:endParaRPr lang="ja-JP" sz="2200" dirty="0"/>
          </a:p>
        </p:txBody>
      </p:sp>
      <p:sp>
        <p:nvSpPr>
          <p:cNvPr id="14" name="Shape 12"/>
          <p:cNvSpPr/>
          <p:nvPr/>
        </p:nvSpPr>
        <p:spPr>
          <a:xfrm>
            <a:off x="7269480" y="1691640"/>
            <a:ext cx="4416552" cy="1874520"/>
          </a:xfrm>
          <a:prstGeom prst="roundRect">
            <a:avLst>
              <a:gd name="adj" fmla="val 3902"/>
            </a:avLst>
          </a:prstGeom>
          <a:solidFill>
            <a:srgbClr val="F2F2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06640" y="1828800"/>
            <a:ext cx="4142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血液・組織の酵素</a:t>
            </a:r>
            <a:endParaRPr lang="ja-JP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7406640" y="2359152"/>
            <a:ext cx="414223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レミフェンタニル</a:t>
            </a:r>
            <a:endParaRPr lang="ja-JP" sz="2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臓器の機能によらない</a:t>
            </a:r>
            <a:endParaRPr lang="ja-JP" sz="2200" dirty="0"/>
          </a:p>
        </p:txBody>
      </p:sp>
      <p:sp>
        <p:nvSpPr>
          <p:cNvPr id="17" name="Shape 15"/>
          <p:cNvSpPr/>
          <p:nvPr/>
        </p:nvSpPr>
        <p:spPr>
          <a:xfrm>
            <a:off x="502920" y="3840480"/>
            <a:ext cx="6537960" cy="1874520"/>
          </a:xfrm>
          <a:prstGeom prst="roundRect">
            <a:avLst>
              <a:gd name="adj" fmla="val 3902"/>
            </a:avLst>
          </a:prstGeom>
          <a:solidFill>
            <a:srgbClr val="F2F2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3977640"/>
            <a:ext cx="6263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腎臓から排泄</a:t>
            </a:r>
            <a:endParaRPr lang="ja-JP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507992"/>
            <a:ext cx="626364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モルヒネ：活性代謝物がたまる</a:t>
            </a:r>
            <a:endParaRPr lang="ja-JP" sz="2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ロクロニウム：一部は尿へ</a:t>
            </a:r>
            <a:endParaRPr lang="ja-JP" sz="2200" dirty="0"/>
          </a:p>
        </p:txBody>
      </p:sp>
      <p:sp>
        <p:nvSpPr>
          <p:cNvPr id="20" name="Shape 18"/>
          <p:cNvSpPr/>
          <p:nvPr/>
        </p:nvSpPr>
        <p:spPr>
          <a:xfrm>
            <a:off x="7269480" y="3840480"/>
            <a:ext cx="4416552" cy="1874520"/>
          </a:xfrm>
          <a:prstGeom prst="roundRect">
            <a:avLst>
              <a:gd name="adj" fmla="val 3902"/>
            </a:avLst>
          </a:prstGeom>
          <a:solidFill>
            <a:srgbClr val="F2F2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06640" y="3977640"/>
            <a:ext cx="4142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肺から排泄</a:t>
            </a:r>
            <a:endParaRPr lang="ja-JP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7406640" y="4507992"/>
            <a:ext cx="414223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吸入麻酔薬</a:t>
            </a:r>
            <a:endParaRPr lang="ja-JP" sz="2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換気量と溶けやすさで決まる</a:t>
            </a:r>
            <a:endParaRPr lang="ja-JP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320040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持続投与の切れ方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1389888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77656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濃度</a:t>
            </a:r>
            <a:endParaRPr lang="ja-JP" sz="1100" dirty="0"/>
          </a:p>
        </p:txBody>
      </p:sp>
      <p:sp>
        <p:nvSpPr>
          <p:cNvPr id="5" name="Text 3"/>
          <p:cNvSpPr/>
          <p:nvPr/>
        </p:nvSpPr>
        <p:spPr>
          <a:xfrm>
            <a:off x="9354312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分布</a:t>
            </a:r>
            <a:endParaRPr lang="ja-JP" sz="1100" dirty="0"/>
          </a:p>
        </p:txBody>
      </p:sp>
      <p:sp>
        <p:nvSpPr>
          <p:cNvPr id="6" name="Text 4"/>
          <p:cNvSpPr/>
          <p:nvPr/>
        </p:nvSpPr>
        <p:spPr>
          <a:xfrm>
            <a:off x="10030968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消失</a:t>
            </a:r>
            <a:endParaRPr lang="ja-JP" sz="1100" dirty="0"/>
          </a:p>
        </p:txBody>
      </p:sp>
      <p:sp>
        <p:nvSpPr>
          <p:cNvPr id="7" name="Text 5"/>
          <p:cNvSpPr/>
          <p:nvPr/>
        </p:nvSpPr>
        <p:spPr>
          <a:xfrm>
            <a:off x="10707624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00A8A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持続</a:t>
            </a:r>
            <a:endParaRPr lang="ja-JP" sz="1100" dirty="0"/>
          </a:p>
        </p:txBody>
      </p:sp>
      <p:sp>
        <p:nvSpPr>
          <p:cNvPr id="8" name="Text 6"/>
          <p:cNvSpPr/>
          <p:nvPr/>
        </p:nvSpPr>
        <p:spPr>
          <a:xfrm>
            <a:off x="11384280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患者差</a:t>
            </a:r>
            <a:endParaRPr lang="ja-JP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4</a:t>
            </a:r>
            <a:endParaRPr lang="ja-JP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59436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Hughes 1992 Anesthesiology 76:334-341 / Kapila 1995 Anesthesiology 83:968-975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Sahinovic MM, et al. Clin Pharmacokinet 2018;57:1539-1558</a:t>
            </a:r>
            <a:endParaRPr lang="ja-JP" sz="1600" dirty="0"/>
          </a:p>
        </p:txBody>
      </p:sp>
      <p:sp>
        <p:nvSpPr>
          <p:cNvPr id="11" name="Shape 9"/>
          <p:cNvSpPr/>
          <p:nvPr/>
        </p:nvSpPr>
        <p:spPr>
          <a:xfrm>
            <a:off x="914400" y="2571293"/>
            <a:ext cx="9144" cy="2549347"/>
          </a:xfrm>
          <a:custGeom>
            <a:avLst/>
            <a:gdLst/>
            <a:ahLst/>
            <a:cxnLst/>
            <a:rect l="l" t="t" r="r" b="b"/>
            <a:pathLst>
              <a:path w="9144" h="2549347">
                <a:moveTo>
                  <a:pt x="0" y="2549347"/>
                </a:moveTo>
                <a:lnTo>
                  <a:pt x="0" y="0"/>
                </a:lnTo>
              </a:path>
            </a:pathLst>
          </a:custGeom>
          <a:noFill/>
          <a:ln w="25400">
            <a:solidFill>
              <a:srgbClr val="7F7F7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2468880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146304" h="146304">
                <a:moveTo>
                  <a:pt x="73152" y="0"/>
                </a:moveTo>
                <a:lnTo>
                  <a:pt x="146304" y="146304"/>
                </a:lnTo>
                <a:lnTo>
                  <a:pt x="0" y="146304"/>
                </a:lnTo>
                <a:close/>
              </a:path>
            </a:pathLst>
          </a:custGeom>
          <a:solidFill>
            <a:srgbClr val="7F7F7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120640"/>
            <a:ext cx="3235147" cy="9144"/>
          </a:xfrm>
          <a:custGeom>
            <a:avLst/>
            <a:gdLst/>
            <a:ahLst/>
            <a:cxnLst/>
            <a:rect l="l" t="t" r="r" b="b"/>
            <a:pathLst>
              <a:path w="3235147" h="9144">
                <a:moveTo>
                  <a:pt x="0" y="0"/>
                </a:moveTo>
                <a:lnTo>
                  <a:pt x="3235147" y="0"/>
                </a:lnTo>
              </a:path>
            </a:pathLst>
          </a:custGeom>
          <a:noFill/>
          <a:ln w="25400">
            <a:solidFill>
              <a:srgbClr val="7F7F7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05656" y="5047488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146304" h="146304">
                <a:moveTo>
                  <a:pt x="146304" y="73152"/>
                </a:moveTo>
                <a:lnTo>
                  <a:pt x="0" y="146304"/>
                </a:lnTo>
                <a:lnTo>
                  <a:pt x="0" y="0"/>
                </a:lnTo>
                <a:close/>
              </a:path>
            </a:pathLst>
          </a:custGeom>
          <a:solidFill>
            <a:srgbClr val="7F7F7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976" y="2587752"/>
            <a:ext cx="3118104" cy="2331720"/>
          </a:xfrm>
          <a:custGeom>
            <a:avLst/>
            <a:gdLst/>
            <a:ahLst/>
            <a:cxnLst/>
            <a:rect l="l" t="t" r="r" b="b"/>
            <a:pathLst>
              <a:path w="3118104" h="2331720">
                <a:moveTo>
                  <a:pt x="0" y="2331720"/>
                </a:moveTo>
                <a:lnTo>
                  <a:pt x="19202" y="2323490"/>
                </a:lnTo>
                <a:lnTo>
                  <a:pt x="39319" y="2311603"/>
                </a:lnTo>
                <a:lnTo>
                  <a:pt x="58522" y="2296973"/>
                </a:lnTo>
                <a:lnTo>
                  <a:pt x="77724" y="2282342"/>
                </a:lnTo>
                <a:lnTo>
                  <a:pt x="97841" y="2265883"/>
                </a:lnTo>
                <a:lnTo>
                  <a:pt x="117043" y="2248510"/>
                </a:lnTo>
                <a:lnTo>
                  <a:pt x="136246" y="2230222"/>
                </a:lnTo>
                <a:lnTo>
                  <a:pt x="156362" y="2211934"/>
                </a:lnTo>
                <a:lnTo>
                  <a:pt x="175565" y="2192731"/>
                </a:lnTo>
                <a:lnTo>
                  <a:pt x="194767" y="2172614"/>
                </a:lnTo>
                <a:lnTo>
                  <a:pt x="213970" y="2152498"/>
                </a:lnTo>
                <a:lnTo>
                  <a:pt x="234086" y="2132381"/>
                </a:lnTo>
                <a:lnTo>
                  <a:pt x="253289" y="2111350"/>
                </a:lnTo>
                <a:lnTo>
                  <a:pt x="272491" y="2090318"/>
                </a:lnTo>
                <a:lnTo>
                  <a:pt x="292608" y="2068373"/>
                </a:lnTo>
                <a:lnTo>
                  <a:pt x="311810" y="2046427"/>
                </a:lnTo>
                <a:lnTo>
                  <a:pt x="331013" y="2024482"/>
                </a:lnTo>
                <a:lnTo>
                  <a:pt x="351130" y="2001622"/>
                </a:lnTo>
                <a:lnTo>
                  <a:pt x="370332" y="1979676"/>
                </a:lnTo>
                <a:lnTo>
                  <a:pt x="389534" y="1956816"/>
                </a:lnTo>
                <a:lnTo>
                  <a:pt x="409651" y="1933956"/>
                </a:lnTo>
                <a:lnTo>
                  <a:pt x="428854" y="1910182"/>
                </a:lnTo>
                <a:lnTo>
                  <a:pt x="448056" y="1887322"/>
                </a:lnTo>
                <a:lnTo>
                  <a:pt x="467258" y="1864462"/>
                </a:lnTo>
                <a:lnTo>
                  <a:pt x="487375" y="1840687"/>
                </a:lnTo>
                <a:lnTo>
                  <a:pt x="506578" y="1817827"/>
                </a:lnTo>
                <a:lnTo>
                  <a:pt x="525780" y="1794053"/>
                </a:lnTo>
                <a:lnTo>
                  <a:pt x="545897" y="1770278"/>
                </a:lnTo>
                <a:lnTo>
                  <a:pt x="565099" y="1746504"/>
                </a:lnTo>
                <a:lnTo>
                  <a:pt x="584302" y="1723644"/>
                </a:lnTo>
                <a:lnTo>
                  <a:pt x="604418" y="1699870"/>
                </a:lnTo>
                <a:lnTo>
                  <a:pt x="623621" y="1676095"/>
                </a:lnTo>
                <a:lnTo>
                  <a:pt x="642823" y="1653235"/>
                </a:lnTo>
                <a:lnTo>
                  <a:pt x="662940" y="1629461"/>
                </a:lnTo>
                <a:lnTo>
                  <a:pt x="682142" y="1605686"/>
                </a:lnTo>
                <a:lnTo>
                  <a:pt x="701345" y="1582826"/>
                </a:lnTo>
                <a:lnTo>
                  <a:pt x="721462" y="1559052"/>
                </a:lnTo>
                <a:lnTo>
                  <a:pt x="740664" y="1536192"/>
                </a:lnTo>
                <a:lnTo>
                  <a:pt x="759866" y="1512418"/>
                </a:lnTo>
                <a:lnTo>
                  <a:pt x="779983" y="1489558"/>
                </a:lnTo>
                <a:lnTo>
                  <a:pt x="799186" y="1466698"/>
                </a:lnTo>
                <a:lnTo>
                  <a:pt x="818388" y="1443838"/>
                </a:lnTo>
                <a:lnTo>
                  <a:pt x="837590" y="1420978"/>
                </a:lnTo>
                <a:lnTo>
                  <a:pt x="857707" y="1398118"/>
                </a:lnTo>
                <a:lnTo>
                  <a:pt x="876910" y="1376172"/>
                </a:lnTo>
                <a:lnTo>
                  <a:pt x="896112" y="1353312"/>
                </a:lnTo>
                <a:lnTo>
                  <a:pt x="916229" y="1331366"/>
                </a:lnTo>
                <a:lnTo>
                  <a:pt x="935431" y="1309421"/>
                </a:lnTo>
                <a:lnTo>
                  <a:pt x="954634" y="1286561"/>
                </a:lnTo>
                <a:lnTo>
                  <a:pt x="974750" y="1265530"/>
                </a:lnTo>
                <a:lnTo>
                  <a:pt x="993953" y="1243584"/>
                </a:lnTo>
                <a:lnTo>
                  <a:pt x="1013155" y="1221638"/>
                </a:lnTo>
                <a:lnTo>
                  <a:pt x="1033272" y="1200607"/>
                </a:lnTo>
                <a:lnTo>
                  <a:pt x="1052474" y="1179576"/>
                </a:lnTo>
                <a:lnTo>
                  <a:pt x="1071677" y="1158545"/>
                </a:lnTo>
                <a:lnTo>
                  <a:pt x="1091794" y="1137514"/>
                </a:lnTo>
                <a:lnTo>
                  <a:pt x="1110996" y="1116482"/>
                </a:lnTo>
                <a:lnTo>
                  <a:pt x="1130198" y="1096366"/>
                </a:lnTo>
                <a:lnTo>
                  <a:pt x="1149401" y="1076249"/>
                </a:lnTo>
                <a:lnTo>
                  <a:pt x="1169518" y="1056132"/>
                </a:lnTo>
                <a:lnTo>
                  <a:pt x="1188720" y="1036015"/>
                </a:lnTo>
                <a:lnTo>
                  <a:pt x="1207922" y="1015898"/>
                </a:lnTo>
                <a:lnTo>
                  <a:pt x="1228039" y="996696"/>
                </a:lnTo>
                <a:lnTo>
                  <a:pt x="1247242" y="977494"/>
                </a:lnTo>
                <a:lnTo>
                  <a:pt x="1266444" y="958291"/>
                </a:lnTo>
                <a:lnTo>
                  <a:pt x="1286561" y="939089"/>
                </a:lnTo>
                <a:lnTo>
                  <a:pt x="1305763" y="919886"/>
                </a:lnTo>
                <a:lnTo>
                  <a:pt x="1324966" y="901598"/>
                </a:lnTo>
                <a:lnTo>
                  <a:pt x="1345082" y="883310"/>
                </a:lnTo>
                <a:lnTo>
                  <a:pt x="1364285" y="865022"/>
                </a:lnTo>
                <a:lnTo>
                  <a:pt x="1383487" y="846734"/>
                </a:lnTo>
                <a:lnTo>
                  <a:pt x="1403604" y="829361"/>
                </a:lnTo>
                <a:lnTo>
                  <a:pt x="1422806" y="811987"/>
                </a:lnTo>
                <a:lnTo>
                  <a:pt x="1442009" y="794614"/>
                </a:lnTo>
                <a:lnTo>
                  <a:pt x="1461211" y="777240"/>
                </a:lnTo>
                <a:lnTo>
                  <a:pt x="1481328" y="760781"/>
                </a:lnTo>
                <a:lnTo>
                  <a:pt x="1500530" y="744322"/>
                </a:lnTo>
                <a:lnTo>
                  <a:pt x="1519733" y="727862"/>
                </a:lnTo>
                <a:lnTo>
                  <a:pt x="1539850" y="711403"/>
                </a:lnTo>
                <a:lnTo>
                  <a:pt x="1559052" y="694944"/>
                </a:lnTo>
                <a:lnTo>
                  <a:pt x="1578254" y="679399"/>
                </a:lnTo>
                <a:lnTo>
                  <a:pt x="1598371" y="663854"/>
                </a:lnTo>
                <a:lnTo>
                  <a:pt x="1617574" y="648310"/>
                </a:lnTo>
                <a:lnTo>
                  <a:pt x="1636776" y="633679"/>
                </a:lnTo>
                <a:lnTo>
                  <a:pt x="1656893" y="618134"/>
                </a:lnTo>
                <a:lnTo>
                  <a:pt x="1676095" y="603504"/>
                </a:lnTo>
                <a:lnTo>
                  <a:pt x="1695298" y="588874"/>
                </a:lnTo>
                <a:lnTo>
                  <a:pt x="1715414" y="575158"/>
                </a:lnTo>
                <a:lnTo>
                  <a:pt x="1734617" y="560527"/>
                </a:lnTo>
                <a:lnTo>
                  <a:pt x="1753819" y="546811"/>
                </a:lnTo>
                <a:lnTo>
                  <a:pt x="1773022" y="533095"/>
                </a:lnTo>
                <a:lnTo>
                  <a:pt x="1793138" y="519379"/>
                </a:lnTo>
                <a:lnTo>
                  <a:pt x="1812341" y="506578"/>
                </a:lnTo>
                <a:lnTo>
                  <a:pt x="1831543" y="492862"/>
                </a:lnTo>
                <a:lnTo>
                  <a:pt x="1851660" y="480060"/>
                </a:lnTo>
                <a:lnTo>
                  <a:pt x="1870862" y="468173"/>
                </a:lnTo>
                <a:lnTo>
                  <a:pt x="1890065" y="455371"/>
                </a:lnTo>
                <a:lnTo>
                  <a:pt x="1910182" y="442570"/>
                </a:lnTo>
                <a:lnTo>
                  <a:pt x="1929384" y="430682"/>
                </a:lnTo>
                <a:lnTo>
                  <a:pt x="1948586" y="418795"/>
                </a:lnTo>
                <a:lnTo>
                  <a:pt x="1968703" y="407822"/>
                </a:lnTo>
                <a:lnTo>
                  <a:pt x="1987906" y="395935"/>
                </a:lnTo>
                <a:lnTo>
                  <a:pt x="2007108" y="384962"/>
                </a:lnTo>
                <a:lnTo>
                  <a:pt x="2027225" y="373990"/>
                </a:lnTo>
                <a:lnTo>
                  <a:pt x="2046427" y="363017"/>
                </a:lnTo>
                <a:lnTo>
                  <a:pt x="2065630" y="352044"/>
                </a:lnTo>
                <a:lnTo>
                  <a:pt x="2084832" y="341071"/>
                </a:lnTo>
                <a:lnTo>
                  <a:pt x="2104949" y="331013"/>
                </a:lnTo>
                <a:lnTo>
                  <a:pt x="2124151" y="320954"/>
                </a:lnTo>
                <a:lnTo>
                  <a:pt x="2143354" y="310896"/>
                </a:lnTo>
                <a:lnTo>
                  <a:pt x="2163470" y="300838"/>
                </a:lnTo>
                <a:lnTo>
                  <a:pt x="2182673" y="291694"/>
                </a:lnTo>
                <a:lnTo>
                  <a:pt x="2201875" y="282550"/>
                </a:lnTo>
                <a:lnTo>
                  <a:pt x="2221992" y="272491"/>
                </a:lnTo>
                <a:lnTo>
                  <a:pt x="2241194" y="263347"/>
                </a:lnTo>
                <a:lnTo>
                  <a:pt x="2260397" y="255118"/>
                </a:lnTo>
                <a:lnTo>
                  <a:pt x="2280514" y="245974"/>
                </a:lnTo>
                <a:lnTo>
                  <a:pt x="2299716" y="237744"/>
                </a:lnTo>
                <a:lnTo>
                  <a:pt x="2318918" y="228600"/>
                </a:lnTo>
                <a:lnTo>
                  <a:pt x="2339035" y="220370"/>
                </a:lnTo>
                <a:lnTo>
                  <a:pt x="2358238" y="213055"/>
                </a:lnTo>
                <a:lnTo>
                  <a:pt x="2377440" y="204826"/>
                </a:lnTo>
                <a:lnTo>
                  <a:pt x="2396642" y="196596"/>
                </a:lnTo>
                <a:lnTo>
                  <a:pt x="2416759" y="189281"/>
                </a:lnTo>
                <a:lnTo>
                  <a:pt x="2435962" y="181966"/>
                </a:lnTo>
                <a:lnTo>
                  <a:pt x="2455164" y="174650"/>
                </a:lnTo>
                <a:lnTo>
                  <a:pt x="2475281" y="167335"/>
                </a:lnTo>
                <a:lnTo>
                  <a:pt x="2494483" y="160020"/>
                </a:lnTo>
                <a:lnTo>
                  <a:pt x="2513686" y="153619"/>
                </a:lnTo>
                <a:lnTo>
                  <a:pt x="2533802" y="146304"/>
                </a:lnTo>
                <a:lnTo>
                  <a:pt x="2553005" y="139903"/>
                </a:lnTo>
                <a:lnTo>
                  <a:pt x="2572207" y="133502"/>
                </a:lnTo>
                <a:lnTo>
                  <a:pt x="2592324" y="127102"/>
                </a:lnTo>
                <a:lnTo>
                  <a:pt x="2611526" y="120701"/>
                </a:lnTo>
                <a:lnTo>
                  <a:pt x="2630729" y="115214"/>
                </a:lnTo>
                <a:lnTo>
                  <a:pt x="2650846" y="108814"/>
                </a:lnTo>
                <a:lnTo>
                  <a:pt x="2670048" y="103327"/>
                </a:lnTo>
                <a:lnTo>
                  <a:pt x="2689250" y="97841"/>
                </a:lnTo>
                <a:lnTo>
                  <a:pt x="2708453" y="91440"/>
                </a:lnTo>
                <a:lnTo>
                  <a:pt x="2728570" y="85954"/>
                </a:lnTo>
                <a:lnTo>
                  <a:pt x="2747772" y="81382"/>
                </a:lnTo>
                <a:lnTo>
                  <a:pt x="2766974" y="75895"/>
                </a:lnTo>
                <a:lnTo>
                  <a:pt x="2787091" y="70409"/>
                </a:lnTo>
                <a:lnTo>
                  <a:pt x="2806294" y="65837"/>
                </a:lnTo>
                <a:lnTo>
                  <a:pt x="2825496" y="61265"/>
                </a:lnTo>
                <a:lnTo>
                  <a:pt x="2845613" y="55778"/>
                </a:lnTo>
                <a:lnTo>
                  <a:pt x="2864815" y="51206"/>
                </a:lnTo>
                <a:lnTo>
                  <a:pt x="2884018" y="46634"/>
                </a:lnTo>
                <a:lnTo>
                  <a:pt x="2904134" y="42062"/>
                </a:lnTo>
                <a:lnTo>
                  <a:pt x="2923337" y="38405"/>
                </a:lnTo>
                <a:lnTo>
                  <a:pt x="2942539" y="33833"/>
                </a:lnTo>
                <a:lnTo>
                  <a:pt x="2962656" y="30175"/>
                </a:lnTo>
                <a:lnTo>
                  <a:pt x="2981858" y="25603"/>
                </a:lnTo>
                <a:lnTo>
                  <a:pt x="3001061" y="21946"/>
                </a:lnTo>
                <a:lnTo>
                  <a:pt x="3020263" y="18288"/>
                </a:lnTo>
                <a:lnTo>
                  <a:pt x="3040380" y="14630"/>
                </a:lnTo>
                <a:lnTo>
                  <a:pt x="3059582" y="10058"/>
                </a:lnTo>
                <a:lnTo>
                  <a:pt x="3078785" y="7315"/>
                </a:lnTo>
                <a:lnTo>
                  <a:pt x="3098902" y="3658"/>
                </a:lnTo>
                <a:lnTo>
                  <a:pt x="3118104" y="0"/>
                </a:lnTo>
              </a:path>
            </a:pathLst>
          </a:custGeom>
          <a:noFill/>
          <a:ln w="44450">
            <a:solidFill>
              <a:srgbClr val="D55E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50976" y="4478731"/>
            <a:ext cx="3118104" cy="440741"/>
          </a:xfrm>
          <a:custGeom>
            <a:avLst/>
            <a:gdLst/>
            <a:ahLst/>
            <a:cxnLst/>
            <a:rect l="l" t="t" r="r" b="b"/>
            <a:pathLst>
              <a:path w="3118104" h="440741">
                <a:moveTo>
                  <a:pt x="0" y="440741"/>
                </a:moveTo>
                <a:lnTo>
                  <a:pt x="19202" y="423367"/>
                </a:lnTo>
                <a:lnTo>
                  <a:pt x="39319" y="410566"/>
                </a:lnTo>
                <a:lnTo>
                  <a:pt x="58522" y="398678"/>
                </a:lnTo>
                <a:lnTo>
                  <a:pt x="77724" y="388620"/>
                </a:lnTo>
                <a:lnTo>
                  <a:pt x="97841" y="378562"/>
                </a:lnTo>
                <a:lnTo>
                  <a:pt x="117043" y="369418"/>
                </a:lnTo>
                <a:lnTo>
                  <a:pt x="136246" y="361188"/>
                </a:lnTo>
                <a:lnTo>
                  <a:pt x="156362" y="352044"/>
                </a:lnTo>
                <a:lnTo>
                  <a:pt x="175565" y="344729"/>
                </a:lnTo>
                <a:lnTo>
                  <a:pt x="194767" y="336499"/>
                </a:lnTo>
                <a:lnTo>
                  <a:pt x="213970" y="329184"/>
                </a:lnTo>
                <a:lnTo>
                  <a:pt x="234086" y="321869"/>
                </a:lnTo>
                <a:lnTo>
                  <a:pt x="253289" y="314554"/>
                </a:lnTo>
                <a:lnTo>
                  <a:pt x="272491" y="308153"/>
                </a:lnTo>
                <a:lnTo>
                  <a:pt x="292608" y="300838"/>
                </a:lnTo>
                <a:lnTo>
                  <a:pt x="311810" y="294437"/>
                </a:lnTo>
                <a:lnTo>
                  <a:pt x="331013" y="288036"/>
                </a:lnTo>
                <a:lnTo>
                  <a:pt x="351130" y="282550"/>
                </a:lnTo>
                <a:lnTo>
                  <a:pt x="370332" y="276149"/>
                </a:lnTo>
                <a:lnTo>
                  <a:pt x="389534" y="270662"/>
                </a:lnTo>
                <a:lnTo>
                  <a:pt x="409651" y="265176"/>
                </a:lnTo>
                <a:lnTo>
                  <a:pt x="428854" y="259690"/>
                </a:lnTo>
                <a:lnTo>
                  <a:pt x="448056" y="254203"/>
                </a:lnTo>
                <a:lnTo>
                  <a:pt x="467258" y="248717"/>
                </a:lnTo>
                <a:lnTo>
                  <a:pt x="487375" y="243230"/>
                </a:lnTo>
                <a:lnTo>
                  <a:pt x="506578" y="238658"/>
                </a:lnTo>
                <a:lnTo>
                  <a:pt x="525780" y="233172"/>
                </a:lnTo>
                <a:lnTo>
                  <a:pt x="545897" y="228600"/>
                </a:lnTo>
                <a:lnTo>
                  <a:pt x="565099" y="224028"/>
                </a:lnTo>
                <a:lnTo>
                  <a:pt x="584302" y="219456"/>
                </a:lnTo>
                <a:lnTo>
                  <a:pt x="604418" y="214884"/>
                </a:lnTo>
                <a:lnTo>
                  <a:pt x="623621" y="210312"/>
                </a:lnTo>
                <a:lnTo>
                  <a:pt x="642823" y="206654"/>
                </a:lnTo>
                <a:lnTo>
                  <a:pt x="662940" y="202082"/>
                </a:lnTo>
                <a:lnTo>
                  <a:pt x="682142" y="197510"/>
                </a:lnTo>
                <a:lnTo>
                  <a:pt x="701345" y="193853"/>
                </a:lnTo>
                <a:lnTo>
                  <a:pt x="721462" y="190195"/>
                </a:lnTo>
                <a:lnTo>
                  <a:pt x="740664" y="185623"/>
                </a:lnTo>
                <a:lnTo>
                  <a:pt x="759866" y="181966"/>
                </a:lnTo>
                <a:lnTo>
                  <a:pt x="779983" y="178308"/>
                </a:lnTo>
                <a:lnTo>
                  <a:pt x="799186" y="174650"/>
                </a:lnTo>
                <a:lnTo>
                  <a:pt x="818388" y="170993"/>
                </a:lnTo>
                <a:lnTo>
                  <a:pt x="837590" y="167335"/>
                </a:lnTo>
                <a:lnTo>
                  <a:pt x="857707" y="164592"/>
                </a:lnTo>
                <a:lnTo>
                  <a:pt x="876910" y="160934"/>
                </a:lnTo>
                <a:lnTo>
                  <a:pt x="896112" y="157277"/>
                </a:lnTo>
                <a:lnTo>
                  <a:pt x="916229" y="154534"/>
                </a:lnTo>
                <a:lnTo>
                  <a:pt x="935431" y="150876"/>
                </a:lnTo>
                <a:lnTo>
                  <a:pt x="954634" y="148133"/>
                </a:lnTo>
                <a:lnTo>
                  <a:pt x="974750" y="145390"/>
                </a:lnTo>
                <a:lnTo>
                  <a:pt x="993953" y="141732"/>
                </a:lnTo>
                <a:lnTo>
                  <a:pt x="1013155" y="138989"/>
                </a:lnTo>
                <a:lnTo>
                  <a:pt x="1033272" y="136246"/>
                </a:lnTo>
                <a:lnTo>
                  <a:pt x="1052474" y="133502"/>
                </a:lnTo>
                <a:lnTo>
                  <a:pt x="1071677" y="130759"/>
                </a:lnTo>
                <a:lnTo>
                  <a:pt x="1091794" y="128016"/>
                </a:lnTo>
                <a:lnTo>
                  <a:pt x="1110996" y="125273"/>
                </a:lnTo>
                <a:lnTo>
                  <a:pt x="1130198" y="122530"/>
                </a:lnTo>
                <a:lnTo>
                  <a:pt x="1149401" y="119786"/>
                </a:lnTo>
                <a:lnTo>
                  <a:pt x="1169518" y="117043"/>
                </a:lnTo>
                <a:lnTo>
                  <a:pt x="1188720" y="115214"/>
                </a:lnTo>
                <a:lnTo>
                  <a:pt x="1207922" y="112471"/>
                </a:lnTo>
                <a:lnTo>
                  <a:pt x="1228039" y="109728"/>
                </a:lnTo>
                <a:lnTo>
                  <a:pt x="1247242" y="107899"/>
                </a:lnTo>
                <a:lnTo>
                  <a:pt x="1266444" y="105156"/>
                </a:lnTo>
                <a:lnTo>
                  <a:pt x="1286561" y="103327"/>
                </a:lnTo>
                <a:lnTo>
                  <a:pt x="1305763" y="100584"/>
                </a:lnTo>
                <a:lnTo>
                  <a:pt x="1324966" y="98755"/>
                </a:lnTo>
                <a:lnTo>
                  <a:pt x="1345082" y="96926"/>
                </a:lnTo>
                <a:lnTo>
                  <a:pt x="1364285" y="94183"/>
                </a:lnTo>
                <a:lnTo>
                  <a:pt x="1383487" y="92354"/>
                </a:lnTo>
                <a:lnTo>
                  <a:pt x="1403604" y="90526"/>
                </a:lnTo>
                <a:lnTo>
                  <a:pt x="1422806" y="88697"/>
                </a:lnTo>
                <a:lnTo>
                  <a:pt x="1442009" y="86868"/>
                </a:lnTo>
                <a:lnTo>
                  <a:pt x="1461211" y="85039"/>
                </a:lnTo>
                <a:lnTo>
                  <a:pt x="1481328" y="82296"/>
                </a:lnTo>
                <a:lnTo>
                  <a:pt x="1500530" y="80467"/>
                </a:lnTo>
                <a:lnTo>
                  <a:pt x="1519733" y="78638"/>
                </a:lnTo>
                <a:lnTo>
                  <a:pt x="1539850" y="76810"/>
                </a:lnTo>
                <a:lnTo>
                  <a:pt x="1559052" y="75895"/>
                </a:lnTo>
                <a:lnTo>
                  <a:pt x="1578254" y="74066"/>
                </a:lnTo>
                <a:lnTo>
                  <a:pt x="1598371" y="72238"/>
                </a:lnTo>
                <a:lnTo>
                  <a:pt x="1617574" y="70409"/>
                </a:lnTo>
                <a:lnTo>
                  <a:pt x="1636776" y="68580"/>
                </a:lnTo>
                <a:lnTo>
                  <a:pt x="1656893" y="66751"/>
                </a:lnTo>
                <a:lnTo>
                  <a:pt x="1676095" y="65837"/>
                </a:lnTo>
                <a:lnTo>
                  <a:pt x="1695298" y="64008"/>
                </a:lnTo>
                <a:lnTo>
                  <a:pt x="1715414" y="62179"/>
                </a:lnTo>
                <a:lnTo>
                  <a:pt x="1734617" y="61265"/>
                </a:lnTo>
                <a:lnTo>
                  <a:pt x="1753819" y="59436"/>
                </a:lnTo>
                <a:lnTo>
                  <a:pt x="1773022" y="57607"/>
                </a:lnTo>
                <a:lnTo>
                  <a:pt x="1793138" y="56693"/>
                </a:lnTo>
                <a:lnTo>
                  <a:pt x="1812341" y="54864"/>
                </a:lnTo>
                <a:lnTo>
                  <a:pt x="1831543" y="53950"/>
                </a:lnTo>
                <a:lnTo>
                  <a:pt x="1851660" y="52121"/>
                </a:lnTo>
                <a:lnTo>
                  <a:pt x="1870862" y="51206"/>
                </a:lnTo>
                <a:lnTo>
                  <a:pt x="1890065" y="50292"/>
                </a:lnTo>
                <a:lnTo>
                  <a:pt x="1910182" y="48463"/>
                </a:lnTo>
                <a:lnTo>
                  <a:pt x="1929384" y="47549"/>
                </a:lnTo>
                <a:lnTo>
                  <a:pt x="1948586" y="45720"/>
                </a:lnTo>
                <a:lnTo>
                  <a:pt x="1968703" y="44806"/>
                </a:lnTo>
                <a:lnTo>
                  <a:pt x="1987906" y="43891"/>
                </a:lnTo>
                <a:lnTo>
                  <a:pt x="2007108" y="42977"/>
                </a:lnTo>
                <a:lnTo>
                  <a:pt x="2027225" y="41148"/>
                </a:lnTo>
                <a:lnTo>
                  <a:pt x="2046427" y="40234"/>
                </a:lnTo>
                <a:lnTo>
                  <a:pt x="2065630" y="39319"/>
                </a:lnTo>
                <a:lnTo>
                  <a:pt x="2084832" y="38405"/>
                </a:lnTo>
                <a:lnTo>
                  <a:pt x="2104949" y="36576"/>
                </a:lnTo>
                <a:lnTo>
                  <a:pt x="2124151" y="35662"/>
                </a:lnTo>
                <a:lnTo>
                  <a:pt x="2143354" y="34747"/>
                </a:lnTo>
                <a:lnTo>
                  <a:pt x="2163470" y="33833"/>
                </a:lnTo>
                <a:lnTo>
                  <a:pt x="2182673" y="32918"/>
                </a:lnTo>
                <a:lnTo>
                  <a:pt x="2201875" y="32004"/>
                </a:lnTo>
                <a:lnTo>
                  <a:pt x="2221992" y="31090"/>
                </a:lnTo>
                <a:lnTo>
                  <a:pt x="2241194" y="30175"/>
                </a:lnTo>
                <a:lnTo>
                  <a:pt x="2260397" y="29261"/>
                </a:lnTo>
                <a:lnTo>
                  <a:pt x="2280514" y="28346"/>
                </a:lnTo>
                <a:lnTo>
                  <a:pt x="2299716" y="27432"/>
                </a:lnTo>
                <a:lnTo>
                  <a:pt x="2318918" y="26518"/>
                </a:lnTo>
                <a:lnTo>
                  <a:pt x="2339035" y="25603"/>
                </a:lnTo>
                <a:lnTo>
                  <a:pt x="2358238" y="24689"/>
                </a:lnTo>
                <a:lnTo>
                  <a:pt x="2377440" y="23774"/>
                </a:lnTo>
                <a:lnTo>
                  <a:pt x="2396642" y="22860"/>
                </a:lnTo>
                <a:lnTo>
                  <a:pt x="2416759" y="21946"/>
                </a:lnTo>
                <a:lnTo>
                  <a:pt x="2435962" y="21031"/>
                </a:lnTo>
                <a:lnTo>
                  <a:pt x="2455164" y="20117"/>
                </a:lnTo>
                <a:lnTo>
                  <a:pt x="2475281" y="20117"/>
                </a:lnTo>
                <a:lnTo>
                  <a:pt x="2494483" y="19202"/>
                </a:lnTo>
                <a:lnTo>
                  <a:pt x="2513686" y="18288"/>
                </a:lnTo>
                <a:lnTo>
                  <a:pt x="2533802" y="17374"/>
                </a:lnTo>
                <a:lnTo>
                  <a:pt x="2553005" y="16459"/>
                </a:lnTo>
                <a:lnTo>
                  <a:pt x="2572207" y="15545"/>
                </a:lnTo>
                <a:lnTo>
                  <a:pt x="2592324" y="15545"/>
                </a:lnTo>
                <a:lnTo>
                  <a:pt x="2611526" y="14630"/>
                </a:lnTo>
                <a:lnTo>
                  <a:pt x="2630729" y="13716"/>
                </a:lnTo>
                <a:lnTo>
                  <a:pt x="2650846" y="13716"/>
                </a:lnTo>
                <a:lnTo>
                  <a:pt x="2670048" y="12802"/>
                </a:lnTo>
                <a:lnTo>
                  <a:pt x="2689250" y="11887"/>
                </a:lnTo>
                <a:lnTo>
                  <a:pt x="2708453" y="10973"/>
                </a:lnTo>
                <a:lnTo>
                  <a:pt x="2728570" y="10973"/>
                </a:lnTo>
                <a:lnTo>
                  <a:pt x="2747772" y="10058"/>
                </a:lnTo>
                <a:lnTo>
                  <a:pt x="2766974" y="9144"/>
                </a:lnTo>
                <a:lnTo>
                  <a:pt x="2787091" y="9144"/>
                </a:lnTo>
                <a:lnTo>
                  <a:pt x="2806294" y="8230"/>
                </a:lnTo>
                <a:lnTo>
                  <a:pt x="2825496" y="7315"/>
                </a:lnTo>
                <a:lnTo>
                  <a:pt x="2845613" y="7315"/>
                </a:lnTo>
                <a:lnTo>
                  <a:pt x="2864815" y="6401"/>
                </a:lnTo>
                <a:lnTo>
                  <a:pt x="2884018" y="6401"/>
                </a:lnTo>
                <a:lnTo>
                  <a:pt x="2904134" y="5486"/>
                </a:lnTo>
                <a:lnTo>
                  <a:pt x="2923337" y="5486"/>
                </a:lnTo>
                <a:lnTo>
                  <a:pt x="2942539" y="4572"/>
                </a:lnTo>
                <a:lnTo>
                  <a:pt x="2962656" y="3658"/>
                </a:lnTo>
                <a:lnTo>
                  <a:pt x="2981858" y="3658"/>
                </a:lnTo>
                <a:lnTo>
                  <a:pt x="3001061" y="2743"/>
                </a:lnTo>
                <a:lnTo>
                  <a:pt x="3020263" y="2743"/>
                </a:lnTo>
                <a:lnTo>
                  <a:pt x="3040380" y="1829"/>
                </a:lnTo>
                <a:lnTo>
                  <a:pt x="3059582" y="1829"/>
                </a:lnTo>
                <a:lnTo>
                  <a:pt x="3078785" y="914"/>
                </a:lnTo>
                <a:lnTo>
                  <a:pt x="3098902" y="914"/>
                </a:lnTo>
                <a:lnTo>
                  <a:pt x="3118104" y="0"/>
                </a:lnTo>
              </a:path>
            </a:pathLst>
          </a:custGeom>
          <a:noFill/>
          <a:ln w="44450">
            <a:solidFill>
              <a:srgbClr val="0072B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50976" y="4919472"/>
            <a:ext cx="3118104" cy="9144"/>
          </a:xfrm>
          <a:custGeom>
            <a:avLst/>
            <a:gdLst/>
            <a:ahLst/>
            <a:cxnLst/>
            <a:rect l="l" t="t" r="r" b="b"/>
            <a:pathLst>
              <a:path w="3118104" h="9144">
                <a:moveTo>
                  <a:pt x="0" y="0"/>
                </a:moveTo>
                <a:lnTo>
                  <a:pt x="19202" y="0"/>
                </a:lnTo>
                <a:lnTo>
                  <a:pt x="39319" y="0"/>
                </a:lnTo>
                <a:lnTo>
                  <a:pt x="58522" y="0"/>
                </a:lnTo>
                <a:lnTo>
                  <a:pt x="77724" y="0"/>
                </a:lnTo>
                <a:lnTo>
                  <a:pt x="97841" y="0"/>
                </a:lnTo>
                <a:lnTo>
                  <a:pt x="117043" y="0"/>
                </a:lnTo>
                <a:lnTo>
                  <a:pt x="136246" y="0"/>
                </a:lnTo>
                <a:lnTo>
                  <a:pt x="156362" y="0"/>
                </a:lnTo>
                <a:lnTo>
                  <a:pt x="175565" y="0"/>
                </a:lnTo>
                <a:lnTo>
                  <a:pt x="194767" y="0"/>
                </a:lnTo>
                <a:lnTo>
                  <a:pt x="213970" y="0"/>
                </a:lnTo>
                <a:lnTo>
                  <a:pt x="234086" y="0"/>
                </a:lnTo>
                <a:lnTo>
                  <a:pt x="253289" y="0"/>
                </a:lnTo>
                <a:lnTo>
                  <a:pt x="272491" y="0"/>
                </a:lnTo>
                <a:lnTo>
                  <a:pt x="292608" y="0"/>
                </a:lnTo>
                <a:lnTo>
                  <a:pt x="311810" y="0"/>
                </a:lnTo>
                <a:lnTo>
                  <a:pt x="331013" y="0"/>
                </a:lnTo>
                <a:lnTo>
                  <a:pt x="351130" y="0"/>
                </a:lnTo>
                <a:lnTo>
                  <a:pt x="370332" y="0"/>
                </a:lnTo>
                <a:lnTo>
                  <a:pt x="389534" y="0"/>
                </a:lnTo>
                <a:lnTo>
                  <a:pt x="409651" y="0"/>
                </a:lnTo>
                <a:lnTo>
                  <a:pt x="428854" y="0"/>
                </a:lnTo>
                <a:lnTo>
                  <a:pt x="448056" y="0"/>
                </a:lnTo>
                <a:lnTo>
                  <a:pt x="467258" y="0"/>
                </a:lnTo>
                <a:lnTo>
                  <a:pt x="487375" y="0"/>
                </a:lnTo>
                <a:lnTo>
                  <a:pt x="506578" y="0"/>
                </a:lnTo>
                <a:lnTo>
                  <a:pt x="525780" y="0"/>
                </a:lnTo>
                <a:lnTo>
                  <a:pt x="545897" y="0"/>
                </a:lnTo>
                <a:lnTo>
                  <a:pt x="565099" y="0"/>
                </a:lnTo>
                <a:lnTo>
                  <a:pt x="584302" y="0"/>
                </a:lnTo>
                <a:lnTo>
                  <a:pt x="604418" y="0"/>
                </a:lnTo>
                <a:lnTo>
                  <a:pt x="623621" y="0"/>
                </a:lnTo>
                <a:lnTo>
                  <a:pt x="642823" y="0"/>
                </a:lnTo>
                <a:lnTo>
                  <a:pt x="662940" y="0"/>
                </a:lnTo>
                <a:lnTo>
                  <a:pt x="682142" y="0"/>
                </a:lnTo>
                <a:lnTo>
                  <a:pt x="701345" y="0"/>
                </a:lnTo>
                <a:lnTo>
                  <a:pt x="721462" y="0"/>
                </a:lnTo>
                <a:lnTo>
                  <a:pt x="740664" y="0"/>
                </a:lnTo>
                <a:lnTo>
                  <a:pt x="759866" y="0"/>
                </a:lnTo>
                <a:lnTo>
                  <a:pt x="779983" y="0"/>
                </a:lnTo>
                <a:lnTo>
                  <a:pt x="799186" y="0"/>
                </a:lnTo>
                <a:lnTo>
                  <a:pt x="818388" y="0"/>
                </a:lnTo>
                <a:lnTo>
                  <a:pt x="837590" y="0"/>
                </a:lnTo>
                <a:lnTo>
                  <a:pt x="857707" y="0"/>
                </a:lnTo>
                <a:lnTo>
                  <a:pt x="876910" y="0"/>
                </a:lnTo>
                <a:lnTo>
                  <a:pt x="896112" y="0"/>
                </a:lnTo>
                <a:lnTo>
                  <a:pt x="916229" y="0"/>
                </a:lnTo>
                <a:lnTo>
                  <a:pt x="935431" y="0"/>
                </a:lnTo>
                <a:lnTo>
                  <a:pt x="954634" y="0"/>
                </a:lnTo>
                <a:lnTo>
                  <a:pt x="974750" y="0"/>
                </a:lnTo>
                <a:lnTo>
                  <a:pt x="993953" y="0"/>
                </a:lnTo>
                <a:lnTo>
                  <a:pt x="1013155" y="0"/>
                </a:lnTo>
                <a:lnTo>
                  <a:pt x="1033272" y="0"/>
                </a:lnTo>
                <a:lnTo>
                  <a:pt x="1052474" y="0"/>
                </a:lnTo>
                <a:lnTo>
                  <a:pt x="1071677" y="0"/>
                </a:lnTo>
                <a:lnTo>
                  <a:pt x="1091794" y="0"/>
                </a:lnTo>
                <a:lnTo>
                  <a:pt x="1110996" y="0"/>
                </a:lnTo>
                <a:lnTo>
                  <a:pt x="1130198" y="0"/>
                </a:lnTo>
                <a:lnTo>
                  <a:pt x="1149401" y="0"/>
                </a:lnTo>
                <a:lnTo>
                  <a:pt x="1169518" y="0"/>
                </a:lnTo>
                <a:lnTo>
                  <a:pt x="1188720" y="0"/>
                </a:lnTo>
                <a:lnTo>
                  <a:pt x="1207922" y="0"/>
                </a:lnTo>
                <a:lnTo>
                  <a:pt x="1228039" y="0"/>
                </a:lnTo>
                <a:lnTo>
                  <a:pt x="1247242" y="0"/>
                </a:lnTo>
                <a:lnTo>
                  <a:pt x="1266444" y="0"/>
                </a:lnTo>
                <a:lnTo>
                  <a:pt x="1286561" y="0"/>
                </a:lnTo>
                <a:lnTo>
                  <a:pt x="1305763" y="0"/>
                </a:lnTo>
                <a:lnTo>
                  <a:pt x="1324966" y="0"/>
                </a:lnTo>
                <a:lnTo>
                  <a:pt x="1345082" y="0"/>
                </a:lnTo>
                <a:lnTo>
                  <a:pt x="1364285" y="0"/>
                </a:lnTo>
                <a:lnTo>
                  <a:pt x="1383487" y="0"/>
                </a:lnTo>
                <a:lnTo>
                  <a:pt x="1403604" y="0"/>
                </a:lnTo>
                <a:lnTo>
                  <a:pt x="1422806" y="0"/>
                </a:lnTo>
                <a:lnTo>
                  <a:pt x="1442009" y="0"/>
                </a:lnTo>
                <a:lnTo>
                  <a:pt x="1461211" y="0"/>
                </a:lnTo>
                <a:lnTo>
                  <a:pt x="1481328" y="0"/>
                </a:lnTo>
                <a:lnTo>
                  <a:pt x="1500530" y="0"/>
                </a:lnTo>
                <a:lnTo>
                  <a:pt x="1519733" y="0"/>
                </a:lnTo>
                <a:lnTo>
                  <a:pt x="1539850" y="0"/>
                </a:lnTo>
                <a:lnTo>
                  <a:pt x="1559052" y="0"/>
                </a:lnTo>
                <a:lnTo>
                  <a:pt x="1578254" y="0"/>
                </a:lnTo>
                <a:lnTo>
                  <a:pt x="1598371" y="0"/>
                </a:lnTo>
                <a:lnTo>
                  <a:pt x="1617574" y="0"/>
                </a:lnTo>
                <a:lnTo>
                  <a:pt x="1636776" y="0"/>
                </a:lnTo>
                <a:lnTo>
                  <a:pt x="1656893" y="0"/>
                </a:lnTo>
                <a:lnTo>
                  <a:pt x="1676095" y="0"/>
                </a:lnTo>
                <a:lnTo>
                  <a:pt x="1695298" y="0"/>
                </a:lnTo>
                <a:lnTo>
                  <a:pt x="1715414" y="0"/>
                </a:lnTo>
                <a:lnTo>
                  <a:pt x="1734617" y="0"/>
                </a:lnTo>
                <a:lnTo>
                  <a:pt x="1753819" y="0"/>
                </a:lnTo>
                <a:lnTo>
                  <a:pt x="1773022" y="0"/>
                </a:lnTo>
                <a:lnTo>
                  <a:pt x="1793138" y="0"/>
                </a:lnTo>
                <a:lnTo>
                  <a:pt x="1812341" y="0"/>
                </a:lnTo>
                <a:lnTo>
                  <a:pt x="1831543" y="0"/>
                </a:lnTo>
                <a:lnTo>
                  <a:pt x="1851660" y="0"/>
                </a:lnTo>
                <a:lnTo>
                  <a:pt x="1870862" y="0"/>
                </a:lnTo>
                <a:lnTo>
                  <a:pt x="1890065" y="0"/>
                </a:lnTo>
                <a:lnTo>
                  <a:pt x="1910182" y="0"/>
                </a:lnTo>
                <a:lnTo>
                  <a:pt x="1929384" y="0"/>
                </a:lnTo>
                <a:lnTo>
                  <a:pt x="1948586" y="0"/>
                </a:lnTo>
                <a:lnTo>
                  <a:pt x="1968703" y="0"/>
                </a:lnTo>
                <a:lnTo>
                  <a:pt x="1987906" y="0"/>
                </a:lnTo>
                <a:lnTo>
                  <a:pt x="2007108" y="0"/>
                </a:lnTo>
                <a:lnTo>
                  <a:pt x="2027225" y="0"/>
                </a:lnTo>
                <a:lnTo>
                  <a:pt x="2046427" y="0"/>
                </a:lnTo>
                <a:lnTo>
                  <a:pt x="2065630" y="0"/>
                </a:lnTo>
                <a:lnTo>
                  <a:pt x="2084832" y="0"/>
                </a:lnTo>
                <a:lnTo>
                  <a:pt x="2104949" y="0"/>
                </a:lnTo>
                <a:lnTo>
                  <a:pt x="2124151" y="0"/>
                </a:lnTo>
                <a:lnTo>
                  <a:pt x="2143354" y="0"/>
                </a:lnTo>
                <a:lnTo>
                  <a:pt x="2163470" y="0"/>
                </a:lnTo>
                <a:lnTo>
                  <a:pt x="2182673" y="0"/>
                </a:lnTo>
                <a:lnTo>
                  <a:pt x="2201875" y="0"/>
                </a:lnTo>
                <a:lnTo>
                  <a:pt x="2221992" y="0"/>
                </a:lnTo>
                <a:lnTo>
                  <a:pt x="2241194" y="0"/>
                </a:lnTo>
                <a:lnTo>
                  <a:pt x="2260397" y="0"/>
                </a:lnTo>
                <a:lnTo>
                  <a:pt x="2280514" y="0"/>
                </a:lnTo>
                <a:lnTo>
                  <a:pt x="2299716" y="0"/>
                </a:lnTo>
                <a:lnTo>
                  <a:pt x="2318918" y="0"/>
                </a:lnTo>
                <a:lnTo>
                  <a:pt x="2339035" y="0"/>
                </a:lnTo>
                <a:lnTo>
                  <a:pt x="2358238" y="0"/>
                </a:lnTo>
                <a:lnTo>
                  <a:pt x="2377440" y="0"/>
                </a:lnTo>
                <a:lnTo>
                  <a:pt x="2396642" y="0"/>
                </a:lnTo>
                <a:lnTo>
                  <a:pt x="2416759" y="0"/>
                </a:lnTo>
                <a:lnTo>
                  <a:pt x="2435962" y="0"/>
                </a:lnTo>
                <a:lnTo>
                  <a:pt x="2455164" y="0"/>
                </a:lnTo>
                <a:lnTo>
                  <a:pt x="2475281" y="0"/>
                </a:lnTo>
                <a:lnTo>
                  <a:pt x="2494483" y="0"/>
                </a:lnTo>
                <a:lnTo>
                  <a:pt x="2513686" y="0"/>
                </a:lnTo>
                <a:lnTo>
                  <a:pt x="2533802" y="0"/>
                </a:lnTo>
                <a:lnTo>
                  <a:pt x="2553005" y="0"/>
                </a:lnTo>
                <a:lnTo>
                  <a:pt x="2572207" y="0"/>
                </a:lnTo>
                <a:lnTo>
                  <a:pt x="2592324" y="0"/>
                </a:lnTo>
                <a:lnTo>
                  <a:pt x="2611526" y="0"/>
                </a:lnTo>
                <a:lnTo>
                  <a:pt x="2630729" y="0"/>
                </a:lnTo>
                <a:lnTo>
                  <a:pt x="2650846" y="0"/>
                </a:lnTo>
                <a:lnTo>
                  <a:pt x="2670048" y="0"/>
                </a:lnTo>
                <a:lnTo>
                  <a:pt x="2689250" y="0"/>
                </a:lnTo>
                <a:lnTo>
                  <a:pt x="2708453" y="0"/>
                </a:lnTo>
                <a:lnTo>
                  <a:pt x="2728570" y="0"/>
                </a:lnTo>
                <a:lnTo>
                  <a:pt x="2747772" y="0"/>
                </a:lnTo>
                <a:lnTo>
                  <a:pt x="2766974" y="0"/>
                </a:lnTo>
                <a:lnTo>
                  <a:pt x="2787091" y="0"/>
                </a:lnTo>
                <a:lnTo>
                  <a:pt x="2806294" y="0"/>
                </a:lnTo>
                <a:lnTo>
                  <a:pt x="2825496" y="0"/>
                </a:lnTo>
                <a:lnTo>
                  <a:pt x="2845613" y="0"/>
                </a:lnTo>
                <a:lnTo>
                  <a:pt x="2864815" y="0"/>
                </a:lnTo>
                <a:lnTo>
                  <a:pt x="2884018" y="0"/>
                </a:lnTo>
                <a:lnTo>
                  <a:pt x="2904134" y="0"/>
                </a:lnTo>
                <a:lnTo>
                  <a:pt x="2923337" y="0"/>
                </a:lnTo>
                <a:lnTo>
                  <a:pt x="2942539" y="0"/>
                </a:lnTo>
                <a:lnTo>
                  <a:pt x="2962656" y="0"/>
                </a:lnTo>
                <a:lnTo>
                  <a:pt x="2981858" y="0"/>
                </a:lnTo>
                <a:lnTo>
                  <a:pt x="3001061" y="0"/>
                </a:lnTo>
                <a:lnTo>
                  <a:pt x="3020263" y="0"/>
                </a:lnTo>
                <a:lnTo>
                  <a:pt x="3040380" y="0"/>
                </a:lnTo>
                <a:lnTo>
                  <a:pt x="3059582" y="0"/>
                </a:lnTo>
                <a:lnTo>
                  <a:pt x="3078785" y="0"/>
                </a:lnTo>
                <a:lnTo>
                  <a:pt x="3098902" y="0"/>
                </a:lnTo>
                <a:lnTo>
                  <a:pt x="3118104" y="0"/>
                </a:lnTo>
              </a:path>
            </a:pathLst>
          </a:custGeom>
          <a:noFill/>
          <a:ln w="44450">
            <a:solidFill>
              <a:srgbClr val="00A8A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26280" y="2377440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フェンタニル</a:t>
            </a:r>
            <a:endParaRPr lang="ja-JP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526280" y="4268419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プロポフォール</a:t>
            </a:r>
            <a:endParaRPr lang="ja-JP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4526280" y="4709160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b="1" dirty="0">
                <a:solidFill>
                  <a:srgbClr val="00A8AA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レミフェンタニル</a:t>
            </a:r>
            <a:endParaRPr lang="ja-JP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1691640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半分になるまでの時間</a:t>
            </a:r>
            <a:endParaRPr lang="ja-JP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530352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持続投与した時間</a:t>
            </a:r>
            <a:endParaRPr lang="ja-JP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2034540"/>
            <a:ext cx="3474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•</a:t>
            </a:r>
            <a:endParaRPr lang="ja-JP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7525512" y="2034540"/>
            <a:ext cx="4160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止めてから濃度が半分になる</a:t>
            </a:r>
            <a:endParaRPr lang="ja-JP" sz="2200" dirty="0"/>
          </a:p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時間は、入れた時間で変わる</a:t>
            </a:r>
            <a:endParaRPr lang="ja-JP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7178040" y="3287268"/>
            <a:ext cx="3474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•</a:t>
            </a:r>
            <a:endParaRPr lang="ja-JP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7525512" y="3287268"/>
            <a:ext cx="4160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b="1" dirty="0">
                <a:solidFill>
                  <a:srgbClr val="00A8AA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レミフェンタニル</a:t>
            </a: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は</a:t>
            </a:r>
            <a:endParaRPr lang="ja-JP" sz="2200" dirty="0"/>
          </a:p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何時間入れても数分で切れる</a:t>
            </a:r>
            <a:endParaRPr lang="ja-JP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7178040" y="4539996"/>
            <a:ext cx="3474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•</a:t>
            </a:r>
            <a:endParaRPr lang="ja-JP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7525512" y="4539996"/>
            <a:ext cx="4160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フェンタニル</a:t>
            </a: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は長く</a:t>
            </a:r>
            <a:endParaRPr lang="ja-JP" sz="2200" dirty="0"/>
          </a:p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入れるほど、切れにくくなる</a:t>
            </a:r>
            <a:endParaRPr lang="ja-JP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320040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用量反応と相乗作用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1389888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77656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濃度</a:t>
            </a:r>
            <a:endParaRPr lang="ja-JP" sz="1100" dirty="0"/>
          </a:p>
        </p:txBody>
      </p:sp>
      <p:sp>
        <p:nvSpPr>
          <p:cNvPr id="5" name="Text 3"/>
          <p:cNvSpPr/>
          <p:nvPr/>
        </p:nvSpPr>
        <p:spPr>
          <a:xfrm>
            <a:off x="9354312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分布</a:t>
            </a:r>
            <a:endParaRPr lang="ja-JP" sz="1100" dirty="0"/>
          </a:p>
        </p:txBody>
      </p:sp>
      <p:sp>
        <p:nvSpPr>
          <p:cNvPr id="6" name="Text 4"/>
          <p:cNvSpPr/>
          <p:nvPr/>
        </p:nvSpPr>
        <p:spPr>
          <a:xfrm>
            <a:off x="10030968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消失</a:t>
            </a:r>
            <a:endParaRPr lang="ja-JP" sz="1100" dirty="0"/>
          </a:p>
        </p:txBody>
      </p:sp>
      <p:sp>
        <p:nvSpPr>
          <p:cNvPr id="7" name="Text 5"/>
          <p:cNvSpPr/>
          <p:nvPr/>
        </p:nvSpPr>
        <p:spPr>
          <a:xfrm>
            <a:off x="10707624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00A8A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持続</a:t>
            </a:r>
            <a:endParaRPr lang="ja-JP" sz="1100" dirty="0"/>
          </a:p>
        </p:txBody>
      </p:sp>
      <p:sp>
        <p:nvSpPr>
          <p:cNvPr id="8" name="Text 6"/>
          <p:cNvSpPr/>
          <p:nvPr/>
        </p:nvSpPr>
        <p:spPr>
          <a:xfrm>
            <a:off x="11384280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患者差</a:t>
            </a:r>
            <a:endParaRPr lang="ja-JP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5</a:t>
            </a:r>
            <a:endParaRPr lang="ja-JP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263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教科書的記述（薬力学） / Schnider TW, et al. Anesthesiology 1999;90:1502-1516</a:t>
            </a:r>
            <a:endParaRPr lang="ja-JP" sz="1600" dirty="0"/>
          </a:p>
        </p:txBody>
      </p:sp>
      <p:sp>
        <p:nvSpPr>
          <p:cNvPr id="11" name="Shape 9"/>
          <p:cNvSpPr/>
          <p:nvPr/>
        </p:nvSpPr>
        <p:spPr>
          <a:xfrm>
            <a:off x="1600200" y="4116629"/>
            <a:ext cx="4617720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1600200" y="3127248"/>
            <a:ext cx="4617720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2553005" y="3020263"/>
            <a:ext cx="3664915" cy="2195474"/>
          </a:xfrm>
          <a:custGeom>
            <a:avLst/>
            <a:gdLst/>
            <a:ahLst/>
            <a:cxnLst/>
            <a:rect l="l" t="t" r="r" b="b"/>
            <a:pathLst>
              <a:path w="3664915" h="2195474">
                <a:moveTo>
                  <a:pt x="0" y="2195474"/>
                </a:moveTo>
                <a:lnTo>
                  <a:pt x="30175" y="2195474"/>
                </a:lnTo>
                <a:lnTo>
                  <a:pt x="61265" y="2195474"/>
                </a:lnTo>
                <a:lnTo>
                  <a:pt x="91440" y="2195474"/>
                </a:lnTo>
                <a:lnTo>
                  <a:pt x="122530" y="2195474"/>
                </a:lnTo>
                <a:lnTo>
                  <a:pt x="152705" y="2195474"/>
                </a:lnTo>
                <a:lnTo>
                  <a:pt x="182880" y="2194560"/>
                </a:lnTo>
                <a:lnTo>
                  <a:pt x="213970" y="2194560"/>
                </a:lnTo>
                <a:lnTo>
                  <a:pt x="244145" y="2194560"/>
                </a:lnTo>
                <a:lnTo>
                  <a:pt x="275234" y="2194560"/>
                </a:lnTo>
                <a:lnTo>
                  <a:pt x="305410" y="2193646"/>
                </a:lnTo>
                <a:lnTo>
                  <a:pt x="335585" y="2193646"/>
                </a:lnTo>
                <a:lnTo>
                  <a:pt x="366674" y="2193646"/>
                </a:lnTo>
                <a:lnTo>
                  <a:pt x="396850" y="2192731"/>
                </a:lnTo>
                <a:lnTo>
                  <a:pt x="427939" y="2192731"/>
                </a:lnTo>
                <a:lnTo>
                  <a:pt x="458114" y="2191817"/>
                </a:lnTo>
                <a:lnTo>
                  <a:pt x="488290" y="2190902"/>
                </a:lnTo>
                <a:lnTo>
                  <a:pt x="519379" y="2190902"/>
                </a:lnTo>
                <a:lnTo>
                  <a:pt x="549554" y="2189988"/>
                </a:lnTo>
                <a:lnTo>
                  <a:pt x="580644" y="2189074"/>
                </a:lnTo>
                <a:lnTo>
                  <a:pt x="610819" y="2188159"/>
                </a:lnTo>
                <a:lnTo>
                  <a:pt x="640994" y="2187245"/>
                </a:lnTo>
                <a:lnTo>
                  <a:pt x="672084" y="2185416"/>
                </a:lnTo>
                <a:lnTo>
                  <a:pt x="702259" y="2184502"/>
                </a:lnTo>
                <a:lnTo>
                  <a:pt x="733349" y="2182673"/>
                </a:lnTo>
                <a:lnTo>
                  <a:pt x="763524" y="2180844"/>
                </a:lnTo>
                <a:lnTo>
                  <a:pt x="793699" y="2179015"/>
                </a:lnTo>
                <a:lnTo>
                  <a:pt x="824789" y="2177186"/>
                </a:lnTo>
                <a:lnTo>
                  <a:pt x="854964" y="2174443"/>
                </a:lnTo>
                <a:lnTo>
                  <a:pt x="886054" y="2171700"/>
                </a:lnTo>
                <a:lnTo>
                  <a:pt x="916229" y="2168957"/>
                </a:lnTo>
                <a:lnTo>
                  <a:pt x="946404" y="2165299"/>
                </a:lnTo>
                <a:lnTo>
                  <a:pt x="977494" y="2161642"/>
                </a:lnTo>
                <a:lnTo>
                  <a:pt x="1007669" y="2157070"/>
                </a:lnTo>
                <a:lnTo>
                  <a:pt x="1038758" y="2151583"/>
                </a:lnTo>
                <a:lnTo>
                  <a:pt x="1068934" y="2146097"/>
                </a:lnTo>
                <a:lnTo>
                  <a:pt x="1099109" y="2139696"/>
                </a:lnTo>
                <a:lnTo>
                  <a:pt x="1130198" y="2133295"/>
                </a:lnTo>
                <a:lnTo>
                  <a:pt x="1160374" y="2125066"/>
                </a:lnTo>
                <a:lnTo>
                  <a:pt x="1191463" y="2115922"/>
                </a:lnTo>
                <a:lnTo>
                  <a:pt x="1221638" y="2105863"/>
                </a:lnTo>
                <a:lnTo>
                  <a:pt x="1251814" y="2094890"/>
                </a:lnTo>
                <a:lnTo>
                  <a:pt x="1282903" y="2083003"/>
                </a:lnTo>
                <a:lnTo>
                  <a:pt x="1313078" y="2069287"/>
                </a:lnTo>
                <a:lnTo>
                  <a:pt x="1344168" y="2053742"/>
                </a:lnTo>
                <a:lnTo>
                  <a:pt x="1374343" y="2036369"/>
                </a:lnTo>
                <a:lnTo>
                  <a:pt x="1404518" y="2017166"/>
                </a:lnTo>
                <a:lnTo>
                  <a:pt x="1435608" y="1996135"/>
                </a:lnTo>
                <a:lnTo>
                  <a:pt x="1465783" y="1973275"/>
                </a:lnTo>
                <a:lnTo>
                  <a:pt x="1496873" y="1947672"/>
                </a:lnTo>
                <a:lnTo>
                  <a:pt x="1527048" y="1920240"/>
                </a:lnTo>
                <a:lnTo>
                  <a:pt x="1557223" y="1889150"/>
                </a:lnTo>
                <a:lnTo>
                  <a:pt x="1588313" y="1856232"/>
                </a:lnTo>
                <a:lnTo>
                  <a:pt x="1618488" y="1819656"/>
                </a:lnTo>
                <a:lnTo>
                  <a:pt x="1649578" y="1780337"/>
                </a:lnTo>
                <a:lnTo>
                  <a:pt x="1679753" y="1737360"/>
                </a:lnTo>
                <a:lnTo>
                  <a:pt x="1709928" y="1691640"/>
                </a:lnTo>
                <a:lnTo>
                  <a:pt x="1741018" y="1643177"/>
                </a:lnTo>
                <a:lnTo>
                  <a:pt x="1771193" y="1591970"/>
                </a:lnTo>
                <a:lnTo>
                  <a:pt x="1802282" y="1537106"/>
                </a:lnTo>
                <a:lnTo>
                  <a:pt x="1832458" y="1479499"/>
                </a:lnTo>
                <a:lnTo>
                  <a:pt x="1862633" y="1420063"/>
                </a:lnTo>
                <a:lnTo>
                  <a:pt x="1893722" y="1357884"/>
                </a:lnTo>
                <a:lnTo>
                  <a:pt x="1923898" y="1294790"/>
                </a:lnTo>
                <a:lnTo>
                  <a:pt x="1954987" y="1229868"/>
                </a:lnTo>
                <a:lnTo>
                  <a:pt x="1985162" y="1163117"/>
                </a:lnTo>
                <a:lnTo>
                  <a:pt x="2015338" y="1096366"/>
                </a:lnTo>
                <a:lnTo>
                  <a:pt x="2046427" y="1030529"/>
                </a:lnTo>
                <a:lnTo>
                  <a:pt x="2076602" y="963778"/>
                </a:lnTo>
                <a:lnTo>
                  <a:pt x="2107692" y="898855"/>
                </a:lnTo>
                <a:lnTo>
                  <a:pt x="2137867" y="835762"/>
                </a:lnTo>
                <a:lnTo>
                  <a:pt x="2168042" y="773582"/>
                </a:lnTo>
                <a:lnTo>
                  <a:pt x="2199132" y="714146"/>
                </a:lnTo>
                <a:lnTo>
                  <a:pt x="2229307" y="656539"/>
                </a:lnTo>
                <a:lnTo>
                  <a:pt x="2260397" y="601675"/>
                </a:lnTo>
                <a:lnTo>
                  <a:pt x="2290572" y="550469"/>
                </a:lnTo>
                <a:lnTo>
                  <a:pt x="2320747" y="502006"/>
                </a:lnTo>
                <a:lnTo>
                  <a:pt x="2351837" y="456286"/>
                </a:lnTo>
                <a:lnTo>
                  <a:pt x="2382012" y="413309"/>
                </a:lnTo>
                <a:lnTo>
                  <a:pt x="2413102" y="373990"/>
                </a:lnTo>
                <a:lnTo>
                  <a:pt x="2443277" y="337414"/>
                </a:lnTo>
                <a:lnTo>
                  <a:pt x="2473452" y="304495"/>
                </a:lnTo>
                <a:lnTo>
                  <a:pt x="2504542" y="273406"/>
                </a:lnTo>
                <a:lnTo>
                  <a:pt x="2534717" y="245974"/>
                </a:lnTo>
                <a:lnTo>
                  <a:pt x="2565806" y="220370"/>
                </a:lnTo>
                <a:lnTo>
                  <a:pt x="2595982" y="197510"/>
                </a:lnTo>
                <a:lnTo>
                  <a:pt x="2626157" y="176479"/>
                </a:lnTo>
                <a:lnTo>
                  <a:pt x="2657246" y="157277"/>
                </a:lnTo>
                <a:lnTo>
                  <a:pt x="2687422" y="139903"/>
                </a:lnTo>
                <a:lnTo>
                  <a:pt x="2718511" y="124358"/>
                </a:lnTo>
                <a:lnTo>
                  <a:pt x="2748686" y="110642"/>
                </a:lnTo>
                <a:lnTo>
                  <a:pt x="2778862" y="98755"/>
                </a:lnTo>
                <a:lnTo>
                  <a:pt x="2809951" y="87782"/>
                </a:lnTo>
                <a:lnTo>
                  <a:pt x="2840126" y="77724"/>
                </a:lnTo>
                <a:lnTo>
                  <a:pt x="2871216" y="68580"/>
                </a:lnTo>
                <a:lnTo>
                  <a:pt x="2901391" y="60350"/>
                </a:lnTo>
                <a:lnTo>
                  <a:pt x="2931566" y="53950"/>
                </a:lnTo>
                <a:lnTo>
                  <a:pt x="2962656" y="47549"/>
                </a:lnTo>
                <a:lnTo>
                  <a:pt x="2992831" y="42062"/>
                </a:lnTo>
                <a:lnTo>
                  <a:pt x="3023921" y="36576"/>
                </a:lnTo>
                <a:lnTo>
                  <a:pt x="3054096" y="32004"/>
                </a:lnTo>
                <a:lnTo>
                  <a:pt x="3084271" y="28346"/>
                </a:lnTo>
                <a:lnTo>
                  <a:pt x="3115361" y="24689"/>
                </a:lnTo>
                <a:lnTo>
                  <a:pt x="3145536" y="21946"/>
                </a:lnTo>
                <a:lnTo>
                  <a:pt x="3176626" y="19202"/>
                </a:lnTo>
                <a:lnTo>
                  <a:pt x="3206801" y="16459"/>
                </a:lnTo>
                <a:lnTo>
                  <a:pt x="3236976" y="14630"/>
                </a:lnTo>
                <a:lnTo>
                  <a:pt x="3268066" y="12802"/>
                </a:lnTo>
                <a:lnTo>
                  <a:pt x="3298241" y="10973"/>
                </a:lnTo>
                <a:lnTo>
                  <a:pt x="3329330" y="9144"/>
                </a:lnTo>
                <a:lnTo>
                  <a:pt x="3359506" y="8230"/>
                </a:lnTo>
                <a:lnTo>
                  <a:pt x="3389681" y="6401"/>
                </a:lnTo>
                <a:lnTo>
                  <a:pt x="3420770" y="5486"/>
                </a:lnTo>
                <a:lnTo>
                  <a:pt x="3450946" y="4572"/>
                </a:lnTo>
                <a:lnTo>
                  <a:pt x="3482035" y="3658"/>
                </a:lnTo>
                <a:lnTo>
                  <a:pt x="3512210" y="2743"/>
                </a:lnTo>
                <a:lnTo>
                  <a:pt x="3542386" y="2743"/>
                </a:lnTo>
                <a:lnTo>
                  <a:pt x="3573475" y="1829"/>
                </a:lnTo>
                <a:lnTo>
                  <a:pt x="3603650" y="914"/>
                </a:lnTo>
                <a:lnTo>
                  <a:pt x="3634740" y="914"/>
                </a:lnTo>
                <a:lnTo>
                  <a:pt x="3664915" y="0"/>
                </a:lnTo>
              </a:path>
            </a:pathLst>
          </a:custGeom>
          <a:noFill/>
          <a:ln w="44450">
            <a:solidFill>
              <a:srgbClr val="0072B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36776" y="3018434"/>
            <a:ext cx="3664915" cy="2195474"/>
          </a:xfrm>
          <a:custGeom>
            <a:avLst/>
            <a:gdLst/>
            <a:ahLst/>
            <a:cxnLst/>
            <a:rect l="l" t="t" r="r" b="b"/>
            <a:pathLst>
              <a:path w="3664915" h="2195474">
                <a:moveTo>
                  <a:pt x="0" y="2195474"/>
                </a:moveTo>
                <a:lnTo>
                  <a:pt x="30175" y="2194560"/>
                </a:lnTo>
                <a:lnTo>
                  <a:pt x="61265" y="2194560"/>
                </a:lnTo>
                <a:lnTo>
                  <a:pt x="91440" y="2193646"/>
                </a:lnTo>
                <a:lnTo>
                  <a:pt x="122530" y="2192731"/>
                </a:lnTo>
                <a:lnTo>
                  <a:pt x="152705" y="2192731"/>
                </a:lnTo>
                <a:lnTo>
                  <a:pt x="182880" y="2191817"/>
                </a:lnTo>
                <a:lnTo>
                  <a:pt x="213970" y="2190902"/>
                </a:lnTo>
                <a:lnTo>
                  <a:pt x="244145" y="2189988"/>
                </a:lnTo>
                <a:lnTo>
                  <a:pt x="275234" y="2189074"/>
                </a:lnTo>
                <a:lnTo>
                  <a:pt x="305410" y="2187245"/>
                </a:lnTo>
                <a:lnTo>
                  <a:pt x="335585" y="2186330"/>
                </a:lnTo>
                <a:lnTo>
                  <a:pt x="366674" y="2184502"/>
                </a:lnTo>
                <a:lnTo>
                  <a:pt x="396850" y="2182673"/>
                </a:lnTo>
                <a:lnTo>
                  <a:pt x="427939" y="2180844"/>
                </a:lnTo>
                <a:lnTo>
                  <a:pt x="458114" y="2179015"/>
                </a:lnTo>
                <a:lnTo>
                  <a:pt x="488290" y="2176272"/>
                </a:lnTo>
                <a:lnTo>
                  <a:pt x="519379" y="2173529"/>
                </a:lnTo>
                <a:lnTo>
                  <a:pt x="549554" y="2170786"/>
                </a:lnTo>
                <a:lnTo>
                  <a:pt x="580644" y="2167128"/>
                </a:lnTo>
                <a:lnTo>
                  <a:pt x="610819" y="2163470"/>
                </a:lnTo>
                <a:lnTo>
                  <a:pt x="640994" y="2158898"/>
                </a:lnTo>
                <a:lnTo>
                  <a:pt x="672084" y="2153412"/>
                </a:lnTo>
                <a:lnTo>
                  <a:pt x="702259" y="2147926"/>
                </a:lnTo>
                <a:lnTo>
                  <a:pt x="733349" y="2141525"/>
                </a:lnTo>
                <a:lnTo>
                  <a:pt x="763524" y="2135124"/>
                </a:lnTo>
                <a:lnTo>
                  <a:pt x="793699" y="2126894"/>
                </a:lnTo>
                <a:lnTo>
                  <a:pt x="824789" y="2117750"/>
                </a:lnTo>
                <a:lnTo>
                  <a:pt x="854964" y="2107692"/>
                </a:lnTo>
                <a:lnTo>
                  <a:pt x="886054" y="2096719"/>
                </a:lnTo>
                <a:lnTo>
                  <a:pt x="916229" y="2084832"/>
                </a:lnTo>
                <a:lnTo>
                  <a:pt x="946404" y="2071116"/>
                </a:lnTo>
                <a:lnTo>
                  <a:pt x="977494" y="2055571"/>
                </a:lnTo>
                <a:lnTo>
                  <a:pt x="1007669" y="2038198"/>
                </a:lnTo>
                <a:lnTo>
                  <a:pt x="1038758" y="2018995"/>
                </a:lnTo>
                <a:lnTo>
                  <a:pt x="1068934" y="1997964"/>
                </a:lnTo>
                <a:lnTo>
                  <a:pt x="1099109" y="1975104"/>
                </a:lnTo>
                <a:lnTo>
                  <a:pt x="1130198" y="1949501"/>
                </a:lnTo>
                <a:lnTo>
                  <a:pt x="1160374" y="1922069"/>
                </a:lnTo>
                <a:lnTo>
                  <a:pt x="1191463" y="1890979"/>
                </a:lnTo>
                <a:lnTo>
                  <a:pt x="1221638" y="1858061"/>
                </a:lnTo>
                <a:lnTo>
                  <a:pt x="1251814" y="1821485"/>
                </a:lnTo>
                <a:lnTo>
                  <a:pt x="1282903" y="1782166"/>
                </a:lnTo>
                <a:lnTo>
                  <a:pt x="1313078" y="1739189"/>
                </a:lnTo>
                <a:lnTo>
                  <a:pt x="1344168" y="1693469"/>
                </a:lnTo>
                <a:lnTo>
                  <a:pt x="1374343" y="1645006"/>
                </a:lnTo>
                <a:lnTo>
                  <a:pt x="1404518" y="1593799"/>
                </a:lnTo>
                <a:lnTo>
                  <a:pt x="1435608" y="1538935"/>
                </a:lnTo>
                <a:lnTo>
                  <a:pt x="1465783" y="1481328"/>
                </a:lnTo>
                <a:lnTo>
                  <a:pt x="1496873" y="1421892"/>
                </a:lnTo>
                <a:lnTo>
                  <a:pt x="1527048" y="1359713"/>
                </a:lnTo>
                <a:lnTo>
                  <a:pt x="1557223" y="1296619"/>
                </a:lnTo>
                <a:lnTo>
                  <a:pt x="1588313" y="1231697"/>
                </a:lnTo>
                <a:lnTo>
                  <a:pt x="1618488" y="1164946"/>
                </a:lnTo>
                <a:lnTo>
                  <a:pt x="1649578" y="1098194"/>
                </a:lnTo>
                <a:lnTo>
                  <a:pt x="1679753" y="1032358"/>
                </a:lnTo>
                <a:lnTo>
                  <a:pt x="1709928" y="965606"/>
                </a:lnTo>
                <a:lnTo>
                  <a:pt x="1741018" y="900684"/>
                </a:lnTo>
                <a:lnTo>
                  <a:pt x="1771193" y="837590"/>
                </a:lnTo>
                <a:lnTo>
                  <a:pt x="1802282" y="775411"/>
                </a:lnTo>
                <a:lnTo>
                  <a:pt x="1832458" y="715975"/>
                </a:lnTo>
                <a:lnTo>
                  <a:pt x="1862633" y="658368"/>
                </a:lnTo>
                <a:lnTo>
                  <a:pt x="1893722" y="603504"/>
                </a:lnTo>
                <a:lnTo>
                  <a:pt x="1923898" y="552298"/>
                </a:lnTo>
                <a:lnTo>
                  <a:pt x="1954987" y="503834"/>
                </a:lnTo>
                <a:lnTo>
                  <a:pt x="1985162" y="458114"/>
                </a:lnTo>
                <a:lnTo>
                  <a:pt x="2015338" y="415138"/>
                </a:lnTo>
                <a:lnTo>
                  <a:pt x="2046427" y="375818"/>
                </a:lnTo>
                <a:lnTo>
                  <a:pt x="2076602" y="339242"/>
                </a:lnTo>
                <a:lnTo>
                  <a:pt x="2107692" y="306324"/>
                </a:lnTo>
                <a:lnTo>
                  <a:pt x="2137867" y="275234"/>
                </a:lnTo>
                <a:lnTo>
                  <a:pt x="2168042" y="247802"/>
                </a:lnTo>
                <a:lnTo>
                  <a:pt x="2199132" y="222199"/>
                </a:lnTo>
                <a:lnTo>
                  <a:pt x="2229307" y="199339"/>
                </a:lnTo>
                <a:lnTo>
                  <a:pt x="2260397" y="178308"/>
                </a:lnTo>
                <a:lnTo>
                  <a:pt x="2290572" y="159106"/>
                </a:lnTo>
                <a:lnTo>
                  <a:pt x="2320747" y="141732"/>
                </a:lnTo>
                <a:lnTo>
                  <a:pt x="2351837" y="126187"/>
                </a:lnTo>
                <a:lnTo>
                  <a:pt x="2382012" y="112471"/>
                </a:lnTo>
                <a:lnTo>
                  <a:pt x="2413102" y="100584"/>
                </a:lnTo>
                <a:lnTo>
                  <a:pt x="2443277" y="89611"/>
                </a:lnTo>
                <a:lnTo>
                  <a:pt x="2473452" y="79553"/>
                </a:lnTo>
                <a:lnTo>
                  <a:pt x="2504542" y="70409"/>
                </a:lnTo>
                <a:lnTo>
                  <a:pt x="2534717" y="62179"/>
                </a:lnTo>
                <a:lnTo>
                  <a:pt x="2565806" y="55778"/>
                </a:lnTo>
                <a:lnTo>
                  <a:pt x="2595982" y="49378"/>
                </a:lnTo>
                <a:lnTo>
                  <a:pt x="2626157" y="43891"/>
                </a:lnTo>
                <a:lnTo>
                  <a:pt x="2657246" y="38405"/>
                </a:lnTo>
                <a:lnTo>
                  <a:pt x="2687422" y="33833"/>
                </a:lnTo>
                <a:lnTo>
                  <a:pt x="2718511" y="30175"/>
                </a:lnTo>
                <a:lnTo>
                  <a:pt x="2748686" y="26518"/>
                </a:lnTo>
                <a:lnTo>
                  <a:pt x="2778862" y="23774"/>
                </a:lnTo>
                <a:lnTo>
                  <a:pt x="2809951" y="21031"/>
                </a:lnTo>
                <a:lnTo>
                  <a:pt x="2840126" y="18288"/>
                </a:lnTo>
                <a:lnTo>
                  <a:pt x="2871216" y="16459"/>
                </a:lnTo>
                <a:lnTo>
                  <a:pt x="2901391" y="14630"/>
                </a:lnTo>
                <a:lnTo>
                  <a:pt x="2931566" y="12802"/>
                </a:lnTo>
                <a:lnTo>
                  <a:pt x="2962656" y="10973"/>
                </a:lnTo>
                <a:lnTo>
                  <a:pt x="2992831" y="10058"/>
                </a:lnTo>
                <a:lnTo>
                  <a:pt x="3023921" y="8230"/>
                </a:lnTo>
                <a:lnTo>
                  <a:pt x="3054096" y="7315"/>
                </a:lnTo>
                <a:lnTo>
                  <a:pt x="3084271" y="6401"/>
                </a:lnTo>
                <a:lnTo>
                  <a:pt x="3115361" y="5486"/>
                </a:lnTo>
                <a:lnTo>
                  <a:pt x="3145536" y="4572"/>
                </a:lnTo>
                <a:lnTo>
                  <a:pt x="3176626" y="4572"/>
                </a:lnTo>
                <a:lnTo>
                  <a:pt x="3206801" y="3658"/>
                </a:lnTo>
                <a:lnTo>
                  <a:pt x="3236976" y="2743"/>
                </a:lnTo>
                <a:lnTo>
                  <a:pt x="3268066" y="2743"/>
                </a:lnTo>
                <a:lnTo>
                  <a:pt x="3298241" y="1829"/>
                </a:lnTo>
                <a:lnTo>
                  <a:pt x="3329330" y="1829"/>
                </a:lnTo>
                <a:lnTo>
                  <a:pt x="3359506" y="1829"/>
                </a:lnTo>
                <a:lnTo>
                  <a:pt x="3389681" y="914"/>
                </a:lnTo>
                <a:lnTo>
                  <a:pt x="3420770" y="914"/>
                </a:lnTo>
                <a:lnTo>
                  <a:pt x="3450946" y="914"/>
                </a:lnTo>
                <a:lnTo>
                  <a:pt x="3482035" y="914"/>
                </a:lnTo>
                <a:lnTo>
                  <a:pt x="3512210" y="0"/>
                </a:lnTo>
                <a:lnTo>
                  <a:pt x="3542386" y="0"/>
                </a:lnTo>
                <a:lnTo>
                  <a:pt x="3573475" y="0"/>
                </a:lnTo>
                <a:lnTo>
                  <a:pt x="3603650" y="0"/>
                </a:lnTo>
                <a:lnTo>
                  <a:pt x="3634740" y="0"/>
                </a:lnTo>
                <a:lnTo>
                  <a:pt x="3664915" y="0"/>
                </a:lnTo>
              </a:path>
            </a:pathLst>
          </a:custGeom>
          <a:noFill/>
          <a:ln w="44450">
            <a:solidFill>
              <a:srgbClr val="D55E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2845613"/>
            <a:ext cx="9144" cy="2412187"/>
          </a:xfrm>
          <a:custGeom>
            <a:avLst/>
            <a:gdLst/>
            <a:ahLst/>
            <a:cxnLst/>
            <a:rect l="l" t="t" r="r" b="b"/>
            <a:pathLst>
              <a:path w="9144" h="2412187">
                <a:moveTo>
                  <a:pt x="0" y="2412187"/>
                </a:moveTo>
                <a:lnTo>
                  <a:pt x="0" y="0"/>
                </a:lnTo>
              </a:path>
            </a:pathLst>
          </a:custGeom>
          <a:noFill/>
          <a:ln w="25400">
            <a:solidFill>
              <a:srgbClr val="7F7F7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27048" y="2743200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146304" h="146304">
                <a:moveTo>
                  <a:pt x="73152" y="0"/>
                </a:moveTo>
                <a:lnTo>
                  <a:pt x="146304" y="146304"/>
                </a:lnTo>
                <a:lnTo>
                  <a:pt x="0" y="146304"/>
                </a:lnTo>
                <a:close/>
              </a:path>
            </a:pathLst>
          </a:custGeom>
          <a:solidFill>
            <a:srgbClr val="7F7F7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00200" y="5257800"/>
            <a:ext cx="4698187" cy="9144"/>
          </a:xfrm>
          <a:custGeom>
            <a:avLst/>
            <a:gdLst/>
            <a:ahLst/>
            <a:cxnLst/>
            <a:rect l="l" t="t" r="r" b="b"/>
            <a:pathLst>
              <a:path w="4698187" h="9144">
                <a:moveTo>
                  <a:pt x="0" y="0"/>
                </a:moveTo>
                <a:lnTo>
                  <a:pt x="4698187" y="0"/>
                </a:lnTo>
              </a:path>
            </a:pathLst>
          </a:custGeom>
          <a:noFill/>
          <a:ln w="25400">
            <a:solidFill>
              <a:srgbClr val="7F7F7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5184648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146304" h="146304">
                <a:moveTo>
                  <a:pt x="146304" y="73152"/>
                </a:moveTo>
                <a:lnTo>
                  <a:pt x="0" y="146304"/>
                </a:lnTo>
                <a:lnTo>
                  <a:pt x="0" y="0"/>
                </a:lnTo>
                <a:close/>
              </a:path>
            </a:pathLst>
          </a:custGeom>
          <a:solidFill>
            <a:srgbClr val="7F7F7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74354" y="4666869"/>
            <a:ext cx="880384" cy="9144"/>
          </a:xfrm>
          <a:custGeom>
            <a:avLst/>
            <a:gdLst/>
            <a:ahLst/>
            <a:cxnLst/>
            <a:rect l="l" t="t" r="r" b="b"/>
            <a:pathLst>
              <a:path w="880384" h="9144">
                <a:moveTo>
                  <a:pt x="880567" y="0"/>
                </a:moveTo>
                <a:lnTo>
                  <a:pt x="0" y="0"/>
                </a:lnTo>
              </a:path>
            </a:pathLst>
          </a:custGeom>
          <a:noFill/>
          <a:ln w="38100">
            <a:solidFill>
              <a:srgbClr val="D55E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46338" y="4566285"/>
            <a:ext cx="182880" cy="201168"/>
          </a:xfrm>
          <a:custGeom>
            <a:avLst/>
            <a:gdLst/>
            <a:ahLst/>
            <a:cxnLst/>
            <a:rect l="l" t="t" r="r" b="b"/>
            <a:pathLst>
              <a:path w="182880" h="201168">
                <a:moveTo>
                  <a:pt x="0" y="100584"/>
                </a:moveTo>
                <a:lnTo>
                  <a:pt x="182880" y="0"/>
                </a:lnTo>
                <a:lnTo>
                  <a:pt x="182880" y="201168"/>
                </a:lnTo>
                <a:close/>
              </a:path>
            </a:pathLst>
          </a:custGeom>
          <a:solidFill>
            <a:srgbClr val="D55E00"/>
          </a:solidFill>
          <a:ln w="9525">
            <a:solidFill>
              <a:srgbClr val="D55E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4632" y="2916936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22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ED95</a:t>
            </a:r>
            <a:endParaRPr lang="ja-JP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" y="3906317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22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ED50</a:t>
            </a:r>
            <a:endParaRPr lang="ja-JP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178308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効く人の割合</a:t>
            </a:r>
            <a:endParaRPr lang="ja-JP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5303520" y="53949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用量</a:t>
            </a:r>
            <a:endParaRPr lang="ja-JP" sz="2200" dirty="0"/>
          </a:p>
        </p:txBody>
      </p:sp>
      <p:sp>
        <p:nvSpPr>
          <p:cNvPr id="25" name="Shape 23"/>
          <p:cNvSpPr/>
          <p:nvPr/>
        </p:nvSpPr>
        <p:spPr>
          <a:xfrm>
            <a:off x="3657600" y="1993392"/>
            <a:ext cx="502920" cy="9144"/>
          </a:xfrm>
          <a:custGeom>
            <a:avLst/>
            <a:gdLst/>
            <a:ahLst/>
            <a:cxnLst/>
            <a:rect l="l" t="t" r="r" b="b"/>
            <a:pathLst>
              <a:path w="502920" h="9144">
                <a:moveTo>
                  <a:pt x="0" y="0"/>
                </a:moveTo>
                <a:lnTo>
                  <a:pt x="502920" y="0"/>
                </a:lnTo>
              </a:path>
            </a:pathLst>
          </a:custGeom>
          <a:noFill/>
          <a:ln w="44450">
            <a:solidFill>
              <a:srgbClr val="0072B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297680" y="178308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鎮静薬だけ</a:t>
            </a:r>
            <a:endParaRPr lang="ja-JP" sz="2200" dirty="0"/>
          </a:p>
        </p:txBody>
      </p:sp>
      <p:sp>
        <p:nvSpPr>
          <p:cNvPr id="27" name="Shape 25"/>
          <p:cNvSpPr/>
          <p:nvPr/>
        </p:nvSpPr>
        <p:spPr>
          <a:xfrm>
            <a:off x="3657600" y="2523744"/>
            <a:ext cx="502920" cy="9144"/>
          </a:xfrm>
          <a:custGeom>
            <a:avLst/>
            <a:gdLst/>
            <a:ahLst/>
            <a:cxnLst/>
            <a:rect l="l" t="t" r="r" b="b"/>
            <a:pathLst>
              <a:path w="502920" h="9144">
                <a:moveTo>
                  <a:pt x="0" y="0"/>
                </a:moveTo>
                <a:lnTo>
                  <a:pt x="502920" y="0"/>
                </a:lnTo>
              </a:path>
            </a:pathLst>
          </a:custGeom>
          <a:noFill/>
          <a:ln w="44450">
            <a:solidFill>
              <a:srgbClr val="D55E0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297680" y="231343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オピオイド併用</a:t>
            </a:r>
            <a:endParaRPr lang="ja-JP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6812280" y="2016252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•</a:t>
            </a:r>
            <a:endParaRPr lang="ja-JP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7196328" y="2016252"/>
            <a:ext cx="4489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ED50・ED95 は集団の値。</a:t>
            </a:r>
            <a:endParaRPr lang="ja-JP" sz="2400" dirty="0"/>
          </a:p>
          <a:p>
            <a:pPr algn="l" indent="0" marL="0"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個人差は大きい</a:t>
            </a:r>
            <a:endParaRPr lang="ja-JP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6812280" y="3342132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•</a:t>
            </a:r>
            <a:endParaRPr lang="ja-JP" sz="2400" dirty="0"/>
          </a:p>
        </p:txBody>
      </p:sp>
      <p:sp>
        <p:nvSpPr>
          <p:cNvPr id="32" name="Text 30"/>
          <p:cNvSpPr txBox="1"/>
          <p:nvPr/>
        </p:nvSpPr>
        <p:spPr>
          <a:xfrm>
            <a:off x="7196328" y="3342132"/>
            <a:ext cx="4489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鎮静薬とオピオイドは</a:t>
            </a:r>
            <a:r>
              <a:rPr lang="ja-JP" altLang="en-US" sz="24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相乗</a:t>
            </a: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：</a:t>
            </a:r>
            <a:endParaRPr lang="ja-JP" sz="2400" dirty="0"/>
          </a:p>
          <a:p>
            <a:pPr algn="l" indent="0" marL="0"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併用で必要量が減る</a:t>
            </a:r>
            <a:endParaRPr lang="ja-JP" sz="2400" dirty="0"/>
          </a:p>
        </p:txBody>
      </p:sp>
      <p:sp>
        <p:nvSpPr>
          <p:cNvPr id="33" name="Text 31"/>
          <p:cNvSpPr txBox="1"/>
          <p:nvPr/>
        </p:nvSpPr>
        <p:spPr>
          <a:xfrm>
            <a:off x="6812280" y="4668012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•</a:t>
            </a:r>
            <a:endParaRPr lang="ja-JP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7196328" y="4668012"/>
            <a:ext cx="4489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効き目は反応で見る：</a:t>
            </a:r>
            <a:endParaRPr lang="ja-JP" sz="2400" dirty="0"/>
          </a:p>
          <a:p>
            <a:pPr algn="l" indent="0" marL="0"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脳波、血圧、TOF</a:t>
            </a:r>
            <a:endParaRPr lang="ja-JP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320040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患者による違い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1389888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77656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濃度</a:t>
            </a:r>
            <a:endParaRPr lang="ja-JP" sz="1100" dirty="0"/>
          </a:p>
        </p:txBody>
      </p:sp>
      <p:sp>
        <p:nvSpPr>
          <p:cNvPr id="5" name="Text 3"/>
          <p:cNvSpPr/>
          <p:nvPr/>
        </p:nvSpPr>
        <p:spPr>
          <a:xfrm>
            <a:off x="9354312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分布</a:t>
            </a:r>
            <a:endParaRPr lang="ja-JP" sz="1100" dirty="0"/>
          </a:p>
        </p:txBody>
      </p:sp>
      <p:sp>
        <p:nvSpPr>
          <p:cNvPr id="6" name="Text 4"/>
          <p:cNvSpPr/>
          <p:nvPr/>
        </p:nvSpPr>
        <p:spPr>
          <a:xfrm>
            <a:off x="10030968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消失</a:t>
            </a:r>
            <a:endParaRPr lang="ja-JP" sz="1100" dirty="0"/>
          </a:p>
        </p:txBody>
      </p:sp>
      <p:sp>
        <p:nvSpPr>
          <p:cNvPr id="7" name="Text 5"/>
          <p:cNvSpPr/>
          <p:nvPr/>
        </p:nvSpPr>
        <p:spPr>
          <a:xfrm>
            <a:off x="10707624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持続</a:t>
            </a:r>
            <a:endParaRPr lang="ja-JP" sz="1100" dirty="0"/>
          </a:p>
        </p:txBody>
      </p:sp>
      <p:sp>
        <p:nvSpPr>
          <p:cNvPr id="8" name="Text 6"/>
          <p:cNvSpPr/>
          <p:nvPr/>
        </p:nvSpPr>
        <p:spPr>
          <a:xfrm>
            <a:off x="11384280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00A8A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患者差</a:t>
            </a:r>
            <a:endParaRPr lang="ja-JP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6</a:t>
            </a:r>
            <a:endParaRPr lang="ja-JP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59436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日本麻酔科学会「麻酔薬および麻酔関連薬使用ガイドライン 第4版」（2025）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Panhuizen et al. Br J Anaesth 2015;114:777-784 / Morse et al. J Clin Med 2022;11:3009</a:t>
            </a:r>
            <a:endParaRPr lang="ja-JP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8311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349240"/>
                <a:gridCol w="34564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2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患者</a:t>
                      </a:r>
                      <a:endParaRPr lang="en-US" sz="22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2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何が変わるか</a:t>
                      </a:r>
                      <a:endParaRPr lang="en-US" sz="22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2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どうするか</a:t>
                      </a:r>
                      <a:endParaRPr lang="en-US" sz="22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2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高齢者</a:t>
                      </a:r>
                      <a:endParaRPr lang="en-US" sz="22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200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感受性↑、分布と代謝↓</a:t>
                      </a:r>
                      <a:endParaRPr lang="en-US" sz="22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200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減らして、ゆっくり</a:t>
                      </a:r>
                      <a:endParaRPr lang="en-US" sz="22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2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肥満</a:t>
                      </a:r>
                      <a:endParaRPr lang="en-US" sz="22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200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脂溶性の薬の分布容積↑</a:t>
                      </a:r>
                      <a:endParaRPr lang="en-US" sz="22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200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体重の使い分け（次）</a:t>
                      </a:r>
                      <a:endParaRPr lang="en-US" sz="22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2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腎機能低下</a:t>
                      </a:r>
                      <a:endParaRPr lang="en-US" sz="22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200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活性代謝物が蓄積</a:t>
                      </a:r>
                      <a:endParaRPr lang="en-US" sz="22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200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モルヒネを避ける</a:t>
                      </a:r>
                      <a:endParaRPr lang="en-US" sz="22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2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肝機能低下</a:t>
                      </a:r>
                      <a:endParaRPr lang="en-US" sz="22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200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肝で処理される薬が遅れる</a:t>
                      </a:r>
                      <a:endParaRPr lang="en-US" sz="22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200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ミダゾラム・</a:t>
                      </a:r>
                      <a:endParaRPr lang="en-US" sz="22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ja-JP" altLang="en-US" sz="2200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ロクロニウム遷延</a:t>
                      </a:r>
                      <a:endParaRPr lang="en-US" sz="22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2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循環不全・出血</a:t>
                      </a:r>
                      <a:endParaRPr lang="en-US" sz="22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200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効果部位に届くのが遅く、強く効く</a:t>
                      </a:r>
                      <a:endParaRPr lang="en-US" sz="22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200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少量から、待って追加</a:t>
                      </a:r>
                      <a:endParaRPr lang="en-US" sz="22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2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小児（乳幼児）</a:t>
                      </a:r>
                      <a:endParaRPr lang="en-US" sz="22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200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分布容積大、代謝が速い</a:t>
                      </a:r>
                      <a:endParaRPr lang="en-US" sz="22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ja-JP" altLang="en-US" sz="2200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（新生児は未熟で遅い）</a:t>
                      </a:r>
                      <a:endParaRPr lang="en-US" sz="22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200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mg/kg は多め、</a:t>
                      </a:r>
                      <a:endParaRPr lang="en-US" sz="22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ja-JP" altLang="en-US" sz="2200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間隔は短め</a:t>
                      </a:r>
                      <a:endParaRPr lang="en-US" sz="22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320040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体重の使い分け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1389888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77656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濃度</a:t>
            </a:r>
            <a:endParaRPr lang="ja-JP" sz="1100" dirty="0"/>
          </a:p>
        </p:txBody>
      </p:sp>
      <p:sp>
        <p:nvSpPr>
          <p:cNvPr id="5" name="Text 3"/>
          <p:cNvSpPr/>
          <p:nvPr/>
        </p:nvSpPr>
        <p:spPr>
          <a:xfrm>
            <a:off x="9354312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分布</a:t>
            </a:r>
            <a:endParaRPr lang="ja-JP" sz="1100" dirty="0"/>
          </a:p>
        </p:txBody>
      </p:sp>
      <p:sp>
        <p:nvSpPr>
          <p:cNvPr id="6" name="Text 4"/>
          <p:cNvSpPr/>
          <p:nvPr/>
        </p:nvSpPr>
        <p:spPr>
          <a:xfrm>
            <a:off x="10030968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消失</a:t>
            </a:r>
            <a:endParaRPr lang="ja-JP" sz="1100" dirty="0"/>
          </a:p>
        </p:txBody>
      </p:sp>
      <p:sp>
        <p:nvSpPr>
          <p:cNvPr id="7" name="Text 5"/>
          <p:cNvSpPr/>
          <p:nvPr/>
        </p:nvSpPr>
        <p:spPr>
          <a:xfrm>
            <a:off x="10707624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持続</a:t>
            </a:r>
            <a:endParaRPr lang="ja-JP" sz="1100" dirty="0"/>
          </a:p>
        </p:txBody>
      </p:sp>
      <p:sp>
        <p:nvSpPr>
          <p:cNvPr id="8" name="Text 6"/>
          <p:cNvSpPr/>
          <p:nvPr/>
        </p:nvSpPr>
        <p:spPr>
          <a:xfrm>
            <a:off x="11384280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00A8A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患者差</a:t>
            </a:r>
            <a:endParaRPr lang="ja-JP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7</a:t>
            </a:r>
            <a:endParaRPr lang="ja-JP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59436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日本麻酔科学会「麻酔薬および麻酔関連薬使用ガイドライン 第4版」（2025） / 各薬剤の添付文書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Horrow et al. BMC Anesthesiol 2021;21:62 / Ingrande et al. Anesth Analg 2011;113:57-62</a:t>
            </a:r>
            <a:endParaRPr lang="ja-JP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8311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97687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体重の種類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使う場面の例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総体重（実体重）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スガマデクス、プロポフォール維持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理想体重（身長から）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ロクロニウム、局所麻酔薬の最大用量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除脂肪体重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プロポフォール導入、レミフェンタニル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補正体重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ja-JP" altLang="en-US" sz="24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（理想＋超過分の一部）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施設の方式に従う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02920" y="5276088"/>
            <a:ext cx="11183112" cy="594360"/>
          </a:xfrm>
          <a:prstGeom prst="roundRect">
            <a:avLst>
              <a:gd name="adj" fmla="val 12308"/>
            </a:avLst>
          </a:prstGeom>
          <a:solidFill>
            <a:srgbClr val="F2F2F2"/>
          </a:solidFill>
          <a:ln/>
        </p:spPr>
        <p:txBody>
          <a:bodyPr wrap="square" lIns="182880" tIns="182880" rIns="182880" bIns="182880" rtlCol="0" anchor="ctr"/>
          <a:lstStyle/>
          <a:p>
            <a:pPr algn="l" indent="0" marL="0"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どの体重を使うかは薬と施設の方式で決まる。迷ったら指導医に</a:t>
            </a:r>
            <a:endParaRPr lang="ja-JP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320040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現場での使い方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1389888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77656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濃度</a:t>
            </a:r>
            <a:endParaRPr lang="ja-JP" sz="1100" dirty="0"/>
          </a:p>
        </p:txBody>
      </p:sp>
      <p:sp>
        <p:nvSpPr>
          <p:cNvPr id="5" name="Text 3"/>
          <p:cNvSpPr/>
          <p:nvPr/>
        </p:nvSpPr>
        <p:spPr>
          <a:xfrm>
            <a:off x="9354312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分布</a:t>
            </a:r>
            <a:endParaRPr lang="ja-JP" sz="1100" dirty="0"/>
          </a:p>
        </p:txBody>
      </p:sp>
      <p:sp>
        <p:nvSpPr>
          <p:cNvPr id="6" name="Text 4"/>
          <p:cNvSpPr/>
          <p:nvPr/>
        </p:nvSpPr>
        <p:spPr>
          <a:xfrm>
            <a:off x="10030968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消失</a:t>
            </a:r>
            <a:endParaRPr lang="ja-JP" sz="1100" dirty="0"/>
          </a:p>
        </p:txBody>
      </p:sp>
      <p:sp>
        <p:nvSpPr>
          <p:cNvPr id="7" name="Text 5"/>
          <p:cNvSpPr/>
          <p:nvPr/>
        </p:nvSpPr>
        <p:spPr>
          <a:xfrm>
            <a:off x="10707624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持続</a:t>
            </a:r>
            <a:endParaRPr lang="ja-JP" sz="1100" dirty="0"/>
          </a:p>
        </p:txBody>
      </p:sp>
      <p:sp>
        <p:nvSpPr>
          <p:cNvPr id="8" name="Text 6"/>
          <p:cNvSpPr/>
          <p:nvPr/>
        </p:nvSpPr>
        <p:spPr>
          <a:xfrm>
            <a:off x="11384280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00A8A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患者差</a:t>
            </a:r>
            <a:endParaRPr lang="ja-JP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8</a:t>
            </a:r>
            <a:endParaRPr lang="ja-JP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59436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Schnider TW, et al. Anesthesiology 1999;90:1502-1516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Johnson KB, et al. Anesthesiology 2003;99:409-420</a:t>
            </a:r>
            <a:endParaRPr lang="ja-JP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1810512"/>
            <a:ext cx="11155680" cy="3941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406400" indent="-406400">
              <a:spcAft>
                <a:spcPts val="2400"/>
              </a:spcAft>
              <a:buSzPct val="100000"/>
              <a:buChar char="•"/>
            </a:pP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入れたら、効果の</a:t>
            </a:r>
            <a:r>
              <a:rPr lang="ja-JP" altLang="en-US" sz="28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ピーク</a:t>
            </a: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まで待つ</a:t>
            </a:r>
            <a:endParaRPr lang="ja-JP" sz="2800" dirty="0"/>
          </a:p>
          <a:p>
            <a:pPr algn="l" marL="406400" indent="-406400">
              <a:spcAft>
                <a:spcPts val="2400"/>
              </a:spcAft>
              <a:buSzPct val="100000"/>
              <a:buChar char="•"/>
            </a:pP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反応を見て、</a:t>
            </a:r>
            <a:r>
              <a:rPr lang="ja-JP" altLang="en-US" sz="28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少量ずつ</a:t>
            </a: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追加する</a:t>
            </a:r>
            <a:endParaRPr lang="ja-JP" sz="2800" dirty="0"/>
          </a:p>
          <a:p>
            <a:pPr algn="l" marL="406400" indent="-406400">
              <a:spcAft>
                <a:spcPts val="2400"/>
              </a:spcAft>
              <a:buSzPct val="100000"/>
              <a:buChar char="•"/>
            </a:pP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持続投与は、切れ方を考えて</a:t>
            </a:r>
            <a:r>
              <a:rPr lang="ja-JP" altLang="en-US" sz="28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止める時刻</a:t>
            </a: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を決める</a:t>
            </a:r>
            <a:endParaRPr lang="ja-JP" sz="2800" dirty="0"/>
          </a:p>
          <a:p>
            <a:pPr algn="l" marL="406400" indent="-406400">
              <a:spcAft>
                <a:spcPts val="2400"/>
              </a:spcAft>
              <a:buSzPct val="100000"/>
              <a:buChar char="•"/>
            </a:pP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高齢者・循環不全は、減らして（目安 </a:t>
            </a:r>
            <a:r>
              <a:rPr lang="ja-JP" altLang="en-US" sz="28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半量</a:t>
            </a: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）ゆっくり</a:t>
            </a:r>
            <a:endParaRPr lang="ja-JP" sz="2800" dirty="0"/>
          </a:p>
          <a:p>
            <a:pPr algn="l" marL="406400" indent="-406400">
              <a:spcAft>
                <a:spcPts val="2400"/>
              </a:spcAft>
              <a:buSzPct val="100000"/>
              <a:buChar char="•"/>
            </a:pP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併用するなら、それぞれの量を</a:t>
            </a:r>
            <a:r>
              <a:rPr lang="ja-JP" altLang="en-US" sz="28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減らす</a:t>
            </a:r>
            <a:endParaRPr lang="ja-JP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320040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まとめ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1389888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77656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濃度</a:t>
            </a:r>
            <a:endParaRPr lang="ja-JP" sz="1100" dirty="0"/>
          </a:p>
        </p:txBody>
      </p:sp>
      <p:sp>
        <p:nvSpPr>
          <p:cNvPr id="5" name="Text 3"/>
          <p:cNvSpPr/>
          <p:nvPr/>
        </p:nvSpPr>
        <p:spPr>
          <a:xfrm>
            <a:off x="9354312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分布</a:t>
            </a:r>
            <a:endParaRPr lang="ja-JP" sz="1100" dirty="0"/>
          </a:p>
        </p:txBody>
      </p:sp>
      <p:sp>
        <p:nvSpPr>
          <p:cNvPr id="6" name="Text 4"/>
          <p:cNvSpPr/>
          <p:nvPr/>
        </p:nvSpPr>
        <p:spPr>
          <a:xfrm>
            <a:off x="10030968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消失</a:t>
            </a:r>
            <a:endParaRPr lang="ja-JP" sz="1100" dirty="0"/>
          </a:p>
        </p:txBody>
      </p:sp>
      <p:sp>
        <p:nvSpPr>
          <p:cNvPr id="7" name="Text 5"/>
          <p:cNvSpPr/>
          <p:nvPr/>
        </p:nvSpPr>
        <p:spPr>
          <a:xfrm>
            <a:off x="10707624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持続</a:t>
            </a:r>
            <a:endParaRPr lang="ja-JP" sz="1100" dirty="0"/>
          </a:p>
        </p:txBody>
      </p:sp>
      <p:sp>
        <p:nvSpPr>
          <p:cNvPr id="8" name="Text 6"/>
          <p:cNvSpPr/>
          <p:nvPr/>
        </p:nvSpPr>
        <p:spPr>
          <a:xfrm>
            <a:off x="11384280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00A8A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患者差</a:t>
            </a:r>
            <a:endParaRPr lang="ja-JP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9</a:t>
            </a:r>
            <a:endParaRPr lang="ja-JP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59436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Hughes MA, et al. Anesthesiology 1992;76:334-341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日本麻酔科学会「麻酔薬および麻酔関連薬使用ガイドライン 第4版」（2025）</a:t>
            </a:r>
            <a:endParaRPr lang="ja-JP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1810512"/>
            <a:ext cx="11155680" cy="3941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406400" indent="-406400">
              <a:spcAft>
                <a:spcPts val="2400"/>
              </a:spcAft>
              <a:buSzPct val="100000"/>
              <a:buChar char="•"/>
            </a:pP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効くのは</a:t>
            </a:r>
            <a:r>
              <a:rPr lang="ja-JP" altLang="en-US" sz="28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効果部位</a:t>
            </a: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の濃度。静注から効果まで数分の遅れ</a:t>
            </a:r>
            <a:endParaRPr lang="ja-JP" sz="2800" dirty="0"/>
          </a:p>
          <a:p>
            <a:pPr algn="l" marL="406400" indent="-406400">
              <a:spcAft>
                <a:spcPts val="2400"/>
              </a:spcAft>
              <a:buSzPct val="100000"/>
              <a:buChar char="•"/>
            </a:pP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単回静注は主に</a:t>
            </a:r>
            <a:r>
              <a:rPr lang="ja-JP" altLang="en-US" sz="28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再分布</a:t>
            </a: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で切れ、繰り返すと蓄積する</a:t>
            </a:r>
            <a:endParaRPr lang="ja-JP" sz="2800" dirty="0"/>
          </a:p>
          <a:p>
            <a:pPr algn="l" marL="406400" indent="-406400">
              <a:spcAft>
                <a:spcPts val="2400"/>
              </a:spcAft>
              <a:buSzPct val="100000"/>
              <a:buChar char="•"/>
            </a:pP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持続投与の切れ方は、</a:t>
            </a:r>
            <a:r>
              <a:rPr lang="ja-JP" altLang="en-US" sz="28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入れた時間</a:t>
            </a: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で変わる</a:t>
            </a:r>
            <a:endParaRPr lang="ja-JP" sz="2800" dirty="0"/>
          </a:p>
          <a:p>
            <a:pPr algn="l" marL="406400" indent="-406400">
              <a:spcAft>
                <a:spcPts val="2400"/>
              </a:spcAft>
              <a:buSzPct val="100000"/>
              <a:buChar char="•"/>
            </a:pP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鎮静薬とオピオイドは</a:t>
            </a:r>
            <a:r>
              <a:rPr lang="ja-JP" altLang="en-US" sz="28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相乗</a:t>
            </a: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。併用で量を減らす</a:t>
            </a:r>
            <a:endParaRPr lang="ja-JP" sz="2800" dirty="0"/>
          </a:p>
          <a:p>
            <a:pPr algn="l" marL="406400" indent="-406400">
              <a:spcAft>
                <a:spcPts val="2400"/>
              </a:spcAft>
              <a:buSzPct val="100000"/>
              <a:buChar char="•"/>
            </a:pP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高齢・肥満・腎肝・循環不全で、</a:t>
            </a:r>
            <a:r>
              <a:rPr lang="ja-JP" altLang="en-US" sz="28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量と速さ</a:t>
            </a: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を変える</a:t>
            </a:r>
            <a:endParaRPr lang="ja-JP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メイリオ"/>
        <a:ea typeface="メイリオ"/>
        <a:cs typeface=""/>
        <a:font script="Jpan" typeface="メイリオ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メイリオ"/>
        <a:ea typeface="メイリオ"/>
        <a:cs typeface=""/>
        <a:font script="Jpan" typeface="メイリオ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3-1 薬物動態の基本</dc:title>
  <dc:subject/>
  <dc:creator>Anes-lecture</dc:creator>
  <cp:lastModifiedBy>Anes-lecture</cp:lastModifiedBy>
  <cp:revision>1</cp:revision>
  <dcterms:created xsi:type="dcterms:W3CDTF">2026-10-14T00:47:32Z</dcterms:created>
  <dcterms:modified xsi:type="dcterms:W3CDTF">2026-10-14T00:47:32Z</dcterms:modified>
</cp:coreProperties>
</file>