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観血的動脈圧（動脈ライン）は、動脈にカテーテルを入れ、圧トランスデューサで一拍ごとの血圧を連続的に測るモニターである。この回では、いつ入れるか、正しく測るための準備（ゼロ点と高さ）、波形の読み方、減衰と共鳴、安全上の注意を扱う。穿刺の手技は実地で指導す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適応: 血圧が急に変わりうる状況（大量出血、心疾患、昇圧薬や降圧薬の持続投与）、頻回に動脈血ガスを採る必要があるとき、非観血的血圧が測りにくいとき（肥満、不整脈）。一拍ごとの血圧と波形が見える利点がある。</a:t>
            </a:r>
          </a:p>
          <a:p>
            <a:r>
              <a:rPr lang="ja-JP" altLang="en-US" dirty="0"/>
              <a:t>部位: 橈骨動脈が第一選択（浅くて触れやすく、側副血行がある）。ほかに大腿・上腕・足背・腋窩などを、状況に応じて選ぶ。大きな合併症の率は、橈骨・大腿・腋窩で同程度と報告されている（Scheer 2002）。</a:t>
            </a:r>
          </a:p>
          <a:p>
            <a:r>
              <a:rPr lang="ja-JP" altLang="en-US" dirty="0"/>
              <a:t>合併症: 橈骨動脈カテーテル 19,617 件の報告を集めた文献レビュー（Scheer 2002。1978〜2001 年の報告の集計で、統計解析はしていない）では、一時的な動脈閉塞が 19.7%（研究により 1.5〜35%。検出法で大きく異なる）、永続的な虚血性障害が 0.09%、刺入部の局所感染が 0.72%、敗血症が 0.13% だった。大きな合併症は 1% 未満。</a:t>
            </a:r>
          </a:p>
          <a:p>
            <a:r>
              <a:rPr lang="ja-JP" altLang="en-US" dirty="0"/>
              <a:t>Allen テスト（修正 Allen テスト。尺骨動脈からの側副血行の確認）は診断精度が低く、橈骨動脈に入れたあとの虚血合併症を確実に予測するものとはみなされていない。パルスオキシメータやドップラーを併用しても、精度はあまり上がらない（Saugel 2020）。結果だけで穿刺するかどうかを決めない。</a:t>
            </a:r>
          </a:p>
          <a:p>
            <a:r>
              <a:rPr lang="ja-JP" altLang="en-US" dirty="0"/>
              <a:t>避ける: 穿刺部の感染、循環障害、透析シャント側の腕、乳房切除後の患側（施設方針による）。</a:t>
            </a:r>
          </a:p>
          <a:p>
            <a:r>
              <a:rPr lang="ja-JP" altLang="en-US" dirty="0"/>
              <a:t>出典（全文）: Scheer B, Perel A, Pfeiffer UJ. Clinical review: complications and risk factors of peripheral arterial catheters. Crit Care 2002;6:199-204 / Saugel B, et al. Crit Care 2020;24:172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構成: 動脈カテーテル → 硬くて短い延長チューブ（圧が歪まないように）→ 圧トランスデューサ（圧を電気信号に変える）→ モニター。トランスデューサには加圧バッグ（300 mmHg）から生理食塩液（施設によりヘパリン加）が約 3 mL/時で持続的に流れ、カテーテルの閉塞を防ぐ。バッグの圧が下がると血液がラインに逆流し、閉塞や過減衰の原因になるので、バッグ圧を定期的に確認する。</a:t>
            </a:r>
          </a:p>
          <a:p>
            <a:r>
              <a:rPr lang="ja-JP" altLang="en-US" dirty="0"/>
              <a:t>信号を保つ: チューブが長い、気泡がある、三方活栓が多い、接続が緩い、と波形が歪む（共鳴で収縮期が高く出ることも、なまって低く出ることもある → 減衰の章）。組み立てたら、気泡を完全に抜き、接続を締める。</a:t>
            </a:r>
          </a:p>
          <a:p>
            <a:r>
              <a:rPr lang="ja-JP" altLang="en-US" dirty="0"/>
              <a:t>フラッシュデバイス: 持続フラッシュのほか、手動で急速フラッシュ（ファストフラッシュ）ができる。これは採血後の洗浄だけでなく、減衰の検査にも使う（→ 減衰の章）。</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ゼロ点: トランスデューサの三方活栓を患者側に閉じて大気に開放し、モニターのゼロ設定を行う。これで大気圧と回路のオフセットを 0 にする。開始時、トランスデューサを交換したとき、値が疑わしいときに行う。</a:t>
            </a:r>
          </a:p>
          <a:p>
            <a:r>
              <a:rPr lang="ja-JP" altLang="en-US" dirty="0"/>
              <a:t>高さ: トランスデューサの高さは測定値に直接影響する。基準は右房の高さ（静脈圧基準点: 第 4 肋間と中腋窩線の交点）。水柱の高さの差が、そのまま圧の差になる。1 mmHg ≒ 1.36 cmH2O なので、10 cm のずれで約 7.4 mmHg（10 ÷ 1.36 = 7.35。1 cm あたり約 0.74 mmHg）。トランスデューサが基準より低いと高く、高いと低く出る。収縮期・拡張期・平均がすべて同じだけずれる。体位を変えたら（頭高位、側臥位、ベッドの高さ）、必ず合わせ直す。</a:t>
            </a:r>
          </a:p>
          <a:p>
            <a:r>
              <a:rPr lang="ja-JP" altLang="en-US" dirty="0"/>
              <a:t>脳灌流を見るとき: 座位（ビーチチェア）の手術などで脳の灌流圧を知りたいときは、トランスデューサを外耳孔（耳珠）の高さに合わせる。外耳孔は、ウィリス動脈輪の高さの目安である。心臓の高さで測った値は脳の高さの血圧より高く、脳灌流圧を過大に見積もる（高さの差 20 cm で約 15 mmHg）。どちらの高さで測っているかを、術者・看護師と共有する。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波形の各部: 収縮期の急な立ち上がり（左室の駆出。立ち上がりの傾きは収縮力の大まかな手がかりになるが、回路の減衰（→ S7）や測定部位でも変わるので、これだけで収縮力を判断しない）、ピーク（収縮期圧）、下降の途中の小さな切痕（重複切痕。大動脈の波形では、大動脈弁が閉じた時点に当たる。橈骨など末梢の波形では遅れて現れ、形も変わる → S6）、拡張期の下降（末梢へ血液が流れ出す。血管抵抗が低いと速く下がる）、最低点（拡張期圧）。</a:t>
            </a:r>
          </a:p>
          <a:p>
            <a:r>
              <a:rPr lang="ja-JP" altLang="en-US" dirty="0"/>
              <a:t>平均血圧: モニターは波形の面積から平均血圧を計算する。目安として、拡張期圧に脈圧（収縮期圧−拡張期圧）の 1/3 を足した値に近い。ずれることがあるので、値はモニターの表示を使う。臓器の灌流は平均血圧で考える。</a:t>
            </a:r>
          </a:p>
          <a:p>
            <a:r>
              <a:rPr lang="ja-JP" altLang="en-US" dirty="0"/>
              <a:t>動脈圧の波形から心拍出量を推定する装置（動脈圧波形解析）もある。</a:t>
            </a:r>
          </a:p>
          <a:p>
            <a:r>
              <a:rPr lang="ja-JP" altLang="en-US" dirty="0"/>
              <a:t>呼吸性変動: 陽圧換気で波形が揺れる（→ S10）。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大動脈から末梢へ進むにつれ、波形は反射波の重なりと血管の性質の変化で変わる。収縮期圧は高く、拡張期圧は低く、脈圧は大きく出る。平均血圧は中枢と末梢でほぼ同じなので、管理の指標には平均血圧を使う。</a:t>
            </a:r>
          </a:p>
          <a:p>
            <a:r>
              <a:rPr lang="ja-JP" altLang="en-US" dirty="0"/>
              <a:t>部位による違い: 足背動脈の収縮期圧は橈骨動脈よりさらに高い。</a:t>
            </a:r>
          </a:p>
          <a:p>
            <a:r>
              <a:rPr lang="ja-JP" altLang="en-US" dirty="0"/>
              <a:t>例外: 人工心肺の直後や、昇圧薬を多く使っているときは、橈骨動脈の圧（平均血圧も）が中枢（大腿動脈など）より低く出ることがある。疑うときは大腿動脈で測って比べる。</a:t>
            </a:r>
          </a:p>
          <a:p>
            <a:r>
              <a:rPr lang="ja-JP" altLang="en-US" dirty="0"/>
              <a:t>重複切痕は末梢ほど遅れて小さくなる。切痕の有無で減衰を判断するときは、この影響も考える。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動脈圧の測定系は、カテーテル・チューブ・液体でできた振動系で、固有振動数と減衰係数を持つ。固有振動数が低い回路ほど、減衰が適正からずれたときの歪みが大きい。目安として固有振動数 24 Hz 以上、減衰係数 0.64〜0.7 程度が望ましいとする資料がある（Gardner 1981【要確認: 原典の数値】）。実地では数値を計算せず、急速フラッシュ試験の振動の回数で判断する。</a:t>
            </a:r>
          </a:p>
          <a:p>
            <a:r>
              <a:rPr lang="ja-JP" altLang="en-US" dirty="0"/>
              <a:t>急速フラッシュ試験（矩形波試験）: フラッシュデバイスを引いて 300 mmHg の圧をかけ、離す。矩形波のあとの振動を数える。1〜2 回の振動で元の波形に戻れば適正。</a:t>
            </a:r>
          </a:p>
          <a:p>
            <a:r>
              <a:rPr lang="ja-JP" altLang="en-US" dirty="0"/>
              <a:t>減衰不足（アンダーダンピング）: 振動が何回も続く。収縮期圧は高く、拡張期圧は低く出る。原因は長いチューブ、三方活栓など接続の多さ（回路の固有振動数が下がり、共鳴しやすい）。</a:t>
            </a:r>
          </a:p>
          <a:p>
            <a:r>
              <a:rPr lang="ja-JP" altLang="en-US" dirty="0"/>
              <a:t>過減衰（オーバーダンピング）: 振動がなく、波形がなまって切痕が消える。収縮期圧は低く、拡張期圧は高く出る。原因は気泡、血栓、カテーテルの屈曲や血管壁への当たり、接続の緩み、加圧バッグの圧不足。</a:t>
            </a:r>
          </a:p>
          <a:p>
            <a:r>
              <a:rPr lang="ja-JP" altLang="en-US" dirty="0"/>
              <a:t>どちらでも平均血圧は比較的保たれる。波形が疑わしいときは平均血圧で判断し、非観血的血圧と比べる。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波形が消えたとき、最初にするのは患者の確認（脈が触れるか、SpO2 の脈波はあるか、非観血的血圧を測る）。装置の問題と決めてかからない。</a:t>
            </a:r>
          </a:p>
          <a:p>
            <a:r>
              <a:rPr lang="ja-JP" altLang="en-US" dirty="0"/>
              <a:t>次に三方活栓の向き（採血後に閉じたまま）、カテーテルやチューブの屈曲、気泡、手首の角度（過伸展で閉塞することがある）、加圧バッグの圧。ゼロ点と高さを確認し、フラッシュ試験で減衰を見る。</a:t>
            </a:r>
          </a:p>
          <a:p>
            <a:r>
              <a:rPr lang="ja-JP" altLang="en-US" dirty="0"/>
              <a:t>非観血的血圧との差が大きいときは、平均血圧で比べる。収縮期圧の差は減衰や末梢での増幅で説明できることが多い。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薬の誤注入: 動脈内に薬を注入すると、末梢の虚血や壊死を起こす。動脈ラインは赤いラベルで区別し、側注口を作らない。研修医が薬を投与するときは、ラインを指でたどって静脈路であることを確かめる。</a:t>
            </a:r>
          </a:p>
          <a:p>
            <a:r>
              <a:rPr lang="ja-JP" altLang="en-US" dirty="0"/>
              <a:t>離断: 接続が外れると動脈から出血し、短時間で大量になる。接続を締め、固定し、覆布の下でも見える工夫をする。モニターの動脈圧アラームを切らない。</a:t>
            </a:r>
          </a:p>
          <a:p>
            <a:r>
              <a:rPr lang="ja-JP" altLang="en-US" dirty="0"/>
              <a:t>虚血: 手指の色、温度、動き、毛細血管再充満を定期的に見る。異常があれば抜去する。必要がなくなったら早く抜く（感染の予防にもなる）。</a:t>
            </a:r>
          </a:p>
          <a:p>
            <a:r>
              <a:rPr lang="ja-JP" altLang="en-US" dirty="0"/>
              <a:t>採血: 三方活栓から捨て血（ラインの液を除く分）を引き、検体を採り、フラッシュして活栓を元に戻す。気泡を動脈側に押し込まない。手動のフラッシュは勢いよく大量に行わず、少量ずつゆっくり行う（気泡や血栓が中枢側へ逆行するのを防ぐ）。採血を繰り返すと医原性の失血になるので、捨て血の量は最小限にす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陽圧換気で胸腔内圧が上がると、静脈還流が一時的に減り、1 回拍出量と脈圧が周期的に変わる。この揺れ（脈圧変動: PPV）が大きいほど、輸液で心拍出量が増える可能性が高い。ただし、調節呼吸、十分な 1 回換気量、洞調律、開胸していない、などの条件が要る。条件の数値と閾値は 9-8（輸液反応性の評価）で扱う。ここでは「揺れが大きいと気づく」ことまで。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a:t>
            </a:r>
          </a:p>
          <a:p>
            <a:r>
              <a:rPr lang="ja-JP" altLang="en-US" dirty="0"/>
              <a:t>1 つ目、適応: 一拍ごとの血圧と波形が要るとき、頻回の血液ガス、昇圧薬の持続投与、変動の大きい手術で入れる。橈骨動脈が第一選択。Allen テストで虚血は予測できない。</a:t>
            </a:r>
          </a:p>
          <a:p>
            <a:r>
              <a:rPr lang="ja-JP" altLang="en-US" dirty="0"/>
              <a:t>2 つ目、準備: ゼロ点は三方活栓を大気に開放してモニターのゼロを押す。高さは右房（第 4 肋間・中腋窩線）に合わせ、10 cm ずれると約 7.4 mmHg 変わる。体位を変えたら合わせ直す。</a:t>
            </a:r>
          </a:p>
          <a:p>
            <a:r>
              <a:rPr lang="ja-JP" altLang="en-US" dirty="0"/>
              <a:t>3 つ目、波形: 管理は平均血圧で考える。末梢ほど収縮期圧は高く、拡張期圧は低く出るが、平均血圧はほぼ同じ。</a:t>
            </a:r>
          </a:p>
          <a:p>
            <a:r>
              <a:rPr lang="ja-JP" altLang="en-US" dirty="0"/>
              <a:t>4 つ目、減衰: 急速フラッシュ試験で振動の回数を見る。1〜2 回なら適正。減衰不足なら収縮期が高く、過減衰なら低く出るが、平均血圧は比較的保たれる。</a:t>
            </a:r>
          </a:p>
          <a:p>
            <a:r>
              <a:rPr lang="ja-JP" altLang="en-US" dirty="0"/>
              <a:t>5 つ目、安全: 動脈ラインに薬を入れない、離断させない、指の色と温度を見て、不要になったら抜く。波形が消えたら、まず患者を見る。</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観血的動脈圧</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2-7 モニタリング</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いつ入れるか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Scheer B, et al. Clinical review: complications and risk factors of peripheral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arterial catheters. Crit Care 2002;6:199-204 / Saugel B, et al. Crit Care 2020;24:172</a:t>
            </a:r>
            <a:endParaRPr lang="ja-JP" sz="1600" dirty="0"/>
          </a:p>
        </p:txBody>
      </p:sp>
      <p:sp>
        <p:nvSpPr>
          <p:cNvPr id="11" name="Shape 9"/>
          <p:cNvSpPr/>
          <p:nvPr/>
        </p:nvSpPr>
        <p:spPr>
          <a:xfrm>
            <a:off x="502920" y="1810512"/>
            <a:ext cx="3383280" cy="3575304"/>
          </a:xfrm>
          <a:prstGeom prst="roundRect">
            <a:avLst>
              <a:gd name="adj" fmla="val 2162"/>
            </a:avLst>
          </a:prstGeom>
          <a:solidFill>
            <a:srgbClr val="F2F2F2"/>
          </a:solidFill>
          <a:ln/>
        </p:spPr>
      </p:sp>
      <p:sp>
        <p:nvSpPr>
          <p:cNvPr id="12" name="Text 10"/>
          <p:cNvSpPr txBox="1"/>
          <p:nvPr/>
        </p:nvSpPr>
        <p:spPr>
          <a:xfrm>
            <a:off x="612648" y="1920240"/>
            <a:ext cx="3163824"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適応</a:t>
            </a:r>
            <a:endParaRPr lang="ja-JP" sz="2600" dirty="0"/>
          </a:p>
        </p:txBody>
      </p:sp>
      <p:sp>
        <p:nvSpPr>
          <p:cNvPr id="13" name="Text 11"/>
          <p:cNvSpPr txBox="1"/>
          <p:nvPr/>
        </p:nvSpPr>
        <p:spPr>
          <a:xfrm>
            <a:off x="612648" y="2606040"/>
            <a:ext cx="316382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一拍ごとの血圧が要る</a:t>
            </a:r>
            <a:endParaRPr lang="ja-JP" sz="2200" dirty="0"/>
          </a:p>
        </p:txBody>
      </p:sp>
      <p:sp>
        <p:nvSpPr>
          <p:cNvPr id="14" name="Text 12"/>
          <p:cNvSpPr txBox="1"/>
          <p:nvPr/>
        </p:nvSpPr>
        <p:spPr>
          <a:xfrm>
            <a:off x="612648" y="3355848"/>
            <a:ext cx="316382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頻回の血液ガス</a:t>
            </a:r>
            <a:endParaRPr lang="ja-JP" sz="2200" dirty="0"/>
          </a:p>
        </p:txBody>
      </p:sp>
      <p:sp>
        <p:nvSpPr>
          <p:cNvPr id="15" name="Text 13"/>
          <p:cNvSpPr txBox="1"/>
          <p:nvPr/>
        </p:nvSpPr>
        <p:spPr>
          <a:xfrm>
            <a:off x="612648" y="4105656"/>
            <a:ext cx="316382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昇圧薬の持続投与</a:t>
            </a:r>
            <a:endParaRPr lang="ja-JP" sz="2200" dirty="0"/>
          </a:p>
        </p:txBody>
      </p:sp>
      <p:sp>
        <p:nvSpPr>
          <p:cNvPr id="16" name="Text 14"/>
          <p:cNvSpPr txBox="1"/>
          <p:nvPr/>
        </p:nvSpPr>
        <p:spPr>
          <a:xfrm>
            <a:off x="612648" y="4855464"/>
            <a:ext cx="316382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変動が大きい手術</a:t>
            </a:r>
            <a:endParaRPr lang="ja-JP" sz="2200" dirty="0"/>
          </a:p>
        </p:txBody>
      </p:sp>
      <p:sp>
        <p:nvSpPr>
          <p:cNvPr id="17" name="Shape 15"/>
          <p:cNvSpPr/>
          <p:nvPr/>
        </p:nvSpPr>
        <p:spPr>
          <a:xfrm>
            <a:off x="4110228" y="1810512"/>
            <a:ext cx="3675888" cy="3575304"/>
          </a:xfrm>
          <a:prstGeom prst="roundRect">
            <a:avLst>
              <a:gd name="adj" fmla="val 2046"/>
            </a:avLst>
          </a:prstGeom>
          <a:solidFill>
            <a:srgbClr val="F2F2F2"/>
          </a:solidFill>
          <a:ln/>
        </p:spPr>
      </p:sp>
      <p:sp>
        <p:nvSpPr>
          <p:cNvPr id="18" name="Text 16"/>
          <p:cNvSpPr txBox="1"/>
          <p:nvPr/>
        </p:nvSpPr>
        <p:spPr>
          <a:xfrm>
            <a:off x="4219956" y="1920240"/>
            <a:ext cx="3456432"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部位</a:t>
            </a:r>
            <a:endParaRPr lang="ja-JP" sz="2600" dirty="0"/>
          </a:p>
        </p:txBody>
      </p:sp>
      <p:sp>
        <p:nvSpPr>
          <p:cNvPr id="19" name="Text 17"/>
          <p:cNvSpPr txBox="1"/>
          <p:nvPr/>
        </p:nvSpPr>
        <p:spPr>
          <a:xfrm>
            <a:off x="4219956" y="2606040"/>
            <a:ext cx="345643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橈骨動脈が第一</a:t>
            </a:r>
            <a:endParaRPr lang="ja-JP" sz="2200" dirty="0"/>
          </a:p>
        </p:txBody>
      </p:sp>
      <p:sp>
        <p:nvSpPr>
          <p:cNvPr id="20" name="Text 18"/>
          <p:cNvSpPr txBox="1"/>
          <p:nvPr/>
        </p:nvSpPr>
        <p:spPr>
          <a:xfrm>
            <a:off x="4219956" y="3355848"/>
            <a:ext cx="345643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ほかに大腿・上腕・足背</a:t>
            </a:r>
            <a:endParaRPr lang="ja-JP" sz="2200" dirty="0"/>
          </a:p>
        </p:txBody>
      </p:sp>
      <p:sp>
        <p:nvSpPr>
          <p:cNvPr id="21" name="Shape 19"/>
          <p:cNvSpPr/>
          <p:nvPr/>
        </p:nvSpPr>
        <p:spPr>
          <a:xfrm>
            <a:off x="8010144" y="1810512"/>
            <a:ext cx="3675888" cy="3575304"/>
          </a:xfrm>
          <a:prstGeom prst="roundRect">
            <a:avLst>
              <a:gd name="adj" fmla="val 2046"/>
            </a:avLst>
          </a:prstGeom>
          <a:solidFill>
            <a:srgbClr val="F2F2F2"/>
          </a:solidFill>
          <a:ln/>
        </p:spPr>
      </p:sp>
      <p:sp>
        <p:nvSpPr>
          <p:cNvPr id="22" name="Text 20"/>
          <p:cNvSpPr txBox="1"/>
          <p:nvPr/>
        </p:nvSpPr>
        <p:spPr>
          <a:xfrm>
            <a:off x="8119872" y="1920240"/>
            <a:ext cx="3456432"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避ける・注意</a:t>
            </a:r>
            <a:endParaRPr lang="ja-JP" sz="2600" dirty="0"/>
          </a:p>
        </p:txBody>
      </p:sp>
      <p:sp>
        <p:nvSpPr>
          <p:cNvPr id="23" name="Text 21"/>
          <p:cNvSpPr txBox="1"/>
          <p:nvPr/>
        </p:nvSpPr>
        <p:spPr>
          <a:xfrm>
            <a:off x="8119872" y="2606040"/>
            <a:ext cx="345643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穿刺部の感染・循環障害</a:t>
            </a:r>
            <a:endParaRPr lang="ja-JP" sz="2200" dirty="0"/>
          </a:p>
        </p:txBody>
      </p:sp>
      <p:sp>
        <p:nvSpPr>
          <p:cNvPr id="24" name="Text 22"/>
          <p:cNvSpPr txBox="1"/>
          <p:nvPr/>
        </p:nvSpPr>
        <p:spPr>
          <a:xfrm>
            <a:off x="8119872" y="3355848"/>
            <a:ext cx="345643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シャント側は避ける</a:t>
            </a:r>
            <a:endParaRPr lang="ja-JP" sz="2200" dirty="0"/>
          </a:p>
        </p:txBody>
      </p:sp>
      <p:sp>
        <p:nvSpPr>
          <p:cNvPr id="25" name="Text 23"/>
          <p:cNvSpPr txBox="1"/>
          <p:nvPr/>
        </p:nvSpPr>
        <p:spPr>
          <a:xfrm>
            <a:off x="8119872" y="4105656"/>
            <a:ext cx="345643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Allen テストで</a:t>
            </a:r>
            <a:endParaRPr lang="ja-JP" sz="2200" dirty="0"/>
          </a:p>
        </p:txBody>
      </p:sp>
      <p:sp>
        <p:nvSpPr>
          <p:cNvPr id="26" name="Text 24"/>
          <p:cNvSpPr txBox="1"/>
          <p:nvPr/>
        </p:nvSpPr>
        <p:spPr>
          <a:xfrm>
            <a:off x="8119872" y="4855464"/>
            <a:ext cx="3456432" cy="42062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虚血は予測できない</a:t>
            </a:r>
            <a:endParaRPr lang="ja-JP"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システムの構成</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Saugel B, et al. How to measure blood pressure using an arterial catheter:</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 systematic 5-step approach. Crit Care 2020;24:172</a:t>
            </a:r>
            <a:endParaRPr lang="ja-JP" sz="1600" dirty="0"/>
          </a:p>
        </p:txBody>
      </p:sp>
      <p:sp>
        <p:nvSpPr>
          <p:cNvPr id="11" name="Text 9"/>
          <p:cNvSpPr/>
          <p:nvPr/>
        </p:nvSpPr>
        <p:spPr>
          <a:xfrm>
            <a:off x="502920" y="2834640"/>
            <a:ext cx="2057400" cy="1005840"/>
          </a:xfrm>
          <a:prstGeom prst="roundRect">
            <a:avLst>
              <a:gd name="adj" fmla="val 9091"/>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カテーテル</a:t>
            </a:r>
            <a:endParaRPr lang="ja-JP" sz="2400" dirty="0"/>
          </a:p>
        </p:txBody>
      </p:sp>
      <p:sp>
        <p:nvSpPr>
          <p:cNvPr id="12" name="Shape 10"/>
          <p:cNvSpPr/>
          <p:nvPr/>
        </p:nvSpPr>
        <p:spPr>
          <a:xfrm>
            <a:off x="2633472" y="3337560"/>
            <a:ext cx="320040" cy="0"/>
          </a:xfrm>
          <a:prstGeom prst="line">
            <a:avLst/>
          </a:prstGeom>
          <a:noFill/>
          <a:ln w="38100">
            <a:solidFill>
              <a:srgbClr val="404040"/>
            </a:solidFill>
            <a:prstDash val="solid"/>
          </a:ln>
        </p:spPr>
      </p:sp>
      <p:sp>
        <p:nvSpPr>
          <p:cNvPr id="13" name="Shape 11"/>
          <p:cNvSpPr/>
          <p:nvPr/>
        </p:nvSpPr>
        <p:spPr>
          <a:xfrm>
            <a:off x="2935224" y="3218688"/>
            <a:ext cx="201168" cy="237744"/>
          </a:xfrm>
          <a:custGeom>
            <a:avLst/>
            <a:gdLst/>
            <a:ahLst/>
            <a:cxnLst/>
            <a:rect l="l" t="t" r="r" b="b"/>
            <a:pathLst>
              <a:path w="201168" h="237744">
                <a:moveTo>
                  <a:pt x="201168" y="118872"/>
                </a:moveTo>
                <a:lnTo>
                  <a:pt x="0" y="237744"/>
                </a:lnTo>
                <a:lnTo>
                  <a:pt x="0" y="0"/>
                </a:lnTo>
                <a:close/>
              </a:path>
            </a:pathLst>
          </a:custGeom>
          <a:solidFill>
            <a:srgbClr val="404040"/>
          </a:solidFill>
          <a:ln w="12700">
            <a:solidFill>
              <a:srgbClr val="404040"/>
            </a:solidFill>
            <a:prstDash val="solid"/>
          </a:ln>
        </p:spPr>
      </p:sp>
      <p:sp>
        <p:nvSpPr>
          <p:cNvPr id="14" name="Text 12"/>
          <p:cNvSpPr/>
          <p:nvPr/>
        </p:nvSpPr>
        <p:spPr>
          <a:xfrm>
            <a:off x="3209544" y="2834640"/>
            <a:ext cx="2057400" cy="1005840"/>
          </a:xfrm>
          <a:prstGeom prst="roundRect">
            <a:avLst>
              <a:gd name="adj" fmla="val 9091"/>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硬く短い</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チューブ</a:t>
            </a:r>
            <a:endParaRPr lang="ja-JP" sz="2400" dirty="0"/>
          </a:p>
        </p:txBody>
      </p:sp>
      <p:sp>
        <p:nvSpPr>
          <p:cNvPr id="15" name="Shape 13"/>
          <p:cNvSpPr/>
          <p:nvPr/>
        </p:nvSpPr>
        <p:spPr>
          <a:xfrm>
            <a:off x="5340096" y="3337560"/>
            <a:ext cx="320040" cy="0"/>
          </a:xfrm>
          <a:prstGeom prst="line">
            <a:avLst/>
          </a:prstGeom>
          <a:noFill/>
          <a:ln w="38100">
            <a:solidFill>
              <a:srgbClr val="404040"/>
            </a:solidFill>
            <a:prstDash val="solid"/>
          </a:ln>
        </p:spPr>
      </p:sp>
      <p:sp>
        <p:nvSpPr>
          <p:cNvPr id="16" name="Shape 14"/>
          <p:cNvSpPr/>
          <p:nvPr/>
        </p:nvSpPr>
        <p:spPr>
          <a:xfrm>
            <a:off x="5641848" y="3218688"/>
            <a:ext cx="201168" cy="237744"/>
          </a:xfrm>
          <a:custGeom>
            <a:avLst/>
            <a:gdLst/>
            <a:ahLst/>
            <a:cxnLst/>
            <a:rect l="l" t="t" r="r" b="b"/>
            <a:pathLst>
              <a:path w="201168" h="237744">
                <a:moveTo>
                  <a:pt x="201168" y="118872"/>
                </a:moveTo>
                <a:lnTo>
                  <a:pt x="0" y="237744"/>
                </a:lnTo>
                <a:lnTo>
                  <a:pt x="0" y="0"/>
                </a:lnTo>
                <a:close/>
              </a:path>
            </a:pathLst>
          </a:custGeom>
          <a:solidFill>
            <a:srgbClr val="404040"/>
          </a:solidFill>
          <a:ln w="12700">
            <a:solidFill>
              <a:srgbClr val="404040"/>
            </a:solidFill>
            <a:prstDash val="solid"/>
          </a:ln>
        </p:spPr>
      </p:sp>
      <p:sp>
        <p:nvSpPr>
          <p:cNvPr id="17" name="Text 15"/>
          <p:cNvSpPr/>
          <p:nvPr/>
        </p:nvSpPr>
        <p:spPr>
          <a:xfrm>
            <a:off x="5916168" y="2834640"/>
            <a:ext cx="3063240" cy="1005840"/>
          </a:xfrm>
          <a:prstGeom prst="roundRect">
            <a:avLst>
              <a:gd name="adj" fmla="val 9091"/>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トランスデューサ</a:t>
            </a:r>
            <a:endParaRPr lang="ja-JP" sz="2400" dirty="0"/>
          </a:p>
        </p:txBody>
      </p:sp>
      <p:sp>
        <p:nvSpPr>
          <p:cNvPr id="18" name="Shape 16"/>
          <p:cNvSpPr/>
          <p:nvPr/>
        </p:nvSpPr>
        <p:spPr>
          <a:xfrm>
            <a:off x="9052560" y="3337560"/>
            <a:ext cx="320040" cy="0"/>
          </a:xfrm>
          <a:prstGeom prst="line">
            <a:avLst/>
          </a:prstGeom>
          <a:noFill/>
          <a:ln w="38100">
            <a:solidFill>
              <a:srgbClr val="404040"/>
            </a:solidFill>
            <a:prstDash val="solid"/>
          </a:ln>
        </p:spPr>
      </p:sp>
      <p:sp>
        <p:nvSpPr>
          <p:cNvPr id="19" name="Shape 17"/>
          <p:cNvSpPr/>
          <p:nvPr/>
        </p:nvSpPr>
        <p:spPr>
          <a:xfrm>
            <a:off x="9354312" y="3218688"/>
            <a:ext cx="201168" cy="237744"/>
          </a:xfrm>
          <a:custGeom>
            <a:avLst/>
            <a:gdLst/>
            <a:ahLst/>
            <a:cxnLst/>
            <a:rect l="l" t="t" r="r" b="b"/>
            <a:pathLst>
              <a:path w="201168" h="237744">
                <a:moveTo>
                  <a:pt x="201168" y="118872"/>
                </a:moveTo>
                <a:lnTo>
                  <a:pt x="0" y="237744"/>
                </a:lnTo>
                <a:lnTo>
                  <a:pt x="0" y="0"/>
                </a:lnTo>
                <a:close/>
              </a:path>
            </a:pathLst>
          </a:custGeom>
          <a:solidFill>
            <a:srgbClr val="404040"/>
          </a:solidFill>
          <a:ln w="12700">
            <a:solidFill>
              <a:srgbClr val="404040"/>
            </a:solidFill>
            <a:prstDash val="solid"/>
          </a:ln>
        </p:spPr>
      </p:sp>
      <p:sp>
        <p:nvSpPr>
          <p:cNvPr id="20" name="Text 18"/>
          <p:cNvSpPr/>
          <p:nvPr/>
        </p:nvSpPr>
        <p:spPr>
          <a:xfrm>
            <a:off x="9628632" y="2834640"/>
            <a:ext cx="2057400" cy="1005840"/>
          </a:xfrm>
          <a:prstGeom prst="roundRect">
            <a:avLst>
              <a:gd name="adj" fmla="val 9091"/>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モニター</a:t>
            </a:r>
            <a:endParaRPr lang="ja-JP" sz="2400" dirty="0"/>
          </a:p>
        </p:txBody>
      </p:sp>
      <p:sp>
        <p:nvSpPr>
          <p:cNvPr id="21" name="Text 19"/>
          <p:cNvSpPr/>
          <p:nvPr/>
        </p:nvSpPr>
        <p:spPr>
          <a:xfrm>
            <a:off x="5436108" y="1755648"/>
            <a:ext cx="4023360" cy="566928"/>
          </a:xfrm>
          <a:prstGeom prst="roundRect">
            <a:avLst>
              <a:gd name="adj" fmla="val 16129"/>
            </a:avLst>
          </a:prstGeom>
          <a:solidFill>
            <a:srgbClr val="FFFFFF"/>
          </a:solidFill>
          <a:ln w="28575">
            <a:solidFill>
              <a:srgbClr val="D55E00"/>
            </a:solidFill>
          </a:ln>
        </p:spPr>
        <p:txBody>
          <a:bodyPr wrap="square" lIns="73152" tIns="73152" rIns="73152" bIns="73152" rtlCol="0" anchor="ctr"/>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加圧バッグ 300 mmHg</a:t>
            </a:r>
            <a:endParaRPr lang="ja-JP" sz="2400" dirty="0"/>
          </a:p>
        </p:txBody>
      </p:sp>
      <p:sp>
        <p:nvSpPr>
          <p:cNvPr id="22" name="Shape 20"/>
          <p:cNvSpPr/>
          <p:nvPr/>
        </p:nvSpPr>
        <p:spPr>
          <a:xfrm>
            <a:off x="7447788" y="2377440"/>
            <a:ext cx="0" cy="219456"/>
          </a:xfrm>
          <a:prstGeom prst="line">
            <a:avLst/>
          </a:prstGeom>
          <a:noFill/>
          <a:ln w="38100">
            <a:solidFill>
              <a:srgbClr val="404040"/>
            </a:solidFill>
            <a:prstDash val="solid"/>
          </a:ln>
        </p:spPr>
      </p:sp>
      <p:sp>
        <p:nvSpPr>
          <p:cNvPr id="23" name="Shape 21"/>
          <p:cNvSpPr/>
          <p:nvPr/>
        </p:nvSpPr>
        <p:spPr>
          <a:xfrm>
            <a:off x="7328916" y="2578608"/>
            <a:ext cx="237744" cy="201168"/>
          </a:xfrm>
          <a:custGeom>
            <a:avLst/>
            <a:gdLst/>
            <a:ahLst/>
            <a:cxnLst/>
            <a:rect l="l" t="t" r="r" b="b"/>
            <a:pathLst>
              <a:path w="237744" h="201168">
                <a:moveTo>
                  <a:pt x="118872" y="201168"/>
                </a:moveTo>
                <a:lnTo>
                  <a:pt x="0" y="0"/>
                </a:lnTo>
                <a:lnTo>
                  <a:pt x="237744" y="0"/>
                </a:lnTo>
                <a:close/>
              </a:path>
            </a:pathLst>
          </a:custGeom>
          <a:solidFill>
            <a:srgbClr val="404040"/>
          </a:solidFill>
          <a:ln w="12700">
            <a:solidFill>
              <a:srgbClr val="404040"/>
            </a:solidFill>
            <a:prstDash val="solid"/>
          </a:ln>
        </p:spPr>
      </p:sp>
      <p:sp>
        <p:nvSpPr>
          <p:cNvPr id="24" name="Text 22"/>
          <p:cNvSpPr txBox="1"/>
          <p:nvPr/>
        </p:nvSpPr>
        <p:spPr>
          <a:xfrm>
            <a:off x="502920" y="4114800"/>
            <a:ext cx="11155680" cy="1682496"/>
          </a:xfrm>
          <a:prstGeom prst="rect">
            <a:avLst/>
          </a:prstGeom>
          <a:noFill/>
          <a:ln/>
        </p:spPr>
        <p:txBody>
          <a:bodyPr wrap="square" lIns="0" tIns="0" rIns="0" bIns="0" rtlCol="0" anchor="t"/>
          <a:lstStyle/>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加圧バッグ 300 mmHg、持続フラッシュ約 3 mL/時</a:t>
            </a:r>
            <a:endParaRPr lang="ja-JP" sz="2400" dirty="0"/>
          </a:p>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チューブは短く硬く、気泡を残さない</a:t>
            </a:r>
            <a:endParaRPr lang="ja-JP" sz="2400" dirty="0"/>
          </a:p>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三方活栓は最小限にする</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ゼロ点と高さ合わせ</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Saugel B, et al. Crit Care 2020;24:172</a:t>
            </a:r>
            <a:endParaRPr lang="ja-JP" sz="1600" dirty="0"/>
          </a:p>
        </p:txBody>
      </p:sp>
      <p:sp>
        <p:nvSpPr>
          <p:cNvPr id="11" name="Shape 9"/>
          <p:cNvSpPr/>
          <p:nvPr/>
        </p:nvSpPr>
        <p:spPr>
          <a:xfrm>
            <a:off x="502920" y="1783080"/>
            <a:ext cx="5458968" cy="3154680"/>
          </a:xfrm>
          <a:prstGeom prst="roundRect">
            <a:avLst>
              <a:gd name="adj" fmla="val 2319"/>
            </a:avLst>
          </a:prstGeom>
          <a:solidFill>
            <a:srgbClr val="F2F2F2"/>
          </a:solidFill>
          <a:ln/>
        </p:spPr>
      </p:sp>
      <p:sp>
        <p:nvSpPr>
          <p:cNvPr id="12" name="Text 10"/>
          <p:cNvSpPr txBox="1"/>
          <p:nvPr/>
        </p:nvSpPr>
        <p:spPr>
          <a:xfrm>
            <a:off x="667512" y="1947672"/>
            <a:ext cx="5129784"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ゼロ点</a:t>
            </a:r>
            <a:endParaRPr lang="ja-JP" sz="2600" dirty="0"/>
          </a:p>
        </p:txBody>
      </p:sp>
      <p:sp>
        <p:nvSpPr>
          <p:cNvPr id="13" name="Text 11"/>
          <p:cNvSpPr txBox="1"/>
          <p:nvPr/>
        </p:nvSpPr>
        <p:spPr>
          <a:xfrm>
            <a:off x="667512" y="2560320"/>
            <a:ext cx="51297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三方活栓を大気に開放</a:t>
            </a:r>
            <a:endParaRPr lang="ja-JP" sz="2400" dirty="0"/>
          </a:p>
        </p:txBody>
      </p:sp>
      <p:sp>
        <p:nvSpPr>
          <p:cNvPr id="14" name="Text 12"/>
          <p:cNvSpPr txBox="1"/>
          <p:nvPr/>
        </p:nvSpPr>
        <p:spPr>
          <a:xfrm>
            <a:off x="667512" y="3145536"/>
            <a:ext cx="51297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モニターの「ゼロ」を押す</a:t>
            </a:r>
            <a:endParaRPr lang="ja-JP" sz="2400" dirty="0"/>
          </a:p>
        </p:txBody>
      </p:sp>
      <p:sp>
        <p:nvSpPr>
          <p:cNvPr id="15" name="Text 13"/>
          <p:cNvSpPr txBox="1"/>
          <p:nvPr/>
        </p:nvSpPr>
        <p:spPr>
          <a:xfrm>
            <a:off x="667512" y="3730752"/>
            <a:ext cx="51297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大気圧と回路のずれを消す</a:t>
            </a:r>
            <a:endParaRPr lang="ja-JP" sz="2400" dirty="0"/>
          </a:p>
        </p:txBody>
      </p:sp>
      <p:sp>
        <p:nvSpPr>
          <p:cNvPr id="16" name="Shape 14"/>
          <p:cNvSpPr/>
          <p:nvPr/>
        </p:nvSpPr>
        <p:spPr>
          <a:xfrm>
            <a:off x="6227064" y="1783080"/>
            <a:ext cx="5458968" cy="3154680"/>
          </a:xfrm>
          <a:prstGeom prst="roundRect">
            <a:avLst>
              <a:gd name="adj" fmla="val 2319"/>
            </a:avLst>
          </a:prstGeom>
          <a:solidFill>
            <a:srgbClr val="F2F2F2"/>
          </a:solidFill>
          <a:ln/>
        </p:spPr>
      </p:sp>
      <p:sp>
        <p:nvSpPr>
          <p:cNvPr id="17" name="Text 15"/>
          <p:cNvSpPr txBox="1"/>
          <p:nvPr/>
        </p:nvSpPr>
        <p:spPr>
          <a:xfrm>
            <a:off x="6391656" y="1947672"/>
            <a:ext cx="5129784"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高さ</a:t>
            </a:r>
            <a:endParaRPr lang="ja-JP" sz="2600" dirty="0"/>
          </a:p>
        </p:txBody>
      </p:sp>
      <p:sp>
        <p:nvSpPr>
          <p:cNvPr id="18" name="Text 16"/>
          <p:cNvSpPr txBox="1"/>
          <p:nvPr/>
        </p:nvSpPr>
        <p:spPr>
          <a:xfrm>
            <a:off x="6391656" y="2560320"/>
            <a:ext cx="51297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右房の高さに置く</a:t>
            </a:r>
            <a:endParaRPr lang="ja-JP" sz="2400" dirty="0"/>
          </a:p>
        </p:txBody>
      </p:sp>
      <p:sp>
        <p:nvSpPr>
          <p:cNvPr id="19" name="Text 17"/>
          <p:cNvSpPr txBox="1"/>
          <p:nvPr/>
        </p:nvSpPr>
        <p:spPr>
          <a:xfrm>
            <a:off x="6391656" y="3145536"/>
            <a:ext cx="51297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第 4 肋間・中腋窩線</a:t>
            </a:r>
            <a:endParaRPr lang="ja-JP" sz="2400" dirty="0"/>
          </a:p>
        </p:txBody>
      </p:sp>
      <p:sp>
        <p:nvSpPr>
          <p:cNvPr id="20" name="Text 18"/>
          <p:cNvSpPr txBox="1"/>
          <p:nvPr/>
        </p:nvSpPr>
        <p:spPr>
          <a:xfrm>
            <a:off x="6391656" y="3730752"/>
            <a:ext cx="51297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10 cm ずれると約 </a:t>
            </a:r>
            <a:r>
              <a:rPr lang="ja-JP" altLang="en-US" sz="2400" b="1" dirty="0">
                <a:solidFill>
                  <a:srgbClr val="D55E00"/>
                </a:solidFill>
                <a:latin typeface="メイリオ" pitchFamily="34" charset="0"/>
                <a:ea typeface="メイリオ" pitchFamily="34" charset="-122"/>
                <a:cs typeface="メイリオ" pitchFamily="34" charset="-120"/>
              </a:rPr>
              <a:t>7.4 mmHg</a:t>
            </a:r>
            <a:endParaRPr lang="ja-JP" sz="2400" dirty="0"/>
          </a:p>
        </p:txBody>
      </p:sp>
      <p:sp>
        <p:nvSpPr>
          <p:cNvPr id="21" name="Text 19"/>
          <p:cNvSpPr txBox="1"/>
          <p:nvPr/>
        </p:nvSpPr>
        <p:spPr>
          <a:xfrm>
            <a:off x="6391656" y="4315968"/>
            <a:ext cx="51297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体位を変えたら合わせ直す</a:t>
            </a:r>
            <a:endParaRPr lang="ja-JP" sz="2400" dirty="0"/>
          </a:p>
        </p:txBody>
      </p:sp>
      <p:sp>
        <p:nvSpPr>
          <p:cNvPr id="22" name="Text 20"/>
          <p:cNvSpPr txBox="1"/>
          <p:nvPr/>
        </p:nvSpPr>
        <p:spPr>
          <a:xfrm>
            <a:off x="1347724" y="5394960"/>
            <a:ext cx="680720" cy="420624"/>
          </a:xfrm>
          <a:prstGeom prst="rect">
            <a:avLst/>
          </a:prstGeom>
          <a:noFill/>
          <a:ln/>
        </p:spPr>
        <p:txBody>
          <a:bodyPr wrap="square" lIns="0" tIns="0" rIns="0" bIns="0" rtlCol="0" anchor="t"/>
          <a:lstStyle/>
          <a:p>
            <a:pPr algn="l" indent="0" marL="0">
              <a:buNone/>
            </a:pPr>
            <a:r>
              <a:rPr lang="ja-JP" altLang="en-US" sz="2200" b="1" dirty="0">
                <a:solidFill>
                  <a:srgbClr val="595959"/>
                </a:solidFill>
                <a:latin typeface="メイリオ" pitchFamily="34" charset="0"/>
                <a:ea typeface="メイリオ" pitchFamily="34" charset="-122"/>
                <a:cs typeface="メイリオ" pitchFamily="34" charset="-120"/>
              </a:rPr>
              <a:t>胸郭</a:t>
            </a:r>
            <a:endParaRPr lang="ja-JP" sz="2200" dirty="0"/>
          </a:p>
        </p:txBody>
      </p:sp>
      <p:sp>
        <p:nvSpPr>
          <p:cNvPr id="23" name="Shape 21"/>
          <p:cNvSpPr/>
          <p:nvPr/>
        </p:nvSpPr>
        <p:spPr>
          <a:xfrm>
            <a:off x="2266188" y="5193792"/>
            <a:ext cx="3108960" cy="822960"/>
          </a:xfrm>
          <a:prstGeom prst="roundRect">
            <a:avLst>
              <a:gd name="adj" fmla="val 46667"/>
            </a:avLst>
          </a:prstGeom>
          <a:noFill/>
          <a:ln w="28575">
            <a:solidFill>
              <a:srgbClr val="7F7F7F"/>
            </a:solidFill>
            <a:prstDash val="solid"/>
          </a:ln>
        </p:spPr>
      </p:sp>
      <p:sp>
        <p:nvSpPr>
          <p:cNvPr id="24" name="Text 22"/>
          <p:cNvSpPr txBox="1"/>
          <p:nvPr/>
        </p:nvSpPr>
        <p:spPr>
          <a:xfrm>
            <a:off x="2769108" y="5394960"/>
            <a:ext cx="680720" cy="42062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右房</a:t>
            </a:r>
            <a:endParaRPr lang="ja-JP" sz="2200" dirty="0"/>
          </a:p>
        </p:txBody>
      </p:sp>
      <p:sp>
        <p:nvSpPr>
          <p:cNvPr id="25" name="Shape 23"/>
          <p:cNvSpPr/>
          <p:nvPr/>
        </p:nvSpPr>
        <p:spPr>
          <a:xfrm>
            <a:off x="3687572" y="5468112"/>
            <a:ext cx="274320" cy="274320"/>
          </a:xfrm>
          <a:prstGeom prst="ellipse">
            <a:avLst/>
          </a:prstGeom>
          <a:solidFill>
            <a:srgbClr val="D55E00"/>
          </a:solidFill>
          <a:ln/>
        </p:spPr>
      </p:sp>
      <p:sp>
        <p:nvSpPr>
          <p:cNvPr id="26" name="Shape 24"/>
          <p:cNvSpPr/>
          <p:nvPr/>
        </p:nvSpPr>
        <p:spPr>
          <a:xfrm>
            <a:off x="4016756" y="5605272"/>
            <a:ext cx="3388360" cy="0"/>
          </a:xfrm>
          <a:prstGeom prst="line">
            <a:avLst/>
          </a:prstGeom>
          <a:noFill/>
          <a:ln w="28575">
            <a:solidFill>
              <a:srgbClr val="D55E00"/>
            </a:solidFill>
            <a:prstDash val="dash"/>
          </a:ln>
        </p:spPr>
      </p:sp>
      <p:sp>
        <p:nvSpPr>
          <p:cNvPr id="27" name="Shape 25"/>
          <p:cNvSpPr/>
          <p:nvPr/>
        </p:nvSpPr>
        <p:spPr>
          <a:xfrm>
            <a:off x="7478268" y="5431536"/>
            <a:ext cx="566928" cy="347472"/>
          </a:xfrm>
          <a:prstGeom prst="roundRect">
            <a:avLst>
              <a:gd name="adj" fmla="val 13158"/>
            </a:avLst>
          </a:prstGeom>
          <a:solidFill>
            <a:srgbClr val="00A8AA"/>
          </a:solidFill>
          <a:ln/>
        </p:spPr>
      </p:sp>
      <p:sp>
        <p:nvSpPr>
          <p:cNvPr id="28" name="Text 26"/>
          <p:cNvSpPr txBox="1"/>
          <p:nvPr/>
        </p:nvSpPr>
        <p:spPr>
          <a:xfrm>
            <a:off x="8282940" y="5394960"/>
            <a:ext cx="2558288" cy="420624"/>
          </a:xfrm>
          <a:prstGeom prst="rect">
            <a:avLst/>
          </a:prstGeom>
          <a:noFill/>
          <a:ln/>
        </p:spPr>
        <p:txBody>
          <a:bodyPr wrap="square" lIns="0" tIns="0" rIns="0" bIns="0" rtlCol="0" anchor="t"/>
          <a:lstStyle/>
          <a:p>
            <a:pPr algn="l" indent="0" marL="0">
              <a:buNone/>
            </a:pPr>
            <a:r>
              <a:rPr lang="ja-JP" altLang="en-US" sz="2200" b="1" dirty="0">
                <a:solidFill>
                  <a:srgbClr val="00A8AA"/>
                </a:solidFill>
                <a:latin typeface="メイリオ" pitchFamily="34" charset="0"/>
                <a:ea typeface="メイリオ" pitchFamily="34" charset="-122"/>
                <a:cs typeface="メイリオ" pitchFamily="34" charset="-120"/>
              </a:rPr>
              <a:t>トランスデューサ</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波形の読み方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Saugel B, et al. Crit Care 2020;24:172</a:t>
            </a:r>
            <a:endParaRPr lang="ja-JP" sz="1600" dirty="0"/>
          </a:p>
        </p:txBody>
      </p:sp>
      <p:sp>
        <p:nvSpPr>
          <p:cNvPr id="11" name="Shape 9"/>
          <p:cNvSpPr/>
          <p:nvPr/>
        </p:nvSpPr>
        <p:spPr>
          <a:xfrm>
            <a:off x="731520" y="2562964"/>
            <a:ext cx="6263640" cy="2191916"/>
          </a:xfrm>
          <a:custGeom>
            <a:avLst/>
            <a:gdLst/>
            <a:ahLst/>
            <a:cxnLst/>
            <a:rect l="l" t="t" r="r" b="b"/>
            <a:pathLst>
              <a:path w="6263640" h="2191916">
                <a:moveTo>
                  <a:pt x="0" y="2191817"/>
                </a:moveTo>
                <a:lnTo>
                  <a:pt x="228600" y="2191817"/>
                </a:lnTo>
                <a:lnTo>
                  <a:pt x="262433" y="2152498"/>
                </a:lnTo>
                <a:lnTo>
                  <a:pt x="295351" y="2037283"/>
                </a:lnTo>
                <a:lnTo>
                  <a:pt x="329184" y="1854403"/>
                </a:lnTo>
                <a:lnTo>
                  <a:pt x="363017" y="1617574"/>
                </a:lnTo>
                <a:lnTo>
                  <a:pt x="395935" y="1343254"/>
                </a:lnTo>
                <a:lnTo>
                  <a:pt x="429768" y="1050646"/>
                </a:lnTo>
                <a:lnTo>
                  <a:pt x="463601" y="760781"/>
                </a:lnTo>
                <a:lnTo>
                  <a:pt x="496519" y="495605"/>
                </a:lnTo>
                <a:lnTo>
                  <a:pt x="530352" y="273406"/>
                </a:lnTo>
                <a:lnTo>
                  <a:pt x="564185" y="109728"/>
                </a:lnTo>
                <a:lnTo>
                  <a:pt x="597103" y="16459"/>
                </a:lnTo>
                <a:lnTo>
                  <a:pt x="630936" y="0"/>
                </a:lnTo>
                <a:lnTo>
                  <a:pt x="664769" y="18288"/>
                </a:lnTo>
                <a:lnTo>
                  <a:pt x="697687" y="42977"/>
                </a:lnTo>
                <a:lnTo>
                  <a:pt x="731520" y="73152"/>
                </a:lnTo>
                <a:lnTo>
                  <a:pt x="765353" y="106985"/>
                </a:lnTo>
                <a:lnTo>
                  <a:pt x="798271" y="144475"/>
                </a:lnTo>
                <a:lnTo>
                  <a:pt x="832104" y="184709"/>
                </a:lnTo>
                <a:lnTo>
                  <a:pt x="865937" y="227686"/>
                </a:lnTo>
                <a:lnTo>
                  <a:pt x="898855" y="273406"/>
                </a:lnTo>
                <a:lnTo>
                  <a:pt x="932688" y="320954"/>
                </a:lnTo>
                <a:lnTo>
                  <a:pt x="966521" y="371246"/>
                </a:lnTo>
                <a:lnTo>
                  <a:pt x="999439" y="422453"/>
                </a:lnTo>
                <a:lnTo>
                  <a:pt x="1033272" y="476402"/>
                </a:lnTo>
                <a:lnTo>
                  <a:pt x="1067105" y="531266"/>
                </a:lnTo>
                <a:lnTo>
                  <a:pt x="1100023" y="588874"/>
                </a:lnTo>
                <a:lnTo>
                  <a:pt x="1133856" y="647395"/>
                </a:lnTo>
                <a:lnTo>
                  <a:pt x="1167689" y="707746"/>
                </a:lnTo>
                <a:lnTo>
                  <a:pt x="1200607" y="769010"/>
                </a:lnTo>
                <a:lnTo>
                  <a:pt x="1234440" y="832104"/>
                </a:lnTo>
                <a:lnTo>
                  <a:pt x="1268273" y="897026"/>
                </a:lnTo>
                <a:lnTo>
                  <a:pt x="1301191" y="962863"/>
                </a:lnTo>
                <a:lnTo>
                  <a:pt x="1335024" y="1030529"/>
                </a:lnTo>
                <a:lnTo>
                  <a:pt x="1368857" y="1013155"/>
                </a:lnTo>
                <a:lnTo>
                  <a:pt x="1401775" y="964692"/>
                </a:lnTo>
                <a:lnTo>
                  <a:pt x="1435608" y="926287"/>
                </a:lnTo>
                <a:lnTo>
                  <a:pt x="1469441" y="903427"/>
                </a:lnTo>
                <a:lnTo>
                  <a:pt x="1502359" y="906170"/>
                </a:lnTo>
                <a:lnTo>
                  <a:pt x="1536192" y="950976"/>
                </a:lnTo>
                <a:lnTo>
                  <a:pt x="1570025" y="994867"/>
                </a:lnTo>
                <a:lnTo>
                  <a:pt x="1602943" y="1037844"/>
                </a:lnTo>
                <a:lnTo>
                  <a:pt x="1636776" y="1079906"/>
                </a:lnTo>
                <a:lnTo>
                  <a:pt x="1670609" y="1120140"/>
                </a:lnTo>
                <a:lnTo>
                  <a:pt x="1703527" y="1159459"/>
                </a:lnTo>
                <a:lnTo>
                  <a:pt x="1737360" y="1197864"/>
                </a:lnTo>
                <a:lnTo>
                  <a:pt x="1771193" y="1235354"/>
                </a:lnTo>
                <a:lnTo>
                  <a:pt x="1804111" y="1271930"/>
                </a:lnTo>
                <a:lnTo>
                  <a:pt x="1837944" y="1307592"/>
                </a:lnTo>
                <a:lnTo>
                  <a:pt x="1871777" y="1342339"/>
                </a:lnTo>
                <a:lnTo>
                  <a:pt x="1904695" y="1375258"/>
                </a:lnTo>
                <a:lnTo>
                  <a:pt x="1938528" y="1408176"/>
                </a:lnTo>
                <a:lnTo>
                  <a:pt x="1972361" y="1440180"/>
                </a:lnTo>
                <a:lnTo>
                  <a:pt x="2005279" y="1471270"/>
                </a:lnTo>
                <a:lnTo>
                  <a:pt x="2039112" y="1501445"/>
                </a:lnTo>
                <a:lnTo>
                  <a:pt x="2072945" y="1530706"/>
                </a:lnTo>
                <a:lnTo>
                  <a:pt x="2105863" y="1559966"/>
                </a:lnTo>
                <a:lnTo>
                  <a:pt x="2139696" y="1587398"/>
                </a:lnTo>
                <a:lnTo>
                  <a:pt x="2173529" y="1614830"/>
                </a:lnTo>
                <a:lnTo>
                  <a:pt x="2206447" y="1641348"/>
                </a:lnTo>
                <a:lnTo>
                  <a:pt x="2240280" y="1666951"/>
                </a:lnTo>
                <a:lnTo>
                  <a:pt x="2274113" y="1691640"/>
                </a:lnTo>
                <a:lnTo>
                  <a:pt x="2307031" y="1716329"/>
                </a:lnTo>
                <a:lnTo>
                  <a:pt x="2340864" y="1740103"/>
                </a:lnTo>
                <a:lnTo>
                  <a:pt x="2374697" y="1763878"/>
                </a:lnTo>
                <a:lnTo>
                  <a:pt x="2407615" y="1785823"/>
                </a:lnTo>
                <a:lnTo>
                  <a:pt x="2441448" y="1807769"/>
                </a:lnTo>
                <a:lnTo>
                  <a:pt x="2475281" y="1829714"/>
                </a:lnTo>
                <a:lnTo>
                  <a:pt x="2508199" y="1849831"/>
                </a:lnTo>
                <a:lnTo>
                  <a:pt x="2542032" y="1869948"/>
                </a:lnTo>
                <a:lnTo>
                  <a:pt x="2575865" y="1890065"/>
                </a:lnTo>
                <a:lnTo>
                  <a:pt x="2608783" y="1909267"/>
                </a:lnTo>
                <a:lnTo>
                  <a:pt x="2642616" y="1928470"/>
                </a:lnTo>
                <a:lnTo>
                  <a:pt x="2676449" y="1945843"/>
                </a:lnTo>
                <a:lnTo>
                  <a:pt x="2709367" y="1964131"/>
                </a:lnTo>
                <a:lnTo>
                  <a:pt x="2743200" y="1981505"/>
                </a:lnTo>
                <a:lnTo>
                  <a:pt x="2777033" y="1997964"/>
                </a:lnTo>
                <a:lnTo>
                  <a:pt x="2809951" y="2014423"/>
                </a:lnTo>
                <a:lnTo>
                  <a:pt x="2843784" y="2029968"/>
                </a:lnTo>
                <a:lnTo>
                  <a:pt x="2877617" y="2045513"/>
                </a:lnTo>
                <a:lnTo>
                  <a:pt x="2910535" y="2061058"/>
                </a:lnTo>
                <a:lnTo>
                  <a:pt x="2944368" y="2075688"/>
                </a:lnTo>
                <a:lnTo>
                  <a:pt x="2978201" y="2090318"/>
                </a:lnTo>
                <a:lnTo>
                  <a:pt x="3011119" y="2104034"/>
                </a:lnTo>
                <a:lnTo>
                  <a:pt x="3044952" y="2117750"/>
                </a:lnTo>
                <a:lnTo>
                  <a:pt x="3078785" y="2130552"/>
                </a:lnTo>
                <a:lnTo>
                  <a:pt x="3111703" y="2143354"/>
                </a:lnTo>
                <a:lnTo>
                  <a:pt x="3145536" y="2156155"/>
                </a:lnTo>
                <a:lnTo>
                  <a:pt x="3179369" y="2168042"/>
                </a:lnTo>
                <a:lnTo>
                  <a:pt x="3212287" y="2179930"/>
                </a:lnTo>
                <a:lnTo>
                  <a:pt x="3246120" y="2191817"/>
                </a:lnTo>
                <a:lnTo>
                  <a:pt x="3279953" y="2152498"/>
                </a:lnTo>
                <a:lnTo>
                  <a:pt x="3312871" y="2037283"/>
                </a:lnTo>
                <a:lnTo>
                  <a:pt x="3346704" y="1854403"/>
                </a:lnTo>
                <a:lnTo>
                  <a:pt x="3380537" y="1617574"/>
                </a:lnTo>
                <a:lnTo>
                  <a:pt x="3413455" y="1343254"/>
                </a:lnTo>
                <a:lnTo>
                  <a:pt x="3447288" y="1050646"/>
                </a:lnTo>
                <a:lnTo>
                  <a:pt x="3481121" y="760781"/>
                </a:lnTo>
                <a:lnTo>
                  <a:pt x="3514039" y="495605"/>
                </a:lnTo>
                <a:lnTo>
                  <a:pt x="3547872" y="273406"/>
                </a:lnTo>
                <a:lnTo>
                  <a:pt x="3581705" y="109728"/>
                </a:lnTo>
                <a:lnTo>
                  <a:pt x="3614623" y="16459"/>
                </a:lnTo>
                <a:lnTo>
                  <a:pt x="3648456" y="0"/>
                </a:lnTo>
                <a:lnTo>
                  <a:pt x="3682289" y="18288"/>
                </a:lnTo>
                <a:lnTo>
                  <a:pt x="3715207" y="42977"/>
                </a:lnTo>
                <a:lnTo>
                  <a:pt x="3749040" y="73152"/>
                </a:lnTo>
                <a:lnTo>
                  <a:pt x="3782873" y="106985"/>
                </a:lnTo>
                <a:lnTo>
                  <a:pt x="3815791" y="144475"/>
                </a:lnTo>
                <a:lnTo>
                  <a:pt x="3849624" y="184709"/>
                </a:lnTo>
                <a:lnTo>
                  <a:pt x="3883457" y="227686"/>
                </a:lnTo>
                <a:lnTo>
                  <a:pt x="3916375" y="273406"/>
                </a:lnTo>
                <a:lnTo>
                  <a:pt x="3950208" y="320954"/>
                </a:lnTo>
                <a:lnTo>
                  <a:pt x="3984041" y="371246"/>
                </a:lnTo>
                <a:lnTo>
                  <a:pt x="4016959" y="422453"/>
                </a:lnTo>
                <a:lnTo>
                  <a:pt x="4050792" y="476402"/>
                </a:lnTo>
                <a:lnTo>
                  <a:pt x="4084625" y="531266"/>
                </a:lnTo>
                <a:lnTo>
                  <a:pt x="4117543" y="588874"/>
                </a:lnTo>
                <a:lnTo>
                  <a:pt x="4151376" y="647395"/>
                </a:lnTo>
                <a:lnTo>
                  <a:pt x="4185209" y="707746"/>
                </a:lnTo>
                <a:lnTo>
                  <a:pt x="4218127" y="769010"/>
                </a:lnTo>
                <a:lnTo>
                  <a:pt x="4251960" y="832104"/>
                </a:lnTo>
                <a:lnTo>
                  <a:pt x="4285793" y="897026"/>
                </a:lnTo>
                <a:lnTo>
                  <a:pt x="4318711" y="962863"/>
                </a:lnTo>
                <a:lnTo>
                  <a:pt x="4352544" y="1030529"/>
                </a:lnTo>
                <a:lnTo>
                  <a:pt x="4386377" y="1013155"/>
                </a:lnTo>
                <a:lnTo>
                  <a:pt x="4419295" y="964692"/>
                </a:lnTo>
                <a:lnTo>
                  <a:pt x="4453128" y="926287"/>
                </a:lnTo>
                <a:lnTo>
                  <a:pt x="4486961" y="903427"/>
                </a:lnTo>
                <a:lnTo>
                  <a:pt x="4519879" y="906170"/>
                </a:lnTo>
                <a:lnTo>
                  <a:pt x="4553712" y="950976"/>
                </a:lnTo>
                <a:lnTo>
                  <a:pt x="4587545" y="994867"/>
                </a:lnTo>
                <a:lnTo>
                  <a:pt x="4620463" y="1037844"/>
                </a:lnTo>
                <a:lnTo>
                  <a:pt x="4654296" y="1079906"/>
                </a:lnTo>
                <a:lnTo>
                  <a:pt x="4688129" y="1120140"/>
                </a:lnTo>
                <a:lnTo>
                  <a:pt x="4721047" y="1159459"/>
                </a:lnTo>
                <a:lnTo>
                  <a:pt x="4754880" y="1197864"/>
                </a:lnTo>
                <a:lnTo>
                  <a:pt x="4788713" y="1235354"/>
                </a:lnTo>
                <a:lnTo>
                  <a:pt x="4821631" y="1271930"/>
                </a:lnTo>
                <a:lnTo>
                  <a:pt x="4855464" y="1307592"/>
                </a:lnTo>
                <a:lnTo>
                  <a:pt x="4889297" y="1342339"/>
                </a:lnTo>
                <a:lnTo>
                  <a:pt x="4922215" y="1375258"/>
                </a:lnTo>
                <a:lnTo>
                  <a:pt x="4956048" y="1408176"/>
                </a:lnTo>
                <a:lnTo>
                  <a:pt x="4989881" y="1440180"/>
                </a:lnTo>
                <a:lnTo>
                  <a:pt x="5022799" y="1471270"/>
                </a:lnTo>
                <a:lnTo>
                  <a:pt x="5056632" y="1501445"/>
                </a:lnTo>
                <a:lnTo>
                  <a:pt x="5090465" y="1530706"/>
                </a:lnTo>
                <a:lnTo>
                  <a:pt x="5123383" y="1559966"/>
                </a:lnTo>
                <a:lnTo>
                  <a:pt x="5157216" y="1587398"/>
                </a:lnTo>
                <a:lnTo>
                  <a:pt x="5191049" y="1614830"/>
                </a:lnTo>
                <a:lnTo>
                  <a:pt x="5223967" y="1641348"/>
                </a:lnTo>
                <a:lnTo>
                  <a:pt x="5257800" y="1666951"/>
                </a:lnTo>
                <a:lnTo>
                  <a:pt x="5291633" y="1691640"/>
                </a:lnTo>
                <a:lnTo>
                  <a:pt x="5324551" y="1716329"/>
                </a:lnTo>
                <a:lnTo>
                  <a:pt x="5358384" y="1740103"/>
                </a:lnTo>
                <a:lnTo>
                  <a:pt x="5392217" y="1763878"/>
                </a:lnTo>
                <a:lnTo>
                  <a:pt x="5425135" y="1785823"/>
                </a:lnTo>
                <a:lnTo>
                  <a:pt x="5458968" y="1807769"/>
                </a:lnTo>
                <a:lnTo>
                  <a:pt x="5492801" y="1829714"/>
                </a:lnTo>
                <a:lnTo>
                  <a:pt x="5525719" y="1849831"/>
                </a:lnTo>
                <a:lnTo>
                  <a:pt x="5559552" y="1869948"/>
                </a:lnTo>
                <a:lnTo>
                  <a:pt x="5593385" y="1890065"/>
                </a:lnTo>
                <a:lnTo>
                  <a:pt x="5626303" y="1909267"/>
                </a:lnTo>
                <a:lnTo>
                  <a:pt x="5660136" y="1928470"/>
                </a:lnTo>
                <a:lnTo>
                  <a:pt x="5693969" y="1945843"/>
                </a:lnTo>
                <a:lnTo>
                  <a:pt x="5726887" y="1964131"/>
                </a:lnTo>
                <a:lnTo>
                  <a:pt x="5760720" y="1981505"/>
                </a:lnTo>
                <a:lnTo>
                  <a:pt x="5794553" y="1997964"/>
                </a:lnTo>
                <a:lnTo>
                  <a:pt x="5827471" y="2014423"/>
                </a:lnTo>
                <a:lnTo>
                  <a:pt x="5861304" y="2029968"/>
                </a:lnTo>
                <a:lnTo>
                  <a:pt x="5895137" y="2045513"/>
                </a:lnTo>
                <a:lnTo>
                  <a:pt x="5928055" y="2061058"/>
                </a:lnTo>
                <a:lnTo>
                  <a:pt x="5961888" y="2075688"/>
                </a:lnTo>
                <a:lnTo>
                  <a:pt x="5995721" y="2090318"/>
                </a:lnTo>
                <a:lnTo>
                  <a:pt x="6028639" y="2104034"/>
                </a:lnTo>
                <a:lnTo>
                  <a:pt x="6062472" y="2117750"/>
                </a:lnTo>
                <a:lnTo>
                  <a:pt x="6096305" y="2130552"/>
                </a:lnTo>
                <a:lnTo>
                  <a:pt x="6129223" y="2143354"/>
                </a:lnTo>
                <a:lnTo>
                  <a:pt x="6163056" y="2156155"/>
                </a:lnTo>
                <a:lnTo>
                  <a:pt x="6196889" y="2168042"/>
                </a:lnTo>
                <a:lnTo>
                  <a:pt x="6229807" y="2179930"/>
                </a:lnTo>
                <a:lnTo>
                  <a:pt x="6263640" y="2191817"/>
                </a:lnTo>
              </a:path>
            </a:pathLst>
          </a:custGeom>
          <a:noFill/>
          <a:ln w="44450">
            <a:solidFill>
              <a:srgbClr val="0072B2"/>
            </a:solidFill>
            <a:prstDash val="solid"/>
          </a:ln>
        </p:spPr>
      </p:sp>
      <p:sp>
        <p:nvSpPr>
          <p:cNvPr id="12" name="Text 10"/>
          <p:cNvSpPr txBox="1"/>
          <p:nvPr/>
        </p:nvSpPr>
        <p:spPr>
          <a:xfrm>
            <a:off x="640080" y="1737360"/>
            <a:ext cx="292608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収縮期圧（ピーク）</a:t>
            </a:r>
            <a:endParaRPr lang="ja-JP" sz="2200" dirty="0"/>
          </a:p>
        </p:txBody>
      </p:sp>
      <p:sp>
        <p:nvSpPr>
          <p:cNvPr id="13" name="Shape 11"/>
          <p:cNvSpPr/>
          <p:nvPr/>
        </p:nvSpPr>
        <p:spPr>
          <a:xfrm>
            <a:off x="1352398" y="2212848"/>
            <a:ext cx="9144" cy="256032"/>
          </a:xfrm>
          <a:custGeom>
            <a:avLst/>
            <a:gdLst/>
            <a:ahLst/>
            <a:cxnLst/>
            <a:rect l="l" t="t" r="r" b="b"/>
            <a:pathLst>
              <a:path w="9144" h="256032">
                <a:moveTo>
                  <a:pt x="0" y="0"/>
                </a:moveTo>
                <a:lnTo>
                  <a:pt x="0" y="256032"/>
                </a:lnTo>
              </a:path>
            </a:pathLst>
          </a:custGeom>
          <a:noFill/>
          <a:ln w="19050">
            <a:solidFill>
              <a:srgbClr val="7F7F7F"/>
            </a:solidFill>
            <a:prstDash val="solid"/>
          </a:ln>
        </p:spPr>
      </p:sp>
      <p:sp>
        <p:nvSpPr>
          <p:cNvPr id="14" name="Text 12"/>
          <p:cNvSpPr txBox="1"/>
          <p:nvPr/>
        </p:nvSpPr>
        <p:spPr>
          <a:xfrm>
            <a:off x="2168042" y="2697480"/>
            <a:ext cx="132588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重複切痕</a:t>
            </a:r>
            <a:endParaRPr lang="ja-JP" sz="2200" dirty="0"/>
          </a:p>
        </p:txBody>
      </p:sp>
      <p:sp>
        <p:nvSpPr>
          <p:cNvPr id="15" name="Shape 13"/>
          <p:cNvSpPr/>
          <p:nvPr/>
        </p:nvSpPr>
        <p:spPr>
          <a:xfrm>
            <a:off x="2094890" y="3154680"/>
            <a:ext cx="256032" cy="367589"/>
          </a:xfrm>
          <a:custGeom>
            <a:avLst/>
            <a:gdLst/>
            <a:ahLst/>
            <a:cxnLst/>
            <a:rect l="l" t="t" r="r" b="b"/>
            <a:pathLst>
              <a:path w="256032" h="367589">
                <a:moveTo>
                  <a:pt x="256032" y="0"/>
                </a:moveTo>
                <a:lnTo>
                  <a:pt x="0" y="367589"/>
                </a:lnTo>
              </a:path>
            </a:pathLst>
          </a:custGeom>
          <a:noFill/>
          <a:ln w="19050">
            <a:solidFill>
              <a:srgbClr val="7F7F7F"/>
            </a:solidFill>
            <a:prstDash val="solid"/>
          </a:ln>
        </p:spPr>
      </p:sp>
      <p:sp>
        <p:nvSpPr>
          <p:cNvPr id="16" name="Text 14"/>
          <p:cNvSpPr txBox="1"/>
          <p:nvPr/>
        </p:nvSpPr>
        <p:spPr>
          <a:xfrm>
            <a:off x="5349240" y="2880360"/>
            <a:ext cx="201168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拡張期の下降</a:t>
            </a:r>
            <a:endParaRPr lang="ja-JP" sz="2200" dirty="0"/>
          </a:p>
        </p:txBody>
      </p:sp>
      <p:sp>
        <p:nvSpPr>
          <p:cNvPr id="17" name="Shape 15"/>
          <p:cNvSpPr/>
          <p:nvPr/>
        </p:nvSpPr>
        <p:spPr>
          <a:xfrm>
            <a:off x="6301130" y="3364992"/>
            <a:ext cx="9144" cy="982888"/>
          </a:xfrm>
          <a:custGeom>
            <a:avLst/>
            <a:gdLst/>
            <a:ahLst/>
            <a:cxnLst/>
            <a:rect l="l" t="t" r="r" b="b"/>
            <a:pathLst>
              <a:path w="9144" h="982888">
                <a:moveTo>
                  <a:pt x="0" y="0"/>
                </a:moveTo>
                <a:lnTo>
                  <a:pt x="0" y="982980"/>
                </a:lnTo>
              </a:path>
            </a:pathLst>
          </a:custGeom>
          <a:noFill/>
          <a:ln w="19050">
            <a:solidFill>
              <a:srgbClr val="7F7F7F"/>
            </a:solidFill>
            <a:prstDash val="solid"/>
          </a:ln>
        </p:spPr>
      </p:sp>
      <p:sp>
        <p:nvSpPr>
          <p:cNvPr id="18" name="Text 16"/>
          <p:cNvSpPr txBox="1"/>
          <p:nvPr/>
        </p:nvSpPr>
        <p:spPr>
          <a:xfrm>
            <a:off x="502920" y="5138928"/>
            <a:ext cx="132588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拡張期圧</a:t>
            </a:r>
            <a:endParaRPr lang="ja-JP" sz="2200" dirty="0"/>
          </a:p>
        </p:txBody>
      </p:sp>
      <p:sp>
        <p:nvSpPr>
          <p:cNvPr id="19" name="Shape 17"/>
          <p:cNvSpPr/>
          <p:nvPr/>
        </p:nvSpPr>
        <p:spPr>
          <a:xfrm>
            <a:off x="960120" y="4846320"/>
            <a:ext cx="9144" cy="256032"/>
          </a:xfrm>
          <a:custGeom>
            <a:avLst/>
            <a:gdLst/>
            <a:ahLst/>
            <a:cxnLst/>
            <a:rect l="l" t="t" r="r" b="b"/>
            <a:pathLst>
              <a:path w="9144" h="256032">
                <a:moveTo>
                  <a:pt x="0" y="0"/>
                </a:moveTo>
                <a:lnTo>
                  <a:pt x="0" y="256032"/>
                </a:lnTo>
              </a:path>
            </a:pathLst>
          </a:custGeom>
          <a:noFill/>
          <a:ln w="19050">
            <a:solidFill>
              <a:srgbClr val="7F7F7F"/>
            </a:solidFill>
            <a:prstDash val="solid"/>
          </a:ln>
        </p:spPr>
      </p:sp>
      <p:sp>
        <p:nvSpPr>
          <p:cNvPr id="20" name="Text 18"/>
          <p:cNvSpPr txBox="1"/>
          <p:nvPr/>
        </p:nvSpPr>
        <p:spPr>
          <a:xfrm>
            <a:off x="3246120" y="5138928"/>
            <a:ext cx="2926080"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収縮期の立ち上がり</a:t>
            </a:r>
            <a:endParaRPr lang="ja-JP" sz="2200" dirty="0"/>
          </a:p>
        </p:txBody>
      </p:sp>
      <p:sp>
        <p:nvSpPr>
          <p:cNvPr id="21" name="Shape 19"/>
          <p:cNvSpPr/>
          <p:nvPr/>
        </p:nvSpPr>
        <p:spPr>
          <a:xfrm>
            <a:off x="4237787" y="3694176"/>
            <a:ext cx="882853" cy="1389888"/>
          </a:xfrm>
          <a:custGeom>
            <a:avLst/>
            <a:gdLst/>
            <a:ahLst/>
            <a:cxnLst/>
            <a:rect l="l" t="t" r="r" b="b"/>
            <a:pathLst>
              <a:path w="882853" h="1389888">
                <a:moveTo>
                  <a:pt x="882396" y="1389888"/>
                </a:moveTo>
                <a:lnTo>
                  <a:pt x="0" y="0"/>
                </a:lnTo>
              </a:path>
            </a:pathLst>
          </a:custGeom>
          <a:noFill/>
          <a:ln w="19050">
            <a:solidFill>
              <a:srgbClr val="7F7F7F"/>
            </a:solidFill>
            <a:prstDash val="solid"/>
          </a:ln>
        </p:spPr>
      </p:sp>
      <p:sp>
        <p:nvSpPr>
          <p:cNvPr id="22" name="Text 20"/>
          <p:cNvSpPr txBox="1"/>
          <p:nvPr/>
        </p:nvSpPr>
        <p:spPr>
          <a:xfrm>
            <a:off x="7726680" y="1764792"/>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3" name="Text 21"/>
          <p:cNvSpPr txBox="1"/>
          <p:nvPr/>
        </p:nvSpPr>
        <p:spPr>
          <a:xfrm>
            <a:off x="8110728" y="1764792"/>
            <a:ext cx="357530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平均血圧 ≒</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拡張期圧 ＋ 脈圧 ÷ 3</a:t>
            </a:r>
            <a:endParaRPr lang="ja-JP" sz="2400" dirty="0"/>
          </a:p>
        </p:txBody>
      </p:sp>
      <p:sp>
        <p:nvSpPr>
          <p:cNvPr id="24" name="Text 22"/>
          <p:cNvSpPr txBox="1"/>
          <p:nvPr/>
        </p:nvSpPr>
        <p:spPr>
          <a:xfrm>
            <a:off x="7726680" y="306324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5" name="Text 23"/>
          <p:cNvSpPr txBox="1"/>
          <p:nvPr/>
        </p:nvSpPr>
        <p:spPr>
          <a:xfrm>
            <a:off x="8110728" y="3063240"/>
            <a:ext cx="357530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立ち上がりの速さ →</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収縮力の手がかり</a:t>
            </a:r>
            <a:endParaRPr lang="ja-JP" sz="2400" dirty="0"/>
          </a:p>
        </p:txBody>
      </p:sp>
      <p:sp>
        <p:nvSpPr>
          <p:cNvPr id="26" name="Text 24"/>
          <p:cNvSpPr txBox="1"/>
          <p:nvPr/>
        </p:nvSpPr>
        <p:spPr>
          <a:xfrm>
            <a:off x="7726680" y="4361688"/>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7" name="Text 25"/>
          <p:cNvSpPr txBox="1"/>
          <p:nvPr/>
        </p:nvSpPr>
        <p:spPr>
          <a:xfrm>
            <a:off x="8110728" y="4361688"/>
            <a:ext cx="357530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重複切痕 ≒</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大動脈弁の閉鎖</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中枢と末梢で違う</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教科書的記述（波形の伝播）</a:t>
            </a:r>
            <a:endParaRPr lang="ja-JP" sz="1600" dirty="0"/>
          </a:p>
        </p:txBody>
      </p:sp>
      <p:sp>
        <p:nvSpPr>
          <p:cNvPr id="11" name="Text 9"/>
          <p:cNvSpPr txBox="1"/>
          <p:nvPr/>
        </p:nvSpPr>
        <p:spPr>
          <a:xfrm>
            <a:off x="2430018" y="1700784"/>
            <a:ext cx="1737360" cy="457200"/>
          </a:xfrm>
          <a:prstGeom prst="rect">
            <a:avLst/>
          </a:prstGeom>
          <a:noFill/>
          <a:ln/>
        </p:spPr>
        <p:txBody>
          <a:bodyPr wrap="square" lIns="0" tIns="0" rIns="0" bIns="0" rtlCol="0" anchor="t"/>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大動脈</a:t>
            </a:r>
            <a:endParaRPr lang="ja-JP" sz="2400" dirty="0"/>
          </a:p>
        </p:txBody>
      </p:sp>
      <p:sp>
        <p:nvSpPr>
          <p:cNvPr id="12" name="Shape 10"/>
          <p:cNvSpPr/>
          <p:nvPr/>
        </p:nvSpPr>
        <p:spPr>
          <a:xfrm>
            <a:off x="1401318" y="2770632"/>
            <a:ext cx="3794760" cy="0"/>
          </a:xfrm>
          <a:prstGeom prst="line">
            <a:avLst/>
          </a:prstGeom>
          <a:noFill/>
          <a:ln w="19050">
            <a:solidFill>
              <a:srgbClr val="D9D9D9"/>
            </a:solidFill>
            <a:prstDash val="dash"/>
          </a:ln>
        </p:spPr>
      </p:sp>
      <p:sp>
        <p:nvSpPr>
          <p:cNvPr id="13" name="Shape 11"/>
          <p:cNvSpPr/>
          <p:nvPr/>
        </p:nvSpPr>
        <p:spPr>
          <a:xfrm>
            <a:off x="1401318" y="3577133"/>
            <a:ext cx="3794760" cy="0"/>
          </a:xfrm>
          <a:prstGeom prst="line">
            <a:avLst/>
          </a:prstGeom>
          <a:noFill/>
          <a:ln w="19050">
            <a:solidFill>
              <a:srgbClr val="D9D9D9"/>
            </a:solidFill>
            <a:prstDash val="dash"/>
          </a:ln>
        </p:spPr>
      </p:sp>
      <p:sp>
        <p:nvSpPr>
          <p:cNvPr id="14" name="Shape 12"/>
          <p:cNvSpPr/>
          <p:nvPr/>
        </p:nvSpPr>
        <p:spPr>
          <a:xfrm>
            <a:off x="1401318" y="2770905"/>
            <a:ext cx="3794760" cy="806228"/>
          </a:xfrm>
          <a:custGeom>
            <a:avLst/>
            <a:gdLst/>
            <a:ahLst/>
            <a:cxnLst/>
            <a:rect l="l" t="t" r="r" b="b"/>
            <a:pathLst>
              <a:path w="3794760" h="806228">
                <a:moveTo>
                  <a:pt x="0" y="806501"/>
                </a:moveTo>
                <a:lnTo>
                  <a:pt x="228600" y="806501"/>
                </a:lnTo>
                <a:lnTo>
                  <a:pt x="256032" y="801014"/>
                </a:lnTo>
                <a:lnTo>
                  <a:pt x="283464" y="787298"/>
                </a:lnTo>
                <a:lnTo>
                  <a:pt x="310896" y="763524"/>
                </a:lnTo>
                <a:lnTo>
                  <a:pt x="338328" y="732434"/>
                </a:lnTo>
                <a:lnTo>
                  <a:pt x="365760" y="692201"/>
                </a:lnTo>
                <a:lnTo>
                  <a:pt x="393192" y="645566"/>
                </a:lnTo>
                <a:lnTo>
                  <a:pt x="420624" y="593446"/>
                </a:lnTo>
                <a:lnTo>
                  <a:pt x="448056" y="536753"/>
                </a:lnTo>
                <a:lnTo>
                  <a:pt x="475488" y="477317"/>
                </a:lnTo>
                <a:lnTo>
                  <a:pt x="502920" y="415138"/>
                </a:lnTo>
                <a:lnTo>
                  <a:pt x="530352" y="353873"/>
                </a:lnTo>
                <a:lnTo>
                  <a:pt x="557784" y="292608"/>
                </a:lnTo>
                <a:lnTo>
                  <a:pt x="585216" y="234086"/>
                </a:lnTo>
                <a:lnTo>
                  <a:pt x="612648" y="180137"/>
                </a:lnTo>
                <a:lnTo>
                  <a:pt x="640080" y="131674"/>
                </a:lnTo>
                <a:lnTo>
                  <a:pt x="667512" y="88697"/>
                </a:lnTo>
                <a:lnTo>
                  <a:pt x="694944" y="53950"/>
                </a:lnTo>
                <a:lnTo>
                  <a:pt x="722376" y="26518"/>
                </a:lnTo>
                <a:lnTo>
                  <a:pt x="749808" y="9144"/>
                </a:lnTo>
                <a:lnTo>
                  <a:pt x="777240" y="914"/>
                </a:lnTo>
                <a:lnTo>
                  <a:pt x="804672" y="0"/>
                </a:lnTo>
                <a:lnTo>
                  <a:pt x="832104" y="1829"/>
                </a:lnTo>
                <a:lnTo>
                  <a:pt x="859536" y="4572"/>
                </a:lnTo>
                <a:lnTo>
                  <a:pt x="886968" y="8230"/>
                </a:lnTo>
                <a:lnTo>
                  <a:pt x="914400" y="12802"/>
                </a:lnTo>
                <a:lnTo>
                  <a:pt x="941832" y="19202"/>
                </a:lnTo>
                <a:lnTo>
                  <a:pt x="969264" y="25603"/>
                </a:lnTo>
                <a:lnTo>
                  <a:pt x="996696" y="33833"/>
                </a:lnTo>
                <a:lnTo>
                  <a:pt x="1024128" y="42977"/>
                </a:lnTo>
                <a:lnTo>
                  <a:pt x="1051560" y="53035"/>
                </a:lnTo>
                <a:lnTo>
                  <a:pt x="1078992" y="64008"/>
                </a:lnTo>
                <a:lnTo>
                  <a:pt x="1106424" y="75895"/>
                </a:lnTo>
                <a:lnTo>
                  <a:pt x="1133856" y="88697"/>
                </a:lnTo>
                <a:lnTo>
                  <a:pt x="1161288" y="102413"/>
                </a:lnTo>
                <a:lnTo>
                  <a:pt x="1188720" y="117043"/>
                </a:lnTo>
                <a:lnTo>
                  <a:pt x="1216152" y="133502"/>
                </a:lnTo>
                <a:lnTo>
                  <a:pt x="1243584" y="149962"/>
                </a:lnTo>
                <a:lnTo>
                  <a:pt x="1271016" y="167335"/>
                </a:lnTo>
                <a:lnTo>
                  <a:pt x="1298448" y="185623"/>
                </a:lnTo>
                <a:lnTo>
                  <a:pt x="1325880" y="205740"/>
                </a:lnTo>
                <a:lnTo>
                  <a:pt x="1353312" y="225857"/>
                </a:lnTo>
                <a:lnTo>
                  <a:pt x="1380744" y="246888"/>
                </a:lnTo>
                <a:lnTo>
                  <a:pt x="1408176" y="269748"/>
                </a:lnTo>
                <a:lnTo>
                  <a:pt x="1435608" y="261518"/>
                </a:lnTo>
                <a:lnTo>
                  <a:pt x="1463040" y="246888"/>
                </a:lnTo>
                <a:lnTo>
                  <a:pt x="1490472" y="235915"/>
                </a:lnTo>
                <a:lnTo>
                  <a:pt x="1517904" y="227686"/>
                </a:lnTo>
                <a:lnTo>
                  <a:pt x="1545336" y="225857"/>
                </a:lnTo>
                <a:lnTo>
                  <a:pt x="1572768" y="239573"/>
                </a:lnTo>
                <a:lnTo>
                  <a:pt x="1600200" y="252374"/>
                </a:lnTo>
                <a:lnTo>
                  <a:pt x="1627632" y="266090"/>
                </a:lnTo>
                <a:lnTo>
                  <a:pt x="1655064" y="278892"/>
                </a:lnTo>
                <a:lnTo>
                  <a:pt x="1682496" y="291694"/>
                </a:lnTo>
                <a:lnTo>
                  <a:pt x="1709928" y="304495"/>
                </a:lnTo>
                <a:lnTo>
                  <a:pt x="1737360" y="317297"/>
                </a:lnTo>
                <a:lnTo>
                  <a:pt x="1764792" y="329184"/>
                </a:lnTo>
                <a:lnTo>
                  <a:pt x="1792224" y="341071"/>
                </a:lnTo>
                <a:lnTo>
                  <a:pt x="1819656" y="352958"/>
                </a:lnTo>
                <a:lnTo>
                  <a:pt x="1847088" y="364846"/>
                </a:lnTo>
                <a:lnTo>
                  <a:pt x="1874520" y="375818"/>
                </a:lnTo>
                <a:lnTo>
                  <a:pt x="1901952" y="387706"/>
                </a:lnTo>
                <a:lnTo>
                  <a:pt x="1929384" y="398678"/>
                </a:lnTo>
                <a:lnTo>
                  <a:pt x="1956816" y="409651"/>
                </a:lnTo>
                <a:lnTo>
                  <a:pt x="1984248" y="419710"/>
                </a:lnTo>
                <a:lnTo>
                  <a:pt x="2011680" y="430682"/>
                </a:lnTo>
                <a:lnTo>
                  <a:pt x="2039112" y="440741"/>
                </a:lnTo>
                <a:lnTo>
                  <a:pt x="2066544" y="450799"/>
                </a:lnTo>
                <a:lnTo>
                  <a:pt x="2093976" y="460858"/>
                </a:lnTo>
                <a:lnTo>
                  <a:pt x="2121408" y="470916"/>
                </a:lnTo>
                <a:lnTo>
                  <a:pt x="2148840" y="480974"/>
                </a:lnTo>
                <a:lnTo>
                  <a:pt x="2176272" y="490118"/>
                </a:lnTo>
                <a:lnTo>
                  <a:pt x="2203704" y="499262"/>
                </a:lnTo>
                <a:lnTo>
                  <a:pt x="2231136" y="508406"/>
                </a:lnTo>
                <a:lnTo>
                  <a:pt x="2258568" y="517550"/>
                </a:lnTo>
                <a:lnTo>
                  <a:pt x="2286000" y="526694"/>
                </a:lnTo>
                <a:lnTo>
                  <a:pt x="2313432" y="535838"/>
                </a:lnTo>
                <a:lnTo>
                  <a:pt x="2340864" y="544068"/>
                </a:lnTo>
                <a:lnTo>
                  <a:pt x="2368296" y="552298"/>
                </a:lnTo>
                <a:lnTo>
                  <a:pt x="2395728" y="560527"/>
                </a:lnTo>
                <a:lnTo>
                  <a:pt x="2423160" y="568757"/>
                </a:lnTo>
                <a:lnTo>
                  <a:pt x="2450592" y="576986"/>
                </a:lnTo>
                <a:lnTo>
                  <a:pt x="2478024" y="585216"/>
                </a:lnTo>
                <a:lnTo>
                  <a:pt x="2505456" y="592531"/>
                </a:lnTo>
                <a:lnTo>
                  <a:pt x="2532888" y="600761"/>
                </a:lnTo>
                <a:lnTo>
                  <a:pt x="2560320" y="608076"/>
                </a:lnTo>
                <a:lnTo>
                  <a:pt x="2587752" y="615391"/>
                </a:lnTo>
                <a:lnTo>
                  <a:pt x="2615184" y="622706"/>
                </a:lnTo>
                <a:lnTo>
                  <a:pt x="2642616" y="630022"/>
                </a:lnTo>
                <a:lnTo>
                  <a:pt x="2670048" y="637337"/>
                </a:lnTo>
                <a:lnTo>
                  <a:pt x="2697480" y="643738"/>
                </a:lnTo>
                <a:lnTo>
                  <a:pt x="2724912" y="651053"/>
                </a:lnTo>
                <a:lnTo>
                  <a:pt x="2752344" y="657454"/>
                </a:lnTo>
                <a:lnTo>
                  <a:pt x="2779776" y="663854"/>
                </a:lnTo>
                <a:lnTo>
                  <a:pt x="2807208" y="670255"/>
                </a:lnTo>
                <a:lnTo>
                  <a:pt x="2834640" y="676656"/>
                </a:lnTo>
                <a:lnTo>
                  <a:pt x="2862072" y="683057"/>
                </a:lnTo>
                <a:lnTo>
                  <a:pt x="2889504" y="689458"/>
                </a:lnTo>
                <a:lnTo>
                  <a:pt x="2916936" y="694944"/>
                </a:lnTo>
                <a:lnTo>
                  <a:pt x="2944368" y="701345"/>
                </a:lnTo>
                <a:lnTo>
                  <a:pt x="2971800" y="706831"/>
                </a:lnTo>
                <a:lnTo>
                  <a:pt x="2999232" y="713232"/>
                </a:lnTo>
                <a:lnTo>
                  <a:pt x="3026664" y="718718"/>
                </a:lnTo>
                <a:lnTo>
                  <a:pt x="3054096" y="724205"/>
                </a:lnTo>
                <a:lnTo>
                  <a:pt x="3081528" y="729691"/>
                </a:lnTo>
                <a:lnTo>
                  <a:pt x="3108960" y="735178"/>
                </a:lnTo>
                <a:lnTo>
                  <a:pt x="3136392" y="740664"/>
                </a:lnTo>
                <a:lnTo>
                  <a:pt x="3163824" y="745236"/>
                </a:lnTo>
                <a:lnTo>
                  <a:pt x="3191256" y="750722"/>
                </a:lnTo>
                <a:lnTo>
                  <a:pt x="3218688" y="756209"/>
                </a:lnTo>
                <a:lnTo>
                  <a:pt x="3246120" y="760781"/>
                </a:lnTo>
                <a:lnTo>
                  <a:pt x="3273552" y="765353"/>
                </a:lnTo>
                <a:lnTo>
                  <a:pt x="3300984" y="770839"/>
                </a:lnTo>
                <a:lnTo>
                  <a:pt x="3328416" y="775411"/>
                </a:lnTo>
                <a:lnTo>
                  <a:pt x="3355848" y="779983"/>
                </a:lnTo>
                <a:lnTo>
                  <a:pt x="3383280" y="784555"/>
                </a:lnTo>
                <a:lnTo>
                  <a:pt x="3410712" y="789127"/>
                </a:lnTo>
                <a:lnTo>
                  <a:pt x="3438144" y="793699"/>
                </a:lnTo>
                <a:lnTo>
                  <a:pt x="3465576" y="797357"/>
                </a:lnTo>
                <a:lnTo>
                  <a:pt x="3493008" y="801929"/>
                </a:lnTo>
                <a:lnTo>
                  <a:pt x="3520440" y="806501"/>
                </a:lnTo>
                <a:lnTo>
                  <a:pt x="3794760" y="806501"/>
                </a:lnTo>
              </a:path>
            </a:pathLst>
          </a:custGeom>
          <a:noFill/>
          <a:ln w="44450">
            <a:solidFill>
              <a:srgbClr val="0072B2"/>
            </a:solidFill>
            <a:prstDash val="solid"/>
          </a:ln>
        </p:spPr>
      </p:sp>
      <p:sp>
        <p:nvSpPr>
          <p:cNvPr id="15" name="Text 13"/>
          <p:cNvSpPr txBox="1"/>
          <p:nvPr/>
        </p:nvSpPr>
        <p:spPr>
          <a:xfrm>
            <a:off x="8021574" y="1700784"/>
            <a:ext cx="1737360" cy="457200"/>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橈骨動脈</a:t>
            </a:r>
            <a:endParaRPr lang="ja-JP" sz="2400" dirty="0"/>
          </a:p>
        </p:txBody>
      </p:sp>
      <p:sp>
        <p:nvSpPr>
          <p:cNvPr id="16" name="Shape 14"/>
          <p:cNvSpPr/>
          <p:nvPr/>
        </p:nvSpPr>
        <p:spPr>
          <a:xfrm>
            <a:off x="6992874" y="2770632"/>
            <a:ext cx="3794760" cy="0"/>
          </a:xfrm>
          <a:prstGeom prst="line">
            <a:avLst/>
          </a:prstGeom>
          <a:noFill/>
          <a:ln w="19050">
            <a:solidFill>
              <a:srgbClr val="D9D9D9"/>
            </a:solidFill>
            <a:prstDash val="dash"/>
          </a:ln>
        </p:spPr>
      </p:sp>
      <p:sp>
        <p:nvSpPr>
          <p:cNvPr id="17" name="Shape 15"/>
          <p:cNvSpPr/>
          <p:nvPr/>
        </p:nvSpPr>
        <p:spPr>
          <a:xfrm>
            <a:off x="6992874" y="3577133"/>
            <a:ext cx="3794760" cy="0"/>
          </a:xfrm>
          <a:prstGeom prst="line">
            <a:avLst/>
          </a:prstGeom>
          <a:noFill/>
          <a:ln w="19050">
            <a:solidFill>
              <a:srgbClr val="D9D9D9"/>
            </a:solidFill>
            <a:prstDash val="dash"/>
          </a:ln>
        </p:spPr>
      </p:sp>
      <p:sp>
        <p:nvSpPr>
          <p:cNvPr id="18" name="Shape 16"/>
          <p:cNvSpPr/>
          <p:nvPr/>
        </p:nvSpPr>
        <p:spPr>
          <a:xfrm>
            <a:off x="6992874" y="2405786"/>
            <a:ext cx="3794760" cy="1305763"/>
          </a:xfrm>
          <a:custGeom>
            <a:avLst/>
            <a:gdLst/>
            <a:ahLst/>
            <a:cxnLst/>
            <a:rect l="l" t="t" r="r" b="b"/>
            <a:pathLst>
              <a:path w="3794760" h="1305763">
                <a:moveTo>
                  <a:pt x="0" y="1305763"/>
                </a:moveTo>
                <a:lnTo>
                  <a:pt x="228600" y="1305763"/>
                </a:lnTo>
                <a:lnTo>
                  <a:pt x="256032" y="1283818"/>
                </a:lnTo>
                <a:lnTo>
                  <a:pt x="283464" y="1217981"/>
                </a:lnTo>
                <a:lnTo>
                  <a:pt x="310896" y="1114654"/>
                </a:lnTo>
                <a:lnTo>
                  <a:pt x="338328" y="979322"/>
                </a:lnTo>
                <a:lnTo>
                  <a:pt x="365760" y="822046"/>
                </a:lnTo>
                <a:lnTo>
                  <a:pt x="393192" y="652882"/>
                </a:lnTo>
                <a:lnTo>
                  <a:pt x="420624" y="483718"/>
                </a:lnTo>
                <a:lnTo>
                  <a:pt x="448056" y="326441"/>
                </a:lnTo>
                <a:lnTo>
                  <a:pt x="475488" y="191110"/>
                </a:lnTo>
                <a:lnTo>
                  <a:pt x="502920" y="87782"/>
                </a:lnTo>
                <a:lnTo>
                  <a:pt x="530352" y="21946"/>
                </a:lnTo>
                <a:lnTo>
                  <a:pt x="557784" y="0"/>
                </a:lnTo>
                <a:lnTo>
                  <a:pt x="585216" y="79553"/>
                </a:lnTo>
                <a:lnTo>
                  <a:pt x="612648" y="122530"/>
                </a:lnTo>
                <a:lnTo>
                  <a:pt x="640080" y="157277"/>
                </a:lnTo>
                <a:lnTo>
                  <a:pt x="667512" y="187452"/>
                </a:lnTo>
                <a:lnTo>
                  <a:pt x="694944" y="215798"/>
                </a:lnTo>
                <a:lnTo>
                  <a:pt x="722376" y="241402"/>
                </a:lnTo>
                <a:lnTo>
                  <a:pt x="749808" y="266090"/>
                </a:lnTo>
                <a:lnTo>
                  <a:pt x="777240" y="288950"/>
                </a:lnTo>
                <a:lnTo>
                  <a:pt x="804672" y="310896"/>
                </a:lnTo>
                <a:lnTo>
                  <a:pt x="832104" y="331927"/>
                </a:lnTo>
                <a:lnTo>
                  <a:pt x="859536" y="352044"/>
                </a:lnTo>
                <a:lnTo>
                  <a:pt x="886968" y="371246"/>
                </a:lnTo>
                <a:lnTo>
                  <a:pt x="914400" y="390449"/>
                </a:lnTo>
                <a:lnTo>
                  <a:pt x="941832" y="408737"/>
                </a:lnTo>
                <a:lnTo>
                  <a:pt x="969264" y="426110"/>
                </a:lnTo>
                <a:lnTo>
                  <a:pt x="996696" y="443484"/>
                </a:lnTo>
                <a:lnTo>
                  <a:pt x="1024128" y="460858"/>
                </a:lnTo>
                <a:lnTo>
                  <a:pt x="1051560" y="477317"/>
                </a:lnTo>
                <a:lnTo>
                  <a:pt x="1078992" y="493776"/>
                </a:lnTo>
                <a:lnTo>
                  <a:pt x="1106424" y="509321"/>
                </a:lnTo>
                <a:lnTo>
                  <a:pt x="1133856" y="525780"/>
                </a:lnTo>
                <a:lnTo>
                  <a:pt x="1161288" y="540410"/>
                </a:lnTo>
                <a:lnTo>
                  <a:pt x="1188720" y="555955"/>
                </a:lnTo>
                <a:lnTo>
                  <a:pt x="1216152" y="570586"/>
                </a:lnTo>
                <a:lnTo>
                  <a:pt x="1243584" y="585216"/>
                </a:lnTo>
                <a:lnTo>
                  <a:pt x="1271016" y="599846"/>
                </a:lnTo>
                <a:lnTo>
                  <a:pt x="1298448" y="613562"/>
                </a:lnTo>
                <a:lnTo>
                  <a:pt x="1325880" y="628193"/>
                </a:lnTo>
                <a:lnTo>
                  <a:pt x="1353312" y="641909"/>
                </a:lnTo>
                <a:lnTo>
                  <a:pt x="1380744" y="655625"/>
                </a:lnTo>
                <a:lnTo>
                  <a:pt x="1408176" y="668426"/>
                </a:lnTo>
                <a:lnTo>
                  <a:pt x="1435608" y="682142"/>
                </a:lnTo>
                <a:lnTo>
                  <a:pt x="1463040" y="694944"/>
                </a:lnTo>
                <a:lnTo>
                  <a:pt x="1490472" y="708660"/>
                </a:lnTo>
                <a:lnTo>
                  <a:pt x="1517904" y="721462"/>
                </a:lnTo>
                <a:lnTo>
                  <a:pt x="1545336" y="733349"/>
                </a:lnTo>
                <a:lnTo>
                  <a:pt x="1572768" y="746150"/>
                </a:lnTo>
                <a:lnTo>
                  <a:pt x="1600200" y="758952"/>
                </a:lnTo>
                <a:lnTo>
                  <a:pt x="1627632" y="770839"/>
                </a:lnTo>
                <a:lnTo>
                  <a:pt x="1655064" y="783641"/>
                </a:lnTo>
                <a:lnTo>
                  <a:pt x="1682496" y="795528"/>
                </a:lnTo>
                <a:lnTo>
                  <a:pt x="1709928" y="807415"/>
                </a:lnTo>
                <a:lnTo>
                  <a:pt x="1737360" y="819302"/>
                </a:lnTo>
                <a:lnTo>
                  <a:pt x="1764792" y="831190"/>
                </a:lnTo>
                <a:lnTo>
                  <a:pt x="1792224" y="832104"/>
                </a:lnTo>
                <a:lnTo>
                  <a:pt x="1819656" y="825703"/>
                </a:lnTo>
                <a:lnTo>
                  <a:pt x="1847088" y="820217"/>
                </a:lnTo>
                <a:lnTo>
                  <a:pt x="1874520" y="815645"/>
                </a:lnTo>
                <a:lnTo>
                  <a:pt x="1901952" y="811073"/>
                </a:lnTo>
                <a:lnTo>
                  <a:pt x="1929384" y="807415"/>
                </a:lnTo>
                <a:lnTo>
                  <a:pt x="1956816" y="804672"/>
                </a:lnTo>
                <a:lnTo>
                  <a:pt x="1984248" y="803758"/>
                </a:lnTo>
                <a:lnTo>
                  <a:pt x="2011680" y="806501"/>
                </a:lnTo>
                <a:lnTo>
                  <a:pt x="2039112" y="821131"/>
                </a:lnTo>
                <a:lnTo>
                  <a:pt x="2066544" y="836676"/>
                </a:lnTo>
                <a:lnTo>
                  <a:pt x="2093976" y="851306"/>
                </a:lnTo>
                <a:lnTo>
                  <a:pt x="2121408" y="865937"/>
                </a:lnTo>
                <a:lnTo>
                  <a:pt x="2148840" y="879653"/>
                </a:lnTo>
                <a:lnTo>
                  <a:pt x="2176272" y="893369"/>
                </a:lnTo>
                <a:lnTo>
                  <a:pt x="2203704" y="907085"/>
                </a:lnTo>
                <a:lnTo>
                  <a:pt x="2231136" y="920801"/>
                </a:lnTo>
                <a:lnTo>
                  <a:pt x="2258568" y="933602"/>
                </a:lnTo>
                <a:lnTo>
                  <a:pt x="2286000" y="945490"/>
                </a:lnTo>
                <a:lnTo>
                  <a:pt x="2313432" y="958291"/>
                </a:lnTo>
                <a:lnTo>
                  <a:pt x="2340864" y="970178"/>
                </a:lnTo>
                <a:lnTo>
                  <a:pt x="2368296" y="982066"/>
                </a:lnTo>
                <a:lnTo>
                  <a:pt x="2395728" y="993953"/>
                </a:lnTo>
                <a:lnTo>
                  <a:pt x="2423160" y="1004926"/>
                </a:lnTo>
                <a:lnTo>
                  <a:pt x="2450592" y="1016813"/>
                </a:lnTo>
                <a:lnTo>
                  <a:pt x="2478024" y="1026871"/>
                </a:lnTo>
                <a:lnTo>
                  <a:pt x="2505456" y="1037844"/>
                </a:lnTo>
                <a:lnTo>
                  <a:pt x="2532888" y="1047902"/>
                </a:lnTo>
                <a:lnTo>
                  <a:pt x="2560320" y="1058875"/>
                </a:lnTo>
                <a:lnTo>
                  <a:pt x="2587752" y="1068019"/>
                </a:lnTo>
                <a:lnTo>
                  <a:pt x="2615184" y="1078078"/>
                </a:lnTo>
                <a:lnTo>
                  <a:pt x="2642616" y="1088136"/>
                </a:lnTo>
                <a:lnTo>
                  <a:pt x="2670048" y="1097280"/>
                </a:lnTo>
                <a:lnTo>
                  <a:pt x="2697480" y="1106424"/>
                </a:lnTo>
                <a:lnTo>
                  <a:pt x="2724912" y="1115568"/>
                </a:lnTo>
                <a:lnTo>
                  <a:pt x="2752344" y="1123798"/>
                </a:lnTo>
                <a:lnTo>
                  <a:pt x="2779776" y="1132942"/>
                </a:lnTo>
                <a:lnTo>
                  <a:pt x="2807208" y="1141171"/>
                </a:lnTo>
                <a:lnTo>
                  <a:pt x="2834640" y="1149401"/>
                </a:lnTo>
                <a:lnTo>
                  <a:pt x="2862072" y="1156716"/>
                </a:lnTo>
                <a:lnTo>
                  <a:pt x="2889504" y="1164946"/>
                </a:lnTo>
                <a:lnTo>
                  <a:pt x="2916936" y="1172261"/>
                </a:lnTo>
                <a:lnTo>
                  <a:pt x="2944368" y="1180490"/>
                </a:lnTo>
                <a:lnTo>
                  <a:pt x="2971800" y="1187806"/>
                </a:lnTo>
                <a:lnTo>
                  <a:pt x="2999232" y="1195121"/>
                </a:lnTo>
                <a:lnTo>
                  <a:pt x="3026664" y="1201522"/>
                </a:lnTo>
                <a:lnTo>
                  <a:pt x="3054096" y="1208837"/>
                </a:lnTo>
                <a:lnTo>
                  <a:pt x="3081528" y="1215238"/>
                </a:lnTo>
                <a:lnTo>
                  <a:pt x="3108960" y="1221638"/>
                </a:lnTo>
                <a:lnTo>
                  <a:pt x="3136392" y="1228954"/>
                </a:lnTo>
                <a:lnTo>
                  <a:pt x="3163824" y="1234440"/>
                </a:lnTo>
                <a:lnTo>
                  <a:pt x="3191256" y="1240841"/>
                </a:lnTo>
                <a:lnTo>
                  <a:pt x="3218688" y="1247242"/>
                </a:lnTo>
                <a:lnTo>
                  <a:pt x="3246120" y="1252728"/>
                </a:lnTo>
                <a:lnTo>
                  <a:pt x="3273552" y="1259129"/>
                </a:lnTo>
                <a:lnTo>
                  <a:pt x="3300984" y="1264615"/>
                </a:lnTo>
                <a:lnTo>
                  <a:pt x="3328416" y="1270102"/>
                </a:lnTo>
                <a:lnTo>
                  <a:pt x="3355848" y="1275588"/>
                </a:lnTo>
                <a:lnTo>
                  <a:pt x="3383280" y="1281074"/>
                </a:lnTo>
                <a:lnTo>
                  <a:pt x="3410712" y="1285646"/>
                </a:lnTo>
                <a:lnTo>
                  <a:pt x="3438144" y="1291133"/>
                </a:lnTo>
                <a:lnTo>
                  <a:pt x="3465576" y="1295705"/>
                </a:lnTo>
                <a:lnTo>
                  <a:pt x="3493008" y="1301191"/>
                </a:lnTo>
                <a:lnTo>
                  <a:pt x="3520440" y="1305763"/>
                </a:lnTo>
                <a:lnTo>
                  <a:pt x="3794760" y="1305763"/>
                </a:lnTo>
              </a:path>
            </a:pathLst>
          </a:custGeom>
          <a:noFill/>
          <a:ln w="44450">
            <a:solidFill>
              <a:srgbClr val="D55E00"/>
            </a:solidFill>
            <a:prstDash val="solid"/>
          </a:ln>
        </p:spPr>
      </p:sp>
      <p:sp>
        <p:nvSpPr>
          <p:cNvPr id="19" name="Text 17"/>
          <p:cNvSpPr txBox="1"/>
          <p:nvPr/>
        </p:nvSpPr>
        <p:spPr>
          <a:xfrm>
            <a:off x="5597652" y="2560320"/>
            <a:ext cx="993648"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収縮期</a:t>
            </a:r>
            <a:endParaRPr lang="ja-JP" sz="2200" dirty="0"/>
          </a:p>
        </p:txBody>
      </p:sp>
      <p:sp>
        <p:nvSpPr>
          <p:cNvPr id="20" name="Text 18"/>
          <p:cNvSpPr txBox="1"/>
          <p:nvPr/>
        </p:nvSpPr>
        <p:spPr>
          <a:xfrm>
            <a:off x="5597652" y="3366821"/>
            <a:ext cx="993648"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拡張期</a:t>
            </a:r>
            <a:endParaRPr lang="ja-JP" sz="2200" dirty="0"/>
          </a:p>
        </p:txBody>
      </p:sp>
      <p:sp>
        <p:nvSpPr>
          <p:cNvPr id="21" name="Text 19"/>
          <p:cNvSpPr txBox="1"/>
          <p:nvPr/>
        </p:nvSpPr>
        <p:spPr>
          <a:xfrm>
            <a:off x="502920" y="4023360"/>
            <a:ext cx="11155680" cy="2139696"/>
          </a:xfrm>
          <a:prstGeom prst="rect">
            <a:avLst/>
          </a:prstGeom>
          <a:noFill/>
          <a:ln/>
        </p:spPr>
        <p:txBody>
          <a:bodyPr wrap="square" lIns="0" tIns="0" rIns="0" bIns="0" rtlCol="0" anchor="t"/>
          <a:lstStyle/>
          <a:p>
            <a:pPr algn="l" marL="355600" indent="-355600">
              <a:spcAft>
                <a:spcPts val="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末梢ほど収縮期圧は高く、拡張期圧は低く出る</a:t>
            </a:r>
            <a:endParaRPr lang="ja-JP" sz="2400" dirty="0"/>
          </a:p>
          <a:p>
            <a:pPr algn="l" marL="355600" indent="-355600">
              <a:spcAft>
                <a:spcPts val="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平均血圧はほぼ同じ → </a:t>
            </a:r>
            <a:r>
              <a:rPr lang="ja-JP" altLang="en-US" sz="2400" b="1" dirty="0">
                <a:solidFill>
                  <a:srgbClr val="00A8AA"/>
                </a:solidFill>
                <a:latin typeface="メイリオ" pitchFamily="34" charset="0"/>
                <a:ea typeface="メイリオ" pitchFamily="34" charset="-122"/>
                <a:cs typeface="メイリオ" pitchFamily="34" charset="-120"/>
              </a:rPr>
              <a:t>管理は平均血圧で</a:t>
            </a:r>
            <a:endParaRPr lang="ja-JP" sz="2400" dirty="0"/>
          </a:p>
          <a:p>
            <a:pPr algn="l" marL="355600" indent="-355600">
              <a:spcAft>
                <a:spcPts val="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重複切痕は遅れて、不明瞭になる</a:t>
            </a:r>
            <a:endParaRPr lang="ja-JP" sz="2400" dirty="0"/>
          </a:p>
          <a:p>
            <a:pPr algn="l" marL="355600" indent="-355600">
              <a:spcAft>
                <a:spcPts val="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足背動脈は橈骨よりさらに収縮期圧が高い</a:t>
            </a:r>
            <a:endParaRPr 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減衰と共鳴</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Saugel B, et al. Crit Care 2020;24:172 / Gardner RM. Direct blood pressure measurement:</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dynamic response requirements. Anesthesiology 1981;54:227-236</a:t>
            </a:r>
            <a:endParaRPr lang="ja-JP" sz="1600" dirty="0"/>
          </a:p>
        </p:txBody>
      </p:sp>
      <p:sp>
        <p:nvSpPr>
          <p:cNvPr id="11" name="Shape 9"/>
          <p:cNvSpPr/>
          <p:nvPr/>
        </p:nvSpPr>
        <p:spPr>
          <a:xfrm>
            <a:off x="612648" y="1810512"/>
            <a:ext cx="3346704" cy="901190"/>
          </a:xfrm>
          <a:custGeom>
            <a:avLst/>
            <a:gdLst/>
            <a:ahLst/>
            <a:cxnLst/>
            <a:rect l="l" t="t" r="r" b="b"/>
            <a:pathLst>
              <a:path w="3346704" h="901190">
                <a:moveTo>
                  <a:pt x="0" y="651967"/>
                </a:moveTo>
                <a:lnTo>
                  <a:pt x="5486" y="652882"/>
                </a:lnTo>
                <a:lnTo>
                  <a:pt x="10973" y="653796"/>
                </a:lnTo>
                <a:lnTo>
                  <a:pt x="16459" y="654710"/>
                </a:lnTo>
                <a:lnTo>
                  <a:pt x="21946" y="656539"/>
                </a:lnTo>
                <a:lnTo>
                  <a:pt x="27432" y="657454"/>
                </a:lnTo>
                <a:lnTo>
                  <a:pt x="32918" y="658368"/>
                </a:lnTo>
                <a:lnTo>
                  <a:pt x="38405" y="659282"/>
                </a:lnTo>
                <a:lnTo>
                  <a:pt x="43891" y="660197"/>
                </a:lnTo>
                <a:lnTo>
                  <a:pt x="49378" y="660197"/>
                </a:lnTo>
                <a:lnTo>
                  <a:pt x="54864" y="661111"/>
                </a:lnTo>
                <a:lnTo>
                  <a:pt x="60350" y="662026"/>
                </a:lnTo>
                <a:lnTo>
                  <a:pt x="65837" y="662026"/>
                </a:lnTo>
                <a:lnTo>
                  <a:pt x="71323" y="662026"/>
                </a:lnTo>
                <a:lnTo>
                  <a:pt x="76810" y="662026"/>
                </a:lnTo>
                <a:lnTo>
                  <a:pt x="82296" y="662026"/>
                </a:lnTo>
                <a:lnTo>
                  <a:pt x="87782" y="662026"/>
                </a:lnTo>
                <a:lnTo>
                  <a:pt x="93269" y="662026"/>
                </a:lnTo>
                <a:lnTo>
                  <a:pt x="98755" y="662026"/>
                </a:lnTo>
                <a:lnTo>
                  <a:pt x="104242" y="661111"/>
                </a:lnTo>
                <a:lnTo>
                  <a:pt x="109728" y="659282"/>
                </a:lnTo>
                <a:lnTo>
                  <a:pt x="115214" y="656539"/>
                </a:lnTo>
                <a:lnTo>
                  <a:pt x="120701" y="651967"/>
                </a:lnTo>
                <a:lnTo>
                  <a:pt x="126187" y="644652"/>
                </a:lnTo>
                <a:lnTo>
                  <a:pt x="131674" y="634594"/>
                </a:lnTo>
                <a:lnTo>
                  <a:pt x="137160" y="619963"/>
                </a:lnTo>
                <a:lnTo>
                  <a:pt x="142646" y="602590"/>
                </a:lnTo>
                <a:lnTo>
                  <a:pt x="148133" y="581558"/>
                </a:lnTo>
                <a:lnTo>
                  <a:pt x="153619" y="555955"/>
                </a:lnTo>
                <a:lnTo>
                  <a:pt x="159106" y="527609"/>
                </a:lnTo>
                <a:lnTo>
                  <a:pt x="164592" y="497434"/>
                </a:lnTo>
                <a:lnTo>
                  <a:pt x="170078" y="464515"/>
                </a:lnTo>
                <a:lnTo>
                  <a:pt x="175565" y="431597"/>
                </a:lnTo>
                <a:lnTo>
                  <a:pt x="181051" y="399593"/>
                </a:lnTo>
                <a:lnTo>
                  <a:pt x="186538" y="367589"/>
                </a:lnTo>
                <a:lnTo>
                  <a:pt x="192024" y="338328"/>
                </a:lnTo>
                <a:lnTo>
                  <a:pt x="197510" y="310896"/>
                </a:lnTo>
                <a:lnTo>
                  <a:pt x="202997" y="287122"/>
                </a:lnTo>
                <a:lnTo>
                  <a:pt x="208483" y="267005"/>
                </a:lnTo>
                <a:lnTo>
                  <a:pt x="213970" y="250546"/>
                </a:lnTo>
                <a:lnTo>
                  <a:pt x="219456" y="237744"/>
                </a:lnTo>
                <a:lnTo>
                  <a:pt x="224942" y="228600"/>
                </a:lnTo>
                <a:lnTo>
                  <a:pt x="230429" y="224942"/>
                </a:lnTo>
                <a:lnTo>
                  <a:pt x="235915" y="224028"/>
                </a:lnTo>
                <a:lnTo>
                  <a:pt x="241402" y="227686"/>
                </a:lnTo>
                <a:lnTo>
                  <a:pt x="246888" y="234086"/>
                </a:lnTo>
                <a:lnTo>
                  <a:pt x="252374" y="244145"/>
                </a:lnTo>
                <a:lnTo>
                  <a:pt x="257861" y="257861"/>
                </a:lnTo>
                <a:lnTo>
                  <a:pt x="263347" y="273406"/>
                </a:lnTo>
                <a:lnTo>
                  <a:pt x="268834" y="290779"/>
                </a:lnTo>
                <a:lnTo>
                  <a:pt x="274320" y="309982"/>
                </a:lnTo>
                <a:lnTo>
                  <a:pt x="279806" y="330098"/>
                </a:lnTo>
                <a:lnTo>
                  <a:pt x="285293" y="352044"/>
                </a:lnTo>
                <a:lnTo>
                  <a:pt x="290779" y="373990"/>
                </a:lnTo>
                <a:lnTo>
                  <a:pt x="296266" y="395935"/>
                </a:lnTo>
                <a:lnTo>
                  <a:pt x="301752" y="417881"/>
                </a:lnTo>
                <a:lnTo>
                  <a:pt x="307238" y="439826"/>
                </a:lnTo>
                <a:lnTo>
                  <a:pt x="312725" y="459029"/>
                </a:lnTo>
                <a:lnTo>
                  <a:pt x="318211" y="477317"/>
                </a:lnTo>
                <a:lnTo>
                  <a:pt x="323698" y="493776"/>
                </a:lnTo>
                <a:lnTo>
                  <a:pt x="329184" y="507492"/>
                </a:lnTo>
                <a:lnTo>
                  <a:pt x="334670" y="519379"/>
                </a:lnTo>
                <a:lnTo>
                  <a:pt x="340157" y="527609"/>
                </a:lnTo>
                <a:lnTo>
                  <a:pt x="345643" y="534924"/>
                </a:lnTo>
                <a:lnTo>
                  <a:pt x="351130" y="539496"/>
                </a:lnTo>
                <a:lnTo>
                  <a:pt x="356616" y="542239"/>
                </a:lnTo>
                <a:lnTo>
                  <a:pt x="362102" y="543154"/>
                </a:lnTo>
                <a:lnTo>
                  <a:pt x="367589" y="543154"/>
                </a:lnTo>
                <a:lnTo>
                  <a:pt x="373075" y="541325"/>
                </a:lnTo>
                <a:lnTo>
                  <a:pt x="378562" y="539496"/>
                </a:lnTo>
                <a:lnTo>
                  <a:pt x="384048" y="536753"/>
                </a:lnTo>
                <a:lnTo>
                  <a:pt x="389534" y="534010"/>
                </a:lnTo>
                <a:lnTo>
                  <a:pt x="395021" y="530352"/>
                </a:lnTo>
                <a:lnTo>
                  <a:pt x="400507" y="527609"/>
                </a:lnTo>
                <a:lnTo>
                  <a:pt x="405994" y="524866"/>
                </a:lnTo>
                <a:lnTo>
                  <a:pt x="411480" y="522122"/>
                </a:lnTo>
                <a:lnTo>
                  <a:pt x="416966" y="520294"/>
                </a:lnTo>
                <a:lnTo>
                  <a:pt x="422453" y="519379"/>
                </a:lnTo>
                <a:lnTo>
                  <a:pt x="427939" y="518465"/>
                </a:lnTo>
                <a:lnTo>
                  <a:pt x="433426" y="519379"/>
                </a:lnTo>
                <a:lnTo>
                  <a:pt x="438912" y="520294"/>
                </a:lnTo>
                <a:lnTo>
                  <a:pt x="444398" y="522122"/>
                </a:lnTo>
                <a:lnTo>
                  <a:pt x="449885" y="523951"/>
                </a:lnTo>
                <a:lnTo>
                  <a:pt x="455371" y="527609"/>
                </a:lnTo>
                <a:lnTo>
                  <a:pt x="460858" y="531266"/>
                </a:lnTo>
                <a:lnTo>
                  <a:pt x="466344" y="535838"/>
                </a:lnTo>
                <a:lnTo>
                  <a:pt x="471830" y="541325"/>
                </a:lnTo>
                <a:lnTo>
                  <a:pt x="477317" y="546811"/>
                </a:lnTo>
                <a:lnTo>
                  <a:pt x="482803" y="552298"/>
                </a:lnTo>
                <a:lnTo>
                  <a:pt x="488290" y="557784"/>
                </a:lnTo>
                <a:lnTo>
                  <a:pt x="493776" y="564185"/>
                </a:lnTo>
                <a:lnTo>
                  <a:pt x="499262" y="570586"/>
                </a:lnTo>
                <a:lnTo>
                  <a:pt x="504749" y="576986"/>
                </a:lnTo>
                <a:lnTo>
                  <a:pt x="510235" y="583387"/>
                </a:lnTo>
                <a:lnTo>
                  <a:pt x="515722" y="588874"/>
                </a:lnTo>
                <a:lnTo>
                  <a:pt x="521208" y="595274"/>
                </a:lnTo>
                <a:lnTo>
                  <a:pt x="526694" y="600761"/>
                </a:lnTo>
                <a:lnTo>
                  <a:pt x="532181" y="606247"/>
                </a:lnTo>
                <a:lnTo>
                  <a:pt x="537667" y="610819"/>
                </a:lnTo>
                <a:lnTo>
                  <a:pt x="543154" y="615391"/>
                </a:lnTo>
                <a:lnTo>
                  <a:pt x="548640" y="619963"/>
                </a:lnTo>
                <a:lnTo>
                  <a:pt x="554126" y="623621"/>
                </a:lnTo>
                <a:lnTo>
                  <a:pt x="559613" y="626364"/>
                </a:lnTo>
                <a:lnTo>
                  <a:pt x="565099" y="630022"/>
                </a:lnTo>
                <a:lnTo>
                  <a:pt x="570586" y="632765"/>
                </a:lnTo>
                <a:lnTo>
                  <a:pt x="576072" y="634594"/>
                </a:lnTo>
                <a:lnTo>
                  <a:pt x="581558" y="636422"/>
                </a:lnTo>
                <a:lnTo>
                  <a:pt x="587045" y="638251"/>
                </a:lnTo>
                <a:lnTo>
                  <a:pt x="592531" y="640080"/>
                </a:lnTo>
                <a:lnTo>
                  <a:pt x="598018" y="640994"/>
                </a:lnTo>
                <a:lnTo>
                  <a:pt x="603504" y="642823"/>
                </a:lnTo>
                <a:lnTo>
                  <a:pt x="608990" y="643738"/>
                </a:lnTo>
                <a:lnTo>
                  <a:pt x="614477" y="644652"/>
                </a:lnTo>
                <a:lnTo>
                  <a:pt x="619963" y="645566"/>
                </a:lnTo>
                <a:lnTo>
                  <a:pt x="625450" y="646481"/>
                </a:lnTo>
                <a:lnTo>
                  <a:pt x="630936" y="647395"/>
                </a:lnTo>
                <a:lnTo>
                  <a:pt x="636422" y="647395"/>
                </a:lnTo>
                <a:lnTo>
                  <a:pt x="641909" y="648310"/>
                </a:lnTo>
                <a:lnTo>
                  <a:pt x="647395" y="649224"/>
                </a:lnTo>
                <a:lnTo>
                  <a:pt x="652882" y="650138"/>
                </a:lnTo>
                <a:lnTo>
                  <a:pt x="658368" y="651967"/>
                </a:lnTo>
                <a:lnTo>
                  <a:pt x="663854" y="652882"/>
                </a:lnTo>
                <a:lnTo>
                  <a:pt x="669341" y="653796"/>
                </a:lnTo>
                <a:lnTo>
                  <a:pt x="674827" y="654710"/>
                </a:lnTo>
                <a:lnTo>
                  <a:pt x="680314" y="656539"/>
                </a:lnTo>
                <a:lnTo>
                  <a:pt x="685800" y="657454"/>
                </a:lnTo>
                <a:lnTo>
                  <a:pt x="691286" y="658368"/>
                </a:lnTo>
                <a:lnTo>
                  <a:pt x="696773" y="659282"/>
                </a:lnTo>
                <a:lnTo>
                  <a:pt x="702259" y="660197"/>
                </a:lnTo>
                <a:lnTo>
                  <a:pt x="707746" y="660197"/>
                </a:lnTo>
                <a:lnTo>
                  <a:pt x="713232" y="661111"/>
                </a:lnTo>
                <a:lnTo>
                  <a:pt x="718718" y="662026"/>
                </a:lnTo>
                <a:lnTo>
                  <a:pt x="724205" y="662026"/>
                </a:lnTo>
                <a:lnTo>
                  <a:pt x="729691" y="662026"/>
                </a:lnTo>
                <a:lnTo>
                  <a:pt x="735178" y="662026"/>
                </a:lnTo>
                <a:lnTo>
                  <a:pt x="740664" y="662026"/>
                </a:lnTo>
                <a:lnTo>
                  <a:pt x="746150" y="662026"/>
                </a:lnTo>
                <a:lnTo>
                  <a:pt x="747979" y="662026"/>
                </a:lnTo>
                <a:lnTo>
                  <a:pt x="749808" y="0"/>
                </a:lnTo>
                <a:lnTo>
                  <a:pt x="751637" y="0"/>
                </a:lnTo>
                <a:lnTo>
                  <a:pt x="757123" y="0"/>
                </a:lnTo>
                <a:lnTo>
                  <a:pt x="762610" y="0"/>
                </a:lnTo>
                <a:lnTo>
                  <a:pt x="768096" y="0"/>
                </a:lnTo>
                <a:lnTo>
                  <a:pt x="773582" y="0"/>
                </a:lnTo>
                <a:lnTo>
                  <a:pt x="779069" y="0"/>
                </a:lnTo>
                <a:lnTo>
                  <a:pt x="784555" y="0"/>
                </a:lnTo>
                <a:lnTo>
                  <a:pt x="790042" y="0"/>
                </a:lnTo>
                <a:lnTo>
                  <a:pt x="795528" y="0"/>
                </a:lnTo>
                <a:lnTo>
                  <a:pt x="801014" y="0"/>
                </a:lnTo>
                <a:lnTo>
                  <a:pt x="806501" y="0"/>
                </a:lnTo>
                <a:lnTo>
                  <a:pt x="811987" y="0"/>
                </a:lnTo>
                <a:lnTo>
                  <a:pt x="817474" y="0"/>
                </a:lnTo>
                <a:lnTo>
                  <a:pt x="822960" y="0"/>
                </a:lnTo>
                <a:lnTo>
                  <a:pt x="828446" y="0"/>
                </a:lnTo>
                <a:lnTo>
                  <a:pt x="833933" y="0"/>
                </a:lnTo>
                <a:lnTo>
                  <a:pt x="839419" y="0"/>
                </a:lnTo>
                <a:lnTo>
                  <a:pt x="844906" y="0"/>
                </a:lnTo>
                <a:lnTo>
                  <a:pt x="850392" y="0"/>
                </a:lnTo>
                <a:lnTo>
                  <a:pt x="855878" y="0"/>
                </a:lnTo>
                <a:lnTo>
                  <a:pt x="861365" y="0"/>
                </a:lnTo>
                <a:lnTo>
                  <a:pt x="866851" y="0"/>
                </a:lnTo>
                <a:lnTo>
                  <a:pt x="872338" y="0"/>
                </a:lnTo>
                <a:lnTo>
                  <a:pt x="877824" y="0"/>
                </a:lnTo>
                <a:lnTo>
                  <a:pt x="883310" y="0"/>
                </a:lnTo>
                <a:lnTo>
                  <a:pt x="888797" y="0"/>
                </a:lnTo>
                <a:lnTo>
                  <a:pt x="894283" y="0"/>
                </a:lnTo>
                <a:lnTo>
                  <a:pt x="899770" y="0"/>
                </a:lnTo>
                <a:lnTo>
                  <a:pt x="905256" y="0"/>
                </a:lnTo>
                <a:lnTo>
                  <a:pt x="910742" y="0"/>
                </a:lnTo>
                <a:lnTo>
                  <a:pt x="916229" y="0"/>
                </a:lnTo>
                <a:lnTo>
                  <a:pt x="921715" y="0"/>
                </a:lnTo>
                <a:lnTo>
                  <a:pt x="927202" y="0"/>
                </a:lnTo>
                <a:lnTo>
                  <a:pt x="932688" y="0"/>
                </a:lnTo>
                <a:lnTo>
                  <a:pt x="938174" y="0"/>
                </a:lnTo>
                <a:lnTo>
                  <a:pt x="943661" y="0"/>
                </a:lnTo>
                <a:lnTo>
                  <a:pt x="949147" y="0"/>
                </a:lnTo>
                <a:lnTo>
                  <a:pt x="954634" y="0"/>
                </a:lnTo>
                <a:lnTo>
                  <a:pt x="960120" y="0"/>
                </a:lnTo>
                <a:lnTo>
                  <a:pt x="965606" y="0"/>
                </a:lnTo>
                <a:lnTo>
                  <a:pt x="971093" y="0"/>
                </a:lnTo>
                <a:lnTo>
                  <a:pt x="976579" y="0"/>
                </a:lnTo>
                <a:lnTo>
                  <a:pt x="982066" y="0"/>
                </a:lnTo>
                <a:lnTo>
                  <a:pt x="987552" y="0"/>
                </a:lnTo>
                <a:lnTo>
                  <a:pt x="993038" y="0"/>
                </a:lnTo>
                <a:lnTo>
                  <a:pt x="998525" y="0"/>
                </a:lnTo>
                <a:lnTo>
                  <a:pt x="1004011" y="0"/>
                </a:lnTo>
                <a:lnTo>
                  <a:pt x="1009498" y="0"/>
                </a:lnTo>
                <a:lnTo>
                  <a:pt x="1014984" y="0"/>
                </a:lnTo>
                <a:lnTo>
                  <a:pt x="1020470" y="0"/>
                </a:lnTo>
                <a:lnTo>
                  <a:pt x="1025957" y="0"/>
                </a:lnTo>
                <a:lnTo>
                  <a:pt x="1031443" y="0"/>
                </a:lnTo>
                <a:lnTo>
                  <a:pt x="1036930" y="0"/>
                </a:lnTo>
                <a:lnTo>
                  <a:pt x="1042416" y="0"/>
                </a:lnTo>
                <a:lnTo>
                  <a:pt x="1047902" y="0"/>
                </a:lnTo>
                <a:lnTo>
                  <a:pt x="1053389" y="0"/>
                </a:lnTo>
                <a:lnTo>
                  <a:pt x="1058875" y="0"/>
                </a:lnTo>
                <a:lnTo>
                  <a:pt x="1064362" y="0"/>
                </a:lnTo>
                <a:lnTo>
                  <a:pt x="1069848" y="0"/>
                </a:lnTo>
                <a:lnTo>
                  <a:pt x="1075334" y="0"/>
                </a:lnTo>
                <a:lnTo>
                  <a:pt x="1080821" y="0"/>
                </a:lnTo>
                <a:lnTo>
                  <a:pt x="1086307" y="0"/>
                </a:lnTo>
                <a:lnTo>
                  <a:pt x="1091794" y="0"/>
                </a:lnTo>
                <a:lnTo>
                  <a:pt x="1097280" y="0"/>
                </a:lnTo>
                <a:lnTo>
                  <a:pt x="1102766" y="0"/>
                </a:lnTo>
                <a:lnTo>
                  <a:pt x="1108253" y="0"/>
                </a:lnTo>
                <a:lnTo>
                  <a:pt x="1113739" y="0"/>
                </a:lnTo>
                <a:lnTo>
                  <a:pt x="1119226" y="0"/>
                </a:lnTo>
                <a:lnTo>
                  <a:pt x="1124712" y="0"/>
                </a:lnTo>
                <a:lnTo>
                  <a:pt x="1130198" y="0"/>
                </a:lnTo>
                <a:lnTo>
                  <a:pt x="1135685" y="0"/>
                </a:lnTo>
                <a:lnTo>
                  <a:pt x="1141171" y="0"/>
                </a:lnTo>
                <a:lnTo>
                  <a:pt x="1146658" y="0"/>
                </a:lnTo>
                <a:lnTo>
                  <a:pt x="1152144" y="0"/>
                </a:lnTo>
                <a:lnTo>
                  <a:pt x="1157630" y="0"/>
                </a:lnTo>
                <a:lnTo>
                  <a:pt x="1163117" y="0"/>
                </a:lnTo>
                <a:lnTo>
                  <a:pt x="1168603" y="0"/>
                </a:lnTo>
                <a:lnTo>
                  <a:pt x="1174090" y="0"/>
                </a:lnTo>
                <a:lnTo>
                  <a:pt x="1179576" y="0"/>
                </a:lnTo>
                <a:lnTo>
                  <a:pt x="1185062" y="0"/>
                </a:lnTo>
                <a:lnTo>
                  <a:pt x="1190549" y="0"/>
                </a:lnTo>
                <a:lnTo>
                  <a:pt x="1196035" y="0"/>
                </a:lnTo>
                <a:lnTo>
                  <a:pt x="1201522" y="0"/>
                </a:lnTo>
                <a:lnTo>
                  <a:pt x="1207008" y="0"/>
                </a:lnTo>
                <a:lnTo>
                  <a:pt x="1212494" y="0"/>
                </a:lnTo>
                <a:lnTo>
                  <a:pt x="1217981" y="0"/>
                </a:lnTo>
                <a:lnTo>
                  <a:pt x="1223467" y="0"/>
                </a:lnTo>
                <a:lnTo>
                  <a:pt x="1228954" y="0"/>
                </a:lnTo>
                <a:lnTo>
                  <a:pt x="1234440" y="0"/>
                </a:lnTo>
                <a:lnTo>
                  <a:pt x="1239926" y="0"/>
                </a:lnTo>
                <a:lnTo>
                  <a:pt x="1245413" y="0"/>
                </a:lnTo>
                <a:lnTo>
                  <a:pt x="1250899" y="0"/>
                </a:lnTo>
                <a:lnTo>
                  <a:pt x="1256386" y="0"/>
                </a:lnTo>
                <a:lnTo>
                  <a:pt x="1260043" y="0"/>
                </a:lnTo>
                <a:lnTo>
                  <a:pt x="1261872" y="1829"/>
                </a:lnTo>
                <a:lnTo>
                  <a:pt x="1267358" y="17374"/>
                </a:lnTo>
                <a:lnTo>
                  <a:pt x="1272845" y="46634"/>
                </a:lnTo>
                <a:lnTo>
                  <a:pt x="1278331" y="88697"/>
                </a:lnTo>
                <a:lnTo>
                  <a:pt x="1283818" y="139903"/>
                </a:lnTo>
                <a:lnTo>
                  <a:pt x="1289304" y="198425"/>
                </a:lnTo>
                <a:lnTo>
                  <a:pt x="1294790" y="263347"/>
                </a:lnTo>
                <a:lnTo>
                  <a:pt x="1300277" y="331013"/>
                </a:lnTo>
                <a:lnTo>
                  <a:pt x="1305763" y="400507"/>
                </a:lnTo>
                <a:lnTo>
                  <a:pt x="1311250" y="470002"/>
                </a:lnTo>
                <a:lnTo>
                  <a:pt x="1316736" y="537667"/>
                </a:lnTo>
                <a:lnTo>
                  <a:pt x="1322222" y="601675"/>
                </a:lnTo>
                <a:lnTo>
                  <a:pt x="1327709" y="662026"/>
                </a:lnTo>
                <a:lnTo>
                  <a:pt x="1333195" y="715975"/>
                </a:lnTo>
                <a:lnTo>
                  <a:pt x="1338682" y="763524"/>
                </a:lnTo>
                <a:lnTo>
                  <a:pt x="1344168" y="804672"/>
                </a:lnTo>
                <a:lnTo>
                  <a:pt x="1349654" y="838505"/>
                </a:lnTo>
                <a:lnTo>
                  <a:pt x="1355141" y="865022"/>
                </a:lnTo>
                <a:lnTo>
                  <a:pt x="1360627" y="884225"/>
                </a:lnTo>
                <a:lnTo>
                  <a:pt x="1366114" y="896112"/>
                </a:lnTo>
                <a:lnTo>
                  <a:pt x="1371600" y="901598"/>
                </a:lnTo>
                <a:lnTo>
                  <a:pt x="1377086" y="899770"/>
                </a:lnTo>
                <a:lnTo>
                  <a:pt x="1382573" y="893369"/>
                </a:lnTo>
                <a:lnTo>
                  <a:pt x="1388059" y="881482"/>
                </a:lnTo>
                <a:lnTo>
                  <a:pt x="1393546" y="865937"/>
                </a:lnTo>
                <a:lnTo>
                  <a:pt x="1399032" y="845820"/>
                </a:lnTo>
                <a:lnTo>
                  <a:pt x="1404518" y="823874"/>
                </a:lnTo>
                <a:lnTo>
                  <a:pt x="1410005" y="800100"/>
                </a:lnTo>
                <a:lnTo>
                  <a:pt x="1415491" y="774497"/>
                </a:lnTo>
                <a:lnTo>
                  <a:pt x="1420978" y="748894"/>
                </a:lnTo>
                <a:lnTo>
                  <a:pt x="1426464" y="723290"/>
                </a:lnTo>
                <a:lnTo>
                  <a:pt x="1431950" y="698602"/>
                </a:lnTo>
                <a:lnTo>
                  <a:pt x="1437437" y="674827"/>
                </a:lnTo>
                <a:lnTo>
                  <a:pt x="1442923" y="652882"/>
                </a:lnTo>
                <a:lnTo>
                  <a:pt x="1448410" y="633679"/>
                </a:lnTo>
                <a:lnTo>
                  <a:pt x="1453896" y="616306"/>
                </a:lnTo>
                <a:lnTo>
                  <a:pt x="1459382" y="601675"/>
                </a:lnTo>
                <a:lnTo>
                  <a:pt x="1464869" y="589788"/>
                </a:lnTo>
                <a:lnTo>
                  <a:pt x="1470355" y="580644"/>
                </a:lnTo>
                <a:lnTo>
                  <a:pt x="1475842" y="574243"/>
                </a:lnTo>
                <a:lnTo>
                  <a:pt x="1481328" y="569671"/>
                </a:lnTo>
                <a:lnTo>
                  <a:pt x="1486814" y="568757"/>
                </a:lnTo>
                <a:lnTo>
                  <a:pt x="1492301" y="569671"/>
                </a:lnTo>
                <a:lnTo>
                  <a:pt x="1497787" y="572414"/>
                </a:lnTo>
                <a:lnTo>
                  <a:pt x="1503274" y="576986"/>
                </a:lnTo>
                <a:lnTo>
                  <a:pt x="1508760" y="583387"/>
                </a:lnTo>
                <a:lnTo>
                  <a:pt x="1514246" y="590702"/>
                </a:lnTo>
                <a:lnTo>
                  <a:pt x="1519733" y="598932"/>
                </a:lnTo>
                <a:lnTo>
                  <a:pt x="1525219" y="608076"/>
                </a:lnTo>
                <a:lnTo>
                  <a:pt x="1530706" y="617220"/>
                </a:lnTo>
                <a:lnTo>
                  <a:pt x="1536192" y="626364"/>
                </a:lnTo>
                <a:lnTo>
                  <a:pt x="1541678" y="636422"/>
                </a:lnTo>
                <a:lnTo>
                  <a:pt x="1547165" y="645566"/>
                </a:lnTo>
                <a:lnTo>
                  <a:pt x="1552651" y="653796"/>
                </a:lnTo>
                <a:lnTo>
                  <a:pt x="1558138" y="662026"/>
                </a:lnTo>
                <a:lnTo>
                  <a:pt x="1563624" y="668426"/>
                </a:lnTo>
                <a:lnTo>
                  <a:pt x="1569110" y="674827"/>
                </a:lnTo>
                <a:lnTo>
                  <a:pt x="1574597" y="680314"/>
                </a:lnTo>
                <a:lnTo>
                  <a:pt x="1580083" y="683971"/>
                </a:lnTo>
                <a:lnTo>
                  <a:pt x="1585570" y="687629"/>
                </a:lnTo>
                <a:lnTo>
                  <a:pt x="1591056" y="689458"/>
                </a:lnTo>
                <a:lnTo>
                  <a:pt x="1596542" y="691286"/>
                </a:lnTo>
                <a:lnTo>
                  <a:pt x="1602029" y="691286"/>
                </a:lnTo>
                <a:lnTo>
                  <a:pt x="1607515" y="691286"/>
                </a:lnTo>
                <a:lnTo>
                  <a:pt x="1613002" y="689458"/>
                </a:lnTo>
                <a:lnTo>
                  <a:pt x="1618488" y="687629"/>
                </a:lnTo>
                <a:lnTo>
                  <a:pt x="1623974" y="685800"/>
                </a:lnTo>
                <a:lnTo>
                  <a:pt x="1629461" y="683057"/>
                </a:lnTo>
                <a:lnTo>
                  <a:pt x="1634947" y="679399"/>
                </a:lnTo>
                <a:lnTo>
                  <a:pt x="1640434" y="676656"/>
                </a:lnTo>
                <a:lnTo>
                  <a:pt x="1645920" y="672998"/>
                </a:lnTo>
                <a:lnTo>
                  <a:pt x="1651406" y="669341"/>
                </a:lnTo>
                <a:lnTo>
                  <a:pt x="1656893" y="665683"/>
                </a:lnTo>
                <a:lnTo>
                  <a:pt x="1662379" y="662940"/>
                </a:lnTo>
                <a:lnTo>
                  <a:pt x="1667866" y="659282"/>
                </a:lnTo>
                <a:lnTo>
                  <a:pt x="1673352" y="656539"/>
                </a:lnTo>
                <a:lnTo>
                  <a:pt x="1678838" y="653796"/>
                </a:lnTo>
                <a:lnTo>
                  <a:pt x="1684325" y="651967"/>
                </a:lnTo>
                <a:lnTo>
                  <a:pt x="1689811" y="650138"/>
                </a:lnTo>
                <a:lnTo>
                  <a:pt x="1695298" y="648310"/>
                </a:lnTo>
                <a:lnTo>
                  <a:pt x="1700784" y="647395"/>
                </a:lnTo>
                <a:lnTo>
                  <a:pt x="1706270" y="646481"/>
                </a:lnTo>
                <a:lnTo>
                  <a:pt x="1711757" y="646481"/>
                </a:lnTo>
                <a:lnTo>
                  <a:pt x="1717243" y="646481"/>
                </a:lnTo>
                <a:lnTo>
                  <a:pt x="1722730" y="646481"/>
                </a:lnTo>
                <a:lnTo>
                  <a:pt x="1728216" y="646481"/>
                </a:lnTo>
                <a:lnTo>
                  <a:pt x="1733702" y="647395"/>
                </a:lnTo>
                <a:lnTo>
                  <a:pt x="1739189" y="648310"/>
                </a:lnTo>
                <a:lnTo>
                  <a:pt x="1744675" y="649224"/>
                </a:lnTo>
                <a:lnTo>
                  <a:pt x="1750162" y="651053"/>
                </a:lnTo>
                <a:lnTo>
                  <a:pt x="1755648" y="651967"/>
                </a:lnTo>
                <a:lnTo>
                  <a:pt x="1761134" y="652882"/>
                </a:lnTo>
                <a:lnTo>
                  <a:pt x="1766621" y="654710"/>
                </a:lnTo>
                <a:lnTo>
                  <a:pt x="1772107" y="655625"/>
                </a:lnTo>
                <a:lnTo>
                  <a:pt x="1777594" y="657454"/>
                </a:lnTo>
                <a:lnTo>
                  <a:pt x="1783080" y="658368"/>
                </a:lnTo>
                <a:lnTo>
                  <a:pt x="1788566" y="659282"/>
                </a:lnTo>
                <a:lnTo>
                  <a:pt x="1794053" y="660197"/>
                </a:lnTo>
                <a:lnTo>
                  <a:pt x="1799539" y="661111"/>
                </a:lnTo>
                <a:lnTo>
                  <a:pt x="1805026" y="662026"/>
                </a:lnTo>
                <a:lnTo>
                  <a:pt x="1810512" y="662026"/>
                </a:lnTo>
                <a:lnTo>
                  <a:pt x="1815998" y="662940"/>
                </a:lnTo>
                <a:lnTo>
                  <a:pt x="1821485" y="662940"/>
                </a:lnTo>
                <a:lnTo>
                  <a:pt x="1826971" y="662940"/>
                </a:lnTo>
                <a:lnTo>
                  <a:pt x="1832458" y="662940"/>
                </a:lnTo>
                <a:lnTo>
                  <a:pt x="1837944" y="662940"/>
                </a:lnTo>
                <a:lnTo>
                  <a:pt x="1843430" y="662940"/>
                </a:lnTo>
                <a:lnTo>
                  <a:pt x="1848917" y="662026"/>
                </a:lnTo>
                <a:lnTo>
                  <a:pt x="1854403" y="662026"/>
                </a:lnTo>
                <a:lnTo>
                  <a:pt x="1859890" y="661111"/>
                </a:lnTo>
                <a:lnTo>
                  <a:pt x="1865376" y="661111"/>
                </a:lnTo>
                <a:lnTo>
                  <a:pt x="1870862" y="660197"/>
                </a:lnTo>
                <a:lnTo>
                  <a:pt x="1876349" y="660197"/>
                </a:lnTo>
                <a:lnTo>
                  <a:pt x="1881835" y="659282"/>
                </a:lnTo>
                <a:lnTo>
                  <a:pt x="1887322" y="659282"/>
                </a:lnTo>
                <a:lnTo>
                  <a:pt x="1892808" y="658368"/>
                </a:lnTo>
                <a:lnTo>
                  <a:pt x="1898294" y="658368"/>
                </a:lnTo>
                <a:lnTo>
                  <a:pt x="1903781" y="658368"/>
                </a:lnTo>
                <a:lnTo>
                  <a:pt x="1909267" y="657454"/>
                </a:lnTo>
                <a:lnTo>
                  <a:pt x="1914754" y="657454"/>
                </a:lnTo>
                <a:lnTo>
                  <a:pt x="1920240" y="657454"/>
                </a:lnTo>
                <a:lnTo>
                  <a:pt x="1925726" y="656539"/>
                </a:lnTo>
                <a:lnTo>
                  <a:pt x="1931213" y="656539"/>
                </a:lnTo>
                <a:lnTo>
                  <a:pt x="1936699" y="656539"/>
                </a:lnTo>
                <a:lnTo>
                  <a:pt x="1942186" y="656539"/>
                </a:lnTo>
                <a:lnTo>
                  <a:pt x="1947672" y="656539"/>
                </a:lnTo>
                <a:lnTo>
                  <a:pt x="1953158" y="656539"/>
                </a:lnTo>
                <a:lnTo>
                  <a:pt x="1958645" y="656539"/>
                </a:lnTo>
                <a:lnTo>
                  <a:pt x="1964131" y="656539"/>
                </a:lnTo>
                <a:lnTo>
                  <a:pt x="1969618" y="657454"/>
                </a:lnTo>
                <a:lnTo>
                  <a:pt x="1975104" y="657454"/>
                </a:lnTo>
                <a:lnTo>
                  <a:pt x="1980590" y="657454"/>
                </a:lnTo>
                <a:lnTo>
                  <a:pt x="1986077" y="657454"/>
                </a:lnTo>
                <a:lnTo>
                  <a:pt x="1991563" y="657454"/>
                </a:lnTo>
                <a:lnTo>
                  <a:pt x="1997050" y="658368"/>
                </a:lnTo>
                <a:lnTo>
                  <a:pt x="2002536" y="658368"/>
                </a:lnTo>
                <a:lnTo>
                  <a:pt x="2008022" y="658368"/>
                </a:lnTo>
                <a:lnTo>
                  <a:pt x="2013509" y="658368"/>
                </a:lnTo>
                <a:lnTo>
                  <a:pt x="2018995" y="658368"/>
                </a:lnTo>
                <a:lnTo>
                  <a:pt x="2024482" y="658368"/>
                </a:lnTo>
                <a:lnTo>
                  <a:pt x="2029968" y="657454"/>
                </a:lnTo>
                <a:lnTo>
                  <a:pt x="2035454" y="654710"/>
                </a:lnTo>
                <a:lnTo>
                  <a:pt x="2040941" y="650138"/>
                </a:lnTo>
                <a:lnTo>
                  <a:pt x="2046427" y="643738"/>
                </a:lnTo>
                <a:lnTo>
                  <a:pt x="2051914" y="633679"/>
                </a:lnTo>
                <a:lnTo>
                  <a:pt x="2057400" y="619963"/>
                </a:lnTo>
                <a:lnTo>
                  <a:pt x="2062886" y="602590"/>
                </a:lnTo>
                <a:lnTo>
                  <a:pt x="2068373" y="581558"/>
                </a:lnTo>
                <a:lnTo>
                  <a:pt x="2073859" y="556870"/>
                </a:lnTo>
                <a:lnTo>
                  <a:pt x="2079346" y="529438"/>
                </a:lnTo>
                <a:lnTo>
                  <a:pt x="2084832" y="498348"/>
                </a:lnTo>
                <a:lnTo>
                  <a:pt x="2090318" y="466344"/>
                </a:lnTo>
                <a:lnTo>
                  <a:pt x="2095805" y="433426"/>
                </a:lnTo>
                <a:lnTo>
                  <a:pt x="2101291" y="401422"/>
                </a:lnTo>
                <a:lnTo>
                  <a:pt x="2106778" y="369418"/>
                </a:lnTo>
                <a:lnTo>
                  <a:pt x="2112264" y="340157"/>
                </a:lnTo>
                <a:lnTo>
                  <a:pt x="2117750" y="312725"/>
                </a:lnTo>
                <a:lnTo>
                  <a:pt x="2123237" y="288950"/>
                </a:lnTo>
                <a:lnTo>
                  <a:pt x="2128723" y="267919"/>
                </a:lnTo>
                <a:lnTo>
                  <a:pt x="2134210" y="251460"/>
                </a:lnTo>
                <a:lnTo>
                  <a:pt x="2139696" y="238658"/>
                </a:lnTo>
                <a:lnTo>
                  <a:pt x="2145182" y="229514"/>
                </a:lnTo>
                <a:lnTo>
                  <a:pt x="2150669" y="224942"/>
                </a:lnTo>
                <a:lnTo>
                  <a:pt x="2156155" y="224942"/>
                </a:lnTo>
                <a:lnTo>
                  <a:pt x="2161642" y="227686"/>
                </a:lnTo>
                <a:lnTo>
                  <a:pt x="2167128" y="234086"/>
                </a:lnTo>
                <a:lnTo>
                  <a:pt x="2172614" y="244145"/>
                </a:lnTo>
                <a:lnTo>
                  <a:pt x="2178101" y="256946"/>
                </a:lnTo>
                <a:lnTo>
                  <a:pt x="2183587" y="272491"/>
                </a:lnTo>
                <a:lnTo>
                  <a:pt x="2189074" y="289865"/>
                </a:lnTo>
                <a:lnTo>
                  <a:pt x="2194560" y="309067"/>
                </a:lnTo>
                <a:lnTo>
                  <a:pt x="2200046" y="330098"/>
                </a:lnTo>
                <a:lnTo>
                  <a:pt x="2205533" y="351130"/>
                </a:lnTo>
                <a:lnTo>
                  <a:pt x="2211019" y="373075"/>
                </a:lnTo>
                <a:lnTo>
                  <a:pt x="2216506" y="395935"/>
                </a:lnTo>
                <a:lnTo>
                  <a:pt x="2221992" y="417881"/>
                </a:lnTo>
                <a:lnTo>
                  <a:pt x="2227478" y="438912"/>
                </a:lnTo>
                <a:lnTo>
                  <a:pt x="2232965" y="459029"/>
                </a:lnTo>
                <a:lnTo>
                  <a:pt x="2238451" y="477317"/>
                </a:lnTo>
                <a:lnTo>
                  <a:pt x="2243938" y="493776"/>
                </a:lnTo>
                <a:lnTo>
                  <a:pt x="2249424" y="507492"/>
                </a:lnTo>
                <a:lnTo>
                  <a:pt x="2254910" y="518465"/>
                </a:lnTo>
                <a:lnTo>
                  <a:pt x="2260397" y="527609"/>
                </a:lnTo>
                <a:lnTo>
                  <a:pt x="2265883" y="534010"/>
                </a:lnTo>
                <a:lnTo>
                  <a:pt x="2271370" y="538582"/>
                </a:lnTo>
                <a:lnTo>
                  <a:pt x="2276856" y="541325"/>
                </a:lnTo>
                <a:lnTo>
                  <a:pt x="2282342" y="543154"/>
                </a:lnTo>
                <a:lnTo>
                  <a:pt x="2287829" y="543154"/>
                </a:lnTo>
                <a:lnTo>
                  <a:pt x="2293315" y="541325"/>
                </a:lnTo>
                <a:lnTo>
                  <a:pt x="2298802" y="539496"/>
                </a:lnTo>
                <a:lnTo>
                  <a:pt x="2304288" y="536753"/>
                </a:lnTo>
                <a:lnTo>
                  <a:pt x="2309774" y="534010"/>
                </a:lnTo>
                <a:lnTo>
                  <a:pt x="2315261" y="531266"/>
                </a:lnTo>
                <a:lnTo>
                  <a:pt x="2320747" y="527609"/>
                </a:lnTo>
                <a:lnTo>
                  <a:pt x="2326234" y="524866"/>
                </a:lnTo>
                <a:lnTo>
                  <a:pt x="2331720" y="523037"/>
                </a:lnTo>
                <a:lnTo>
                  <a:pt x="2337206" y="521208"/>
                </a:lnTo>
                <a:lnTo>
                  <a:pt x="2342693" y="519379"/>
                </a:lnTo>
                <a:lnTo>
                  <a:pt x="2348179" y="519379"/>
                </a:lnTo>
                <a:lnTo>
                  <a:pt x="2353666" y="519379"/>
                </a:lnTo>
                <a:lnTo>
                  <a:pt x="2359152" y="520294"/>
                </a:lnTo>
                <a:lnTo>
                  <a:pt x="2364638" y="522122"/>
                </a:lnTo>
                <a:lnTo>
                  <a:pt x="2370125" y="523951"/>
                </a:lnTo>
                <a:lnTo>
                  <a:pt x="2375611" y="527609"/>
                </a:lnTo>
                <a:lnTo>
                  <a:pt x="2381098" y="531266"/>
                </a:lnTo>
                <a:lnTo>
                  <a:pt x="2386584" y="535838"/>
                </a:lnTo>
                <a:lnTo>
                  <a:pt x="2392070" y="541325"/>
                </a:lnTo>
                <a:lnTo>
                  <a:pt x="2397557" y="546811"/>
                </a:lnTo>
                <a:lnTo>
                  <a:pt x="2403043" y="552298"/>
                </a:lnTo>
                <a:lnTo>
                  <a:pt x="2408530" y="557784"/>
                </a:lnTo>
                <a:lnTo>
                  <a:pt x="2414016" y="564185"/>
                </a:lnTo>
                <a:lnTo>
                  <a:pt x="2419502" y="570586"/>
                </a:lnTo>
                <a:lnTo>
                  <a:pt x="2424989" y="576986"/>
                </a:lnTo>
                <a:lnTo>
                  <a:pt x="2430475" y="583387"/>
                </a:lnTo>
                <a:lnTo>
                  <a:pt x="2435962" y="588874"/>
                </a:lnTo>
                <a:lnTo>
                  <a:pt x="2441448" y="595274"/>
                </a:lnTo>
                <a:lnTo>
                  <a:pt x="2446934" y="600761"/>
                </a:lnTo>
                <a:lnTo>
                  <a:pt x="2452421" y="606247"/>
                </a:lnTo>
                <a:lnTo>
                  <a:pt x="2457907" y="610819"/>
                </a:lnTo>
                <a:lnTo>
                  <a:pt x="2463394" y="615391"/>
                </a:lnTo>
                <a:lnTo>
                  <a:pt x="2468880" y="619963"/>
                </a:lnTo>
                <a:lnTo>
                  <a:pt x="2474366" y="623621"/>
                </a:lnTo>
                <a:lnTo>
                  <a:pt x="2479853" y="626364"/>
                </a:lnTo>
                <a:lnTo>
                  <a:pt x="2485339" y="630022"/>
                </a:lnTo>
                <a:lnTo>
                  <a:pt x="2490826" y="632765"/>
                </a:lnTo>
                <a:lnTo>
                  <a:pt x="2496312" y="634594"/>
                </a:lnTo>
                <a:lnTo>
                  <a:pt x="2501798" y="636422"/>
                </a:lnTo>
                <a:lnTo>
                  <a:pt x="2507285" y="638251"/>
                </a:lnTo>
                <a:lnTo>
                  <a:pt x="2512771" y="640080"/>
                </a:lnTo>
                <a:lnTo>
                  <a:pt x="2518258" y="640994"/>
                </a:lnTo>
                <a:lnTo>
                  <a:pt x="2523744" y="642823"/>
                </a:lnTo>
                <a:lnTo>
                  <a:pt x="2529230" y="643738"/>
                </a:lnTo>
                <a:lnTo>
                  <a:pt x="2534717" y="644652"/>
                </a:lnTo>
                <a:lnTo>
                  <a:pt x="2540203" y="645566"/>
                </a:lnTo>
                <a:lnTo>
                  <a:pt x="2545690" y="646481"/>
                </a:lnTo>
                <a:lnTo>
                  <a:pt x="2551176" y="647395"/>
                </a:lnTo>
                <a:lnTo>
                  <a:pt x="2556662" y="647395"/>
                </a:lnTo>
                <a:lnTo>
                  <a:pt x="2562149" y="648310"/>
                </a:lnTo>
                <a:lnTo>
                  <a:pt x="2567635" y="649224"/>
                </a:lnTo>
                <a:lnTo>
                  <a:pt x="2573122" y="650138"/>
                </a:lnTo>
                <a:lnTo>
                  <a:pt x="2578608" y="651967"/>
                </a:lnTo>
                <a:lnTo>
                  <a:pt x="2584094" y="652882"/>
                </a:lnTo>
                <a:lnTo>
                  <a:pt x="2589581" y="653796"/>
                </a:lnTo>
                <a:lnTo>
                  <a:pt x="2595067" y="653796"/>
                </a:lnTo>
                <a:lnTo>
                  <a:pt x="2600554" y="652882"/>
                </a:lnTo>
                <a:lnTo>
                  <a:pt x="2606040" y="650138"/>
                </a:lnTo>
                <a:lnTo>
                  <a:pt x="2611526" y="645566"/>
                </a:lnTo>
                <a:lnTo>
                  <a:pt x="2617013" y="637337"/>
                </a:lnTo>
                <a:lnTo>
                  <a:pt x="2622499" y="626364"/>
                </a:lnTo>
                <a:lnTo>
                  <a:pt x="2627986" y="610819"/>
                </a:lnTo>
                <a:lnTo>
                  <a:pt x="2633472" y="591617"/>
                </a:lnTo>
                <a:lnTo>
                  <a:pt x="2638958" y="568757"/>
                </a:lnTo>
                <a:lnTo>
                  <a:pt x="2644445" y="542239"/>
                </a:lnTo>
                <a:lnTo>
                  <a:pt x="2649931" y="512064"/>
                </a:lnTo>
                <a:lnTo>
                  <a:pt x="2655418" y="480974"/>
                </a:lnTo>
                <a:lnTo>
                  <a:pt x="2660904" y="448056"/>
                </a:lnTo>
                <a:lnTo>
                  <a:pt x="2666390" y="415138"/>
                </a:lnTo>
                <a:lnTo>
                  <a:pt x="2671877" y="383134"/>
                </a:lnTo>
                <a:lnTo>
                  <a:pt x="2677363" y="352958"/>
                </a:lnTo>
                <a:lnTo>
                  <a:pt x="2682850" y="324612"/>
                </a:lnTo>
                <a:lnTo>
                  <a:pt x="2688336" y="299009"/>
                </a:lnTo>
                <a:lnTo>
                  <a:pt x="2693822" y="277063"/>
                </a:lnTo>
                <a:lnTo>
                  <a:pt x="2699309" y="258775"/>
                </a:lnTo>
                <a:lnTo>
                  <a:pt x="2704795" y="244145"/>
                </a:lnTo>
                <a:lnTo>
                  <a:pt x="2710282" y="233172"/>
                </a:lnTo>
                <a:lnTo>
                  <a:pt x="2715768" y="227686"/>
                </a:lnTo>
                <a:lnTo>
                  <a:pt x="2721254" y="224942"/>
                </a:lnTo>
                <a:lnTo>
                  <a:pt x="2726741" y="226771"/>
                </a:lnTo>
                <a:lnTo>
                  <a:pt x="2732227" y="231343"/>
                </a:lnTo>
                <a:lnTo>
                  <a:pt x="2737714" y="240487"/>
                </a:lnTo>
                <a:lnTo>
                  <a:pt x="2743200" y="252374"/>
                </a:lnTo>
                <a:lnTo>
                  <a:pt x="2748686" y="266090"/>
                </a:lnTo>
                <a:lnTo>
                  <a:pt x="2754173" y="283464"/>
                </a:lnTo>
                <a:lnTo>
                  <a:pt x="2759659" y="301752"/>
                </a:lnTo>
                <a:lnTo>
                  <a:pt x="2765146" y="321869"/>
                </a:lnTo>
                <a:lnTo>
                  <a:pt x="2770632" y="342900"/>
                </a:lnTo>
                <a:lnTo>
                  <a:pt x="2776118" y="364846"/>
                </a:lnTo>
                <a:lnTo>
                  <a:pt x="2781605" y="386791"/>
                </a:lnTo>
                <a:lnTo>
                  <a:pt x="2787091" y="408737"/>
                </a:lnTo>
                <a:lnTo>
                  <a:pt x="2792578" y="430682"/>
                </a:lnTo>
                <a:lnTo>
                  <a:pt x="2798064" y="451714"/>
                </a:lnTo>
                <a:lnTo>
                  <a:pt x="2803550" y="470002"/>
                </a:lnTo>
                <a:lnTo>
                  <a:pt x="2809037" y="487375"/>
                </a:lnTo>
                <a:lnTo>
                  <a:pt x="2814523" y="502006"/>
                </a:lnTo>
                <a:lnTo>
                  <a:pt x="2820010" y="514807"/>
                </a:lnTo>
                <a:lnTo>
                  <a:pt x="2825496" y="523951"/>
                </a:lnTo>
                <a:lnTo>
                  <a:pt x="2830982" y="532181"/>
                </a:lnTo>
                <a:lnTo>
                  <a:pt x="2836469" y="537667"/>
                </a:lnTo>
                <a:lnTo>
                  <a:pt x="2841955" y="541325"/>
                </a:lnTo>
                <a:lnTo>
                  <a:pt x="2847442" y="543154"/>
                </a:lnTo>
                <a:lnTo>
                  <a:pt x="2852928" y="543154"/>
                </a:lnTo>
                <a:lnTo>
                  <a:pt x="2858414" y="542239"/>
                </a:lnTo>
                <a:lnTo>
                  <a:pt x="2863901" y="540410"/>
                </a:lnTo>
                <a:lnTo>
                  <a:pt x="2869387" y="538582"/>
                </a:lnTo>
                <a:lnTo>
                  <a:pt x="2874874" y="535838"/>
                </a:lnTo>
                <a:lnTo>
                  <a:pt x="2880360" y="532181"/>
                </a:lnTo>
                <a:lnTo>
                  <a:pt x="2885846" y="529438"/>
                </a:lnTo>
                <a:lnTo>
                  <a:pt x="2891333" y="526694"/>
                </a:lnTo>
                <a:lnTo>
                  <a:pt x="2896819" y="523951"/>
                </a:lnTo>
                <a:lnTo>
                  <a:pt x="2902306" y="522122"/>
                </a:lnTo>
                <a:lnTo>
                  <a:pt x="2907792" y="520294"/>
                </a:lnTo>
                <a:lnTo>
                  <a:pt x="2913278" y="519379"/>
                </a:lnTo>
                <a:lnTo>
                  <a:pt x="2918765" y="519379"/>
                </a:lnTo>
                <a:lnTo>
                  <a:pt x="2924251" y="520294"/>
                </a:lnTo>
                <a:lnTo>
                  <a:pt x="2929738" y="521208"/>
                </a:lnTo>
                <a:lnTo>
                  <a:pt x="2935224" y="523951"/>
                </a:lnTo>
                <a:lnTo>
                  <a:pt x="2940710" y="526694"/>
                </a:lnTo>
                <a:lnTo>
                  <a:pt x="2946197" y="530352"/>
                </a:lnTo>
                <a:lnTo>
                  <a:pt x="2951683" y="534010"/>
                </a:lnTo>
                <a:lnTo>
                  <a:pt x="2957170" y="539496"/>
                </a:lnTo>
                <a:lnTo>
                  <a:pt x="2962656" y="544068"/>
                </a:lnTo>
                <a:lnTo>
                  <a:pt x="2968142" y="550469"/>
                </a:lnTo>
                <a:lnTo>
                  <a:pt x="2973629" y="555955"/>
                </a:lnTo>
                <a:lnTo>
                  <a:pt x="2979115" y="562356"/>
                </a:lnTo>
                <a:lnTo>
                  <a:pt x="2984602" y="568757"/>
                </a:lnTo>
                <a:lnTo>
                  <a:pt x="2990088" y="575158"/>
                </a:lnTo>
                <a:lnTo>
                  <a:pt x="2995574" y="580644"/>
                </a:lnTo>
                <a:lnTo>
                  <a:pt x="3001061" y="587045"/>
                </a:lnTo>
                <a:lnTo>
                  <a:pt x="3006547" y="592531"/>
                </a:lnTo>
                <a:lnTo>
                  <a:pt x="3012034" y="598932"/>
                </a:lnTo>
                <a:lnTo>
                  <a:pt x="3017520" y="604418"/>
                </a:lnTo>
                <a:lnTo>
                  <a:pt x="3023006" y="608990"/>
                </a:lnTo>
                <a:lnTo>
                  <a:pt x="3028493" y="613562"/>
                </a:lnTo>
                <a:lnTo>
                  <a:pt x="3033979" y="618134"/>
                </a:lnTo>
                <a:lnTo>
                  <a:pt x="3039466" y="621792"/>
                </a:lnTo>
                <a:lnTo>
                  <a:pt x="3044952" y="625450"/>
                </a:lnTo>
                <a:lnTo>
                  <a:pt x="3050438" y="629107"/>
                </a:lnTo>
                <a:lnTo>
                  <a:pt x="3055925" y="631850"/>
                </a:lnTo>
                <a:lnTo>
                  <a:pt x="3061411" y="633679"/>
                </a:lnTo>
                <a:lnTo>
                  <a:pt x="3066898" y="636422"/>
                </a:lnTo>
                <a:lnTo>
                  <a:pt x="3072384" y="638251"/>
                </a:lnTo>
                <a:lnTo>
                  <a:pt x="3077870" y="639166"/>
                </a:lnTo>
                <a:lnTo>
                  <a:pt x="3083357" y="640994"/>
                </a:lnTo>
                <a:lnTo>
                  <a:pt x="3088843" y="641909"/>
                </a:lnTo>
                <a:lnTo>
                  <a:pt x="3094330" y="643738"/>
                </a:lnTo>
                <a:lnTo>
                  <a:pt x="3099816" y="644652"/>
                </a:lnTo>
                <a:lnTo>
                  <a:pt x="3105302" y="645566"/>
                </a:lnTo>
                <a:lnTo>
                  <a:pt x="3110789" y="645566"/>
                </a:lnTo>
                <a:lnTo>
                  <a:pt x="3116275" y="646481"/>
                </a:lnTo>
                <a:lnTo>
                  <a:pt x="3121762" y="647395"/>
                </a:lnTo>
                <a:lnTo>
                  <a:pt x="3127248" y="648310"/>
                </a:lnTo>
                <a:lnTo>
                  <a:pt x="3132734" y="649224"/>
                </a:lnTo>
                <a:lnTo>
                  <a:pt x="3138221" y="650138"/>
                </a:lnTo>
                <a:lnTo>
                  <a:pt x="3143707" y="651053"/>
                </a:lnTo>
                <a:lnTo>
                  <a:pt x="3149194" y="651967"/>
                </a:lnTo>
                <a:lnTo>
                  <a:pt x="3154680" y="653796"/>
                </a:lnTo>
                <a:lnTo>
                  <a:pt x="3160166" y="654710"/>
                </a:lnTo>
                <a:lnTo>
                  <a:pt x="3165653" y="655625"/>
                </a:lnTo>
                <a:lnTo>
                  <a:pt x="3171139" y="656539"/>
                </a:lnTo>
                <a:lnTo>
                  <a:pt x="3176626" y="657454"/>
                </a:lnTo>
                <a:lnTo>
                  <a:pt x="3182112" y="658368"/>
                </a:lnTo>
                <a:lnTo>
                  <a:pt x="3187598" y="659282"/>
                </a:lnTo>
                <a:lnTo>
                  <a:pt x="3193085" y="660197"/>
                </a:lnTo>
                <a:lnTo>
                  <a:pt x="3198571" y="661111"/>
                </a:lnTo>
                <a:lnTo>
                  <a:pt x="3204058" y="661111"/>
                </a:lnTo>
                <a:lnTo>
                  <a:pt x="3209544" y="662026"/>
                </a:lnTo>
                <a:lnTo>
                  <a:pt x="3215030" y="662026"/>
                </a:lnTo>
                <a:lnTo>
                  <a:pt x="3220517" y="662026"/>
                </a:lnTo>
                <a:lnTo>
                  <a:pt x="3226003" y="662026"/>
                </a:lnTo>
                <a:lnTo>
                  <a:pt x="3231490" y="662026"/>
                </a:lnTo>
                <a:lnTo>
                  <a:pt x="3236976" y="662026"/>
                </a:lnTo>
                <a:lnTo>
                  <a:pt x="3242462" y="662026"/>
                </a:lnTo>
                <a:lnTo>
                  <a:pt x="3247949" y="662026"/>
                </a:lnTo>
                <a:lnTo>
                  <a:pt x="3253435" y="661111"/>
                </a:lnTo>
                <a:lnTo>
                  <a:pt x="3258922" y="661111"/>
                </a:lnTo>
                <a:lnTo>
                  <a:pt x="3264408" y="660197"/>
                </a:lnTo>
                <a:lnTo>
                  <a:pt x="3269894" y="660197"/>
                </a:lnTo>
                <a:lnTo>
                  <a:pt x="3275381" y="659282"/>
                </a:lnTo>
                <a:lnTo>
                  <a:pt x="3280867" y="659282"/>
                </a:lnTo>
                <a:lnTo>
                  <a:pt x="3286354" y="659282"/>
                </a:lnTo>
                <a:lnTo>
                  <a:pt x="3291840" y="658368"/>
                </a:lnTo>
                <a:lnTo>
                  <a:pt x="3297326" y="658368"/>
                </a:lnTo>
                <a:lnTo>
                  <a:pt x="3302813" y="657454"/>
                </a:lnTo>
                <a:lnTo>
                  <a:pt x="3308299" y="657454"/>
                </a:lnTo>
                <a:lnTo>
                  <a:pt x="3313786" y="657454"/>
                </a:lnTo>
                <a:lnTo>
                  <a:pt x="3319272" y="657454"/>
                </a:lnTo>
                <a:lnTo>
                  <a:pt x="3324758" y="657454"/>
                </a:lnTo>
                <a:lnTo>
                  <a:pt x="3330245" y="656539"/>
                </a:lnTo>
                <a:lnTo>
                  <a:pt x="3335731" y="656539"/>
                </a:lnTo>
                <a:lnTo>
                  <a:pt x="3341218" y="656539"/>
                </a:lnTo>
                <a:lnTo>
                  <a:pt x="3346704" y="656539"/>
                </a:lnTo>
              </a:path>
            </a:pathLst>
          </a:custGeom>
          <a:noFill/>
          <a:ln w="38100">
            <a:solidFill>
              <a:srgbClr val="0072B2"/>
            </a:solidFill>
            <a:prstDash val="solid"/>
          </a:ln>
        </p:spPr>
      </p:sp>
      <p:sp>
        <p:nvSpPr>
          <p:cNvPr id="12" name="Shape 10"/>
          <p:cNvSpPr/>
          <p:nvPr/>
        </p:nvSpPr>
        <p:spPr>
          <a:xfrm>
            <a:off x="4421124" y="1810512"/>
            <a:ext cx="3346704" cy="1107368"/>
          </a:xfrm>
          <a:custGeom>
            <a:avLst/>
            <a:gdLst/>
            <a:ahLst/>
            <a:cxnLst/>
            <a:rect l="l" t="t" r="r" b="b"/>
            <a:pathLst>
              <a:path w="3346704" h="1107368">
                <a:moveTo>
                  <a:pt x="0" y="608076"/>
                </a:moveTo>
                <a:lnTo>
                  <a:pt x="5486" y="606247"/>
                </a:lnTo>
                <a:lnTo>
                  <a:pt x="10973" y="604418"/>
                </a:lnTo>
                <a:lnTo>
                  <a:pt x="16459" y="605333"/>
                </a:lnTo>
                <a:lnTo>
                  <a:pt x="21946" y="607162"/>
                </a:lnTo>
                <a:lnTo>
                  <a:pt x="27432" y="609905"/>
                </a:lnTo>
                <a:lnTo>
                  <a:pt x="32918" y="613562"/>
                </a:lnTo>
                <a:lnTo>
                  <a:pt x="38405" y="618134"/>
                </a:lnTo>
                <a:lnTo>
                  <a:pt x="43891" y="623621"/>
                </a:lnTo>
                <a:lnTo>
                  <a:pt x="49378" y="630022"/>
                </a:lnTo>
                <a:lnTo>
                  <a:pt x="54864" y="636422"/>
                </a:lnTo>
                <a:lnTo>
                  <a:pt x="60350" y="643738"/>
                </a:lnTo>
                <a:lnTo>
                  <a:pt x="65837" y="651053"/>
                </a:lnTo>
                <a:lnTo>
                  <a:pt x="71323" y="657454"/>
                </a:lnTo>
                <a:lnTo>
                  <a:pt x="76810" y="664769"/>
                </a:lnTo>
                <a:lnTo>
                  <a:pt x="82296" y="671170"/>
                </a:lnTo>
                <a:lnTo>
                  <a:pt x="87782" y="676656"/>
                </a:lnTo>
                <a:lnTo>
                  <a:pt x="93269" y="682142"/>
                </a:lnTo>
                <a:lnTo>
                  <a:pt x="98755" y="685800"/>
                </a:lnTo>
                <a:lnTo>
                  <a:pt x="104242" y="689458"/>
                </a:lnTo>
                <a:lnTo>
                  <a:pt x="109728" y="690372"/>
                </a:lnTo>
                <a:lnTo>
                  <a:pt x="115214" y="690372"/>
                </a:lnTo>
                <a:lnTo>
                  <a:pt x="120701" y="685800"/>
                </a:lnTo>
                <a:lnTo>
                  <a:pt x="126187" y="678485"/>
                </a:lnTo>
                <a:lnTo>
                  <a:pt x="131674" y="666598"/>
                </a:lnTo>
                <a:lnTo>
                  <a:pt x="137160" y="650138"/>
                </a:lnTo>
                <a:lnTo>
                  <a:pt x="142646" y="627278"/>
                </a:lnTo>
                <a:lnTo>
                  <a:pt x="148133" y="600761"/>
                </a:lnTo>
                <a:lnTo>
                  <a:pt x="153619" y="567842"/>
                </a:lnTo>
                <a:lnTo>
                  <a:pt x="159106" y="530352"/>
                </a:lnTo>
                <a:lnTo>
                  <a:pt x="164592" y="490118"/>
                </a:lnTo>
                <a:lnTo>
                  <a:pt x="170078" y="446227"/>
                </a:lnTo>
                <a:lnTo>
                  <a:pt x="175565" y="400507"/>
                </a:lnTo>
                <a:lnTo>
                  <a:pt x="181051" y="355702"/>
                </a:lnTo>
                <a:lnTo>
                  <a:pt x="186538" y="310896"/>
                </a:lnTo>
                <a:lnTo>
                  <a:pt x="192024" y="267919"/>
                </a:lnTo>
                <a:lnTo>
                  <a:pt x="197510" y="228600"/>
                </a:lnTo>
                <a:lnTo>
                  <a:pt x="202997" y="192938"/>
                </a:lnTo>
                <a:lnTo>
                  <a:pt x="208483" y="162763"/>
                </a:lnTo>
                <a:lnTo>
                  <a:pt x="213970" y="138074"/>
                </a:lnTo>
                <a:lnTo>
                  <a:pt x="219456" y="118872"/>
                </a:lnTo>
                <a:lnTo>
                  <a:pt x="224942" y="106985"/>
                </a:lnTo>
                <a:lnTo>
                  <a:pt x="230429" y="102413"/>
                </a:lnTo>
                <a:lnTo>
                  <a:pt x="235915" y="103327"/>
                </a:lnTo>
                <a:lnTo>
                  <a:pt x="241402" y="111557"/>
                </a:lnTo>
                <a:lnTo>
                  <a:pt x="246888" y="126187"/>
                </a:lnTo>
                <a:lnTo>
                  <a:pt x="252374" y="147218"/>
                </a:lnTo>
                <a:lnTo>
                  <a:pt x="257861" y="173736"/>
                </a:lnTo>
                <a:lnTo>
                  <a:pt x="263347" y="204826"/>
                </a:lnTo>
                <a:lnTo>
                  <a:pt x="268834" y="239573"/>
                </a:lnTo>
                <a:lnTo>
                  <a:pt x="274320" y="277978"/>
                </a:lnTo>
                <a:lnTo>
                  <a:pt x="279806" y="319126"/>
                </a:lnTo>
                <a:lnTo>
                  <a:pt x="285293" y="361188"/>
                </a:lnTo>
                <a:lnTo>
                  <a:pt x="290779" y="404165"/>
                </a:lnTo>
                <a:lnTo>
                  <a:pt x="296266" y="447142"/>
                </a:lnTo>
                <a:lnTo>
                  <a:pt x="301752" y="489204"/>
                </a:lnTo>
                <a:lnTo>
                  <a:pt x="307238" y="529438"/>
                </a:lnTo>
                <a:lnTo>
                  <a:pt x="312725" y="566928"/>
                </a:lnTo>
                <a:lnTo>
                  <a:pt x="318211" y="599846"/>
                </a:lnTo>
                <a:lnTo>
                  <a:pt x="323698" y="628193"/>
                </a:lnTo>
                <a:lnTo>
                  <a:pt x="329184" y="651967"/>
                </a:lnTo>
                <a:lnTo>
                  <a:pt x="334670" y="669341"/>
                </a:lnTo>
                <a:lnTo>
                  <a:pt x="340157" y="681228"/>
                </a:lnTo>
                <a:lnTo>
                  <a:pt x="345643" y="687629"/>
                </a:lnTo>
                <a:lnTo>
                  <a:pt x="351130" y="688543"/>
                </a:lnTo>
                <a:lnTo>
                  <a:pt x="356616" y="683971"/>
                </a:lnTo>
                <a:lnTo>
                  <a:pt x="362102" y="675742"/>
                </a:lnTo>
                <a:lnTo>
                  <a:pt x="367589" y="662026"/>
                </a:lnTo>
                <a:lnTo>
                  <a:pt x="373075" y="645566"/>
                </a:lnTo>
                <a:lnTo>
                  <a:pt x="378562" y="626364"/>
                </a:lnTo>
                <a:lnTo>
                  <a:pt x="384048" y="604418"/>
                </a:lnTo>
                <a:lnTo>
                  <a:pt x="389534" y="581558"/>
                </a:lnTo>
                <a:lnTo>
                  <a:pt x="395021" y="557784"/>
                </a:lnTo>
                <a:lnTo>
                  <a:pt x="400507" y="534010"/>
                </a:lnTo>
                <a:lnTo>
                  <a:pt x="405994" y="511150"/>
                </a:lnTo>
                <a:lnTo>
                  <a:pt x="411480" y="489204"/>
                </a:lnTo>
                <a:lnTo>
                  <a:pt x="416966" y="469087"/>
                </a:lnTo>
                <a:lnTo>
                  <a:pt x="422453" y="451714"/>
                </a:lnTo>
                <a:lnTo>
                  <a:pt x="427939" y="437083"/>
                </a:lnTo>
                <a:lnTo>
                  <a:pt x="433426" y="426110"/>
                </a:lnTo>
                <a:lnTo>
                  <a:pt x="438912" y="418795"/>
                </a:lnTo>
                <a:lnTo>
                  <a:pt x="444398" y="414223"/>
                </a:lnTo>
                <a:lnTo>
                  <a:pt x="449885" y="414223"/>
                </a:lnTo>
                <a:lnTo>
                  <a:pt x="455371" y="416966"/>
                </a:lnTo>
                <a:lnTo>
                  <a:pt x="460858" y="424282"/>
                </a:lnTo>
                <a:lnTo>
                  <a:pt x="466344" y="434340"/>
                </a:lnTo>
                <a:lnTo>
                  <a:pt x="471830" y="447142"/>
                </a:lnTo>
                <a:lnTo>
                  <a:pt x="477317" y="463601"/>
                </a:lnTo>
                <a:lnTo>
                  <a:pt x="482803" y="480974"/>
                </a:lnTo>
                <a:lnTo>
                  <a:pt x="488290" y="501091"/>
                </a:lnTo>
                <a:lnTo>
                  <a:pt x="493776" y="523037"/>
                </a:lnTo>
                <a:lnTo>
                  <a:pt x="499262" y="544982"/>
                </a:lnTo>
                <a:lnTo>
                  <a:pt x="504749" y="567842"/>
                </a:lnTo>
                <a:lnTo>
                  <a:pt x="510235" y="589788"/>
                </a:lnTo>
                <a:lnTo>
                  <a:pt x="515722" y="611734"/>
                </a:lnTo>
                <a:lnTo>
                  <a:pt x="521208" y="632765"/>
                </a:lnTo>
                <a:lnTo>
                  <a:pt x="526694" y="652882"/>
                </a:lnTo>
                <a:lnTo>
                  <a:pt x="532181" y="670255"/>
                </a:lnTo>
                <a:lnTo>
                  <a:pt x="537667" y="685800"/>
                </a:lnTo>
                <a:lnTo>
                  <a:pt x="543154" y="698602"/>
                </a:lnTo>
                <a:lnTo>
                  <a:pt x="548640" y="709574"/>
                </a:lnTo>
                <a:lnTo>
                  <a:pt x="554126" y="717804"/>
                </a:lnTo>
                <a:lnTo>
                  <a:pt x="559613" y="723290"/>
                </a:lnTo>
                <a:lnTo>
                  <a:pt x="565099" y="726034"/>
                </a:lnTo>
                <a:lnTo>
                  <a:pt x="570586" y="726948"/>
                </a:lnTo>
                <a:lnTo>
                  <a:pt x="576072" y="725119"/>
                </a:lnTo>
                <a:lnTo>
                  <a:pt x="581558" y="720547"/>
                </a:lnTo>
                <a:lnTo>
                  <a:pt x="587045" y="714146"/>
                </a:lnTo>
                <a:lnTo>
                  <a:pt x="592531" y="706831"/>
                </a:lnTo>
                <a:lnTo>
                  <a:pt x="598018" y="697687"/>
                </a:lnTo>
                <a:lnTo>
                  <a:pt x="603504" y="686714"/>
                </a:lnTo>
                <a:lnTo>
                  <a:pt x="608990" y="675742"/>
                </a:lnTo>
                <a:lnTo>
                  <a:pt x="614477" y="664769"/>
                </a:lnTo>
                <a:lnTo>
                  <a:pt x="619963" y="652882"/>
                </a:lnTo>
                <a:lnTo>
                  <a:pt x="625450" y="641909"/>
                </a:lnTo>
                <a:lnTo>
                  <a:pt x="630936" y="630936"/>
                </a:lnTo>
                <a:lnTo>
                  <a:pt x="636422" y="621792"/>
                </a:lnTo>
                <a:lnTo>
                  <a:pt x="641909" y="612648"/>
                </a:lnTo>
                <a:lnTo>
                  <a:pt x="647395" y="605333"/>
                </a:lnTo>
                <a:lnTo>
                  <a:pt x="652882" y="599846"/>
                </a:lnTo>
                <a:lnTo>
                  <a:pt x="658368" y="595274"/>
                </a:lnTo>
                <a:lnTo>
                  <a:pt x="663854" y="592531"/>
                </a:lnTo>
                <a:lnTo>
                  <a:pt x="669341" y="592531"/>
                </a:lnTo>
                <a:lnTo>
                  <a:pt x="674827" y="593446"/>
                </a:lnTo>
                <a:lnTo>
                  <a:pt x="680314" y="595274"/>
                </a:lnTo>
                <a:lnTo>
                  <a:pt x="685800" y="598932"/>
                </a:lnTo>
                <a:lnTo>
                  <a:pt x="691286" y="604418"/>
                </a:lnTo>
                <a:lnTo>
                  <a:pt x="696773" y="610819"/>
                </a:lnTo>
                <a:lnTo>
                  <a:pt x="702259" y="618134"/>
                </a:lnTo>
                <a:lnTo>
                  <a:pt x="707746" y="625450"/>
                </a:lnTo>
                <a:lnTo>
                  <a:pt x="713232" y="633679"/>
                </a:lnTo>
                <a:lnTo>
                  <a:pt x="718718" y="642823"/>
                </a:lnTo>
                <a:lnTo>
                  <a:pt x="724205" y="651053"/>
                </a:lnTo>
                <a:lnTo>
                  <a:pt x="729691" y="660197"/>
                </a:lnTo>
                <a:lnTo>
                  <a:pt x="735178" y="668426"/>
                </a:lnTo>
                <a:lnTo>
                  <a:pt x="740664" y="675742"/>
                </a:lnTo>
                <a:lnTo>
                  <a:pt x="746150" y="683057"/>
                </a:lnTo>
                <a:lnTo>
                  <a:pt x="747979" y="684886"/>
                </a:lnTo>
                <a:lnTo>
                  <a:pt x="749808" y="0"/>
                </a:lnTo>
                <a:lnTo>
                  <a:pt x="751637" y="0"/>
                </a:lnTo>
                <a:lnTo>
                  <a:pt x="757123" y="0"/>
                </a:lnTo>
                <a:lnTo>
                  <a:pt x="762610" y="0"/>
                </a:lnTo>
                <a:lnTo>
                  <a:pt x="768096" y="0"/>
                </a:lnTo>
                <a:lnTo>
                  <a:pt x="773582" y="0"/>
                </a:lnTo>
                <a:lnTo>
                  <a:pt x="779069" y="0"/>
                </a:lnTo>
                <a:lnTo>
                  <a:pt x="784555" y="0"/>
                </a:lnTo>
                <a:lnTo>
                  <a:pt x="790042" y="0"/>
                </a:lnTo>
                <a:lnTo>
                  <a:pt x="795528" y="0"/>
                </a:lnTo>
                <a:lnTo>
                  <a:pt x="801014" y="0"/>
                </a:lnTo>
                <a:lnTo>
                  <a:pt x="806501" y="0"/>
                </a:lnTo>
                <a:lnTo>
                  <a:pt x="811987" y="0"/>
                </a:lnTo>
                <a:lnTo>
                  <a:pt x="817474" y="0"/>
                </a:lnTo>
                <a:lnTo>
                  <a:pt x="822960" y="0"/>
                </a:lnTo>
                <a:lnTo>
                  <a:pt x="828446" y="0"/>
                </a:lnTo>
                <a:lnTo>
                  <a:pt x="833933" y="0"/>
                </a:lnTo>
                <a:lnTo>
                  <a:pt x="839419" y="0"/>
                </a:lnTo>
                <a:lnTo>
                  <a:pt x="844906" y="0"/>
                </a:lnTo>
                <a:lnTo>
                  <a:pt x="850392" y="0"/>
                </a:lnTo>
                <a:lnTo>
                  <a:pt x="855878" y="0"/>
                </a:lnTo>
                <a:lnTo>
                  <a:pt x="861365" y="0"/>
                </a:lnTo>
                <a:lnTo>
                  <a:pt x="866851" y="0"/>
                </a:lnTo>
                <a:lnTo>
                  <a:pt x="872338" y="0"/>
                </a:lnTo>
                <a:lnTo>
                  <a:pt x="877824" y="0"/>
                </a:lnTo>
                <a:lnTo>
                  <a:pt x="883310" y="0"/>
                </a:lnTo>
                <a:lnTo>
                  <a:pt x="888797" y="0"/>
                </a:lnTo>
                <a:lnTo>
                  <a:pt x="894283" y="0"/>
                </a:lnTo>
                <a:lnTo>
                  <a:pt x="899770" y="0"/>
                </a:lnTo>
                <a:lnTo>
                  <a:pt x="905256" y="0"/>
                </a:lnTo>
                <a:lnTo>
                  <a:pt x="910742" y="0"/>
                </a:lnTo>
                <a:lnTo>
                  <a:pt x="916229" y="0"/>
                </a:lnTo>
                <a:lnTo>
                  <a:pt x="921715" y="0"/>
                </a:lnTo>
                <a:lnTo>
                  <a:pt x="927202" y="0"/>
                </a:lnTo>
                <a:lnTo>
                  <a:pt x="932688" y="0"/>
                </a:lnTo>
                <a:lnTo>
                  <a:pt x="938174" y="0"/>
                </a:lnTo>
                <a:lnTo>
                  <a:pt x="943661" y="0"/>
                </a:lnTo>
                <a:lnTo>
                  <a:pt x="949147" y="0"/>
                </a:lnTo>
                <a:lnTo>
                  <a:pt x="954634" y="0"/>
                </a:lnTo>
                <a:lnTo>
                  <a:pt x="960120" y="0"/>
                </a:lnTo>
                <a:lnTo>
                  <a:pt x="965606" y="0"/>
                </a:lnTo>
                <a:lnTo>
                  <a:pt x="971093" y="0"/>
                </a:lnTo>
                <a:lnTo>
                  <a:pt x="976579" y="0"/>
                </a:lnTo>
                <a:lnTo>
                  <a:pt x="982066" y="0"/>
                </a:lnTo>
                <a:lnTo>
                  <a:pt x="987552" y="0"/>
                </a:lnTo>
                <a:lnTo>
                  <a:pt x="993038" y="0"/>
                </a:lnTo>
                <a:lnTo>
                  <a:pt x="998525" y="0"/>
                </a:lnTo>
                <a:lnTo>
                  <a:pt x="1004011" y="0"/>
                </a:lnTo>
                <a:lnTo>
                  <a:pt x="1009498" y="0"/>
                </a:lnTo>
                <a:lnTo>
                  <a:pt x="1014984" y="0"/>
                </a:lnTo>
                <a:lnTo>
                  <a:pt x="1020470" y="0"/>
                </a:lnTo>
                <a:lnTo>
                  <a:pt x="1025957" y="0"/>
                </a:lnTo>
                <a:lnTo>
                  <a:pt x="1031443" y="0"/>
                </a:lnTo>
                <a:lnTo>
                  <a:pt x="1036930" y="0"/>
                </a:lnTo>
                <a:lnTo>
                  <a:pt x="1042416" y="0"/>
                </a:lnTo>
                <a:lnTo>
                  <a:pt x="1047902" y="0"/>
                </a:lnTo>
                <a:lnTo>
                  <a:pt x="1053389" y="0"/>
                </a:lnTo>
                <a:lnTo>
                  <a:pt x="1058875" y="0"/>
                </a:lnTo>
                <a:lnTo>
                  <a:pt x="1064362" y="0"/>
                </a:lnTo>
                <a:lnTo>
                  <a:pt x="1069848" y="0"/>
                </a:lnTo>
                <a:lnTo>
                  <a:pt x="1075334" y="0"/>
                </a:lnTo>
                <a:lnTo>
                  <a:pt x="1080821" y="0"/>
                </a:lnTo>
                <a:lnTo>
                  <a:pt x="1086307" y="0"/>
                </a:lnTo>
                <a:lnTo>
                  <a:pt x="1091794" y="0"/>
                </a:lnTo>
                <a:lnTo>
                  <a:pt x="1097280" y="0"/>
                </a:lnTo>
                <a:lnTo>
                  <a:pt x="1102766" y="0"/>
                </a:lnTo>
                <a:lnTo>
                  <a:pt x="1108253" y="0"/>
                </a:lnTo>
                <a:lnTo>
                  <a:pt x="1113739" y="0"/>
                </a:lnTo>
                <a:lnTo>
                  <a:pt x="1119226" y="0"/>
                </a:lnTo>
                <a:lnTo>
                  <a:pt x="1124712" y="0"/>
                </a:lnTo>
                <a:lnTo>
                  <a:pt x="1130198" y="0"/>
                </a:lnTo>
                <a:lnTo>
                  <a:pt x="1135685" y="0"/>
                </a:lnTo>
                <a:lnTo>
                  <a:pt x="1141171" y="0"/>
                </a:lnTo>
                <a:lnTo>
                  <a:pt x="1146658" y="0"/>
                </a:lnTo>
                <a:lnTo>
                  <a:pt x="1152144" y="0"/>
                </a:lnTo>
                <a:lnTo>
                  <a:pt x="1157630" y="0"/>
                </a:lnTo>
                <a:lnTo>
                  <a:pt x="1163117" y="0"/>
                </a:lnTo>
                <a:lnTo>
                  <a:pt x="1168603" y="0"/>
                </a:lnTo>
                <a:lnTo>
                  <a:pt x="1174090" y="0"/>
                </a:lnTo>
                <a:lnTo>
                  <a:pt x="1179576" y="0"/>
                </a:lnTo>
                <a:lnTo>
                  <a:pt x="1185062" y="0"/>
                </a:lnTo>
                <a:lnTo>
                  <a:pt x="1190549" y="0"/>
                </a:lnTo>
                <a:lnTo>
                  <a:pt x="1196035" y="0"/>
                </a:lnTo>
                <a:lnTo>
                  <a:pt x="1201522" y="0"/>
                </a:lnTo>
                <a:lnTo>
                  <a:pt x="1207008" y="0"/>
                </a:lnTo>
                <a:lnTo>
                  <a:pt x="1212494" y="0"/>
                </a:lnTo>
                <a:lnTo>
                  <a:pt x="1217981" y="0"/>
                </a:lnTo>
                <a:lnTo>
                  <a:pt x="1223467" y="0"/>
                </a:lnTo>
                <a:lnTo>
                  <a:pt x="1228954" y="0"/>
                </a:lnTo>
                <a:lnTo>
                  <a:pt x="1234440" y="0"/>
                </a:lnTo>
                <a:lnTo>
                  <a:pt x="1239926" y="0"/>
                </a:lnTo>
                <a:lnTo>
                  <a:pt x="1245413" y="0"/>
                </a:lnTo>
                <a:lnTo>
                  <a:pt x="1250899" y="0"/>
                </a:lnTo>
                <a:lnTo>
                  <a:pt x="1256386" y="0"/>
                </a:lnTo>
                <a:lnTo>
                  <a:pt x="1260043" y="0"/>
                </a:lnTo>
                <a:lnTo>
                  <a:pt x="1261872" y="1829"/>
                </a:lnTo>
                <a:lnTo>
                  <a:pt x="1267358" y="17374"/>
                </a:lnTo>
                <a:lnTo>
                  <a:pt x="1272845" y="48463"/>
                </a:lnTo>
                <a:lnTo>
                  <a:pt x="1278331" y="93269"/>
                </a:lnTo>
                <a:lnTo>
                  <a:pt x="1283818" y="149962"/>
                </a:lnTo>
                <a:lnTo>
                  <a:pt x="1289304" y="216713"/>
                </a:lnTo>
                <a:lnTo>
                  <a:pt x="1294790" y="291694"/>
                </a:lnTo>
                <a:lnTo>
                  <a:pt x="1300277" y="373075"/>
                </a:lnTo>
                <a:lnTo>
                  <a:pt x="1305763" y="459029"/>
                </a:lnTo>
                <a:lnTo>
                  <a:pt x="1311250" y="545897"/>
                </a:lnTo>
                <a:lnTo>
                  <a:pt x="1316736" y="631850"/>
                </a:lnTo>
                <a:lnTo>
                  <a:pt x="1322222" y="715975"/>
                </a:lnTo>
                <a:lnTo>
                  <a:pt x="1327709" y="794614"/>
                </a:lnTo>
                <a:lnTo>
                  <a:pt x="1333195" y="867766"/>
                </a:lnTo>
                <a:lnTo>
                  <a:pt x="1338682" y="933602"/>
                </a:lnTo>
                <a:lnTo>
                  <a:pt x="1344168" y="989381"/>
                </a:lnTo>
                <a:lnTo>
                  <a:pt x="1349654" y="1035101"/>
                </a:lnTo>
                <a:lnTo>
                  <a:pt x="1355141" y="1070762"/>
                </a:lnTo>
                <a:lnTo>
                  <a:pt x="1360627" y="1094537"/>
                </a:lnTo>
                <a:lnTo>
                  <a:pt x="1366114" y="1106424"/>
                </a:lnTo>
                <a:lnTo>
                  <a:pt x="1371600" y="1107338"/>
                </a:lnTo>
                <a:lnTo>
                  <a:pt x="1377086" y="1097280"/>
                </a:lnTo>
                <a:lnTo>
                  <a:pt x="1382573" y="1077163"/>
                </a:lnTo>
                <a:lnTo>
                  <a:pt x="1388059" y="1046988"/>
                </a:lnTo>
                <a:lnTo>
                  <a:pt x="1393546" y="1009498"/>
                </a:lnTo>
                <a:lnTo>
                  <a:pt x="1399032" y="963778"/>
                </a:lnTo>
                <a:lnTo>
                  <a:pt x="1404518" y="912571"/>
                </a:lnTo>
                <a:lnTo>
                  <a:pt x="1410005" y="857707"/>
                </a:lnTo>
                <a:lnTo>
                  <a:pt x="1415491" y="799186"/>
                </a:lnTo>
                <a:lnTo>
                  <a:pt x="1420978" y="740664"/>
                </a:lnTo>
                <a:lnTo>
                  <a:pt x="1426464" y="681228"/>
                </a:lnTo>
                <a:lnTo>
                  <a:pt x="1431950" y="623621"/>
                </a:lnTo>
                <a:lnTo>
                  <a:pt x="1437437" y="569671"/>
                </a:lnTo>
                <a:lnTo>
                  <a:pt x="1442923" y="519379"/>
                </a:lnTo>
                <a:lnTo>
                  <a:pt x="1448410" y="473659"/>
                </a:lnTo>
                <a:lnTo>
                  <a:pt x="1453896" y="435254"/>
                </a:lnTo>
                <a:lnTo>
                  <a:pt x="1459382" y="403250"/>
                </a:lnTo>
                <a:lnTo>
                  <a:pt x="1464869" y="378562"/>
                </a:lnTo>
                <a:lnTo>
                  <a:pt x="1470355" y="361188"/>
                </a:lnTo>
                <a:lnTo>
                  <a:pt x="1475842" y="352958"/>
                </a:lnTo>
                <a:lnTo>
                  <a:pt x="1481328" y="351130"/>
                </a:lnTo>
                <a:lnTo>
                  <a:pt x="1486814" y="357530"/>
                </a:lnTo>
                <a:lnTo>
                  <a:pt x="1492301" y="371246"/>
                </a:lnTo>
                <a:lnTo>
                  <a:pt x="1497787" y="390449"/>
                </a:lnTo>
                <a:lnTo>
                  <a:pt x="1503274" y="416052"/>
                </a:lnTo>
                <a:lnTo>
                  <a:pt x="1508760" y="447142"/>
                </a:lnTo>
                <a:lnTo>
                  <a:pt x="1514246" y="481889"/>
                </a:lnTo>
                <a:lnTo>
                  <a:pt x="1519733" y="519379"/>
                </a:lnTo>
                <a:lnTo>
                  <a:pt x="1525219" y="558698"/>
                </a:lnTo>
                <a:lnTo>
                  <a:pt x="1530706" y="598932"/>
                </a:lnTo>
                <a:lnTo>
                  <a:pt x="1536192" y="639166"/>
                </a:lnTo>
                <a:lnTo>
                  <a:pt x="1541678" y="679399"/>
                </a:lnTo>
                <a:lnTo>
                  <a:pt x="1547165" y="715975"/>
                </a:lnTo>
                <a:lnTo>
                  <a:pt x="1552651" y="750722"/>
                </a:lnTo>
                <a:lnTo>
                  <a:pt x="1558138" y="781812"/>
                </a:lnTo>
                <a:lnTo>
                  <a:pt x="1563624" y="809244"/>
                </a:lnTo>
                <a:lnTo>
                  <a:pt x="1569110" y="831190"/>
                </a:lnTo>
                <a:lnTo>
                  <a:pt x="1574597" y="848563"/>
                </a:lnTo>
                <a:lnTo>
                  <a:pt x="1580083" y="860450"/>
                </a:lnTo>
                <a:lnTo>
                  <a:pt x="1585570" y="866851"/>
                </a:lnTo>
                <a:lnTo>
                  <a:pt x="1591056" y="868680"/>
                </a:lnTo>
                <a:lnTo>
                  <a:pt x="1596542" y="864108"/>
                </a:lnTo>
                <a:lnTo>
                  <a:pt x="1602029" y="855878"/>
                </a:lnTo>
                <a:lnTo>
                  <a:pt x="1607515" y="842162"/>
                </a:lnTo>
                <a:lnTo>
                  <a:pt x="1613002" y="824789"/>
                </a:lnTo>
                <a:lnTo>
                  <a:pt x="1618488" y="804672"/>
                </a:lnTo>
                <a:lnTo>
                  <a:pt x="1623974" y="780898"/>
                </a:lnTo>
                <a:lnTo>
                  <a:pt x="1629461" y="755294"/>
                </a:lnTo>
                <a:lnTo>
                  <a:pt x="1634947" y="728777"/>
                </a:lnTo>
                <a:lnTo>
                  <a:pt x="1640434" y="701345"/>
                </a:lnTo>
                <a:lnTo>
                  <a:pt x="1645920" y="672998"/>
                </a:lnTo>
                <a:lnTo>
                  <a:pt x="1651406" y="646481"/>
                </a:lnTo>
                <a:lnTo>
                  <a:pt x="1656893" y="620878"/>
                </a:lnTo>
                <a:lnTo>
                  <a:pt x="1662379" y="597103"/>
                </a:lnTo>
                <a:lnTo>
                  <a:pt x="1667866" y="575158"/>
                </a:lnTo>
                <a:lnTo>
                  <a:pt x="1673352" y="556870"/>
                </a:lnTo>
                <a:lnTo>
                  <a:pt x="1678838" y="541325"/>
                </a:lnTo>
                <a:lnTo>
                  <a:pt x="1684325" y="529438"/>
                </a:lnTo>
                <a:lnTo>
                  <a:pt x="1689811" y="521208"/>
                </a:lnTo>
                <a:lnTo>
                  <a:pt x="1695298" y="515722"/>
                </a:lnTo>
                <a:lnTo>
                  <a:pt x="1700784" y="514807"/>
                </a:lnTo>
                <a:lnTo>
                  <a:pt x="1706270" y="517550"/>
                </a:lnTo>
                <a:lnTo>
                  <a:pt x="1711757" y="523037"/>
                </a:lnTo>
                <a:lnTo>
                  <a:pt x="1717243" y="532181"/>
                </a:lnTo>
                <a:lnTo>
                  <a:pt x="1722730" y="543154"/>
                </a:lnTo>
                <a:lnTo>
                  <a:pt x="1728216" y="556870"/>
                </a:lnTo>
                <a:lnTo>
                  <a:pt x="1733702" y="573329"/>
                </a:lnTo>
                <a:lnTo>
                  <a:pt x="1739189" y="590702"/>
                </a:lnTo>
                <a:lnTo>
                  <a:pt x="1744675" y="608990"/>
                </a:lnTo>
                <a:lnTo>
                  <a:pt x="1750162" y="627278"/>
                </a:lnTo>
                <a:lnTo>
                  <a:pt x="1755648" y="646481"/>
                </a:lnTo>
                <a:lnTo>
                  <a:pt x="1761134" y="664769"/>
                </a:lnTo>
                <a:lnTo>
                  <a:pt x="1766621" y="683057"/>
                </a:lnTo>
                <a:lnTo>
                  <a:pt x="1772107" y="699516"/>
                </a:lnTo>
                <a:lnTo>
                  <a:pt x="1777594" y="714146"/>
                </a:lnTo>
                <a:lnTo>
                  <a:pt x="1783080" y="726948"/>
                </a:lnTo>
                <a:lnTo>
                  <a:pt x="1788566" y="737921"/>
                </a:lnTo>
                <a:lnTo>
                  <a:pt x="1794053" y="746150"/>
                </a:lnTo>
                <a:lnTo>
                  <a:pt x="1799539" y="751637"/>
                </a:lnTo>
                <a:lnTo>
                  <a:pt x="1805026" y="755294"/>
                </a:lnTo>
                <a:lnTo>
                  <a:pt x="1810512" y="756209"/>
                </a:lnTo>
                <a:lnTo>
                  <a:pt x="1815998" y="755294"/>
                </a:lnTo>
                <a:lnTo>
                  <a:pt x="1821485" y="751637"/>
                </a:lnTo>
                <a:lnTo>
                  <a:pt x="1826971" y="745236"/>
                </a:lnTo>
                <a:lnTo>
                  <a:pt x="1832458" y="737921"/>
                </a:lnTo>
                <a:lnTo>
                  <a:pt x="1837944" y="727862"/>
                </a:lnTo>
                <a:lnTo>
                  <a:pt x="1843430" y="717804"/>
                </a:lnTo>
                <a:lnTo>
                  <a:pt x="1848917" y="705917"/>
                </a:lnTo>
                <a:lnTo>
                  <a:pt x="1854403" y="693115"/>
                </a:lnTo>
                <a:lnTo>
                  <a:pt x="1859890" y="680314"/>
                </a:lnTo>
                <a:lnTo>
                  <a:pt x="1865376" y="667512"/>
                </a:lnTo>
                <a:lnTo>
                  <a:pt x="1870862" y="654710"/>
                </a:lnTo>
                <a:lnTo>
                  <a:pt x="1876349" y="642823"/>
                </a:lnTo>
                <a:lnTo>
                  <a:pt x="1881835" y="631850"/>
                </a:lnTo>
                <a:lnTo>
                  <a:pt x="1887322" y="620878"/>
                </a:lnTo>
                <a:lnTo>
                  <a:pt x="1892808" y="612648"/>
                </a:lnTo>
                <a:lnTo>
                  <a:pt x="1898294" y="604418"/>
                </a:lnTo>
                <a:lnTo>
                  <a:pt x="1903781" y="598932"/>
                </a:lnTo>
                <a:lnTo>
                  <a:pt x="1909267" y="594360"/>
                </a:lnTo>
                <a:lnTo>
                  <a:pt x="1914754" y="592531"/>
                </a:lnTo>
                <a:lnTo>
                  <a:pt x="1920240" y="591617"/>
                </a:lnTo>
                <a:lnTo>
                  <a:pt x="1925726" y="592531"/>
                </a:lnTo>
                <a:lnTo>
                  <a:pt x="1931213" y="594360"/>
                </a:lnTo>
                <a:lnTo>
                  <a:pt x="1936699" y="598932"/>
                </a:lnTo>
                <a:lnTo>
                  <a:pt x="1942186" y="603504"/>
                </a:lnTo>
                <a:lnTo>
                  <a:pt x="1947672" y="609905"/>
                </a:lnTo>
                <a:lnTo>
                  <a:pt x="1953158" y="617220"/>
                </a:lnTo>
                <a:lnTo>
                  <a:pt x="1958645" y="625450"/>
                </a:lnTo>
                <a:lnTo>
                  <a:pt x="1964131" y="633679"/>
                </a:lnTo>
                <a:lnTo>
                  <a:pt x="1969618" y="642823"/>
                </a:lnTo>
                <a:lnTo>
                  <a:pt x="1975104" y="651053"/>
                </a:lnTo>
                <a:lnTo>
                  <a:pt x="1980590" y="660197"/>
                </a:lnTo>
                <a:lnTo>
                  <a:pt x="1986077" y="668426"/>
                </a:lnTo>
                <a:lnTo>
                  <a:pt x="1991563" y="675742"/>
                </a:lnTo>
                <a:lnTo>
                  <a:pt x="1997050" y="683057"/>
                </a:lnTo>
                <a:lnTo>
                  <a:pt x="2002536" y="689458"/>
                </a:lnTo>
                <a:lnTo>
                  <a:pt x="2008022" y="694944"/>
                </a:lnTo>
                <a:lnTo>
                  <a:pt x="2013509" y="698602"/>
                </a:lnTo>
                <a:lnTo>
                  <a:pt x="2018995" y="701345"/>
                </a:lnTo>
                <a:lnTo>
                  <a:pt x="2024482" y="703174"/>
                </a:lnTo>
                <a:lnTo>
                  <a:pt x="2029968" y="702259"/>
                </a:lnTo>
                <a:lnTo>
                  <a:pt x="2035454" y="699516"/>
                </a:lnTo>
                <a:lnTo>
                  <a:pt x="2040941" y="693115"/>
                </a:lnTo>
                <a:lnTo>
                  <a:pt x="2046427" y="683057"/>
                </a:lnTo>
                <a:lnTo>
                  <a:pt x="2051914" y="668426"/>
                </a:lnTo>
                <a:lnTo>
                  <a:pt x="2057400" y="649224"/>
                </a:lnTo>
                <a:lnTo>
                  <a:pt x="2062886" y="625450"/>
                </a:lnTo>
                <a:lnTo>
                  <a:pt x="2068373" y="595274"/>
                </a:lnTo>
                <a:lnTo>
                  <a:pt x="2073859" y="561442"/>
                </a:lnTo>
                <a:lnTo>
                  <a:pt x="2079346" y="522122"/>
                </a:lnTo>
                <a:lnTo>
                  <a:pt x="2084832" y="480060"/>
                </a:lnTo>
                <a:lnTo>
                  <a:pt x="2090318" y="435254"/>
                </a:lnTo>
                <a:lnTo>
                  <a:pt x="2095805" y="388620"/>
                </a:lnTo>
                <a:lnTo>
                  <a:pt x="2101291" y="342900"/>
                </a:lnTo>
                <a:lnTo>
                  <a:pt x="2106778" y="298094"/>
                </a:lnTo>
                <a:lnTo>
                  <a:pt x="2112264" y="255118"/>
                </a:lnTo>
                <a:lnTo>
                  <a:pt x="2117750" y="216713"/>
                </a:lnTo>
                <a:lnTo>
                  <a:pt x="2123237" y="181966"/>
                </a:lnTo>
                <a:lnTo>
                  <a:pt x="2128723" y="151790"/>
                </a:lnTo>
                <a:lnTo>
                  <a:pt x="2134210" y="128016"/>
                </a:lnTo>
                <a:lnTo>
                  <a:pt x="2139696" y="111557"/>
                </a:lnTo>
                <a:lnTo>
                  <a:pt x="2145182" y="100584"/>
                </a:lnTo>
                <a:lnTo>
                  <a:pt x="2150669" y="96926"/>
                </a:lnTo>
                <a:lnTo>
                  <a:pt x="2156155" y="100584"/>
                </a:lnTo>
                <a:lnTo>
                  <a:pt x="2161642" y="109728"/>
                </a:lnTo>
                <a:lnTo>
                  <a:pt x="2167128" y="126187"/>
                </a:lnTo>
                <a:lnTo>
                  <a:pt x="2172614" y="149047"/>
                </a:lnTo>
                <a:lnTo>
                  <a:pt x="2178101" y="176479"/>
                </a:lnTo>
                <a:lnTo>
                  <a:pt x="2183587" y="208483"/>
                </a:lnTo>
                <a:lnTo>
                  <a:pt x="2189074" y="245059"/>
                </a:lnTo>
                <a:lnTo>
                  <a:pt x="2194560" y="284378"/>
                </a:lnTo>
                <a:lnTo>
                  <a:pt x="2200046" y="326441"/>
                </a:lnTo>
                <a:lnTo>
                  <a:pt x="2205533" y="369418"/>
                </a:lnTo>
                <a:lnTo>
                  <a:pt x="2211019" y="413309"/>
                </a:lnTo>
                <a:lnTo>
                  <a:pt x="2216506" y="456286"/>
                </a:lnTo>
                <a:lnTo>
                  <a:pt x="2221992" y="498348"/>
                </a:lnTo>
                <a:lnTo>
                  <a:pt x="2227478" y="537667"/>
                </a:lnTo>
                <a:lnTo>
                  <a:pt x="2232965" y="575158"/>
                </a:lnTo>
                <a:lnTo>
                  <a:pt x="2238451" y="607162"/>
                </a:lnTo>
                <a:lnTo>
                  <a:pt x="2243938" y="635508"/>
                </a:lnTo>
                <a:lnTo>
                  <a:pt x="2249424" y="657454"/>
                </a:lnTo>
                <a:lnTo>
                  <a:pt x="2254910" y="673913"/>
                </a:lnTo>
                <a:lnTo>
                  <a:pt x="2260397" y="684886"/>
                </a:lnTo>
                <a:lnTo>
                  <a:pt x="2265883" y="690372"/>
                </a:lnTo>
                <a:lnTo>
                  <a:pt x="2271370" y="689458"/>
                </a:lnTo>
                <a:lnTo>
                  <a:pt x="2276856" y="683971"/>
                </a:lnTo>
                <a:lnTo>
                  <a:pt x="2282342" y="674827"/>
                </a:lnTo>
                <a:lnTo>
                  <a:pt x="2287829" y="660197"/>
                </a:lnTo>
                <a:lnTo>
                  <a:pt x="2293315" y="642823"/>
                </a:lnTo>
                <a:lnTo>
                  <a:pt x="2298802" y="622706"/>
                </a:lnTo>
                <a:lnTo>
                  <a:pt x="2304288" y="599846"/>
                </a:lnTo>
                <a:lnTo>
                  <a:pt x="2309774" y="576072"/>
                </a:lnTo>
                <a:lnTo>
                  <a:pt x="2315261" y="552298"/>
                </a:lnTo>
                <a:lnTo>
                  <a:pt x="2320747" y="528523"/>
                </a:lnTo>
                <a:lnTo>
                  <a:pt x="2326234" y="504749"/>
                </a:lnTo>
                <a:lnTo>
                  <a:pt x="2331720" y="482803"/>
                </a:lnTo>
                <a:lnTo>
                  <a:pt x="2337206" y="463601"/>
                </a:lnTo>
                <a:lnTo>
                  <a:pt x="2342693" y="446227"/>
                </a:lnTo>
                <a:lnTo>
                  <a:pt x="2348179" y="432511"/>
                </a:lnTo>
                <a:lnTo>
                  <a:pt x="2353666" y="421538"/>
                </a:lnTo>
                <a:lnTo>
                  <a:pt x="2359152" y="414223"/>
                </a:lnTo>
                <a:lnTo>
                  <a:pt x="2364638" y="411480"/>
                </a:lnTo>
                <a:lnTo>
                  <a:pt x="2370125" y="411480"/>
                </a:lnTo>
                <a:lnTo>
                  <a:pt x="2375611" y="415138"/>
                </a:lnTo>
                <a:lnTo>
                  <a:pt x="2381098" y="423367"/>
                </a:lnTo>
                <a:lnTo>
                  <a:pt x="2386584" y="434340"/>
                </a:lnTo>
                <a:lnTo>
                  <a:pt x="2392070" y="448056"/>
                </a:lnTo>
                <a:lnTo>
                  <a:pt x="2397557" y="464515"/>
                </a:lnTo>
                <a:lnTo>
                  <a:pt x="2403043" y="483718"/>
                </a:lnTo>
                <a:lnTo>
                  <a:pt x="2408530" y="503834"/>
                </a:lnTo>
                <a:lnTo>
                  <a:pt x="2414016" y="525780"/>
                </a:lnTo>
                <a:lnTo>
                  <a:pt x="2419502" y="548640"/>
                </a:lnTo>
                <a:lnTo>
                  <a:pt x="2424989" y="571500"/>
                </a:lnTo>
                <a:lnTo>
                  <a:pt x="2430475" y="594360"/>
                </a:lnTo>
                <a:lnTo>
                  <a:pt x="2435962" y="616306"/>
                </a:lnTo>
                <a:lnTo>
                  <a:pt x="2441448" y="637337"/>
                </a:lnTo>
                <a:lnTo>
                  <a:pt x="2446934" y="656539"/>
                </a:lnTo>
                <a:lnTo>
                  <a:pt x="2452421" y="673913"/>
                </a:lnTo>
                <a:lnTo>
                  <a:pt x="2457907" y="689458"/>
                </a:lnTo>
                <a:lnTo>
                  <a:pt x="2463394" y="702259"/>
                </a:lnTo>
                <a:lnTo>
                  <a:pt x="2468880" y="712318"/>
                </a:lnTo>
                <a:lnTo>
                  <a:pt x="2474366" y="720547"/>
                </a:lnTo>
                <a:lnTo>
                  <a:pt x="2479853" y="725119"/>
                </a:lnTo>
                <a:lnTo>
                  <a:pt x="2485339" y="727862"/>
                </a:lnTo>
                <a:lnTo>
                  <a:pt x="2490826" y="727862"/>
                </a:lnTo>
                <a:lnTo>
                  <a:pt x="2496312" y="725119"/>
                </a:lnTo>
                <a:lnTo>
                  <a:pt x="2501798" y="720547"/>
                </a:lnTo>
                <a:lnTo>
                  <a:pt x="2507285" y="713232"/>
                </a:lnTo>
                <a:lnTo>
                  <a:pt x="2512771" y="705002"/>
                </a:lnTo>
                <a:lnTo>
                  <a:pt x="2518258" y="695858"/>
                </a:lnTo>
                <a:lnTo>
                  <a:pt x="2523744" y="684886"/>
                </a:lnTo>
                <a:lnTo>
                  <a:pt x="2529230" y="673913"/>
                </a:lnTo>
                <a:lnTo>
                  <a:pt x="2534717" y="662026"/>
                </a:lnTo>
                <a:lnTo>
                  <a:pt x="2540203" y="650138"/>
                </a:lnTo>
                <a:lnTo>
                  <a:pt x="2545690" y="639166"/>
                </a:lnTo>
                <a:lnTo>
                  <a:pt x="2551176" y="628193"/>
                </a:lnTo>
                <a:lnTo>
                  <a:pt x="2556662" y="619049"/>
                </a:lnTo>
                <a:lnTo>
                  <a:pt x="2562149" y="609905"/>
                </a:lnTo>
                <a:lnTo>
                  <a:pt x="2567635" y="603504"/>
                </a:lnTo>
                <a:lnTo>
                  <a:pt x="2573122" y="597103"/>
                </a:lnTo>
                <a:lnTo>
                  <a:pt x="2578608" y="593446"/>
                </a:lnTo>
                <a:lnTo>
                  <a:pt x="2584094" y="591617"/>
                </a:lnTo>
                <a:lnTo>
                  <a:pt x="2589581" y="590702"/>
                </a:lnTo>
                <a:lnTo>
                  <a:pt x="2595067" y="590702"/>
                </a:lnTo>
                <a:lnTo>
                  <a:pt x="2600554" y="591617"/>
                </a:lnTo>
                <a:lnTo>
                  <a:pt x="2606040" y="591617"/>
                </a:lnTo>
                <a:lnTo>
                  <a:pt x="2611526" y="590702"/>
                </a:lnTo>
                <a:lnTo>
                  <a:pt x="2617013" y="587959"/>
                </a:lnTo>
                <a:lnTo>
                  <a:pt x="2622499" y="581558"/>
                </a:lnTo>
                <a:lnTo>
                  <a:pt x="2627986" y="572414"/>
                </a:lnTo>
                <a:lnTo>
                  <a:pt x="2633472" y="558698"/>
                </a:lnTo>
                <a:lnTo>
                  <a:pt x="2638958" y="540410"/>
                </a:lnTo>
                <a:lnTo>
                  <a:pt x="2644445" y="517550"/>
                </a:lnTo>
                <a:lnTo>
                  <a:pt x="2649931" y="491033"/>
                </a:lnTo>
                <a:lnTo>
                  <a:pt x="2655418" y="460858"/>
                </a:lnTo>
                <a:lnTo>
                  <a:pt x="2660904" y="428854"/>
                </a:lnTo>
                <a:lnTo>
                  <a:pt x="2666390" y="394106"/>
                </a:lnTo>
                <a:lnTo>
                  <a:pt x="2671877" y="360274"/>
                </a:lnTo>
                <a:lnTo>
                  <a:pt x="2677363" y="326441"/>
                </a:lnTo>
                <a:lnTo>
                  <a:pt x="2682850" y="293522"/>
                </a:lnTo>
                <a:lnTo>
                  <a:pt x="2688336" y="263347"/>
                </a:lnTo>
                <a:lnTo>
                  <a:pt x="2693822" y="235915"/>
                </a:lnTo>
                <a:lnTo>
                  <a:pt x="2699309" y="212141"/>
                </a:lnTo>
                <a:lnTo>
                  <a:pt x="2704795" y="192938"/>
                </a:lnTo>
                <a:lnTo>
                  <a:pt x="2710282" y="178308"/>
                </a:lnTo>
                <a:lnTo>
                  <a:pt x="2715768" y="168250"/>
                </a:lnTo>
                <a:lnTo>
                  <a:pt x="2721254" y="164592"/>
                </a:lnTo>
                <a:lnTo>
                  <a:pt x="2726741" y="165506"/>
                </a:lnTo>
                <a:lnTo>
                  <a:pt x="2732227" y="171907"/>
                </a:lnTo>
                <a:lnTo>
                  <a:pt x="2737714" y="183794"/>
                </a:lnTo>
                <a:lnTo>
                  <a:pt x="2743200" y="200254"/>
                </a:lnTo>
                <a:lnTo>
                  <a:pt x="2748686" y="221285"/>
                </a:lnTo>
                <a:lnTo>
                  <a:pt x="2754173" y="245974"/>
                </a:lnTo>
                <a:lnTo>
                  <a:pt x="2759659" y="274320"/>
                </a:lnTo>
                <a:lnTo>
                  <a:pt x="2765146" y="306324"/>
                </a:lnTo>
                <a:lnTo>
                  <a:pt x="2770632" y="339242"/>
                </a:lnTo>
                <a:lnTo>
                  <a:pt x="2776118" y="373990"/>
                </a:lnTo>
                <a:lnTo>
                  <a:pt x="2781605" y="409651"/>
                </a:lnTo>
                <a:lnTo>
                  <a:pt x="2787091" y="446227"/>
                </a:lnTo>
                <a:lnTo>
                  <a:pt x="2792578" y="480974"/>
                </a:lnTo>
                <a:lnTo>
                  <a:pt x="2798064" y="514807"/>
                </a:lnTo>
                <a:lnTo>
                  <a:pt x="2803550" y="545897"/>
                </a:lnTo>
                <a:lnTo>
                  <a:pt x="2809037" y="574243"/>
                </a:lnTo>
                <a:lnTo>
                  <a:pt x="2814523" y="598018"/>
                </a:lnTo>
                <a:lnTo>
                  <a:pt x="2820010" y="618134"/>
                </a:lnTo>
                <a:lnTo>
                  <a:pt x="2825496" y="632765"/>
                </a:lnTo>
                <a:lnTo>
                  <a:pt x="2830982" y="643738"/>
                </a:lnTo>
                <a:lnTo>
                  <a:pt x="2836469" y="649224"/>
                </a:lnTo>
                <a:lnTo>
                  <a:pt x="2841955" y="651053"/>
                </a:lnTo>
                <a:lnTo>
                  <a:pt x="2847442" y="648310"/>
                </a:lnTo>
                <a:lnTo>
                  <a:pt x="2852928" y="641909"/>
                </a:lnTo>
                <a:lnTo>
                  <a:pt x="2858414" y="632765"/>
                </a:lnTo>
                <a:lnTo>
                  <a:pt x="2863901" y="619963"/>
                </a:lnTo>
                <a:lnTo>
                  <a:pt x="2869387" y="605333"/>
                </a:lnTo>
                <a:lnTo>
                  <a:pt x="2874874" y="587959"/>
                </a:lnTo>
                <a:lnTo>
                  <a:pt x="2880360" y="570586"/>
                </a:lnTo>
                <a:lnTo>
                  <a:pt x="2885846" y="552298"/>
                </a:lnTo>
                <a:lnTo>
                  <a:pt x="2891333" y="534010"/>
                </a:lnTo>
                <a:lnTo>
                  <a:pt x="2896819" y="515722"/>
                </a:lnTo>
                <a:lnTo>
                  <a:pt x="2902306" y="499262"/>
                </a:lnTo>
                <a:lnTo>
                  <a:pt x="2907792" y="484632"/>
                </a:lnTo>
                <a:lnTo>
                  <a:pt x="2913278" y="470916"/>
                </a:lnTo>
                <a:lnTo>
                  <a:pt x="2918765" y="460858"/>
                </a:lnTo>
                <a:lnTo>
                  <a:pt x="2924251" y="452628"/>
                </a:lnTo>
                <a:lnTo>
                  <a:pt x="2929738" y="447142"/>
                </a:lnTo>
                <a:lnTo>
                  <a:pt x="2935224" y="444398"/>
                </a:lnTo>
                <a:lnTo>
                  <a:pt x="2940710" y="445313"/>
                </a:lnTo>
                <a:lnTo>
                  <a:pt x="2946197" y="448056"/>
                </a:lnTo>
                <a:lnTo>
                  <a:pt x="2951683" y="454457"/>
                </a:lnTo>
                <a:lnTo>
                  <a:pt x="2957170" y="463601"/>
                </a:lnTo>
                <a:lnTo>
                  <a:pt x="2962656" y="475488"/>
                </a:lnTo>
                <a:lnTo>
                  <a:pt x="2968142" y="488290"/>
                </a:lnTo>
                <a:lnTo>
                  <a:pt x="2973629" y="503834"/>
                </a:lnTo>
                <a:lnTo>
                  <a:pt x="2979115" y="520294"/>
                </a:lnTo>
                <a:lnTo>
                  <a:pt x="2984602" y="538582"/>
                </a:lnTo>
                <a:lnTo>
                  <a:pt x="2990088" y="556870"/>
                </a:lnTo>
                <a:lnTo>
                  <a:pt x="2995574" y="576072"/>
                </a:lnTo>
                <a:lnTo>
                  <a:pt x="3001061" y="594360"/>
                </a:lnTo>
                <a:lnTo>
                  <a:pt x="3006547" y="612648"/>
                </a:lnTo>
                <a:lnTo>
                  <a:pt x="3012034" y="630022"/>
                </a:lnTo>
                <a:lnTo>
                  <a:pt x="3017520" y="646481"/>
                </a:lnTo>
                <a:lnTo>
                  <a:pt x="3023006" y="661111"/>
                </a:lnTo>
                <a:lnTo>
                  <a:pt x="3028493" y="673913"/>
                </a:lnTo>
                <a:lnTo>
                  <a:pt x="3033979" y="684886"/>
                </a:lnTo>
                <a:lnTo>
                  <a:pt x="3039466" y="694030"/>
                </a:lnTo>
                <a:lnTo>
                  <a:pt x="3044952" y="700430"/>
                </a:lnTo>
                <a:lnTo>
                  <a:pt x="3050438" y="705917"/>
                </a:lnTo>
                <a:lnTo>
                  <a:pt x="3055925" y="708660"/>
                </a:lnTo>
                <a:lnTo>
                  <a:pt x="3061411" y="708660"/>
                </a:lnTo>
                <a:lnTo>
                  <a:pt x="3066898" y="707746"/>
                </a:lnTo>
                <a:lnTo>
                  <a:pt x="3072384" y="705002"/>
                </a:lnTo>
                <a:lnTo>
                  <a:pt x="3077870" y="699516"/>
                </a:lnTo>
                <a:lnTo>
                  <a:pt x="3083357" y="694030"/>
                </a:lnTo>
                <a:lnTo>
                  <a:pt x="3088843" y="686714"/>
                </a:lnTo>
                <a:lnTo>
                  <a:pt x="3094330" y="678485"/>
                </a:lnTo>
                <a:lnTo>
                  <a:pt x="3099816" y="670255"/>
                </a:lnTo>
                <a:lnTo>
                  <a:pt x="3105302" y="661111"/>
                </a:lnTo>
                <a:lnTo>
                  <a:pt x="3110789" y="651967"/>
                </a:lnTo>
                <a:lnTo>
                  <a:pt x="3116275" y="643738"/>
                </a:lnTo>
                <a:lnTo>
                  <a:pt x="3121762" y="635508"/>
                </a:lnTo>
                <a:lnTo>
                  <a:pt x="3127248" y="628193"/>
                </a:lnTo>
                <a:lnTo>
                  <a:pt x="3132734" y="620878"/>
                </a:lnTo>
                <a:lnTo>
                  <a:pt x="3138221" y="615391"/>
                </a:lnTo>
                <a:lnTo>
                  <a:pt x="3143707" y="611734"/>
                </a:lnTo>
                <a:lnTo>
                  <a:pt x="3149194" y="608076"/>
                </a:lnTo>
                <a:lnTo>
                  <a:pt x="3154680" y="607162"/>
                </a:lnTo>
                <a:lnTo>
                  <a:pt x="3160166" y="606247"/>
                </a:lnTo>
                <a:lnTo>
                  <a:pt x="3165653" y="607162"/>
                </a:lnTo>
                <a:lnTo>
                  <a:pt x="3171139" y="608990"/>
                </a:lnTo>
                <a:lnTo>
                  <a:pt x="3176626" y="612648"/>
                </a:lnTo>
                <a:lnTo>
                  <a:pt x="3182112" y="617220"/>
                </a:lnTo>
                <a:lnTo>
                  <a:pt x="3187598" y="621792"/>
                </a:lnTo>
                <a:lnTo>
                  <a:pt x="3193085" y="627278"/>
                </a:lnTo>
                <a:lnTo>
                  <a:pt x="3198571" y="633679"/>
                </a:lnTo>
                <a:lnTo>
                  <a:pt x="3204058" y="640994"/>
                </a:lnTo>
                <a:lnTo>
                  <a:pt x="3209544" y="647395"/>
                </a:lnTo>
                <a:lnTo>
                  <a:pt x="3215030" y="654710"/>
                </a:lnTo>
                <a:lnTo>
                  <a:pt x="3220517" y="661111"/>
                </a:lnTo>
                <a:lnTo>
                  <a:pt x="3226003" y="667512"/>
                </a:lnTo>
                <a:lnTo>
                  <a:pt x="3231490" y="672998"/>
                </a:lnTo>
                <a:lnTo>
                  <a:pt x="3236976" y="678485"/>
                </a:lnTo>
                <a:lnTo>
                  <a:pt x="3242462" y="683057"/>
                </a:lnTo>
                <a:lnTo>
                  <a:pt x="3247949" y="687629"/>
                </a:lnTo>
                <a:lnTo>
                  <a:pt x="3253435" y="690372"/>
                </a:lnTo>
                <a:lnTo>
                  <a:pt x="3258922" y="692201"/>
                </a:lnTo>
                <a:lnTo>
                  <a:pt x="3264408" y="694030"/>
                </a:lnTo>
                <a:lnTo>
                  <a:pt x="3269894" y="694030"/>
                </a:lnTo>
                <a:lnTo>
                  <a:pt x="3275381" y="693115"/>
                </a:lnTo>
                <a:lnTo>
                  <a:pt x="3280867" y="692201"/>
                </a:lnTo>
                <a:lnTo>
                  <a:pt x="3286354" y="689458"/>
                </a:lnTo>
                <a:lnTo>
                  <a:pt x="3291840" y="686714"/>
                </a:lnTo>
                <a:lnTo>
                  <a:pt x="3297326" y="683971"/>
                </a:lnTo>
                <a:lnTo>
                  <a:pt x="3302813" y="679399"/>
                </a:lnTo>
                <a:lnTo>
                  <a:pt x="3308299" y="675742"/>
                </a:lnTo>
                <a:lnTo>
                  <a:pt x="3313786" y="671170"/>
                </a:lnTo>
                <a:lnTo>
                  <a:pt x="3319272" y="666598"/>
                </a:lnTo>
                <a:lnTo>
                  <a:pt x="3324758" y="661111"/>
                </a:lnTo>
                <a:lnTo>
                  <a:pt x="3330245" y="656539"/>
                </a:lnTo>
                <a:lnTo>
                  <a:pt x="3335731" y="652882"/>
                </a:lnTo>
                <a:lnTo>
                  <a:pt x="3341218" y="648310"/>
                </a:lnTo>
                <a:lnTo>
                  <a:pt x="3346704" y="644652"/>
                </a:lnTo>
              </a:path>
            </a:pathLst>
          </a:custGeom>
          <a:noFill/>
          <a:ln w="38100">
            <a:solidFill>
              <a:srgbClr val="D55E00"/>
            </a:solidFill>
            <a:prstDash val="solid"/>
          </a:ln>
        </p:spPr>
      </p:sp>
      <p:sp>
        <p:nvSpPr>
          <p:cNvPr id="13" name="Shape 11"/>
          <p:cNvSpPr/>
          <p:nvPr/>
        </p:nvSpPr>
        <p:spPr>
          <a:xfrm>
            <a:off x="8229600" y="1810512"/>
            <a:ext cx="3346704" cy="649300"/>
          </a:xfrm>
          <a:custGeom>
            <a:avLst/>
            <a:gdLst/>
            <a:ahLst/>
            <a:cxnLst/>
            <a:rect l="l" t="t" r="r" b="b"/>
            <a:pathLst>
              <a:path w="3346704" h="649300">
                <a:moveTo>
                  <a:pt x="0" y="583387"/>
                </a:moveTo>
                <a:lnTo>
                  <a:pt x="5486" y="586130"/>
                </a:lnTo>
                <a:lnTo>
                  <a:pt x="10973" y="587959"/>
                </a:lnTo>
                <a:lnTo>
                  <a:pt x="16459" y="589788"/>
                </a:lnTo>
                <a:lnTo>
                  <a:pt x="21946" y="592531"/>
                </a:lnTo>
                <a:lnTo>
                  <a:pt x="27432" y="594360"/>
                </a:lnTo>
                <a:lnTo>
                  <a:pt x="32918" y="596189"/>
                </a:lnTo>
                <a:lnTo>
                  <a:pt x="38405" y="598018"/>
                </a:lnTo>
                <a:lnTo>
                  <a:pt x="43891" y="599846"/>
                </a:lnTo>
                <a:lnTo>
                  <a:pt x="49378" y="601675"/>
                </a:lnTo>
                <a:lnTo>
                  <a:pt x="54864" y="603504"/>
                </a:lnTo>
                <a:lnTo>
                  <a:pt x="60350" y="605333"/>
                </a:lnTo>
                <a:lnTo>
                  <a:pt x="65837" y="607162"/>
                </a:lnTo>
                <a:lnTo>
                  <a:pt x="71323" y="608076"/>
                </a:lnTo>
                <a:lnTo>
                  <a:pt x="76810" y="609905"/>
                </a:lnTo>
                <a:lnTo>
                  <a:pt x="82296" y="611734"/>
                </a:lnTo>
                <a:lnTo>
                  <a:pt x="87782" y="612648"/>
                </a:lnTo>
                <a:lnTo>
                  <a:pt x="93269" y="614477"/>
                </a:lnTo>
                <a:lnTo>
                  <a:pt x="98755" y="615391"/>
                </a:lnTo>
                <a:lnTo>
                  <a:pt x="104242" y="616306"/>
                </a:lnTo>
                <a:lnTo>
                  <a:pt x="109728" y="617220"/>
                </a:lnTo>
                <a:lnTo>
                  <a:pt x="115214" y="617220"/>
                </a:lnTo>
                <a:lnTo>
                  <a:pt x="120701" y="615391"/>
                </a:lnTo>
                <a:lnTo>
                  <a:pt x="126187" y="613562"/>
                </a:lnTo>
                <a:lnTo>
                  <a:pt x="131674" y="610819"/>
                </a:lnTo>
                <a:lnTo>
                  <a:pt x="137160" y="606247"/>
                </a:lnTo>
                <a:lnTo>
                  <a:pt x="142646" y="600761"/>
                </a:lnTo>
                <a:lnTo>
                  <a:pt x="148133" y="594360"/>
                </a:lnTo>
                <a:lnTo>
                  <a:pt x="153619" y="587959"/>
                </a:lnTo>
                <a:lnTo>
                  <a:pt x="159106" y="579730"/>
                </a:lnTo>
                <a:lnTo>
                  <a:pt x="164592" y="572414"/>
                </a:lnTo>
                <a:lnTo>
                  <a:pt x="170078" y="564185"/>
                </a:lnTo>
                <a:lnTo>
                  <a:pt x="175565" y="556870"/>
                </a:lnTo>
                <a:lnTo>
                  <a:pt x="181051" y="549554"/>
                </a:lnTo>
                <a:lnTo>
                  <a:pt x="186538" y="542239"/>
                </a:lnTo>
                <a:lnTo>
                  <a:pt x="192024" y="535838"/>
                </a:lnTo>
                <a:lnTo>
                  <a:pt x="197510" y="529438"/>
                </a:lnTo>
                <a:lnTo>
                  <a:pt x="202997" y="523037"/>
                </a:lnTo>
                <a:lnTo>
                  <a:pt x="208483" y="517550"/>
                </a:lnTo>
                <a:lnTo>
                  <a:pt x="213970" y="512064"/>
                </a:lnTo>
                <a:lnTo>
                  <a:pt x="219456" y="507492"/>
                </a:lnTo>
                <a:lnTo>
                  <a:pt x="224942" y="502920"/>
                </a:lnTo>
                <a:lnTo>
                  <a:pt x="230429" y="498348"/>
                </a:lnTo>
                <a:lnTo>
                  <a:pt x="235915" y="494690"/>
                </a:lnTo>
                <a:lnTo>
                  <a:pt x="241402" y="491033"/>
                </a:lnTo>
                <a:lnTo>
                  <a:pt x="246888" y="487375"/>
                </a:lnTo>
                <a:lnTo>
                  <a:pt x="252374" y="484632"/>
                </a:lnTo>
                <a:lnTo>
                  <a:pt x="257861" y="481889"/>
                </a:lnTo>
                <a:lnTo>
                  <a:pt x="263347" y="480060"/>
                </a:lnTo>
                <a:lnTo>
                  <a:pt x="268834" y="478231"/>
                </a:lnTo>
                <a:lnTo>
                  <a:pt x="274320" y="476402"/>
                </a:lnTo>
                <a:lnTo>
                  <a:pt x="279806" y="474574"/>
                </a:lnTo>
                <a:lnTo>
                  <a:pt x="285293" y="473659"/>
                </a:lnTo>
                <a:lnTo>
                  <a:pt x="290779" y="472745"/>
                </a:lnTo>
                <a:lnTo>
                  <a:pt x="296266" y="472745"/>
                </a:lnTo>
                <a:lnTo>
                  <a:pt x="301752" y="472745"/>
                </a:lnTo>
                <a:lnTo>
                  <a:pt x="307238" y="472745"/>
                </a:lnTo>
                <a:lnTo>
                  <a:pt x="312725" y="472745"/>
                </a:lnTo>
                <a:lnTo>
                  <a:pt x="318211" y="471830"/>
                </a:lnTo>
                <a:lnTo>
                  <a:pt x="323698" y="471830"/>
                </a:lnTo>
                <a:lnTo>
                  <a:pt x="329184" y="471830"/>
                </a:lnTo>
                <a:lnTo>
                  <a:pt x="334670" y="470916"/>
                </a:lnTo>
                <a:lnTo>
                  <a:pt x="340157" y="470916"/>
                </a:lnTo>
                <a:lnTo>
                  <a:pt x="345643" y="470916"/>
                </a:lnTo>
                <a:lnTo>
                  <a:pt x="351130" y="470916"/>
                </a:lnTo>
                <a:lnTo>
                  <a:pt x="356616" y="470916"/>
                </a:lnTo>
                <a:lnTo>
                  <a:pt x="362102" y="470916"/>
                </a:lnTo>
                <a:lnTo>
                  <a:pt x="367589" y="471830"/>
                </a:lnTo>
                <a:lnTo>
                  <a:pt x="373075" y="471830"/>
                </a:lnTo>
                <a:lnTo>
                  <a:pt x="378562" y="472745"/>
                </a:lnTo>
                <a:lnTo>
                  <a:pt x="384048" y="473659"/>
                </a:lnTo>
                <a:lnTo>
                  <a:pt x="389534" y="475488"/>
                </a:lnTo>
                <a:lnTo>
                  <a:pt x="395021" y="476402"/>
                </a:lnTo>
                <a:lnTo>
                  <a:pt x="400507" y="477317"/>
                </a:lnTo>
                <a:lnTo>
                  <a:pt x="405994" y="479146"/>
                </a:lnTo>
                <a:lnTo>
                  <a:pt x="411480" y="480060"/>
                </a:lnTo>
                <a:lnTo>
                  <a:pt x="416966" y="481889"/>
                </a:lnTo>
                <a:lnTo>
                  <a:pt x="422453" y="483718"/>
                </a:lnTo>
                <a:lnTo>
                  <a:pt x="427939" y="485546"/>
                </a:lnTo>
                <a:lnTo>
                  <a:pt x="433426" y="487375"/>
                </a:lnTo>
                <a:lnTo>
                  <a:pt x="438912" y="489204"/>
                </a:lnTo>
                <a:lnTo>
                  <a:pt x="444398" y="491033"/>
                </a:lnTo>
                <a:lnTo>
                  <a:pt x="449885" y="493776"/>
                </a:lnTo>
                <a:lnTo>
                  <a:pt x="455371" y="495605"/>
                </a:lnTo>
                <a:lnTo>
                  <a:pt x="460858" y="497434"/>
                </a:lnTo>
                <a:lnTo>
                  <a:pt x="466344" y="500177"/>
                </a:lnTo>
                <a:lnTo>
                  <a:pt x="471830" y="502006"/>
                </a:lnTo>
                <a:lnTo>
                  <a:pt x="477317" y="504749"/>
                </a:lnTo>
                <a:lnTo>
                  <a:pt x="482803" y="506578"/>
                </a:lnTo>
                <a:lnTo>
                  <a:pt x="488290" y="509321"/>
                </a:lnTo>
                <a:lnTo>
                  <a:pt x="493776" y="511150"/>
                </a:lnTo>
                <a:lnTo>
                  <a:pt x="499262" y="513893"/>
                </a:lnTo>
                <a:lnTo>
                  <a:pt x="504749" y="516636"/>
                </a:lnTo>
                <a:lnTo>
                  <a:pt x="510235" y="518465"/>
                </a:lnTo>
                <a:lnTo>
                  <a:pt x="515722" y="521208"/>
                </a:lnTo>
                <a:lnTo>
                  <a:pt x="521208" y="523951"/>
                </a:lnTo>
                <a:lnTo>
                  <a:pt x="526694" y="525780"/>
                </a:lnTo>
                <a:lnTo>
                  <a:pt x="532181" y="528523"/>
                </a:lnTo>
                <a:lnTo>
                  <a:pt x="537667" y="531266"/>
                </a:lnTo>
                <a:lnTo>
                  <a:pt x="543154" y="534010"/>
                </a:lnTo>
                <a:lnTo>
                  <a:pt x="548640" y="535838"/>
                </a:lnTo>
                <a:lnTo>
                  <a:pt x="554126" y="538582"/>
                </a:lnTo>
                <a:lnTo>
                  <a:pt x="559613" y="541325"/>
                </a:lnTo>
                <a:lnTo>
                  <a:pt x="565099" y="544068"/>
                </a:lnTo>
                <a:lnTo>
                  <a:pt x="570586" y="545897"/>
                </a:lnTo>
                <a:lnTo>
                  <a:pt x="576072" y="548640"/>
                </a:lnTo>
                <a:lnTo>
                  <a:pt x="581558" y="551383"/>
                </a:lnTo>
                <a:lnTo>
                  <a:pt x="587045" y="553212"/>
                </a:lnTo>
                <a:lnTo>
                  <a:pt x="592531" y="555955"/>
                </a:lnTo>
                <a:lnTo>
                  <a:pt x="598018" y="558698"/>
                </a:lnTo>
                <a:lnTo>
                  <a:pt x="603504" y="561442"/>
                </a:lnTo>
                <a:lnTo>
                  <a:pt x="608990" y="563270"/>
                </a:lnTo>
                <a:lnTo>
                  <a:pt x="614477" y="566014"/>
                </a:lnTo>
                <a:lnTo>
                  <a:pt x="619963" y="567842"/>
                </a:lnTo>
                <a:lnTo>
                  <a:pt x="625450" y="570586"/>
                </a:lnTo>
                <a:lnTo>
                  <a:pt x="630936" y="573329"/>
                </a:lnTo>
                <a:lnTo>
                  <a:pt x="636422" y="575158"/>
                </a:lnTo>
                <a:lnTo>
                  <a:pt x="641909" y="577901"/>
                </a:lnTo>
                <a:lnTo>
                  <a:pt x="647395" y="579730"/>
                </a:lnTo>
                <a:lnTo>
                  <a:pt x="652882" y="582473"/>
                </a:lnTo>
                <a:lnTo>
                  <a:pt x="658368" y="584302"/>
                </a:lnTo>
                <a:lnTo>
                  <a:pt x="663854" y="587045"/>
                </a:lnTo>
                <a:lnTo>
                  <a:pt x="669341" y="588874"/>
                </a:lnTo>
                <a:lnTo>
                  <a:pt x="674827" y="591617"/>
                </a:lnTo>
                <a:lnTo>
                  <a:pt x="680314" y="593446"/>
                </a:lnTo>
                <a:lnTo>
                  <a:pt x="685800" y="595274"/>
                </a:lnTo>
                <a:lnTo>
                  <a:pt x="691286" y="597103"/>
                </a:lnTo>
                <a:lnTo>
                  <a:pt x="696773" y="598932"/>
                </a:lnTo>
                <a:lnTo>
                  <a:pt x="702259" y="600761"/>
                </a:lnTo>
                <a:lnTo>
                  <a:pt x="707746" y="602590"/>
                </a:lnTo>
                <a:lnTo>
                  <a:pt x="713232" y="604418"/>
                </a:lnTo>
                <a:lnTo>
                  <a:pt x="718718" y="606247"/>
                </a:lnTo>
                <a:lnTo>
                  <a:pt x="724205" y="608076"/>
                </a:lnTo>
                <a:lnTo>
                  <a:pt x="729691" y="608990"/>
                </a:lnTo>
                <a:lnTo>
                  <a:pt x="735178" y="610819"/>
                </a:lnTo>
                <a:lnTo>
                  <a:pt x="740664" y="611734"/>
                </a:lnTo>
                <a:lnTo>
                  <a:pt x="746150" y="613562"/>
                </a:lnTo>
                <a:lnTo>
                  <a:pt x="747979" y="614477"/>
                </a:lnTo>
                <a:lnTo>
                  <a:pt x="749808" y="0"/>
                </a:lnTo>
                <a:lnTo>
                  <a:pt x="751637" y="0"/>
                </a:lnTo>
                <a:lnTo>
                  <a:pt x="757123" y="0"/>
                </a:lnTo>
                <a:lnTo>
                  <a:pt x="762610" y="0"/>
                </a:lnTo>
                <a:lnTo>
                  <a:pt x="768096" y="0"/>
                </a:lnTo>
                <a:lnTo>
                  <a:pt x="773582" y="0"/>
                </a:lnTo>
                <a:lnTo>
                  <a:pt x="779069" y="0"/>
                </a:lnTo>
                <a:lnTo>
                  <a:pt x="784555" y="0"/>
                </a:lnTo>
                <a:lnTo>
                  <a:pt x="790042" y="0"/>
                </a:lnTo>
                <a:lnTo>
                  <a:pt x="795528" y="0"/>
                </a:lnTo>
                <a:lnTo>
                  <a:pt x="801014" y="0"/>
                </a:lnTo>
                <a:lnTo>
                  <a:pt x="806501" y="0"/>
                </a:lnTo>
                <a:lnTo>
                  <a:pt x="811987" y="0"/>
                </a:lnTo>
                <a:lnTo>
                  <a:pt x="817474" y="0"/>
                </a:lnTo>
                <a:lnTo>
                  <a:pt x="822960" y="0"/>
                </a:lnTo>
                <a:lnTo>
                  <a:pt x="828446" y="0"/>
                </a:lnTo>
                <a:lnTo>
                  <a:pt x="833933" y="0"/>
                </a:lnTo>
                <a:lnTo>
                  <a:pt x="839419" y="0"/>
                </a:lnTo>
                <a:lnTo>
                  <a:pt x="844906" y="0"/>
                </a:lnTo>
                <a:lnTo>
                  <a:pt x="850392" y="0"/>
                </a:lnTo>
                <a:lnTo>
                  <a:pt x="855878" y="0"/>
                </a:lnTo>
                <a:lnTo>
                  <a:pt x="861365" y="0"/>
                </a:lnTo>
                <a:lnTo>
                  <a:pt x="866851" y="0"/>
                </a:lnTo>
                <a:lnTo>
                  <a:pt x="872338" y="0"/>
                </a:lnTo>
                <a:lnTo>
                  <a:pt x="877824" y="0"/>
                </a:lnTo>
                <a:lnTo>
                  <a:pt x="883310" y="0"/>
                </a:lnTo>
                <a:lnTo>
                  <a:pt x="888797" y="0"/>
                </a:lnTo>
                <a:lnTo>
                  <a:pt x="894283" y="0"/>
                </a:lnTo>
                <a:lnTo>
                  <a:pt x="899770" y="0"/>
                </a:lnTo>
                <a:lnTo>
                  <a:pt x="905256" y="0"/>
                </a:lnTo>
                <a:lnTo>
                  <a:pt x="910742" y="0"/>
                </a:lnTo>
                <a:lnTo>
                  <a:pt x="916229" y="0"/>
                </a:lnTo>
                <a:lnTo>
                  <a:pt x="921715" y="0"/>
                </a:lnTo>
                <a:lnTo>
                  <a:pt x="927202" y="0"/>
                </a:lnTo>
                <a:lnTo>
                  <a:pt x="932688" y="0"/>
                </a:lnTo>
                <a:lnTo>
                  <a:pt x="938174" y="0"/>
                </a:lnTo>
                <a:lnTo>
                  <a:pt x="943661" y="0"/>
                </a:lnTo>
                <a:lnTo>
                  <a:pt x="949147" y="0"/>
                </a:lnTo>
                <a:lnTo>
                  <a:pt x="954634" y="0"/>
                </a:lnTo>
                <a:lnTo>
                  <a:pt x="960120" y="0"/>
                </a:lnTo>
                <a:lnTo>
                  <a:pt x="965606" y="0"/>
                </a:lnTo>
                <a:lnTo>
                  <a:pt x="971093" y="0"/>
                </a:lnTo>
                <a:lnTo>
                  <a:pt x="976579" y="0"/>
                </a:lnTo>
                <a:lnTo>
                  <a:pt x="982066" y="0"/>
                </a:lnTo>
                <a:lnTo>
                  <a:pt x="987552" y="0"/>
                </a:lnTo>
                <a:lnTo>
                  <a:pt x="993038" y="0"/>
                </a:lnTo>
                <a:lnTo>
                  <a:pt x="998525" y="0"/>
                </a:lnTo>
                <a:lnTo>
                  <a:pt x="1004011" y="0"/>
                </a:lnTo>
                <a:lnTo>
                  <a:pt x="1009498" y="0"/>
                </a:lnTo>
                <a:lnTo>
                  <a:pt x="1014984" y="0"/>
                </a:lnTo>
                <a:lnTo>
                  <a:pt x="1020470" y="0"/>
                </a:lnTo>
                <a:lnTo>
                  <a:pt x="1025957" y="0"/>
                </a:lnTo>
                <a:lnTo>
                  <a:pt x="1031443" y="0"/>
                </a:lnTo>
                <a:lnTo>
                  <a:pt x="1036930" y="0"/>
                </a:lnTo>
                <a:lnTo>
                  <a:pt x="1042416" y="0"/>
                </a:lnTo>
                <a:lnTo>
                  <a:pt x="1047902" y="0"/>
                </a:lnTo>
                <a:lnTo>
                  <a:pt x="1053389" y="0"/>
                </a:lnTo>
                <a:lnTo>
                  <a:pt x="1058875" y="0"/>
                </a:lnTo>
                <a:lnTo>
                  <a:pt x="1064362" y="0"/>
                </a:lnTo>
                <a:lnTo>
                  <a:pt x="1069848" y="0"/>
                </a:lnTo>
                <a:lnTo>
                  <a:pt x="1075334" y="0"/>
                </a:lnTo>
                <a:lnTo>
                  <a:pt x="1080821" y="0"/>
                </a:lnTo>
                <a:lnTo>
                  <a:pt x="1086307" y="0"/>
                </a:lnTo>
                <a:lnTo>
                  <a:pt x="1091794" y="0"/>
                </a:lnTo>
                <a:lnTo>
                  <a:pt x="1097280" y="0"/>
                </a:lnTo>
                <a:lnTo>
                  <a:pt x="1102766" y="0"/>
                </a:lnTo>
                <a:lnTo>
                  <a:pt x="1108253" y="0"/>
                </a:lnTo>
                <a:lnTo>
                  <a:pt x="1113739" y="0"/>
                </a:lnTo>
                <a:lnTo>
                  <a:pt x="1119226" y="0"/>
                </a:lnTo>
                <a:lnTo>
                  <a:pt x="1124712" y="0"/>
                </a:lnTo>
                <a:lnTo>
                  <a:pt x="1130198" y="0"/>
                </a:lnTo>
                <a:lnTo>
                  <a:pt x="1135685" y="0"/>
                </a:lnTo>
                <a:lnTo>
                  <a:pt x="1141171" y="0"/>
                </a:lnTo>
                <a:lnTo>
                  <a:pt x="1146658" y="0"/>
                </a:lnTo>
                <a:lnTo>
                  <a:pt x="1152144" y="0"/>
                </a:lnTo>
                <a:lnTo>
                  <a:pt x="1157630" y="0"/>
                </a:lnTo>
                <a:lnTo>
                  <a:pt x="1163117" y="0"/>
                </a:lnTo>
                <a:lnTo>
                  <a:pt x="1168603" y="0"/>
                </a:lnTo>
                <a:lnTo>
                  <a:pt x="1174090" y="0"/>
                </a:lnTo>
                <a:lnTo>
                  <a:pt x="1179576" y="0"/>
                </a:lnTo>
                <a:lnTo>
                  <a:pt x="1185062" y="0"/>
                </a:lnTo>
                <a:lnTo>
                  <a:pt x="1190549" y="0"/>
                </a:lnTo>
                <a:lnTo>
                  <a:pt x="1196035" y="0"/>
                </a:lnTo>
                <a:lnTo>
                  <a:pt x="1201522" y="0"/>
                </a:lnTo>
                <a:lnTo>
                  <a:pt x="1207008" y="0"/>
                </a:lnTo>
                <a:lnTo>
                  <a:pt x="1212494" y="0"/>
                </a:lnTo>
                <a:lnTo>
                  <a:pt x="1217981" y="0"/>
                </a:lnTo>
                <a:lnTo>
                  <a:pt x="1223467" y="0"/>
                </a:lnTo>
                <a:lnTo>
                  <a:pt x="1228954" y="0"/>
                </a:lnTo>
                <a:lnTo>
                  <a:pt x="1234440" y="0"/>
                </a:lnTo>
                <a:lnTo>
                  <a:pt x="1239926" y="0"/>
                </a:lnTo>
                <a:lnTo>
                  <a:pt x="1245413" y="0"/>
                </a:lnTo>
                <a:lnTo>
                  <a:pt x="1250899" y="0"/>
                </a:lnTo>
                <a:lnTo>
                  <a:pt x="1256386" y="0"/>
                </a:lnTo>
                <a:lnTo>
                  <a:pt x="1260043" y="0"/>
                </a:lnTo>
                <a:lnTo>
                  <a:pt x="1261872" y="1829"/>
                </a:lnTo>
                <a:lnTo>
                  <a:pt x="1267358" y="13716"/>
                </a:lnTo>
                <a:lnTo>
                  <a:pt x="1272845" y="30175"/>
                </a:lnTo>
                <a:lnTo>
                  <a:pt x="1278331" y="48463"/>
                </a:lnTo>
                <a:lnTo>
                  <a:pt x="1283818" y="66751"/>
                </a:lnTo>
                <a:lnTo>
                  <a:pt x="1289304" y="84125"/>
                </a:lnTo>
                <a:lnTo>
                  <a:pt x="1294790" y="102413"/>
                </a:lnTo>
                <a:lnTo>
                  <a:pt x="1300277" y="118872"/>
                </a:lnTo>
                <a:lnTo>
                  <a:pt x="1305763" y="135331"/>
                </a:lnTo>
                <a:lnTo>
                  <a:pt x="1311250" y="151790"/>
                </a:lnTo>
                <a:lnTo>
                  <a:pt x="1316736" y="167335"/>
                </a:lnTo>
                <a:lnTo>
                  <a:pt x="1322222" y="182880"/>
                </a:lnTo>
                <a:lnTo>
                  <a:pt x="1327709" y="197510"/>
                </a:lnTo>
                <a:lnTo>
                  <a:pt x="1333195" y="211226"/>
                </a:lnTo>
                <a:lnTo>
                  <a:pt x="1338682" y="224942"/>
                </a:lnTo>
                <a:lnTo>
                  <a:pt x="1344168" y="238658"/>
                </a:lnTo>
                <a:lnTo>
                  <a:pt x="1349654" y="251460"/>
                </a:lnTo>
                <a:lnTo>
                  <a:pt x="1355141" y="263347"/>
                </a:lnTo>
                <a:lnTo>
                  <a:pt x="1360627" y="276149"/>
                </a:lnTo>
                <a:lnTo>
                  <a:pt x="1366114" y="288036"/>
                </a:lnTo>
                <a:lnTo>
                  <a:pt x="1371600" y="299009"/>
                </a:lnTo>
                <a:lnTo>
                  <a:pt x="1377086" y="309982"/>
                </a:lnTo>
                <a:lnTo>
                  <a:pt x="1382573" y="320954"/>
                </a:lnTo>
                <a:lnTo>
                  <a:pt x="1388059" y="331013"/>
                </a:lnTo>
                <a:lnTo>
                  <a:pt x="1393546" y="341071"/>
                </a:lnTo>
                <a:lnTo>
                  <a:pt x="1399032" y="351130"/>
                </a:lnTo>
                <a:lnTo>
                  <a:pt x="1404518" y="360274"/>
                </a:lnTo>
                <a:lnTo>
                  <a:pt x="1410005" y="369418"/>
                </a:lnTo>
                <a:lnTo>
                  <a:pt x="1415491" y="378562"/>
                </a:lnTo>
                <a:lnTo>
                  <a:pt x="1420978" y="386791"/>
                </a:lnTo>
                <a:lnTo>
                  <a:pt x="1426464" y="395935"/>
                </a:lnTo>
                <a:lnTo>
                  <a:pt x="1431950" y="403250"/>
                </a:lnTo>
                <a:lnTo>
                  <a:pt x="1437437" y="411480"/>
                </a:lnTo>
                <a:lnTo>
                  <a:pt x="1442923" y="418795"/>
                </a:lnTo>
                <a:lnTo>
                  <a:pt x="1448410" y="426110"/>
                </a:lnTo>
                <a:lnTo>
                  <a:pt x="1453896" y="433426"/>
                </a:lnTo>
                <a:lnTo>
                  <a:pt x="1459382" y="440741"/>
                </a:lnTo>
                <a:lnTo>
                  <a:pt x="1464869" y="447142"/>
                </a:lnTo>
                <a:lnTo>
                  <a:pt x="1470355" y="453542"/>
                </a:lnTo>
                <a:lnTo>
                  <a:pt x="1475842" y="459943"/>
                </a:lnTo>
                <a:lnTo>
                  <a:pt x="1481328" y="466344"/>
                </a:lnTo>
                <a:lnTo>
                  <a:pt x="1486814" y="471830"/>
                </a:lnTo>
                <a:lnTo>
                  <a:pt x="1492301" y="477317"/>
                </a:lnTo>
                <a:lnTo>
                  <a:pt x="1497787" y="482803"/>
                </a:lnTo>
                <a:lnTo>
                  <a:pt x="1503274" y="488290"/>
                </a:lnTo>
                <a:lnTo>
                  <a:pt x="1508760" y="493776"/>
                </a:lnTo>
                <a:lnTo>
                  <a:pt x="1514246" y="499262"/>
                </a:lnTo>
                <a:lnTo>
                  <a:pt x="1519733" y="503834"/>
                </a:lnTo>
                <a:lnTo>
                  <a:pt x="1525219" y="508406"/>
                </a:lnTo>
                <a:lnTo>
                  <a:pt x="1530706" y="512978"/>
                </a:lnTo>
                <a:lnTo>
                  <a:pt x="1536192" y="517550"/>
                </a:lnTo>
                <a:lnTo>
                  <a:pt x="1541678" y="522122"/>
                </a:lnTo>
                <a:lnTo>
                  <a:pt x="1547165" y="525780"/>
                </a:lnTo>
                <a:lnTo>
                  <a:pt x="1552651" y="530352"/>
                </a:lnTo>
                <a:lnTo>
                  <a:pt x="1558138" y="534010"/>
                </a:lnTo>
                <a:lnTo>
                  <a:pt x="1563624" y="537667"/>
                </a:lnTo>
                <a:lnTo>
                  <a:pt x="1569110" y="541325"/>
                </a:lnTo>
                <a:lnTo>
                  <a:pt x="1574597" y="544982"/>
                </a:lnTo>
                <a:lnTo>
                  <a:pt x="1580083" y="548640"/>
                </a:lnTo>
                <a:lnTo>
                  <a:pt x="1585570" y="552298"/>
                </a:lnTo>
                <a:lnTo>
                  <a:pt x="1591056" y="555041"/>
                </a:lnTo>
                <a:lnTo>
                  <a:pt x="1596542" y="558698"/>
                </a:lnTo>
                <a:lnTo>
                  <a:pt x="1602029" y="561442"/>
                </a:lnTo>
                <a:lnTo>
                  <a:pt x="1607515" y="564185"/>
                </a:lnTo>
                <a:lnTo>
                  <a:pt x="1613002" y="567842"/>
                </a:lnTo>
                <a:lnTo>
                  <a:pt x="1618488" y="570586"/>
                </a:lnTo>
                <a:lnTo>
                  <a:pt x="1623974" y="573329"/>
                </a:lnTo>
                <a:lnTo>
                  <a:pt x="1629461" y="576072"/>
                </a:lnTo>
                <a:lnTo>
                  <a:pt x="1634947" y="577901"/>
                </a:lnTo>
                <a:lnTo>
                  <a:pt x="1640434" y="580644"/>
                </a:lnTo>
                <a:lnTo>
                  <a:pt x="1645920" y="583387"/>
                </a:lnTo>
                <a:lnTo>
                  <a:pt x="1651406" y="585216"/>
                </a:lnTo>
                <a:lnTo>
                  <a:pt x="1656893" y="587959"/>
                </a:lnTo>
                <a:lnTo>
                  <a:pt x="1662379" y="589788"/>
                </a:lnTo>
                <a:lnTo>
                  <a:pt x="1667866" y="591617"/>
                </a:lnTo>
                <a:lnTo>
                  <a:pt x="1673352" y="594360"/>
                </a:lnTo>
                <a:lnTo>
                  <a:pt x="1678838" y="596189"/>
                </a:lnTo>
                <a:lnTo>
                  <a:pt x="1684325" y="598018"/>
                </a:lnTo>
                <a:lnTo>
                  <a:pt x="1689811" y="599846"/>
                </a:lnTo>
                <a:lnTo>
                  <a:pt x="1695298" y="601675"/>
                </a:lnTo>
                <a:lnTo>
                  <a:pt x="1700784" y="603504"/>
                </a:lnTo>
                <a:lnTo>
                  <a:pt x="1706270" y="605333"/>
                </a:lnTo>
                <a:lnTo>
                  <a:pt x="1711757" y="606247"/>
                </a:lnTo>
                <a:lnTo>
                  <a:pt x="1717243" y="608076"/>
                </a:lnTo>
                <a:lnTo>
                  <a:pt x="1722730" y="609905"/>
                </a:lnTo>
                <a:lnTo>
                  <a:pt x="1728216" y="610819"/>
                </a:lnTo>
                <a:lnTo>
                  <a:pt x="1733702" y="612648"/>
                </a:lnTo>
                <a:lnTo>
                  <a:pt x="1739189" y="614477"/>
                </a:lnTo>
                <a:lnTo>
                  <a:pt x="1744675" y="615391"/>
                </a:lnTo>
                <a:lnTo>
                  <a:pt x="1750162" y="616306"/>
                </a:lnTo>
                <a:lnTo>
                  <a:pt x="1755648" y="618134"/>
                </a:lnTo>
                <a:lnTo>
                  <a:pt x="1761134" y="619049"/>
                </a:lnTo>
                <a:lnTo>
                  <a:pt x="1766621" y="620878"/>
                </a:lnTo>
                <a:lnTo>
                  <a:pt x="1772107" y="621792"/>
                </a:lnTo>
                <a:lnTo>
                  <a:pt x="1777594" y="622706"/>
                </a:lnTo>
                <a:lnTo>
                  <a:pt x="1783080" y="623621"/>
                </a:lnTo>
                <a:lnTo>
                  <a:pt x="1788566" y="624535"/>
                </a:lnTo>
                <a:lnTo>
                  <a:pt x="1794053" y="626364"/>
                </a:lnTo>
                <a:lnTo>
                  <a:pt x="1799539" y="627278"/>
                </a:lnTo>
                <a:lnTo>
                  <a:pt x="1805026" y="628193"/>
                </a:lnTo>
                <a:lnTo>
                  <a:pt x="1810512" y="629107"/>
                </a:lnTo>
                <a:lnTo>
                  <a:pt x="1815998" y="630022"/>
                </a:lnTo>
                <a:lnTo>
                  <a:pt x="1821485" y="630936"/>
                </a:lnTo>
                <a:lnTo>
                  <a:pt x="1826971" y="631850"/>
                </a:lnTo>
                <a:lnTo>
                  <a:pt x="1832458" y="632765"/>
                </a:lnTo>
                <a:lnTo>
                  <a:pt x="1837944" y="632765"/>
                </a:lnTo>
                <a:lnTo>
                  <a:pt x="1843430" y="633679"/>
                </a:lnTo>
                <a:lnTo>
                  <a:pt x="1848917" y="634594"/>
                </a:lnTo>
                <a:lnTo>
                  <a:pt x="1854403" y="635508"/>
                </a:lnTo>
                <a:lnTo>
                  <a:pt x="1859890" y="636422"/>
                </a:lnTo>
                <a:lnTo>
                  <a:pt x="1865376" y="636422"/>
                </a:lnTo>
                <a:lnTo>
                  <a:pt x="1870862" y="637337"/>
                </a:lnTo>
                <a:lnTo>
                  <a:pt x="1876349" y="638251"/>
                </a:lnTo>
                <a:lnTo>
                  <a:pt x="1881835" y="638251"/>
                </a:lnTo>
                <a:lnTo>
                  <a:pt x="1887322" y="639166"/>
                </a:lnTo>
                <a:lnTo>
                  <a:pt x="1892808" y="640080"/>
                </a:lnTo>
                <a:lnTo>
                  <a:pt x="1898294" y="640080"/>
                </a:lnTo>
                <a:lnTo>
                  <a:pt x="1903781" y="640994"/>
                </a:lnTo>
                <a:lnTo>
                  <a:pt x="1909267" y="641909"/>
                </a:lnTo>
                <a:lnTo>
                  <a:pt x="1914754" y="641909"/>
                </a:lnTo>
                <a:lnTo>
                  <a:pt x="1920240" y="642823"/>
                </a:lnTo>
                <a:lnTo>
                  <a:pt x="1925726" y="642823"/>
                </a:lnTo>
                <a:lnTo>
                  <a:pt x="1931213" y="643738"/>
                </a:lnTo>
                <a:lnTo>
                  <a:pt x="1936699" y="643738"/>
                </a:lnTo>
                <a:lnTo>
                  <a:pt x="1942186" y="644652"/>
                </a:lnTo>
                <a:lnTo>
                  <a:pt x="1947672" y="644652"/>
                </a:lnTo>
                <a:lnTo>
                  <a:pt x="1953158" y="645566"/>
                </a:lnTo>
                <a:lnTo>
                  <a:pt x="1958645" y="645566"/>
                </a:lnTo>
                <a:lnTo>
                  <a:pt x="1964131" y="646481"/>
                </a:lnTo>
                <a:lnTo>
                  <a:pt x="1969618" y="646481"/>
                </a:lnTo>
                <a:lnTo>
                  <a:pt x="1975104" y="646481"/>
                </a:lnTo>
                <a:lnTo>
                  <a:pt x="1980590" y="647395"/>
                </a:lnTo>
                <a:lnTo>
                  <a:pt x="1986077" y="647395"/>
                </a:lnTo>
                <a:lnTo>
                  <a:pt x="1991563" y="647395"/>
                </a:lnTo>
                <a:lnTo>
                  <a:pt x="1997050" y="648310"/>
                </a:lnTo>
                <a:lnTo>
                  <a:pt x="2002536" y="648310"/>
                </a:lnTo>
                <a:lnTo>
                  <a:pt x="2008022" y="649224"/>
                </a:lnTo>
                <a:lnTo>
                  <a:pt x="2013509" y="649224"/>
                </a:lnTo>
                <a:lnTo>
                  <a:pt x="2018995" y="649224"/>
                </a:lnTo>
                <a:lnTo>
                  <a:pt x="2024482" y="649224"/>
                </a:lnTo>
                <a:lnTo>
                  <a:pt x="2029968" y="649224"/>
                </a:lnTo>
                <a:lnTo>
                  <a:pt x="2035454" y="647395"/>
                </a:lnTo>
                <a:lnTo>
                  <a:pt x="2040941" y="645566"/>
                </a:lnTo>
                <a:lnTo>
                  <a:pt x="2046427" y="642823"/>
                </a:lnTo>
                <a:lnTo>
                  <a:pt x="2051914" y="638251"/>
                </a:lnTo>
                <a:lnTo>
                  <a:pt x="2057400" y="633679"/>
                </a:lnTo>
                <a:lnTo>
                  <a:pt x="2062886" y="627278"/>
                </a:lnTo>
                <a:lnTo>
                  <a:pt x="2068373" y="619963"/>
                </a:lnTo>
                <a:lnTo>
                  <a:pt x="2073859" y="612648"/>
                </a:lnTo>
                <a:lnTo>
                  <a:pt x="2079346" y="604418"/>
                </a:lnTo>
                <a:lnTo>
                  <a:pt x="2084832" y="595274"/>
                </a:lnTo>
                <a:lnTo>
                  <a:pt x="2090318" y="587045"/>
                </a:lnTo>
                <a:lnTo>
                  <a:pt x="2095805" y="578815"/>
                </a:lnTo>
                <a:lnTo>
                  <a:pt x="2101291" y="570586"/>
                </a:lnTo>
                <a:lnTo>
                  <a:pt x="2106778" y="563270"/>
                </a:lnTo>
                <a:lnTo>
                  <a:pt x="2112264" y="555955"/>
                </a:lnTo>
                <a:lnTo>
                  <a:pt x="2117750" y="548640"/>
                </a:lnTo>
                <a:lnTo>
                  <a:pt x="2123237" y="542239"/>
                </a:lnTo>
                <a:lnTo>
                  <a:pt x="2128723" y="535838"/>
                </a:lnTo>
                <a:lnTo>
                  <a:pt x="2134210" y="530352"/>
                </a:lnTo>
                <a:lnTo>
                  <a:pt x="2139696" y="523951"/>
                </a:lnTo>
                <a:lnTo>
                  <a:pt x="2145182" y="519379"/>
                </a:lnTo>
                <a:lnTo>
                  <a:pt x="2150669" y="514807"/>
                </a:lnTo>
                <a:lnTo>
                  <a:pt x="2156155" y="510235"/>
                </a:lnTo>
                <a:lnTo>
                  <a:pt x="2161642" y="505663"/>
                </a:lnTo>
                <a:lnTo>
                  <a:pt x="2167128" y="502006"/>
                </a:lnTo>
                <a:lnTo>
                  <a:pt x="2172614" y="499262"/>
                </a:lnTo>
                <a:lnTo>
                  <a:pt x="2178101" y="495605"/>
                </a:lnTo>
                <a:lnTo>
                  <a:pt x="2183587" y="492862"/>
                </a:lnTo>
                <a:lnTo>
                  <a:pt x="2189074" y="491033"/>
                </a:lnTo>
                <a:lnTo>
                  <a:pt x="2194560" y="488290"/>
                </a:lnTo>
                <a:lnTo>
                  <a:pt x="2200046" y="487375"/>
                </a:lnTo>
                <a:lnTo>
                  <a:pt x="2205533" y="485546"/>
                </a:lnTo>
                <a:lnTo>
                  <a:pt x="2211019" y="484632"/>
                </a:lnTo>
                <a:lnTo>
                  <a:pt x="2216506" y="483718"/>
                </a:lnTo>
                <a:lnTo>
                  <a:pt x="2221992" y="482803"/>
                </a:lnTo>
                <a:lnTo>
                  <a:pt x="2227478" y="482803"/>
                </a:lnTo>
                <a:lnTo>
                  <a:pt x="2232965" y="482803"/>
                </a:lnTo>
                <a:lnTo>
                  <a:pt x="2238451" y="481889"/>
                </a:lnTo>
                <a:lnTo>
                  <a:pt x="2243938" y="480974"/>
                </a:lnTo>
                <a:lnTo>
                  <a:pt x="2249424" y="480060"/>
                </a:lnTo>
                <a:lnTo>
                  <a:pt x="2254910" y="480060"/>
                </a:lnTo>
                <a:lnTo>
                  <a:pt x="2260397" y="479146"/>
                </a:lnTo>
                <a:lnTo>
                  <a:pt x="2265883" y="479146"/>
                </a:lnTo>
                <a:lnTo>
                  <a:pt x="2271370" y="478231"/>
                </a:lnTo>
                <a:lnTo>
                  <a:pt x="2276856" y="478231"/>
                </a:lnTo>
                <a:lnTo>
                  <a:pt x="2282342" y="478231"/>
                </a:lnTo>
                <a:lnTo>
                  <a:pt x="2287829" y="479146"/>
                </a:lnTo>
                <a:lnTo>
                  <a:pt x="2293315" y="479146"/>
                </a:lnTo>
                <a:lnTo>
                  <a:pt x="2298802" y="480060"/>
                </a:lnTo>
                <a:lnTo>
                  <a:pt x="2304288" y="480974"/>
                </a:lnTo>
                <a:lnTo>
                  <a:pt x="2309774" y="481889"/>
                </a:lnTo>
                <a:lnTo>
                  <a:pt x="2315261" y="482803"/>
                </a:lnTo>
                <a:lnTo>
                  <a:pt x="2320747" y="483718"/>
                </a:lnTo>
                <a:lnTo>
                  <a:pt x="2326234" y="484632"/>
                </a:lnTo>
                <a:lnTo>
                  <a:pt x="2331720" y="486461"/>
                </a:lnTo>
                <a:lnTo>
                  <a:pt x="2337206" y="487375"/>
                </a:lnTo>
                <a:lnTo>
                  <a:pt x="2342693" y="489204"/>
                </a:lnTo>
                <a:lnTo>
                  <a:pt x="2348179" y="491033"/>
                </a:lnTo>
                <a:lnTo>
                  <a:pt x="2353666" y="492862"/>
                </a:lnTo>
                <a:lnTo>
                  <a:pt x="2359152" y="493776"/>
                </a:lnTo>
                <a:lnTo>
                  <a:pt x="2364638" y="495605"/>
                </a:lnTo>
                <a:lnTo>
                  <a:pt x="2370125" y="498348"/>
                </a:lnTo>
                <a:lnTo>
                  <a:pt x="2375611" y="500177"/>
                </a:lnTo>
                <a:lnTo>
                  <a:pt x="2381098" y="502006"/>
                </a:lnTo>
                <a:lnTo>
                  <a:pt x="2386584" y="503834"/>
                </a:lnTo>
                <a:lnTo>
                  <a:pt x="2392070" y="505663"/>
                </a:lnTo>
                <a:lnTo>
                  <a:pt x="2397557" y="508406"/>
                </a:lnTo>
                <a:lnTo>
                  <a:pt x="2403043" y="510235"/>
                </a:lnTo>
                <a:lnTo>
                  <a:pt x="2408530" y="512978"/>
                </a:lnTo>
                <a:lnTo>
                  <a:pt x="2414016" y="514807"/>
                </a:lnTo>
                <a:lnTo>
                  <a:pt x="2419502" y="517550"/>
                </a:lnTo>
                <a:lnTo>
                  <a:pt x="2424989" y="519379"/>
                </a:lnTo>
                <a:lnTo>
                  <a:pt x="2430475" y="522122"/>
                </a:lnTo>
                <a:lnTo>
                  <a:pt x="2435962" y="523951"/>
                </a:lnTo>
                <a:lnTo>
                  <a:pt x="2441448" y="526694"/>
                </a:lnTo>
                <a:lnTo>
                  <a:pt x="2446934" y="529438"/>
                </a:lnTo>
                <a:lnTo>
                  <a:pt x="2452421" y="531266"/>
                </a:lnTo>
                <a:lnTo>
                  <a:pt x="2457907" y="534010"/>
                </a:lnTo>
                <a:lnTo>
                  <a:pt x="2463394" y="536753"/>
                </a:lnTo>
                <a:lnTo>
                  <a:pt x="2468880" y="538582"/>
                </a:lnTo>
                <a:lnTo>
                  <a:pt x="2474366" y="541325"/>
                </a:lnTo>
                <a:lnTo>
                  <a:pt x="2479853" y="543154"/>
                </a:lnTo>
                <a:lnTo>
                  <a:pt x="2485339" y="545897"/>
                </a:lnTo>
                <a:lnTo>
                  <a:pt x="2490826" y="548640"/>
                </a:lnTo>
                <a:lnTo>
                  <a:pt x="2496312" y="550469"/>
                </a:lnTo>
                <a:lnTo>
                  <a:pt x="2501798" y="553212"/>
                </a:lnTo>
                <a:lnTo>
                  <a:pt x="2507285" y="555955"/>
                </a:lnTo>
                <a:lnTo>
                  <a:pt x="2512771" y="557784"/>
                </a:lnTo>
                <a:lnTo>
                  <a:pt x="2518258" y="560527"/>
                </a:lnTo>
                <a:lnTo>
                  <a:pt x="2523744" y="563270"/>
                </a:lnTo>
                <a:lnTo>
                  <a:pt x="2529230" y="565099"/>
                </a:lnTo>
                <a:lnTo>
                  <a:pt x="2534717" y="567842"/>
                </a:lnTo>
                <a:lnTo>
                  <a:pt x="2540203" y="569671"/>
                </a:lnTo>
                <a:lnTo>
                  <a:pt x="2545690" y="572414"/>
                </a:lnTo>
                <a:lnTo>
                  <a:pt x="2551176" y="574243"/>
                </a:lnTo>
                <a:lnTo>
                  <a:pt x="2556662" y="576986"/>
                </a:lnTo>
                <a:lnTo>
                  <a:pt x="2562149" y="578815"/>
                </a:lnTo>
                <a:lnTo>
                  <a:pt x="2567635" y="581558"/>
                </a:lnTo>
                <a:lnTo>
                  <a:pt x="2573122" y="583387"/>
                </a:lnTo>
                <a:lnTo>
                  <a:pt x="2578608" y="586130"/>
                </a:lnTo>
                <a:lnTo>
                  <a:pt x="2584094" y="587959"/>
                </a:lnTo>
                <a:lnTo>
                  <a:pt x="2589581" y="589788"/>
                </a:lnTo>
                <a:lnTo>
                  <a:pt x="2595067" y="591617"/>
                </a:lnTo>
                <a:lnTo>
                  <a:pt x="2600554" y="592531"/>
                </a:lnTo>
                <a:lnTo>
                  <a:pt x="2606040" y="592531"/>
                </a:lnTo>
                <a:lnTo>
                  <a:pt x="2611526" y="591617"/>
                </a:lnTo>
                <a:lnTo>
                  <a:pt x="2617013" y="589788"/>
                </a:lnTo>
                <a:lnTo>
                  <a:pt x="2622499" y="586130"/>
                </a:lnTo>
                <a:lnTo>
                  <a:pt x="2627986" y="581558"/>
                </a:lnTo>
                <a:lnTo>
                  <a:pt x="2633472" y="576072"/>
                </a:lnTo>
                <a:lnTo>
                  <a:pt x="2638958" y="570586"/>
                </a:lnTo>
                <a:lnTo>
                  <a:pt x="2644445" y="563270"/>
                </a:lnTo>
                <a:lnTo>
                  <a:pt x="2649931" y="555955"/>
                </a:lnTo>
                <a:lnTo>
                  <a:pt x="2655418" y="548640"/>
                </a:lnTo>
                <a:lnTo>
                  <a:pt x="2660904" y="542239"/>
                </a:lnTo>
                <a:lnTo>
                  <a:pt x="2666390" y="534924"/>
                </a:lnTo>
                <a:lnTo>
                  <a:pt x="2671877" y="528523"/>
                </a:lnTo>
                <a:lnTo>
                  <a:pt x="2677363" y="522122"/>
                </a:lnTo>
                <a:lnTo>
                  <a:pt x="2682850" y="515722"/>
                </a:lnTo>
                <a:lnTo>
                  <a:pt x="2688336" y="510235"/>
                </a:lnTo>
                <a:lnTo>
                  <a:pt x="2693822" y="504749"/>
                </a:lnTo>
                <a:lnTo>
                  <a:pt x="2699309" y="500177"/>
                </a:lnTo>
                <a:lnTo>
                  <a:pt x="2704795" y="495605"/>
                </a:lnTo>
                <a:lnTo>
                  <a:pt x="2710282" y="491033"/>
                </a:lnTo>
                <a:lnTo>
                  <a:pt x="2715768" y="487375"/>
                </a:lnTo>
                <a:lnTo>
                  <a:pt x="2721254" y="483718"/>
                </a:lnTo>
                <a:lnTo>
                  <a:pt x="2726741" y="480060"/>
                </a:lnTo>
                <a:lnTo>
                  <a:pt x="2732227" y="477317"/>
                </a:lnTo>
                <a:lnTo>
                  <a:pt x="2737714" y="474574"/>
                </a:lnTo>
                <a:lnTo>
                  <a:pt x="2743200" y="471830"/>
                </a:lnTo>
                <a:lnTo>
                  <a:pt x="2748686" y="470002"/>
                </a:lnTo>
                <a:lnTo>
                  <a:pt x="2754173" y="468173"/>
                </a:lnTo>
                <a:lnTo>
                  <a:pt x="2759659" y="467258"/>
                </a:lnTo>
                <a:lnTo>
                  <a:pt x="2765146" y="465430"/>
                </a:lnTo>
                <a:lnTo>
                  <a:pt x="2770632" y="464515"/>
                </a:lnTo>
                <a:lnTo>
                  <a:pt x="2776118" y="464515"/>
                </a:lnTo>
                <a:lnTo>
                  <a:pt x="2781605" y="463601"/>
                </a:lnTo>
                <a:lnTo>
                  <a:pt x="2787091" y="464515"/>
                </a:lnTo>
                <a:lnTo>
                  <a:pt x="2792578" y="464515"/>
                </a:lnTo>
                <a:lnTo>
                  <a:pt x="2798064" y="464515"/>
                </a:lnTo>
                <a:lnTo>
                  <a:pt x="2803550" y="464515"/>
                </a:lnTo>
                <a:lnTo>
                  <a:pt x="2809037" y="464515"/>
                </a:lnTo>
                <a:lnTo>
                  <a:pt x="2814523" y="464515"/>
                </a:lnTo>
                <a:lnTo>
                  <a:pt x="2820010" y="464515"/>
                </a:lnTo>
                <a:lnTo>
                  <a:pt x="2825496" y="463601"/>
                </a:lnTo>
                <a:lnTo>
                  <a:pt x="2830982" y="463601"/>
                </a:lnTo>
                <a:lnTo>
                  <a:pt x="2836469" y="464515"/>
                </a:lnTo>
                <a:lnTo>
                  <a:pt x="2841955" y="464515"/>
                </a:lnTo>
                <a:lnTo>
                  <a:pt x="2847442" y="464515"/>
                </a:lnTo>
                <a:lnTo>
                  <a:pt x="2852928" y="465430"/>
                </a:lnTo>
                <a:lnTo>
                  <a:pt x="2858414" y="466344"/>
                </a:lnTo>
                <a:lnTo>
                  <a:pt x="2863901" y="467258"/>
                </a:lnTo>
                <a:lnTo>
                  <a:pt x="2869387" y="468173"/>
                </a:lnTo>
                <a:lnTo>
                  <a:pt x="2874874" y="470002"/>
                </a:lnTo>
                <a:lnTo>
                  <a:pt x="2880360" y="470916"/>
                </a:lnTo>
                <a:lnTo>
                  <a:pt x="2885846" y="472745"/>
                </a:lnTo>
                <a:lnTo>
                  <a:pt x="2891333" y="473659"/>
                </a:lnTo>
                <a:lnTo>
                  <a:pt x="2896819" y="475488"/>
                </a:lnTo>
                <a:lnTo>
                  <a:pt x="2902306" y="477317"/>
                </a:lnTo>
                <a:lnTo>
                  <a:pt x="2907792" y="479146"/>
                </a:lnTo>
                <a:lnTo>
                  <a:pt x="2913278" y="480974"/>
                </a:lnTo>
                <a:lnTo>
                  <a:pt x="2918765" y="482803"/>
                </a:lnTo>
                <a:lnTo>
                  <a:pt x="2924251" y="484632"/>
                </a:lnTo>
                <a:lnTo>
                  <a:pt x="2929738" y="486461"/>
                </a:lnTo>
                <a:lnTo>
                  <a:pt x="2935224" y="489204"/>
                </a:lnTo>
                <a:lnTo>
                  <a:pt x="2940710" y="491033"/>
                </a:lnTo>
                <a:lnTo>
                  <a:pt x="2946197" y="493776"/>
                </a:lnTo>
                <a:lnTo>
                  <a:pt x="2951683" y="495605"/>
                </a:lnTo>
                <a:lnTo>
                  <a:pt x="2957170" y="498348"/>
                </a:lnTo>
                <a:lnTo>
                  <a:pt x="2962656" y="500177"/>
                </a:lnTo>
                <a:lnTo>
                  <a:pt x="2968142" y="502920"/>
                </a:lnTo>
                <a:lnTo>
                  <a:pt x="2973629" y="505663"/>
                </a:lnTo>
                <a:lnTo>
                  <a:pt x="2979115" y="507492"/>
                </a:lnTo>
                <a:lnTo>
                  <a:pt x="2984602" y="510235"/>
                </a:lnTo>
                <a:lnTo>
                  <a:pt x="2990088" y="512978"/>
                </a:lnTo>
                <a:lnTo>
                  <a:pt x="2995574" y="515722"/>
                </a:lnTo>
                <a:lnTo>
                  <a:pt x="3001061" y="517550"/>
                </a:lnTo>
                <a:lnTo>
                  <a:pt x="3006547" y="520294"/>
                </a:lnTo>
                <a:lnTo>
                  <a:pt x="3012034" y="523037"/>
                </a:lnTo>
                <a:lnTo>
                  <a:pt x="3017520" y="525780"/>
                </a:lnTo>
                <a:lnTo>
                  <a:pt x="3023006" y="527609"/>
                </a:lnTo>
                <a:lnTo>
                  <a:pt x="3028493" y="530352"/>
                </a:lnTo>
                <a:lnTo>
                  <a:pt x="3033979" y="533095"/>
                </a:lnTo>
                <a:lnTo>
                  <a:pt x="3039466" y="535838"/>
                </a:lnTo>
                <a:lnTo>
                  <a:pt x="3044952" y="538582"/>
                </a:lnTo>
                <a:lnTo>
                  <a:pt x="3050438" y="541325"/>
                </a:lnTo>
                <a:lnTo>
                  <a:pt x="3055925" y="543154"/>
                </a:lnTo>
                <a:lnTo>
                  <a:pt x="3061411" y="545897"/>
                </a:lnTo>
                <a:lnTo>
                  <a:pt x="3066898" y="548640"/>
                </a:lnTo>
                <a:lnTo>
                  <a:pt x="3072384" y="551383"/>
                </a:lnTo>
                <a:lnTo>
                  <a:pt x="3077870" y="553212"/>
                </a:lnTo>
                <a:lnTo>
                  <a:pt x="3083357" y="555955"/>
                </a:lnTo>
                <a:lnTo>
                  <a:pt x="3088843" y="558698"/>
                </a:lnTo>
                <a:lnTo>
                  <a:pt x="3094330" y="561442"/>
                </a:lnTo>
                <a:lnTo>
                  <a:pt x="3099816" y="563270"/>
                </a:lnTo>
                <a:lnTo>
                  <a:pt x="3105302" y="566014"/>
                </a:lnTo>
                <a:lnTo>
                  <a:pt x="3110789" y="568757"/>
                </a:lnTo>
                <a:lnTo>
                  <a:pt x="3116275" y="570586"/>
                </a:lnTo>
                <a:lnTo>
                  <a:pt x="3121762" y="573329"/>
                </a:lnTo>
                <a:lnTo>
                  <a:pt x="3127248" y="576072"/>
                </a:lnTo>
                <a:lnTo>
                  <a:pt x="3132734" y="577901"/>
                </a:lnTo>
                <a:lnTo>
                  <a:pt x="3138221" y="580644"/>
                </a:lnTo>
                <a:lnTo>
                  <a:pt x="3143707" y="582473"/>
                </a:lnTo>
                <a:lnTo>
                  <a:pt x="3149194" y="585216"/>
                </a:lnTo>
                <a:lnTo>
                  <a:pt x="3154680" y="587045"/>
                </a:lnTo>
                <a:lnTo>
                  <a:pt x="3160166" y="589788"/>
                </a:lnTo>
                <a:lnTo>
                  <a:pt x="3165653" y="591617"/>
                </a:lnTo>
                <a:lnTo>
                  <a:pt x="3171139" y="593446"/>
                </a:lnTo>
                <a:lnTo>
                  <a:pt x="3176626" y="595274"/>
                </a:lnTo>
                <a:lnTo>
                  <a:pt x="3182112" y="597103"/>
                </a:lnTo>
                <a:lnTo>
                  <a:pt x="3187598" y="599846"/>
                </a:lnTo>
                <a:lnTo>
                  <a:pt x="3193085" y="601675"/>
                </a:lnTo>
                <a:lnTo>
                  <a:pt x="3198571" y="602590"/>
                </a:lnTo>
                <a:lnTo>
                  <a:pt x="3204058" y="604418"/>
                </a:lnTo>
                <a:lnTo>
                  <a:pt x="3209544" y="606247"/>
                </a:lnTo>
                <a:lnTo>
                  <a:pt x="3215030" y="608076"/>
                </a:lnTo>
                <a:lnTo>
                  <a:pt x="3220517" y="609905"/>
                </a:lnTo>
                <a:lnTo>
                  <a:pt x="3226003" y="610819"/>
                </a:lnTo>
                <a:lnTo>
                  <a:pt x="3231490" y="612648"/>
                </a:lnTo>
                <a:lnTo>
                  <a:pt x="3236976" y="613562"/>
                </a:lnTo>
                <a:lnTo>
                  <a:pt x="3242462" y="615391"/>
                </a:lnTo>
                <a:lnTo>
                  <a:pt x="3247949" y="616306"/>
                </a:lnTo>
                <a:lnTo>
                  <a:pt x="3253435" y="618134"/>
                </a:lnTo>
                <a:lnTo>
                  <a:pt x="3258922" y="619049"/>
                </a:lnTo>
                <a:lnTo>
                  <a:pt x="3264408" y="619963"/>
                </a:lnTo>
                <a:lnTo>
                  <a:pt x="3269894" y="621792"/>
                </a:lnTo>
                <a:lnTo>
                  <a:pt x="3275381" y="622706"/>
                </a:lnTo>
                <a:lnTo>
                  <a:pt x="3280867" y="623621"/>
                </a:lnTo>
                <a:lnTo>
                  <a:pt x="3286354" y="624535"/>
                </a:lnTo>
                <a:lnTo>
                  <a:pt x="3291840" y="625450"/>
                </a:lnTo>
                <a:lnTo>
                  <a:pt x="3297326" y="626364"/>
                </a:lnTo>
                <a:lnTo>
                  <a:pt x="3302813" y="628193"/>
                </a:lnTo>
                <a:lnTo>
                  <a:pt x="3308299" y="629107"/>
                </a:lnTo>
                <a:lnTo>
                  <a:pt x="3313786" y="630022"/>
                </a:lnTo>
                <a:lnTo>
                  <a:pt x="3319272" y="630936"/>
                </a:lnTo>
                <a:lnTo>
                  <a:pt x="3324758" y="630936"/>
                </a:lnTo>
                <a:lnTo>
                  <a:pt x="3330245" y="631850"/>
                </a:lnTo>
                <a:lnTo>
                  <a:pt x="3335731" y="632765"/>
                </a:lnTo>
                <a:lnTo>
                  <a:pt x="3341218" y="633679"/>
                </a:lnTo>
                <a:lnTo>
                  <a:pt x="3346704" y="634594"/>
                </a:lnTo>
              </a:path>
            </a:pathLst>
          </a:custGeom>
          <a:noFill/>
          <a:ln w="38100">
            <a:solidFill>
              <a:srgbClr val="00A8AA"/>
            </a:solidFill>
            <a:prstDash val="solid"/>
          </a:ln>
        </p:spPr>
      </p:sp>
      <p:sp>
        <p:nvSpPr>
          <p:cNvPr id="14" name="Text 12"/>
          <p:cNvSpPr txBox="1"/>
          <p:nvPr/>
        </p:nvSpPr>
        <p:spPr>
          <a:xfrm>
            <a:off x="502920" y="3100760"/>
            <a:ext cx="3566160" cy="420624"/>
          </a:xfrm>
          <a:prstGeom prst="rect">
            <a:avLst/>
          </a:prstGeom>
          <a:noFill/>
          <a:ln/>
        </p:spPr>
        <p:txBody>
          <a:bodyPr wrap="square" lIns="0" tIns="0" rIns="0" bIns="0" rtlCol="0" anchor="t"/>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適正：振動 1–2 回</a:t>
            </a:r>
            <a:endParaRPr lang="ja-JP" sz="2200" dirty="0"/>
          </a:p>
        </p:txBody>
      </p:sp>
      <p:sp>
        <p:nvSpPr>
          <p:cNvPr id="15" name="Text 13"/>
          <p:cNvSpPr txBox="1"/>
          <p:nvPr/>
        </p:nvSpPr>
        <p:spPr>
          <a:xfrm>
            <a:off x="4311396" y="3100760"/>
            <a:ext cx="3566160" cy="420624"/>
          </a:xfrm>
          <a:prstGeom prst="rect">
            <a:avLst/>
          </a:prstGeom>
          <a:noFill/>
          <a:ln/>
        </p:spPr>
        <p:txBody>
          <a:bodyPr wrap="square" lIns="0" tIns="0" rIns="0" bIns="0" rtlCol="0" anchor="t"/>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減衰不足：振動が多い</a:t>
            </a:r>
            <a:endParaRPr lang="ja-JP" sz="2200" dirty="0"/>
          </a:p>
        </p:txBody>
      </p:sp>
      <p:sp>
        <p:nvSpPr>
          <p:cNvPr id="16" name="Text 14"/>
          <p:cNvSpPr txBox="1"/>
          <p:nvPr/>
        </p:nvSpPr>
        <p:spPr>
          <a:xfrm>
            <a:off x="8119872" y="3100760"/>
            <a:ext cx="3566160" cy="420624"/>
          </a:xfrm>
          <a:prstGeom prst="rect">
            <a:avLst/>
          </a:prstGeom>
          <a:noFill/>
          <a:ln/>
        </p:spPr>
        <p:txBody>
          <a:bodyPr wrap="square" lIns="0" tIns="0" rIns="0" bIns="0" rtlCol="0" anchor="t"/>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過減衰：振動なし</a:t>
            </a:r>
            <a:endParaRPr lang="ja-JP" sz="2200" dirty="0"/>
          </a:p>
        </p:txBody>
      </p:sp>
      <p:sp>
        <p:nvSpPr>
          <p:cNvPr id="17" name="Shape 15"/>
          <p:cNvSpPr/>
          <p:nvPr/>
        </p:nvSpPr>
        <p:spPr>
          <a:xfrm>
            <a:off x="502920" y="3795704"/>
            <a:ext cx="4069080" cy="1828800"/>
          </a:xfrm>
          <a:prstGeom prst="roundRect">
            <a:avLst>
              <a:gd name="adj" fmla="val 4000"/>
            </a:avLst>
          </a:prstGeom>
          <a:solidFill>
            <a:srgbClr val="F2F2F2"/>
          </a:solidFill>
          <a:ln/>
        </p:spPr>
      </p:sp>
      <p:sp>
        <p:nvSpPr>
          <p:cNvPr id="18" name="Text 16"/>
          <p:cNvSpPr txBox="1"/>
          <p:nvPr/>
        </p:nvSpPr>
        <p:spPr>
          <a:xfrm>
            <a:off x="640080" y="3932864"/>
            <a:ext cx="3794760"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減衰不足</a:t>
            </a:r>
            <a:endParaRPr lang="ja-JP" sz="2600" dirty="0"/>
          </a:p>
        </p:txBody>
      </p:sp>
      <p:sp>
        <p:nvSpPr>
          <p:cNvPr id="19" name="Text 17"/>
          <p:cNvSpPr txBox="1"/>
          <p:nvPr/>
        </p:nvSpPr>
        <p:spPr>
          <a:xfrm>
            <a:off x="640080" y="4527224"/>
            <a:ext cx="37947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収縮期↑ 拡張期↓</a:t>
            </a:r>
            <a:endParaRPr lang="ja-JP" sz="2200" dirty="0"/>
          </a:p>
        </p:txBody>
      </p:sp>
      <p:sp>
        <p:nvSpPr>
          <p:cNvPr id="20" name="Text 18"/>
          <p:cNvSpPr txBox="1"/>
          <p:nvPr/>
        </p:nvSpPr>
        <p:spPr>
          <a:xfrm>
            <a:off x="640080" y="5057576"/>
            <a:ext cx="37947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長いチューブ・接続の多さ</a:t>
            </a:r>
            <a:endParaRPr lang="ja-JP" sz="2200" dirty="0"/>
          </a:p>
        </p:txBody>
      </p:sp>
      <p:sp>
        <p:nvSpPr>
          <p:cNvPr id="21" name="Shape 19"/>
          <p:cNvSpPr/>
          <p:nvPr/>
        </p:nvSpPr>
        <p:spPr>
          <a:xfrm>
            <a:off x="4818888" y="3795704"/>
            <a:ext cx="4069080" cy="1828800"/>
          </a:xfrm>
          <a:prstGeom prst="roundRect">
            <a:avLst>
              <a:gd name="adj" fmla="val 4000"/>
            </a:avLst>
          </a:prstGeom>
          <a:solidFill>
            <a:srgbClr val="F2F2F2"/>
          </a:solidFill>
          <a:ln/>
        </p:spPr>
      </p:sp>
      <p:sp>
        <p:nvSpPr>
          <p:cNvPr id="22" name="Text 20"/>
          <p:cNvSpPr txBox="1"/>
          <p:nvPr/>
        </p:nvSpPr>
        <p:spPr>
          <a:xfrm>
            <a:off x="4956048" y="3932864"/>
            <a:ext cx="3794760" cy="502920"/>
          </a:xfrm>
          <a:prstGeom prst="rect">
            <a:avLst/>
          </a:prstGeom>
          <a:noFill/>
          <a:ln/>
        </p:spPr>
        <p:txBody>
          <a:bodyPr wrap="square" lIns="0" tIns="0" rIns="0" bIns="0" rtlCol="0" anchor="t"/>
          <a:lstStyle/>
          <a:p>
            <a:pPr algn="l" indent="0" marL="0">
              <a:buNone/>
            </a:pPr>
            <a:r>
              <a:rPr lang="ja-JP" altLang="en-US" sz="2600" b="1" dirty="0">
                <a:solidFill>
                  <a:srgbClr val="00A8AA"/>
                </a:solidFill>
                <a:latin typeface="メイリオ" pitchFamily="34" charset="0"/>
                <a:ea typeface="メイリオ" pitchFamily="34" charset="-122"/>
                <a:cs typeface="メイリオ" pitchFamily="34" charset="-120"/>
              </a:rPr>
              <a:t>過減衰</a:t>
            </a:r>
            <a:endParaRPr lang="ja-JP" sz="2600" dirty="0"/>
          </a:p>
        </p:txBody>
      </p:sp>
      <p:sp>
        <p:nvSpPr>
          <p:cNvPr id="23" name="Text 21"/>
          <p:cNvSpPr txBox="1"/>
          <p:nvPr/>
        </p:nvSpPr>
        <p:spPr>
          <a:xfrm>
            <a:off x="4956048" y="4527224"/>
            <a:ext cx="37947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収縮期↓ 拡張期↑</a:t>
            </a:r>
            <a:endParaRPr lang="ja-JP" sz="2200" dirty="0"/>
          </a:p>
        </p:txBody>
      </p:sp>
      <p:sp>
        <p:nvSpPr>
          <p:cNvPr id="24" name="Text 22"/>
          <p:cNvSpPr txBox="1"/>
          <p:nvPr/>
        </p:nvSpPr>
        <p:spPr>
          <a:xfrm>
            <a:off x="4956048" y="5057576"/>
            <a:ext cx="37947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気泡・血栓・屈曲・緩み</a:t>
            </a:r>
            <a:endParaRPr lang="ja-JP" sz="2200" dirty="0"/>
          </a:p>
        </p:txBody>
      </p:sp>
      <p:sp>
        <p:nvSpPr>
          <p:cNvPr id="25" name="Text 23"/>
          <p:cNvSpPr/>
          <p:nvPr/>
        </p:nvSpPr>
        <p:spPr>
          <a:xfrm>
            <a:off x="9134856" y="3795704"/>
            <a:ext cx="2551176" cy="1828800"/>
          </a:xfrm>
          <a:prstGeom prst="roundRect">
            <a:avLst>
              <a:gd name="adj" fmla="val 4000"/>
            </a:avLst>
          </a:prstGeom>
          <a:solidFill>
            <a:srgbClr val="FFFFFF"/>
          </a:solidFill>
          <a:ln w="28575">
            <a:solidFill>
              <a:srgbClr val="404040"/>
            </a:solidFill>
          </a:ln>
        </p:spPr>
        <p:txBody>
          <a:bodyPr wrap="square" lIns="54864" tIns="54864" rIns="54864" bIns="54864"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平均血圧は</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比較的保たれる</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波形がおかしいとき</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Saugel B, et al. Crit Care 2020;24:172</a:t>
            </a:r>
            <a:endParaRPr lang="ja-JP" sz="1600" dirty="0"/>
          </a:p>
        </p:txBody>
      </p:sp>
      <p:sp>
        <p:nvSpPr>
          <p:cNvPr id="11" name="Text 9"/>
          <p:cNvSpPr/>
          <p:nvPr/>
        </p:nvSpPr>
        <p:spPr>
          <a:xfrm>
            <a:off x="502920" y="1783080"/>
            <a:ext cx="11183112" cy="822960"/>
          </a:xfrm>
          <a:prstGeom prst="roundRect">
            <a:avLst>
              <a:gd name="adj" fmla="val 8889"/>
            </a:avLst>
          </a:prstGeom>
          <a:solidFill>
            <a:srgbClr val="F2F2F2"/>
          </a:solidFill>
          <a:ln w="31750">
            <a:solidFill>
              <a:srgbClr val="C00000"/>
            </a:solidFill>
          </a:ln>
        </p:spPr>
        <p:txBody>
          <a:bodyPr wrap="square" lIns="73152" tIns="73152" rIns="73152" bIns="73152" rtlCol="0" anchor="ctr"/>
          <a:lstStyle/>
          <a:p>
            <a:pPr algn="ctr" indent="0" marL="0">
              <a:buNone/>
            </a:pPr>
            <a:r>
              <a:rPr lang="ja-JP" altLang="en-US" sz="2800" b="1" dirty="0">
                <a:solidFill>
                  <a:srgbClr val="C00000"/>
                </a:solidFill>
                <a:latin typeface="メイリオ" pitchFamily="34" charset="0"/>
                <a:ea typeface="メイリオ" pitchFamily="34" charset="-122"/>
                <a:cs typeface="メイリオ" pitchFamily="34" charset="-120"/>
              </a:rPr>
              <a:t>波形が消えた ＝ まず患者（脈・SpO2 の脈波）</a:t>
            </a:r>
            <a:endParaRPr lang="ja-JP" sz="2800" dirty="0"/>
          </a:p>
        </p:txBody>
      </p:sp>
      <p:sp>
        <p:nvSpPr>
          <p:cNvPr id="12" name="Text 10"/>
          <p:cNvSpPr/>
          <p:nvPr/>
        </p:nvSpPr>
        <p:spPr>
          <a:xfrm>
            <a:off x="502920" y="3127248"/>
            <a:ext cx="2514600" cy="804672"/>
          </a:xfrm>
          <a:prstGeom prst="roundRect">
            <a:avLst>
              <a:gd name="adj" fmla="val 13636"/>
            </a:avLst>
          </a:prstGeom>
          <a:solidFill>
            <a:srgbClr val="F2F2F2"/>
          </a:solidFill>
          <a:ln w="28575">
            <a:solidFill>
              <a:srgbClr val="C00000"/>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① 患者を見る</a:t>
            </a:r>
            <a:endParaRPr lang="ja-JP" sz="2400" dirty="0"/>
          </a:p>
        </p:txBody>
      </p:sp>
      <p:sp>
        <p:nvSpPr>
          <p:cNvPr id="13" name="Shape 11"/>
          <p:cNvSpPr/>
          <p:nvPr/>
        </p:nvSpPr>
        <p:spPr>
          <a:xfrm>
            <a:off x="3090672" y="3529584"/>
            <a:ext cx="347472" cy="0"/>
          </a:xfrm>
          <a:prstGeom prst="line">
            <a:avLst/>
          </a:prstGeom>
          <a:noFill/>
          <a:ln w="38100">
            <a:solidFill>
              <a:srgbClr val="404040"/>
            </a:solidFill>
            <a:prstDash val="solid"/>
          </a:ln>
        </p:spPr>
      </p:sp>
      <p:sp>
        <p:nvSpPr>
          <p:cNvPr id="14" name="Shape 12"/>
          <p:cNvSpPr/>
          <p:nvPr/>
        </p:nvSpPr>
        <p:spPr>
          <a:xfrm>
            <a:off x="3419856" y="3410712"/>
            <a:ext cx="201168" cy="237744"/>
          </a:xfrm>
          <a:custGeom>
            <a:avLst/>
            <a:gdLst/>
            <a:ahLst/>
            <a:cxnLst/>
            <a:rect l="l" t="t" r="r" b="b"/>
            <a:pathLst>
              <a:path w="201168" h="237744">
                <a:moveTo>
                  <a:pt x="201168" y="118872"/>
                </a:moveTo>
                <a:lnTo>
                  <a:pt x="0" y="237744"/>
                </a:lnTo>
                <a:lnTo>
                  <a:pt x="0" y="0"/>
                </a:lnTo>
                <a:close/>
              </a:path>
            </a:pathLst>
          </a:custGeom>
          <a:solidFill>
            <a:srgbClr val="404040"/>
          </a:solidFill>
          <a:ln w="12700">
            <a:solidFill>
              <a:srgbClr val="404040"/>
            </a:solidFill>
            <a:prstDash val="solid"/>
          </a:ln>
        </p:spPr>
      </p:sp>
      <p:sp>
        <p:nvSpPr>
          <p:cNvPr id="15" name="Text 13"/>
          <p:cNvSpPr/>
          <p:nvPr/>
        </p:nvSpPr>
        <p:spPr>
          <a:xfrm>
            <a:off x="3694176" y="3127248"/>
            <a:ext cx="3154680" cy="804672"/>
          </a:xfrm>
          <a:prstGeom prst="roundRect">
            <a:avLst>
              <a:gd name="adj" fmla="val 13636"/>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② 三方活栓の向き</a:t>
            </a:r>
            <a:endParaRPr lang="ja-JP" sz="2400" dirty="0"/>
          </a:p>
        </p:txBody>
      </p:sp>
      <p:sp>
        <p:nvSpPr>
          <p:cNvPr id="16" name="Shape 14"/>
          <p:cNvSpPr/>
          <p:nvPr/>
        </p:nvSpPr>
        <p:spPr>
          <a:xfrm>
            <a:off x="6922008" y="3529584"/>
            <a:ext cx="347472" cy="0"/>
          </a:xfrm>
          <a:prstGeom prst="line">
            <a:avLst/>
          </a:prstGeom>
          <a:noFill/>
          <a:ln w="38100">
            <a:solidFill>
              <a:srgbClr val="404040"/>
            </a:solidFill>
            <a:prstDash val="solid"/>
          </a:ln>
        </p:spPr>
      </p:sp>
      <p:sp>
        <p:nvSpPr>
          <p:cNvPr id="17" name="Shape 15"/>
          <p:cNvSpPr/>
          <p:nvPr/>
        </p:nvSpPr>
        <p:spPr>
          <a:xfrm>
            <a:off x="7251192" y="3410712"/>
            <a:ext cx="201168" cy="237744"/>
          </a:xfrm>
          <a:custGeom>
            <a:avLst/>
            <a:gdLst/>
            <a:ahLst/>
            <a:cxnLst/>
            <a:rect l="l" t="t" r="r" b="b"/>
            <a:pathLst>
              <a:path w="201168" h="237744">
                <a:moveTo>
                  <a:pt x="201168" y="118872"/>
                </a:moveTo>
                <a:lnTo>
                  <a:pt x="0" y="237744"/>
                </a:lnTo>
                <a:lnTo>
                  <a:pt x="0" y="0"/>
                </a:lnTo>
                <a:close/>
              </a:path>
            </a:pathLst>
          </a:custGeom>
          <a:solidFill>
            <a:srgbClr val="404040"/>
          </a:solidFill>
          <a:ln w="12700">
            <a:solidFill>
              <a:srgbClr val="404040"/>
            </a:solidFill>
            <a:prstDash val="solid"/>
          </a:ln>
        </p:spPr>
      </p:sp>
      <p:sp>
        <p:nvSpPr>
          <p:cNvPr id="18" name="Text 16"/>
          <p:cNvSpPr/>
          <p:nvPr/>
        </p:nvSpPr>
        <p:spPr>
          <a:xfrm>
            <a:off x="7525512" y="3127248"/>
            <a:ext cx="4160520" cy="804672"/>
          </a:xfrm>
          <a:prstGeom prst="roundRect">
            <a:avLst>
              <a:gd name="adj" fmla="val 13636"/>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③ 屈曲・気泡・バッグ圧</a:t>
            </a:r>
            <a:endParaRPr lang="ja-JP" sz="2400" dirty="0"/>
          </a:p>
        </p:txBody>
      </p:sp>
      <p:sp>
        <p:nvSpPr>
          <p:cNvPr id="19" name="Text 17"/>
          <p:cNvSpPr/>
          <p:nvPr/>
        </p:nvSpPr>
        <p:spPr>
          <a:xfrm>
            <a:off x="2601468" y="4846320"/>
            <a:ext cx="3154680" cy="804672"/>
          </a:xfrm>
          <a:prstGeom prst="roundRect">
            <a:avLst>
              <a:gd name="adj" fmla="val 13636"/>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④ ゼロ点・高さ</a:t>
            </a:r>
            <a:endParaRPr lang="ja-JP" sz="2400" dirty="0"/>
          </a:p>
        </p:txBody>
      </p:sp>
      <p:sp>
        <p:nvSpPr>
          <p:cNvPr id="20" name="Shape 18"/>
          <p:cNvSpPr/>
          <p:nvPr/>
        </p:nvSpPr>
        <p:spPr>
          <a:xfrm>
            <a:off x="5829300" y="5248656"/>
            <a:ext cx="347472" cy="0"/>
          </a:xfrm>
          <a:prstGeom prst="line">
            <a:avLst/>
          </a:prstGeom>
          <a:noFill/>
          <a:ln w="38100">
            <a:solidFill>
              <a:srgbClr val="404040"/>
            </a:solidFill>
            <a:prstDash val="solid"/>
          </a:ln>
        </p:spPr>
      </p:sp>
      <p:sp>
        <p:nvSpPr>
          <p:cNvPr id="21" name="Shape 19"/>
          <p:cNvSpPr/>
          <p:nvPr/>
        </p:nvSpPr>
        <p:spPr>
          <a:xfrm>
            <a:off x="6158484" y="5129784"/>
            <a:ext cx="201168" cy="237744"/>
          </a:xfrm>
          <a:custGeom>
            <a:avLst/>
            <a:gdLst/>
            <a:ahLst/>
            <a:cxnLst/>
            <a:rect l="l" t="t" r="r" b="b"/>
            <a:pathLst>
              <a:path w="201168" h="237744">
                <a:moveTo>
                  <a:pt x="201168" y="118872"/>
                </a:moveTo>
                <a:lnTo>
                  <a:pt x="0" y="237744"/>
                </a:lnTo>
                <a:lnTo>
                  <a:pt x="0" y="0"/>
                </a:lnTo>
                <a:close/>
              </a:path>
            </a:pathLst>
          </a:custGeom>
          <a:solidFill>
            <a:srgbClr val="404040"/>
          </a:solidFill>
          <a:ln w="12700">
            <a:solidFill>
              <a:srgbClr val="404040"/>
            </a:solidFill>
            <a:prstDash val="solid"/>
          </a:ln>
        </p:spPr>
      </p:sp>
      <p:sp>
        <p:nvSpPr>
          <p:cNvPr id="22" name="Text 20"/>
          <p:cNvSpPr/>
          <p:nvPr/>
        </p:nvSpPr>
        <p:spPr>
          <a:xfrm>
            <a:off x="6432804" y="4846320"/>
            <a:ext cx="3154680" cy="804672"/>
          </a:xfrm>
          <a:prstGeom prst="roundRect">
            <a:avLst>
              <a:gd name="adj" fmla="val 13636"/>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⑤ フラッシュ試験</a:t>
            </a:r>
            <a:endParaRPr lang="ja-JP" sz="2400" dirty="0"/>
          </a:p>
        </p:txBody>
      </p:sp>
      <p:sp>
        <p:nvSpPr>
          <p:cNvPr id="23" name="Shape 21"/>
          <p:cNvSpPr/>
          <p:nvPr/>
        </p:nvSpPr>
        <p:spPr>
          <a:xfrm>
            <a:off x="4178808" y="4005072"/>
            <a:ext cx="5426964" cy="585216"/>
          </a:xfrm>
          <a:custGeom>
            <a:avLst/>
            <a:gdLst/>
            <a:ahLst/>
            <a:cxnLst/>
            <a:rect l="l" t="t" r="r" b="b"/>
            <a:pathLst>
              <a:path w="5426964" h="585216">
                <a:moveTo>
                  <a:pt x="5426964" y="0"/>
                </a:moveTo>
                <a:lnTo>
                  <a:pt x="5426964" y="384048"/>
                </a:lnTo>
                <a:lnTo>
                  <a:pt x="0" y="384048"/>
                </a:lnTo>
                <a:lnTo>
                  <a:pt x="0" y="585216"/>
                </a:lnTo>
              </a:path>
            </a:pathLst>
          </a:custGeom>
          <a:noFill/>
          <a:ln w="38100">
            <a:solidFill>
              <a:srgbClr val="404040"/>
            </a:solidFill>
            <a:prstDash val="solid"/>
          </a:ln>
        </p:spPr>
      </p:sp>
      <p:sp>
        <p:nvSpPr>
          <p:cNvPr id="24" name="Shape 22"/>
          <p:cNvSpPr/>
          <p:nvPr/>
        </p:nvSpPr>
        <p:spPr>
          <a:xfrm>
            <a:off x="4059936" y="4572000"/>
            <a:ext cx="237744" cy="201168"/>
          </a:xfrm>
          <a:custGeom>
            <a:avLst/>
            <a:gdLst/>
            <a:ahLst/>
            <a:cxnLst/>
            <a:rect l="l" t="t" r="r" b="b"/>
            <a:pathLst>
              <a:path w="237744" h="201168">
                <a:moveTo>
                  <a:pt x="118872" y="201168"/>
                </a:moveTo>
                <a:lnTo>
                  <a:pt x="0" y="0"/>
                </a:lnTo>
                <a:lnTo>
                  <a:pt x="237744" y="0"/>
                </a:lnTo>
                <a:close/>
              </a:path>
            </a:pathLst>
          </a:custGeom>
          <a:solidFill>
            <a:srgbClr val="404040"/>
          </a:solidFill>
          <a:ln w="12700">
            <a:solidFill>
              <a:srgbClr val="40404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安全：やってはいけない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Shape 8"/>
          <p:cNvSpPr/>
          <p:nvPr/>
        </p:nvSpPr>
        <p:spPr>
          <a:xfrm>
            <a:off x="502920" y="1783080"/>
            <a:ext cx="5454396" cy="2034540"/>
          </a:xfrm>
          <a:prstGeom prst="roundRect">
            <a:avLst>
              <a:gd name="adj" fmla="val 3596"/>
            </a:avLst>
          </a:prstGeom>
          <a:solidFill>
            <a:srgbClr val="F2F2F2"/>
          </a:solidFill>
          <a:ln/>
        </p:spPr>
      </p:sp>
      <p:sp>
        <p:nvSpPr>
          <p:cNvPr id="11" name="Text 9"/>
          <p:cNvSpPr txBox="1"/>
          <p:nvPr/>
        </p:nvSpPr>
        <p:spPr>
          <a:xfrm>
            <a:off x="667512" y="1947672"/>
            <a:ext cx="5125212" cy="502920"/>
          </a:xfrm>
          <a:prstGeom prst="rect">
            <a:avLst/>
          </a:prstGeom>
          <a:noFill/>
          <a:ln/>
        </p:spPr>
        <p:txBody>
          <a:bodyPr wrap="square" lIns="0" tIns="0" rIns="0" bIns="0" rtlCol="0" anchor="t"/>
          <a:lstStyle/>
          <a:p>
            <a:pPr algn="l" indent="0" marL="0">
              <a:buNone/>
            </a:pPr>
            <a:r>
              <a:rPr lang="ja-JP" altLang="en-US" sz="2600" b="1" dirty="0">
                <a:solidFill>
                  <a:srgbClr val="C00000"/>
                </a:solidFill>
                <a:latin typeface="メイリオ" pitchFamily="34" charset="0"/>
                <a:ea typeface="メイリオ" pitchFamily="34" charset="-122"/>
                <a:cs typeface="メイリオ" pitchFamily="34" charset="-120"/>
              </a:rPr>
              <a:t>薬を入れない</a:t>
            </a:r>
            <a:endParaRPr lang="ja-JP" sz="2600" dirty="0"/>
          </a:p>
        </p:txBody>
      </p:sp>
      <p:sp>
        <p:nvSpPr>
          <p:cNvPr id="12" name="Text 10"/>
          <p:cNvSpPr txBox="1"/>
          <p:nvPr/>
        </p:nvSpPr>
        <p:spPr>
          <a:xfrm>
            <a:off x="667512" y="2578608"/>
            <a:ext cx="51252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動脈ラインに注射しない</a:t>
            </a:r>
            <a:endParaRPr lang="ja-JP" sz="2400" dirty="0"/>
          </a:p>
        </p:txBody>
      </p:sp>
      <p:sp>
        <p:nvSpPr>
          <p:cNvPr id="13" name="Text 11"/>
          <p:cNvSpPr txBox="1"/>
          <p:nvPr/>
        </p:nvSpPr>
        <p:spPr>
          <a:xfrm>
            <a:off x="667512" y="3182112"/>
            <a:ext cx="51252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赤いラベル、注入口を作らない</a:t>
            </a:r>
            <a:endParaRPr lang="ja-JP" sz="2400" dirty="0"/>
          </a:p>
        </p:txBody>
      </p:sp>
      <p:sp>
        <p:nvSpPr>
          <p:cNvPr id="14" name="Shape 12"/>
          <p:cNvSpPr/>
          <p:nvPr/>
        </p:nvSpPr>
        <p:spPr>
          <a:xfrm>
            <a:off x="6231636" y="1783080"/>
            <a:ext cx="5454396" cy="2034540"/>
          </a:xfrm>
          <a:prstGeom prst="roundRect">
            <a:avLst>
              <a:gd name="adj" fmla="val 3596"/>
            </a:avLst>
          </a:prstGeom>
          <a:solidFill>
            <a:srgbClr val="F2F2F2"/>
          </a:solidFill>
          <a:ln/>
        </p:spPr>
      </p:sp>
      <p:sp>
        <p:nvSpPr>
          <p:cNvPr id="15" name="Text 13"/>
          <p:cNvSpPr txBox="1"/>
          <p:nvPr/>
        </p:nvSpPr>
        <p:spPr>
          <a:xfrm>
            <a:off x="6396228" y="1947672"/>
            <a:ext cx="5125212" cy="502920"/>
          </a:xfrm>
          <a:prstGeom prst="rect">
            <a:avLst/>
          </a:prstGeom>
          <a:noFill/>
          <a:ln/>
        </p:spPr>
        <p:txBody>
          <a:bodyPr wrap="square" lIns="0" tIns="0" rIns="0" bIns="0" rtlCol="0" anchor="t"/>
          <a:lstStyle/>
          <a:p>
            <a:pPr algn="l" indent="0" marL="0">
              <a:buNone/>
            </a:pPr>
            <a:r>
              <a:rPr lang="ja-JP" altLang="en-US" sz="2600" b="1" dirty="0">
                <a:solidFill>
                  <a:srgbClr val="C00000"/>
                </a:solidFill>
                <a:latin typeface="メイリオ" pitchFamily="34" charset="0"/>
                <a:ea typeface="メイリオ" pitchFamily="34" charset="-122"/>
                <a:cs typeface="メイリオ" pitchFamily="34" charset="-120"/>
              </a:rPr>
              <a:t>離断 ＝ 出血</a:t>
            </a:r>
            <a:endParaRPr lang="ja-JP" sz="2600" dirty="0"/>
          </a:p>
        </p:txBody>
      </p:sp>
      <p:sp>
        <p:nvSpPr>
          <p:cNvPr id="16" name="Text 14"/>
          <p:cNvSpPr txBox="1"/>
          <p:nvPr/>
        </p:nvSpPr>
        <p:spPr>
          <a:xfrm>
            <a:off x="6396228" y="2578608"/>
            <a:ext cx="51252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接続と固定を確認</a:t>
            </a:r>
            <a:endParaRPr lang="ja-JP" sz="2400" dirty="0"/>
          </a:p>
        </p:txBody>
      </p:sp>
      <p:sp>
        <p:nvSpPr>
          <p:cNvPr id="17" name="Text 15"/>
          <p:cNvSpPr txBox="1"/>
          <p:nvPr/>
        </p:nvSpPr>
        <p:spPr>
          <a:xfrm>
            <a:off x="6396228" y="3182112"/>
            <a:ext cx="51252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アラームを切らない</a:t>
            </a:r>
            <a:endParaRPr lang="ja-JP" sz="2400" dirty="0"/>
          </a:p>
        </p:txBody>
      </p:sp>
      <p:sp>
        <p:nvSpPr>
          <p:cNvPr id="18" name="Shape 16"/>
          <p:cNvSpPr/>
          <p:nvPr/>
        </p:nvSpPr>
        <p:spPr>
          <a:xfrm>
            <a:off x="502920" y="4091940"/>
            <a:ext cx="5454396" cy="2034540"/>
          </a:xfrm>
          <a:prstGeom prst="roundRect">
            <a:avLst>
              <a:gd name="adj" fmla="val 3596"/>
            </a:avLst>
          </a:prstGeom>
          <a:solidFill>
            <a:srgbClr val="F2F2F2"/>
          </a:solidFill>
          <a:ln/>
        </p:spPr>
      </p:sp>
      <p:sp>
        <p:nvSpPr>
          <p:cNvPr id="19" name="Text 17"/>
          <p:cNvSpPr txBox="1"/>
          <p:nvPr/>
        </p:nvSpPr>
        <p:spPr>
          <a:xfrm>
            <a:off x="667512" y="4256532"/>
            <a:ext cx="5125212"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虚血を見る</a:t>
            </a:r>
            <a:endParaRPr lang="ja-JP" sz="2600" dirty="0"/>
          </a:p>
        </p:txBody>
      </p:sp>
      <p:sp>
        <p:nvSpPr>
          <p:cNvPr id="20" name="Text 18"/>
          <p:cNvSpPr txBox="1"/>
          <p:nvPr/>
        </p:nvSpPr>
        <p:spPr>
          <a:xfrm>
            <a:off x="667512" y="4887468"/>
            <a:ext cx="51252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指の色・温度・動き</a:t>
            </a:r>
            <a:endParaRPr lang="ja-JP" sz="2400" dirty="0"/>
          </a:p>
        </p:txBody>
      </p:sp>
      <p:sp>
        <p:nvSpPr>
          <p:cNvPr id="21" name="Text 19"/>
          <p:cNvSpPr txBox="1"/>
          <p:nvPr/>
        </p:nvSpPr>
        <p:spPr>
          <a:xfrm>
            <a:off x="667512" y="5490972"/>
            <a:ext cx="51252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不要になったら抜く</a:t>
            </a:r>
            <a:endParaRPr lang="ja-JP" sz="2400" dirty="0"/>
          </a:p>
        </p:txBody>
      </p:sp>
      <p:sp>
        <p:nvSpPr>
          <p:cNvPr id="22" name="Shape 20"/>
          <p:cNvSpPr/>
          <p:nvPr/>
        </p:nvSpPr>
        <p:spPr>
          <a:xfrm>
            <a:off x="6231636" y="4091940"/>
            <a:ext cx="5454396" cy="2034540"/>
          </a:xfrm>
          <a:prstGeom prst="roundRect">
            <a:avLst>
              <a:gd name="adj" fmla="val 3596"/>
            </a:avLst>
          </a:prstGeom>
          <a:solidFill>
            <a:srgbClr val="F2F2F2"/>
          </a:solidFill>
          <a:ln/>
        </p:spPr>
      </p:sp>
      <p:sp>
        <p:nvSpPr>
          <p:cNvPr id="23" name="Text 21"/>
          <p:cNvSpPr txBox="1"/>
          <p:nvPr/>
        </p:nvSpPr>
        <p:spPr>
          <a:xfrm>
            <a:off x="6396228" y="4256532"/>
            <a:ext cx="5125212"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採血の手順</a:t>
            </a:r>
            <a:endParaRPr lang="ja-JP" sz="2600" dirty="0"/>
          </a:p>
        </p:txBody>
      </p:sp>
      <p:sp>
        <p:nvSpPr>
          <p:cNvPr id="24" name="Text 22"/>
          <p:cNvSpPr txBox="1"/>
          <p:nvPr/>
        </p:nvSpPr>
        <p:spPr>
          <a:xfrm>
            <a:off x="6396228" y="4887468"/>
            <a:ext cx="51252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捨て血 → 採血 → フラッシュ</a:t>
            </a:r>
            <a:endParaRPr lang="ja-JP" sz="2400" dirty="0"/>
          </a:p>
        </p:txBody>
      </p:sp>
      <p:sp>
        <p:nvSpPr>
          <p:cNvPr id="25" name="Text 23"/>
          <p:cNvSpPr txBox="1"/>
          <p:nvPr/>
        </p:nvSpPr>
        <p:spPr>
          <a:xfrm>
            <a:off x="6396228" y="5490972"/>
            <a:ext cx="51252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活栓を元に戻す</a:t>
            </a:r>
            <a:endParaRPr lang="ja-JP"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呼吸性変動への入口</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Shape 8"/>
          <p:cNvSpPr/>
          <p:nvPr/>
        </p:nvSpPr>
        <p:spPr>
          <a:xfrm>
            <a:off x="777240" y="2196531"/>
            <a:ext cx="10607040" cy="1892161"/>
          </a:xfrm>
          <a:custGeom>
            <a:avLst/>
            <a:gdLst/>
            <a:ahLst/>
            <a:cxnLst/>
            <a:rect l="l" t="t" r="r" b="b"/>
            <a:pathLst>
              <a:path w="10607040" h="1892161">
                <a:moveTo>
                  <a:pt x="0" y="1739189"/>
                </a:moveTo>
                <a:lnTo>
                  <a:pt x="228600" y="1739189"/>
                </a:lnTo>
                <a:lnTo>
                  <a:pt x="247802" y="1708099"/>
                </a:lnTo>
                <a:lnTo>
                  <a:pt x="267005" y="1617574"/>
                </a:lnTo>
                <a:lnTo>
                  <a:pt x="286207" y="1473098"/>
                </a:lnTo>
                <a:lnTo>
                  <a:pt x="305410" y="1283818"/>
                </a:lnTo>
                <a:lnTo>
                  <a:pt x="324612" y="1065276"/>
                </a:lnTo>
                <a:lnTo>
                  <a:pt x="343814" y="833018"/>
                </a:lnTo>
                <a:lnTo>
                  <a:pt x="363017" y="602590"/>
                </a:lnTo>
                <a:lnTo>
                  <a:pt x="382219" y="391363"/>
                </a:lnTo>
                <a:lnTo>
                  <a:pt x="401422" y="214884"/>
                </a:lnTo>
                <a:lnTo>
                  <a:pt x="420624" y="85039"/>
                </a:lnTo>
                <a:lnTo>
                  <a:pt x="439826" y="11887"/>
                </a:lnTo>
                <a:lnTo>
                  <a:pt x="459029" y="0"/>
                </a:lnTo>
                <a:lnTo>
                  <a:pt x="478231" y="15545"/>
                </a:lnTo>
                <a:lnTo>
                  <a:pt x="497434" y="36576"/>
                </a:lnTo>
                <a:lnTo>
                  <a:pt x="516636" y="62179"/>
                </a:lnTo>
                <a:lnTo>
                  <a:pt x="535838" y="90526"/>
                </a:lnTo>
                <a:lnTo>
                  <a:pt x="555041" y="121615"/>
                </a:lnTo>
                <a:lnTo>
                  <a:pt x="574243" y="155448"/>
                </a:lnTo>
                <a:lnTo>
                  <a:pt x="593446" y="191110"/>
                </a:lnTo>
                <a:lnTo>
                  <a:pt x="612648" y="228600"/>
                </a:lnTo>
                <a:lnTo>
                  <a:pt x="631850" y="267919"/>
                </a:lnTo>
                <a:lnTo>
                  <a:pt x="651053" y="309067"/>
                </a:lnTo>
                <a:lnTo>
                  <a:pt x="670255" y="352044"/>
                </a:lnTo>
                <a:lnTo>
                  <a:pt x="689458" y="395935"/>
                </a:lnTo>
                <a:lnTo>
                  <a:pt x="708660" y="441655"/>
                </a:lnTo>
                <a:lnTo>
                  <a:pt x="727862" y="488290"/>
                </a:lnTo>
                <a:lnTo>
                  <a:pt x="747979" y="536753"/>
                </a:lnTo>
                <a:lnTo>
                  <a:pt x="767182" y="586130"/>
                </a:lnTo>
                <a:lnTo>
                  <a:pt x="786384" y="636422"/>
                </a:lnTo>
                <a:lnTo>
                  <a:pt x="805586" y="688543"/>
                </a:lnTo>
                <a:lnTo>
                  <a:pt x="824789" y="740664"/>
                </a:lnTo>
                <a:lnTo>
                  <a:pt x="843991" y="795528"/>
                </a:lnTo>
                <a:lnTo>
                  <a:pt x="863194" y="850392"/>
                </a:lnTo>
                <a:lnTo>
                  <a:pt x="882396" y="837590"/>
                </a:lnTo>
                <a:lnTo>
                  <a:pt x="901598" y="800100"/>
                </a:lnTo>
                <a:lnTo>
                  <a:pt x="920801" y="770839"/>
                </a:lnTo>
                <a:lnTo>
                  <a:pt x="940003" y="753466"/>
                </a:lnTo>
                <a:lnTo>
                  <a:pt x="959206" y="757123"/>
                </a:lnTo>
                <a:lnTo>
                  <a:pt x="978408" y="794614"/>
                </a:lnTo>
                <a:lnTo>
                  <a:pt x="997610" y="830275"/>
                </a:lnTo>
                <a:lnTo>
                  <a:pt x="1016813" y="865937"/>
                </a:lnTo>
                <a:lnTo>
                  <a:pt x="1036015" y="900684"/>
                </a:lnTo>
                <a:lnTo>
                  <a:pt x="1055218" y="934517"/>
                </a:lnTo>
                <a:lnTo>
                  <a:pt x="1074420" y="967435"/>
                </a:lnTo>
                <a:lnTo>
                  <a:pt x="1093622" y="999439"/>
                </a:lnTo>
                <a:lnTo>
                  <a:pt x="1112825" y="1030529"/>
                </a:lnTo>
                <a:lnTo>
                  <a:pt x="1132027" y="1060704"/>
                </a:lnTo>
                <a:lnTo>
                  <a:pt x="1151230" y="1089965"/>
                </a:lnTo>
                <a:lnTo>
                  <a:pt x="1170432" y="1119226"/>
                </a:lnTo>
                <a:lnTo>
                  <a:pt x="1189634" y="1147572"/>
                </a:lnTo>
                <a:lnTo>
                  <a:pt x="1208837" y="1175004"/>
                </a:lnTo>
                <a:lnTo>
                  <a:pt x="1228039" y="1201522"/>
                </a:lnTo>
                <a:lnTo>
                  <a:pt x="1247242" y="1227125"/>
                </a:lnTo>
                <a:lnTo>
                  <a:pt x="1266444" y="1252728"/>
                </a:lnTo>
                <a:lnTo>
                  <a:pt x="1285646" y="1277417"/>
                </a:lnTo>
                <a:lnTo>
                  <a:pt x="1304849" y="1302106"/>
                </a:lnTo>
                <a:lnTo>
                  <a:pt x="1324051" y="1325880"/>
                </a:lnTo>
                <a:lnTo>
                  <a:pt x="1343254" y="1348740"/>
                </a:lnTo>
                <a:lnTo>
                  <a:pt x="1362456" y="1370686"/>
                </a:lnTo>
                <a:lnTo>
                  <a:pt x="1381658" y="1392631"/>
                </a:lnTo>
                <a:lnTo>
                  <a:pt x="1400861" y="1413662"/>
                </a:lnTo>
                <a:lnTo>
                  <a:pt x="1420063" y="1434694"/>
                </a:lnTo>
                <a:lnTo>
                  <a:pt x="1439266" y="1454810"/>
                </a:lnTo>
                <a:lnTo>
                  <a:pt x="1458468" y="1474927"/>
                </a:lnTo>
                <a:lnTo>
                  <a:pt x="1477670" y="1494130"/>
                </a:lnTo>
                <a:lnTo>
                  <a:pt x="1496873" y="1512418"/>
                </a:lnTo>
                <a:lnTo>
                  <a:pt x="1516075" y="1530706"/>
                </a:lnTo>
                <a:lnTo>
                  <a:pt x="1535278" y="1548994"/>
                </a:lnTo>
                <a:lnTo>
                  <a:pt x="1554480" y="1566367"/>
                </a:lnTo>
                <a:lnTo>
                  <a:pt x="1573682" y="1583741"/>
                </a:lnTo>
                <a:lnTo>
                  <a:pt x="1592885" y="1600200"/>
                </a:lnTo>
                <a:lnTo>
                  <a:pt x="1612087" y="1616659"/>
                </a:lnTo>
                <a:lnTo>
                  <a:pt x="1631290" y="1632204"/>
                </a:lnTo>
                <a:lnTo>
                  <a:pt x="1650492" y="1647749"/>
                </a:lnTo>
                <a:lnTo>
                  <a:pt x="1669694" y="1662379"/>
                </a:lnTo>
                <a:lnTo>
                  <a:pt x="1688897" y="1677010"/>
                </a:lnTo>
                <a:lnTo>
                  <a:pt x="1708099" y="1691640"/>
                </a:lnTo>
                <a:lnTo>
                  <a:pt x="1727302" y="1705356"/>
                </a:lnTo>
                <a:lnTo>
                  <a:pt x="1746504" y="1719072"/>
                </a:lnTo>
                <a:lnTo>
                  <a:pt x="1765706" y="1732788"/>
                </a:lnTo>
                <a:lnTo>
                  <a:pt x="1785823" y="1745590"/>
                </a:lnTo>
                <a:lnTo>
                  <a:pt x="1805026" y="1758391"/>
                </a:lnTo>
                <a:lnTo>
                  <a:pt x="1824228" y="1770278"/>
                </a:lnTo>
                <a:lnTo>
                  <a:pt x="1843430" y="1783080"/>
                </a:lnTo>
                <a:lnTo>
                  <a:pt x="1862633" y="1794967"/>
                </a:lnTo>
                <a:lnTo>
                  <a:pt x="1881835" y="1805940"/>
                </a:lnTo>
                <a:lnTo>
                  <a:pt x="1901038" y="1816913"/>
                </a:lnTo>
                <a:lnTo>
                  <a:pt x="1920240" y="1827886"/>
                </a:lnTo>
                <a:lnTo>
                  <a:pt x="1939442" y="1838858"/>
                </a:lnTo>
                <a:lnTo>
                  <a:pt x="1958645" y="1849831"/>
                </a:lnTo>
                <a:lnTo>
                  <a:pt x="1977847" y="1826057"/>
                </a:lnTo>
                <a:lnTo>
                  <a:pt x="1997050" y="1757477"/>
                </a:lnTo>
                <a:lnTo>
                  <a:pt x="2016252" y="1648663"/>
                </a:lnTo>
                <a:lnTo>
                  <a:pt x="2035454" y="1506931"/>
                </a:lnTo>
                <a:lnTo>
                  <a:pt x="2054657" y="1342339"/>
                </a:lnTo>
                <a:lnTo>
                  <a:pt x="2073859" y="1167689"/>
                </a:lnTo>
                <a:lnTo>
                  <a:pt x="2093062" y="994867"/>
                </a:lnTo>
                <a:lnTo>
                  <a:pt x="2112264" y="835762"/>
                </a:lnTo>
                <a:lnTo>
                  <a:pt x="2131466" y="702259"/>
                </a:lnTo>
                <a:lnTo>
                  <a:pt x="2150669" y="605333"/>
                </a:lnTo>
                <a:lnTo>
                  <a:pt x="2169871" y="549554"/>
                </a:lnTo>
                <a:lnTo>
                  <a:pt x="2189074" y="540410"/>
                </a:lnTo>
                <a:lnTo>
                  <a:pt x="2208276" y="551383"/>
                </a:lnTo>
                <a:lnTo>
                  <a:pt x="2227478" y="566928"/>
                </a:lnTo>
                <a:lnTo>
                  <a:pt x="2246681" y="585216"/>
                </a:lnTo>
                <a:lnTo>
                  <a:pt x="2265883" y="606247"/>
                </a:lnTo>
                <a:lnTo>
                  <a:pt x="2285086" y="629107"/>
                </a:lnTo>
                <a:lnTo>
                  <a:pt x="2304288" y="653796"/>
                </a:lnTo>
                <a:lnTo>
                  <a:pt x="2323490" y="680314"/>
                </a:lnTo>
                <a:lnTo>
                  <a:pt x="2342693" y="707746"/>
                </a:lnTo>
                <a:lnTo>
                  <a:pt x="2361895" y="737006"/>
                </a:lnTo>
                <a:lnTo>
                  <a:pt x="2381098" y="767182"/>
                </a:lnTo>
                <a:lnTo>
                  <a:pt x="2400300" y="799186"/>
                </a:lnTo>
                <a:lnTo>
                  <a:pt x="2419502" y="831190"/>
                </a:lnTo>
                <a:lnTo>
                  <a:pt x="2438705" y="865022"/>
                </a:lnTo>
                <a:lnTo>
                  <a:pt x="2457907" y="899770"/>
                </a:lnTo>
                <a:lnTo>
                  <a:pt x="2477110" y="935431"/>
                </a:lnTo>
                <a:lnTo>
                  <a:pt x="2496312" y="972007"/>
                </a:lnTo>
                <a:lnTo>
                  <a:pt x="2515514" y="1009498"/>
                </a:lnTo>
                <a:lnTo>
                  <a:pt x="2534717" y="1047902"/>
                </a:lnTo>
                <a:lnTo>
                  <a:pt x="2553919" y="1087222"/>
                </a:lnTo>
                <a:lnTo>
                  <a:pt x="2573122" y="1127455"/>
                </a:lnTo>
                <a:lnTo>
                  <a:pt x="2592324" y="1168603"/>
                </a:lnTo>
                <a:lnTo>
                  <a:pt x="2611526" y="1158545"/>
                </a:lnTo>
                <a:lnTo>
                  <a:pt x="2630729" y="1130198"/>
                </a:lnTo>
                <a:lnTo>
                  <a:pt x="2649931" y="1107338"/>
                </a:lnTo>
                <a:lnTo>
                  <a:pt x="2669134" y="1093622"/>
                </a:lnTo>
                <a:lnTo>
                  <a:pt x="2688336" y="1096366"/>
                </a:lnTo>
                <a:lnTo>
                  <a:pt x="2707538" y="1123798"/>
                </a:lnTo>
                <a:lnTo>
                  <a:pt x="2726741" y="1150315"/>
                </a:lnTo>
                <a:lnTo>
                  <a:pt x="2745943" y="1176833"/>
                </a:lnTo>
                <a:lnTo>
                  <a:pt x="2765146" y="1202436"/>
                </a:lnTo>
                <a:lnTo>
                  <a:pt x="2784348" y="1227125"/>
                </a:lnTo>
                <a:lnTo>
                  <a:pt x="2803550" y="1250899"/>
                </a:lnTo>
                <a:lnTo>
                  <a:pt x="2823667" y="1274674"/>
                </a:lnTo>
                <a:lnTo>
                  <a:pt x="2842870" y="1297534"/>
                </a:lnTo>
                <a:lnTo>
                  <a:pt x="2862072" y="1319479"/>
                </a:lnTo>
                <a:lnTo>
                  <a:pt x="2881274" y="1341425"/>
                </a:lnTo>
                <a:lnTo>
                  <a:pt x="2900477" y="1362456"/>
                </a:lnTo>
                <a:lnTo>
                  <a:pt x="2919679" y="1383487"/>
                </a:lnTo>
                <a:lnTo>
                  <a:pt x="2938882" y="1403604"/>
                </a:lnTo>
                <a:lnTo>
                  <a:pt x="2958084" y="1422806"/>
                </a:lnTo>
                <a:lnTo>
                  <a:pt x="2977286" y="1442009"/>
                </a:lnTo>
                <a:lnTo>
                  <a:pt x="2996489" y="1461211"/>
                </a:lnTo>
                <a:lnTo>
                  <a:pt x="3015691" y="1479499"/>
                </a:lnTo>
                <a:lnTo>
                  <a:pt x="3034894" y="1496873"/>
                </a:lnTo>
                <a:lnTo>
                  <a:pt x="3054096" y="1514246"/>
                </a:lnTo>
                <a:lnTo>
                  <a:pt x="3073298" y="1530706"/>
                </a:lnTo>
                <a:lnTo>
                  <a:pt x="3092501" y="1547165"/>
                </a:lnTo>
                <a:lnTo>
                  <a:pt x="3111703" y="1562710"/>
                </a:lnTo>
                <a:lnTo>
                  <a:pt x="3130906" y="1578254"/>
                </a:lnTo>
                <a:lnTo>
                  <a:pt x="3150108" y="1593799"/>
                </a:lnTo>
                <a:lnTo>
                  <a:pt x="3169310" y="1608430"/>
                </a:lnTo>
                <a:lnTo>
                  <a:pt x="3188513" y="1623060"/>
                </a:lnTo>
                <a:lnTo>
                  <a:pt x="3207715" y="1636776"/>
                </a:lnTo>
                <a:lnTo>
                  <a:pt x="3226918" y="1650492"/>
                </a:lnTo>
                <a:lnTo>
                  <a:pt x="3246120" y="1663294"/>
                </a:lnTo>
                <a:lnTo>
                  <a:pt x="3265322" y="1677010"/>
                </a:lnTo>
                <a:lnTo>
                  <a:pt x="3284525" y="1688897"/>
                </a:lnTo>
                <a:lnTo>
                  <a:pt x="3303727" y="1701698"/>
                </a:lnTo>
                <a:lnTo>
                  <a:pt x="3322930" y="1713586"/>
                </a:lnTo>
                <a:lnTo>
                  <a:pt x="3342132" y="1725473"/>
                </a:lnTo>
                <a:lnTo>
                  <a:pt x="3361334" y="1736446"/>
                </a:lnTo>
                <a:lnTo>
                  <a:pt x="3380537" y="1747418"/>
                </a:lnTo>
                <a:lnTo>
                  <a:pt x="3399739" y="1758391"/>
                </a:lnTo>
                <a:lnTo>
                  <a:pt x="3418942" y="1769364"/>
                </a:lnTo>
                <a:lnTo>
                  <a:pt x="3438144" y="1779422"/>
                </a:lnTo>
                <a:lnTo>
                  <a:pt x="3457346" y="1789481"/>
                </a:lnTo>
                <a:lnTo>
                  <a:pt x="3476549" y="1799539"/>
                </a:lnTo>
                <a:lnTo>
                  <a:pt x="3495751" y="1808683"/>
                </a:lnTo>
                <a:lnTo>
                  <a:pt x="3514954" y="1817827"/>
                </a:lnTo>
                <a:lnTo>
                  <a:pt x="3534156" y="1826971"/>
                </a:lnTo>
                <a:lnTo>
                  <a:pt x="3553358" y="1836115"/>
                </a:lnTo>
                <a:lnTo>
                  <a:pt x="3572561" y="1844345"/>
                </a:lnTo>
                <a:lnTo>
                  <a:pt x="3591763" y="1853489"/>
                </a:lnTo>
                <a:lnTo>
                  <a:pt x="3610966" y="1861718"/>
                </a:lnTo>
                <a:lnTo>
                  <a:pt x="3630168" y="1869034"/>
                </a:lnTo>
                <a:lnTo>
                  <a:pt x="3649370" y="1877263"/>
                </a:lnTo>
                <a:lnTo>
                  <a:pt x="3668573" y="1884578"/>
                </a:lnTo>
                <a:lnTo>
                  <a:pt x="3687775" y="1891894"/>
                </a:lnTo>
                <a:lnTo>
                  <a:pt x="3706978" y="1867205"/>
                </a:lnTo>
                <a:lnTo>
                  <a:pt x="3726180" y="1795882"/>
                </a:lnTo>
                <a:lnTo>
                  <a:pt x="3745382" y="1684325"/>
                </a:lnTo>
                <a:lnTo>
                  <a:pt x="3764585" y="1540764"/>
                </a:lnTo>
                <a:lnTo>
                  <a:pt x="3783787" y="1374343"/>
                </a:lnTo>
                <a:lnTo>
                  <a:pt x="3802990" y="1196950"/>
                </a:lnTo>
                <a:lnTo>
                  <a:pt x="3822192" y="1021385"/>
                </a:lnTo>
                <a:lnTo>
                  <a:pt x="3841394" y="860450"/>
                </a:lnTo>
                <a:lnTo>
                  <a:pt x="3861511" y="726034"/>
                </a:lnTo>
                <a:lnTo>
                  <a:pt x="3880714" y="625450"/>
                </a:lnTo>
                <a:lnTo>
                  <a:pt x="3899916" y="567842"/>
                </a:lnTo>
                <a:lnTo>
                  <a:pt x="3919118" y="556870"/>
                </a:lnTo>
                <a:lnTo>
                  <a:pt x="3938321" y="566014"/>
                </a:lnTo>
                <a:lnTo>
                  <a:pt x="3957523" y="578815"/>
                </a:lnTo>
                <a:lnTo>
                  <a:pt x="3976726" y="595274"/>
                </a:lnTo>
                <a:lnTo>
                  <a:pt x="3995928" y="614477"/>
                </a:lnTo>
                <a:lnTo>
                  <a:pt x="4015130" y="634594"/>
                </a:lnTo>
                <a:lnTo>
                  <a:pt x="4034333" y="657454"/>
                </a:lnTo>
                <a:lnTo>
                  <a:pt x="4053535" y="681228"/>
                </a:lnTo>
                <a:lnTo>
                  <a:pt x="4072738" y="706831"/>
                </a:lnTo>
                <a:lnTo>
                  <a:pt x="4091940" y="734263"/>
                </a:lnTo>
                <a:lnTo>
                  <a:pt x="4111142" y="761695"/>
                </a:lnTo>
                <a:lnTo>
                  <a:pt x="4130345" y="790956"/>
                </a:lnTo>
                <a:lnTo>
                  <a:pt x="4149547" y="822046"/>
                </a:lnTo>
                <a:lnTo>
                  <a:pt x="4168750" y="853135"/>
                </a:lnTo>
                <a:lnTo>
                  <a:pt x="4187952" y="886054"/>
                </a:lnTo>
                <a:lnTo>
                  <a:pt x="4207154" y="918972"/>
                </a:lnTo>
                <a:lnTo>
                  <a:pt x="4226357" y="953719"/>
                </a:lnTo>
                <a:lnTo>
                  <a:pt x="4245559" y="989381"/>
                </a:lnTo>
                <a:lnTo>
                  <a:pt x="4264762" y="1025042"/>
                </a:lnTo>
                <a:lnTo>
                  <a:pt x="4283964" y="1062533"/>
                </a:lnTo>
                <a:lnTo>
                  <a:pt x="4303166" y="1100023"/>
                </a:lnTo>
                <a:lnTo>
                  <a:pt x="4322369" y="1139342"/>
                </a:lnTo>
                <a:lnTo>
                  <a:pt x="4341571" y="1127455"/>
                </a:lnTo>
                <a:lnTo>
                  <a:pt x="4360774" y="1096366"/>
                </a:lnTo>
                <a:lnTo>
                  <a:pt x="4379976" y="1071677"/>
                </a:lnTo>
                <a:lnTo>
                  <a:pt x="4399178" y="1056132"/>
                </a:lnTo>
                <a:lnTo>
                  <a:pt x="4418381" y="1056132"/>
                </a:lnTo>
                <a:lnTo>
                  <a:pt x="4437583" y="1081735"/>
                </a:lnTo>
                <a:lnTo>
                  <a:pt x="4456786" y="1106424"/>
                </a:lnTo>
                <a:lnTo>
                  <a:pt x="4475988" y="1130198"/>
                </a:lnTo>
                <a:lnTo>
                  <a:pt x="4495190" y="1153058"/>
                </a:lnTo>
                <a:lnTo>
                  <a:pt x="4514393" y="1175918"/>
                </a:lnTo>
                <a:lnTo>
                  <a:pt x="4533595" y="1197864"/>
                </a:lnTo>
                <a:lnTo>
                  <a:pt x="4552798" y="1218895"/>
                </a:lnTo>
                <a:lnTo>
                  <a:pt x="4572000" y="1239926"/>
                </a:lnTo>
                <a:lnTo>
                  <a:pt x="4591202" y="1260043"/>
                </a:lnTo>
                <a:lnTo>
                  <a:pt x="4610405" y="1279246"/>
                </a:lnTo>
                <a:lnTo>
                  <a:pt x="4629607" y="1298448"/>
                </a:lnTo>
                <a:lnTo>
                  <a:pt x="4648810" y="1316736"/>
                </a:lnTo>
                <a:lnTo>
                  <a:pt x="4668012" y="1335024"/>
                </a:lnTo>
                <a:lnTo>
                  <a:pt x="4687214" y="1352398"/>
                </a:lnTo>
                <a:lnTo>
                  <a:pt x="4706417" y="1369771"/>
                </a:lnTo>
                <a:lnTo>
                  <a:pt x="4725619" y="1386230"/>
                </a:lnTo>
                <a:lnTo>
                  <a:pt x="4744822" y="1401775"/>
                </a:lnTo>
                <a:lnTo>
                  <a:pt x="4764024" y="1417320"/>
                </a:lnTo>
                <a:lnTo>
                  <a:pt x="4783226" y="1432865"/>
                </a:lnTo>
                <a:lnTo>
                  <a:pt x="4802429" y="1446581"/>
                </a:lnTo>
                <a:lnTo>
                  <a:pt x="4821631" y="1461211"/>
                </a:lnTo>
                <a:lnTo>
                  <a:pt x="4840834" y="1474927"/>
                </a:lnTo>
                <a:lnTo>
                  <a:pt x="4860036" y="1488643"/>
                </a:lnTo>
                <a:lnTo>
                  <a:pt x="4879238" y="1501445"/>
                </a:lnTo>
                <a:lnTo>
                  <a:pt x="4899355" y="1514246"/>
                </a:lnTo>
                <a:lnTo>
                  <a:pt x="4918558" y="1526134"/>
                </a:lnTo>
                <a:lnTo>
                  <a:pt x="4937760" y="1538021"/>
                </a:lnTo>
                <a:lnTo>
                  <a:pt x="4956962" y="1548994"/>
                </a:lnTo>
                <a:lnTo>
                  <a:pt x="4976165" y="1559966"/>
                </a:lnTo>
                <a:lnTo>
                  <a:pt x="4995367" y="1570939"/>
                </a:lnTo>
                <a:lnTo>
                  <a:pt x="5014570" y="1581912"/>
                </a:lnTo>
                <a:lnTo>
                  <a:pt x="5033772" y="1591970"/>
                </a:lnTo>
                <a:lnTo>
                  <a:pt x="5052974" y="1602029"/>
                </a:lnTo>
                <a:lnTo>
                  <a:pt x="5072177" y="1611173"/>
                </a:lnTo>
                <a:lnTo>
                  <a:pt x="5091379" y="1620317"/>
                </a:lnTo>
                <a:lnTo>
                  <a:pt x="5110582" y="1629461"/>
                </a:lnTo>
                <a:lnTo>
                  <a:pt x="5129784" y="1637690"/>
                </a:lnTo>
                <a:lnTo>
                  <a:pt x="5148986" y="1645920"/>
                </a:lnTo>
                <a:lnTo>
                  <a:pt x="5168189" y="1654150"/>
                </a:lnTo>
                <a:lnTo>
                  <a:pt x="5187391" y="1662379"/>
                </a:lnTo>
                <a:lnTo>
                  <a:pt x="5206594" y="1669694"/>
                </a:lnTo>
                <a:lnTo>
                  <a:pt x="5225796" y="1677010"/>
                </a:lnTo>
                <a:lnTo>
                  <a:pt x="5244998" y="1684325"/>
                </a:lnTo>
                <a:lnTo>
                  <a:pt x="5264201" y="1691640"/>
                </a:lnTo>
                <a:lnTo>
                  <a:pt x="5283403" y="1698041"/>
                </a:lnTo>
                <a:lnTo>
                  <a:pt x="5302606" y="1704442"/>
                </a:lnTo>
                <a:lnTo>
                  <a:pt x="5321808" y="1710842"/>
                </a:lnTo>
                <a:lnTo>
                  <a:pt x="5341010" y="1716329"/>
                </a:lnTo>
                <a:lnTo>
                  <a:pt x="5360213" y="1722730"/>
                </a:lnTo>
                <a:lnTo>
                  <a:pt x="5379415" y="1728216"/>
                </a:lnTo>
                <a:lnTo>
                  <a:pt x="5398618" y="1733702"/>
                </a:lnTo>
                <a:lnTo>
                  <a:pt x="5417820" y="1739189"/>
                </a:lnTo>
                <a:lnTo>
                  <a:pt x="5437022" y="1708099"/>
                </a:lnTo>
                <a:lnTo>
                  <a:pt x="5456225" y="1617574"/>
                </a:lnTo>
                <a:lnTo>
                  <a:pt x="5475427" y="1473098"/>
                </a:lnTo>
                <a:lnTo>
                  <a:pt x="5494630" y="1283818"/>
                </a:lnTo>
                <a:lnTo>
                  <a:pt x="5513832" y="1065276"/>
                </a:lnTo>
                <a:lnTo>
                  <a:pt x="5533034" y="833018"/>
                </a:lnTo>
                <a:lnTo>
                  <a:pt x="5552237" y="602590"/>
                </a:lnTo>
                <a:lnTo>
                  <a:pt x="5571439" y="391363"/>
                </a:lnTo>
                <a:lnTo>
                  <a:pt x="5590642" y="214884"/>
                </a:lnTo>
                <a:lnTo>
                  <a:pt x="5609844" y="85039"/>
                </a:lnTo>
                <a:lnTo>
                  <a:pt x="5629046" y="11887"/>
                </a:lnTo>
                <a:lnTo>
                  <a:pt x="5648249" y="0"/>
                </a:lnTo>
                <a:lnTo>
                  <a:pt x="5667451" y="15545"/>
                </a:lnTo>
                <a:lnTo>
                  <a:pt x="5686654" y="36576"/>
                </a:lnTo>
                <a:lnTo>
                  <a:pt x="5705856" y="62179"/>
                </a:lnTo>
                <a:lnTo>
                  <a:pt x="5725058" y="90526"/>
                </a:lnTo>
                <a:lnTo>
                  <a:pt x="5744261" y="121615"/>
                </a:lnTo>
                <a:lnTo>
                  <a:pt x="5763463" y="155448"/>
                </a:lnTo>
                <a:lnTo>
                  <a:pt x="5782666" y="191110"/>
                </a:lnTo>
                <a:lnTo>
                  <a:pt x="5801868" y="228600"/>
                </a:lnTo>
                <a:lnTo>
                  <a:pt x="5821070" y="267919"/>
                </a:lnTo>
                <a:lnTo>
                  <a:pt x="5840273" y="309067"/>
                </a:lnTo>
                <a:lnTo>
                  <a:pt x="5859475" y="352044"/>
                </a:lnTo>
                <a:lnTo>
                  <a:pt x="5878678" y="395935"/>
                </a:lnTo>
                <a:lnTo>
                  <a:pt x="5897880" y="441655"/>
                </a:lnTo>
                <a:lnTo>
                  <a:pt x="5917082" y="488290"/>
                </a:lnTo>
                <a:lnTo>
                  <a:pt x="5937199" y="536753"/>
                </a:lnTo>
                <a:lnTo>
                  <a:pt x="5956402" y="586130"/>
                </a:lnTo>
                <a:lnTo>
                  <a:pt x="5975604" y="636422"/>
                </a:lnTo>
                <a:lnTo>
                  <a:pt x="5994806" y="688543"/>
                </a:lnTo>
                <a:lnTo>
                  <a:pt x="6014009" y="740664"/>
                </a:lnTo>
                <a:lnTo>
                  <a:pt x="6033211" y="795528"/>
                </a:lnTo>
                <a:lnTo>
                  <a:pt x="6052414" y="850392"/>
                </a:lnTo>
                <a:lnTo>
                  <a:pt x="6071616" y="837590"/>
                </a:lnTo>
                <a:lnTo>
                  <a:pt x="6090818" y="800100"/>
                </a:lnTo>
                <a:lnTo>
                  <a:pt x="6110021" y="770839"/>
                </a:lnTo>
                <a:lnTo>
                  <a:pt x="6129223" y="753466"/>
                </a:lnTo>
                <a:lnTo>
                  <a:pt x="6148426" y="757123"/>
                </a:lnTo>
                <a:lnTo>
                  <a:pt x="6167628" y="794614"/>
                </a:lnTo>
                <a:lnTo>
                  <a:pt x="6186830" y="830275"/>
                </a:lnTo>
                <a:lnTo>
                  <a:pt x="6206033" y="865937"/>
                </a:lnTo>
                <a:lnTo>
                  <a:pt x="6225235" y="900684"/>
                </a:lnTo>
                <a:lnTo>
                  <a:pt x="6244438" y="934517"/>
                </a:lnTo>
                <a:lnTo>
                  <a:pt x="6263640" y="967435"/>
                </a:lnTo>
                <a:lnTo>
                  <a:pt x="6282842" y="999439"/>
                </a:lnTo>
                <a:lnTo>
                  <a:pt x="6302045" y="1030529"/>
                </a:lnTo>
                <a:lnTo>
                  <a:pt x="6321247" y="1060704"/>
                </a:lnTo>
                <a:lnTo>
                  <a:pt x="6340450" y="1089965"/>
                </a:lnTo>
                <a:lnTo>
                  <a:pt x="6359652" y="1119226"/>
                </a:lnTo>
                <a:lnTo>
                  <a:pt x="6378854" y="1147572"/>
                </a:lnTo>
                <a:lnTo>
                  <a:pt x="6398057" y="1175004"/>
                </a:lnTo>
                <a:lnTo>
                  <a:pt x="6417259" y="1201522"/>
                </a:lnTo>
                <a:lnTo>
                  <a:pt x="6436462" y="1227125"/>
                </a:lnTo>
                <a:lnTo>
                  <a:pt x="6455664" y="1252728"/>
                </a:lnTo>
                <a:lnTo>
                  <a:pt x="6474866" y="1277417"/>
                </a:lnTo>
                <a:lnTo>
                  <a:pt x="6494069" y="1302106"/>
                </a:lnTo>
                <a:lnTo>
                  <a:pt x="6513271" y="1325880"/>
                </a:lnTo>
                <a:lnTo>
                  <a:pt x="6532474" y="1348740"/>
                </a:lnTo>
                <a:lnTo>
                  <a:pt x="6551676" y="1370686"/>
                </a:lnTo>
                <a:lnTo>
                  <a:pt x="6570878" y="1392631"/>
                </a:lnTo>
                <a:lnTo>
                  <a:pt x="6590081" y="1413662"/>
                </a:lnTo>
                <a:lnTo>
                  <a:pt x="6609283" y="1434694"/>
                </a:lnTo>
                <a:lnTo>
                  <a:pt x="6628486" y="1454810"/>
                </a:lnTo>
                <a:lnTo>
                  <a:pt x="6647688" y="1474927"/>
                </a:lnTo>
                <a:lnTo>
                  <a:pt x="6666890" y="1494130"/>
                </a:lnTo>
                <a:lnTo>
                  <a:pt x="6686093" y="1512418"/>
                </a:lnTo>
                <a:lnTo>
                  <a:pt x="6705295" y="1530706"/>
                </a:lnTo>
                <a:lnTo>
                  <a:pt x="6724498" y="1548994"/>
                </a:lnTo>
                <a:lnTo>
                  <a:pt x="6743700" y="1566367"/>
                </a:lnTo>
                <a:lnTo>
                  <a:pt x="6762902" y="1583741"/>
                </a:lnTo>
                <a:lnTo>
                  <a:pt x="6782105" y="1600200"/>
                </a:lnTo>
                <a:lnTo>
                  <a:pt x="6801307" y="1616659"/>
                </a:lnTo>
                <a:lnTo>
                  <a:pt x="6820510" y="1632204"/>
                </a:lnTo>
                <a:lnTo>
                  <a:pt x="6839712" y="1647749"/>
                </a:lnTo>
                <a:lnTo>
                  <a:pt x="6858914" y="1662379"/>
                </a:lnTo>
                <a:lnTo>
                  <a:pt x="6878117" y="1677010"/>
                </a:lnTo>
                <a:lnTo>
                  <a:pt x="6897319" y="1691640"/>
                </a:lnTo>
                <a:lnTo>
                  <a:pt x="6916522" y="1705356"/>
                </a:lnTo>
                <a:lnTo>
                  <a:pt x="6935724" y="1719072"/>
                </a:lnTo>
                <a:lnTo>
                  <a:pt x="6954926" y="1732788"/>
                </a:lnTo>
                <a:lnTo>
                  <a:pt x="6975043" y="1745590"/>
                </a:lnTo>
                <a:lnTo>
                  <a:pt x="6994246" y="1758391"/>
                </a:lnTo>
                <a:lnTo>
                  <a:pt x="7013448" y="1770278"/>
                </a:lnTo>
                <a:lnTo>
                  <a:pt x="7032650" y="1783080"/>
                </a:lnTo>
                <a:lnTo>
                  <a:pt x="7051853" y="1794967"/>
                </a:lnTo>
                <a:lnTo>
                  <a:pt x="7071055" y="1805940"/>
                </a:lnTo>
                <a:lnTo>
                  <a:pt x="7090258" y="1816913"/>
                </a:lnTo>
                <a:lnTo>
                  <a:pt x="7109460" y="1827886"/>
                </a:lnTo>
                <a:lnTo>
                  <a:pt x="7128662" y="1838858"/>
                </a:lnTo>
                <a:lnTo>
                  <a:pt x="7147865" y="1849831"/>
                </a:lnTo>
                <a:lnTo>
                  <a:pt x="7167067" y="1826057"/>
                </a:lnTo>
                <a:lnTo>
                  <a:pt x="7186270" y="1757477"/>
                </a:lnTo>
                <a:lnTo>
                  <a:pt x="7205472" y="1648663"/>
                </a:lnTo>
                <a:lnTo>
                  <a:pt x="7224674" y="1506931"/>
                </a:lnTo>
                <a:lnTo>
                  <a:pt x="7243877" y="1342339"/>
                </a:lnTo>
                <a:lnTo>
                  <a:pt x="7263079" y="1167689"/>
                </a:lnTo>
                <a:lnTo>
                  <a:pt x="7282282" y="994867"/>
                </a:lnTo>
                <a:lnTo>
                  <a:pt x="7301484" y="835762"/>
                </a:lnTo>
                <a:lnTo>
                  <a:pt x="7320686" y="702259"/>
                </a:lnTo>
                <a:lnTo>
                  <a:pt x="7339889" y="605333"/>
                </a:lnTo>
                <a:lnTo>
                  <a:pt x="7359091" y="549554"/>
                </a:lnTo>
                <a:lnTo>
                  <a:pt x="7378294" y="540410"/>
                </a:lnTo>
                <a:lnTo>
                  <a:pt x="7397496" y="551383"/>
                </a:lnTo>
                <a:lnTo>
                  <a:pt x="7416698" y="566928"/>
                </a:lnTo>
                <a:lnTo>
                  <a:pt x="7435901" y="585216"/>
                </a:lnTo>
                <a:lnTo>
                  <a:pt x="7455103" y="606247"/>
                </a:lnTo>
                <a:lnTo>
                  <a:pt x="7474306" y="629107"/>
                </a:lnTo>
                <a:lnTo>
                  <a:pt x="7493508" y="653796"/>
                </a:lnTo>
                <a:lnTo>
                  <a:pt x="7512710" y="680314"/>
                </a:lnTo>
                <a:lnTo>
                  <a:pt x="7531913" y="707746"/>
                </a:lnTo>
                <a:lnTo>
                  <a:pt x="7551115" y="737006"/>
                </a:lnTo>
                <a:lnTo>
                  <a:pt x="7570318" y="767182"/>
                </a:lnTo>
                <a:lnTo>
                  <a:pt x="7589520" y="799186"/>
                </a:lnTo>
                <a:lnTo>
                  <a:pt x="7608722" y="831190"/>
                </a:lnTo>
                <a:lnTo>
                  <a:pt x="7627925" y="865022"/>
                </a:lnTo>
                <a:lnTo>
                  <a:pt x="7647127" y="899770"/>
                </a:lnTo>
                <a:lnTo>
                  <a:pt x="7666330" y="935431"/>
                </a:lnTo>
                <a:lnTo>
                  <a:pt x="7685532" y="972007"/>
                </a:lnTo>
                <a:lnTo>
                  <a:pt x="7704734" y="1009498"/>
                </a:lnTo>
                <a:lnTo>
                  <a:pt x="7723937" y="1047902"/>
                </a:lnTo>
                <a:lnTo>
                  <a:pt x="7743139" y="1087222"/>
                </a:lnTo>
                <a:lnTo>
                  <a:pt x="7762342" y="1127455"/>
                </a:lnTo>
                <a:lnTo>
                  <a:pt x="7781544" y="1168603"/>
                </a:lnTo>
                <a:lnTo>
                  <a:pt x="7800746" y="1158545"/>
                </a:lnTo>
                <a:lnTo>
                  <a:pt x="7819949" y="1130198"/>
                </a:lnTo>
                <a:lnTo>
                  <a:pt x="7839151" y="1107338"/>
                </a:lnTo>
                <a:lnTo>
                  <a:pt x="7858354" y="1093622"/>
                </a:lnTo>
                <a:lnTo>
                  <a:pt x="7877556" y="1096366"/>
                </a:lnTo>
                <a:lnTo>
                  <a:pt x="7896758" y="1123798"/>
                </a:lnTo>
                <a:lnTo>
                  <a:pt x="7915961" y="1150315"/>
                </a:lnTo>
                <a:lnTo>
                  <a:pt x="7935163" y="1176833"/>
                </a:lnTo>
                <a:lnTo>
                  <a:pt x="7954366" y="1202436"/>
                </a:lnTo>
                <a:lnTo>
                  <a:pt x="7973568" y="1227125"/>
                </a:lnTo>
                <a:lnTo>
                  <a:pt x="7992770" y="1250899"/>
                </a:lnTo>
                <a:lnTo>
                  <a:pt x="8012887" y="1274674"/>
                </a:lnTo>
                <a:lnTo>
                  <a:pt x="8032090" y="1297534"/>
                </a:lnTo>
                <a:lnTo>
                  <a:pt x="8051292" y="1319479"/>
                </a:lnTo>
                <a:lnTo>
                  <a:pt x="8070494" y="1341425"/>
                </a:lnTo>
                <a:lnTo>
                  <a:pt x="8089697" y="1362456"/>
                </a:lnTo>
                <a:lnTo>
                  <a:pt x="8108899" y="1383487"/>
                </a:lnTo>
                <a:lnTo>
                  <a:pt x="8128102" y="1403604"/>
                </a:lnTo>
                <a:lnTo>
                  <a:pt x="8147304" y="1422806"/>
                </a:lnTo>
                <a:lnTo>
                  <a:pt x="8166506" y="1442009"/>
                </a:lnTo>
                <a:lnTo>
                  <a:pt x="8185709" y="1461211"/>
                </a:lnTo>
                <a:lnTo>
                  <a:pt x="8204911" y="1479499"/>
                </a:lnTo>
                <a:lnTo>
                  <a:pt x="8224114" y="1496873"/>
                </a:lnTo>
                <a:lnTo>
                  <a:pt x="8243316" y="1514246"/>
                </a:lnTo>
                <a:lnTo>
                  <a:pt x="8262518" y="1530706"/>
                </a:lnTo>
                <a:lnTo>
                  <a:pt x="8281721" y="1547165"/>
                </a:lnTo>
                <a:lnTo>
                  <a:pt x="8300923" y="1562710"/>
                </a:lnTo>
                <a:lnTo>
                  <a:pt x="8320126" y="1578254"/>
                </a:lnTo>
                <a:lnTo>
                  <a:pt x="8339328" y="1593799"/>
                </a:lnTo>
                <a:lnTo>
                  <a:pt x="8358530" y="1608430"/>
                </a:lnTo>
                <a:lnTo>
                  <a:pt x="8377733" y="1623060"/>
                </a:lnTo>
                <a:lnTo>
                  <a:pt x="8396935" y="1636776"/>
                </a:lnTo>
                <a:lnTo>
                  <a:pt x="8416138" y="1650492"/>
                </a:lnTo>
                <a:lnTo>
                  <a:pt x="8435340" y="1663294"/>
                </a:lnTo>
                <a:lnTo>
                  <a:pt x="8454542" y="1677010"/>
                </a:lnTo>
                <a:lnTo>
                  <a:pt x="8473745" y="1688897"/>
                </a:lnTo>
                <a:lnTo>
                  <a:pt x="8492947" y="1701698"/>
                </a:lnTo>
                <a:lnTo>
                  <a:pt x="8512150" y="1713586"/>
                </a:lnTo>
                <a:lnTo>
                  <a:pt x="8531352" y="1725473"/>
                </a:lnTo>
                <a:lnTo>
                  <a:pt x="8550554" y="1736446"/>
                </a:lnTo>
                <a:lnTo>
                  <a:pt x="8569757" y="1747418"/>
                </a:lnTo>
                <a:lnTo>
                  <a:pt x="8588959" y="1758391"/>
                </a:lnTo>
                <a:lnTo>
                  <a:pt x="8608162" y="1769364"/>
                </a:lnTo>
                <a:lnTo>
                  <a:pt x="8627364" y="1779422"/>
                </a:lnTo>
                <a:lnTo>
                  <a:pt x="8646566" y="1789481"/>
                </a:lnTo>
                <a:lnTo>
                  <a:pt x="8665769" y="1799539"/>
                </a:lnTo>
                <a:lnTo>
                  <a:pt x="8684971" y="1808683"/>
                </a:lnTo>
                <a:lnTo>
                  <a:pt x="8704174" y="1817827"/>
                </a:lnTo>
                <a:lnTo>
                  <a:pt x="8723376" y="1826971"/>
                </a:lnTo>
                <a:lnTo>
                  <a:pt x="8742578" y="1836115"/>
                </a:lnTo>
                <a:lnTo>
                  <a:pt x="8761781" y="1844345"/>
                </a:lnTo>
                <a:lnTo>
                  <a:pt x="8780983" y="1853489"/>
                </a:lnTo>
                <a:lnTo>
                  <a:pt x="8800186" y="1861718"/>
                </a:lnTo>
                <a:lnTo>
                  <a:pt x="8819388" y="1869034"/>
                </a:lnTo>
                <a:lnTo>
                  <a:pt x="8838590" y="1877263"/>
                </a:lnTo>
                <a:lnTo>
                  <a:pt x="8857793" y="1884578"/>
                </a:lnTo>
                <a:lnTo>
                  <a:pt x="8876995" y="1891894"/>
                </a:lnTo>
                <a:lnTo>
                  <a:pt x="8896198" y="1867205"/>
                </a:lnTo>
                <a:lnTo>
                  <a:pt x="8915400" y="1795882"/>
                </a:lnTo>
                <a:lnTo>
                  <a:pt x="8934602" y="1684325"/>
                </a:lnTo>
                <a:lnTo>
                  <a:pt x="8953805" y="1540764"/>
                </a:lnTo>
                <a:lnTo>
                  <a:pt x="8973007" y="1374343"/>
                </a:lnTo>
                <a:lnTo>
                  <a:pt x="8992210" y="1196950"/>
                </a:lnTo>
                <a:lnTo>
                  <a:pt x="9011412" y="1021385"/>
                </a:lnTo>
                <a:lnTo>
                  <a:pt x="9030614" y="860450"/>
                </a:lnTo>
                <a:lnTo>
                  <a:pt x="9049817" y="726034"/>
                </a:lnTo>
                <a:lnTo>
                  <a:pt x="9069934" y="625450"/>
                </a:lnTo>
                <a:lnTo>
                  <a:pt x="9089136" y="567842"/>
                </a:lnTo>
                <a:lnTo>
                  <a:pt x="9108338" y="556870"/>
                </a:lnTo>
                <a:lnTo>
                  <a:pt x="9127541" y="566014"/>
                </a:lnTo>
                <a:lnTo>
                  <a:pt x="9146743" y="578815"/>
                </a:lnTo>
                <a:lnTo>
                  <a:pt x="9165946" y="595274"/>
                </a:lnTo>
                <a:lnTo>
                  <a:pt x="9185148" y="614477"/>
                </a:lnTo>
                <a:lnTo>
                  <a:pt x="9204350" y="634594"/>
                </a:lnTo>
                <a:lnTo>
                  <a:pt x="9223553" y="657454"/>
                </a:lnTo>
                <a:lnTo>
                  <a:pt x="9242755" y="681228"/>
                </a:lnTo>
                <a:lnTo>
                  <a:pt x="9261958" y="706831"/>
                </a:lnTo>
                <a:lnTo>
                  <a:pt x="9281160" y="734263"/>
                </a:lnTo>
                <a:lnTo>
                  <a:pt x="9300362" y="761695"/>
                </a:lnTo>
                <a:lnTo>
                  <a:pt x="9319565" y="790956"/>
                </a:lnTo>
                <a:lnTo>
                  <a:pt x="9338767" y="822046"/>
                </a:lnTo>
                <a:lnTo>
                  <a:pt x="9357970" y="853135"/>
                </a:lnTo>
                <a:lnTo>
                  <a:pt x="9377172" y="886054"/>
                </a:lnTo>
                <a:lnTo>
                  <a:pt x="9396374" y="918972"/>
                </a:lnTo>
                <a:lnTo>
                  <a:pt x="9415577" y="953719"/>
                </a:lnTo>
                <a:lnTo>
                  <a:pt x="9434779" y="989381"/>
                </a:lnTo>
                <a:lnTo>
                  <a:pt x="9453982" y="1025042"/>
                </a:lnTo>
                <a:lnTo>
                  <a:pt x="9473184" y="1062533"/>
                </a:lnTo>
                <a:lnTo>
                  <a:pt x="9492386" y="1100023"/>
                </a:lnTo>
                <a:lnTo>
                  <a:pt x="9511589" y="1139342"/>
                </a:lnTo>
                <a:lnTo>
                  <a:pt x="9530791" y="1127455"/>
                </a:lnTo>
                <a:lnTo>
                  <a:pt x="9549994" y="1096366"/>
                </a:lnTo>
                <a:lnTo>
                  <a:pt x="9569196" y="1071677"/>
                </a:lnTo>
                <a:lnTo>
                  <a:pt x="9588398" y="1056132"/>
                </a:lnTo>
                <a:lnTo>
                  <a:pt x="9607601" y="1056132"/>
                </a:lnTo>
                <a:lnTo>
                  <a:pt x="9626803" y="1081735"/>
                </a:lnTo>
                <a:lnTo>
                  <a:pt x="9646006" y="1106424"/>
                </a:lnTo>
                <a:lnTo>
                  <a:pt x="9665208" y="1130198"/>
                </a:lnTo>
                <a:lnTo>
                  <a:pt x="9684410" y="1153058"/>
                </a:lnTo>
                <a:lnTo>
                  <a:pt x="9703613" y="1175918"/>
                </a:lnTo>
                <a:lnTo>
                  <a:pt x="9722815" y="1197864"/>
                </a:lnTo>
                <a:lnTo>
                  <a:pt x="9742018" y="1218895"/>
                </a:lnTo>
                <a:lnTo>
                  <a:pt x="9761220" y="1239926"/>
                </a:lnTo>
                <a:lnTo>
                  <a:pt x="9780422" y="1260043"/>
                </a:lnTo>
                <a:lnTo>
                  <a:pt x="9799625" y="1279246"/>
                </a:lnTo>
                <a:lnTo>
                  <a:pt x="9818827" y="1298448"/>
                </a:lnTo>
                <a:lnTo>
                  <a:pt x="9838030" y="1316736"/>
                </a:lnTo>
                <a:lnTo>
                  <a:pt x="9857232" y="1335024"/>
                </a:lnTo>
                <a:lnTo>
                  <a:pt x="9876434" y="1352398"/>
                </a:lnTo>
                <a:lnTo>
                  <a:pt x="9895637" y="1369771"/>
                </a:lnTo>
                <a:lnTo>
                  <a:pt x="9914839" y="1386230"/>
                </a:lnTo>
                <a:lnTo>
                  <a:pt x="9934042" y="1401775"/>
                </a:lnTo>
                <a:lnTo>
                  <a:pt x="9953244" y="1417320"/>
                </a:lnTo>
                <a:lnTo>
                  <a:pt x="9972446" y="1432865"/>
                </a:lnTo>
                <a:lnTo>
                  <a:pt x="9991649" y="1446581"/>
                </a:lnTo>
                <a:lnTo>
                  <a:pt x="10010851" y="1461211"/>
                </a:lnTo>
                <a:lnTo>
                  <a:pt x="10030054" y="1474927"/>
                </a:lnTo>
                <a:lnTo>
                  <a:pt x="10049256" y="1488643"/>
                </a:lnTo>
                <a:lnTo>
                  <a:pt x="10068458" y="1501445"/>
                </a:lnTo>
                <a:lnTo>
                  <a:pt x="10087661" y="1514246"/>
                </a:lnTo>
                <a:lnTo>
                  <a:pt x="10107778" y="1526134"/>
                </a:lnTo>
                <a:lnTo>
                  <a:pt x="10126980" y="1538021"/>
                </a:lnTo>
                <a:lnTo>
                  <a:pt x="10146182" y="1548994"/>
                </a:lnTo>
                <a:lnTo>
                  <a:pt x="10165385" y="1559966"/>
                </a:lnTo>
                <a:lnTo>
                  <a:pt x="10184587" y="1570939"/>
                </a:lnTo>
                <a:lnTo>
                  <a:pt x="10203790" y="1581912"/>
                </a:lnTo>
                <a:lnTo>
                  <a:pt x="10222992" y="1591970"/>
                </a:lnTo>
                <a:lnTo>
                  <a:pt x="10242194" y="1602029"/>
                </a:lnTo>
                <a:lnTo>
                  <a:pt x="10261397" y="1611173"/>
                </a:lnTo>
                <a:lnTo>
                  <a:pt x="10280599" y="1620317"/>
                </a:lnTo>
                <a:lnTo>
                  <a:pt x="10299802" y="1629461"/>
                </a:lnTo>
                <a:lnTo>
                  <a:pt x="10319004" y="1637690"/>
                </a:lnTo>
                <a:lnTo>
                  <a:pt x="10338206" y="1645920"/>
                </a:lnTo>
                <a:lnTo>
                  <a:pt x="10357409" y="1654150"/>
                </a:lnTo>
                <a:lnTo>
                  <a:pt x="10376611" y="1662379"/>
                </a:lnTo>
                <a:lnTo>
                  <a:pt x="10395814" y="1669694"/>
                </a:lnTo>
                <a:lnTo>
                  <a:pt x="10415016" y="1677010"/>
                </a:lnTo>
                <a:lnTo>
                  <a:pt x="10434218" y="1684325"/>
                </a:lnTo>
                <a:lnTo>
                  <a:pt x="10453421" y="1691640"/>
                </a:lnTo>
                <a:lnTo>
                  <a:pt x="10472623" y="1698041"/>
                </a:lnTo>
                <a:lnTo>
                  <a:pt x="10491826" y="1704442"/>
                </a:lnTo>
                <a:lnTo>
                  <a:pt x="10511028" y="1710842"/>
                </a:lnTo>
                <a:lnTo>
                  <a:pt x="10530230" y="1716329"/>
                </a:lnTo>
                <a:lnTo>
                  <a:pt x="10549433" y="1722730"/>
                </a:lnTo>
                <a:lnTo>
                  <a:pt x="10568635" y="1728216"/>
                </a:lnTo>
                <a:lnTo>
                  <a:pt x="10587838" y="1733702"/>
                </a:lnTo>
                <a:lnTo>
                  <a:pt x="10607040" y="1739189"/>
                </a:lnTo>
              </a:path>
            </a:pathLst>
          </a:custGeom>
          <a:noFill/>
          <a:ln w="44450">
            <a:solidFill>
              <a:srgbClr val="0072B2"/>
            </a:solidFill>
            <a:prstDash val="solid"/>
          </a:ln>
        </p:spPr>
      </p:sp>
      <p:sp>
        <p:nvSpPr>
          <p:cNvPr id="11" name="Shape 9"/>
          <p:cNvSpPr/>
          <p:nvPr/>
        </p:nvSpPr>
        <p:spPr>
          <a:xfrm>
            <a:off x="777240" y="1883668"/>
            <a:ext cx="10607040" cy="768075"/>
          </a:xfrm>
          <a:custGeom>
            <a:avLst/>
            <a:gdLst/>
            <a:ahLst/>
            <a:cxnLst/>
            <a:rect l="l" t="t" r="r" b="b"/>
            <a:pathLst>
              <a:path w="10607040" h="768075">
                <a:moveTo>
                  <a:pt x="0" y="56693"/>
                </a:moveTo>
                <a:lnTo>
                  <a:pt x="45720" y="45720"/>
                </a:lnTo>
                <a:lnTo>
                  <a:pt x="91440" y="36576"/>
                </a:lnTo>
                <a:lnTo>
                  <a:pt x="137160" y="27432"/>
                </a:lnTo>
                <a:lnTo>
                  <a:pt x="182880" y="20117"/>
                </a:lnTo>
                <a:lnTo>
                  <a:pt x="228600" y="13716"/>
                </a:lnTo>
                <a:lnTo>
                  <a:pt x="274320" y="9144"/>
                </a:lnTo>
                <a:lnTo>
                  <a:pt x="320040" y="4572"/>
                </a:lnTo>
                <a:lnTo>
                  <a:pt x="365760" y="1829"/>
                </a:lnTo>
                <a:lnTo>
                  <a:pt x="411480" y="914"/>
                </a:lnTo>
                <a:lnTo>
                  <a:pt x="457200" y="0"/>
                </a:lnTo>
                <a:lnTo>
                  <a:pt x="502920" y="914"/>
                </a:lnTo>
                <a:lnTo>
                  <a:pt x="548640" y="2743"/>
                </a:lnTo>
                <a:lnTo>
                  <a:pt x="594360" y="5486"/>
                </a:lnTo>
                <a:lnTo>
                  <a:pt x="640080" y="10058"/>
                </a:lnTo>
                <a:lnTo>
                  <a:pt x="685800" y="15545"/>
                </a:lnTo>
                <a:lnTo>
                  <a:pt x="731520" y="21946"/>
                </a:lnTo>
                <a:lnTo>
                  <a:pt x="777240" y="29261"/>
                </a:lnTo>
                <a:lnTo>
                  <a:pt x="822960" y="37490"/>
                </a:lnTo>
                <a:lnTo>
                  <a:pt x="868680" y="47549"/>
                </a:lnTo>
                <a:lnTo>
                  <a:pt x="914400" y="58522"/>
                </a:lnTo>
                <a:lnTo>
                  <a:pt x="960120" y="70409"/>
                </a:lnTo>
                <a:lnTo>
                  <a:pt x="1005840" y="82296"/>
                </a:lnTo>
                <a:lnTo>
                  <a:pt x="1051560" y="96012"/>
                </a:lnTo>
                <a:lnTo>
                  <a:pt x="1097280" y="110642"/>
                </a:lnTo>
                <a:lnTo>
                  <a:pt x="1143000" y="126187"/>
                </a:lnTo>
                <a:lnTo>
                  <a:pt x="1188720" y="142646"/>
                </a:lnTo>
                <a:lnTo>
                  <a:pt x="1234440" y="159106"/>
                </a:lnTo>
                <a:lnTo>
                  <a:pt x="1280160" y="176479"/>
                </a:lnTo>
                <a:lnTo>
                  <a:pt x="1325880" y="194767"/>
                </a:lnTo>
                <a:lnTo>
                  <a:pt x="1371600" y="213970"/>
                </a:lnTo>
                <a:lnTo>
                  <a:pt x="1417320" y="233172"/>
                </a:lnTo>
                <a:lnTo>
                  <a:pt x="1463040" y="253289"/>
                </a:lnTo>
                <a:lnTo>
                  <a:pt x="1508760" y="273406"/>
                </a:lnTo>
                <a:lnTo>
                  <a:pt x="1554480" y="293522"/>
                </a:lnTo>
                <a:lnTo>
                  <a:pt x="1600200" y="314554"/>
                </a:lnTo>
                <a:lnTo>
                  <a:pt x="1645920" y="335585"/>
                </a:lnTo>
                <a:lnTo>
                  <a:pt x="1691640" y="356616"/>
                </a:lnTo>
                <a:lnTo>
                  <a:pt x="1737360" y="377647"/>
                </a:lnTo>
                <a:lnTo>
                  <a:pt x="1783080" y="398678"/>
                </a:lnTo>
                <a:lnTo>
                  <a:pt x="1828800" y="420624"/>
                </a:lnTo>
                <a:lnTo>
                  <a:pt x="1874520" y="441655"/>
                </a:lnTo>
                <a:lnTo>
                  <a:pt x="1920240" y="462686"/>
                </a:lnTo>
                <a:lnTo>
                  <a:pt x="1965960" y="482803"/>
                </a:lnTo>
                <a:lnTo>
                  <a:pt x="2011680" y="502920"/>
                </a:lnTo>
                <a:lnTo>
                  <a:pt x="2057400" y="523037"/>
                </a:lnTo>
                <a:lnTo>
                  <a:pt x="2103120" y="543154"/>
                </a:lnTo>
                <a:lnTo>
                  <a:pt x="2148840" y="562356"/>
                </a:lnTo>
                <a:lnTo>
                  <a:pt x="2194560" y="580644"/>
                </a:lnTo>
                <a:lnTo>
                  <a:pt x="2240280" y="598932"/>
                </a:lnTo>
                <a:lnTo>
                  <a:pt x="2286000" y="616306"/>
                </a:lnTo>
                <a:lnTo>
                  <a:pt x="2331720" y="632765"/>
                </a:lnTo>
                <a:lnTo>
                  <a:pt x="2377440" y="648310"/>
                </a:lnTo>
                <a:lnTo>
                  <a:pt x="2423160" y="662940"/>
                </a:lnTo>
                <a:lnTo>
                  <a:pt x="2468880" y="677570"/>
                </a:lnTo>
                <a:lnTo>
                  <a:pt x="2514600" y="690372"/>
                </a:lnTo>
                <a:lnTo>
                  <a:pt x="2560320" y="703174"/>
                </a:lnTo>
                <a:lnTo>
                  <a:pt x="2606040" y="714146"/>
                </a:lnTo>
                <a:lnTo>
                  <a:pt x="2651760" y="725119"/>
                </a:lnTo>
                <a:lnTo>
                  <a:pt x="2697480" y="734263"/>
                </a:lnTo>
                <a:lnTo>
                  <a:pt x="2743200" y="742493"/>
                </a:lnTo>
                <a:lnTo>
                  <a:pt x="2788920" y="748894"/>
                </a:lnTo>
                <a:lnTo>
                  <a:pt x="2834640" y="755294"/>
                </a:lnTo>
                <a:lnTo>
                  <a:pt x="2880360" y="759866"/>
                </a:lnTo>
                <a:lnTo>
                  <a:pt x="2926080" y="763524"/>
                </a:lnTo>
                <a:lnTo>
                  <a:pt x="2971800" y="766267"/>
                </a:lnTo>
                <a:lnTo>
                  <a:pt x="3017520" y="768096"/>
                </a:lnTo>
                <a:lnTo>
                  <a:pt x="3063240" y="768096"/>
                </a:lnTo>
                <a:lnTo>
                  <a:pt x="3108960" y="767182"/>
                </a:lnTo>
                <a:lnTo>
                  <a:pt x="3154680" y="765353"/>
                </a:lnTo>
                <a:lnTo>
                  <a:pt x="3200400" y="761695"/>
                </a:lnTo>
                <a:lnTo>
                  <a:pt x="3246120" y="757123"/>
                </a:lnTo>
                <a:lnTo>
                  <a:pt x="3291840" y="751637"/>
                </a:lnTo>
                <a:lnTo>
                  <a:pt x="3337560" y="744322"/>
                </a:lnTo>
                <a:lnTo>
                  <a:pt x="3383280" y="737006"/>
                </a:lnTo>
                <a:lnTo>
                  <a:pt x="3429000" y="727862"/>
                </a:lnTo>
                <a:lnTo>
                  <a:pt x="3474720" y="717804"/>
                </a:lnTo>
                <a:lnTo>
                  <a:pt x="3520440" y="706831"/>
                </a:lnTo>
                <a:lnTo>
                  <a:pt x="3566160" y="694944"/>
                </a:lnTo>
                <a:lnTo>
                  <a:pt x="3611880" y="682142"/>
                </a:lnTo>
                <a:lnTo>
                  <a:pt x="3657600" y="668426"/>
                </a:lnTo>
                <a:lnTo>
                  <a:pt x="3703320" y="653796"/>
                </a:lnTo>
                <a:lnTo>
                  <a:pt x="3749040" y="638251"/>
                </a:lnTo>
                <a:lnTo>
                  <a:pt x="3794760" y="621792"/>
                </a:lnTo>
                <a:lnTo>
                  <a:pt x="3840480" y="604418"/>
                </a:lnTo>
                <a:lnTo>
                  <a:pt x="3886200" y="587045"/>
                </a:lnTo>
                <a:lnTo>
                  <a:pt x="3931920" y="568757"/>
                </a:lnTo>
                <a:lnTo>
                  <a:pt x="3977640" y="549554"/>
                </a:lnTo>
                <a:lnTo>
                  <a:pt x="4023360" y="530352"/>
                </a:lnTo>
                <a:lnTo>
                  <a:pt x="4069080" y="510235"/>
                </a:lnTo>
                <a:lnTo>
                  <a:pt x="4114800" y="490118"/>
                </a:lnTo>
                <a:lnTo>
                  <a:pt x="4160520" y="469087"/>
                </a:lnTo>
                <a:lnTo>
                  <a:pt x="4206240" y="448056"/>
                </a:lnTo>
                <a:lnTo>
                  <a:pt x="4251960" y="427025"/>
                </a:lnTo>
                <a:lnTo>
                  <a:pt x="4297680" y="405994"/>
                </a:lnTo>
                <a:lnTo>
                  <a:pt x="4343400" y="384962"/>
                </a:lnTo>
                <a:lnTo>
                  <a:pt x="4389120" y="363931"/>
                </a:lnTo>
                <a:lnTo>
                  <a:pt x="4434840" y="342900"/>
                </a:lnTo>
                <a:lnTo>
                  <a:pt x="4480560" y="321869"/>
                </a:lnTo>
                <a:lnTo>
                  <a:pt x="4526280" y="300838"/>
                </a:lnTo>
                <a:lnTo>
                  <a:pt x="4572000" y="279806"/>
                </a:lnTo>
                <a:lnTo>
                  <a:pt x="4617720" y="259690"/>
                </a:lnTo>
                <a:lnTo>
                  <a:pt x="4663440" y="239573"/>
                </a:lnTo>
                <a:lnTo>
                  <a:pt x="4709160" y="220370"/>
                </a:lnTo>
                <a:lnTo>
                  <a:pt x="4754880" y="201168"/>
                </a:lnTo>
                <a:lnTo>
                  <a:pt x="4800600" y="182880"/>
                </a:lnTo>
                <a:lnTo>
                  <a:pt x="4846320" y="165506"/>
                </a:lnTo>
                <a:lnTo>
                  <a:pt x="4892040" y="148133"/>
                </a:lnTo>
                <a:lnTo>
                  <a:pt x="4937760" y="131674"/>
                </a:lnTo>
                <a:lnTo>
                  <a:pt x="4983480" y="116129"/>
                </a:lnTo>
                <a:lnTo>
                  <a:pt x="5029200" y="101498"/>
                </a:lnTo>
                <a:lnTo>
                  <a:pt x="5074920" y="86868"/>
                </a:lnTo>
                <a:lnTo>
                  <a:pt x="5120640" y="74066"/>
                </a:lnTo>
                <a:lnTo>
                  <a:pt x="5166360" y="62179"/>
                </a:lnTo>
                <a:lnTo>
                  <a:pt x="5212080" y="51206"/>
                </a:lnTo>
                <a:lnTo>
                  <a:pt x="5257800" y="41148"/>
                </a:lnTo>
                <a:lnTo>
                  <a:pt x="5303520" y="32004"/>
                </a:lnTo>
                <a:lnTo>
                  <a:pt x="5349240" y="23774"/>
                </a:lnTo>
                <a:lnTo>
                  <a:pt x="5394960" y="17374"/>
                </a:lnTo>
                <a:lnTo>
                  <a:pt x="5440680" y="10973"/>
                </a:lnTo>
                <a:lnTo>
                  <a:pt x="5486400" y="6401"/>
                </a:lnTo>
                <a:lnTo>
                  <a:pt x="5532120" y="3658"/>
                </a:lnTo>
                <a:lnTo>
                  <a:pt x="5577840" y="914"/>
                </a:lnTo>
                <a:lnTo>
                  <a:pt x="5623560" y="0"/>
                </a:lnTo>
                <a:lnTo>
                  <a:pt x="5669280" y="0"/>
                </a:lnTo>
                <a:lnTo>
                  <a:pt x="5715000" y="1829"/>
                </a:lnTo>
                <a:lnTo>
                  <a:pt x="5760720" y="3658"/>
                </a:lnTo>
                <a:lnTo>
                  <a:pt x="5806440" y="7315"/>
                </a:lnTo>
                <a:lnTo>
                  <a:pt x="5852160" y="11887"/>
                </a:lnTo>
                <a:lnTo>
                  <a:pt x="5897880" y="18288"/>
                </a:lnTo>
                <a:lnTo>
                  <a:pt x="5943600" y="25603"/>
                </a:lnTo>
                <a:lnTo>
                  <a:pt x="5989320" y="32918"/>
                </a:lnTo>
                <a:lnTo>
                  <a:pt x="6035040" y="42977"/>
                </a:lnTo>
                <a:lnTo>
                  <a:pt x="6080760" y="53035"/>
                </a:lnTo>
                <a:lnTo>
                  <a:pt x="6126480" y="64008"/>
                </a:lnTo>
                <a:lnTo>
                  <a:pt x="6172200" y="75895"/>
                </a:lnTo>
                <a:lnTo>
                  <a:pt x="6217920" y="89611"/>
                </a:lnTo>
                <a:lnTo>
                  <a:pt x="6263640" y="103327"/>
                </a:lnTo>
                <a:lnTo>
                  <a:pt x="6309360" y="118872"/>
                </a:lnTo>
                <a:lnTo>
                  <a:pt x="6355080" y="134417"/>
                </a:lnTo>
                <a:lnTo>
                  <a:pt x="6400800" y="150876"/>
                </a:lnTo>
                <a:lnTo>
                  <a:pt x="6446520" y="168250"/>
                </a:lnTo>
                <a:lnTo>
                  <a:pt x="6492240" y="185623"/>
                </a:lnTo>
                <a:lnTo>
                  <a:pt x="6537960" y="204826"/>
                </a:lnTo>
                <a:lnTo>
                  <a:pt x="6583680" y="223114"/>
                </a:lnTo>
                <a:lnTo>
                  <a:pt x="6629400" y="243230"/>
                </a:lnTo>
                <a:lnTo>
                  <a:pt x="6675120" y="263347"/>
                </a:lnTo>
                <a:lnTo>
                  <a:pt x="6720840" y="283464"/>
                </a:lnTo>
                <a:lnTo>
                  <a:pt x="6766560" y="303581"/>
                </a:lnTo>
                <a:lnTo>
                  <a:pt x="6812280" y="324612"/>
                </a:lnTo>
                <a:lnTo>
                  <a:pt x="6858000" y="345643"/>
                </a:lnTo>
                <a:lnTo>
                  <a:pt x="6903720" y="367589"/>
                </a:lnTo>
                <a:lnTo>
                  <a:pt x="6949440" y="388620"/>
                </a:lnTo>
                <a:lnTo>
                  <a:pt x="6995160" y="409651"/>
                </a:lnTo>
                <a:lnTo>
                  <a:pt x="7040880" y="430682"/>
                </a:lnTo>
                <a:lnTo>
                  <a:pt x="7086600" y="451714"/>
                </a:lnTo>
                <a:lnTo>
                  <a:pt x="7132320" y="472745"/>
                </a:lnTo>
                <a:lnTo>
                  <a:pt x="7178040" y="492862"/>
                </a:lnTo>
                <a:lnTo>
                  <a:pt x="7223760" y="512978"/>
                </a:lnTo>
                <a:lnTo>
                  <a:pt x="7269480" y="533095"/>
                </a:lnTo>
                <a:lnTo>
                  <a:pt x="7315200" y="552298"/>
                </a:lnTo>
                <a:lnTo>
                  <a:pt x="7360920" y="571500"/>
                </a:lnTo>
                <a:lnTo>
                  <a:pt x="7406640" y="589788"/>
                </a:lnTo>
                <a:lnTo>
                  <a:pt x="7452360" y="607162"/>
                </a:lnTo>
                <a:lnTo>
                  <a:pt x="7498080" y="624535"/>
                </a:lnTo>
                <a:lnTo>
                  <a:pt x="7543800" y="640080"/>
                </a:lnTo>
                <a:lnTo>
                  <a:pt x="7589520" y="655625"/>
                </a:lnTo>
                <a:lnTo>
                  <a:pt x="7635240" y="670255"/>
                </a:lnTo>
                <a:lnTo>
                  <a:pt x="7680960" y="683971"/>
                </a:lnTo>
                <a:lnTo>
                  <a:pt x="7726680" y="696773"/>
                </a:lnTo>
                <a:lnTo>
                  <a:pt x="7772400" y="708660"/>
                </a:lnTo>
                <a:lnTo>
                  <a:pt x="7818120" y="719633"/>
                </a:lnTo>
                <a:lnTo>
                  <a:pt x="7863840" y="729691"/>
                </a:lnTo>
                <a:lnTo>
                  <a:pt x="7909560" y="737921"/>
                </a:lnTo>
                <a:lnTo>
                  <a:pt x="7955280" y="746150"/>
                </a:lnTo>
                <a:lnTo>
                  <a:pt x="8001000" y="752551"/>
                </a:lnTo>
                <a:lnTo>
                  <a:pt x="8046720" y="758038"/>
                </a:lnTo>
                <a:lnTo>
                  <a:pt x="8092440" y="762610"/>
                </a:lnTo>
                <a:lnTo>
                  <a:pt x="8138160" y="765353"/>
                </a:lnTo>
                <a:lnTo>
                  <a:pt x="8183880" y="767182"/>
                </a:lnTo>
                <a:lnTo>
                  <a:pt x="8229600" y="768096"/>
                </a:lnTo>
                <a:lnTo>
                  <a:pt x="8275320" y="768096"/>
                </a:lnTo>
                <a:lnTo>
                  <a:pt x="8321040" y="766267"/>
                </a:lnTo>
                <a:lnTo>
                  <a:pt x="8366760" y="763524"/>
                </a:lnTo>
                <a:lnTo>
                  <a:pt x="8412480" y="759866"/>
                </a:lnTo>
                <a:lnTo>
                  <a:pt x="8458200" y="754380"/>
                </a:lnTo>
                <a:lnTo>
                  <a:pt x="8503920" y="747979"/>
                </a:lnTo>
                <a:lnTo>
                  <a:pt x="8549640" y="740664"/>
                </a:lnTo>
                <a:lnTo>
                  <a:pt x="8595360" y="732434"/>
                </a:lnTo>
                <a:lnTo>
                  <a:pt x="8641080" y="723290"/>
                </a:lnTo>
                <a:lnTo>
                  <a:pt x="8686800" y="712318"/>
                </a:lnTo>
                <a:lnTo>
                  <a:pt x="8732520" y="701345"/>
                </a:lnTo>
                <a:lnTo>
                  <a:pt x="8778240" y="688543"/>
                </a:lnTo>
                <a:lnTo>
                  <a:pt x="8823960" y="674827"/>
                </a:lnTo>
                <a:lnTo>
                  <a:pt x="8869680" y="661111"/>
                </a:lnTo>
                <a:lnTo>
                  <a:pt x="8915400" y="645566"/>
                </a:lnTo>
                <a:lnTo>
                  <a:pt x="8961120" y="630022"/>
                </a:lnTo>
                <a:lnTo>
                  <a:pt x="9006840" y="612648"/>
                </a:lnTo>
                <a:lnTo>
                  <a:pt x="9052560" y="595274"/>
                </a:lnTo>
                <a:lnTo>
                  <a:pt x="9098280" y="577901"/>
                </a:lnTo>
                <a:lnTo>
                  <a:pt x="9144000" y="558698"/>
                </a:lnTo>
                <a:lnTo>
                  <a:pt x="9189720" y="539496"/>
                </a:lnTo>
                <a:lnTo>
                  <a:pt x="9235440" y="520294"/>
                </a:lnTo>
                <a:lnTo>
                  <a:pt x="9281160" y="500177"/>
                </a:lnTo>
                <a:lnTo>
                  <a:pt x="9326880" y="480060"/>
                </a:lnTo>
                <a:lnTo>
                  <a:pt x="9372600" y="459029"/>
                </a:lnTo>
                <a:lnTo>
                  <a:pt x="9418320" y="437998"/>
                </a:lnTo>
                <a:lnTo>
                  <a:pt x="9464040" y="416966"/>
                </a:lnTo>
                <a:lnTo>
                  <a:pt x="9509760" y="395935"/>
                </a:lnTo>
                <a:lnTo>
                  <a:pt x="9555480" y="373990"/>
                </a:lnTo>
                <a:lnTo>
                  <a:pt x="9601200" y="352958"/>
                </a:lnTo>
                <a:lnTo>
                  <a:pt x="9646920" y="331927"/>
                </a:lnTo>
                <a:lnTo>
                  <a:pt x="9692640" y="310896"/>
                </a:lnTo>
                <a:lnTo>
                  <a:pt x="9738360" y="289865"/>
                </a:lnTo>
                <a:lnTo>
                  <a:pt x="9784080" y="269748"/>
                </a:lnTo>
                <a:lnTo>
                  <a:pt x="9829800" y="249631"/>
                </a:lnTo>
                <a:lnTo>
                  <a:pt x="9875520" y="230429"/>
                </a:lnTo>
                <a:lnTo>
                  <a:pt x="9921240" y="210312"/>
                </a:lnTo>
                <a:lnTo>
                  <a:pt x="9966960" y="192024"/>
                </a:lnTo>
                <a:lnTo>
                  <a:pt x="10012680" y="173736"/>
                </a:lnTo>
                <a:lnTo>
                  <a:pt x="10058400" y="156362"/>
                </a:lnTo>
                <a:lnTo>
                  <a:pt x="10104120" y="139903"/>
                </a:lnTo>
                <a:lnTo>
                  <a:pt x="10149840" y="123444"/>
                </a:lnTo>
                <a:lnTo>
                  <a:pt x="10195560" y="108814"/>
                </a:lnTo>
                <a:lnTo>
                  <a:pt x="10241280" y="94183"/>
                </a:lnTo>
                <a:lnTo>
                  <a:pt x="10287000" y="80467"/>
                </a:lnTo>
                <a:lnTo>
                  <a:pt x="10332720" y="67666"/>
                </a:lnTo>
                <a:lnTo>
                  <a:pt x="10378440" y="56693"/>
                </a:lnTo>
                <a:lnTo>
                  <a:pt x="10424160" y="45720"/>
                </a:lnTo>
                <a:lnTo>
                  <a:pt x="10469880" y="36576"/>
                </a:lnTo>
                <a:lnTo>
                  <a:pt x="10515600" y="27432"/>
                </a:lnTo>
                <a:lnTo>
                  <a:pt x="10561320" y="20117"/>
                </a:lnTo>
                <a:lnTo>
                  <a:pt x="10607040" y="13716"/>
                </a:lnTo>
              </a:path>
            </a:pathLst>
          </a:custGeom>
          <a:noFill/>
          <a:ln w="28575">
            <a:solidFill>
              <a:srgbClr val="D55E00"/>
            </a:solidFill>
            <a:prstDash val="dash"/>
          </a:ln>
        </p:spPr>
      </p:sp>
      <p:sp>
        <p:nvSpPr>
          <p:cNvPr id="12" name="Text 10"/>
          <p:cNvSpPr txBox="1"/>
          <p:nvPr/>
        </p:nvSpPr>
        <p:spPr>
          <a:xfrm>
            <a:off x="502920" y="4572000"/>
            <a:ext cx="11155680" cy="1307592"/>
          </a:xfrm>
          <a:prstGeom prst="rect">
            <a:avLst/>
          </a:prstGeom>
          <a:noFill/>
          <a:ln/>
        </p:spPr>
        <p:txBody>
          <a:bodyPr wrap="square" lIns="0" tIns="0" rIns="0" bIns="0" rtlCol="0" anchor="t"/>
          <a:lstStyle/>
          <a:p>
            <a:pPr algn="l" marL="406400" indent="-406400">
              <a:spcAft>
                <a:spcPts val="1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陽圧換気で波形が大きく揺れる → </a:t>
            </a:r>
            <a:r>
              <a:rPr lang="ja-JP" altLang="en-US" sz="2800" b="1" dirty="0">
                <a:solidFill>
                  <a:srgbClr val="00A8AA"/>
                </a:solidFill>
                <a:latin typeface="メイリオ" pitchFamily="34" charset="0"/>
                <a:ea typeface="メイリオ" pitchFamily="34" charset="-122"/>
                <a:cs typeface="メイリオ" pitchFamily="34" charset="-120"/>
              </a:rPr>
              <a:t>輸液反応性のヒント</a:t>
            </a:r>
            <a:endParaRPr lang="ja-JP" sz="2800" dirty="0"/>
          </a:p>
          <a:p>
            <a:pPr algn="l" marL="406400" indent="-406400">
              <a:spcAft>
                <a:spcPts val="1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条件と判断の仕方は </a:t>
            </a:r>
            <a:r>
              <a:rPr lang="ja-JP" altLang="en-US" sz="2800" b="1" dirty="0">
                <a:solidFill>
                  <a:srgbClr val="00A8AA"/>
                </a:solidFill>
                <a:latin typeface="メイリオ" pitchFamily="34" charset="0"/>
                <a:ea typeface="メイリオ" pitchFamily="34" charset="-122"/>
                <a:cs typeface="メイリオ" pitchFamily="34" charset="-120"/>
              </a:rPr>
              <a:t>9-8</a:t>
            </a:r>
            <a:r>
              <a:rPr lang="ja-JP" altLang="en-US" sz="2800" dirty="0">
                <a:solidFill>
                  <a:srgbClr val="262626"/>
                </a:solidFill>
                <a:latin typeface="メイリオ" pitchFamily="34" charset="0"/>
                <a:ea typeface="メイリオ" pitchFamily="34" charset="-122"/>
                <a:cs typeface="メイリオ" pitchFamily="34" charset="-120"/>
              </a:rPr>
              <a:t> で</a:t>
            </a:r>
            <a:endParaRPr lang="ja-JP"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適応</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準備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減衰</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注意</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10</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Saugel B, et al. Crit Care 2020;24:172 / Scheer B, et al. Crit Care 2002;6:199-204</a:t>
            </a:r>
            <a:endParaRPr lang="ja-JP" sz="1600" dirty="0"/>
          </a:p>
        </p:txBody>
      </p:sp>
      <p:sp>
        <p:nvSpPr>
          <p:cNvPr id="11" name="Text 9"/>
          <p:cNvSpPr txBox="1"/>
          <p:nvPr/>
        </p:nvSpPr>
        <p:spPr>
          <a:xfrm>
            <a:off x="502920" y="1760220"/>
            <a:ext cx="502920" cy="612648"/>
          </a:xfrm>
          <a:prstGeom prst="rect">
            <a:avLst/>
          </a:prstGeom>
          <a:noFill/>
          <a:ln/>
        </p:spPr>
        <p:txBody>
          <a:bodyPr wrap="square" lIns="0" tIns="0" rIns="0" bIns="0" rtlCol="0" anchor="t"/>
          <a:lstStyle/>
          <a:p>
            <a:pPr algn="l" indent="0" marL="0">
              <a:buNone/>
            </a:pPr>
            <a:r>
              <a:rPr lang="ja-JP" altLang="en-US" sz="3200" dirty="0">
                <a:solidFill>
                  <a:srgbClr val="262626"/>
                </a:solidFill>
                <a:latin typeface="メイリオ" pitchFamily="34" charset="0"/>
                <a:ea typeface="メイリオ" pitchFamily="34" charset="-122"/>
                <a:cs typeface="メイリオ" pitchFamily="34" charset="-120"/>
              </a:rPr>
              <a:t>•</a:t>
            </a:r>
            <a:endParaRPr lang="ja-JP" sz="3200" dirty="0"/>
          </a:p>
        </p:txBody>
      </p:sp>
      <p:sp>
        <p:nvSpPr>
          <p:cNvPr id="12" name="Text 10"/>
          <p:cNvSpPr txBox="1"/>
          <p:nvPr/>
        </p:nvSpPr>
        <p:spPr>
          <a:xfrm>
            <a:off x="1005840" y="1760220"/>
            <a:ext cx="10680192" cy="612648"/>
          </a:xfrm>
          <a:prstGeom prst="rect">
            <a:avLst/>
          </a:prstGeom>
          <a:noFill/>
          <a:ln/>
        </p:spPr>
        <p:txBody>
          <a:bodyPr wrap="square" lIns="0" tIns="0" rIns="0" bIns="0" rtlCol="0" anchor="t"/>
          <a:lstStyle/>
          <a:p>
            <a:pPr algn="l" indent="0" marL="0">
              <a:buNone/>
            </a:pPr>
            <a:r>
              <a:rPr lang="ja-JP" altLang="en-US" sz="3200" dirty="0">
                <a:solidFill>
                  <a:srgbClr val="262626"/>
                </a:solidFill>
                <a:latin typeface="メイリオ" pitchFamily="34" charset="0"/>
                <a:ea typeface="メイリオ" pitchFamily="34" charset="-122"/>
                <a:cs typeface="メイリオ" pitchFamily="34" charset="-120"/>
              </a:rPr>
              <a:t>一拍ごとの血圧と波形が要るときに入れる</a:t>
            </a:r>
            <a:endParaRPr lang="ja-JP" sz="3200" dirty="0"/>
          </a:p>
        </p:txBody>
      </p:sp>
      <p:sp>
        <p:nvSpPr>
          <p:cNvPr id="13" name="Text 11"/>
          <p:cNvSpPr txBox="1"/>
          <p:nvPr/>
        </p:nvSpPr>
        <p:spPr>
          <a:xfrm>
            <a:off x="502920" y="2647188"/>
            <a:ext cx="502920" cy="612648"/>
          </a:xfrm>
          <a:prstGeom prst="rect">
            <a:avLst/>
          </a:prstGeom>
          <a:noFill/>
          <a:ln/>
        </p:spPr>
        <p:txBody>
          <a:bodyPr wrap="square" lIns="0" tIns="0" rIns="0" bIns="0" rtlCol="0" anchor="t"/>
          <a:lstStyle/>
          <a:p>
            <a:pPr algn="l" indent="0" marL="0">
              <a:buNone/>
            </a:pPr>
            <a:r>
              <a:rPr lang="ja-JP" altLang="en-US" sz="3200" dirty="0">
                <a:solidFill>
                  <a:srgbClr val="262626"/>
                </a:solidFill>
                <a:latin typeface="メイリオ" pitchFamily="34" charset="0"/>
                <a:ea typeface="メイリオ" pitchFamily="34" charset="-122"/>
                <a:cs typeface="メイリオ" pitchFamily="34" charset="-120"/>
              </a:rPr>
              <a:t>•</a:t>
            </a:r>
            <a:endParaRPr lang="ja-JP" sz="3200" dirty="0"/>
          </a:p>
        </p:txBody>
      </p:sp>
      <p:sp>
        <p:nvSpPr>
          <p:cNvPr id="14" name="Text 12"/>
          <p:cNvSpPr txBox="1"/>
          <p:nvPr/>
        </p:nvSpPr>
        <p:spPr>
          <a:xfrm>
            <a:off x="1005840" y="2647188"/>
            <a:ext cx="10680192" cy="612648"/>
          </a:xfrm>
          <a:prstGeom prst="rect">
            <a:avLst/>
          </a:prstGeom>
          <a:noFill/>
          <a:ln/>
        </p:spPr>
        <p:txBody>
          <a:bodyPr wrap="square" lIns="0" tIns="0" rIns="0" bIns="0" rtlCol="0" anchor="t"/>
          <a:lstStyle/>
          <a:p>
            <a:pPr algn="l" indent="0" marL="0">
              <a:buNone/>
            </a:pPr>
            <a:r>
              <a:rPr lang="ja-JP" altLang="en-US" sz="3200" dirty="0">
                <a:solidFill>
                  <a:srgbClr val="262626"/>
                </a:solidFill>
                <a:latin typeface="メイリオ" pitchFamily="34" charset="0"/>
                <a:ea typeface="メイリオ" pitchFamily="34" charset="-122"/>
                <a:cs typeface="メイリオ" pitchFamily="34" charset="-120"/>
              </a:rPr>
              <a:t>ゼロ点は</a:t>
            </a:r>
            <a:r>
              <a:rPr lang="ja-JP" altLang="en-US" sz="3200" b="1" dirty="0">
                <a:solidFill>
                  <a:srgbClr val="00A8AA"/>
                </a:solidFill>
                <a:latin typeface="メイリオ" pitchFamily="34" charset="0"/>
                <a:ea typeface="メイリオ" pitchFamily="34" charset="-122"/>
                <a:cs typeface="メイリオ" pitchFamily="34" charset="-120"/>
              </a:rPr>
              <a:t>大気開放</a:t>
            </a:r>
            <a:r>
              <a:rPr lang="ja-JP" altLang="en-US" sz="3200" dirty="0">
                <a:solidFill>
                  <a:srgbClr val="262626"/>
                </a:solidFill>
                <a:latin typeface="メイリオ" pitchFamily="34" charset="0"/>
                <a:ea typeface="メイリオ" pitchFamily="34" charset="-122"/>
                <a:cs typeface="メイリオ" pitchFamily="34" charset="-120"/>
              </a:rPr>
              <a:t>、高さは</a:t>
            </a:r>
            <a:r>
              <a:rPr lang="ja-JP" altLang="en-US" sz="3200" b="1" dirty="0">
                <a:solidFill>
                  <a:srgbClr val="00A8AA"/>
                </a:solidFill>
                <a:latin typeface="メイリオ" pitchFamily="34" charset="0"/>
                <a:ea typeface="メイリオ" pitchFamily="34" charset="-122"/>
                <a:cs typeface="メイリオ" pitchFamily="34" charset="-120"/>
              </a:rPr>
              <a:t>右房</a:t>
            </a:r>
            <a:r>
              <a:rPr lang="ja-JP" altLang="en-US" sz="3200" dirty="0">
                <a:solidFill>
                  <a:srgbClr val="262626"/>
                </a:solidFill>
                <a:latin typeface="メイリオ" pitchFamily="34" charset="0"/>
                <a:ea typeface="メイリオ" pitchFamily="34" charset="-122"/>
                <a:cs typeface="メイリオ" pitchFamily="34" charset="-120"/>
              </a:rPr>
              <a:t>に合わせる</a:t>
            </a:r>
            <a:endParaRPr lang="ja-JP" sz="3200" dirty="0"/>
          </a:p>
        </p:txBody>
      </p:sp>
      <p:sp>
        <p:nvSpPr>
          <p:cNvPr id="15" name="Text 13"/>
          <p:cNvSpPr txBox="1"/>
          <p:nvPr/>
        </p:nvSpPr>
        <p:spPr>
          <a:xfrm>
            <a:off x="502920" y="3534156"/>
            <a:ext cx="502920" cy="612648"/>
          </a:xfrm>
          <a:prstGeom prst="rect">
            <a:avLst/>
          </a:prstGeom>
          <a:noFill/>
          <a:ln/>
        </p:spPr>
        <p:txBody>
          <a:bodyPr wrap="square" lIns="0" tIns="0" rIns="0" bIns="0" rtlCol="0" anchor="t"/>
          <a:lstStyle/>
          <a:p>
            <a:pPr algn="l" indent="0" marL="0">
              <a:buNone/>
            </a:pPr>
            <a:r>
              <a:rPr lang="ja-JP" altLang="en-US" sz="3200" dirty="0">
                <a:solidFill>
                  <a:srgbClr val="262626"/>
                </a:solidFill>
                <a:latin typeface="メイリオ" pitchFamily="34" charset="0"/>
                <a:ea typeface="メイリオ" pitchFamily="34" charset="-122"/>
                <a:cs typeface="メイリオ" pitchFamily="34" charset="-120"/>
              </a:rPr>
              <a:t>•</a:t>
            </a:r>
            <a:endParaRPr lang="ja-JP" sz="3200" dirty="0"/>
          </a:p>
        </p:txBody>
      </p:sp>
      <p:sp>
        <p:nvSpPr>
          <p:cNvPr id="16" name="Text 14"/>
          <p:cNvSpPr txBox="1"/>
          <p:nvPr/>
        </p:nvSpPr>
        <p:spPr>
          <a:xfrm>
            <a:off x="1005840" y="3534156"/>
            <a:ext cx="10680192" cy="612648"/>
          </a:xfrm>
          <a:prstGeom prst="rect">
            <a:avLst/>
          </a:prstGeom>
          <a:noFill/>
          <a:ln/>
        </p:spPr>
        <p:txBody>
          <a:bodyPr wrap="square" lIns="0" tIns="0" rIns="0" bIns="0" rtlCol="0" anchor="t"/>
          <a:lstStyle/>
          <a:p>
            <a:pPr algn="l" indent="0" marL="0">
              <a:buNone/>
            </a:pPr>
            <a:r>
              <a:rPr lang="ja-JP" altLang="en-US" sz="3200" dirty="0">
                <a:solidFill>
                  <a:srgbClr val="262626"/>
                </a:solidFill>
                <a:latin typeface="メイリオ" pitchFamily="34" charset="0"/>
                <a:ea typeface="メイリオ" pitchFamily="34" charset="-122"/>
                <a:cs typeface="メイリオ" pitchFamily="34" charset="-120"/>
              </a:rPr>
              <a:t>管理は</a:t>
            </a:r>
            <a:r>
              <a:rPr lang="ja-JP" altLang="en-US" sz="3200" b="1" dirty="0">
                <a:solidFill>
                  <a:srgbClr val="00A8AA"/>
                </a:solidFill>
                <a:latin typeface="メイリオ" pitchFamily="34" charset="0"/>
                <a:ea typeface="メイリオ" pitchFamily="34" charset="-122"/>
                <a:cs typeface="メイリオ" pitchFamily="34" charset="-120"/>
              </a:rPr>
              <a:t>平均血圧</a:t>
            </a:r>
            <a:r>
              <a:rPr lang="ja-JP" altLang="en-US" sz="3200" dirty="0">
                <a:solidFill>
                  <a:srgbClr val="262626"/>
                </a:solidFill>
                <a:latin typeface="メイリオ" pitchFamily="34" charset="0"/>
                <a:ea typeface="メイリオ" pitchFamily="34" charset="-122"/>
                <a:cs typeface="メイリオ" pitchFamily="34" charset="-120"/>
              </a:rPr>
              <a:t>で。末梢ほど収縮期は高く出る</a:t>
            </a:r>
            <a:endParaRPr lang="ja-JP" sz="3200" dirty="0"/>
          </a:p>
        </p:txBody>
      </p:sp>
      <p:sp>
        <p:nvSpPr>
          <p:cNvPr id="17" name="Text 15"/>
          <p:cNvSpPr txBox="1"/>
          <p:nvPr/>
        </p:nvSpPr>
        <p:spPr>
          <a:xfrm>
            <a:off x="502920" y="4421124"/>
            <a:ext cx="502920" cy="612648"/>
          </a:xfrm>
          <a:prstGeom prst="rect">
            <a:avLst/>
          </a:prstGeom>
          <a:noFill/>
          <a:ln/>
        </p:spPr>
        <p:txBody>
          <a:bodyPr wrap="square" lIns="0" tIns="0" rIns="0" bIns="0" rtlCol="0" anchor="t"/>
          <a:lstStyle/>
          <a:p>
            <a:pPr algn="l" indent="0" marL="0">
              <a:buNone/>
            </a:pPr>
            <a:r>
              <a:rPr lang="ja-JP" altLang="en-US" sz="3200" dirty="0">
                <a:solidFill>
                  <a:srgbClr val="262626"/>
                </a:solidFill>
                <a:latin typeface="メイリオ" pitchFamily="34" charset="0"/>
                <a:ea typeface="メイリオ" pitchFamily="34" charset="-122"/>
                <a:cs typeface="メイリオ" pitchFamily="34" charset="-120"/>
              </a:rPr>
              <a:t>•</a:t>
            </a:r>
            <a:endParaRPr lang="ja-JP" sz="3200" dirty="0"/>
          </a:p>
        </p:txBody>
      </p:sp>
      <p:sp>
        <p:nvSpPr>
          <p:cNvPr id="18" name="Text 16"/>
          <p:cNvSpPr txBox="1"/>
          <p:nvPr/>
        </p:nvSpPr>
        <p:spPr>
          <a:xfrm>
            <a:off x="1005840" y="4421124"/>
            <a:ext cx="10680192" cy="612648"/>
          </a:xfrm>
          <a:prstGeom prst="rect">
            <a:avLst/>
          </a:prstGeom>
          <a:noFill/>
          <a:ln/>
        </p:spPr>
        <p:txBody>
          <a:bodyPr wrap="square" lIns="0" tIns="0" rIns="0" bIns="0" rtlCol="0" anchor="t"/>
          <a:lstStyle/>
          <a:p>
            <a:pPr algn="l" indent="0" marL="0">
              <a:buNone/>
            </a:pPr>
            <a:r>
              <a:rPr lang="ja-JP" altLang="en-US" sz="3200" b="1" dirty="0">
                <a:solidFill>
                  <a:srgbClr val="00A8AA"/>
                </a:solidFill>
                <a:latin typeface="メイリオ" pitchFamily="34" charset="0"/>
                <a:ea typeface="メイリオ" pitchFamily="34" charset="-122"/>
                <a:cs typeface="メイリオ" pitchFamily="34" charset="-120"/>
              </a:rPr>
              <a:t>フラッシュ試験</a:t>
            </a:r>
            <a:r>
              <a:rPr lang="ja-JP" altLang="en-US" sz="3200" dirty="0">
                <a:solidFill>
                  <a:srgbClr val="262626"/>
                </a:solidFill>
                <a:latin typeface="メイリオ" pitchFamily="34" charset="0"/>
                <a:ea typeface="メイリオ" pitchFamily="34" charset="-122"/>
                <a:cs typeface="メイリオ" pitchFamily="34" charset="-120"/>
              </a:rPr>
              <a:t>で減衰を確認する</a:t>
            </a:r>
            <a:endParaRPr lang="ja-JP" sz="3200" dirty="0"/>
          </a:p>
        </p:txBody>
      </p:sp>
      <p:sp>
        <p:nvSpPr>
          <p:cNvPr id="19" name="Text 17"/>
          <p:cNvSpPr txBox="1"/>
          <p:nvPr/>
        </p:nvSpPr>
        <p:spPr>
          <a:xfrm>
            <a:off x="502920" y="5308092"/>
            <a:ext cx="502920" cy="612648"/>
          </a:xfrm>
          <a:prstGeom prst="rect">
            <a:avLst/>
          </a:prstGeom>
          <a:noFill/>
          <a:ln/>
        </p:spPr>
        <p:txBody>
          <a:bodyPr wrap="square" lIns="0" tIns="0" rIns="0" bIns="0" rtlCol="0" anchor="t"/>
          <a:lstStyle/>
          <a:p>
            <a:pPr algn="l" indent="0" marL="0">
              <a:buNone/>
            </a:pPr>
            <a:r>
              <a:rPr lang="ja-JP" altLang="en-US" sz="3200" dirty="0">
                <a:solidFill>
                  <a:srgbClr val="262626"/>
                </a:solidFill>
                <a:latin typeface="メイリオ" pitchFamily="34" charset="0"/>
                <a:ea typeface="メイリオ" pitchFamily="34" charset="-122"/>
                <a:cs typeface="メイリオ" pitchFamily="34" charset="-120"/>
              </a:rPr>
              <a:t>•</a:t>
            </a:r>
            <a:endParaRPr lang="ja-JP" sz="3200" dirty="0"/>
          </a:p>
        </p:txBody>
      </p:sp>
      <p:sp>
        <p:nvSpPr>
          <p:cNvPr id="20" name="Text 18"/>
          <p:cNvSpPr txBox="1"/>
          <p:nvPr/>
        </p:nvSpPr>
        <p:spPr>
          <a:xfrm>
            <a:off x="1005840" y="5308092"/>
            <a:ext cx="10680192" cy="612648"/>
          </a:xfrm>
          <a:prstGeom prst="rect">
            <a:avLst/>
          </a:prstGeom>
          <a:noFill/>
          <a:ln/>
        </p:spPr>
        <p:txBody>
          <a:bodyPr wrap="square" lIns="0" tIns="0" rIns="0" bIns="0" rtlCol="0" anchor="t"/>
          <a:lstStyle/>
          <a:p>
            <a:pPr algn="l" indent="0" marL="0">
              <a:buNone/>
            </a:pPr>
            <a:r>
              <a:rPr lang="ja-JP" altLang="en-US" sz="3200" b="1" dirty="0">
                <a:solidFill>
                  <a:srgbClr val="C00000"/>
                </a:solidFill>
                <a:latin typeface="メイリオ" pitchFamily="34" charset="0"/>
                <a:ea typeface="メイリオ" pitchFamily="34" charset="-122"/>
                <a:cs typeface="メイリオ" pitchFamily="34" charset="-120"/>
              </a:rPr>
              <a:t>薬を入れない、離断させない、指を見る</a:t>
            </a:r>
            <a:endParaRPr lang="ja-JP"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2-7 観血的動脈圧</dc:title>
  <dc:subject/>
  <dc:creator>Anes-lecture</dc:creator>
  <cp:lastModifiedBy>Anes-lecture</cp:lastModifiedBy>
  <cp:revision>1</cp:revision>
  <dcterms:created xsi:type="dcterms:W3CDTF">2026-10-13T18:28:37Z</dcterms:created>
  <dcterms:modified xsi:type="dcterms:W3CDTF">2026-10-13T18:28:37Z</dcterms:modified>
</cp:coreProperties>
</file>