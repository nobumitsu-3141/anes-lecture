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術後に呼吸が戻らない、目が覚めない、というときに使う 2 つの拮抗薬、ナロキソン（オピオイド）とフルマゼニル（ベンゾジアゼピン）を扱う。どちらも「少量ずつ」「反応を見て」「作動薬より先に切れる」が共通の注意点で、使う前に換気の確保と原因の見積もりが要る。</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まず換気: 呼吸抑制があるなら、拮抗薬を取りに行く前に、気道を開け、酸素を投与し、必要ならバッグマスクで換気する。拮抗薬が効くまでの数分を埋めるのは換気である。</a:t>
            </a:r>
          </a:p>
          <a:p>
            <a:r>
              <a:rPr lang="ja-JP" altLang="en-US" dirty="0"/>
              <a:t>原因を見積もる: 覚醒遅延や呼吸抑制の原因はオピオイドやベンゾジアゼピンだけではない。残存筋弛緩、低体温、高二酸化炭素血症、低血糖、低ナトリウム血症、脳卒中などを並べて考える（→ 5-3）。拮抗薬で「診断」をしようとすると、効かないときに次の手が遅れる。</a:t>
            </a:r>
          </a:p>
          <a:p>
            <a:r>
              <a:rPr lang="ja-JP" altLang="en-US" dirty="0"/>
              <a:t>少量ずつ: 一度に全量入れると、オピオイドなら激しい痛みと交感神経の興奮、ベンゾジアゼピンなら痙攣や離脱症状を起こす。目的は「呼吸が戻る」ことで、「完全に覚ます」ことではない。</a:t>
            </a:r>
          </a:p>
          <a:p>
            <a:r>
              <a:rPr lang="ja-JP" altLang="en-US" dirty="0"/>
              <a:t>観察: 拮抗薬の作用時間は作動薬より短いことが多く、切れたあとに呼吸抑制や鎮静が戻る。投与後は作動薬の作用が切れるまで観察し、必要なら繰り返す。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用量: 添付文書（6. 用法及び用量）では、通常成人 1 回 0.2 mg を静脈内注射し、効果不十分なら 2〜3 分間隔で 0.2 mg を 1〜2 回追加投与する。患者の状態に応じて適宜増減する【要確認: PMDA 電子添文「ナロキソン塩酸塩静注 0.2mg」6. 用法及び用量の原文と一字一句照合】。効能は麻薬による呼吸抑制と覚醒遅延の改善（4. 効能又は効果）【要確認: 同 4. 効能又は効果の原文。記憶では「麻薬による呼吸抑制ならびに覚醒遅延の改善」】。</a:t>
            </a:r>
          </a:p>
          <a:p>
            <a:r>
              <a:rPr lang="ja-JP" altLang="en-US" dirty="0"/>
              <a:t>禁忌: バルビツール系薬剤などの非麻薬性中枢神経抑制薬や、病的原因による呼吸抑制には効かず、添付文書で禁忌とされている【要確認: 同 2. 禁忌の原文。記憶では「バルビツール系薬剤等の非麻薬性中枢神経抑制剤又は病的原因による呼吸抑制のある患者」】。S4 の「原因が別ならナロキソンは効かない」と同じ考え方である。</a:t>
            </a:r>
          </a:p>
          <a:p>
            <a:r>
              <a:rPr lang="ja-JP" altLang="en-US" dirty="0"/>
              <a:t>実際の使い方（添付文書外。文献上の方法）: 術後の患者では、0.2 mg を一度に入れると鎮痛まで消えて激しい痛みと交感神経の興奮が出る。1 A（0.2 mg）を生理食塩液で 10 mL に希釈し（0.02 mg/mL）、0.04 mg（2 mL）ずつ、1〜2 分おきに呼吸数と反応を見ながら追加する。術後の呼吸抑制には 0.04〜0.08 mg の少量が古くから使われている（Saari 2024 の総説。Patschke 1978 は 40 µg ずつ 1〜2 分間隔で滴定した）。国内ガイドラインに同じ記載があるかは【要確認: 日本麻酔科学会「麻酔薬および麻酔関連薬使用ガイドライン 第4版」Ⅱ のナロキソンの項】。</a:t>
            </a:r>
          </a:p>
          <a:p>
            <a:r>
              <a:rPr lang="ja-JP" altLang="en-US" dirty="0"/>
              <a:t>特徴: μ受容体を中心にオピオイド受容体を競合的に遮断する。静注後 1〜2 分で効き始める（教科書値。1 mg 静注で 3 分以内に完全に拮抗したという報告がある）。作用は 30〜45 分程度（教科書値）だが、量と作動薬で大きく変わり、1 mg 静注で 15 分しか持たなかった報告（Barsan 1989）から約 2 時間の報告（Saari 2024）まである。血清半減期は約 1 時間（Ngai 1976 で 64 分）。フェンタニルやモルヒネの作用はこれより長く残ることがあり、そのときは再び呼吸抑制が出る。添付文書も、麻薬の作用は本剤より長く続くことがあるため、投与後も患者の監視を続け、必要なら追加投与するよう注意している（趣旨）【要確認: 同 8. 重要な基本的注意の記載項目と原文】。</a:t>
            </a:r>
          </a:p>
          <a:p>
            <a:r>
              <a:rPr lang="ja-JP" altLang="en-US" dirty="0"/>
              <a:t>注意: 急な拮抗で痛み、高血圧、頻脈、不整脈、肺水腫の報告がある。肺水腫はまれで、機序は確立していない。カテコラミンの急増（交感神経性）や、上気道閉塞・喉頭痙攣のもとでの努力吸気による陰圧が推定されており、輸液過多が背景にある例も多い。術後例では総量 0.2 mg（中央値）という少量でも報告があり（Joseph 2024）、添付文書の 1 回量でも起こりうる。これも少量ずつ入れる理由である。慢性のオピオイド使用者（がん疼痛、依存）では離脱症状を起こすので、特に少量から（0.04 mg からの滴定を勧める総説〔Kim &amp; Nelson 2015〕は、オピオイド依存患者を想定している）。</a:t>
            </a:r>
          </a:p>
          <a:p>
            <a:r>
              <a:rPr lang="ja-JP" altLang="en-US" dirty="0"/>
              <a:t>部分作動薬: ブプレノルフィンによる呼吸抑制は、通常量のナロキソンでは拮抗されにくい。健康成人の研究では 0.8 mg のボーラスは無効で、2〜4 mg と持続投与が必要だった（van Dorp 2006）。効きが悪ければ換気で支え、上級医を呼ぶ。</a:t>
            </a:r>
          </a:p>
          <a:p>
            <a:r>
              <a:rPr lang="ja-JP" altLang="en-US" dirty="0"/>
              <a:t>参考: Joseph M, et al. Clin Toxicol (Phila) 2024;62:334-342 / van Dorp E, et al. Anesthesiology 2006;105:51-7 / Kim HK, et al. Expert Opin Drug Saf 2015;14:1137-46 / Patschke D. Prakt Anaesth 1978;13:127-34 / Barsan WG, et al. Am J Emerg Med 1989;7:155-61 / Ngai SH, et al. Anesthesiology 1976;44:398-401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使う: 呼吸数が少なく、刺激しても増えない、SpO2 が下がって換気を補助している。このときは少量ずつ入れて呼吸数が戻るところで止める。鎮痛は残す。</a:t>
            </a:r>
          </a:p>
          <a:p>
            <a:r>
              <a:rPr lang="ja-JP" altLang="en-US" dirty="0"/>
              <a:t>閾値: 呼吸数の閾値に統一された基準はない（ASA 2016 の指針は、閾値を決めるにはエビデンスが不十分としている。研究ごとの定義は 6 回/分から 14 回/分未満まで幅がある）。8〜10 回/分未満は目安の一つで、施設の基準に従う。呼吸数が保たれていても、鎮静が深かったり CO2 がたまっていたりすることがあり、鎮静度の悪化（呼びかけないと眠ってしまう）が呼吸数の低下に先行しうる。酸素投与中は SpO2 が低換気を遅れてしか示さないので、鎮静度と、可能なら EtCO2（カプノグラフィ）も見る。</a:t>
            </a:r>
          </a:p>
          <a:p>
            <a:r>
              <a:rPr lang="ja-JP" altLang="en-US" dirty="0"/>
              <a:t>使わない・待つ: 呼びかけや刺激で呼吸が戻る程度なら、刺激を続けて観察する。術後の痛みが強い患者で鎮痛を全部消すと、痛みで動けず、循環も不安定になる。原因が別にある（残存筋弛緩、高 CO2、低体温）ならナロキソンは効かない。</a:t>
            </a:r>
          </a:p>
          <a:p>
            <a:r>
              <a:rPr lang="ja-JP" altLang="en-US" dirty="0"/>
              <a:t>投与後: 最終投与から 30 分以降、作動薬がまだ効いていれば呼吸抑制が戻りうる。最終投与から少なくとも 1〜2 時間（施設の目安。固定の根拠はない）は、呼吸数・鎮静度・SpO2 を観察する。作用の長い麻薬（モルヒネの持続投与、くも膜下・硬膜外モルヒネ、貼付剤）では、作動薬の作用が切れるまでさらに長く観察する。ボーラスを繰り返しても再抑制するなら持続投与を考えるが、これは上級医と相談し、ICU・HCU レベルの監視下で行う。病棟に戻す前に、看護師に「ナロキソンを使った」と伝える。</a:t>
            </a:r>
          </a:p>
          <a:p>
            <a:r>
              <a:rPr lang="ja-JP" altLang="en-US" dirty="0"/>
              <a:t>モルヒネの硬膜外・くも膜下投与: 遅れて（多くは 6〜12 時間後）呼吸抑制が出ることがあり、ナロキソンの効果が切れたあとの観察がより重要になる。ASA 2016 の指針は、投与後 24 時間の監視を求めている（最初の 12 時間は 1 時間ごと、続く 12 時間は 2 時間ごと）（→ 5 章）。</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用量: 添付文書（6. 用法及び用量）では、初回 0.2 mg を緩徐に静脈内投与し、投与後 4 分以内に望まれる覚醒状態が得られなければ 0.1 mg を追加、以後必要に応じて 1 分間隔で 0.1 mg ずつ、総投与量 1 mg まで（ICU 領域では 2 mg まで）投与を繰り返す。ただし、ベンゾジアゼピン系薬剤の投与状況及び患者の状態により適宜増減する【要確認: PMDA 電子添文「アネキセート注射液 0.5mg」6. 用法及び用量の原文と一字一句照合】。</a:t>
            </a:r>
          </a:p>
          <a:p>
            <a:r>
              <a:rPr lang="ja-JP" altLang="en-US" dirty="0"/>
              <a:t>臨床判断（添付文書の記載ではない）: 術後の鎮静で総量 1 mg まで投与しても意識と呼吸が改善しなければ、ベンゾジアゼピン以外の原因（オピオイド、残存筋弛緩、高 CO2、低血糖、低体温など）を探す（→ 5-3）。ただし、大量服薬では 1 mg を超えて反応する例もある（Spivey 1993）。</a:t>
            </a:r>
          </a:p>
          <a:p>
            <a:r>
              <a:rPr lang="ja-JP" altLang="en-US" dirty="0"/>
              <a:t>特徴: GABA_A 受容体のベンゾジアゼピン結合部位の競合的拮抗薬。静注後 1〜2 分で効き始めるが、効果の頂点は 6〜10 分とされる（Zhou 2026 の総説）。添付文書が初回後に 4 分待つのはこのためで、短い間隔で重ねると入れすぎになりやすい。消失半減期は約 50 分〜1 時間（海外の健康成人では 0.9〜1.0 時間〔Roncari 1993〕、0.7〜1.3 時間〔Klotz 1988〕）【要確認: 同 16. 薬物動態の消失半減期の値（約 50 分か）】。作用の持続は通常 30〜60 分（教科書値）で、フルマゼニルの量と、ベンゾジアゼピンの種類・量で変わる。ミダゾラムを長時間・大量に使ったあとでは、フルマゼニルが先に切れて 1〜2 時間以内に再鎮静が起こりうる（Hoffman 1993）。</a:t>
            </a:r>
          </a:p>
          <a:p>
            <a:r>
              <a:rPr lang="ja-JP" altLang="en-US" dirty="0"/>
              <a:t>禁忌: 本剤およびベンゾジアゼピン系薬剤に過敏症の既往がある患者と、長期間ベンゾジアゼピン系薬剤を投与されているてんかん患者（痙攣が誘発されるおそれ）【要確認: 同 2. 禁忌の原文（両査読者の記憶による）】。</a:t>
            </a:r>
          </a:p>
          <a:p>
            <a:r>
              <a:rPr lang="ja-JP" altLang="en-US" dirty="0"/>
              <a:t>注意: ベンゾジアゼピンを長期・高用量で使っている患者では急速静注で離脱症状や痙攣が出るので緩徐に投与する。三環系抗うつ薬の中毒や、痙攣をベンゾジアゼピンで抑えている患者では痙攣を誘発しうる。</a:t>
            </a:r>
          </a:p>
          <a:p>
            <a:r>
              <a:rPr lang="ja-JP" altLang="en-US" dirty="0"/>
              <a:t>参考: Zhou Y, et al. Front Med (Lausanne) 2026;13:1793528 / Roncari G, et al. Eur J Clin Pharmacol 1993;45:585-7 / Hoffman EJ, et al. Clin Pharm 1993;12:641-56 / Spivey WH, et al. Ann Emerg Med 1993;22:1813-21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レミマゾラム（→ 3-2）はベンゾジアゼピン系の全身麻酔薬で、主に肝臓のカルボキシルエステラーゼ 1（CES1）で加水分解され、不活性代謝物（CNS7054）になる。ヒトでは血漿中で分解されない（非特異的エステラーゼで分解されるレミフェンタニルとは経路が違う）。持続投与後も比較的速く消失する。ベンゾジアゼピン結合部位に作用するため、フルマゼニルで拮抗できる【要確認: PMDA 電子添文「アネレム静注用 50mg」8. 重要な基本的注意・13. 過量投与にフルマゼニルの記載があるか。あれば項目名と原文を引用し、sources に戻す】。</a:t>
            </a:r>
          </a:p>
          <a:p>
            <a:r>
              <a:rPr lang="ja-JP" altLang="en-US" dirty="0"/>
              <a:t>再鎮静: フルマゼニルで拮抗したあとの再鎮静は、研究によって 0〜22% と幅がある（定義と手技時間で大きく違う）。30 分未満の鎮静では 5% 以下だが、2〜3 時間の TIVA で行う心房細動アブレーションでは 22%。プロポフォールとのメタ解析では 9.03% 対 2.38%（RR 4.15）。総説が挙げる危険因子（モデルからの推定）は、60 分を超える投与、累積投与量が多い、75 歳超、肝障害、0.5 mg を超えるフルマゼニルの一括投与（Zhou 2026）。フルマゼニルを大きなボーラスで入れるほど再鎮静の危険が高いので（Masui 2023）、ここでも少量ずつ入れる。国内でも拮抗後の再入眠が報告されている（Yamamoto 2021）。</a:t>
            </a:r>
          </a:p>
          <a:p>
            <a:r>
              <a:rPr lang="ja-JP" altLang="en-US" dirty="0"/>
              <a:t>観察: 拮抗したら、少なくとも 1 時間は回復室で観察する（薬物動態のシミュレーションでは、再鎮静の危険が高いのはフルマゼニル投与後 20〜60 分）。再鎮静はフルマゼニル投与の 13 分後から 6 時間 35 分後まで報告があり、病棟で 6 時間後に起きた例もある（Lee 2024）。長時間・大量投与、75 歳超、肝障害、フルマゼニルを一度に多く入れた例では観察を延ばし、再鎮静がありうることを病棟に申し送る。</a:t>
            </a:r>
          </a:p>
          <a:p>
            <a:r>
              <a:rPr lang="ja-JP" altLang="en-US" dirty="0"/>
              <a:t>使いどころ: 全例にルーチンで拮抗するものではない。覚醒が遅い、呼吸が戻らない、という問題があるときに、他の原因を考えたうえで使う。拮抗した患者は「自力で覚めた」患者とは違うので、退室の判断（→ 5-2）で区別する。</a:t>
            </a:r>
          </a:p>
          <a:p>
            <a:r>
              <a:rPr lang="ja-JP" altLang="en-US" dirty="0"/>
              <a:t>参考: Schmalix W, et al. Curr Drug Metab 2024;25:164-173 / Lee SJ, et al. Anesth Pain Med (Seoul) 2024;19:320-325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再抑制: 最も重要な落とし穴。ナロキソンもフルマゼニルも作動薬より先に切れる。拮抗して覚めた患者を観察なしで病棟に戻すと、1 時間後に呼吸抑制や鎮静が戻る。</a:t>
            </a:r>
          </a:p>
          <a:p>
            <a:r>
              <a:rPr lang="ja-JP" altLang="en-US" dirty="0"/>
              <a:t>一気に入れる: ナロキソンの全量投与で痛みと交感神経興奮、肺水腫（術後は総量 0.2 mg 程度の少量でも報告がある: Joseph 2024）。フルマゼニルの急速投与で離脱症状と痙攣。</a:t>
            </a:r>
          </a:p>
          <a:p>
            <a:r>
              <a:rPr lang="ja-JP" altLang="en-US" dirty="0"/>
              <a:t>拮抗薬で診断する: 「効かない＝薬のせいではない」と考えて、残存筋弛緩、高 CO2、低血糖、低体温、脳卒中を探す（→ 5-3）。例外として、ブプレノルフィン（部分作動薬）による呼吸抑制は通常量のナロキソンでは拮抗されにくい（van Dorp 2006）。この場合も換気で支えて上級医を呼ぶ。</a:t>
            </a:r>
          </a:p>
          <a:p>
            <a:r>
              <a:rPr lang="ja-JP" altLang="en-US" dirty="0"/>
              <a:t>両方: オピオイドとベンゾジアゼピンを併用した鎮静では、どちらか一方の拮抗で十分でないことがある。呼吸抑制が主ならナロキソン、鎮静が主ならフルマゼニルから。</a:t>
            </a:r>
          </a:p>
          <a:p>
            <a:r>
              <a:rPr lang="ja-JP" altLang="en-US" dirty="0"/>
              <a:t>申し送り: 拮抗薬を使ったこと、時刻、量、観察の目安を看護師と主治医に伝える。</a:t>
            </a:r>
          </a:p>
          <a:p>
            <a:r>
              <a:rPr lang="ja-JP" altLang="en-US" dirty="0"/>
              <a:t>参考: van Dorp E, et al. Anesthesiology 2006;105:51-7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(1) 気道と換気。拮抗薬が効くまでの時間を換気で埋める。(2) 原因を並べる。筋弛緩モニター、EtCO2、体温、血糖を見る。(3) 薬が原因らしければ拮抗薬を少量ずつ。添付文書の間隔は、ナロキソンが 2〜3 分おきに 0.2 mg、フルマゼニルが初回 0.2 mg のあと 4 分待ち、以後 1 分おきに 0.1 mg（原文の照合は S3・S5 の要確認の項を参照）。術後に希釈したナロキソンを 0.04 mg（希釈液 2 mL）ずつ、1〜2 分おきに入れるのは添付文書にない方法（文献上の方法。S3 参照）。フルマゼニルは添付文書どおり、初回 0.2 mg、以後 0.1 mg ずつ。フルマゼニルは効果の頂点まで 6〜10 分かかるとされ、続けて足すと入れすぎになりやすい。(4) 1〜2 分ごとに呼吸数、鎮静度、SpO2（可能なら EtCO2）、反応を再評価し、目標（呼吸が戻る）に達したら止める。(5) 作動薬が切れるまで観察し、使ったことを申し送る。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分）。2 つの拮抗薬の用量と、共通する 3 つの原則（換気が先、少量ずつ、先に切れる）。ナロキソンの添付文書の用量は、1 回 0.2 mg 静注、効果不十分なら 2〜3 分間隔で 0.2 mg を 1〜2 回追加、患者の状態に応じて適宜増減。術後は 1 A を 10 mL に希釈し、0.04 mg（2 mL）程度から呼吸数を見て滴定する方法が使われるが、添付文書に書かれた方法ではない（0.04 mg からの滴定を勧める総説〔Kim &amp; Nelson 2015〕は、オピオイド依存患者を想定したもの）。フルマゼニルは添付文書どおり（ICU 領域では総量 2 mg まで）。拮抗薬は便利だが、使った患者は「自力で覚めた患者」ではない。次は 5-3（覚醒遅延の鑑別）と合わせて復習する。</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オピオイドとベンゾジアゼピンの拮抗</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3-7 麻酔薬理</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拮抗薬を使う前に</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考え方</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ナロ</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キソン</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フルマ</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ゼニル</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落とし穴</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Ⅱ 鎮痛薬・拮抗薬、Ⅰ 催眠鎮静薬（2025）</a:t>
            </a:r>
            <a:endParaRPr lang="ja-JP" sz="1600" dirty="0"/>
          </a:p>
        </p:txBody>
      </p:sp>
      <p:sp>
        <p:nvSpPr>
          <p:cNvPr id="11" name="Text 9"/>
          <p:cNvSpPr/>
          <p:nvPr/>
        </p:nvSpPr>
        <p:spPr>
          <a:xfrm>
            <a:off x="502920" y="2176272"/>
            <a:ext cx="2212848" cy="1371600"/>
          </a:xfrm>
          <a:prstGeom prst="roundRect">
            <a:avLst>
              <a:gd name="adj" fmla="val 6667"/>
            </a:avLst>
          </a:prstGeom>
          <a:solidFill>
            <a:srgbClr val="F2F2F2"/>
          </a:solidFill>
          <a:ln w="25400">
            <a:solidFill>
              <a:srgbClr val="0072B2"/>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気道・</a:t>
            </a:r>
            <a:endParaRPr lang="ja-JP" sz="2800" dirty="0"/>
          </a:p>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換気を確保</a:t>
            </a:r>
            <a:endParaRPr lang="ja-JP" sz="2800" dirty="0"/>
          </a:p>
        </p:txBody>
      </p:sp>
      <p:sp>
        <p:nvSpPr>
          <p:cNvPr id="12" name="Shape 10"/>
          <p:cNvSpPr/>
          <p:nvPr/>
        </p:nvSpPr>
        <p:spPr>
          <a:xfrm>
            <a:off x="2898648" y="2862072"/>
            <a:ext cx="411480" cy="0"/>
          </a:xfrm>
          <a:prstGeom prst="line">
            <a:avLst/>
          </a:prstGeom>
          <a:noFill/>
          <a:ln w="38100">
            <a:solidFill>
              <a:srgbClr val="404040"/>
            </a:solidFill>
            <a:prstDash val="solid"/>
            <a:tailEnd type="triangle"/>
          </a:ln>
        </p:spPr>
      </p:sp>
      <p:sp>
        <p:nvSpPr>
          <p:cNvPr id="13" name="Text 11"/>
          <p:cNvSpPr/>
          <p:nvPr/>
        </p:nvSpPr>
        <p:spPr>
          <a:xfrm>
            <a:off x="3493008" y="2176272"/>
            <a:ext cx="2212848" cy="1371600"/>
          </a:xfrm>
          <a:prstGeom prst="roundRect">
            <a:avLst>
              <a:gd name="adj" fmla="val 6667"/>
            </a:avLst>
          </a:prstGeom>
          <a:solidFill>
            <a:srgbClr val="F2F2F2"/>
          </a:solidFill>
          <a:ln w="25400">
            <a:solidFill>
              <a:srgbClr val="0072B2"/>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原因を</a:t>
            </a:r>
            <a:endParaRPr lang="ja-JP" sz="2800" dirty="0"/>
          </a:p>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見積もる</a:t>
            </a:r>
            <a:endParaRPr lang="ja-JP" sz="2800" dirty="0"/>
          </a:p>
        </p:txBody>
      </p:sp>
      <p:sp>
        <p:nvSpPr>
          <p:cNvPr id="14" name="Shape 12"/>
          <p:cNvSpPr/>
          <p:nvPr/>
        </p:nvSpPr>
        <p:spPr>
          <a:xfrm>
            <a:off x="5888736" y="2862072"/>
            <a:ext cx="411480" cy="0"/>
          </a:xfrm>
          <a:prstGeom prst="line">
            <a:avLst/>
          </a:prstGeom>
          <a:noFill/>
          <a:ln w="38100">
            <a:solidFill>
              <a:srgbClr val="404040"/>
            </a:solidFill>
            <a:prstDash val="solid"/>
            <a:tailEnd type="triangle"/>
          </a:ln>
        </p:spPr>
      </p:sp>
      <p:sp>
        <p:nvSpPr>
          <p:cNvPr id="15" name="Text 13"/>
          <p:cNvSpPr/>
          <p:nvPr/>
        </p:nvSpPr>
        <p:spPr>
          <a:xfrm>
            <a:off x="6483096" y="2176272"/>
            <a:ext cx="2212848" cy="1371600"/>
          </a:xfrm>
          <a:prstGeom prst="roundRect">
            <a:avLst>
              <a:gd name="adj" fmla="val 6667"/>
            </a:avLst>
          </a:prstGeom>
          <a:solidFill>
            <a:srgbClr val="F2F2F2"/>
          </a:solidFill>
          <a:ln w="25400">
            <a:solidFill>
              <a:srgbClr val="0072B2"/>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拮抗薬は</a:t>
            </a:r>
            <a:endParaRPr lang="ja-JP" sz="2800" dirty="0"/>
          </a:p>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少量ずつ</a:t>
            </a:r>
            <a:endParaRPr lang="ja-JP" sz="2800" dirty="0"/>
          </a:p>
        </p:txBody>
      </p:sp>
      <p:sp>
        <p:nvSpPr>
          <p:cNvPr id="16" name="Shape 14"/>
          <p:cNvSpPr/>
          <p:nvPr/>
        </p:nvSpPr>
        <p:spPr>
          <a:xfrm>
            <a:off x="8878824" y="2862072"/>
            <a:ext cx="411480" cy="0"/>
          </a:xfrm>
          <a:prstGeom prst="line">
            <a:avLst/>
          </a:prstGeom>
          <a:noFill/>
          <a:ln w="38100">
            <a:solidFill>
              <a:srgbClr val="404040"/>
            </a:solidFill>
            <a:prstDash val="solid"/>
            <a:tailEnd type="triangle"/>
          </a:ln>
        </p:spPr>
      </p:sp>
      <p:sp>
        <p:nvSpPr>
          <p:cNvPr id="17" name="Text 15"/>
          <p:cNvSpPr/>
          <p:nvPr/>
        </p:nvSpPr>
        <p:spPr>
          <a:xfrm>
            <a:off x="9473184" y="2176272"/>
            <a:ext cx="2212848" cy="1371600"/>
          </a:xfrm>
          <a:prstGeom prst="roundRect">
            <a:avLst>
              <a:gd name="adj" fmla="val 6667"/>
            </a:avLst>
          </a:prstGeom>
          <a:solidFill>
            <a:srgbClr val="F2F2F2"/>
          </a:solidFill>
          <a:ln w="25400">
            <a:solidFill>
              <a:srgbClr val="0072B2"/>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切れるまで</a:t>
            </a:r>
            <a:endParaRPr lang="ja-JP" sz="2800" dirty="0"/>
          </a:p>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観察</a:t>
            </a:r>
            <a:endParaRPr lang="ja-JP" sz="2800" dirty="0"/>
          </a:p>
        </p:txBody>
      </p:sp>
      <p:sp>
        <p:nvSpPr>
          <p:cNvPr id="18" name="Text 16"/>
          <p:cNvSpPr/>
          <p:nvPr/>
        </p:nvSpPr>
        <p:spPr>
          <a:xfrm>
            <a:off x="502920" y="4233672"/>
            <a:ext cx="11183112" cy="1005840"/>
          </a:xfrm>
          <a:prstGeom prst="roundRect">
            <a:avLst>
              <a:gd name="adj" fmla="val 7273"/>
            </a:avLst>
          </a:prstGeom>
          <a:solidFill>
            <a:srgbClr val="FFFFFF"/>
          </a:solidFill>
          <a:ln w="31750">
            <a:solidFill>
              <a:srgbClr val="00A8AA"/>
            </a:solidFill>
          </a:ln>
        </p:spPr>
        <p:txBody>
          <a:bodyPr wrap="square" lIns="73152" tIns="73152" rIns="73152" bIns="73152" rtlCol="0" anchor="ctr"/>
          <a:lstStyle/>
          <a:p>
            <a:pPr algn="ctr" indent="0" marL="0">
              <a:buNone/>
            </a:pPr>
            <a:r>
              <a:rPr lang="ja-JP" altLang="en-US" sz="3200" b="1" dirty="0">
                <a:solidFill>
                  <a:srgbClr val="262626"/>
                </a:solidFill>
                <a:latin typeface="メイリオ" pitchFamily="34" charset="0"/>
                <a:ea typeface="メイリオ" pitchFamily="34" charset="-122"/>
                <a:cs typeface="メイリオ" pitchFamily="34" charset="-120"/>
              </a:rPr>
              <a:t>拮抗薬は作動薬より</a:t>
            </a:r>
            <a:r>
              <a:rPr lang="ja-JP" altLang="en-US" sz="3200" b="1" dirty="0">
                <a:solidFill>
                  <a:srgbClr val="D55E00"/>
                </a:solidFill>
                <a:latin typeface="メイリオ" pitchFamily="34" charset="0"/>
                <a:ea typeface="メイリオ" pitchFamily="34" charset="-122"/>
                <a:cs typeface="メイリオ" pitchFamily="34" charset="-120"/>
              </a:rPr>
              <a:t>早く切れる</a:t>
            </a:r>
            <a:endParaRPr lang="ja-JP"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ナロキソン</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考え方</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ナロ</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キソン</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フルマ</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ゼニル</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落とし穴</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ナロキソン塩酸塩静注 0.2mg 添付文書 / Saari TI, et al. Clin Pharmacokinet 2024;63:397-422</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第4版」Ⅱ（2025）</a:t>
            </a:r>
            <a:endParaRPr lang="ja-JP" sz="1600" dirty="0"/>
          </a:p>
        </p:txBody>
      </p:sp>
      <p:sp>
        <p:nvSpPr>
          <p:cNvPr id="11" name="Shape 9"/>
          <p:cNvSpPr/>
          <p:nvPr/>
        </p:nvSpPr>
        <p:spPr>
          <a:xfrm>
            <a:off x="502920" y="1691640"/>
            <a:ext cx="3541827" cy="4032504"/>
          </a:xfrm>
          <a:prstGeom prst="roundRect">
            <a:avLst>
              <a:gd name="adj" fmla="val 2065"/>
            </a:avLst>
          </a:prstGeom>
          <a:solidFill>
            <a:srgbClr val="F2F2F2"/>
          </a:solidFill>
          <a:ln/>
        </p:spPr>
      </p:sp>
      <p:sp>
        <p:nvSpPr>
          <p:cNvPr id="12" name="Text 10"/>
          <p:cNvSpPr txBox="1"/>
          <p:nvPr/>
        </p:nvSpPr>
        <p:spPr>
          <a:xfrm>
            <a:off x="630936" y="1837944"/>
            <a:ext cx="3285795"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用量（添付文書）</a:t>
            </a:r>
            <a:endParaRPr lang="ja-JP" sz="2400" dirty="0"/>
          </a:p>
        </p:txBody>
      </p:sp>
      <p:sp>
        <p:nvSpPr>
          <p:cNvPr id="13" name="Text 11"/>
          <p:cNvSpPr txBox="1"/>
          <p:nvPr/>
        </p:nvSpPr>
        <p:spPr>
          <a:xfrm>
            <a:off x="630936" y="2441448"/>
            <a:ext cx="328579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1 回 </a:t>
            </a:r>
            <a:r>
              <a:rPr lang="ja-JP" altLang="en-US" sz="2200" b="1" dirty="0">
                <a:solidFill>
                  <a:srgbClr val="262626"/>
                </a:solidFill>
                <a:latin typeface="メイリオ" pitchFamily="34" charset="0"/>
                <a:ea typeface="メイリオ" pitchFamily="34" charset="-122"/>
                <a:cs typeface="メイリオ" pitchFamily="34" charset="-120"/>
              </a:rPr>
              <a:t>0.2 mg</a:t>
            </a:r>
            <a:r>
              <a:rPr lang="ja-JP" altLang="en-US" sz="2200" dirty="0">
                <a:solidFill>
                  <a:srgbClr val="262626"/>
                </a:solidFill>
                <a:latin typeface="メイリオ" pitchFamily="34" charset="0"/>
                <a:ea typeface="メイリオ" pitchFamily="34" charset="-122"/>
                <a:cs typeface="メイリオ" pitchFamily="34" charset="-120"/>
              </a:rPr>
              <a:t> 静注</a:t>
            </a:r>
            <a:endParaRPr lang="ja-JP" sz="2200" dirty="0"/>
          </a:p>
        </p:txBody>
      </p:sp>
      <p:sp>
        <p:nvSpPr>
          <p:cNvPr id="14" name="Text 12"/>
          <p:cNvSpPr txBox="1"/>
          <p:nvPr/>
        </p:nvSpPr>
        <p:spPr>
          <a:xfrm>
            <a:off x="630936" y="3145536"/>
            <a:ext cx="328579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効果不十分なら</a:t>
            </a:r>
            <a:endParaRPr lang="ja-JP" sz="2200" dirty="0"/>
          </a:p>
        </p:txBody>
      </p:sp>
      <p:sp>
        <p:nvSpPr>
          <p:cNvPr id="15" name="Text 13"/>
          <p:cNvSpPr txBox="1"/>
          <p:nvPr/>
        </p:nvSpPr>
        <p:spPr>
          <a:xfrm>
            <a:off x="905256" y="3566160"/>
            <a:ext cx="3011475" cy="1307592"/>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2〜3 分</a:t>
            </a:r>
            <a:r>
              <a:rPr lang="ja-JP" altLang="en-US" sz="2200" dirty="0">
                <a:solidFill>
                  <a:srgbClr val="262626"/>
                </a:solidFill>
                <a:latin typeface="メイリオ" pitchFamily="34" charset="0"/>
                <a:ea typeface="メイリオ" pitchFamily="34" charset="-122"/>
                <a:cs typeface="メイリオ" pitchFamily="34" charset="-120"/>
              </a:rPr>
              <a:t>間隔で</a:t>
            </a:r>
            <a:endParaRPr lang="ja-JP" sz="2200" dirty="0"/>
          </a:p>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0.2 mg</a:t>
            </a:r>
            <a:r>
              <a:rPr lang="ja-JP" altLang="en-US" sz="2200" dirty="0">
                <a:solidFill>
                  <a:srgbClr val="262626"/>
                </a:solidFill>
                <a:latin typeface="メイリオ" pitchFamily="34" charset="0"/>
                <a:ea typeface="メイリオ" pitchFamily="34" charset="-122"/>
                <a:cs typeface="メイリオ" pitchFamily="34" charset="-120"/>
              </a:rPr>
              <a:t> を</a:t>
            </a:r>
            <a:endParaRPr lang="ja-JP" sz="2200" dirty="0"/>
          </a:p>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1〜2 回</a:t>
            </a:r>
            <a:r>
              <a:rPr lang="ja-JP" altLang="en-US" sz="2200" dirty="0">
                <a:solidFill>
                  <a:srgbClr val="262626"/>
                </a:solidFill>
                <a:latin typeface="メイリオ" pitchFamily="34" charset="0"/>
                <a:ea typeface="メイリオ" pitchFamily="34" charset="-122"/>
                <a:cs typeface="メイリオ" pitchFamily="34" charset="-120"/>
              </a:rPr>
              <a:t>追加</a:t>
            </a:r>
            <a:endParaRPr lang="ja-JP" sz="2200" dirty="0"/>
          </a:p>
        </p:txBody>
      </p:sp>
      <p:sp>
        <p:nvSpPr>
          <p:cNvPr id="16" name="Text 14"/>
          <p:cNvSpPr txBox="1"/>
          <p:nvPr/>
        </p:nvSpPr>
        <p:spPr>
          <a:xfrm>
            <a:off x="630936" y="5157216"/>
            <a:ext cx="328579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状態に応じて適宜増減</a:t>
            </a:r>
            <a:endParaRPr lang="ja-JP" sz="2200" dirty="0"/>
          </a:p>
        </p:txBody>
      </p:sp>
      <p:sp>
        <p:nvSpPr>
          <p:cNvPr id="17" name="Shape 15"/>
          <p:cNvSpPr/>
          <p:nvPr/>
        </p:nvSpPr>
        <p:spPr>
          <a:xfrm>
            <a:off x="4264203" y="1691640"/>
            <a:ext cx="3541827" cy="4032504"/>
          </a:xfrm>
          <a:prstGeom prst="roundRect">
            <a:avLst>
              <a:gd name="adj" fmla="val 2065"/>
            </a:avLst>
          </a:prstGeom>
          <a:solidFill>
            <a:srgbClr val="F2F2F2"/>
          </a:solidFill>
          <a:ln/>
        </p:spPr>
      </p:sp>
      <p:sp>
        <p:nvSpPr>
          <p:cNvPr id="18" name="Text 16"/>
          <p:cNvSpPr txBox="1"/>
          <p:nvPr/>
        </p:nvSpPr>
        <p:spPr>
          <a:xfrm>
            <a:off x="4392219" y="1837944"/>
            <a:ext cx="3285795"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特徴</a:t>
            </a:r>
            <a:endParaRPr lang="ja-JP" sz="2400" dirty="0"/>
          </a:p>
        </p:txBody>
      </p:sp>
      <p:sp>
        <p:nvSpPr>
          <p:cNvPr id="19" name="Text 17"/>
          <p:cNvSpPr txBox="1"/>
          <p:nvPr/>
        </p:nvSpPr>
        <p:spPr>
          <a:xfrm>
            <a:off x="4392219" y="2441448"/>
            <a:ext cx="328579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μ受容体の</a:t>
            </a:r>
            <a:endParaRPr lang="ja-JP" sz="2200" dirty="0"/>
          </a:p>
        </p:txBody>
      </p:sp>
      <p:sp>
        <p:nvSpPr>
          <p:cNvPr id="20" name="Text 18"/>
          <p:cNvSpPr txBox="1"/>
          <p:nvPr/>
        </p:nvSpPr>
        <p:spPr>
          <a:xfrm>
            <a:off x="4666539" y="2862072"/>
            <a:ext cx="301147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競合的拮抗薬</a:t>
            </a:r>
            <a:endParaRPr lang="ja-JP" sz="2200" dirty="0"/>
          </a:p>
        </p:txBody>
      </p:sp>
      <p:sp>
        <p:nvSpPr>
          <p:cNvPr id="21" name="Text 19"/>
          <p:cNvSpPr txBox="1"/>
          <p:nvPr/>
        </p:nvSpPr>
        <p:spPr>
          <a:xfrm>
            <a:off x="4392219" y="3593592"/>
            <a:ext cx="3285795"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1〜2 分</a:t>
            </a:r>
            <a:r>
              <a:rPr lang="ja-JP" altLang="en-US" sz="2200" dirty="0">
                <a:solidFill>
                  <a:srgbClr val="262626"/>
                </a:solidFill>
                <a:latin typeface="メイリオ" pitchFamily="34" charset="0"/>
                <a:ea typeface="メイリオ" pitchFamily="34" charset="-122"/>
                <a:cs typeface="メイリオ" pitchFamily="34" charset="-120"/>
              </a:rPr>
              <a:t>で効き始める</a:t>
            </a:r>
            <a:endParaRPr lang="ja-JP" sz="2200" dirty="0"/>
          </a:p>
        </p:txBody>
      </p:sp>
      <p:sp>
        <p:nvSpPr>
          <p:cNvPr id="22" name="Text 20"/>
          <p:cNvSpPr txBox="1"/>
          <p:nvPr/>
        </p:nvSpPr>
        <p:spPr>
          <a:xfrm>
            <a:off x="4392219" y="4325112"/>
            <a:ext cx="3285795"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30〜45 分</a:t>
            </a:r>
            <a:r>
              <a:rPr lang="ja-JP" altLang="en-US" sz="2200" dirty="0">
                <a:solidFill>
                  <a:srgbClr val="262626"/>
                </a:solidFill>
                <a:latin typeface="メイリオ" pitchFamily="34" charset="0"/>
                <a:ea typeface="メイリオ" pitchFamily="34" charset="-122"/>
                <a:cs typeface="メイリオ" pitchFamily="34" charset="-120"/>
              </a:rPr>
              <a:t>で切れる</a:t>
            </a:r>
            <a:endParaRPr lang="ja-JP" sz="2200" dirty="0"/>
          </a:p>
        </p:txBody>
      </p:sp>
      <p:sp>
        <p:nvSpPr>
          <p:cNvPr id="23" name="Text 21"/>
          <p:cNvSpPr txBox="1"/>
          <p:nvPr/>
        </p:nvSpPr>
        <p:spPr>
          <a:xfrm>
            <a:off x="4666539" y="4745736"/>
            <a:ext cx="301147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（量による）</a:t>
            </a:r>
            <a:endParaRPr lang="ja-JP" sz="2200" dirty="0"/>
          </a:p>
        </p:txBody>
      </p:sp>
      <p:sp>
        <p:nvSpPr>
          <p:cNvPr id="24" name="Shape 22"/>
          <p:cNvSpPr/>
          <p:nvPr/>
        </p:nvSpPr>
        <p:spPr>
          <a:xfrm>
            <a:off x="8025486" y="1691640"/>
            <a:ext cx="3660546" cy="4032504"/>
          </a:xfrm>
          <a:prstGeom prst="roundRect">
            <a:avLst>
              <a:gd name="adj" fmla="val 1998"/>
            </a:avLst>
          </a:prstGeom>
          <a:solidFill>
            <a:srgbClr val="F2F2F2"/>
          </a:solidFill>
          <a:ln/>
        </p:spPr>
      </p:sp>
      <p:sp>
        <p:nvSpPr>
          <p:cNvPr id="25" name="Text 23"/>
          <p:cNvSpPr txBox="1"/>
          <p:nvPr/>
        </p:nvSpPr>
        <p:spPr>
          <a:xfrm>
            <a:off x="8153502" y="1837944"/>
            <a:ext cx="3404514"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注意</a:t>
            </a:r>
            <a:endParaRPr lang="ja-JP" sz="2400" dirty="0"/>
          </a:p>
        </p:txBody>
      </p:sp>
      <p:sp>
        <p:nvSpPr>
          <p:cNvPr id="26" name="Text 24"/>
          <p:cNvSpPr txBox="1"/>
          <p:nvPr/>
        </p:nvSpPr>
        <p:spPr>
          <a:xfrm>
            <a:off x="8153502" y="2441448"/>
            <a:ext cx="340451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急な覚醒：激痛、</a:t>
            </a:r>
            <a:endParaRPr lang="ja-JP" sz="2200" dirty="0"/>
          </a:p>
        </p:txBody>
      </p:sp>
      <p:sp>
        <p:nvSpPr>
          <p:cNvPr id="27" name="Text 25"/>
          <p:cNvSpPr txBox="1"/>
          <p:nvPr/>
        </p:nvSpPr>
        <p:spPr>
          <a:xfrm>
            <a:off x="8427822" y="2862072"/>
            <a:ext cx="313019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高血圧、頻脈、肺水腫</a:t>
            </a:r>
            <a:endParaRPr lang="ja-JP" sz="2200" dirty="0"/>
          </a:p>
        </p:txBody>
      </p:sp>
      <p:sp>
        <p:nvSpPr>
          <p:cNvPr id="28" name="Text 26"/>
          <p:cNvSpPr txBox="1"/>
          <p:nvPr/>
        </p:nvSpPr>
        <p:spPr>
          <a:xfrm>
            <a:off x="8153502" y="3589020"/>
            <a:ext cx="340451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切れたあとの</a:t>
            </a:r>
            <a:endParaRPr lang="ja-JP" sz="2200" dirty="0"/>
          </a:p>
        </p:txBody>
      </p:sp>
      <p:sp>
        <p:nvSpPr>
          <p:cNvPr id="29" name="Text 27"/>
          <p:cNvSpPr txBox="1"/>
          <p:nvPr/>
        </p:nvSpPr>
        <p:spPr>
          <a:xfrm>
            <a:off x="8427822" y="4009644"/>
            <a:ext cx="313019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再呼吸抑制</a:t>
            </a:r>
            <a:endParaRPr lang="ja-JP" sz="2200" dirty="0"/>
          </a:p>
        </p:txBody>
      </p:sp>
      <p:sp>
        <p:nvSpPr>
          <p:cNvPr id="30" name="Text 28"/>
          <p:cNvSpPr txBox="1"/>
          <p:nvPr/>
        </p:nvSpPr>
        <p:spPr>
          <a:xfrm>
            <a:off x="8153502" y="4736592"/>
            <a:ext cx="340451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慢性使用者では</a:t>
            </a:r>
            <a:endParaRPr lang="ja-JP" sz="2200" dirty="0"/>
          </a:p>
        </p:txBody>
      </p:sp>
      <p:sp>
        <p:nvSpPr>
          <p:cNvPr id="31" name="Text 29"/>
          <p:cNvSpPr txBox="1"/>
          <p:nvPr/>
        </p:nvSpPr>
        <p:spPr>
          <a:xfrm>
            <a:off x="8427822" y="5157216"/>
            <a:ext cx="313019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離脱症状</a:t>
            </a:r>
            <a:endParaRPr lang="ja-JP"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ナロキソンの使いどころ</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考え方</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ナロ</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キソン</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フルマ</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ゼニル</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落とし穴</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ナロキソン塩酸塩静注 0.2mg 添付文書 / ASA Task Force on Neuraxial Opioids. Anesthesiology</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2016;124:535-52 / 日本麻酔科学会「麻酔薬および麻酔関連薬使用ガイドライン 第4版」Ⅱ（2025）</a:t>
            </a:r>
            <a:endParaRPr lang="ja-JP" sz="1600" dirty="0"/>
          </a:p>
        </p:txBody>
      </p:sp>
      <p:sp>
        <p:nvSpPr>
          <p:cNvPr id="11" name="Shape 9"/>
          <p:cNvSpPr/>
          <p:nvPr/>
        </p:nvSpPr>
        <p:spPr>
          <a:xfrm>
            <a:off x="502920" y="1691640"/>
            <a:ext cx="5760720" cy="4032504"/>
          </a:xfrm>
          <a:prstGeom prst="roundRect">
            <a:avLst>
              <a:gd name="adj" fmla="val 1814"/>
            </a:avLst>
          </a:prstGeom>
          <a:solidFill>
            <a:srgbClr val="F2F2F2"/>
          </a:solidFill>
          <a:ln/>
        </p:spPr>
      </p:sp>
      <p:sp>
        <p:nvSpPr>
          <p:cNvPr id="12" name="Text 10"/>
          <p:cNvSpPr txBox="1"/>
          <p:nvPr/>
        </p:nvSpPr>
        <p:spPr>
          <a:xfrm>
            <a:off x="685800" y="1874520"/>
            <a:ext cx="5394960" cy="539496"/>
          </a:xfrm>
          <a:prstGeom prst="rect">
            <a:avLst/>
          </a:prstGeom>
          <a:noFill/>
          <a:ln/>
        </p:spPr>
        <p:txBody>
          <a:bodyPr wrap="square" lIns="0" tIns="0" rIns="0" bIns="0" rtlCol="0" anchor="t"/>
          <a:lstStyle/>
          <a:p>
            <a:pPr algn="l" indent="0" marL="0">
              <a:buNone/>
            </a:pPr>
            <a:r>
              <a:rPr lang="ja-JP" altLang="en-US" sz="2800" b="1" dirty="0">
                <a:solidFill>
                  <a:srgbClr val="0072B2"/>
                </a:solidFill>
                <a:latin typeface="メイリオ" pitchFamily="34" charset="0"/>
                <a:ea typeface="メイリオ" pitchFamily="34" charset="-122"/>
                <a:cs typeface="メイリオ" pitchFamily="34" charset="-120"/>
              </a:rPr>
              <a:t>使う</a:t>
            </a:r>
            <a:endParaRPr lang="ja-JP" sz="2800" dirty="0"/>
          </a:p>
        </p:txBody>
      </p:sp>
      <p:sp>
        <p:nvSpPr>
          <p:cNvPr id="13" name="Text 11"/>
          <p:cNvSpPr txBox="1"/>
          <p:nvPr/>
        </p:nvSpPr>
        <p:spPr>
          <a:xfrm>
            <a:off x="685800" y="2615184"/>
            <a:ext cx="539496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呼吸数が少ない</a:t>
            </a:r>
            <a:endParaRPr lang="ja-JP" sz="2400" dirty="0"/>
          </a:p>
        </p:txBody>
      </p:sp>
      <p:sp>
        <p:nvSpPr>
          <p:cNvPr id="14" name="Text 12"/>
          <p:cNvSpPr txBox="1"/>
          <p:nvPr/>
        </p:nvSpPr>
        <p:spPr>
          <a:xfrm>
            <a:off x="1014984" y="3072384"/>
            <a:ext cx="5065776"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r>
              <a:rPr lang="ja-JP" altLang="en-US" sz="2400" b="1" dirty="0">
                <a:solidFill>
                  <a:srgbClr val="262626"/>
                </a:solidFill>
                <a:latin typeface="メイリオ" pitchFamily="34" charset="0"/>
                <a:ea typeface="メイリオ" pitchFamily="34" charset="-122"/>
                <a:cs typeface="メイリオ" pitchFamily="34" charset="-120"/>
              </a:rPr>
              <a:t>8〜10 回/分未満</a:t>
            </a:r>
            <a:r>
              <a:rPr lang="ja-JP" altLang="en-US" sz="2400" dirty="0">
                <a:solidFill>
                  <a:srgbClr val="262626"/>
                </a:solidFill>
                <a:latin typeface="メイリオ" pitchFamily="34" charset="0"/>
                <a:ea typeface="メイリオ" pitchFamily="34" charset="-122"/>
                <a:cs typeface="メイリオ" pitchFamily="34" charset="-120"/>
              </a:rPr>
              <a:t>など。</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施設基準で）</a:t>
            </a:r>
            <a:endParaRPr lang="ja-JP" sz="2400" dirty="0"/>
          </a:p>
        </p:txBody>
      </p:sp>
      <p:sp>
        <p:nvSpPr>
          <p:cNvPr id="15" name="Text 13"/>
          <p:cNvSpPr txBox="1"/>
          <p:nvPr/>
        </p:nvSpPr>
        <p:spPr>
          <a:xfrm>
            <a:off x="685800" y="4306824"/>
            <a:ext cx="539496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刺激しても呼吸が増えない</a:t>
            </a:r>
            <a:endParaRPr lang="ja-JP" sz="2400" dirty="0"/>
          </a:p>
        </p:txBody>
      </p:sp>
      <p:sp>
        <p:nvSpPr>
          <p:cNvPr id="16" name="Text 14"/>
          <p:cNvSpPr txBox="1"/>
          <p:nvPr/>
        </p:nvSpPr>
        <p:spPr>
          <a:xfrm>
            <a:off x="685800" y="5084064"/>
            <a:ext cx="5394960"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SpO2 が下がり、換気で支えている</a:t>
            </a:r>
            <a:endParaRPr lang="ja-JP" sz="2400" dirty="0"/>
          </a:p>
        </p:txBody>
      </p:sp>
      <p:sp>
        <p:nvSpPr>
          <p:cNvPr id="17" name="Shape 15"/>
          <p:cNvSpPr/>
          <p:nvPr/>
        </p:nvSpPr>
        <p:spPr>
          <a:xfrm>
            <a:off x="6483096" y="1691640"/>
            <a:ext cx="5202936" cy="4032504"/>
          </a:xfrm>
          <a:prstGeom prst="roundRect">
            <a:avLst>
              <a:gd name="adj" fmla="val 1814"/>
            </a:avLst>
          </a:prstGeom>
          <a:solidFill>
            <a:srgbClr val="F2F2F2"/>
          </a:solidFill>
          <a:ln/>
        </p:spPr>
      </p:sp>
      <p:sp>
        <p:nvSpPr>
          <p:cNvPr id="18" name="Text 16"/>
          <p:cNvSpPr txBox="1"/>
          <p:nvPr/>
        </p:nvSpPr>
        <p:spPr>
          <a:xfrm>
            <a:off x="6665976" y="1874520"/>
            <a:ext cx="4837176" cy="539496"/>
          </a:xfrm>
          <a:prstGeom prst="rect">
            <a:avLst/>
          </a:prstGeom>
          <a:noFill/>
          <a:ln/>
        </p:spPr>
        <p:txBody>
          <a:bodyPr wrap="square" lIns="0" tIns="0" rIns="0" bIns="0" rtlCol="0" anchor="t"/>
          <a:lstStyle/>
          <a:p>
            <a:pPr algn="l" indent="0" marL="0">
              <a:buNone/>
            </a:pPr>
            <a:r>
              <a:rPr lang="ja-JP" altLang="en-US" sz="2800" b="1" dirty="0">
                <a:solidFill>
                  <a:srgbClr val="D55E00"/>
                </a:solidFill>
                <a:latin typeface="メイリオ" pitchFamily="34" charset="0"/>
                <a:ea typeface="メイリオ" pitchFamily="34" charset="-122"/>
                <a:cs typeface="メイリオ" pitchFamily="34" charset="-120"/>
              </a:rPr>
              <a:t>使わない・待つ</a:t>
            </a:r>
            <a:endParaRPr lang="ja-JP" sz="2800" dirty="0"/>
          </a:p>
        </p:txBody>
      </p:sp>
      <p:sp>
        <p:nvSpPr>
          <p:cNvPr id="19" name="Text 17"/>
          <p:cNvSpPr txBox="1"/>
          <p:nvPr/>
        </p:nvSpPr>
        <p:spPr>
          <a:xfrm>
            <a:off x="6665976" y="2615184"/>
            <a:ext cx="4837176"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刺激すれば呼吸する</a:t>
            </a:r>
            <a:endParaRPr lang="ja-JP" sz="2400" dirty="0"/>
          </a:p>
        </p:txBody>
      </p:sp>
      <p:sp>
        <p:nvSpPr>
          <p:cNvPr id="20" name="Text 18"/>
          <p:cNvSpPr txBox="1"/>
          <p:nvPr/>
        </p:nvSpPr>
        <p:spPr>
          <a:xfrm>
            <a:off x="6995160" y="3072384"/>
            <a:ext cx="4507992"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（呼びかけ、肩たたき）</a:t>
            </a:r>
            <a:endParaRPr lang="ja-JP" sz="2400" dirty="0"/>
          </a:p>
        </p:txBody>
      </p:sp>
      <p:sp>
        <p:nvSpPr>
          <p:cNvPr id="21" name="Text 19"/>
          <p:cNvSpPr txBox="1"/>
          <p:nvPr/>
        </p:nvSpPr>
        <p:spPr>
          <a:xfrm>
            <a:off x="6665976" y="3849624"/>
            <a:ext cx="4837176"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痛みが強く鎮痛を残したい</a:t>
            </a:r>
            <a:endParaRPr lang="ja-JP" sz="2400" dirty="0"/>
          </a:p>
        </p:txBody>
      </p:sp>
      <p:sp>
        <p:nvSpPr>
          <p:cNvPr id="22" name="Text 20"/>
          <p:cNvSpPr txBox="1"/>
          <p:nvPr/>
        </p:nvSpPr>
        <p:spPr>
          <a:xfrm>
            <a:off x="6665976" y="4626864"/>
            <a:ext cx="4837176"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原因が別にありそう</a:t>
            </a:r>
            <a:endParaRPr lang="ja-JP"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フルマゼニル</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考え方</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ナロ</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キソン</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フルマ</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ゼニル</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落とし穴</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アネキセート注射液 0.5mg 添付文書 / Klotz U, et al. Clin Pharmacokinet 1988;14:1-12</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第4版」Ⅰ（2025）</a:t>
            </a:r>
            <a:endParaRPr lang="ja-JP" sz="1600" dirty="0"/>
          </a:p>
        </p:txBody>
      </p:sp>
      <p:sp>
        <p:nvSpPr>
          <p:cNvPr id="11" name="Shape 9"/>
          <p:cNvSpPr/>
          <p:nvPr/>
        </p:nvSpPr>
        <p:spPr>
          <a:xfrm>
            <a:off x="502920" y="1691640"/>
            <a:ext cx="3873337" cy="4032504"/>
          </a:xfrm>
          <a:prstGeom prst="roundRect">
            <a:avLst>
              <a:gd name="adj" fmla="val 1889"/>
            </a:avLst>
          </a:prstGeom>
          <a:solidFill>
            <a:srgbClr val="F2F2F2"/>
          </a:solidFill>
          <a:ln/>
        </p:spPr>
      </p:sp>
      <p:sp>
        <p:nvSpPr>
          <p:cNvPr id="12" name="Text 10"/>
          <p:cNvSpPr txBox="1"/>
          <p:nvPr/>
        </p:nvSpPr>
        <p:spPr>
          <a:xfrm>
            <a:off x="630936" y="1837944"/>
            <a:ext cx="3617305"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用量（添付文書）</a:t>
            </a:r>
            <a:endParaRPr lang="ja-JP" sz="2400" dirty="0"/>
          </a:p>
        </p:txBody>
      </p:sp>
      <p:sp>
        <p:nvSpPr>
          <p:cNvPr id="13" name="Text 11"/>
          <p:cNvSpPr txBox="1"/>
          <p:nvPr/>
        </p:nvSpPr>
        <p:spPr>
          <a:xfrm>
            <a:off x="630936" y="2441448"/>
            <a:ext cx="361730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初回 </a:t>
            </a:r>
            <a:r>
              <a:rPr lang="ja-JP" altLang="en-US" sz="2200" b="1" dirty="0">
                <a:solidFill>
                  <a:srgbClr val="262626"/>
                </a:solidFill>
                <a:latin typeface="メイリオ" pitchFamily="34" charset="0"/>
                <a:ea typeface="メイリオ" pitchFamily="34" charset="-122"/>
                <a:cs typeface="メイリオ" pitchFamily="34" charset="-120"/>
              </a:rPr>
              <a:t>0.2 mg</a:t>
            </a:r>
            <a:r>
              <a:rPr lang="ja-JP" altLang="en-US" sz="2200" dirty="0">
                <a:solidFill>
                  <a:srgbClr val="262626"/>
                </a:solidFill>
                <a:latin typeface="メイリオ" pitchFamily="34" charset="0"/>
                <a:ea typeface="メイリオ" pitchFamily="34" charset="-122"/>
                <a:cs typeface="メイリオ" pitchFamily="34" charset="-120"/>
              </a:rPr>
              <a:t> を</a:t>
            </a:r>
            <a:endParaRPr lang="ja-JP" sz="2200" dirty="0"/>
          </a:p>
        </p:txBody>
      </p:sp>
      <p:sp>
        <p:nvSpPr>
          <p:cNvPr id="14" name="Text 12"/>
          <p:cNvSpPr txBox="1"/>
          <p:nvPr/>
        </p:nvSpPr>
        <p:spPr>
          <a:xfrm>
            <a:off x="905256" y="2862072"/>
            <a:ext cx="334298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緩徐に静注</a:t>
            </a:r>
            <a:endParaRPr lang="ja-JP" sz="2200" dirty="0"/>
          </a:p>
        </p:txBody>
      </p:sp>
      <p:sp>
        <p:nvSpPr>
          <p:cNvPr id="15" name="Text 13"/>
          <p:cNvSpPr txBox="1"/>
          <p:nvPr/>
        </p:nvSpPr>
        <p:spPr>
          <a:xfrm>
            <a:off x="630936" y="3378708"/>
            <a:ext cx="3617305"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4 分</a:t>
            </a:r>
            <a:r>
              <a:rPr lang="ja-JP" altLang="en-US" sz="2200" dirty="0">
                <a:solidFill>
                  <a:srgbClr val="262626"/>
                </a:solidFill>
                <a:latin typeface="メイリオ" pitchFamily="34" charset="0"/>
                <a:ea typeface="メイリオ" pitchFamily="34" charset="-122"/>
                <a:cs typeface="メイリオ" pitchFamily="34" charset="-120"/>
              </a:rPr>
              <a:t>以内に</a:t>
            </a:r>
            <a:endParaRPr lang="ja-JP" sz="2200" dirty="0"/>
          </a:p>
        </p:txBody>
      </p:sp>
      <p:sp>
        <p:nvSpPr>
          <p:cNvPr id="16" name="Text 14"/>
          <p:cNvSpPr txBox="1"/>
          <p:nvPr/>
        </p:nvSpPr>
        <p:spPr>
          <a:xfrm>
            <a:off x="905256" y="3799332"/>
            <a:ext cx="3342985"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覚醒なければ</a:t>
            </a:r>
            <a:endParaRPr lang="ja-JP" sz="2200" dirty="0"/>
          </a:p>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0.1 mg</a:t>
            </a:r>
            <a:r>
              <a:rPr lang="ja-JP" altLang="en-US" sz="2200" dirty="0">
                <a:solidFill>
                  <a:srgbClr val="262626"/>
                </a:solidFill>
                <a:latin typeface="メイリオ" pitchFamily="34" charset="0"/>
                <a:ea typeface="メイリオ" pitchFamily="34" charset="-122"/>
                <a:cs typeface="メイリオ" pitchFamily="34" charset="-120"/>
              </a:rPr>
              <a:t> 追加</a:t>
            </a:r>
            <a:endParaRPr lang="ja-JP" sz="2200" dirty="0"/>
          </a:p>
        </p:txBody>
      </p:sp>
      <p:sp>
        <p:nvSpPr>
          <p:cNvPr id="17" name="Text 15"/>
          <p:cNvSpPr txBox="1"/>
          <p:nvPr/>
        </p:nvSpPr>
        <p:spPr>
          <a:xfrm>
            <a:off x="630936" y="4736592"/>
            <a:ext cx="3617305"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以後 </a:t>
            </a:r>
            <a:r>
              <a:rPr lang="ja-JP" altLang="en-US" sz="2200" b="1" dirty="0">
                <a:solidFill>
                  <a:srgbClr val="262626"/>
                </a:solidFill>
                <a:latin typeface="メイリオ" pitchFamily="34" charset="0"/>
                <a:ea typeface="メイリオ" pitchFamily="34" charset="-122"/>
                <a:cs typeface="メイリオ" pitchFamily="34" charset="-120"/>
              </a:rPr>
              <a:t>1 分</a:t>
            </a:r>
            <a:r>
              <a:rPr lang="ja-JP" altLang="en-US" sz="2200" dirty="0">
                <a:solidFill>
                  <a:srgbClr val="262626"/>
                </a:solidFill>
                <a:latin typeface="メイリオ" pitchFamily="34" charset="0"/>
                <a:ea typeface="メイリオ" pitchFamily="34" charset="-122"/>
                <a:cs typeface="メイリオ" pitchFamily="34" charset="-120"/>
              </a:rPr>
              <a:t>間隔で</a:t>
            </a:r>
            <a:endParaRPr lang="ja-JP" sz="2200" dirty="0"/>
          </a:p>
        </p:txBody>
      </p:sp>
      <p:sp>
        <p:nvSpPr>
          <p:cNvPr id="18" name="Text 16"/>
          <p:cNvSpPr txBox="1"/>
          <p:nvPr/>
        </p:nvSpPr>
        <p:spPr>
          <a:xfrm>
            <a:off x="905256" y="5157216"/>
            <a:ext cx="3342985"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0.1 mg</a:t>
            </a:r>
            <a:r>
              <a:rPr lang="ja-JP" altLang="en-US" sz="2200" dirty="0">
                <a:solidFill>
                  <a:srgbClr val="262626"/>
                </a:solidFill>
                <a:latin typeface="メイリオ" pitchFamily="34" charset="0"/>
                <a:ea typeface="メイリオ" pitchFamily="34" charset="-122"/>
                <a:cs typeface="メイリオ" pitchFamily="34" charset="-120"/>
              </a:rPr>
              <a:t>、総量 </a:t>
            </a:r>
            <a:r>
              <a:rPr lang="ja-JP" altLang="en-US" sz="2200" b="1" dirty="0">
                <a:solidFill>
                  <a:srgbClr val="262626"/>
                </a:solidFill>
                <a:latin typeface="メイリオ" pitchFamily="34" charset="0"/>
                <a:ea typeface="メイリオ" pitchFamily="34" charset="-122"/>
                <a:cs typeface="メイリオ" pitchFamily="34" charset="-120"/>
              </a:rPr>
              <a:t>1 mg</a:t>
            </a:r>
            <a:r>
              <a:rPr lang="ja-JP" altLang="en-US" sz="2200" dirty="0">
                <a:solidFill>
                  <a:srgbClr val="262626"/>
                </a:solidFill>
                <a:latin typeface="メイリオ" pitchFamily="34" charset="0"/>
                <a:ea typeface="メイリオ" pitchFamily="34" charset="-122"/>
                <a:cs typeface="メイリオ" pitchFamily="34" charset="-120"/>
              </a:rPr>
              <a:t> まで</a:t>
            </a:r>
            <a:endParaRPr lang="ja-JP" sz="2200" dirty="0"/>
          </a:p>
        </p:txBody>
      </p:sp>
      <p:sp>
        <p:nvSpPr>
          <p:cNvPr id="19" name="Shape 17"/>
          <p:cNvSpPr/>
          <p:nvPr/>
        </p:nvSpPr>
        <p:spPr>
          <a:xfrm>
            <a:off x="4595713" y="1691640"/>
            <a:ext cx="3210316" cy="4032504"/>
          </a:xfrm>
          <a:prstGeom prst="roundRect">
            <a:avLst>
              <a:gd name="adj" fmla="val 2279"/>
            </a:avLst>
          </a:prstGeom>
          <a:solidFill>
            <a:srgbClr val="F2F2F2"/>
          </a:solidFill>
          <a:ln/>
        </p:spPr>
      </p:sp>
      <p:sp>
        <p:nvSpPr>
          <p:cNvPr id="20" name="Text 18"/>
          <p:cNvSpPr txBox="1"/>
          <p:nvPr/>
        </p:nvSpPr>
        <p:spPr>
          <a:xfrm>
            <a:off x="4723729" y="1837944"/>
            <a:ext cx="2954284"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特徴</a:t>
            </a:r>
            <a:endParaRPr lang="ja-JP" sz="2400" dirty="0"/>
          </a:p>
        </p:txBody>
      </p:sp>
      <p:sp>
        <p:nvSpPr>
          <p:cNvPr id="21" name="Text 19"/>
          <p:cNvSpPr txBox="1"/>
          <p:nvPr/>
        </p:nvSpPr>
        <p:spPr>
          <a:xfrm>
            <a:off x="4723729" y="2441448"/>
            <a:ext cx="29542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ベンゾジアゼピン</a:t>
            </a:r>
            <a:endParaRPr lang="ja-JP" sz="2200" dirty="0"/>
          </a:p>
        </p:txBody>
      </p:sp>
      <p:sp>
        <p:nvSpPr>
          <p:cNvPr id="22" name="Text 20"/>
          <p:cNvSpPr txBox="1"/>
          <p:nvPr/>
        </p:nvSpPr>
        <p:spPr>
          <a:xfrm>
            <a:off x="4998049" y="2862072"/>
            <a:ext cx="2679964"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受容体の</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競合的拮抗薬</a:t>
            </a:r>
            <a:endParaRPr lang="ja-JP" sz="2200" dirty="0"/>
          </a:p>
        </p:txBody>
      </p:sp>
      <p:sp>
        <p:nvSpPr>
          <p:cNvPr id="23" name="Text 21"/>
          <p:cNvSpPr txBox="1"/>
          <p:nvPr/>
        </p:nvSpPr>
        <p:spPr>
          <a:xfrm>
            <a:off x="4723729" y="4014216"/>
            <a:ext cx="2954284"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1〜2 分</a:t>
            </a:r>
            <a:r>
              <a:rPr lang="ja-JP" altLang="en-US" sz="2200" dirty="0">
                <a:solidFill>
                  <a:srgbClr val="262626"/>
                </a:solidFill>
                <a:latin typeface="メイリオ" pitchFamily="34" charset="0"/>
                <a:ea typeface="メイリオ" pitchFamily="34" charset="-122"/>
                <a:cs typeface="メイリオ" pitchFamily="34" charset="-120"/>
              </a:rPr>
              <a:t>で効き始める</a:t>
            </a:r>
            <a:endParaRPr lang="ja-JP" sz="2200" dirty="0"/>
          </a:p>
        </p:txBody>
      </p:sp>
      <p:sp>
        <p:nvSpPr>
          <p:cNvPr id="24" name="Text 22"/>
          <p:cNvSpPr txBox="1"/>
          <p:nvPr/>
        </p:nvSpPr>
        <p:spPr>
          <a:xfrm>
            <a:off x="4723729" y="4745736"/>
            <a:ext cx="2954284" cy="420624"/>
          </a:xfrm>
          <a:prstGeom prst="rect">
            <a:avLst/>
          </a:prstGeom>
          <a:noFill/>
          <a:ln/>
        </p:spPr>
        <p:txBody>
          <a:bodyPr wrap="square" lIns="0" tIns="0" rIns="0" bIns="0" rtlCol="0" anchor="t"/>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30〜60 分</a:t>
            </a:r>
            <a:r>
              <a:rPr lang="ja-JP" altLang="en-US" sz="2200" dirty="0">
                <a:solidFill>
                  <a:srgbClr val="262626"/>
                </a:solidFill>
                <a:latin typeface="メイリオ" pitchFamily="34" charset="0"/>
                <a:ea typeface="メイリオ" pitchFamily="34" charset="-122"/>
                <a:cs typeface="メイリオ" pitchFamily="34" charset="-120"/>
              </a:rPr>
              <a:t>で切れる</a:t>
            </a:r>
            <a:endParaRPr lang="ja-JP" sz="2200" dirty="0"/>
          </a:p>
        </p:txBody>
      </p:sp>
      <p:sp>
        <p:nvSpPr>
          <p:cNvPr id="25" name="Shape 23"/>
          <p:cNvSpPr/>
          <p:nvPr/>
        </p:nvSpPr>
        <p:spPr>
          <a:xfrm>
            <a:off x="8025486" y="1691640"/>
            <a:ext cx="3660546" cy="4032504"/>
          </a:xfrm>
          <a:prstGeom prst="roundRect">
            <a:avLst>
              <a:gd name="adj" fmla="val 1998"/>
            </a:avLst>
          </a:prstGeom>
          <a:solidFill>
            <a:srgbClr val="F2F2F2"/>
          </a:solidFill>
          <a:ln/>
        </p:spPr>
      </p:sp>
      <p:sp>
        <p:nvSpPr>
          <p:cNvPr id="26" name="Text 24"/>
          <p:cNvSpPr txBox="1"/>
          <p:nvPr/>
        </p:nvSpPr>
        <p:spPr>
          <a:xfrm>
            <a:off x="8153502" y="1837944"/>
            <a:ext cx="3404514"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注意</a:t>
            </a:r>
            <a:endParaRPr lang="ja-JP" sz="2400" dirty="0"/>
          </a:p>
        </p:txBody>
      </p:sp>
      <p:sp>
        <p:nvSpPr>
          <p:cNvPr id="27" name="Text 25"/>
          <p:cNvSpPr txBox="1"/>
          <p:nvPr/>
        </p:nvSpPr>
        <p:spPr>
          <a:xfrm>
            <a:off x="8153502" y="2441448"/>
            <a:ext cx="340451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再鎮静（ミダゾラムの</a:t>
            </a:r>
            <a:endParaRPr lang="ja-JP" sz="2200" dirty="0"/>
          </a:p>
        </p:txBody>
      </p:sp>
      <p:sp>
        <p:nvSpPr>
          <p:cNvPr id="28" name="Text 26"/>
          <p:cNvSpPr txBox="1"/>
          <p:nvPr/>
        </p:nvSpPr>
        <p:spPr>
          <a:xfrm>
            <a:off x="8427822" y="2862072"/>
            <a:ext cx="313019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長時間投与後）</a:t>
            </a:r>
            <a:endParaRPr lang="ja-JP" sz="2200" dirty="0"/>
          </a:p>
        </p:txBody>
      </p:sp>
      <p:sp>
        <p:nvSpPr>
          <p:cNvPr id="29" name="Text 27"/>
          <p:cNvSpPr txBox="1"/>
          <p:nvPr/>
        </p:nvSpPr>
        <p:spPr>
          <a:xfrm>
            <a:off x="8153502" y="3589020"/>
            <a:ext cx="340451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痙攣（依存者、</a:t>
            </a:r>
            <a:endParaRPr lang="ja-JP" sz="2200" dirty="0"/>
          </a:p>
        </p:txBody>
      </p:sp>
      <p:sp>
        <p:nvSpPr>
          <p:cNvPr id="30" name="Text 28"/>
          <p:cNvSpPr txBox="1"/>
          <p:nvPr/>
        </p:nvSpPr>
        <p:spPr>
          <a:xfrm>
            <a:off x="8427822" y="4009644"/>
            <a:ext cx="313019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三環系抗うつ薬中毒）</a:t>
            </a:r>
            <a:endParaRPr lang="ja-JP" sz="2200" dirty="0"/>
          </a:p>
        </p:txBody>
      </p:sp>
      <p:sp>
        <p:nvSpPr>
          <p:cNvPr id="31" name="Text 29"/>
          <p:cNvSpPr txBox="1"/>
          <p:nvPr/>
        </p:nvSpPr>
        <p:spPr>
          <a:xfrm>
            <a:off x="8153502" y="4736592"/>
            <a:ext cx="340451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効かなければ</a:t>
            </a:r>
            <a:endParaRPr lang="ja-JP" sz="2200" dirty="0"/>
          </a:p>
        </p:txBody>
      </p:sp>
      <p:sp>
        <p:nvSpPr>
          <p:cNvPr id="32" name="Text 30"/>
          <p:cNvSpPr txBox="1"/>
          <p:nvPr/>
        </p:nvSpPr>
        <p:spPr>
          <a:xfrm>
            <a:off x="8427822" y="5157216"/>
            <a:ext cx="313019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別の原因</a:t>
            </a:r>
            <a:endParaRPr lang="ja-JP"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レミマゾラムの拮抗</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考え方</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ナロ</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キソン</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フルマ</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ゼニル</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落とし穴</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Masui K. J Anesth 2023;37:1-5 / Yamamoto T, et al. J Anesth 2021;35:322</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Zhou Y, et al. Front Med (Lausanne) 2026;13:1793528</a:t>
            </a:r>
            <a:endParaRPr lang="ja-JP" sz="1600" dirty="0"/>
          </a:p>
        </p:txBody>
      </p:sp>
      <p:sp>
        <p:nvSpPr>
          <p:cNvPr id="11" name="Text 9"/>
          <p:cNvSpPr txBox="1"/>
          <p:nvPr/>
        </p:nvSpPr>
        <p:spPr>
          <a:xfrm>
            <a:off x="502920" y="1755648"/>
            <a:ext cx="11155680" cy="2441448"/>
          </a:xfrm>
          <a:prstGeom prst="rect">
            <a:avLst/>
          </a:prstGeom>
          <a:noFill/>
          <a:ln/>
        </p:spPr>
        <p:txBody>
          <a:bodyPr wrap="square" lIns="0" tIns="0" rIns="0" bIns="0" rtlCol="0" anchor="t"/>
          <a:lstStyle/>
          <a:p>
            <a:pPr algn="l" marL="355600" indent="-355600">
              <a:spcAft>
                <a:spcPts val="1600"/>
              </a:spcAft>
              <a:buSzPct val="100000"/>
              <a:buChar char="•"/>
            </a:pPr>
            <a:r>
              <a:rPr lang="ja-JP" altLang="en-US" sz="2400" b="1" dirty="0">
                <a:solidFill>
                  <a:srgbClr val="262626"/>
                </a:solidFill>
                <a:latin typeface="メイリオ" pitchFamily="34" charset="0"/>
                <a:ea typeface="メイリオ" pitchFamily="34" charset="-122"/>
                <a:cs typeface="メイリオ" pitchFamily="34" charset="-120"/>
              </a:rPr>
              <a:t>レミマゾラム</a:t>
            </a:r>
            <a:r>
              <a:rPr lang="ja-JP" altLang="en-US" sz="2400" dirty="0">
                <a:solidFill>
                  <a:srgbClr val="262626"/>
                </a:solidFill>
                <a:latin typeface="メイリオ" pitchFamily="34" charset="0"/>
                <a:ea typeface="メイリオ" pitchFamily="34" charset="-122"/>
                <a:cs typeface="メイリオ" pitchFamily="34" charset="-120"/>
              </a:rPr>
              <a:t>は</a:t>
            </a:r>
            <a:r>
              <a:rPr lang="ja-JP" altLang="en-US" sz="2400" b="1" dirty="0">
                <a:solidFill>
                  <a:srgbClr val="262626"/>
                </a:solidFill>
                <a:latin typeface="メイリオ" pitchFamily="34" charset="0"/>
                <a:ea typeface="メイリオ" pitchFamily="34" charset="-122"/>
                <a:cs typeface="メイリオ" pitchFamily="34" charset="-120"/>
              </a:rPr>
              <a:t>フルマゼニル</a:t>
            </a:r>
            <a:r>
              <a:rPr lang="ja-JP" altLang="en-US" sz="2400" dirty="0">
                <a:solidFill>
                  <a:srgbClr val="262626"/>
                </a:solidFill>
                <a:latin typeface="メイリオ" pitchFamily="34" charset="0"/>
                <a:ea typeface="メイリオ" pitchFamily="34" charset="-122"/>
                <a:cs typeface="メイリオ" pitchFamily="34" charset="-120"/>
              </a:rPr>
              <a:t>で拮抗できる</a:t>
            </a:r>
            <a:endParaRPr lang="ja-JP" sz="2400" dirty="0"/>
          </a:p>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消失は速いが、拮抗後の再鎮静は起こりうる（長時間投与で多い）</a:t>
            </a:r>
            <a:endParaRPr lang="ja-JP" sz="2400" dirty="0"/>
          </a:p>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拮抗したら観察を続ける</a:t>
            </a:r>
            <a:endParaRPr lang="ja-JP" sz="2400" dirty="0"/>
          </a:p>
          <a:p>
            <a:pPr algn="l" marL="355600" indent="-355600">
              <a:spcAft>
                <a:spcPts val="1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使うのは、覚醒遅延や呼吸抑制で本当に必要なときだけ</a:t>
            </a:r>
            <a:endParaRPr lang="ja-JP" sz="2400" dirty="0"/>
          </a:p>
        </p:txBody>
      </p:sp>
      <p:sp>
        <p:nvSpPr>
          <p:cNvPr id="12" name="Text 10"/>
          <p:cNvSpPr/>
          <p:nvPr/>
        </p:nvSpPr>
        <p:spPr>
          <a:xfrm>
            <a:off x="502920" y="4526280"/>
            <a:ext cx="11183112" cy="1115568"/>
          </a:xfrm>
          <a:prstGeom prst="roundRect">
            <a:avLst>
              <a:gd name="adj" fmla="val 6557"/>
            </a:avLst>
          </a:prstGeom>
          <a:solidFill>
            <a:srgbClr val="FFFFFF"/>
          </a:solidFill>
          <a:ln w="31750">
            <a:solidFill>
              <a:srgbClr val="00A8AA"/>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拮抗で『覚めた』ではなく、</a:t>
            </a:r>
            <a:endParaRPr lang="ja-JP" sz="2800" dirty="0"/>
          </a:p>
          <a:p>
            <a:pPr algn="ctr" indent="0" marL="0">
              <a:buNone/>
            </a:pPr>
            <a:r>
              <a:rPr lang="ja-JP" altLang="en-US" sz="2800" b="1" dirty="0">
                <a:solidFill>
                  <a:srgbClr val="D55E00"/>
                </a:solidFill>
                <a:latin typeface="メイリオ" pitchFamily="34" charset="0"/>
                <a:ea typeface="メイリオ" pitchFamily="34" charset="-122"/>
                <a:cs typeface="メイリオ" pitchFamily="34" charset="-120"/>
              </a:rPr>
              <a:t>『自分で呼吸して覚めている』</a:t>
            </a:r>
            <a:r>
              <a:rPr lang="ja-JP" altLang="en-US" sz="2800" b="1" dirty="0">
                <a:solidFill>
                  <a:srgbClr val="262626"/>
                </a:solidFill>
                <a:latin typeface="メイリオ" pitchFamily="34" charset="0"/>
                <a:ea typeface="メイリオ" pitchFamily="34" charset="-122"/>
                <a:cs typeface="メイリオ" pitchFamily="34" charset="-120"/>
              </a:rPr>
              <a:t>を確認</a:t>
            </a:r>
            <a:endParaRPr lang="ja-JP"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落とし穴</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考え方</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ナロ</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キソン</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フルマ</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ゼニル</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落とし穴</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手順</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ナロキソン塩酸塩静注 0.2mg 添付文書 / アネキセート注射液 0.5mg 添付文書</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Joseph M, et al. Clin Toxicol (Phila) 2024;62:334-342</a:t>
            </a:r>
            <a:endParaRPr lang="ja-JP" sz="1600" dirty="0"/>
          </a:p>
        </p:txBody>
      </p:sp>
      <p:sp>
        <p:nvSpPr>
          <p:cNvPr id="11" name="Text 9"/>
          <p:cNvSpPr txBox="1"/>
          <p:nvPr/>
        </p:nvSpPr>
        <p:spPr>
          <a:xfrm>
            <a:off x="502920" y="1755648"/>
            <a:ext cx="11155680" cy="3941064"/>
          </a:xfrm>
          <a:prstGeom prst="rect">
            <a:avLst/>
          </a:prstGeom>
          <a:noFill/>
          <a:ln/>
        </p:spPr>
        <p:txBody>
          <a:bodyPr wrap="square" lIns="0" tIns="0" rIns="0" bIns="0" rtlCol="0" anchor="t"/>
          <a:lstStyle/>
          <a:p>
            <a:pPr algn="l" marL="406400" indent="-406400">
              <a:spcAft>
                <a:spcPts val="2400"/>
              </a:spcAft>
              <a:buSzPct val="100000"/>
              <a:buChar char="•"/>
            </a:pPr>
            <a:r>
              <a:rPr lang="ja-JP" altLang="en-US" sz="2800" b="1" dirty="0">
                <a:solidFill>
                  <a:srgbClr val="262626"/>
                </a:solidFill>
                <a:latin typeface="メイリオ" pitchFamily="34" charset="0"/>
                <a:ea typeface="メイリオ" pitchFamily="34" charset="-122"/>
                <a:cs typeface="メイリオ" pitchFamily="34" charset="-120"/>
              </a:rPr>
              <a:t>切れたあとに戻る</a:t>
            </a:r>
            <a:r>
              <a:rPr lang="ja-JP" altLang="en-US" sz="2800" dirty="0">
                <a:solidFill>
                  <a:srgbClr val="262626"/>
                </a:solidFill>
                <a:latin typeface="メイリオ" pitchFamily="34" charset="0"/>
                <a:ea typeface="メイリオ" pitchFamily="34" charset="-122"/>
                <a:cs typeface="メイリオ" pitchFamily="34" charset="-120"/>
              </a:rPr>
              <a:t>：病棟に帰してから呼吸が止まる</a:t>
            </a:r>
            <a:endParaRPr lang="ja-JP" sz="2800" dirty="0"/>
          </a:p>
          <a:p>
            <a:pPr algn="l" marL="406400" indent="-406400">
              <a:spcAft>
                <a:spcPts val="2400"/>
              </a:spcAft>
              <a:buSzPct val="100000"/>
              <a:buChar char="•"/>
            </a:pPr>
            <a:r>
              <a:rPr lang="ja-JP" altLang="en-US" sz="2800" b="1" dirty="0">
                <a:solidFill>
                  <a:srgbClr val="262626"/>
                </a:solidFill>
                <a:latin typeface="メイリオ" pitchFamily="34" charset="0"/>
                <a:ea typeface="メイリオ" pitchFamily="34" charset="-122"/>
                <a:cs typeface="メイリオ" pitchFamily="34" charset="-120"/>
              </a:rPr>
              <a:t>一気に入れる</a:t>
            </a:r>
            <a:r>
              <a:rPr lang="ja-JP" altLang="en-US" sz="2800" dirty="0">
                <a:solidFill>
                  <a:srgbClr val="262626"/>
                </a:solidFill>
                <a:latin typeface="メイリオ" pitchFamily="34" charset="0"/>
                <a:ea typeface="メイリオ" pitchFamily="34" charset="-122"/>
                <a:cs typeface="メイリオ" pitchFamily="34" charset="-120"/>
              </a:rPr>
              <a:t>：激痛、高血圧、肺水腫、痙攣</a:t>
            </a:r>
            <a:endParaRPr lang="ja-JP" sz="2800" dirty="0"/>
          </a:p>
          <a:p>
            <a:pPr algn="l" marL="406400" indent="-406400">
              <a:spcAft>
                <a:spcPts val="2400"/>
              </a:spcAft>
              <a:buSzPct val="100000"/>
              <a:buChar char="•"/>
            </a:pPr>
            <a:r>
              <a:rPr lang="ja-JP" altLang="en-US" sz="2800" b="1" dirty="0">
                <a:solidFill>
                  <a:srgbClr val="262626"/>
                </a:solidFill>
                <a:latin typeface="メイリオ" pitchFamily="34" charset="0"/>
                <a:ea typeface="メイリオ" pitchFamily="34" charset="-122"/>
                <a:cs typeface="メイリオ" pitchFamily="34" charset="-120"/>
              </a:rPr>
              <a:t>拮抗薬で診断する</a:t>
            </a:r>
            <a:r>
              <a:rPr lang="ja-JP" altLang="en-US" sz="2800" dirty="0">
                <a:solidFill>
                  <a:srgbClr val="262626"/>
                </a:solidFill>
                <a:latin typeface="メイリオ" pitchFamily="34" charset="0"/>
                <a:ea typeface="メイリオ" pitchFamily="34" charset="-122"/>
                <a:cs typeface="メイリオ" pitchFamily="34" charset="-120"/>
              </a:rPr>
              <a:t>：効かないのに他の原因を探さない</a:t>
            </a:r>
            <a:endParaRPr lang="ja-JP" sz="2800" dirty="0"/>
          </a:p>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オピオイドとベンゾジアゼピンの両方が効いている</a:t>
            </a:r>
            <a:endParaRPr lang="ja-JP" sz="2800" dirty="0"/>
          </a:p>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拮抗した事実を申し送らない</a:t>
            </a:r>
            <a:endParaRPr lang="ja-JP"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手順</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考え方</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ナロ</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キソン</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フルマ</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ゼニル</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落とし穴</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手順</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ナロキソン塩酸塩静注 0.2mg 添付文書 / アネキセート注射液 0.5mg 添付文書</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第4版」（2025）</a:t>
            </a:r>
            <a:endParaRPr lang="ja-JP" sz="1600" dirty="0"/>
          </a:p>
        </p:txBody>
      </p:sp>
      <p:sp>
        <p:nvSpPr>
          <p:cNvPr id="11" name="Text 9"/>
          <p:cNvSpPr/>
          <p:nvPr/>
        </p:nvSpPr>
        <p:spPr>
          <a:xfrm>
            <a:off x="502920" y="1700784"/>
            <a:ext cx="6172200" cy="512064"/>
          </a:xfrm>
          <a:prstGeom prst="roundRect">
            <a:avLst>
              <a:gd name="adj" fmla="val 17857"/>
            </a:avLst>
          </a:prstGeom>
          <a:solidFill>
            <a:srgbClr val="F2F2F2"/>
          </a:solidFill>
          <a:ln w="25400">
            <a:solidFill>
              <a:srgbClr val="0072B2"/>
            </a:solidFill>
          </a:ln>
        </p:spPr>
        <p:txBody>
          <a:bodyPr wrap="square" lIns="164592" tIns="164592" rIns="164592" bIns="164592" rtlCol="0" anchor="ct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気道を開け、酸素、必要なら換気</a:t>
            </a:r>
            <a:endParaRPr lang="ja-JP" sz="2400" dirty="0"/>
          </a:p>
        </p:txBody>
      </p:sp>
      <p:sp>
        <p:nvSpPr>
          <p:cNvPr id="12" name="Shape 10"/>
          <p:cNvSpPr/>
          <p:nvPr/>
        </p:nvSpPr>
        <p:spPr>
          <a:xfrm>
            <a:off x="1051560" y="2258568"/>
            <a:ext cx="0" cy="256032"/>
          </a:xfrm>
          <a:prstGeom prst="line">
            <a:avLst/>
          </a:prstGeom>
          <a:noFill/>
          <a:ln w="38100">
            <a:solidFill>
              <a:srgbClr val="404040"/>
            </a:solidFill>
            <a:prstDash val="solid"/>
            <a:tailEnd type="triangle"/>
          </a:ln>
        </p:spPr>
      </p:sp>
      <p:sp>
        <p:nvSpPr>
          <p:cNvPr id="13" name="Text 11"/>
          <p:cNvSpPr/>
          <p:nvPr/>
        </p:nvSpPr>
        <p:spPr>
          <a:xfrm>
            <a:off x="502920" y="2560320"/>
            <a:ext cx="6172200" cy="512064"/>
          </a:xfrm>
          <a:prstGeom prst="roundRect">
            <a:avLst>
              <a:gd name="adj" fmla="val 17857"/>
            </a:avLst>
          </a:prstGeom>
          <a:solidFill>
            <a:srgbClr val="F2F2F2"/>
          </a:solidFill>
          <a:ln w="25400">
            <a:solidFill>
              <a:srgbClr val="0072B2"/>
            </a:solidFill>
          </a:ln>
        </p:spPr>
        <p:txBody>
          <a:bodyPr wrap="square" lIns="164592" tIns="164592" rIns="164592" bIns="164592" rtlCol="0" anchor="ct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原因を並べる</a:t>
            </a:r>
            <a:endParaRPr lang="ja-JP" sz="2400" dirty="0"/>
          </a:p>
        </p:txBody>
      </p:sp>
      <p:sp>
        <p:nvSpPr>
          <p:cNvPr id="14" name="Text 12"/>
          <p:cNvSpPr txBox="1"/>
          <p:nvPr/>
        </p:nvSpPr>
        <p:spPr>
          <a:xfrm>
            <a:off x="7004304" y="2606040"/>
            <a:ext cx="4681728" cy="42062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（薬・筋弛緩・CO2・体温・糖）</a:t>
            </a:r>
            <a:endParaRPr lang="ja-JP" sz="2200" dirty="0"/>
          </a:p>
        </p:txBody>
      </p:sp>
      <p:sp>
        <p:nvSpPr>
          <p:cNvPr id="15" name="Shape 13"/>
          <p:cNvSpPr/>
          <p:nvPr/>
        </p:nvSpPr>
        <p:spPr>
          <a:xfrm>
            <a:off x="1051560" y="3118104"/>
            <a:ext cx="0" cy="256032"/>
          </a:xfrm>
          <a:prstGeom prst="line">
            <a:avLst/>
          </a:prstGeom>
          <a:noFill/>
          <a:ln w="38100">
            <a:solidFill>
              <a:srgbClr val="404040"/>
            </a:solidFill>
            <a:prstDash val="solid"/>
            <a:tailEnd type="triangle"/>
          </a:ln>
        </p:spPr>
      </p:sp>
      <p:sp>
        <p:nvSpPr>
          <p:cNvPr id="16" name="Text 14"/>
          <p:cNvSpPr/>
          <p:nvPr/>
        </p:nvSpPr>
        <p:spPr>
          <a:xfrm>
            <a:off x="502920" y="3419856"/>
            <a:ext cx="6172200" cy="512064"/>
          </a:xfrm>
          <a:prstGeom prst="roundRect">
            <a:avLst>
              <a:gd name="adj" fmla="val 17857"/>
            </a:avLst>
          </a:prstGeom>
          <a:solidFill>
            <a:srgbClr val="F2F2F2"/>
          </a:solidFill>
          <a:ln w="25400">
            <a:solidFill>
              <a:srgbClr val="0072B2"/>
            </a:solidFill>
          </a:ln>
        </p:spPr>
        <p:txBody>
          <a:bodyPr wrap="square" lIns="164592" tIns="164592" rIns="164592" bIns="164592" rtlCol="0" anchor="ct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拮抗薬を少量ずつ</a:t>
            </a:r>
            <a:endParaRPr lang="ja-JP" sz="2400" dirty="0"/>
          </a:p>
        </p:txBody>
      </p:sp>
      <p:sp>
        <p:nvSpPr>
          <p:cNvPr id="17" name="Text 15"/>
          <p:cNvSpPr txBox="1"/>
          <p:nvPr/>
        </p:nvSpPr>
        <p:spPr>
          <a:xfrm>
            <a:off x="7004304" y="3465576"/>
            <a:ext cx="4681728" cy="42062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（反応を見て追加）</a:t>
            </a:r>
            <a:endParaRPr lang="ja-JP" sz="2200" dirty="0"/>
          </a:p>
        </p:txBody>
      </p:sp>
      <p:sp>
        <p:nvSpPr>
          <p:cNvPr id="18" name="Shape 16"/>
          <p:cNvSpPr/>
          <p:nvPr/>
        </p:nvSpPr>
        <p:spPr>
          <a:xfrm>
            <a:off x="1051560" y="3977640"/>
            <a:ext cx="0" cy="256032"/>
          </a:xfrm>
          <a:prstGeom prst="line">
            <a:avLst/>
          </a:prstGeom>
          <a:noFill/>
          <a:ln w="38100">
            <a:solidFill>
              <a:srgbClr val="404040"/>
            </a:solidFill>
            <a:prstDash val="solid"/>
            <a:tailEnd type="triangle"/>
          </a:ln>
        </p:spPr>
      </p:sp>
      <p:sp>
        <p:nvSpPr>
          <p:cNvPr id="19" name="Text 17"/>
          <p:cNvSpPr/>
          <p:nvPr/>
        </p:nvSpPr>
        <p:spPr>
          <a:xfrm>
            <a:off x="502920" y="4279392"/>
            <a:ext cx="6172200" cy="512064"/>
          </a:xfrm>
          <a:prstGeom prst="roundRect">
            <a:avLst>
              <a:gd name="adj" fmla="val 17857"/>
            </a:avLst>
          </a:prstGeom>
          <a:solidFill>
            <a:srgbClr val="F2F2F2"/>
          </a:solidFill>
          <a:ln w="25400">
            <a:solidFill>
              <a:srgbClr val="0072B2"/>
            </a:solidFill>
          </a:ln>
        </p:spPr>
        <p:txBody>
          <a:bodyPr wrap="square" lIns="164592" tIns="164592" rIns="164592" bIns="164592" rtlCol="0" anchor="ct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呼吸数・反応を再評価</a:t>
            </a:r>
            <a:endParaRPr lang="ja-JP" sz="2400" dirty="0"/>
          </a:p>
        </p:txBody>
      </p:sp>
      <p:sp>
        <p:nvSpPr>
          <p:cNvPr id="20" name="Shape 18"/>
          <p:cNvSpPr/>
          <p:nvPr/>
        </p:nvSpPr>
        <p:spPr>
          <a:xfrm>
            <a:off x="1051560" y="4837176"/>
            <a:ext cx="0" cy="256032"/>
          </a:xfrm>
          <a:prstGeom prst="line">
            <a:avLst/>
          </a:prstGeom>
          <a:noFill/>
          <a:ln w="38100">
            <a:solidFill>
              <a:srgbClr val="404040"/>
            </a:solidFill>
            <a:prstDash val="solid"/>
            <a:tailEnd type="triangle"/>
          </a:ln>
        </p:spPr>
      </p:sp>
      <p:sp>
        <p:nvSpPr>
          <p:cNvPr id="21" name="Text 19"/>
          <p:cNvSpPr/>
          <p:nvPr/>
        </p:nvSpPr>
        <p:spPr>
          <a:xfrm>
            <a:off x="502920" y="5138928"/>
            <a:ext cx="6172200" cy="512064"/>
          </a:xfrm>
          <a:prstGeom prst="roundRect">
            <a:avLst>
              <a:gd name="adj" fmla="val 17857"/>
            </a:avLst>
          </a:prstGeom>
          <a:solidFill>
            <a:srgbClr val="F2F2F2"/>
          </a:solidFill>
          <a:ln w="25400">
            <a:solidFill>
              <a:srgbClr val="0072B2"/>
            </a:solidFill>
          </a:ln>
        </p:spPr>
        <p:txBody>
          <a:bodyPr wrap="square" lIns="164592" tIns="164592" rIns="164592" bIns="164592" rtlCol="0" anchor="ctr"/>
          <a:lstStyle/>
          <a:p>
            <a:pPr algn="l" indent="0" marL="0">
              <a:buNone/>
            </a:pPr>
            <a:r>
              <a:rPr lang="ja-JP" altLang="en-US" sz="2400" b="1" dirty="0">
                <a:solidFill>
                  <a:srgbClr val="262626"/>
                </a:solidFill>
                <a:latin typeface="メイリオ" pitchFamily="34" charset="0"/>
                <a:ea typeface="メイリオ" pitchFamily="34" charset="-122"/>
                <a:cs typeface="メイリオ" pitchFamily="34" charset="-120"/>
              </a:rPr>
              <a:t>作動薬が切れるまで観察し、申し送る</a:t>
            </a:r>
            <a:endParaRPr lang="ja-JP"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考え方</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ナロ</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キソン</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フルマ</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ゼニル</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落とし穴</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手順</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ナロキソン塩酸塩静注 0.2mg 添付文書 / アネキセート注射液 0.5mg 添付文書</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第4版」（2025）</a:t>
            </a:r>
            <a:endParaRPr lang="ja-JP" sz="1600" dirty="0"/>
          </a:p>
        </p:txBody>
      </p:sp>
      <p:sp>
        <p:nvSpPr>
          <p:cNvPr id="11" name="Text 9"/>
          <p:cNvSpPr txBox="1"/>
          <p:nvPr/>
        </p:nvSpPr>
        <p:spPr>
          <a:xfrm>
            <a:off x="502920" y="1783080"/>
            <a:ext cx="11155680" cy="3831336"/>
          </a:xfrm>
          <a:prstGeom prst="rect">
            <a:avLst/>
          </a:prstGeom>
          <a:noFill/>
          <a:ln/>
        </p:spPr>
        <p:txBody>
          <a:bodyPr wrap="square" lIns="0" tIns="0" rIns="0" bIns="0" rtlCol="0" anchor="t"/>
          <a:lstStyle/>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使う前に換気と原因の見積もり</a:t>
            </a:r>
            <a:endParaRPr lang="ja-JP" sz="2400" dirty="0"/>
          </a:p>
          <a:p>
            <a:pPr algn="l" marL="355600" indent="-355600">
              <a:spcAft>
                <a:spcPts val="2800"/>
              </a:spcAft>
              <a:buSzPct val="100000"/>
              <a:buChar char="•"/>
            </a:pPr>
            <a:r>
              <a:rPr lang="ja-JP" altLang="en-US" sz="2400" b="1" dirty="0">
                <a:solidFill>
                  <a:srgbClr val="262626"/>
                </a:solidFill>
                <a:latin typeface="メイリオ" pitchFamily="34" charset="0"/>
                <a:ea typeface="メイリオ" pitchFamily="34" charset="-122"/>
                <a:cs typeface="メイリオ" pitchFamily="34" charset="-120"/>
              </a:rPr>
              <a:t>ナロキソン</a:t>
            </a:r>
            <a:r>
              <a:rPr lang="ja-JP" altLang="en-US" sz="2400" dirty="0">
                <a:solidFill>
                  <a:srgbClr val="262626"/>
                </a:solidFill>
                <a:latin typeface="メイリオ" pitchFamily="34" charset="0"/>
                <a:ea typeface="メイリオ" pitchFamily="34" charset="-122"/>
                <a:cs typeface="メイリオ" pitchFamily="34" charset="-120"/>
              </a:rPr>
              <a:t>：0.2 mg/A を希釈し分割</a:t>
            </a:r>
            <a:r>
              <a:rPr lang="ja-JP" altLang="en-US" sz="2400" b="1" dirty="0">
                <a:solidFill>
                  <a:srgbClr val="D55E00"/>
                </a:solidFill>
                <a:latin typeface="メイリオ" pitchFamily="34" charset="0"/>
                <a:ea typeface="メイリオ" pitchFamily="34" charset="-122"/>
                <a:cs typeface="メイリオ" pitchFamily="34" charset="-120"/>
              </a:rPr>
              <a:t>（添付文書外）</a:t>
            </a:r>
            <a:r>
              <a:rPr lang="ja-JP" altLang="en-US" sz="2400" dirty="0">
                <a:solidFill>
                  <a:srgbClr val="262626"/>
                </a:solidFill>
                <a:latin typeface="メイリオ" pitchFamily="34" charset="0"/>
                <a:ea typeface="メイリオ" pitchFamily="34" charset="-122"/>
                <a:cs typeface="メイリオ" pitchFamily="34" charset="-120"/>
              </a:rPr>
              <a:t>。鎮痛は残す</a:t>
            </a:r>
            <a:endParaRPr lang="ja-JP" sz="2400" dirty="0"/>
          </a:p>
          <a:p>
            <a:pPr algn="l" marL="355600" indent="-355600">
              <a:spcAft>
                <a:spcPts val="2800"/>
              </a:spcAft>
              <a:buSzPct val="100000"/>
              <a:buChar char="•"/>
            </a:pPr>
            <a:r>
              <a:rPr lang="ja-JP" altLang="en-US" sz="2400" b="1" dirty="0">
                <a:solidFill>
                  <a:srgbClr val="262626"/>
                </a:solidFill>
                <a:latin typeface="メイリオ" pitchFamily="34" charset="0"/>
                <a:ea typeface="メイリオ" pitchFamily="34" charset="-122"/>
                <a:cs typeface="メイリオ" pitchFamily="34" charset="-120"/>
              </a:rPr>
              <a:t>フルマゼニル</a:t>
            </a:r>
            <a:r>
              <a:rPr lang="ja-JP" altLang="en-US" sz="2400" dirty="0">
                <a:solidFill>
                  <a:srgbClr val="262626"/>
                </a:solidFill>
                <a:latin typeface="メイリオ" pitchFamily="34" charset="0"/>
                <a:ea typeface="メイリオ" pitchFamily="34" charset="-122"/>
                <a:cs typeface="メイリオ" pitchFamily="34" charset="-120"/>
              </a:rPr>
              <a:t>：0.2 mg → 0.1 mg ずつ、総量 1 mg まで</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どちらも作動薬より先に切れる。観察と申し送り</a:t>
            </a:r>
            <a:endParaRPr lang="ja-JP" sz="2400" dirty="0"/>
          </a:p>
          <a:p>
            <a:pPr algn="l" marL="355600" indent="-355600">
              <a:spcAft>
                <a:spcPts val="2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効かなければ、薬以外の原因を探す</a:t>
            </a:r>
            <a:endParaRPr lang="ja-JP"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3-7 オピオイドとベンゾジアゼピンの拮抗</dc:title>
  <dc:subject/>
  <dc:creator>初期研修医向け麻酔講義</dc:creator>
  <cp:lastModifiedBy>初期研修医向け麻酔講義</cp:lastModifiedBy>
  <cp:revision>1</cp:revision>
  <dcterms:created xsi:type="dcterms:W3CDTF">2026-10-13T18:14:46Z</dcterms:created>
  <dcterms:modified xsi:type="dcterms:W3CDTF">2026-10-13T18:14:46Z</dcterms:modified>
</cp:coreProperties>
</file>