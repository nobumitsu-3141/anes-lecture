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3-8 で昇圧薬を循環生理の 4 要素（前負荷、後負荷、収縮力、心拍数）で整理した。この回では反対方向の薬（降圧薬、心拍数を下げる薬）と強心薬、そしてアドレナリンを同じ枠で整理する。術中の高血圧も低血圧と同じで、まず原因を探し、薬はそのあとに使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表の見方: 3-8 と同じ 4 要素で、今回は「下げる」薬が 3 つ、「上げる」薬が 2 つ。どの要素を動かしたいかが決まれば薬は決まる。</a:t>
            </a:r>
          </a:p>
          <a:p>
            <a:r>
              <a:rPr lang="ja-JP" altLang="en-US" dirty="0"/>
              <a:t>ニカルジピンは主に動脈を広げて後負荷を下げる。ニトログリセリンは低用量では主に静脈を広げて前負荷を下げ、高用量で動脈にも効く。ランジオロールは心拍数を下げる。ドブタミンは収縮力を上げる。アドレナリンは全部を上げるが、低用量では β 作用が主で、β2 作用で血管が広がり後負荷はむしろ下がることもある（用量で変わる。→ S8）。</a:t>
            </a:r>
          </a:p>
          <a:p>
            <a:r>
              <a:rPr lang="ja-JP" altLang="en-US" dirty="0"/>
              <a:t>以下、各薬の用量（添付文書）、向く場面、注意を 1 枚ずつ扱う。</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術中の高血圧で最も多いのは麻酔が浅い・鎮痛が足りないことで、まず麻酔深度と鎮痛を見直す（→ 2-8、3-4）。EtCO2 と SpO2 を確認する。膀胱の充満、止血帯の痛み、頭蓋内圧の上昇（神経外科）も原因になる。</a:t>
            </a:r>
          </a:p>
          <a:p>
            <a:r>
              <a:rPr lang="ja-JP" altLang="en-US" dirty="0"/>
              <a:t>薬: 昇圧薬の入れすぎ、ノルアドレナリンのラインの押し込み（→ 3-8）、ケタミン、エフェドリンの蓄積。</a:t>
            </a:r>
          </a:p>
          <a:p>
            <a:r>
              <a:rPr lang="ja-JP" altLang="en-US" dirty="0"/>
              <a:t>ほかに見落としやすい原因: 測定の誤り（トランスデューサの位置が低い、ゼロ点のずれ、カフが小さい）、悪性高熱（頻脈・EtCO2 の上昇と一緒に出る）、褐色細胞腫、降圧薬の中断（β 遮断薬・クロニジンの離脱）、甲状腺クリーゼ、自律神経過反射（脊髄損傷）。</a:t>
            </a:r>
          </a:p>
          <a:p>
            <a:r>
              <a:rPr lang="ja-JP" altLang="en-US" dirty="0"/>
              <a:t>それでも高いとき、または心血管のリスクが高く急いで下げたいとき（大動脈の手術、くも膜下出血、心筋虚血）に降圧薬を使う。目標は術前の値を目安に、急激に下げすぎない。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添付文書では、手術時の異常高血圧の救急処置に、生理食塩液または 5% ブドウ糖液で 0.01〜0.02%（0.1〜0.2 mg/mL）に希釈し、2〜10 μg/kg/分で点滴を開始する。目的の血圧まで下げたら、血圧を見ながら速度を調節する【要確認: ペルジピン注射液 6. 用法及び用量の原文（数値は両査読者の記憶と一致）】。急速に下げる必要があるときは、希釈せずそのまま 10〜30 μg/kg を静注する（70 kg で 0.7〜2.1 mg、原液 1 mg/mL なら 0.7〜2.1 mL）【要確認: 同 6. の原文】。高齢者では一般に過度の降圧は好ましくないとされているので、低用量から始め、患者の状態を見ながら慎重に使う【要確認: 同 9.8 高齢者の原文】。高血圧緊急症の用量（0.5〜6 μg/kg/分の持続。脳卒中学会 rt-PA 静注療法指針 第3版の表）は手術時の用量とは別。</a:t>
            </a:r>
          </a:p>
          <a:p>
            <a:r>
              <a:rPr lang="ja-JP" altLang="en-US" dirty="0"/>
              <a:t>希釈: 3-10 では 10 mg/10 mL（1 mg/mL）の原液を持続投与の例にしている。原液での持続投与は、添付文書の希釈濃度（0.1〜0.2 mg/mL）とは異なる施設の運用（添付文書外）なので、施設の標準に従う。γ計算は 3-10 で演習する。</a:t>
            </a:r>
          </a:p>
          <a:p>
            <a:r>
              <a:rPr lang="ja-JP" altLang="en-US" dirty="0"/>
              <a:t>作用: ジヒドロピリジン系のカルシウム拮抗薬で、血管平滑筋に選択的に効いて動脈を広げる。心抑制は少ない。血圧が下がると反射性に心拍数が上がる。冠動脈も広がる。</a:t>
            </a:r>
          </a:p>
          <a:p>
            <a:r>
              <a:rPr lang="ja-JP" altLang="en-US" dirty="0"/>
              <a:t>注意: 作用は比較的長く残り、持続投与を止めてもすぐには戻らない。末梢静脈からの持続で血管痛・静脈炎が起こる。下げすぎたら、まず投与を止め、輸液と昇圧薬で対応する。頭蓋内出血で止血が完成していないと推定される患者（出血を促すおそれ）と、脳卒中急性期で頭蓋内圧が亢進している患者（頭蓋内圧を上げるおそれ）には慎重に使う（以前は禁忌で、2011 年の改訂で慎重投与に変わった）【要確認: 同 9.1 の原文と改訂の年】。</a:t>
            </a:r>
          </a:p>
          <a:p>
            <a:r>
              <a:rPr lang="ja-JP" altLang="en-US" dirty="0"/>
              <a:t>副作用・配合: 重大な副作用に低酸素血症（低酸素性肺血管収縮が抑えられて肺内シャントが増える）と麻痺性イレウスがある。麻酔中に SpO2 が下がる原因の一つになる。アルカリ性の薬剤と混ぜると析出するので、同じラインからの側注に注意する【要確認: 同 11.1 重大な副作用・14. 適用上の注意の原文（両査読者の記憶による）】。</a:t>
            </a:r>
          </a:p>
          <a:p>
            <a:r>
              <a:rPr lang="ja-JP" altLang="en-US" dirty="0"/>
              <a:t>参考: Toyoda K, et al. Neurol Med Chir (Tokyo) 2019;59:449-491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添付文書では、そのまま、または生理食塩液・5% ブドウ糖液・乳酸リンゲル液などで 0.005〜0.05%（50〜500 μg/mL）にして点滴静注する。手術時の異常高血圧の救急処置は 0.5〜5 μg/kg/分で開始、手術時の低血圧維持は 1〜5 μg/kg/分で開始し、目的の血圧まで下げて以後は血圧を見ながら調節する【要確認: 使う製剤（例 ミリスロール注）の 6. 用法及び用量の原文。開始速度は両査読者の記憶と一致、希釈濃度は記憶のみ】。急性心不全（慢性心不全の急性増悪を含む）は 0.05〜0.1 μg/kg/分、不安定狭心症は 0.1〜0.2 μg/kg/分と、より低い用量から始める別の規定がある【要確認: 同 6. の原文の数値と増量の方法】。</a:t>
            </a:r>
          </a:p>
          <a:p>
            <a:r>
              <a:rPr lang="ja-JP" altLang="en-US" dirty="0"/>
              <a:t>作用: 一酸化窒素（NO）を介して血管平滑筋を弛緩させる。低用量では静脈が主に広がって前負荷が下がり、高用量で動脈も広がる。冠動脈を広げ、心筋の酸素需要を下げるので、心筋虚血を伴う高血圧に向く。</a:t>
            </a:r>
          </a:p>
          <a:p>
            <a:r>
              <a:rPr lang="ja-JP" altLang="en-US" dirty="0"/>
              <a:t>注意: 頭痛、反射性頻脈、持続投与で耐性。塩化ビニル製（ポリウレタン製も）の輸液容器・回路に吸着されるので、ポリエチレン・ポリオレフィン製など吸着しにくい回路を使う（添付文書に記載）。回路の材質を途中で変えると、実際に入る量が急に増えて血圧が下がることがある。</a:t>
            </a:r>
          </a:p>
          <a:p>
            <a:r>
              <a:rPr lang="ja-JP" altLang="en-US" dirty="0"/>
              <a:t>禁忌: 硝酸・亜硝酸エステル系薬剤への過敏症、閉塞隅角緑内障（眼圧が上がる）、高度な貧血、PDE5 阻害薬（シルデナフィル、バルデナフィル、タダラフィル）・リオシグアトの投与中（併用で著しい血圧低下）。慎重に使う: 頭部外傷・脳出血（頭蓋内圧を上げるおそれ）、低血圧、肥大型閉塞性心筋症【要確認: 注射剤の添付文書 2. 禁忌・9.1 の原文（両査読者の記憶による）】。舌下錠など他の剤形とは禁忌の範囲が違うので、注射剤の添付文書で確かめる。</a:t>
            </a:r>
          </a:p>
          <a:p>
            <a:r>
              <a:rPr lang="ja-JP" altLang="en-US" dirty="0"/>
              <a:t>参考: リオシグアトなどの sGC 刺激薬は、硝酸薬・PDE5 阻害薬と併用しない（Wardle AJ, et al. Cochrane Database Syst Rev 2016;2016(8):CD011205）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添付文書では、手術時の頻脈性不整脈（心房細動、心房粗動、洞性頻脈）の緊急処置に、0.125 mg/kg/分で 1 分間静脈内持続投与したあと 0.04 mg/kg/分で維持し、心拍数と血圧を見ながら 0.01〜0.04 mg/kg/分の範囲で調節する。手術時はこの範囲を超えて増量する規定はなく、上限は 0.04 mg/kg/分【要確認: オノアクト点滴静注用 6. 用法及び用量の原文】。</a:t>
            </a:r>
          </a:p>
          <a:p>
            <a:r>
              <a:rPr lang="ja-JP" altLang="en-US" dirty="0"/>
              <a:t>手術時以外の用量（JCS/JHRS 2020 不整脈薬物治療ガイドラインの国内承認用量の表）: 手術後（循環動態監視下）の頻脈性不整脈は、0.06 mg/kg/分で 1 分間投与したあと 0.02 mg/kg/分で持続。5〜10 分を目安に心拍数が十分下がらなければ、0.125 mg/kg/分で 1 分間投与したあと 0.04 mg/kg/分（0.01〜0.04 mg/kg/分で調節【要確認: 添付文書の原文】）。1 μg/kg/分で始めて 1〜10 μg/kg/分で調節するのは、心機能低下例の心房細動・心房粗動と、心室細動・血行動態の不安定な心室頻拍（こちらは最大 40 μg/kg/分）。敗血症に伴う頻脈性不整脈も 1 μg/kg/分で開始し、上限 20 μg/kg/分【要確認: 添付文書の敗血症の用量】。</a:t>
            </a:r>
          </a:p>
          <a:p>
            <a:r>
              <a:rPr lang="ja-JP" altLang="en-US" dirty="0"/>
              <a:t>単位: 0.04 mg/kg/分 = 40 μg/kg/分で、心機能低下例の開始量 1 μg/kg/分の 40 倍。mg と μg を取り違えない（→ S9）。</a:t>
            </a:r>
          </a:p>
          <a:p>
            <a:r>
              <a:rPr lang="ja-JP" altLang="en-US" dirty="0"/>
              <a:t>作用: β1 選択性の高い超短時間作用型の β 遮断薬で、血中のエステラーゼで分解され、半減期は約 4 分（3〜4 分）。心拍数を下げる作用が主で、血圧の低下は比較的少ない。止めれば数分で効果が消えるので、麻酔中に使いやすい。</a:t>
            </a:r>
          </a:p>
          <a:p>
            <a:r>
              <a:rPr lang="ja-JP" altLang="en-US" dirty="0"/>
              <a:t>注意: 禁忌は、心原性ショック、糖尿病性ケトアシドーシス・代謝性アシドーシス、II 度以上の房室ブロック・洞不全症候群などの徐脈性不整脈、肺高血圧症による右心不全、未治療の褐色細胞腫、本剤への過敏症【要確認: オノアクト点滴静注用 2. 禁忌の原文（両査読者の記憶による）】。収縮力も下げるので、心不全・低心拍出では悪化しうる。ただし、心機能低下例の心房細動・心房粗動には低用量（1〜10 μg/kg/分）の適応がある。β1 選択性は高いが、喘息では気管支攣縮に注意する【要確認: 同 9.1 の記載】。</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添付文書では、急性循環不全の心収縮力増強に、通常 1〜5 μg/kg/分を点滴静注し、年齢・症状で増減、必要なら 20 μg/kg/分まで増量できる。1〜5 は「通常量」で、「開始量」とは書かれていない。アンプル製剤は 5% ブドウ糖液か生理食塩液で希釈する。希釈済みのキット・シリンジ製剤はそのまま使う【要確認: 使う製剤の添付文書 6. 用法及び用量の原文（数値は両査読者の記憶と一致）】。</a:t>
            </a:r>
          </a:p>
          <a:p>
            <a:r>
              <a:rPr lang="ja-JP" altLang="en-US" dirty="0"/>
              <a:t>作用: 主に β1 受容体を刺激して収縮力と心拍数を上げる。β2 作用で血管はやや広がるため、血圧は上がらないか、むしろ下がることがある。「血圧を上げる薬」ではなく「心拍出量を上げる薬」と理解する。</a:t>
            </a:r>
          </a:p>
          <a:p>
            <a:r>
              <a:rPr lang="ja-JP" altLang="en-US" dirty="0"/>
              <a:t>向く場面: 心機能が悪く、前負荷は足りているのに心拍出量が足りないとき（心原性ショック、心臓手術後、重症心不全の非心臓手術）。麻酔中に新たに始めるときは、循環器内科や上級医と相談する。</a:t>
            </a:r>
          </a:p>
          <a:p>
            <a:r>
              <a:rPr lang="ja-JP" altLang="en-US" dirty="0"/>
              <a:t>注意: 頻脈と不整脈。心筋の酸素消費が増えるので、虚血性心疾患では注意。前負荷が足りない（脱水、出血）状態で入れても効かない。</a:t>
            </a:r>
          </a:p>
          <a:p>
            <a:r>
              <a:rPr lang="ja-JP" altLang="en-US" dirty="0"/>
              <a:t>禁忌: 肥大型閉塞性心筋症（特発性肥厚性大動脈弁下狭窄）。収縮力を上げると左室流出路の狭窄が強くなり、心拍出量がかえって落ちる【要確認: 使う製剤の添付文書 2. 禁忌の原文（両査読者の記憶による）】。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心停止: 1 mg を静脈内投与し、3〜5 分ごとに繰り返す（JRC 蘇生ガイドライン 2020）【要確認: JRC 蘇生ガイドライン 2025 の公開の有無と、心停止時のアドレナリンの用量・間隔の記載（jrc.or.jp）。公開されていれば sources を差し替える】。</a:t>
            </a:r>
          </a:p>
          <a:p>
            <a:r>
              <a:rPr lang="ja-JP" altLang="en-US" dirty="0"/>
              <a:t>アナフィラキシー: 麻酔中は静脈路とモニターがあるので、希釈したアドレナリンの静注が第一選択（日本麻酔科学会「アナフィラキシーに対する対応プラクティカルガイド」2021: Takazawa 2021）。ガイドでは症状の重さで用量を選ぶ。血圧低下には 0.2 μg/kg（体重 50 kg で 10 μg）を静注し、反応を見て繰り返す。循環虚脱には 0.05〜0.3 mg を静注する。静脈路がなければ成人 0.3 mg（小児 10 μg/kg）を筋注する。0.01 mg/mL（10 μg/mL）に希釈すれば、体重 50 kg の 10 μg は 1 mL になる【要確認: 原典 J Anesth 2021;35:778-793 の表（二次資料 Pouessel 2024 の表でのみ確認）】。麻酔の場以外での一般的な筋注は 0.01 mg/kg（最大 成人 0.5 mg、小児 0.3 mg）を大腿前外側に（WAO など）。0.5 mg は成人の上限で、標準量ではない。</a:t>
            </a:r>
          </a:p>
          <a:p>
            <a:r>
              <a:rPr lang="ja-JP" altLang="en-US" dirty="0"/>
              <a:t>効かないとき: カテコラミンに反応しなければバソプレシンを考える。輸液は晶質液を最初の 5 分で 5〜10 mL/kg。β 遮断薬の内服中はアドレナリンが効きにくく、グルカゴンを考える（Pouessel 2024 の各国ガイドラインの比較）。手順は 6 章で扱う。</a:t>
            </a:r>
          </a:p>
          <a:p>
            <a:r>
              <a:rPr lang="ja-JP" altLang="en-US" dirty="0"/>
              <a:t>低心拍出: 0.01〜0.1 μg/kg/分程度で持続投与する。添付文書には持続投与の用量がなく【要確認: ボスミン注 6. 用法及び用量に持続投与（μg/kg/分）の記載がないこと】、教科書的な目安（添付文書外）である。施設のプロトコルで確認する。参考として、周術期アナフィラキシーで持続投与に移るときの開始量は 0.05〜0.1 μg/kg/分（ISPAR、SFAR。Pouessel 2024 の表）。</a:t>
            </a:r>
          </a:p>
          <a:p>
            <a:r>
              <a:rPr lang="ja-JP" altLang="en-US" dirty="0"/>
              <a:t>添付文書の用量: ボスミン注の静注は、蘇生などの緊急時に 1 回 0.25 mg を超えない量を生理食塩液などで希釈し、できるだけゆっくり静注し、必要なら 5〜15 分ごとに繰り返す。皮下注・筋注は 1 回 0.2〜1 mg。心停止の 1 mg と循環虚脱の最大 0.3 mg は、この静注上限を超えるガイドラインの用量である【要確認: ボスミン注 6. 用法及び用量の原文（両査読者の記憶による）】。添付文書を見たときに混乱しないよう、どちらの値かを意識する。</a:t>
            </a:r>
          </a:p>
          <a:p>
            <a:r>
              <a:rPr lang="ja-JP" altLang="en-US" dirty="0"/>
              <a:t>作用: α1、β1、β2 のすべてに効く。低用量では β 作用（心拍数、収縮力、血管・気管支の拡張）が目立ち、高用量で α 作用（血管収縮）が前に出る。</a:t>
            </a:r>
          </a:p>
          <a:p>
            <a:r>
              <a:rPr lang="ja-JP" altLang="en-US" dirty="0"/>
              <a:t>注意: 不整脈、心筋虚血、高血糖、乳酸の上昇。製剤は 1 mg/mL（1:1,000）で、静注するときは希釈する（例 1 mg を 10 mL にして 0.1 mg/mL = 1:10,000、さらに希釈して 0.01 mg/mL = 10 μg/mL。後者はアナフィラキシーの少量静注用）。濃度の取り違えで 10 倍・100 倍の誤投与が起こるので、希釈した注射器には必ず濃度を書く。</a:t>
            </a:r>
          </a:p>
          <a:p>
            <a:r>
              <a:rPr lang="ja-JP" altLang="en-US" dirty="0"/>
              <a:t>参考: Pouessel G, et al. Clin Exp Allergy 2024;54:470-488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下げすぎ: ニカルジピンは効果が長く残る。少量から始め、下がりすぎたら止めて輸液・昇圧薬。</a:t>
            </a:r>
          </a:p>
          <a:p>
            <a:r>
              <a:rPr lang="ja-JP" altLang="en-US" dirty="0"/>
              <a:t>PDE5 阻害薬: 術前の問診で内服を確認する（→ 4 章）。勃起不全（シルデナフィル、タダラフィル）に加え、前立腺肥大症の排尿障害（タダラフィル＝ザルティア）、肺高血圧（シルデナフィル＝レバチオ、タダラフィル＝アドシルカ）でも使われ、高齢男性で見落としやすい。肺高血圧に使うリオシグアト（アデムパス）も併用禁忌【要確認: ニトログリセリン注 2. 禁忌の原文】。</a:t>
            </a:r>
          </a:p>
          <a:p>
            <a:r>
              <a:rPr lang="ja-JP" altLang="en-US" dirty="0"/>
              <a:t>β 遮断: 心機能が悪い患者では収縮力低下で心拍出量が落ちる。ランジオロールは短時間作用なので止めれば戻るが、気づくのが遅れないよう血圧を見る。ランジオロールは適応で単位が違う（手術時・術後は mg/kg/分、心機能低下例は μg/kg/分）。0.04 mg/kg/分 = 40 μg/kg/分で、心機能低下例の開始量の 40 倍。mg と μg を取り違えない。</a:t>
            </a:r>
          </a:p>
          <a:p>
            <a:r>
              <a:rPr lang="ja-JP" altLang="en-US" dirty="0"/>
              <a:t>濃度: アドレナリンは場面ごとに濃度が違う（筋注は原液、静注は希釈）。注射器に濃度を書く。</a:t>
            </a:r>
          </a:p>
          <a:p>
            <a:r>
              <a:rPr lang="ja-JP" altLang="en-US" dirty="0"/>
              <a:t>原因: 高血圧を薬で押さえる前に、麻酔深度、鎮痛、EtCO2、膀胱、体位を確認する。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分）。4 要素で薬を整理し、添付文書の開始用量を覚える。ニカルジピンとニトログリセリンは手術時の異常高血圧での開始速度、ランジオロールは手術時の用量（術後や心機能低下例は別）、ドブタミンは通常量と上限である。術中の高血圧も低血圧も、まず原因、薬はそのあと。次は 3-10（γ計算の演習）で、この回と 3-8 の薬の持続投与の計算を実際に行う。</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降圧薬・強心薬</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3-9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4 要素で整理する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第4版」Ⅲ 静脈関連薬（2025）</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2286000"/>
                <a:gridCol w="3108960"/>
                <a:gridCol w="5788152"/>
              </a:tblGrid>
              <a:tr h="621792">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動かす要素</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方向</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薬</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621792">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後負荷</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下げる</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ニカルジピン</a:t>
                      </a:r>
                      <a:r>
                        <a:rPr lang="ja-JP" altLang="en-US" sz="2400" dirty="0">
                          <a:solidFill>
                            <a:srgbClr val="262626"/>
                          </a:solidFill>
                          <a:latin typeface="メイリオ" pitchFamily="34" charset="0"/>
                          <a:ea typeface="メイリオ" pitchFamily="34" charset="-122"/>
                          <a:cs typeface="メイリオ" pitchFamily="34" charset="-120"/>
                        </a:rPr>
                        <a:t>（動脈を広げる）</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21792">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前負荷</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下げる</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ニトログリセリン</a:t>
                      </a:r>
                      <a:r>
                        <a:rPr lang="ja-JP" altLang="en-US" sz="2400" dirty="0">
                          <a:solidFill>
                            <a:srgbClr val="262626"/>
                          </a:solidFill>
                          <a:latin typeface="メイリオ" pitchFamily="34" charset="0"/>
                          <a:ea typeface="メイリオ" pitchFamily="34" charset="-122"/>
                          <a:cs typeface="メイリオ" pitchFamily="34" charset="-120"/>
                        </a:rPr>
                        <a:t>（静脈を広げる）</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21792">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心拍数</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下げる</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ランジオロール</a:t>
                      </a:r>
                      <a:r>
                        <a:rPr lang="ja-JP" altLang="en-US" sz="2400" dirty="0">
                          <a:solidFill>
                            <a:srgbClr val="262626"/>
                          </a:solidFill>
                          <a:latin typeface="メイリオ" pitchFamily="34" charset="0"/>
                          <a:ea typeface="メイリオ" pitchFamily="34" charset="-122"/>
                          <a:cs typeface="メイリオ" pitchFamily="34" charset="-120"/>
                        </a:rPr>
                        <a:t>（β1 遮断）</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21792">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収縮力</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上げる</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ドブタミン</a:t>
                      </a:r>
                      <a:r>
                        <a:rPr lang="ja-JP" altLang="en-US" sz="2400" dirty="0">
                          <a:solidFill>
                            <a:srgbClr val="262626"/>
                          </a:solidFill>
                          <a:latin typeface="メイリオ" pitchFamily="34" charset="0"/>
                          <a:ea typeface="メイリオ" pitchFamily="34" charset="-122"/>
                          <a:cs typeface="メイリオ" pitchFamily="34" charset="-120"/>
                        </a:rPr>
                        <a:t>（β1 刺激）</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78992">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全部</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上げる</a:t>
                      </a:r>
                      <a:endParaRPr lang="en-US" sz="2400" dirty="0">
                        <a:latin typeface="メイリオ" charset="0"/>
                        <a:ea typeface="メイリオ" charset="0"/>
                        <a:cs typeface="メイリオ" charset="0"/>
                      </a:endParaRPr>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（用量で変わる）</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アドレナリン</a:t>
                      </a:r>
                      <a:r>
                        <a:rPr lang="ja-JP" altLang="en-US" sz="2400" dirty="0">
                          <a:solidFill>
                            <a:srgbClr val="262626"/>
                          </a:solidFill>
                          <a:latin typeface="メイリオ" pitchFamily="34" charset="0"/>
                          <a:ea typeface="メイリオ" pitchFamily="34" charset="-122"/>
                          <a:cs typeface="メイリオ" pitchFamily="34" charset="-120"/>
                        </a:rPr>
                        <a:t>（α＋β）</a:t>
                      </a:r>
                      <a:endParaRPr lang="en-US" sz="2400" dirty="0">
                        <a:latin typeface="メイリオ" charset="0"/>
                        <a:ea typeface="メイリオ" charset="0"/>
                        <a:cs typeface="メイリオ" charset="0"/>
                      </a:endParaRPr>
                    </a:p>
                  </a:txBody>
                  <a:tcPr marL="152400" marR="1270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術中高血圧の前に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第4版」Ⅲ（2025）</a:t>
            </a:r>
            <a:endParaRPr lang="ja-JP" sz="1600" dirty="0"/>
          </a:p>
        </p:txBody>
      </p:sp>
      <p:sp>
        <p:nvSpPr>
          <p:cNvPr id="11" name="Text 9"/>
          <p:cNvSpPr txBox="1"/>
          <p:nvPr/>
        </p:nvSpPr>
        <p:spPr>
          <a:xfrm>
            <a:off x="502920" y="1810512"/>
            <a:ext cx="11155680" cy="4069080"/>
          </a:xfrm>
          <a:prstGeom prst="rect">
            <a:avLst/>
          </a:prstGeom>
          <a:noFill/>
          <a:ln/>
        </p:spPr>
        <p:txBody>
          <a:bodyPr wrap="square" lIns="0" tIns="0" rIns="0" bIns="0" rtlCol="0" anchor="t"/>
          <a:lstStyle/>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麻酔が浅い、痛み刺激（切開、牽引、止血帯）</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高二酸化炭素血症、低酸素</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膀胱の充満、頭蓋内圧の上昇</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薬：昇圧薬の入れすぎ、ライン内の薬の押し込み</a:t>
            </a:r>
            <a:endParaRPr lang="ja-JP" sz="2800" dirty="0"/>
          </a:p>
          <a:p>
            <a:pPr algn="l" marL="406400" indent="-406400">
              <a:spcAft>
                <a:spcPts val="26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まず原因。降圧薬はそのあと</a:t>
            </a:r>
            <a:endParaRPr lang="ja-JP"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ニカルジピン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ペルジピン注射液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第4版」Ⅲ（2025）</a:t>
            </a:r>
            <a:endParaRPr lang="ja-JP" sz="1600" dirty="0"/>
          </a:p>
        </p:txBody>
      </p:sp>
      <p:sp>
        <p:nvSpPr>
          <p:cNvPr id="11" name="Shape 9"/>
          <p:cNvSpPr/>
          <p:nvPr/>
        </p:nvSpPr>
        <p:spPr>
          <a:xfrm>
            <a:off x="502920" y="1691640"/>
            <a:ext cx="3638398" cy="4178808"/>
          </a:xfrm>
          <a:prstGeom prst="roundRect">
            <a:avLst>
              <a:gd name="adj" fmla="val 2011"/>
            </a:avLst>
          </a:prstGeom>
          <a:solidFill>
            <a:srgbClr val="F2F2F2"/>
          </a:solidFill>
          <a:ln/>
        </p:spPr>
      </p:sp>
      <p:sp>
        <p:nvSpPr>
          <p:cNvPr id="12" name="Text 10"/>
          <p:cNvSpPr txBox="1"/>
          <p:nvPr/>
        </p:nvSpPr>
        <p:spPr>
          <a:xfrm>
            <a:off x="630936" y="1819656"/>
            <a:ext cx="338236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630936" y="2368296"/>
            <a:ext cx="3382366"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持続：</a:t>
            </a:r>
            <a:r>
              <a:rPr lang="ja-JP" altLang="en-US" sz="2200" b="1" dirty="0">
                <a:solidFill>
                  <a:srgbClr val="0072B2"/>
                </a:solidFill>
                <a:latin typeface="メイリオ" pitchFamily="34" charset="0"/>
                <a:ea typeface="メイリオ" pitchFamily="34" charset="-122"/>
                <a:cs typeface="メイリオ" pitchFamily="34" charset="-120"/>
              </a:rPr>
              <a:t>2〜10 μg/kg/分</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で開始</a:t>
            </a:r>
            <a:endParaRPr lang="ja-JP" sz="2200" dirty="0"/>
          </a:p>
        </p:txBody>
      </p:sp>
      <p:sp>
        <p:nvSpPr>
          <p:cNvPr id="14" name="Shape 12"/>
          <p:cNvSpPr/>
          <p:nvPr/>
        </p:nvSpPr>
        <p:spPr>
          <a:xfrm>
            <a:off x="630936" y="3419856"/>
            <a:ext cx="3382366" cy="0"/>
          </a:xfrm>
          <a:prstGeom prst="line">
            <a:avLst/>
          </a:prstGeom>
          <a:noFill/>
          <a:ln w="12700">
            <a:solidFill>
              <a:srgbClr val="BFBFBF"/>
            </a:solidFill>
            <a:prstDash val="solid"/>
          </a:ln>
        </p:spPr>
      </p:sp>
      <p:sp>
        <p:nvSpPr>
          <p:cNvPr id="15" name="Text 13"/>
          <p:cNvSpPr txBox="1"/>
          <p:nvPr/>
        </p:nvSpPr>
        <p:spPr>
          <a:xfrm>
            <a:off x="630936" y="3611880"/>
            <a:ext cx="3382366"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急速降圧：</a:t>
            </a:r>
            <a:endParaRPr lang="ja-JP" sz="2200" dirty="0"/>
          </a:p>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10〜30 μg/kg</a:t>
            </a:r>
            <a:r>
              <a:rPr lang="ja-JP" altLang="en-US" sz="2200" dirty="0">
                <a:solidFill>
                  <a:srgbClr val="262626"/>
                </a:solidFill>
                <a:latin typeface="メイリオ" pitchFamily="34" charset="0"/>
                <a:ea typeface="メイリオ" pitchFamily="34" charset="-122"/>
                <a:cs typeface="メイリオ" pitchFamily="34" charset="-120"/>
              </a:rPr>
              <a:t> を静注</a:t>
            </a:r>
            <a:endParaRPr lang="ja-JP" sz="2200" dirty="0"/>
          </a:p>
        </p:txBody>
      </p:sp>
      <p:sp>
        <p:nvSpPr>
          <p:cNvPr id="16" name="Shape 14"/>
          <p:cNvSpPr/>
          <p:nvPr/>
        </p:nvSpPr>
        <p:spPr>
          <a:xfrm>
            <a:off x="630936" y="4663440"/>
            <a:ext cx="3382366" cy="0"/>
          </a:xfrm>
          <a:prstGeom prst="line">
            <a:avLst/>
          </a:prstGeom>
          <a:noFill/>
          <a:ln w="12700">
            <a:solidFill>
              <a:srgbClr val="BFBFBF"/>
            </a:solidFill>
            <a:prstDash val="solid"/>
          </a:ln>
        </p:spPr>
      </p:sp>
      <p:sp>
        <p:nvSpPr>
          <p:cNvPr id="17" name="Text 15"/>
          <p:cNvSpPr txBox="1"/>
          <p:nvPr/>
        </p:nvSpPr>
        <p:spPr>
          <a:xfrm>
            <a:off x="630936" y="4855464"/>
            <a:ext cx="3382366"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高齢者は低用量から</a:t>
            </a:r>
            <a:endParaRPr lang="ja-JP" sz="2200" dirty="0"/>
          </a:p>
        </p:txBody>
      </p:sp>
      <p:sp>
        <p:nvSpPr>
          <p:cNvPr id="18" name="Shape 16"/>
          <p:cNvSpPr/>
          <p:nvPr/>
        </p:nvSpPr>
        <p:spPr>
          <a:xfrm>
            <a:off x="4360774" y="1691640"/>
            <a:ext cx="3838651" cy="4178808"/>
          </a:xfrm>
          <a:prstGeom prst="roundRect">
            <a:avLst>
              <a:gd name="adj" fmla="val 1906"/>
            </a:avLst>
          </a:prstGeom>
          <a:solidFill>
            <a:srgbClr val="F2F2F2"/>
          </a:solidFill>
          <a:ln/>
        </p:spPr>
      </p:sp>
      <p:sp>
        <p:nvSpPr>
          <p:cNvPr id="19" name="Text 17"/>
          <p:cNvSpPr txBox="1"/>
          <p:nvPr/>
        </p:nvSpPr>
        <p:spPr>
          <a:xfrm>
            <a:off x="4488790" y="1819656"/>
            <a:ext cx="3582619"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作用</a:t>
            </a:r>
            <a:endParaRPr lang="ja-JP" sz="2400" dirty="0"/>
          </a:p>
        </p:txBody>
      </p:sp>
      <p:sp>
        <p:nvSpPr>
          <p:cNvPr id="20" name="Text 18"/>
          <p:cNvSpPr txBox="1"/>
          <p:nvPr/>
        </p:nvSpPr>
        <p:spPr>
          <a:xfrm>
            <a:off x="4488790" y="2368296"/>
            <a:ext cx="358261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Ca 拮抗薬、動脈を広げる</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（後負荷↓）</a:t>
            </a:r>
            <a:endParaRPr lang="ja-JP" sz="2200" dirty="0"/>
          </a:p>
        </p:txBody>
      </p:sp>
      <p:sp>
        <p:nvSpPr>
          <p:cNvPr id="21" name="Shape 19"/>
          <p:cNvSpPr/>
          <p:nvPr/>
        </p:nvSpPr>
        <p:spPr>
          <a:xfrm>
            <a:off x="4488790" y="3419856"/>
            <a:ext cx="3582619" cy="0"/>
          </a:xfrm>
          <a:prstGeom prst="line">
            <a:avLst/>
          </a:prstGeom>
          <a:noFill/>
          <a:ln w="12700">
            <a:solidFill>
              <a:srgbClr val="BFBFBF"/>
            </a:solidFill>
            <a:prstDash val="solid"/>
          </a:ln>
        </p:spPr>
      </p:sp>
      <p:sp>
        <p:nvSpPr>
          <p:cNvPr id="22" name="Text 20"/>
          <p:cNvSpPr txBox="1"/>
          <p:nvPr/>
        </p:nvSpPr>
        <p:spPr>
          <a:xfrm>
            <a:off x="4488790" y="3611880"/>
            <a:ext cx="358261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反射性に心拍数が上がる</a:t>
            </a:r>
            <a:endParaRPr lang="ja-JP" sz="2200" dirty="0"/>
          </a:p>
        </p:txBody>
      </p:sp>
      <p:sp>
        <p:nvSpPr>
          <p:cNvPr id="23" name="Shape 21"/>
          <p:cNvSpPr/>
          <p:nvPr/>
        </p:nvSpPr>
        <p:spPr>
          <a:xfrm>
            <a:off x="4488790" y="4224528"/>
            <a:ext cx="3582619" cy="0"/>
          </a:xfrm>
          <a:prstGeom prst="line">
            <a:avLst/>
          </a:prstGeom>
          <a:noFill/>
          <a:ln w="12700">
            <a:solidFill>
              <a:srgbClr val="BFBFBF"/>
            </a:solidFill>
            <a:prstDash val="solid"/>
          </a:ln>
        </p:spPr>
      </p:sp>
      <p:sp>
        <p:nvSpPr>
          <p:cNvPr id="24" name="Text 22"/>
          <p:cNvSpPr txBox="1"/>
          <p:nvPr/>
        </p:nvSpPr>
        <p:spPr>
          <a:xfrm>
            <a:off x="4488790" y="4416552"/>
            <a:ext cx="358261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冠動脈も広がる</a:t>
            </a:r>
            <a:endParaRPr lang="ja-JP" sz="2200" dirty="0"/>
          </a:p>
        </p:txBody>
      </p:sp>
      <p:sp>
        <p:nvSpPr>
          <p:cNvPr id="25" name="Shape 23"/>
          <p:cNvSpPr/>
          <p:nvPr/>
        </p:nvSpPr>
        <p:spPr>
          <a:xfrm>
            <a:off x="8418881" y="1691640"/>
            <a:ext cx="3267151" cy="4178808"/>
          </a:xfrm>
          <a:prstGeom prst="roundRect">
            <a:avLst>
              <a:gd name="adj" fmla="val 2239"/>
            </a:avLst>
          </a:prstGeom>
          <a:solidFill>
            <a:srgbClr val="F2F2F2"/>
          </a:solidFill>
          <a:ln/>
        </p:spPr>
      </p:sp>
      <p:sp>
        <p:nvSpPr>
          <p:cNvPr id="26" name="Text 24"/>
          <p:cNvSpPr txBox="1"/>
          <p:nvPr/>
        </p:nvSpPr>
        <p:spPr>
          <a:xfrm>
            <a:off x="8546897" y="1819656"/>
            <a:ext cx="3011119"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546897" y="2368296"/>
            <a:ext cx="301111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効果がやや長く残る</a:t>
            </a:r>
            <a:endParaRPr lang="ja-JP" sz="2200" dirty="0"/>
          </a:p>
        </p:txBody>
      </p:sp>
      <p:sp>
        <p:nvSpPr>
          <p:cNvPr id="28" name="Shape 26"/>
          <p:cNvSpPr/>
          <p:nvPr/>
        </p:nvSpPr>
        <p:spPr>
          <a:xfrm>
            <a:off x="8546897" y="2980944"/>
            <a:ext cx="3011119" cy="0"/>
          </a:xfrm>
          <a:prstGeom prst="line">
            <a:avLst/>
          </a:prstGeom>
          <a:noFill/>
          <a:ln w="12700">
            <a:solidFill>
              <a:srgbClr val="BFBFBF"/>
            </a:solidFill>
            <a:prstDash val="solid"/>
          </a:ln>
        </p:spPr>
      </p:sp>
      <p:sp>
        <p:nvSpPr>
          <p:cNvPr id="29" name="Text 27"/>
          <p:cNvSpPr txBox="1"/>
          <p:nvPr/>
        </p:nvSpPr>
        <p:spPr>
          <a:xfrm>
            <a:off x="8546897" y="3172968"/>
            <a:ext cx="301111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末梢静脈で血管痛</a:t>
            </a:r>
            <a:endParaRPr lang="ja-JP" sz="2200" dirty="0"/>
          </a:p>
        </p:txBody>
      </p:sp>
      <p:sp>
        <p:nvSpPr>
          <p:cNvPr id="30" name="Shape 28"/>
          <p:cNvSpPr/>
          <p:nvPr/>
        </p:nvSpPr>
        <p:spPr>
          <a:xfrm>
            <a:off x="8546897" y="3785616"/>
            <a:ext cx="3011119" cy="0"/>
          </a:xfrm>
          <a:prstGeom prst="line">
            <a:avLst/>
          </a:prstGeom>
          <a:noFill/>
          <a:ln w="12700">
            <a:solidFill>
              <a:srgbClr val="BFBFBF"/>
            </a:solidFill>
            <a:prstDash val="solid"/>
          </a:ln>
        </p:spPr>
      </p:sp>
      <p:sp>
        <p:nvSpPr>
          <p:cNvPr id="31" name="Text 29"/>
          <p:cNvSpPr txBox="1"/>
          <p:nvPr/>
        </p:nvSpPr>
        <p:spPr>
          <a:xfrm>
            <a:off x="8546897" y="3977640"/>
            <a:ext cx="301111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下げすぎたら</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輸液と昇圧薬</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ニトログリセリン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ニトログリセリン注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第4版」Ⅲ（2025）</a:t>
            </a:r>
            <a:endParaRPr lang="ja-JP" sz="1600" dirty="0"/>
          </a:p>
        </p:txBody>
      </p:sp>
      <p:sp>
        <p:nvSpPr>
          <p:cNvPr id="11" name="Shape 9"/>
          <p:cNvSpPr/>
          <p:nvPr/>
        </p:nvSpPr>
        <p:spPr>
          <a:xfrm>
            <a:off x="502920" y="1691640"/>
            <a:ext cx="4020617" cy="4178808"/>
          </a:xfrm>
          <a:prstGeom prst="roundRect">
            <a:avLst>
              <a:gd name="adj" fmla="val 1819"/>
            </a:avLst>
          </a:prstGeom>
          <a:solidFill>
            <a:srgbClr val="F2F2F2"/>
          </a:solidFill>
          <a:ln/>
        </p:spPr>
      </p:sp>
      <p:sp>
        <p:nvSpPr>
          <p:cNvPr id="12" name="Text 10"/>
          <p:cNvSpPr txBox="1"/>
          <p:nvPr/>
        </p:nvSpPr>
        <p:spPr>
          <a:xfrm>
            <a:off x="630936" y="1819656"/>
            <a:ext cx="3764585"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630936" y="2368296"/>
            <a:ext cx="3764585"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異常高血圧：</a:t>
            </a:r>
            <a:endParaRPr lang="ja-JP" sz="2200" dirty="0"/>
          </a:p>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0.5〜5 μg/kg/分</a:t>
            </a:r>
            <a:r>
              <a:rPr lang="ja-JP" altLang="en-US" sz="2200" dirty="0">
                <a:solidFill>
                  <a:srgbClr val="262626"/>
                </a:solidFill>
                <a:latin typeface="メイリオ" pitchFamily="34" charset="0"/>
                <a:ea typeface="メイリオ" pitchFamily="34" charset="-122"/>
                <a:cs typeface="メイリオ" pitchFamily="34" charset="-120"/>
              </a:rPr>
              <a:t>で開始</a:t>
            </a:r>
            <a:endParaRPr lang="ja-JP" sz="2200" dirty="0"/>
          </a:p>
        </p:txBody>
      </p:sp>
      <p:sp>
        <p:nvSpPr>
          <p:cNvPr id="14" name="Shape 12"/>
          <p:cNvSpPr/>
          <p:nvPr/>
        </p:nvSpPr>
        <p:spPr>
          <a:xfrm>
            <a:off x="630936" y="3419856"/>
            <a:ext cx="3764585" cy="0"/>
          </a:xfrm>
          <a:prstGeom prst="line">
            <a:avLst/>
          </a:prstGeom>
          <a:noFill/>
          <a:ln w="12700">
            <a:solidFill>
              <a:srgbClr val="BFBFBF"/>
            </a:solidFill>
            <a:prstDash val="solid"/>
          </a:ln>
        </p:spPr>
      </p:sp>
      <p:sp>
        <p:nvSpPr>
          <p:cNvPr id="15" name="Text 13"/>
          <p:cNvSpPr txBox="1"/>
          <p:nvPr/>
        </p:nvSpPr>
        <p:spPr>
          <a:xfrm>
            <a:off x="630936" y="3611880"/>
            <a:ext cx="3764585"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低血圧維持：</a:t>
            </a:r>
            <a:endParaRPr lang="ja-JP" sz="2200" dirty="0"/>
          </a:p>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1〜5 μg/kg/分</a:t>
            </a:r>
            <a:r>
              <a:rPr lang="ja-JP" altLang="en-US" sz="2200" dirty="0">
                <a:solidFill>
                  <a:srgbClr val="262626"/>
                </a:solidFill>
                <a:latin typeface="メイリオ" pitchFamily="34" charset="0"/>
                <a:ea typeface="メイリオ" pitchFamily="34" charset="-122"/>
                <a:cs typeface="メイリオ" pitchFamily="34" charset="-120"/>
              </a:rPr>
              <a:t>で開始</a:t>
            </a:r>
            <a:endParaRPr lang="ja-JP" sz="2200" dirty="0"/>
          </a:p>
        </p:txBody>
      </p:sp>
      <p:sp>
        <p:nvSpPr>
          <p:cNvPr id="16" name="Shape 14"/>
          <p:cNvSpPr/>
          <p:nvPr/>
        </p:nvSpPr>
        <p:spPr>
          <a:xfrm>
            <a:off x="630936" y="4663440"/>
            <a:ext cx="3764585" cy="0"/>
          </a:xfrm>
          <a:prstGeom prst="line">
            <a:avLst/>
          </a:prstGeom>
          <a:noFill/>
          <a:ln w="12700">
            <a:solidFill>
              <a:srgbClr val="BFBFBF"/>
            </a:solidFill>
            <a:prstDash val="solid"/>
          </a:ln>
        </p:spPr>
      </p:sp>
      <p:sp>
        <p:nvSpPr>
          <p:cNvPr id="17" name="Text 15"/>
          <p:cNvSpPr txBox="1"/>
          <p:nvPr/>
        </p:nvSpPr>
        <p:spPr>
          <a:xfrm>
            <a:off x="630936" y="4855464"/>
            <a:ext cx="3764585"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心不全・狭心症は別の用量</a:t>
            </a:r>
            <a:endParaRPr lang="ja-JP" sz="2200" dirty="0"/>
          </a:p>
        </p:txBody>
      </p:sp>
      <p:sp>
        <p:nvSpPr>
          <p:cNvPr id="18" name="Shape 16"/>
          <p:cNvSpPr/>
          <p:nvPr/>
        </p:nvSpPr>
        <p:spPr>
          <a:xfrm>
            <a:off x="4742993" y="1691640"/>
            <a:ext cx="3016606" cy="4178808"/>
          </a:xfrm>
          <a:prstGeom prst="roundRect">
            <a:avLst>
              <a:gd name="adj" fmla="val 2425"/>
            </a:avLst>
          </a:prstGeom>
          <a:solidFill>
            <a:srgbClr val="F2F2F2"/>
          </a:solidFill>
          <a:ln/>
        </p:spPr>
      </p:sp>
      <p:sp>
        <p:nvSpPr>
          <p:cNvPr id="19" name="Text 17"/>
          <p:cNvSpPr txBox="1"/>
          <p:nvPr/>
        </p:nvSpPr>
        <p:spPr>
          <a:xfrm>
            <a:off x="4871009" y="1819656"/>
            <a:ext cx="276057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作用</a:t>
            </a:r>
            <a:endParaRPr lang="ja-JP" sz="2400" dirty="0"/>
          </a:p>
        </p:txBody>
      </p:sp>
      <p:sp>
        <p:nvSpPr>
          <p:cNvPr id="20" name="Text 18"/>
          <p:cNvSpPr txBox="1"/>
          <p:nvPr/>
        </p:nvSpPr>
        <p:spPr>
          <a:xfrm>
            <a:off x="4871009" y="2368296"/>
            <a:ext cx="2760574"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NO で静脈を広げる</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（前負荷↓）</a:t>
            </a:r>
            <a:endParaRPr lang="ja-JP" sz="2200" dirty="0"/>
          </a:p>
        </p:txBody>
      </p:sp>
      <p:sp>
        <p:nvSpPr>
          <p:cNvPr id="21" name="Shape 19"/>
          <p:cNvSpPr/>
          <p:nvPr/>
        </p:nvSpPr>
        <p:spPr>
          <a:xfrm>
            <a:off x="4871009" y="3419856"/>
            <a:ext cx="2760574" cy="0"/>
          </a:xfrm>
          <a:prstGeom prst="line">
            <a:avLst/>
          </a:prstGeom>
          <a:noFill/>
          <a:ln w="12700">
            <a:solidFill>
              <a:srgbClr val="BFBFBF"/>
            </a:solidFill>
            <a:prstDash val="solid"/>
          </a:ln>
        </p:spPr>
      </p:sp>
      <p:sp>
        <p:nvSpPr>
          <p:cNvPr id="22" name="Text 20"/>
          <p:cNvSpPr txBox="1"/>
          <p:nvPr/>
        </p:nvSpPr>
        <p:spPr>
          <a:xfrm>
            <a:off x="4871009" y="3611880"/>
            <a:ext cx="2760574"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高用量で動脈にも</a:t>
            </a:r>
            <a:endParaRPr lang="ja-JP" sz="2200" dirty="0"/>
          </a:p>
        </p:txBody>
      </p:sp>
      <p:sp>
        <p:nvSpPr>
          <p:cNvPr id="23" name="Shape 21"/>
          <p:cNvSpPr/>
          <p:nvPr/>
        </p:nvSpPr>
        <p:spPr>
          <a:xfrm>
            <a:off x="4871009" y="4224528"/>
            <a:ext cx="2760574" cy="0"/>
          </a:xfrm>
          <a:prstGeom prst="line">
            <a:avLst/>
          </a:prstGeom>
          <a:noFill/>
          <a:ln w="12700">
            <a:solidFill>
              <a:srgbClr val="BFBFBF"/>
            </a:solidFill>
            <a:prstDash val="solid"/>
          </a:ln>
        </p:spPr>
      </p:sp>
      <p:sp>
        <p:nvSpPr>
          <p:cNvPr id="24" name="Text 22"/>
          <p:cNvSpPr txBox="1"/>
          <p:nvPr/>
        </p:nvSpPr>
        <p:spPr>
          <a:xfrm>
            <a:off x="4871009" y="4416552"/>
            <a:ext cx="2760574"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冠動脈を広げる</a:t>
            </a:r>
            <a:endParaRPr lang="ja-JP" sz="2200" dirty="0"/>
          </a:p>
        </p:txBody>
      </p:sp>
      <p:sp>
        <p:nvSpPr>
          <p:cNvPr id="25" name="Shape 23"/>
          <p:cNvSpPr/>
          <p:nvPr/>
        </p:nvSpPr>
        <p:spPr>
          <a:xfrm>
            <a:off x="7979054" y="1691640"/>
            <a:ext cx="3706978" cy="4178808"/>
          </a:xfrm>
          <a:prstGeom prst="roundRect">
            <a:avLst>
              <a:gd name="adj" fmla="val 1973"/>
            </a:avLst>
          </a:prstGeom>
          <a:solidFill>
            <a:srgbClr val="F2F2F2"/>
          </a:solidFill>
          <a:ln/>
        </p:spPr>
      </p:sp>
      <p:sp>
        <p:nvSpPr>
          <p:cNvPr id="26" name="Text 24"/>
          <p:cNvSpPr txBox="1"/>
          <p:nvPr/>
        </p:nvSpPr>
        <p:spPr>
          <a:xfrm>
            <a:off x="8107070" y="1819656"/>
            <a:ext cx="3450946"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107070" y="2368296"/>
            <a:ext cx="3450946"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頭痛、反射性頻脈、耐性</a:t>
            </a:r>
            <a:endParaRPr lang="ja-JP" sz="2200" dirty="0"/>
          </a:p>
        </p:txBody>
      </p:sp>
      <p:sp>
        <p:nvSpPr>
          <p:cNvPr id="28" name="Shape 26"/>
          <p:cNvSpPr/>
          <p:nvPr/>
        </p:nvSpPr>
        <p:spPr>
          <a:xfrm>
            <a:off x="8107070" y="2980944"/>
            <a:ext cx="3450946" cy="0"/>
          </a:xfrm>
          <a:prstGeom prst="line">
            <a:avLst/>
          </a:prstGeom>
          <a:noFill/>
          <a:ln w="12700">
            <a:solidFill>
              <a:srgbClr val="BFBFBF"/>
            </a:solidFill>
            <a:prstDash val="solid"/>
          </a:ln>
        </p:spPr>
      </p:sp>
      <p:sp>
        <p:nvSpPr>
          <p:cNvPr id="29" name="Text 27"/>
          <p:cNvSpPr txBox="1"/>
          <p:nvPr/>
        </p:nvSpPr>
        <p:spPr>
          <a:xfrm>
            <a:off x="8107070" y="3172968"/>
            <a:ext cx="3450946"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塩化ビニル製の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回路に吸着</a:t>
            </a:r>
            <a:endParaRPr lang="ja-JP" sz="2200" dirty="0"/>
          </a:p>
        </p:txBody>
      </p:sp>
      <p:sp>
        <p:nvSpPr>
          <p:cNvPr id="30" name="Shape 28"/>
          <p:cNvSpPr/>
          <p:nvPr/>
        </p:nvSpPr>
        <p:spPr>
          <a:xfrm>
            <a:off x="8107070" y="4224528"/>
            <a:ext cx="3450946" cy="0"/>
          </a:xfrm>
          <a:prstGeom prst="line">
            <a:avLst/>
          </a:prstGeom>
          <a:noFill/>
          <a:ln w="12700">
            <a:solidFill>
              <a:srgbClr val="BFBFBF"/>
            </a:solidFill>
            <a:prstDash val="solid"/>
          </a:ln>
        </p:spPr>
      </p:sp>
      <p:sp>
        <p:nvSpPr>
          <p:cNvPr id="31" name="Text 29"/>
          <p:cNvSpPr txBox="1"/>
          <p:nvPr/>
        </p:nvSpPr>
        <p:spPr>
          <a:xfrm>
            <a:off x="8107070" y="4416552"/>
            <a:ext cx="3450946"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PDE5 阻害薬・</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リオシグアトとの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併用は</a:t>
            </a:r>
            <a:r>
              <a:rPr lang="ja-JP" altLang="en-US" sz="2200" b="1" dirty="0">
                <a:solidFill>
                  <a:srgbClr val="C00000"/>
                </a:solidFill>
                <a:latin typeface="メイリオ" pitchFamily="34" charset="0"/>
                <a:ea typeface="メイリオ" pitchFamily="34" charset="-122"/>
                <a:cs typeface="メイリオ" pitchFamily="34" charset="-120"/>
              </a:rPr>
              <a:t>禁忌</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ランジオロール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オノアクト点滴静注用 添付文書 / Ono K, et al. J Arrhythm 2022;38:833-973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第4版」Ⅲ（2025）</a:t>
            </a:r>
            <a:endParaRPr lang="ja-JP" sz="1600" dirty="0"/>
          </a:p>
        </p:txBody>
      </p:sp>
      <p:sp>
        <p:nvSpPr>
          <p:cNvPr id="11" name="Shape 9"/>
          <p:cNvSpPr/>
          <p:nvPr/>
        </p:nvSpPr>
        <p:spPr>
          <a:xfrm>
            <a:off x="502920" y="1691640"/>
            <a:ext cx="3678631" cy="4178808"/>
          </a:xfrm>
          <a:prstGeom prst="roundRect">
            <a:avLst>
              <a:gd name="adj" fmla="val 1989"/>
            </a:avLst>
          </a:prstGeom>
          <a:solidFill>
            <a:srgbClr val="F2F2F2"/>
          </a:solidFill>
          <a:ln/>
        </p:spPr>
      </p:sp>
      <p:sp>
        <p:nvSpPr>
          <p:cNvPr id="12" name="Text 10"/>
          <p:cNvSpPr txBox="1"/>
          <p:nvPr/>
        </p:nvSpPr>
        <p:spPr>
          <a:xfrm>
            <a:off x="630936" y="1819656"/>
            <a:ext cx="3422599" cy="9144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a:t>
            </a:r>
            <a:endParaRPr lang="ja-JP" sz="2400" dirty="0"/>
          </a:p>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（添付文書・手術時）</a:t>
            </a:r>
            <a:endParaRPr lang="ja-JP" sz="2400" dirty="0"/>
          </a:p>
        </p:txBody>
      </p:sp>
      <p:sp>
        <p:nvSpPr>
          <p:cNvPr id="13" name="Text 11"/>
          <p:cNvSpPr txBox="1"/>
          <p:nvPr/>
        </p:nvSpPr>
        <p:spPr>
          <a:xfrm>
            <a:off x="630936" y="2825496"/>
            <a:ext cx="3422599" cy="859536"/>
          </a:xfrm>
          <a:prstGeom prst="rect">
            <a:avLst/>
          </a:prstGeom>
          <a:noFill/>
          <a:ln/>
        </p:spPr>
        <p:txBody>
          <a:bodyPr wrap="square" lIns="0" tIns="0" rIns="0" bIns="0" rtlCol="0" anchor="t"/>
          <a:lstStyle/>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0.125 mg/kg/分</a:t>
            </a:r>
            <a:r>
              <a:rPr lang="ja-JP" altLang="en-US" sz="2200" dirty="0">
                <a:solidFill>
                  <a:srgbClr val="262626"/>
                </a:solidFill>
                <a:latin typeface="メイリオ" pitchFamily="34" charset="0"/>
                <a:ea typeface="メイリオ" pitchFamily="34" charset="-122"/>
                <a:cs typeface="メイリオ" pitchFamily="34" charset="-120"/>
              </a:rPr>
              <a:t>を</a:t>
            </a:r>
            <a:endParaRPr lang="ja-JP" sz="2200" dirty="0"/>
          </a:p>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1 分間</a:t>
            </a:r>
            <a:endParaRPr lang="ja-JP" sz="2200" dirty="0"/>
          </a:p>
        </p:txBody>
      </p:sp>
      <p:sp>
        <p:nvSpPr>
          <p:cNvPr id="14" name="Shape 12"/>
          <p:cNvSpPr/>
          <p:nvPr/>
        </p:nvSpPr>
        <p:spPr>
          <a:xfrm>
            <a:off x="630936" y="3877056"/>
            <a:ext cx="3422599" cy="0"/>
          </a:xfrm>
          <a:prstGeom prst="line">
            <a:avLst/>
          </a:prstGeom>
          <a:noFill/>
          <a:ln w="12700">
            <a:solidFill>
              <a:srgbClr val="BFBFBF"/>
            </a:solidFill>
            <a:prstDash val="solid"/>
          </a:ln>
        </p:spPr>
      </p:sp>
      <p:sp>
        <p:nvSpPr>
          <p:cNvPr id="15" name="Text 13"/>
          <p:cNvSpPr txBox="1"/>
          <p:nvPr/>
        </p:nvSpPr>
        <p:spPr>
          <a:xfrm>
            <a:off x="630936" y="4069080"/>
            <a:ext cx="342259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その後 </a:t>
            </a:r>
            <a:r>
              <a:rPr lang="ja-JP" altLang="en-US" sz="2200" b="1" dirty="0">
                <a:solidFill>
                  <a:srgbClr val="0072B2"/>
                </a:solidFill>
                <a:latin typeface="メイリオ" pitchFamily="34" charset="0"/>
                <a:ea typeface="メイリオ" pitchFamily="34" charset="-122"/>
                <a:cs typeface="メイリオ" pitchFamily="34" charset="-120"/>
              </a:rPr>
              <a:t>0.04 mg/kg/分</a:t>
            </a:r>
            <a:endParaRPr lang="ja-JP" sz="2200" dirty="0"/>
          </a:p>
        </p:txBody>
      </p:sp>
      <p:sp>
        <p:nvSpPr>
          <p:cNvPr id="16" name="Shape 14"/>
          <p:cNvSpPr/>
          <p:nvPr/>
        </p:nvSpPr>
        <p:spPr>
          <a:xfrm>
            <a:off x="630936" y="4681728"/>
            <a:ext cx="3422599" cy="0"/>
          </a:xfrm>
          <a:prstGeom prst="line">
            <a:avLst/>
          </a:prstGeom>
          <a:noFill/>
          <a:ln w="12700">
            <a:solidFill>
              <a:srgbClr val="BFBFBF"/>
            </a:solidFill>
            <a:prstDash val="solid"/>
          </a:ln>
        </p:spPr>
      </p:sp>
      <p:sp>
        <p:nvSpPr>
          <p:cNvPr id="17" name="Text 15"/>
          <p:cNvSpPr txBox="1"/>
          <p:nvPr/>
        </p:nvSpPr>
        <p:spPr>
          <a:xfrm>
            <a:off x="630936" y="4873752"/>
            <a:ext cx="3422599" cy="859536"/>
          </a:xfrm>
          <a:prstGeom prst="rect">
            <a:avLst/>
          </a:prstGeom>
          <a:noFill/>
          <a:ln/>
        </p:spPr>
        <p:txBody>
          <a:bodyPr wrap="square" lIns="0" tIns="0" rIns="0" bIns="0" rtlCol="0" anchor="t"/>
          <a:lstStyle/>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0.01〜0.04 mg/kg/分</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で調節</a:t>
            </a:r>
            <a:endParaRPr lang="ja-JP" sz="2200" dirty="0"/>
          </a:p>
        </p:txBody>
      </p:sp>
      <p:sp>
        <p:nvSpPr>
          <p:cNvPr id="18" name="Shape 16"/>
          <p:cNvSpPr/>
          <p:nvPr/>
        </p:nvSpPr>
        <p:spPr>
          <a:xfrm>
            <a:off x="4401007" y="1691640"/>
            <a:ext cx="3357677" cy="4178808"/>
          </a:xfrm>
          <a:prstGeom prst="roundRect">
            <a:avLst>
              <a:gd name="adj" fmla="val 2179"/>
            </a:avLst>
          </a:prstGeom>
          <a:solidFill>
            <a:srgbClr val="F2F2F2"/>
          </a:solidFill>
          <a:ln/>
        </p:spPr>
      </p:sp>
      <p:sp>
        <p:nvSpPr>
          <p:cNvPr id="19" name="Text 17"/>
          <p:cNvSpPr txBox="1"/>
          <p:nvPr/>
        </p:nvSpPr>
        <p:spPr>
          <a:xfrm>
            <a:off x="4529023" y="1819656"/>
            <a:ext cx="3101645"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作用</a:t>
            </a:r>
            <a:endParaRPr lang="ja-JP" sz="2400" dirty="0"/>
          </a:p>
        </p:txBody>
      </p:sp>
      <p:sp>
        <p:nvSpPr>
          <p:cNvPr id="20" name="Text 18"/>
          <p:cNvSpPr txBox="1"/>
          <p:nvPr/>
        </p:nvSpPr>
        <p:spPr>
          <a:xfrm>
            <a:off x="4529023" y="2368296"/>
            <a:ext cx="3101645"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超短時間作用型</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β1 遮断薬</a:t>
            </a:r>
            <a:endParaRPr lang="ja-JP" sz="2200" dirty="0"/>
          </a:p>
        </p:txBody>
      </p:sp>
      <p:sp>
        <p:nvSpPr>
          <p:cNvPr id="21" name="Shape 19"/>
          <p:cNvSpPr/>
          <p:nvPr/>
        </p:nvSpPr>
        <p:spPr>
          <a:xfrm>
            <a:off x="4529023" y="3419856"/>
            <a:ext cx="3101645" cy="0"/>
          </a:xfrm>
          <a:prstGeom prst="line">
            <a:avLst/>
          </a:prstGeom>
          <a:noFill/>
          <a:ln w="12700">
            <a:solidFill>
              <a:srgbClr val="BFBFBF"/>
            </a:solidFill>
            <a:prstDash val="solid"/>
          </a:ln>
        </p:spPr>
      </p:sp>
      <p:sp>
        <p:nvSpPr>
          <p:cNvPr id="22" name="Text 20"/>
          <p:cNvSpPr txBox="1"/>
          <p:nvPr/>
        </p:nvSpPr>
        <p:spPr>
          <a:xfrm>
            <a:off x="4529023" y="3611880"/>
            <a:ext cx="3101645"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心拍数を下げる、</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血圧は</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あまり下げない</a:t>
            </a:r>
            <a:endParaRPr lang="ja-JP" sz="2200" dirty="0"/>
          </a:p>
        </p:txBody>
      </p:sp>
      <p:sp>
        <p:nvSpPr>
          <p:cNvPr id="23" name="Shape 21"/>
          <p:cNvSpPr/>
          <p:nvPr/>
        </p:nvSpPr>
        <p:spPr>
          <a:xfrm>
            <a:off x="4529023" y="5093208"/>
            <a:ext cx="3101645" cy="0"/>
          </a:xfrm>
          <a:prstGeom prst="line">
            <a:avLst/>
          </a:prstGeom>
          <a:noFill/>
          <a:ln w="12700">
            <a:solidFill>
              <a:srgbClr val="BFBFBF"/>
            </a:solidFill>
            <a:prstDash val="solid"/>
          </a:ln>
        </p:spPr>
      </p:sp>
      <p:sp>
        <p:nvSpPr>
          <p:cNvPr id="24" name="Text 22"/>
          <p:cNvSpPr txBox="1"/>
          <p:nvPr/>
        </p:nvSpPr>
        <p:spPr>
          <a:xfrm>
            <a:off x="4529023" y="5285232"/>
            <a:ext cx="3101645"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止めれば数分で戻る</a:t>
            </a:r>
            <a:endParaRPr lang="ja-JP" sz="2200" dirty="0"/>
          </a:p>
        </p:txBody>
      </p:sp>
      <p:sp>
        <p:nvSpPr>
          <p:cNvPr id="25" name="Shape 23"/>
          <p:cNvSpPr/>
          <p:nvPr/>
        </p:nvSpPr>
        <p:spPr>
          <a:xfrm>
            <a:off x="7978140" y="1691640"/>
            <a:ext cx="3706978" cy="4178808"/>
          </a:xfrm>
          <a:prstGeom prst="roundRect">
            <a:avLst>
              <a:gd name="adj" fmla="val 1973"/>
            </a:avLst>
          </a:prstGeom>
          <a:solidFill>
            <a:srgbClr val="F2F2F2"/>
          </a:solidFill>
          <a:ln/>
        </p:spPr>
      </p:sp>
      <p:sp>
        <p:nvSpPr>
          <p:cNvPr id="26" name="Text 24"/>
          <p:cNvSpPr txBox="1"/>
          <p:nvPr/>
        </p:nvSpPr>
        <p:spPr>
          <a:xfrm>
            <a:off x="8106156" y="1819656"/>
            <a:ext cx="3450946"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106156" y="2368296"/>
            <a:ext cx="3450946" cy="1289304"/>
          </a:xfrm>
          <a:prstGeom prst="rect">
            <a:avLst/>
          </a:prstGeom>
          <a:noFill/>
          <a:ln/>
        </p:spPr>
        <p:txBody>
          <a:bodyPr wrap="square" lIns="0" tIns="0" rIns="0" bIns="0" rtlCol="0" anchor="t"/>
          <a:lstStyle/>
          <a:p>
            <a:pPr algn="l" indent="0" marL="0">
              <a:spcAft>
                <a:spcPts val="100"/>
              </a:spcAft>
              <a:buNone/>
            </a:pPr>
            <a:r>
              <a:rPr lang="ja-JP" altLang="en-US" sz="2200" b="1" dirty="0">
                <a:solidFill>
                  <a:srgbClr val="C00000"/>
                </a:solidFill>
                <a:latin typeface="メイリオ" pitchFamily="34" charset="0"/>
                <a:ea typeface="メイリオ" pitchFamily="34" charset="-122"/>
                <a:cs typeface="メイリオ" pitchFamily="34" charset="-120"/>
              </a:rPr>
              <a:t>禁忌：</a:t>
            </a:r>
            <a:r>
              <a:rPr lang="ja-JP" altLang="en-US" sz="2200" dirty="0">
                <a:solidFill>
                  <a:srgbClr val="262626"/>
                </a:solidFill>
                <a:latin typeface="メイリオ" pitchFamily="34" charset="0"/>
                <a:ea typeface="メイリオ" pitchFamily="34" charset="-122"/>
                <a:cs typeface="メイリオ" pitchFamily="34" charset="-120"/>
              </a:rPr>
              <a:t>心原性ショック、</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II 度以上の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房室ブロック、洞不全</a:t>
            </a:r>
            <a:endParaRPr lang="ja-JP" sz="2200" dirty="0"/>
          </a:p>
        </p:txBody>
      </p:sp>
      <p:sp>
        <p:nvSpPr>
          <p:cNvPr id="28" name="Shape 26"/>
          <p:cNvSpPr/>
          <p:nvPr/>
        </p:nvSpPr>
        <p:spPr>
          <a:xfrm>
            <a:off x="8106156" y="3749040"/>
            <a:ext cx="3450946" cy="0"/>
          </a:xfrm>
          <a:prstGeom prst="line">
            <a:avLst/>
          </a:prstGeom>
          <a:noFill/>
          <a:ln w="12700">
            <a:solidFill>
              <a:srgbClr val="BFBFBF"/>
            </a:solidFill>
            <a:prstDash val="solid"/>
          </a:ln>
        </p:spPr>
      </p:sp>
      <p:sp>
        <p:nvSpPr>
          <p:cNvPr id="29" name="Text 27"/>
          <p:cNvSpPr txBox="1"/>
          <p:nvPr/>
        </p:nvSpPr>
        <p:spPr>
          <a:xfrm>
            <a:off x="8106156" y="3840480"/>
            <a:ext cx="3450946"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心機能低下例は低用量で</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a:t>
            </a:r>
            <a:r>
              <a:rPr lang="ja-JP" altLang="en-US" sz="2200" b="1" dirty="0">
                <a:solidFill>
                  <a:srgbClr val="0072B2"/>
                </a:solidFill>
                <a:latin typeface="メイリオ" pitchFamily="34" charset="0"/>
                <a:ea typeface="メイリオ" pitchFamily="34" charset="-122"/>
                <a:cs typeface="メイリオ" pitchFamily="34" charset="-120"/>
              </a:rPr>
              <a:t>1 μg/kg/分</a:t>
            </a:r>
            <a:r>
              <a:rPr lang="ja-JP" altLang="en-US" sz="2200" dirty="0">
                <a:solidFill>
                  <a:srgbClr val="262626"/>
                </a:solidFill>
                <a:latin typeface="メイリオ" pitchFamily="34" charset="0"/>
                <a:ea typeface="メイリオ" pitchFamily="34" charset="-122"/>
                <a:cs typeface="メイリオ" pitchFamily="34" charset="-120"/>
              </a:rPr>
              <a:t>から）</a:t>
            </a:r>
            <a:endParaRPr lang="ja-JP" sz="2200" dirty="0"/>
          </a:p>
        </p:txBody>
      </p:sp>
      <p:sp>
        <p:nvSpPr>
          <p:cNvPr id="30" name="Shape 28"/>
          <p:cNvSpPr/>
          <p:nvPr/>
        </p:nvSpPr>
        <p:spPr>
          <a:xfrm>
            <a:off x="8106156" y="4791456"/>
            <a:ext cx="3450946" cy="0"/>
          </a:xfrm>
          <a:prstGeom prst="line">
            <a:avLst/>
          </a:prstGeom>
          <a:noFill/>
          <a:ln w="12700">
            <a:solidFill>
              <a:srgbClr val="BFBFBF"/>
            </a:solidFill>
            <a:prstDash val="solid"/>
          </a:ln>
        </p:spPr>
      </p:sp>
      <p:sp>
        <p:nvSpPr>
          <p:cNvPr id="31" name="Text 29"/>
          <p:cNvSpPr txBox="1"/>
          <p:nvPr/>
        </p:nvSpPr>
        <p:spPr>
          <a:xfrm>
            <a:off x="8106156" y="4882896"/>
            <a:ext cx="3450946"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喘息では気管支攣縮、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術後・ICU の用量は別</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ドブタミン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ドブタミン点滴静注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第4版」Ⅲ（2025）</a:t>
            </a:r>
            <a:endParaRPr lang="ja-JP" sz="1600" dirty="0"/>
          </a:p>
        </p:txBody>
      </p:sp>
      <p:sp>
        <p:nvSpPr>
          <p:cNvPr id="11" name="Shape 9"/>
          <p:cNvSpPr/>
          <p:nvPr/>
        </p:nvSpPr>
        <p:spPr>
          <a:xfrm>
            <a:off x="502920" y="1691640"/>
            <a:ext cx="3540557" cy="4178808"/>
          </a:xfrm>
          <a:prstGeom prst="roundRect">
            <a:avLst>
              <a:gd name="adj" fmla="val 2066"/>
            </a:avLst>
          </a:prstGeom>
          <a:solidFill>
            <a:srgbClr val="F2F2F2"/>
          </a:solidFill>
          <a:ln/>
        </p:spPr>
      </p:sp>
      <p:sp>
        <p:nvSpPr>
          <p:cNvPr id="12" name="Text 10"/>
          <p:cNvSpPr txBox="1"/>
          <p:nvPr/>
        </p:nvSpPr>
        <p:spPr>
          <a:xfrm>
            <a:off x="630936" y="1819656"/>
            <a:ext cx="3284525"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630936" y="2368296"/>
            <a:ext cx="3284525"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通常 </a:t>
            </a:r>
            <a:r>
              <a:rPr lang="ja-JP" altLang="en-US" sz="2200" b="1" dirty="0">
                <a:solidFill>
                  <a:srgbClr val="0072B2"/>
                </a:solidFill>
                <a:latin typeface="メイリオ" pitchFamily="34" charset="0"/>
                <a:ea typeface="メイリオ" pitchFamily="34" charset="-122"/>
                <a:cs typeface="メイリオ" pitchFamily="34" charset="-120"/>
              </a:rPr>
              <a:t>1〜5 μg/kg/分</a:t>
            </a:r>
            <a:endParaRPr lang="ja-JP" sz="2200" dirty="0"/>
          </a:p>
        </p:txBody>
      </p:sp>
      <p:sp>
        <p:nvSpPr>
          <p:cNvPr id="14" name="Shape 12"/>
          <p:cNvSpPr/>
          <p:nvPr/>
        </p:nvSpPr>
        <p:spPr>
          <a:xfrm>
            <a:off x="630936" y="2980944"/>
            <a:ext cx="3284525" cy="0"/>
          </a:xfrm>
          <a:prstGeom prst="line">
            <a:avLst/>
          </a:prstGeom>
          <a:noFill/>
          <a:ln w="12700">
            <a:solidFill>
              <a:srgbClr val="BFBFBF"/>
            </a:solidFill>
            <a:prstDash val="solid"/>
          </a:ln>
        </p:spPr>
      </p:sp>
      <p:sp>
        <p:nvSpPr>
          <p:cNvPr id="15" name="Text 13"/>
          <p:cNvSpPr txBox="1"/>
          <p:nvPr/>
        </p:nvSpPr>
        <p:spPr>
          <a:xfrm>
            <a:off x="630936" y="3172968"/>
            <a:ext cx="3284525"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必要なら</a:t>
            </a:r>
            <a:endParaRPr lang="ja-JP" sz="2200" dirty="0"/>
          </a:p>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20 μg/kg/分</a:t>
            </a:r>
            <a:r>
              <a:rPr lang="ja-JP" altLang="en-US" sz="2200" dirty="0">
                <a:solidFill>
                  <a:srgbClr val="262626"/>
                </a:solidFill>
                <a:latin typeface="メイリオ" pitchFamily="34" charset="0"/>
                <a:ea typeface="メイリオ" pitchFamily="34" charset="-122"/>
                <a:cs typeface="メイリオ" pitchFamily="34" charset="-120"/>
              </a:rPr>
              <a:t>まで</a:t>
            </a:r>
            <a:endParaRPr lang="ja-JP" sz="2200" dirty="0"/>
          </a:p>
        </p:txBody>
      </p:sp>
      <p:sp>
        <p:nvSpPr>
          <p:cNvPr id="16" name="Shape 14"/>
          <p:cNvSpPr/>
          <p:nvPr/>
        </p:nvSpPr>
        <p:spPr>
          <a:xfrm>
            <a:off x="630936" y="4224528"/>
            <a:ext cx="3284525" cy="0"/>
          </a:xfrm>
          <a:prstGeom prst="line">
            <a:avLst/>
          </a:prstGeom>
          <a:noFill/>
          <a:ln w="12700">
            <a:solidFill>
              <a:srgbClr val="BFBFBF"/>
            </a:solidFill>
            <a:prstDash val="solid"/>
          </a:ln>
        </p:spPr>
      </p:sp>
      <p:sp>
        <p:nvSpPr>
          <p:cNvPr id="17" name="Text 15"/>
          <p:cNvSpPr txBox="1"/>
          <p:nvPr/>
        </p:nvSpPr>
        <p:spPr>
          <a:xfrm>
            <a:off x="630936" y="4416552"/>
            <a:ext cx="3284525"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アンプルは</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5% ブドウ糖か</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生食で希釈</a:t>
            </a:r>
            <a:endParaRPr lang="ja-JP" sz="2200" dirty="0"/>
          </a:p>
        </p:txBody>
      </p:sp>
      <p:sp>
        <p:nvSpPr>
          <p:cNvPr id="18" name="Shape 16"/>
          <p:cNvSpPr/>
          <p:nvPr/>
        </p:nvSpPr>
        <p:spPr>
          <a:xfrm>
            <a:off x="4262933" y="1691640"/>
            <a:ext cx="3664001" cy="4178808"/>
          </a:xfrm>
          <a:prstGeom prst="roundRect">
            <a:avLst>
              <a:gd name="adj" fmla="val 1997"/>
            </a:avLst>
          </a:prstGeom>
          <a:solidFill>
            <a:srgbClr val="F2F2F2"/>
          </a:solidFill>
          <a:ln/>
        </p:spPr>
      </p:sp>
      <p:sp>
        <p:nvSpPr>
          <p:cNvPr id="19" name="Text 17"/>
          <p:cNvSpPr txBox="1"/>
          <p:nvPr/>
        </p:nvSpPr>
        <p:spPr>
          <a:xfrm>
            <a:off x="4390949" y="1819656"/>
            <a:ext cx="3407969"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作用</a:t>
            </a:r>
            <a:endParaRPr lang="ja-JP" sz="2400" dirty="0"/>
          </a:p>
        </p:txBody>
      </p:sp>
      <p:sp>
        <p:nvSpPr>
          <p:cNvPr id="20" name="Text 18"/>
          <p:cNvSpPr txBox="1"/>
          <p:nvPr/>
        </p:nvSpPr>
        <p:spPr>
          <a:xfrm>
            <a:off x="4390949" y="2368296"/>
            <a:ext cx="340796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β1 刺激で収縮力↑、</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心拍数↑</a:t>
            </a:r>
            <a:endParaRPr lang="ja-JP" sz="2200" dirty="0"/>
          </a:p>
        </p:txBody>
      </p:sp>
      <p:sp>
        <p:nvSpPr>
          <p:cNvPr id="21" name="Shape 19"/>
          <p:cNvSpPr/>
          <p:nvPr/>
        </p:nvSpPr>
        <p:spPr>
          <a:xfrm>
            <a:off x="4390949" y="3419856"/>
            <a:ext cx="3407969" cy="0"/>
          </a:xfrm>
          <a:prstGeom prst="line">
            <a:avLst/>
          </a:prstGeom>
          <a:noFill/>
          <a:ln w="12700">
            <a:solidFill>
              <a:srgbClr val="BFBFBF"/>
            </a:solidFill>
            <a:prstDash val="solid"/>
          </a:ln>
        </p:spPr>
      </p:sp>
      <p:sp>
        <p:nvSpPr>
          <p:cNvPr id="22" name="Text 20"/>
          <p:cNvSpPr txBox="1"/>
          <p:nvPr/>
        </p:nvSpPr>
        <p:spPr>
          <a:xfrm>
            <a:off x="4390949" y="3611880"/>
            <a:ext cx="340796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β2 で血管はやや広がる</a:t>
            </a:r>
            <a:endParaRPr lang="ja-JP" sz="2200" dirty="0"/>
          </a:p>
        </p:txBody>
      </p:sp>
      <p:sp>
        <p:nvSpPr>
          <p:cNvPr id="23" name="Shape 21"/>
          <p:cNvSpPr/>
          <p:nvPr/>
        </p:nvSpPr>
        <p:spPr>
          <a:xfrm>
            <a:off x="4390949" y="4224528"/>
            <a:ext cx="3407969" cy="0"/>
          </a:xfrm>
          <a:prstGeom prst="line">
            <a:avLst/>
          </a:prstGeom>
          <a:noFill/>
          <a:ln w="12700">
            <a:solidFill>
              <a:srgbClr val="BFBFBF"/>
            </a:solidFill>
            <a:prstDash val="solid"/>
          </a:ln>
        </p:spPr>
      </p:sp>
      <p:sp>
        <p:nvSpPr>
          <p:cNvPr id="24" name="Text 22"/>
          <p:cNvSpPr txBox="1"/>
          <p:nvPr/>
        </p:nvSpPr>
        <p:spPr>
          <a:xfrm>
            <a:off x="4390949" y="4416552"/>
            <a:ext cx="340796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血圧は上がるとは</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限らない</a:t>
            </a:r>
            <a:endParaRPr lang="ja-JP" sz="2200" dirty="0"/>
          </a:p>
        </p:txBody>
      </p:sp>
      <p:sp>
        <p:nvSpPr>
          <p:cNvPr id="25" name="Shape 23"/>
          <p:cNvSpPr/>
          <p:nvPr/>
        </p:nvSpPr>
        <p:spPr>
          <a:xfrm>
            <a:off x="8146390" y="1691640"/>
            <a:ext cx="3540557" cy="4178808"/>
          </a:xfrm>
          <a:prstGeom prst="roundRect">
            <a:avLst>
              <a:gd name="adj" fmla="val 2066"/>
            </a:avLst>
          </a:prstGeom>
          <a:solidFill>
            <a:srgbClr val="F2F2F2"/>
          </a:solidFill>
          <a:ln/>
        </p:spPr>
      </p:sp>
      <p:sp>
        <p:nvSpPr>
          <p:cNvPr id="26" name="Text 24"/>
          <p:cNvSpPr txBox="1"/>
          <p:nvPr/>
        </p:nvSpPr>
        <p:spPr>
          <a:xfrm>
            <a:off x="8274406" y="1819656"/>
            <a:ext cx="3284525"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274406" y="2368296"/>
            <a:ext cx="3284525"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頻脈、不整脈</a:t>
            </a:r>
            <a:endParaRPr lang="ja-JP" sz="2200" dirty="0"/>
          </a:p>
        </p:txBody>
      </p:sp>
      <p:sp>
        <p:nvSpPr>
          <p:cNvPr id="28" name="Shape 26"/>
          <p:cNvSpPr/>
          <p:nvPr/>
        </p:nvSpPr>
        <p:spPr>
          <a:xfrm>
            <a:off x="8274406" y="2980944"/>
            <a:ext cx="3284525" cy="0"/>
          </a:xfrm>
          <a:prstGeom prst="line">
            <a:avLst/>
          </a:prstGeom>
          <a:noFill/>
          <a:ln w="12700">
            <a:solidFill>
              <a:srgbClr val="BFBFBF"/>
            </a:solidFill>
            <a:prstDash val="solid"/>
          </a:ln>
        </p:spPr>
      </p:sp>
      <p:sp>
        <p:nvSpPr>
          <p:cNvPr id="29" name="Text 27"/>
          <p:cNvSpPr txBox="1"/>
          <p:nvPr/>
        </p:nvSpPr>
        <p:spPr>
          <a:xfrm>
            <a:off x="8274406" y="3172968"/>
            <a:ext cx="3284525"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心筋の酸素消費が</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増える</a:t>
            </a:r>
            <a:endParaRPr lang="ja-JP" sz="2200" dirty="0"/>
          </a:p>
        </p:txBody>
      </p:sp>
      <p:sp>
        <p:nvSpPr>
          <p:cNvPr id="30" name="Shape 28"/>
          <p:cNvSpPr/>
          <p:nvPr/>
        </p:nvSpPr>
        <p:spPr>
          <a:xfrm>
            <a:off x="8274406" y="4224528"/>
            <a:ext cx="3284525" cy="0"/>
          </a:xfrm>
          <a:prstGeom prst="line">
            <a:avLst/>
          </a:prstGeom>
          <a:noFill/>
          <a:ln w="12700">
            <a:solidFill>
              <a:srgbClr val="BFBFBF"/>
            </a:solidFill>
            <a:prstDash val="solid"/>
          </a:ln>
        </p:spPr>
      </p:sp>
      <p:sp>
        <p:nvSpPr>
          <p:cNvPr id="31" name="Text 29"/>
          <p:cNvSpPr txBox="1"/>
          <p:nvPr/>
        </p:nvSpPr>
        <p:spPr>
          <a:xfrm>
            <a:off x="8274406" y="4416552"/>
            <a:ext cx="3284525"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前負荷が足りないと</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効かない</a:t>
            </a:r>
            <a:endParaRPr lang="ja-JP"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アドレナリン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ボスミン注 添付文書 / 日本蘇生協議会「JRC 蘇生ガイドライン 2020」</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Takazawa T, et al. J Anesth 2021;35:778-793</a:t>
            </a:r>
            <a:endParaRPr lang="ja-JP" sz="1600" dirty="0"/>
          </a:p>
        </p:txBody>
      </p:sp>
      <p:sp>
        <p:nvSpPr>
          <p:cNvPr id="11" name="Shape 9"/>
          <p:cNvSpPr/>
          <p:nvPr/>
        </p:nvSpPr>
        <p:spPr>
          <a:xfrm>
            <a:off x="502920" y="1691640"/>
            <a:ext cx="4958791" cy="4178808"/>
          </a:xfrm>
          <a:prstGeom prst="roundRect">
            <a:avLst>
              <a:gd name="adj" fmla="val 1751"/>
            </a:avLst>
          </a:prstGeom>
          <a:solidFill>
            <a:srgbClr val="F2F2F2"/>
          </a:solidFill>
          <a:ln/>
        </p:spPr>
      </p:sp>
      <p:sp>
        <p:nvSpPr>
          <p:cNvPr id="12" name="Text 10"/>
          <p:cNvSpPr txBox="1"/>
          <p:nvPr/>
        </p:nvSpPr>
        <p:spPr>
          <a:xfrm>
            <a:off x="630936" y="1819656"/>
            <a:ext cx="4702759"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場面と用量（ガイドライン）</a:t>
            </a:r>
            <a:endParaRPr lang="ja-JP" sz="2400" dirty="0"/>
          </a:p>
        </p:txBody>
      </p:sp>
      <p:sp>
        <p:nvSpPr>
          <p:cNvPr id="13" name="Text 11"/>
          <p:cNvSpPr txBox="1"/>
          <p:nvPr/>
        </p:nvSpPr>
        <p:spPr>
          <a:xfrm>
            <a:off x="630936" y="2368296"/>
            <a:ext cx="470275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心停止：</a:t>
            </a:r>
            <a:r>
              <a:rPr lang="ja-JP" altLang="en-US" sz="2200" b="1" dirty="0">
                <a:solidFill>
                  <a:srgbClr val="0072B2"/>
                </a:solidFill>
                <a:latin typeface="メイリオ" pitchFamily="34" charset="0"/>
                <a:ea typeface="メイリオ" pitchFamily="34" charset="-122"/>
                <a:cs typeface="メイリオ" pitchFamily="34" charset="-120"/>
              </a:rPr>
              <a:t>1 mg</a:t>
            </a:r>
            <a:r>
              <a:rPr lang="ja-JP" altLang="en-US" sz="2200" dirty="0">
                <a:solidFill>
                  <a:srgbClr val="262626"/>
                </a:solidFill>
                <a:latin typeface="メイリオ" pitchFamily="34" charset="0"/>
                <a:ea typeface="メイリオ" pitchFamily="34" charset="-122"/>
                <a:cs typeface="メイリオ" pitchFamily="34" charset="-120"/>
              </a:rPr>
              <a:t> 静注、</a:t>
            </a:r>
            <a:r>
              <a:rPr lang="ja-JP" altLang="en-US" sz="2200" b="1" dirty="0">
                <a:solidFill>
                  <a:srgbClr val="0072B2"/>
                </a:solidFill>
                <a:latin typeface="メイリオ" pitchFamily="34" charset="0"/>
                <a:ea typeface="メイリオ" pitchFamily="34" charset="-122"/>
                <a:cs typeface="メイリオ" pitchFamily="34" charset="-120"/>
              </a:rPr>
              <a:t>3〜5 分</a:t>
            </a:r>
            <a:r>
              <a:rPr lang="ja-JP" altLang="en-US" sz="2200" dirty="0">
                <a:solidFill>
                  <a:srgbClr val="262626"/>
                </a:solidFill>
                <a:latin typeface="メイリオ" pitchFamily="34" charset="0"/>
                <a:ea typeface="メイリオ" pitchFamily="34" charset="-122"/>
                <a:cs typeface="メイリオ" pitchFamily="34" charset="-120"/>
              </a:rPr>
              <a:t>ごと</a:t>
            </a:r>
            <a:endParaRPr lang="ja-JP" sz="2200" dirty="0"/>
          </a:p>
        </p:txBody>
      </p:sp>
      <p:sp>
        <p:nvSpPr>
          <p:cNvPr id="14" name="Shape 12"/>
          <p:cNvSpPr/>
          <p:nvPr/>
        </p:nvSpPr>
        <p:spPr>
          <a:xfrm>
            <a:off x="630936" y="2980944"/>
            <a:ext cx="4702759" cy="0"/>
          </a:xfrm>
          <a:prstGeom prst="line">
            <a:avLst/>
          </a:prstGeom>
          <a:noFill/>
          <a:ln w="12700">
            <a:solidFill>
              <a:srgbClr val="BFBFBF"/>
            </a:solidFill>
            <a:prstDash val="solid"/>
          </a:ln>
        </p:spPr>
      </p:sp>
      <p:sp>
        <p:nvSpPr>
          <p:cNvPr id="15" name="Text 13"/>
          <p:cNvSpPr txBox="1"/>
          <p:nvPr/>
        </p:nvSpPr>
        <p:spPr>
          <a:xfrm>
            <a:off x="630936" y="3172968"/>
            <a:ext cx="470275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アナフィラキシー（麻酔中）：</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少量ずつ静注、静脈路なしは筋注</a:t>
            </a:r>
            <a:endParaRPr lang="ja-JP" sz="2200" dirty="0"/>
          </a:p>
        </p:txBody>
      </p:sp>
      <p:sp>
        <p:nvSpPr>
          <p:cNvPr id="16" name="Shape 14"/>
          <p:cNvSpPr/>
          <p:nvPr/>
        </p:nvSpPr>
        <p:spPr>
          <a:xfrm>
            <a:off x="630936" y="4224528"/>
            <a:ext cx="4702759" cy="0"/>
          </a:xfrm>
          <a:prstGeom prst="line">
            <a:avLst/>
          </a:prstGeom>
          <a:noFill/>
          <a:ln w="12700">
            <a:solidFill>
              <a:srgbClr val="BFBFBF"/>
            </a:solidFill>
            <a:prstDash val="solid"/>
          </a:ln>
        </p:spPr>
      </p:sp>
      <p:sp>
        <p:nvSpPr>
          <p:cNvPr id="17" name="Text 15"/>
          <p:cNvSpPr txBox="1"/>
          <p:nvPr/>
        </p:nvSpPr>
        <p:spPr>
          <a:xfrm>
            <a:off x="630936" y="4416552"/>
            <a:ext cx="4702759"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低心拍出：持続</a:t>
            </a:r>
            <a:endParaRPr lang="ja-JP" sz="2200" dirty="0"/>
          </a:p>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0.01〜0.1 μg/kg/分</a:t>
            </a:r>
            <a:r>
              <a:rPr lang="ja-JP" altLang="en-US" sz="2200" dirty="0">
                <a:solidFill>
                  <a:srgbClr val="262626"/>
                </a:solidFill>
                <a:latin typeface="メイリオ" pitchFamily="34" charset="0"/>
                <a:ea typeface="メイリオ" pitchFamily="34" charset="-122"/>
                <a:cs typeface="メイリオ" pitchFamily="34" charset="-120"/>
              </a:rPr>
              <a:t>程度</a:t>
            </a:r>
            <a:endParaRPr lang="ja-JP" sz="2200" dirty="0"/>
          </a:p>
          <a:p>
            <a:pPr algn="l" indent="0" marL="0">
              <a:spcAft>
                <a:spcPts val="100"/>
              </a:spcAft>
              <a:buNone/>
            </a:pPr>
            <a:r>
              <a:rPr lang="ja-JP" altLang="en-US" sz="2200" b="1" dirty="0">
                <a:solidFill>
                  <a:srgbClr val="D55E00"/>
                </a:solidFill>
                <a:latin typeface="メイリオ" pitchFamily="34" charset="0"/>
                <a:ea typeface="メイリオ" pitchFamily="34" charset="-122"/>
                <a:cs typeface="メイリオ" pitchFamily="34" charset="-120"/>
              </a:rPr>
              <a:t>（目安）</a:t>
            </a:r>
            <a:endParaRPr lang="ja-JP" sz="2200" dirty="0"/>
          </a:p>
        </p:txBody>
      </p:sp>
      <p:sp>
        <p:nvSpPr>
          <p:cNvPr id="18" name="Shape 16"/>
          <p:cNvSpPr/>
          <p:nvPr/>
        </p:nvSpPr>
        <p:spPr>
          <a:xfrm>
            <a:off x="5681167" y="1691640"/>
            <a:ext cx="2703881" cy="4178808"/>
          </a:xfrm>
          <a:prstGeom prst="roundRect">
            <a:avLst>
              <a:gd name="adj" fmla="val 2705"/>
            </a:avLst>
          </a:prstGeom>
          <a:solidFill>
            <a:srgbClr val="F2F2F2"/>
          </a:solidFill>
          <a:ln/>
        </p:spPr>
      </p:sp>
      <p:sp>
        <p:nvSpPr>
          <p:cNvPr id="19" name="Text 17"/>
          <p:cNvSpPr txBox="1"/>
          <p:nvPr/>
        </p:nvSpPr>
        <p:spPr>
          <a:xfrm>
            <a:off x="5809183" y="1819656"/>
            <a:ext cx="2447849"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作用</a:t>
            </a:r>
            <a:endParaRPr lang="ja-JP" sz="2400" dirty="0"/>
          </a:p>
        </p:txBody>
      </p:sp>
      <p:sp>
        <p:nvSpPr>
          <p:cNvPr id="20" name="Text 18"/>
          <p:cNvSpPr txBox="1"/>
          <p:nvPr/>
        </p:nvSpPr>
        <p:spPr>
          <a:xfrm>
            <a:off x="5809183" y="2368296"/>
            <a:ext cx="244784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α と β 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すべてに効く</a:t>
            </a:r>
            <a:endParaRPr lang="ja-JP" sz="2200" dirty="0"/>
          </a:p>
        </p:txBody>
      </p:sp>
      <p:sp>
        <p:nvSpPr>
          <p:cNvPr id="21" name="Shape 19"/>
          <p:cNvSpPr/>
          <p:nvPr/>
        </p:nvSpPr>
        <p:spPr>
          <a:xfrm>
            <a:off x="5809183" y="3419856"/>
            <a:ext cx="2447849" cy="0"/>
          </a:xfrm>
          <a:prstGeom prst="line">
            <a:avLst/>
          </a:prstGeom>
          <a:noFill/>
          <a:ln w="12700">
            <a:solidFill>
              <a:srgbClr val="BFBFBF"/>
            </a:solidFill>
            <a:prstDash val="solid"/>
          </a:ln>
        </p:spPr>
      </p:sp>
      <p:sp>
        <p:nvSpPr>
          <p:cNvPr id="22" name="Text 20"/>
          <p:cNvSpPr txBox="1"/>
          <p:nvPr/>
        </p:nvSpPr>
        <p:spPr>
          <a:xfrm>
            <a:off x="5809183" y="3611880"/>
            <a:ext cx="2447849"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低用量で β、</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高用量で α が</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前に出る</a:t>
            </a:r>
            <a:endParaRPr lang="ja-JP" sz="2200" dirty="0"/>
          </a:p>
        </p:txBody>
      </p:sp>
      <p:sp>
        <p:nvSpPr>
          <p:cNvPr id="23" name="Shape 21"/>
          <p:cNvSpPr/>
          <p:nvPr/>
        </p:nvSpPr>
        <p:spPr>
          <a:xfrm>
            <a:off x="5809183" y="5093208"/>
            <a:ext cx="2447849" cy="0"/>
          </a:xfrm>
          <a:prstGeom prst="line">
            <a:avLst/>
          </a:prstGeom>
          <a:noFill/>
          <a:ln w="12700">
            <a:solidFill>
              <a:srgbClr val="BFBFBF"/>
            </a:solidFill>
            <a:prstDash val="solid"/>
          </a:ln>
        </p:spPr>
      </p:sp>
      <p:sp>
        <p:nvSpPr>
          <p:cNvPr id="24" name="Text 22"/>
          <p:cNvSpPr txBox="1"/>
          <p:nvPr/>
        </p:nvSpPr>
        <p:spPr>
          <a:xfrm>
            <a:off x="5809183" y="5285232"/>
            <a:ext cx="244784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気管支も広げる</a:t>
            </a:r>
            <a:endParaRPr lang="ja-JP" sz="2200" dirty="0"/>
          </a:p>
        </p:txBody>
      </p:sp>
      <p:sp>
        <p:nvSpPr>
          <p:cNvPr id="25" name="Shape 23"/>
          <p:cNvSpPr/>
          <p:nvPr/>
        </p:nvSpPr>
        <p:spPr>
          <a:xfrm>
            <a:off x="8604504" y="1691640"/>
            <a:ext cx="3081528" cy="4178808"/>
          </a:xfrm>
          <a:prstGeom prst="roundRect">
            <a:avLst>
              <a:gd name="adj" fmla="val 2374"/>
            </a:avLst>
          </a:prstGeom>
          <a:solidFill>
            <a:srgbClr val="F2F2F2"/>
          </a:solidFill>
          <a:ln/>
        </p:spPr>
      </p:sp>
      <p:sp>
        <p:nvSpPr>
          <p:cNvPr id="26" name="Text 24"/>
          <p:cNvSpPr txBox="1"/>
          <p:nvPr/>
        </p:nvSpPr>
        <p:spPr>
          <a:xfrm>
            <a:off x="8732520" y="1819656"/>
            <a:ext cx="2825496"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732520" y="2368296"/>
            <a:ext cx="2825496"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不整脈、心筋虚血、</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高血糖、乳酸上昇</a:t>
            </a:r>
            <a:endParaRPr lang="ja-JP" sz="2200" dirty="0"/>
          </a:p>
        </p:txBody>
      </p:sp>
      <p:sp>
        <p:nvSpPr>
          <p:cNvPr id="28" name="Shape 26"/>
          <p:cNvSpPr/>
          <p:nvPr/>
        </p:nvSpPr>
        <p:spPr>
          <a:xfrm>
            <a:off x="8732520" y="3419856"/>
            <a:ext cx="2825496" cy="0"/>
          </a:xfrm>
          <a:prstGeom prst="line">
            <a:avLst/>
          </a:prstGeom>
          <a:noFill/>
          <a:ln w="12700">
            <a:solidFill>
              <a:srgbClr val="BFBFBF"/>
            </a:solidFill>
            <a:prstDash val="solid"/>
          </a:ln>
        </p:spPr>
      </p:sp>
      <p:sp>
        <p:nvSpPr>
          <p:cNvPr id="29" name="Text 27"/>
          <p:cNvSpPr txBox="1"/>
          <p:nvPr/>
        </p:nvSpPr>
        <p:spPr>
          <a:xfrm>
            <a:off x="8732520" y="3611880"/>
            <a:ext cx="2825496" cy="859536"/>
          </a:xfrm>
          <a:prstGeom prst="rect">
            <a:avLst/>
          </a:prstGeom>
          <a:noFill/>
          <a:ln/>
        </p:spPr>
        <p:txBody>
          <a:bodyPr wrap="square" lIns="0" tIns="0" rIns="0" bIns="0" rtlCol="0" anchor="t"/>
          <a:lstStyle/>
          <a:p>
            <a:pPr algn="l" indent="0" marL="0">
              <a:spcAft>
                <a:spcPts val="100"/>
              </a:spcAft>
              <a:buNone/>
            </a:pPr>
            <a:r>
              <a:rPr lang="ja-JP" altLang="en-US" sz="2200" b="1" dirty="0">
                <a:solidFill>
                  <a:srgbClr val="C00000"/>
                </a:solidFill>
                <a:latin typeface="メイリオ" pitchFamily="34" charset="0"/>
                <a:ea typeface="メイリオ" pitchFamily="34" charset="-122"/>
                <a:cs typeface="メイリオ" pitchFamily="34" charset="-120"/>
              </a:rPr>
              <a:t>濃度の取り違え</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（1 mg/mL）</a:t>
            </a:r>
            <a:endParaRPr lang="ja-JP" sz="2200" dirty="0"/>
          </a:p>
        </p:txBody>
      </p:sp>
      <p:sp>
        <p:nvSpPr>
          <p:cNvPr id="30" name="Shape 28"/>
          <p:cNvSpPr/>
          <p:nvPr/>
        </p:nvSpPr>
        <p:spPr>
          <a:xfrm>
            <a:off x="8732520" y="4663440"/>
            <a:ext cx="2825496" cy="0"/>
          </a:xfrm>
          <a:prstGeom prst="line">
            <a:avLst/>
          </a:prstGeom>
          <a:noFill/>
          <a:ln w="12700">
            <a:solidFill>
              <a:srgbClr val="BFBFBF"/>
            </a:solidFill>
            <a:prstDash val="solid"/>
          </a:ln>
        </p:spPr>
      </p:sp>
      <p:sp>
        <p:nvSpPr>
          <p:cNvPr id="31" name="Text 29"/>
          <p:cNvSpPr txBox="1"/>
          <p:nvPr/>
        </p:nvSpPr>
        <p:spPr>
          <a:xfrm>
            <a:off x="8732520" y="4855464"/>
            <a:ext cx="2825496"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静注は希釈して</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少量ずつ</a:t>
            </a:r>
            <a:endParaRPr lang="ja-JP"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落とし穴</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第4版」Ⅲ（2025）</a:t>
            </a:r>
            <a:endParaRPr lang="ja-JP" sz="1600" dirty="0"/>
          </a:p>
        </p:txBody>
      </p:sp>
      <p:sp>
        <p:nvSpPr>
          <p:cNvPr id="11" name="Text 9"/>
          <p:cNvSpPr txBox="1"/>
          <p:nvPr/>
        </p:nvSpPr>
        <p:spPr>
          <a:xfrm>
            <a:off x="502920" y="1810512"/>
            <a:ext cx="11155680" cy="4069080"/>
          </a:xfrm>
          <a:prstGeom prst="rect">
            <a:avLst/>
          </a:prstGeom>
          <a:noFill/>
          <a:ln/>
        </p:spPr>
        <p:txBody>
          <a:bodyPr wrap="square" lIns="0" tIns="0" rIns="0" bIns="0" rtlCol="0" anchor="t"/>
          <a:lstStyle/>
          <a:p>
            <a:pPr algn="l" marL="406400" indent="-406400">
              <a:spcAft>
                <a:spcPts val="26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ニカルジピン</a:t>
            </a:r>
            <a:r>
              <a:rPr lang="ja-JP" altLang="en-US" sz="2800" dirty="0">
                <a:solidFill>
                  <a:srgbClr val="262626"/>
                </a:solidFill>
                <a:latin typeface="メイリオ" pitchFamily="34" charset="0"/>
                <a:ea typeface="メイリオ" pitchFamily="34" charset="-122"/>
                <a:cs typeface="メイリオ" pitchFamily="34" charset="-120"/>
              </a:rPr>
              <a:t>で下げすぎ、しばらく戻らない</a:t>
            </a:r>
            <a:endParaRPr lang="ja-JP" sz="2800" dirty="0"/>
          </a:p>
          <a:p>
            <a:pPr algn="l" marL="406400" indent="-406400">
              <a:spcAft>
                <a:spcPts val="26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ニトログリセリン</a:t>
            </a:r>
            <a:r>
              <a:rPr lang="ja-JP" altLang="en-US" sz="2800" dirty="0">
                <a:solidFill>
                  <a:srgbClr val="262626"/>
                </a:solidFill>
                <a:latin typeface="メイリオ" pitchFamily="34" charset="0"/>
                <a:ea typeface="メイリオ" pitchFamily="34" charset="-122"/>
                <a:cs typeface="メイリオ" pitchFamily="34" charset="-120"/>
              </a:rPr>
              <a:t>と </a:t>
            </a:r>
            <a:r>
              <a:rPr lang="ja-JP" altLang="en-US" sz="2800" b="1" dirty="0">
                <a:solidFill>
                  <a:srgbClr val="262626"/>
                </a:solidFill>
                <a:latin typeface="メイリオ" pitchFamily="34" charset="0"/>
                <a:ea typeface="メイリオ" pitchFamily="34" charset="-122"/>
                <a:cs typeface="メイリオ" pitchFamily="34" charset="-120"/>
              </a:rPr>
              <a:t>PDE5 阻害薬</a:t>
            </a:r>
            <a:r>
              <a:rPr lang="ja-JP" altLang="en-US" sz="2800" dirty="0">
                <a:solidFill>
                  <a:srgbClr val="262626"/>
                </a:solidFill>
                <a:latin typeface="メイリオ" pitchFamily="34" charset="0"/>
                <a:ea typeface="メイリオ" pitchFamily="34" charset="-122"/>
                <a:cs typeface="メイリオ" pitchFamily="34" charset="-120"/>
              </a:rPr>
              <a:t>の併用</a:t>
            </a:r>
            <a:endParaRPr lang="ja-JP" sz="2800" dirty="0"/>
          </a:p>
          <a:p>
            <a:pPr algn="l" marL="406400" indent="-406400">
              <a:spcAft>
                <a:spcPts val="26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β 遮断</a:t>
            </a:r>
            <a:r>
              <a:rPr lang="ja-JP" altLang="en-US" sz="2800" dirty="0">
                <a:solidFill>
                  <a:srgbClr val="262626"/>
                </a:solidFill>
                <a:latin typeface="メイリオ" pitchFamily="34" charset="0"/>
                <a:ea typeface="メイリオ" pitchFamily="34" charset="-122"/>
                <a:cs typeface="メイリオ" pitchFamily="34" charset="-120"/>
              </a:rPr>
              <a:t>で心不全・徐脈が悪化</a:t>
            </a:r>
            <a:endParaRPr lang="ja-JP" sz="2800" dirty="0"/>
          </a:p>
          <a:p>
            <a:pPr algn="l" marL="406400" indent="-406400">
              <a:spcAft>
                <a:spcPts val="26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アドレナリン</a:t>
            </a:r>
            <a:r>
              <a:rPr lang="ja-JP" altLang="en-US" sz="2800" dirty="0">
                <a:solidFill>
                  <a:srgbClr val="262626"/>
                </a:solidFill>
                <a:latin typeface="メイリオ" pitchFamily="34" charset="0"/>
                <a:ea typeface="メイリオ" pitchFamily="34" charset="-122"/>
                <a:cs typeface="メイリオ" pitchFamily="34" charset="-120"/>
              </a:rPr>
              <a:t>の濃度・桁の間違い</a:t>
            </a:r>
            <a:endParaRPr lang="ja-JP" sz="2800" dirty="0"/>
          </a:p>
          <a:p>
            <a:pPr algn="l" marL="406400" indent="-406400">
              <a:spcAft>
                <a:spcPts val="26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原因</a:t>
            </a:r>
            <a:r>
              <a:rPr lang="ja-JP" altLang="en-US" sz="2800" dirty="0">
                <a:solidFill>
                  <a:srgbClr val="262626"/>
                </a:solidFill>
                <a:latin typeface="メイリオ" pitchFamily="34" charset="0"/>
                <a:ea typeface="メイリオ" pitchFamily="34" charset="-122"/>
                <a:cs typeface="メイリオ" pitchFamily="34" charset="-120"/>
              </a:rPr>
              <a:t>（浅い麻酔、高 CO2、膀胱）を忘れて薬で押さえる</a:t>
            </a:r>
            <a:endParaRPr 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整理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心拍数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強心薬</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アドレ</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ナリン</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各薬剤の添付文書 / 日本麻酔科学会「麻酔薬および麻酔関連薬使用ガイドライン 第4版」Ⅲ（2025）</a:t>
            </a:r>
            <a:endParaRPr lang="ja-JP" sz="1600" dirty="0"/>
          </a:p>
        </p:txBody>
      </p:sp>
      <p:sp>
        <p:nvSpPr>
          <p:cNvPr id="11" name="Text 9"/>
          <p:cNvSpPr txBox="1"/>
          <p:nvPr/>
        </p:nvSpPr>
        <p:spPr>
          <a:xfrm>
            <a:off x="502920" y="1810512"/>
            <a:ext cx="11155680" cy="3886200"/>
          </a:xfrm>
          <a:prstGeom prst="rect">
            <a:avLst/>
          </a:prstGeom>
          <a:noFill/>
          <a:ln/>
        </p:spPr>
        <p:txBody>
          <a:bodyPr wrap="square" lIns="0" tIns="0" rIns="0" bIns="0" rtlCol="0" anchor="t"/>
          <a:lstStyle/>
          <a:p>
            <a:pPr algn="l" marL="381000" indent="-381000">
              <a:spcAft>
                <a:spcPts val="2600"/>
              </a:spcAft>
              <a:buSzPct val="100000"/>
              <a:buChar char="•"/>
            </a:pPr>
            <a:r>
              <a:rPr lang="ja-JP" altLang="en-US" sz="2600" b="1" dirty="0">
                <a:solidFill>
                  <a:srgbClr val="262626"/>
                </a:solidFill>
                <a:latin typeface="メイリオ" pitchFamily="34" charset="0"/>
                <a:ea typeface="メイリオ" pitchFamily="34" charset="-122"/>
                <a:cs typeface="メイリオ" pitchFamily="34" charset="-120"/>
              </a:rPr>
              <a:t>後負荷↓：</a:t>
            </a:r>
            <a:r>
              <a:rPr lang="ja-JP" altLang="en-US" sz="2600" dirty="0">
                <a:solidFill>
                  <a:srgbClr val="262626"/>
                </a:solidFill>
                <a:latin typeface="メイリオ" pitchFamily="34" charset="0"/>
                <a:ea typeface="メイリオ" pitchFamily="34" charset="-122"/>
                <a:cs typeface="メイリオ" pitchFamily="34" charset="-120"/>
              </a:rPr>
              <a:t>ニカルジピン </a:t>
            </a:r>
            <a:r>
              <a:rPr lang="ja-JP" altLang="en-US" sz="2600" b="1" dirty="0">
                <a:solidFill>
                  <a:srgbClr val="0072B2"/>
                </a:solidFill>
                <a:latin typeface="メイリオ" pitchFamily="34" charset="0"/>
                <a:ea typeface="メイリオ" pitchFamily="34" charset="-122"/>
                <a:cs typeface="メイリオ" pitchFamily="34" charset="-120"/>
              </a:rPr>
              <a:t>2〜10 μg/kg/分</a:t>
            </a:r>
            <a:r>
              <a:rPr lang="ja-JP" altLang="en-US" sz="2600" dirty="0">
                <a:solidFill>
                  <a:srgbClr val="262626"/>
                </a:solidFill>
                <a:latin typeface="メイリオ" pitchFamily="34" charset="0"/>
                <a:ea typeface="メイリオ" pitchFamily="34" charset="-122"/>
                <a:cs typeface="メイリオ" pitchFamily="34" charset="-120"/>
              </a:rPr>
              <a:t>で開始</a:t>
            </a:r>
            <a:endParaRPr lang="ja-JP" sz="2600" dirty="0"/>
          </a:p>
          <a:p>
            <a:pPr algn="l" marL="381000" indent="-381000">
              <a:spcAft>
                <a:spcPts val="2600"/>
              </a:spcAft>
              <a:buSzPct val="100000"/>
              <a:buChar char="•"/>
            </a:pPr>
            <a:r>
              <a:rPr lang="ja-JP" altLang="en-US" sz="2600" b="1" dirty="0">
                <a:solidFill>
                  <a:srgbClr val="262626"/>
                </a:solidFill>
                <a:latin typeface="メイリオ" pitchFamily="34" charset="0"/>
                <a:ea typeface="メイリオ" pitchFamily="34" charset="-122"/>
                <a:cs typeface="メイリオ" pitchFamily="34" charset="-120"/>
              </a:rPr>
              <a:t>前負荷↓：</a:t>
            </a:r>
            <a:r>
              <a:rPr lang="ja-JP" altLang="en-US" sz="2600" dirty="0">
                <a:solidFill>
                  <a:srgbClr val="262626"/>
                </a:solidFill>
                <a:latin typeface="メイリオ" pitchFamily="34" charset="0"/>
                <a:ea typeface="メイリオ" pitchFamily="34" charset="-122"/>
                <a:cs typeface="メイリオ" pitchFamily="34" charset="-120"/>
              </a:rPr>
              <a:t>ニトログリセリン </a:t>
            </a:r>
            <a:r>
              <a:rPr lang="ja-JP" altLang="en-US" sz="2600" b="1" dirty="0">
                <a:solidFill>
                  <a:srgbClr val="0072B2"/>
                </a:solidFill>
                <a:latin typeface="メイリオ" pitchFamily="34" charset="0"/>
                <a:ea typeface="メイリオ" pitchFamily="34" charset="-122"/>
                <a:cs typeface="メイリオ" pitchFamily="34" charset="-120"/>
              </a:rPr>
              <a:t>0.5〜5 μg/kg/分</a:t>
            </a:r>
            <a:r>
              <a:rPr lang="ja-JP" altLang="en-US" sz="2600" dirty="0">
                <a:solidFill>
                  <a:srgbClr val="262626"/>
                </a:solidFill>
                <a:latin typeface="メイリオ" pitchFamily="34" charset="0"/>
                <a:ea typeface="メイリオ" pitchFamily="34" charset="-122"/>
                <a:cs typeface="メイリオ" pitchFamily="34" charset="-120"/>
              </a:rPr>
              <a:t>で開始</a:t>
            </a:r>
            <a:endParaRPr lang="ja-JP" sz="2600" dirty="0"/>
          </a:p>
          <a:p>
            <a:pPr algn="l" marL="381000" indent="-381000">
              <a:spcAft>
                <a:spcPts val="2600"/>
              </a:spcAft>
              <a:buSzPct val="100000"/>
              <a:buChar char="•"/>
            </a:pPr>
            <a:r>
              <a:rPr lang="ja-JP" altLang="en-US" sz="2600" b="1" dirty="0">
                <a:solidFill>
                  <a:srgbClr val="262626"/>
                </a:solidFill>
                <a:latin typeface="メイリオ" pitchFamily="34" charset="0"/>
                <a:ea typeface="メイリオ" pitchFamily="34" charset="-122"/>
                <a:cs typeface="メイリオ" pitchFamily="34" charset="-120"/>
              </a:rPr>
              <a:t>心拍数↓：</a:t>
            </a:r>
            <a:r>
              <a:rPr lang="ja-JP" altLang="en-US" sz="2600" dirty="0">
                <a:solidFill>
                  <a:srgbClr val="262626"/>
                </a:solidFill>
                <a:latin typeface="メイリオ" pitchFamily="34" charset="0"/>
                <a:ea typeface="メイリオ" pitchFamily="34" charset="-122"/>
                <a:cs typeface="メイリオ" pitchFamily="34" charset="-120"/>
              </a:rPr>
              <a:t>ランジオロール </a:t>
            </a:r>
            <a:r>
              <a:rPr lang="ja-JP" altLang="en-US" sz="2600" b="1" dirty="0">
                <a:solidFill>
                  <a:srgbClr val="0072B2"/>
                </a:solidFill>
                <a:latin typeface="メイリオ" pitchFamily="34" charset="0"/>
                <a:ea typeface="メイリオ" pitchFamily="34" charset="-122"/>
                <a:cs typeface="メイリオ" pitchFamily="34" charset="-120"/>
              </a:rPr>
              <a:t>0.125</a:t>
            </a:r>
            <a:r>
              <a:rPr lang="ja-JP" altLang="en-US" sz="2600" dirty="0">
                <a:solidFill>
                  <a:srgbClr val="262626"/>
                </a:solidFill>
                <a:latin typeface="メイリオ" pitchFamily="34" charset="0"/>
                <a:ea typeface="メイリオ" pitchFamily="34" charset="-122"/>
                <a:cs typeface="メイリオ" pitchFamily="34" charset="-120"/>
              </a:rPr>
              <a:t>（1 分）→ </a:t>
            </a:r>
            <a:r>
              <a:rPr lang="ja-JP" altLang="en-US" sz="2600" b="1" dirty="0">
                <a:solidFill>
                  <a:srgbClr val="0072B2"/>
                </a:solidFill>
                <a:latin typeface="メイリオ" pitchFamily="34" charset="0"/>
                <a:ea typeface="メイリオ" pitchFamily="34" charset="-122"/>
                <a:cs typeface="メイリオ" pitchFamily="34" charset="-120"/>
              </a:rPr>
              <a:t>0.04 mg/kg/分</a:t>
            </a:r>
            <a:endParaRPr lang="ja-JP" sz="2600" dirty="0"/>
          </a:p>
          <a:p>
            <a:pPr algn="l" marL="381000" indent="-381000">
              <a:spcAft>
                <a:spcPts val="2600"/>
              </a:spcAft>
              <a:buSzPct val="100000"/>
              <a:buChar char="•"/>
            </a:pPr>
            <a:r>
              <a:rPr lang="ja-JP" altLang="en-US" sz="2600" b="1" dirty="0">
                <a:solidFill>
                  <a:srgbClr val="262626"/>
                </a:solidFill>
                <a:latin typeface="メイリオ" pitchFamily="34" charset="0"/>
                <a:ea typeface="メイリオ" pitchFamily="34" charset="-122"/>
                <a:cs typeface="メイリオ" pitchFamily="34" charset="-120"/>
              </a:rPr>
              <a:t>収縮力↑：</a:t>
            </a:r>
            <a:r>
              <a:rPr lang="ja-JP" altLang="en-US" sz="2600" dirty="0">
                <a:solidFill>
                  <a:srgbClr val="262626"/>
                </a:solidFill>
                <a:latin typeface="メイリオ" pitchFamily="34" charset="0"/>
                <a:ea typeface="メイリオ" pitchFamily="34" charset="-122"/>
                <a:cs typeface="メイリオ" pitchFamily="34" charset="-120"/>
              </a:rPr>
              <a:t>ドブタミン </a:t>
            </a:r>
            <a:r>
              <a:rPr lang="ja-JP" altLang="en-US" sz="2600" b="1" dirty="0">
                <a:solidFill>
                  <a:srgbClr val="0072B2"/>
                </a:solidFill>
                <a:latin typeface="メイリオ" pitchFamily="34" charset="0"/>
                <a:ea typeface="メイリオ" pitchFamily="34" charset="-122"/>
                <a:cs typeface="メイリオ" pitchFamily="34" charset="-120"/>
              </a:rPr>
              <a:t>1〜5</a:t>
            </a:r>
            <a:r>
              <a:rPr lang="ja-JP" altLang="en-US" sz="2600" dirty="0">
                <a:solidFill>
                  <a:srgbClr val="262626"/>
                </a:solidFill>
                <a:latin typeface="メイリオ" pitchFamily="34" charset="0"/>
                <a:ea typeface="メイリオ" pitchFamily="34" charset="-122"/>
                <a:cs typeface="メイリオ" pitchFamily="34" charset="-120"/>
              </a:rPr>
              <a:t>、最大 </a:t>
            </a:r>
            <a:r>
              <a:rPr lang="ja-JP" altLang="en-US" sz="2600" b="1" dirty="0">
                <a:solidFill>
                  <a:srgbClr val="0072B2"/>
                </a:solidFill>
                <a:latin typeface="メイリオ" pitchFamily="34" charset="0"/>
                <a:ea typeface="メイリオ" pitchFamily="34" charset="-122"/>
                <a:cs typeface="メイリオ" pitchFamily="34" charset="-120"/>
              </a:rPr>
              <a:t>20 μg/kg/分</a:t>
            </a:r>
            <a:endParaRPr lang="ja-JP" sz="2600" dirty="0"/>
          </a:p>
          <a:p>
            <a:pPr algn="l" marL="381000" indent="-381000">
              <a:spcAft>
                <a:spcPts val="26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アドレナリンは全部上げる（用量で変わる）。</a:t>
            </a:r>
            <a:r>
              <a:rPr lang="ja-JP" altLang="en-US" sz="2600" b="1" dirty="0">
                <a:solidFill>
                  <a:srgbClr val="D55E00"/>
                </a:solidFill>
                <a:latin typeface="メイリオ" pitchFamily="34" charset="0"/>
                <a:ea typeface="メイリオ" pitchFamily="34" charset="-122"/>
                <a:cs typeface="メイリオ" pitchFamily="34" charset="-120"/>
              </a:rPr>
              <a:t>濃度と桁に注意</a:t>
            </a:r>
            <a:endParaRPr lang="ja-JP"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3-9 降圧薬・強心薬</dc:title>
  <dc:subject/>
  <dc:creator>初期研修医向け麻酔講義</dc:creator>
  <cp:lastModifiedBy>初期研修医向け麻酔講義</cp:lastModifiedBy>
  <cp:revision>1</cp:revision>
  <dcterms:created xsi:type="dcterms:W3CDTF">2026-10-14T00:53:34Z</dcterms:created>
  <dcterms:modified xsi:type="dcterms:W3CDTF">2026-10-14T00:53:34Z</dcterms:modified>
</cp:coreProperties>
</file>