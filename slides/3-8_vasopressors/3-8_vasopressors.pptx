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麻酔中の低血圧に使う 3 つの昇圧薬、フェニレフリン、エフェドリン、ノルアドレナリンを、循環生理の 4 要素（前負荷、後負荷、収縮力、心拍数）のどこに効くかで整理する。用量は国内添付文書の数値と、麻酔中によく使われる添付文書外の量（慣用量）を、分けて示す。昇圧薬は原因治療までのつなぎで、原因を探す手順は 6-2 で扱う。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血圧は心拍出量と体血管抵抗の積でおおよそ決まり、心拍出量は 1 回拍出量と心拍数の積。1 回拍出量は前負荷（心臓に戻る血液の量）、後負荷（血液を送り出す抵抗）、収縮力で決まる（→ 9-1〜9-5）。</a:t>
            </a:r>
          </a:p>
          <a:p>
            <a:r>
              <a:rPr lang="ja-JP" altLang="en-US" dirty="0"/>
              <a:t>麻酔中の低血圧の多くは、麻酔薬による血管拡張（後負荷の低下と、静脈の拡張による前負荷の低下）と心抑制、陽圧換気による静脈還流の減少で起こる。出血や脱水なら前負荷の問題、心疾患なら収縮力の問題が加わる。</a:t>
            </a:r>
          </a:p>
          <a:p>
            <a:r>
              <a:rPr lang="ja-JP" altLang="en-US" dirty="0"/>
              <a:t>昇圧薬を選ぶときは「どの要素が足りないか」を考える。血管が拡張しているなら血管を締める薬（α作用）、心拍数が遅いなら心拍数を上げる薬（β作用）、というように。</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α1 受容体: 動脈を締めれば後負荷が上がり、静脈を締めれば血液が心臓に戻って前負荷が上がる（前負荷依存のとき）。β1 受容体: 心拍数と収縮力を上げる。β2 受容体: 血管と気管支を広げる。</a:t>
            </a:r>
          </a:p>
          <a:p>
            <a:r>
              <a:rPr lang="ja-JP" altLang="en-US" dirty="0"/>
              <a:t>フェニレフリン: ほぼ純粋な α1 作動薬。血圧は上がるが、圧受容器反射で心拍数が下がる。α1 作用で静脈も締まり、静脈還流（前負荷）を増やす方向に働く。ただし、それで心拍出量が保たれるのは前負荷依存のとき（出血や麻酔による血管拡張で PPV が大きいとき）に限られる。前負荷に依存しない状態では後負荷の上昇が勝ち、静脈還流も心拍出量も下がる。麻酔中のヒト 50 例では、PPV 13% 未満の群で心係数が 2.3 から 1.8 L/分/m² に下がり、PPV 13% 以上の群では変わらなかった（Rebet 2016）。ブタでは、前負荷に依存しない状態で心拍出量 7.0→6.0 L/分、下大静脈血流 4.6→3.8 L/分と下がり、脱血後（前負荷依存）は心拍出量 4.1→4.9 L/分、下大静脈血流 3.0→3.5 L/分と増えた（Cannesson 2012）。</a:t>
            </a:r>
          </a:p>
          <a:p>
            <a:r>
              <a:rPr lang="ja-JP" altLang="en-US" dirty="0"/>
              <a:t>エフェドリン: 交感神経終末からノルアドレナリンを放出させる（間接作用）のが主で、β 受容体への直接作用もある。心拍数と収縮力が上がり、血管も締まる。昇圧の機序（間接作用か直接作用か）には議論があり、ラットでは直接作用によるとした報告もある（Liles 2006）。</a:t>
            </a:r>
          </a:p>
          <a:p>
            <a:r>
              <a:rPr lang="ja-JP" altLang="en-US" dirty="0"/>
              <a:t>ノルアドレナリン: α1 作用が強く、β1 作用も中等度ある（β2 作用はほとんどない）。血管を締めつつ収縮力を保つ。心拍数は反射で変わらないか少し下がるが、ボーラスで急に血圧が上がると、反射で心拍数がはっきり下がることもある（Duarte-Medrano 2026）。表の「前負荷↑」も、心拍出量が増えるかどうかは、フェニレフリンと同じく前負荷依存の程度による。</a:t>
            </a:r>
          </a:p>
          <a:p>
            <a:r>
              <a:rPr lang="ja-JP" altLang="en-US" dirty="0"/>
              <a:t>アドレナリン: α と β の全部に効く。低用量では β 作用が目立ち、高用量で α 作用が前に出る。心停止とアナフィラキシーの第一選択（→ 3-9）。</a:t>
            </a:r>
          </a:p>
          <a:p>
            <a:r>
              <a:rPr lang="ja-JP" altLang="en-US" dirty="0"/>
              <a:t>参考: Liles JT, et al. J Pharmacol Exp Ther 2006;316:95-105 / Duarte-Medrano G, et al. J Pers Med 2026;16:384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用量: 添付文書の静脈内注射は、通常成人 1 回 0.2 mg を、注射液そのまま、または約 10 mL の生理食塩液・リンゲル液・5% ブドウ糖液などに混ぜて静注する。年齢・症状により適宜増減するが、範囲は 0.1〜0.5 mg。反復するときは 10〜15 分おき【要確認: ネオシネジンコーワ注 添付文書「6. 用法及び用量」〔静脈内注射〕の原文と一字一句照合し、一致すれば原文を引用する】。効能は急性低血圧・ショックの補助治療など。製剤には 1 mg/1 mL のほかに 5 mg の規格があり、取り違えると 5 倍量になる【要確認: ネオシネジンコーワ注 5 mg の濃度（添付文書「3. 組成・性状」）】。</a:t>
            </a:r>
          </a:p>
          <a:p>
            <a:r>
              <a:rPr lang="ja-JP" altLang="en-US" dirty="0"/>
              <a:t>麻酔中の慣用（添付文書外）: 1 mg/1 mL を 10 mL に希釈（0.1 mg/mL）し、0.05〜0.1 mg（0.5〜1 mL）ずつ投与する方法が広く使われる。0.05 mg は、添付文書の範囲（0.1〜0.5 mg）の下限より少ない慣用量。臨床試験で使われた麻酔中の少量ボーラスの例は、1 μg/kg（Sjøen 2026）、100〜200 μg（Meng 2011）。希釈は施設の手順に従う【要確認: 施設の希釈法】。</a:t>
            </a:r>
          </a:p>
          <a:p>
            <a:r>
              <a:rPr lang="ja-JP" altLang="en-US" dirty="0"/>
              <a:t>持続投与: 添付文書の点滴静注は、100 mL に 0.5〜1.0 mg（5〜10 μg/mL）を混ぜ、血圧を見ながら滴数を調節する方法で、体重あたりの速度は書かれていない【要確認: 同「6. 用法及び用量」〔点滴静注〕の原文】。開始量は施設の手順に従う。</a:t>
            </a:r>
          </a:p>
          <a:p>
            <a:r>
              <a:rPr lang="ja-JP" altLang="en-US" dirty="0"/>
              <a:t>向く場面: 麻酔薬や脊髄くも膜下麻酔による血管拡張で、心拍数が保たれている（頻脈ぎみの）低血圧。頻脈にしたくない患者（虚血性心疾患、大動脈弁狭窄）。</a:t>
            </a:r>
          </a:p>
          <a:p>
            <a:r>
              <a:rPr lang="ja-JP" altLang="en-US" dirty="0"/>
              <a:t>注意: 血圧が上がると圧受容器反射で徐脈になる。後負荷が上がるので、心機能が悪い患者では心拍出量が下がって組織灌流が悪くなることがある。少量ボーラスの効果は短い。プロポフォール＋レミフェンタニルによる導入時の RCT では、1 μg/kg のボーラスは約 20 秒で効き始め、5 分後には収縮期血圧がプラセボと差がなくなった（Sjøen 2026）。添付文書の反復間隔（10〜15 分）は 0.1〜0.5 mg の静注を前提にした間隔で、麻酔中の少量ボーラスとは別に考える。必要なら繰り返すか持続投与にする。</a:t>
            </a:r>
          </a:p>
          <a:p>
            <a:r>
              <a:rPr lang="ja-JP" altLang="en-US" dirty="0"/>
              <a:t>参考: Meng L, et al. Br J Anaesth 2011;107:209-217</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用量: 添付文書では、麻酔時の血圧降下には、通常成人 1 回 4〜8 mg を静脈内注射する。年齢・症状により適宜増減する。静注は緩徐に行う【要確認: ヱフェドリン「ナガヰ」注射液 40 mg 添付文書「6. 用法及び用量」の原文と、「緩徐に」の記載がある項（「7. 用法及び用量に関連する注意」など）】。</a:t>
            </a:r>
          </a:p>
          <a:p>
            <a:r>
              <a:rPr lang="ja-JP" altLang="en-US" dirty="0"/>
              <a:t>慣用の希釈: 1 管（40 mg/1 mL）を生理食塩液 9 mL で 10 mL（4 mg/mL）に希釈し、1〜2 mL（4〜8 mg）ずつ投与する方法が広く使われる【要確認: この調製法が添付文書に日本麻酔科学会の推奨として載っているか（「14. 適用上の注意」など）、または日本麻酔科学会ガイドライン第4版のどこにあるか。添付文書に載っていると確認できれば、カード1 の「希釈（慣用）」を添付文書の記載として扱ってよい】。</a:t>
            </a:r>
          </a:p>
          <a:p>
            <a:r>
              <a:rPr lang="ja-JP" altLang="en-US" dirty="0"/>
              <a:t>予防投与: 添付文書は、麻酔時の血圧降下の予防を目的とした投与は行わないよう求めている（帝王切開時の予防投与で、母体の高血圧・頻脈や胎児アシドーシスが報告されたため）【要確認: 同 添付文書でこの注意が載っている項と原文】。低血圧が起きてから使う。</a:t>
            </a:r>
          </a:p>
          <a:p>
            <a:r>
              <a:rPr lang="ja-JP" altLang="en-US" dirty="0"/>
              <a:t>向く場面: 心拍数が遅めの低血圧。麻酔導入後の低血圧で、血管拡張と心抑制の両方が関わるときの最初の一手として使いやすい。</a:t>
            </a:r>
          </a:p>
          <a:p>
            <a:r>
              <a:rPr lang="ja-JP" altLang="en-US" dirty="0"/>
              <a:t>注意: 繰り返すと効きが落ちる（タキフィラキシー）。貯蔵ノルアドレナリンの枯渇で説明されることが多いが、受容体側の脱感作も示唆されている（Liles 2006、ラット）。数回で反応が鈍ったら、別の薬（フェニレフリン、ノルアドレナリン）に切り替えるか、原因を考え直す。効き始めはフェニレフリンやノルアドレナリンより少し遅い。導入時に予防的に投与した RCT では、両薬が約 20 秒で効き始めたのに対し、エフェドリンはその約 30 秒あとだった。5 分後にはフェニレフリンとノルアドレナリンの効果は消えていたが、エフェドリンは血圧と心拍出量を保っていた（Sjøen 2026）。</a:t>
            </a:r>
          </a:p>
          <a:p>
            <a:r>
              <a:rPr lang="ja-JP" altLang="en-US" dirty="0"/>
              <a:t>禁忌: 添付文書では、カテコールアミン（アドレナリン、イソプレナリン、ドパミン等）を投与中の患者は禁忌（併用禁忌）。併用すると不整脈、場合によっては心停止のおそれがある（いずれも交感神経刺激作用をもつため）【要確認: 同「2. 禁忌」「10.1 併用禁忌」の原文（例示される薬名、臨床症状、機序）】。ノルアドレナリンの持続投与中にエフェドリンを追加するのは、字義どおりにはこの禁忌に当たる。臨床では行われることがあるが、添付文書上の位置づけを知ったうえで判断する。逆向き（エフェドリンのあとにノルアドレナリン）は、エフェドリンがカテコールアミンではないので、ノルアドレナリンの禁忌（他のカテコールアミン製剤を投与中）には当たらない。</a:t>
            </a:r>
          </a:p>
          <a:p>
            <a:r>
              <a:rPr lang="ja-JP" altLang="en-US" dirty="0"/>
              <a:t>参考: Liles JT, et al. J Pharmacol Exp Ther 2006;316:95-105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用量: 添付文書では、通常、成人 1 回 1 mg を 250 mL の生理食塩液、5% ブドウ糖液、血漿または全血などに溶解して点滴静注する。点滴の速度は一般に 1 分間 0.5〜1.0 mL で、血圧を絶えず観察して適宜調節する【要確認: ノルアドリナリン注 1 mg 添付文書「6. 用法及び用量」の原文と一字一句照合】。1 mg/250 mL は 4 μg/mL なので、この速度は 2〜4 μg/分、体重 70 kg で約 0.03〜0.06 μg/kg/分にあたる。効能には全身麻酔時の急性低血圧も含まれる【要確認: 同「4. 効能又は効果」の原文】。</a:t>
            </a:r>
          </a:p>
          <a:p>
            <a:r>
              <a:rPr lang="ja-JP" altLang="en-US" dirty="0"/>
              <a:t>麻酔中の慣用（添付文書外）: 麻酔・集中治療では、体重あたりの持続投与（0.03〜0.1 μg/kg/分程度、必要に応じて増量）で管理することが多い。麻酔導入時の持続速度は通常 0.03〜0.2 μg/kg/分で、RCT の中央値は 0.05（0.03〜0.07）μg/kg/分だった（Thomsen 2026）。添付文書の 2〜4 μg/分は、慣用量の下限側と重なる【要確認: 国内ガイドラインの推奨範囲】。少量ボーラスも行われる（添付文書外。例 4〜8 μg、範囲 4〜16 μg：Duarte-Medrano 2026。導入時は 5、10、20 μg の反復ボーラスが一般的で、同 RCT のボーラス用シリンジは 10 μg/mL：Thomsen 2026）。希釈濃度を間違えると 10 倍量になるので、施設の標準希釈に従う【要確認: 施設の標準希釈】。</a:t>
            </a:r>
          </a:p>
          <a:p>
            <a:r>
              <a:rPr lang="ja-JP" altLang="en-US" dirty="0"/>
              <a:t>向く場面: ボーラスで追いつかない持続する低血圧、敗血症や血管拡張性ショック、心機能を落としたくない患者。</a:t>
            </a:r>
          </a:p>
          <a:p>
            <a:r>
              <a:rPr lang="ja-JP" altLang="en-US" dirty="0"/>
              <a:t>注意: 血管外に漏れると組織障害や皮膚壊死を起こすことがある。末梢から投与した 7 研究・1,382 例のまとめでは、漏出は 3.4% で、組織壊死や四肢虚血の報告はなく、全例が保存的治療か血管拡張薬で対処できた（Tian 2020。投与時間の平均 22 時間）。組織障害の報告の多く（85%）は、肘窩・膝窩より末梢の刺入部で起きていた（Loubani 2015）。末梢から使うなら肘窩より近位の太い静脈を選び、刺入部をこまめに観察し、短時間にとどめる。長引くなら中心静脈路を考える。漏れたら直ちに投与を止め、施設の血管外漏出の手順に従う。薬物療法はフェントラミンの局注が第一選択とされる（Fernández-Ginés 2025）【要確認: フェントラミン注射剤の国内での入手可否と、施設の血管外漏出の手順】。過剰な血管収縮で腎・腸管・四肢の虚血、不整脈。側管から他の薬を押し込んだり、ラインをフラッシュしたりすると、ライン内の薬が一気に入って血圧が急上昇する（→ 6 章）。</a:t>
            </a:r>
          </a:p>
          <a:p>
            <a:r>
              <a:rPr lang="ja-JP" altLang="en-US" dirty="0"/>
              <a:t>添付文書の禁忌: 他のカテコールアミン製剤（アドレナリン、イソプレナリン等）を投与中の患者。ハロゲン含有吸入麻酔薬は、以前の添付文書では禁忌とされていたが、現行版（2026 年 4 月改訂）では禁忌ではなく併用注意（心筋のカテコールアミン感受性が高まり、頻脈・心室細動のおそれ）に置かれているとみられる【要確認: ノルアドリナリン注 1 mg 添付文書（2026 年 4 月改訂）「2. 禁忌」「10. 相互作用」の原文で、ハロゲン含有吸入麻酔剤が禁忌・併用禁忌・併用注意のどこにあるか、「緊急時」などの但し書きがあるか】。この注意はハロタンで問題になった不整脈を想定したもので、セボフルランやデスフルランも字義上はハロゲン含有吸入麻酔薬に当たる。麻酔中の使用は実際には広く行われており、記載を知ったうえで使う。</a:t>
            </a:r>
          </a:p>
          <a:p>
            <a:r>
              <a:rPr lang="ja-JP" altLang="en-US" dirty="0"/>
              <a:t>参考: Loubani OM, Green RS. J Crit Care 2015;30:653.e9-17 / Fernández-Ginés FD, et al. Farm Hosp 2025;49:T46-T52 / Duarte-Medrano G, et al. J Pers Med 2026;16:384 / 日本麻酔科学会「麻酔薬および麻酔関連薬使用ガイドライン 第4版」（2025）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表の使い方: 低血圧を見たら、心拍数を見る。徐脈ならエフェドリン（徐脈そのものが問題ならアトロピン）、頻脈ならフェニレフリン。ボーラスを繰り返しても戻らないならノルアドレナリンの持続に切り替える。心機能が悪いなら強心薬（→ 3-9）。出血や脱水なら前負荷の補充が本体で、昇圧薬は輸液・輸血が間に合うまでのつなぎ。ノルアドレナリンの持続中にエフェドリンを追加するのは、添付文書上はエフェドリンの禁忌（カテコールアミン投与中）に当たる（→ S5）。</a:t>
            </a:r>
          </a:p>
          <a:p>
            <a:r>
              <a:rPr lang="ja-JP" altLang="en-US" dirty="0"/>
              <a:t>あくまで出発点: 実際には複数の要素が同時に足りないことが多い。薬を入れたら血圧と心拍数の反応を見て、考えが合っていたかを確かめる。</a:t>
            </a:r>
          </a:p>
          <a:p>
            <a:r>
              <a:rPr lang="ja-JP" altLang="en-US" dirty="0"/>
              <a:t>産科（脊麻下の帝王切開）ではフェニレフリンが好んで使われる（低リスクの予定手術の研究で、臍帯動脈 pH への悪影響がエフェドリンより少なかったため）。妊娠高血圧腎症などハイリスク例では、どちらを選ぶべきかを決める根拠は不十分（Heesen 2019）。産科はこの講義の範囲外。</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原因: 麻酔中の低血圧で多いのは麻酔薬の効きすぎと前負荷の不足。出血、体位（頭高位、腹臥位）、外科医の圧迫、気胸、心タンポナーデ、アナフィラキシー、肺塞栓も考える。手順は 6-2 で扱う。</a:t>
            </a:r>
          </a:p>
          <a:p>
            <a:r>
              <a:rPr lang="ja-JP" altLang="en-US" dirty="0"/>
              <a:t>前負荷: 輸液の急速投与、下肢挙上、圧迫の解除で戻ることが多い。</a:t>
            </a:r>
          </a:p>
          <a:p>
            <a:r>
              <a:rPr lang="ja-JP" altLang="en-US" dirty="0"/>
              <a:t>麻酔薬: 吸入麻酔薬の濃度や静脈麻酔薬の速度を下げる。ただし浅くしすぎて術中覚醒にならないよう、脳波モニターも見る（→ 2-8）。</a:t>
            </a:r>
          </a:p>
          <a:p>
            <a:r>
              <a:rPr lang="ja-JP" altLang="en-US" dirty="0"/>
              <a:t>目安: 平均血圧 65 mmHg 以上。MAP 65 mmHg 未満でも、術前値から 20% を超える低下でも、続く時間が長いほど心筋障害と急性腎障害が段階的に増える（Salmasi 2017）。ただし 20% の相対閾値は 65 mmHg の絶対閾値より強い関連を示さず、著者らは術前値によらず術中の値で管理してよいと結論している。POQI の国際コンセンサスは、リスクのある患者で術中 MAP 60 mmHg 以上を保つよう推奨している（Saugel 2024）。高めの目標や個別化した目標は、合わせて 1 万 3 千人を超える多施設 RCT で、通常の管理（多くは MAP 65 mmHg 以上）より転帰を改善しなかった（Joosten 2026 総説）。持続的な血圧モニタリングや予防的なノルアドレナリン持続投与で低血圧の時間は減らせるが、転帰の改善は証明されていない（Joosten 2026）。導入時のノルアドレナリンを持続投与と反復ボーラスで比べた RCT では、導入後 15 分の低血圧の量に有意差はなかった（Thomsen 2026）。両方の基準を使うなら「65 以上 かつ 20% 以内」とする。「または」だと、普段 MAP 70 の人は 56 でも条件を満たしてしまう。</a:t>
            </a:r>
          </a:p>
          <a:p>
            <a:r>
              <a:rPr lang="ja-JP" altLang="en-US" dirty="0"/>
              <a:t>参考: Thomsen KK, et al. Br J Anaesth 2026;136:1137-1144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徐脈: フェニレフリンのあとの徐脈は反射で、心拍数が 40 台になれば心拍出量が落ちる。徐脈ぎみの患者には最初からエフェドリンを選ぶ。</a:t>
            </a:r>
          </a:p>
          <a:p>
            <a:r>
              <a:rPr lang="ja-JP" altLang="en-US" dirty="0"/>
              <a:t>連発: エフェドリンは繰り返すと効きが落ちる。効かないのは薬のせいか、原因が別にあるのかを考える。</a:t>
            </a:r>
          </a:p>
          <a:p>
            <a:r>
              <a:rPr lang="ja-JP" altLang="en-US" dirty="0"/>
              <a:t>ライン: ノルアドレナリンの側管から別の薬を押すと、ライン内の薬が一気に入る。専用ルートにし、側管からの投与とフラッシュを避ける（→ 6 章）。</a:t>
            </a:r>
          </a:p>
          <a:p>
            <a:r>
              <a:rPr lang="ja-JP" altLang="en-US" dirty="0"/>
              <a:t>希釈: 1 mg/mL を 0.1 mg/mL のつもりで使うと 10 倍。γ計算（→ 3-10）で桁を確かめる習慣をつける。フェニレフリンには 1 mg と 5 mg の規格があり、取り違えると 5 倍になる【要確認: ネオシネジンコーワ注 5 mg の濃度（添付文書「3. 組成・性状」）】。ノルアドレナリンは、添付文書の調製（1 mg/250 mL＝4 μg/mL）と、シリンジポンプでよく使う濃度（例 5 mg/50 mL＝100 μg/mL、→ 3-10）で 25 倍違う。シリンジのラベルで濃度を確かめてから流量を決める。</a:t>
            </a:r>
          </a:p>
          <a:p>
            <a:r>
              <a:rPr lang="ja-JP" altLang="en-US" dirty="0"/>
              <a:t>出血: 昇圧薬で血圧が戻ると安心しがちだが、出血が続けば再び下がる。心拍数、尿量、乳酸、術野を見る。</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分）。3 つの薬を 4 要素で整理し、心拍数で第一選択を決める。昇圧薬は原因治療までのつなぎで、原因を探す手順は 6-2 で扱う。次は 3-9（降圧薬・強心薬）で、反対方向の薬と強心薬を同じ 4 要素で整理する。</a:t>
            </a:r>
          </a:p>
          <a:p>
            <a:r>
              <a:rPr lang="ja-JP" altLang="en-US" dirty="0"/>
              <a:t>用量の区別: エフェドリン 4〜8 mg は添付文書の量。フェニレフリン 0.05〜0.1 mg ずつは添付文書外の慣用量（添付文書は 1 回 0.2 mg、範囲 0.1〜0.5 mg）。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昇圧薬の使い分け</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3-8 麻酔薬理</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血圧は何で決まるか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4つの</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要素</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フェニレ</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フリン</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エフェ</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ドリン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ノルアド</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レナリン</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使い分け</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教科書的記述（循環生理、→ 9-1〜9-5）</a:t>
            </a:r>
            <a:endParaRPr lang="ja-JP" sz="1600" dirty="0"/>
          </a:p>
        </p:txBody>
      </p:sp>
      <p:sp>
        <p:nvSpPr>
          <p:cNvPr id="11" name="Text 9"/>
          <p:cNvSpPr txBox="1"/>
          <p:nvPr/>
        </p:nvSpPr>
        <p:spPr>
          <a:xfrm>
            <a:off x="502920" y="1828800"/>
            <a:ext cx="11183112" cy="768096"/>
          </a:xfrm>
          <a:prstGeom prst="rect">
            <a:avLst/>
          </a:prstGeom>
          <a:noFill/>
          <a:ln/>
        </p:spPr>
        <p:txBody>
          <a:bodyPr wrap="square" lIns="0" tIns="0" rIns="0" bIns="0" rtlCol="0" anchor="t"/>
          <a:lstStyle/>
          <a:p>
            <a:pPr algn="ctr" indent="0" marL="0">
              <a:buNone/>
            </a:pPr>
            <a:r>
              <a:rPr lang="ja-JP" altLang="en-US" sz="4000" b="1" dirty="0">
                <a:solidFill>
                  <a:srgbClr val="262626"/>
                </a:solidFill>
                <a:latin typeface="メイリオ" pitchFamily="34" charset="0"/>
                <a:ea typeface="メイリオ" pitchFamily="34" charset="-122"/>
                <a:cs typeface="メイリオ" pitchFamily="34" charset="-120"/>
              </a:rPr>
              <a:t>血圧 ≈ </a:t>
            </a:r>
            <a:r>
              <a:rPr lang="ja-JP" altLang="en-US" sz="4000" b="1" dirty="0">
                <a:solidFill>
                  <a:srgbClr val="0072B2"/>
                </a:solidFill>
                <a:latin typeface="メイリオ" pitchFamily="34" charset="0"/>
                <a:ea typeface="メイリオ" pitchFamily="34" charset="-122"/>
                <a:cs typeface="メイリオ" pitchFamily="34" charset="-120"/>
              </a:rPr>
              <a:t>心拍出量</a:t>
            </a:r>
            <a:r>
              <a:rPr lang="ja-JP" altLang="en-US" sz="4000" b="1" dirty="0">
                <a:solidFill>
                  <a:srgbClr val="262626"/>
                </a:solidFill>
                <a:latin typeface="メイリオ" pitchFamily="34" charset="0"/>
                <a:ea typeface="メイリオ" pitchFamily="34" charset="-122"/>
                <a:cs typeface="メイリオ" pitchFamily="34" charset="-120"/>
              </a:rPr>
              <a:t> × 体血管抵抗</a:t>
            </a:r>
            <a:endParaRPr lang="ja-JP" sz="4000" dirty="0"/>
          </a:p>
        </p:txBody>
      </p:sp>
      <p:sp>
        <p:nvSpPr>
          <p:cNvPr id="12" name="Text 10"/>
          <p:cNvSpPr txBox="1"/>
          <p:nvPr/>
        </p:nvSpPr>
        <p:spPr>
          <a:xfrm>
            <a:off x="502920" y="2779776"/>
            <a:ext cx="11183112" cy="768096"/>
          </a:xfrm>
          <a:prstGeom prst="rect">
            <a:avLst/>
          </a:prstGeom>
          <a:noFill/>
          <a:ln/>
        </p:spPr>
        <p:txBody>
          <a:bodyPr wrap="square" lIns="0" tIns="0" rIns="0" bIns="0" rtlCol="0" anchor="t"/>
          <a:lstStyle/>
          <a:p>
            <a:pPr algn="ctr" indent="0" marL="0">
              <a:buNone/>
            </a:pPr>
            <a:r>
              <a:rPr lang="ja-JP" altLang="en-US" sz="4000" b="1" dirty="0">
                <a:solidFill>
                  <a:srgbClr val="0072B2"/>
                </a:solidFill>
                <a:latin typeface="メイリオ" pitchFamily="34" charset="0"/>
                <a:ea typeface="メイリオ" pitchFamily="34" charset="-122"/>
                <a:cs typeface="メイリオ" pitchFamily="34" charset="-120"/>
              </a:rPr>
              <a:t>心拍出量</a:t>
            </a:r>
            <a:r>
              <a:rPr lang="ja-JP" altLang="en-US" sz="4000" b="1" dirty="0">
                <a:solidFill>
                  <a:srgbClr val="262626"/>
                </a:solidFill>
                <a:latin typeface="メイリオ" pitchFamily="34" charset="0"/>
                <a:ea typeface="メイリオ" pitchFamily="34" charset="-122"/>
                <a:cs typeface="メイリオ" pitchFamily="34" charset="-120"/>
              </a:rPr>
              <a:t> = 1 回拍出量 × 心拍数</a:t>
            </a:r>
            <a:endParaRPr lang="ja-JP" sz="4000" dirty="0"/>
          </a:p>
        </p:txBody>
      </p:sp>
      <p:sp>
        <p:nvSpPr>
          <p:cNvPr id="13" name="Text 11"/>
          <p:cNvSpPr/>
          <p:nvPr/>
        </p:nvSpPr>
        <p:spPr>
          <a:xfrm>
            <a:off x="836676" y="3931920"/>
            <a:ext cx="2286000" cy="914400"/>
          </a:xfrm>
          <a:prstGeom prst="roundRect">
            <a:avLst>
              <a:gd name="adj" fmla="val 12000"/>
            </a:avLst>
          </a:prstGeom>
          <a:solidFill>
            <a:srgbClr val="FFFFFF"/>
          </a:solidFill>
          <a:ln w="38100">
            <a:solidFill>
              <a:srgbClr val="00A8AA"/>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前負荷</a:t>
            </a:r>
            <a:endParaRPr lang="ja-JP" sz="2800" dirty="0"/>
          </a:p>
        </p:txBody>
      </p:sp>
      <p:sp>
        <p:nvSpPr>
          <p:cNvPr id="14" name="Text 12"/>
          <p:cNvSpPr/>
          <p:nvPr/>
        </p:nvSpPr>
        <p:spPr>
          <a:xfrm>
            <a:off x="3579876" y="3931920"/>
            <a:ext cx="2286000" cy="914400"/>
          </a:xfrm>
          <a:prstGeom prst="roundRect">
            <a:avLst>
              <a:gd name="adj" fmla="val 12000"/>
            </a:avLst>
          </a:prstGeom>
          <a:solidFill>
            <a:srgbClr val="FFFFFF"/>
          </a:solidFill>
          <a:ln w="38100">
            <a:solidFill>
              <a:srgbClr val="00A8AA"/>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後負荷</a:t>
            </a:r>
            <a:endParaRPr lang="ja-JP" sz="2800" dirty="0"/>
          </a:p>
        </p:txBody>
      </p:sp>
      <p:sp>
        <p:nvSpPr>
          <p:cNvPr id="15" name="Text 13"/>
          <p:cNvSpPr/>
          <p:nvPr/>
        </p:nvSpPr>
        <p:spPr>
          <a:xfrm>
            <a:off x="6323076" y="3931920"/>
            <a:ext cx="2286000" cy="914400"/>
          </a:xfrm>
          <a:prstGeom prst="roundRect">
            <a:avLst>
              <a:gd name="adj" fmla="val 12000"/>
            </a:avLst>
          </a:prstGeom>
          <a:solidFill>
            <a:srgbClr val="FFFFFF"/>
          </a:solidFill>
          <a:ln w="38100">
            <a:solidFill>
              <a:srgbClr val="00A8AA"/>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収縮力</a:t>
            </a:r>
            <a:endParaRPr lang="ja-JP" sz="2800" dirty="0"/>
          </a:p>
        </p:txBody>
      </p:sp>
      <p:sp>
        <p:nvSpPr>
          <p:cNvPr id="16" name="Text 14"/>
          <p:cNvSpPr/>
          <p:nvPr/>
        </p:nvSpPr>
        <p:spPr>
          <a:xfrm>
            <a:off x="9066276" y="3931920"/>
            <a:ext cx="2286000" cy="914400"/>
          </a:xfrm>
          <a:prstGeom prst="roundRect">
            <a:avLst>
              <a:gd name="adj" fmla="val 12000"/>
            </a:avLst>
          </a:prstGeom>
          <a:solidFill>
            <a:srgbClr val="FFFFFF"/>
          </a:solidFill>
          <a:ln w="38100">
            <a:solidFill>
              <a:srgbClr val="00A8AA"/>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心拍数</a:t>
            </a:r>
            <a:endParaRPr lang="ja-JP" sz="2800" dirty="0"/>
          </a:p>
        </p:txBody>
      </p:sp>
      <p:sp>
        <p:nvSpPr>
          <p:cNvPr id="17" name="Text 15"/>
          <p:cNvSpPr txBox="1"/>
          <p:nvPr/>
        </p:nvSpPr>
        <p:spPr>
          <a:xfrm>
            <a:off x="502920" y="5212080"/>
            <a:ext cx="11183112" cy="539496"/>
          </a:xfrm>
          <a:prstGeom prst="rect">
            <a:avLst/>
          </a:prstGeom>
          <a:noFill/>
          <a:ln/>
        </p:spPr>
        <p:txBody>
          <a:bodyPr wrap="square" lIns="0" tIns="0" rIns="0" bIns="0" rtlCol="0" anchor="t"/>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昇圧薬は、この </a:t>
            </a:r>
            <a:r>
              <a:rPr lang="ja-JP" altLang="en-US" sz="2800" b="1" dirty="0">
                <a:solidFill>
                  <a:srgbClr val="00A8AA"/>
                </a:solidFill>
                <a:latin typeface="メイリオ" pitchFamily="34" charset="0"/>
                <a:ea typeface="メイリオ" pitchFamily="34" charset="-122"/>
                <a:cs typeface="メイリオ" pitchFamily="34" charset="-120"/>
              </a:rPr>
              <a:t>4 つのどれか</a:t>
            </a:r>
            <a:r>
              <a:rPr lang="ja-JP" altLang="en-US" sz="2800" b="1" dirty="0">
                <a:solidFill>
                  <a:srgbClr val="262626"/>
                </a:solidFill>
                <a:latin typeface="メイリオ" pitchFamily="34" charset="0"/>
                <a:ea typeface="メイリオ" pitchFamily="34" charset="-122"/>
                <a:cs typeface="メイリオ" pitchFamily="34" charset="-120"/>
              </a:rPr>
              <a:t>を動かす</a:t>
            </a:r>
            <a:endParaRPr lang="ja-JP"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受容体で整理する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4つの</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要素</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フェニレ</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フリン</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エフェ</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ドリン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ノルアド</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レナリン</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使い分け</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Rebet O, et al. Eur J Anaesthesiol 2016;33:638-644 / Cannesson M, et al. J Appl Physiol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2012;113:281-289 / 日本麻酔科学会「麻酔薬および麻酔関連薬使用ガイドライン 第4版」（2025）</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3112" cy="914400"/>
        </p:xfrm>
        <a:graphic>
          <a:graphicData uri="http://schemas.openxmlformats.org/drawingml/2006/table">
            <a:tbl>
              <a:tblPr/>
              <a:tblGrid>
                <a:gridCol w="2670048"/>
                <a:gridCol w="1737360"/>
                <a:gridCol w="2670048"/>
                <a:gridCol w="4105656"/>
              </a:tblGrid>
              <a:tr h="969264">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薬</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α1：</a:t>
                      </a:r>
                      <a:endParaRPr lang="en-US" sz="2200" dirty="0">
                        <a:latin typeface="メイリオ" charset="0"/>
                        <a:ea typeface="メイリオ" charset="0"/>
                        <a:cs typeface="メイリオ" charset="0"/>
                      </a:endParaRPr>
                    </a:p>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血管収縮</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β1：</a:t>
                      </a:r>
                      <a:endParaRPr lang="en-US" sz="2200" dirty="0">
                        <a:latin typeface="メイリオ" charset="0"/>
                        <a:ea typeface="メイリオ" charset="0"/>
                        <a:cs typeface="メイリオ" charset="0"/>
                      </a:endParaRPr>
                    </a:p>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心拍数・収縮力</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主な効き方</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1005840">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フェニレフリン</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b="1" dirty="0">
                          <a:solidFill>
                            <a:srgbClr val="00A8AA"/>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7F7F7F"/>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後負荷↑ 心拍数↓（反射）</a:t>
                      </a:r>
                      <a:endParaRPr lang="en-US" sz="2200" dirty="0">
                        <a:latin typeface="メイリオ" charset="0"/>
                        <a:ea typeface="メイリオ" charset="0"/>
                        <a:cs typeface="メイリオ" charset="0"/>
                      </a:endParaRPr>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前負荷↑は状態次第</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76656">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エフェドリン</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○（間接）</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○（間接＋直接）</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心拍数↑ 収縮力↑ 血管収縮</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76656">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ノルアドレナリン</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b="1" dirty="0">
                          <a:solidFill>
                            <a:srgbClr val="00A8AA"/>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後負荷↑ 前負荷↑ 収縮力↑</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676656">
                <a:tc>
                  <a:txBody>
                    <a:bodyPr/>
                    <a:lstStyle/>
                    <a:p>
                      <a:pPr algn="l" indent="0" marL="0">
                        <a:buNone/>
                      </a:pPr>
                      <a:r>
                        <a:rPr lang="ja-JP" altLang="en-US" sz="2200" b="1" dirty="0">
                          <a:solidFill>
                            <a:srgbClr val="262626"/>
                          </a:solidFill>
                          <a:latin typeface="メイリオ" pitchFamily="34" charset="0"/>
                          <a:ea typeface="メイリオ" pitchFamily="34" charset="-122"/>
                          <a:cs typeface="メイリオ" pitchFamily="34" charset="-120"/>
                        </a:rPr>
                        <a:t>アドレナリン</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b="1" dirty="0">
                          <a:solidFill>
                            <a:srgbClr val="00A8AA"/>
                          </a:solidFill>
                          <a:latin typeface="メイリオ" pitchFamily="34" charset="0"/>
                          <a:ea typeface="メイリオ" pitchFamily="34" charset="-122"/>
                          <a:cs typeface="メイリオ" pitchFamily="34" charset="-120"/>
                        </a:rPr>
                        <a:t>◎</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ctr" indent="0" marL="0">
                        <a:buNone/>
                      </a:pPr>
                      <a:r>
                        <a:rPr lang="ja-JP" altLang="en-US" sz="2200" dirty="0">
                          <a:solidFill>
                            <a:srgbClr val="262626"/>
                          </a:solidFill>
                          <a:latin typeface="メイリオ" pitchFamily="34" charset="0"/>
                          <a:ea typeface="メイリオ" pitchFamily="34" charset="-122"/>
                          <a:cs typeface="メイリオ" pitchFamily="34" charset="-120"/>
                        </a:rPr>
                        <a:t>◎（β2 も）</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全部↑（→ 3-9）</a:t>
                      </a:r>
                      <a:endParaRPr lang="en-US" sz="2200" dirty="0">
                        <a:latin typeface="メイリオ" charset="0"/>
                        <a:ea typeface="メイリオ" charset="0"/>
                        <a:cs typeface="メイリオ" charset="0"/>
                      </a:endParaRPr>
                    </a:p>
                  </a:txBody>
                  <a:tcPr marL="76200" marR="76200" marT="50800" marB="508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フェニレフリン</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4つの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要素</a:t>
            </a:r>
            <a:endParaRPr lang="ja-JP" sz="1100" dirty="0"/>
          </a:p>
        </p:txBody>
      </p:sp>
      <p:sp>
        <p:nvSpPr>
          <p:cNvPr id="5" name="Text 3"/>
          <p:cNvSpPr/>
          <p:nvPr/>
        </p:nvSpPr>
        <p:spPr>
          <a:xfrm>
            <a:off x="9354312"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フェニレ</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フリン</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エフェ</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ドリン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ノルアド</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レナリン</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使い分け</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ネオシネジンコーワ注 添付文書 / Sjøen GH, et al. Acta Anaesthesiol Scand 2026;70:e70138</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第4版」（2025）</a:t>
            </a:r>
            <a:endParaRPr lang="ja-JP" sz="1600" dirty="0"/>
          </a:p>
        </p:txBody>
      </p:sp>
      <p:sp>
        <p:nvSpPr>
          <p:cNvPr id="11" name="Shape 9"/>
          <p:cNvSpPr/>
          <p:nvPr/>
        </p:nvSpPr>
        <p:spPr>
          <a:xfrm>
            <a:off x="502920" y="1691640"/>
            <a:ext cx="4219956" cy="4151376"/>
          </a:xfrm>
          <a:prstGeom prst="roundRect">
            <a:avLst>
              <a:gd name="adj" fmla="val 1762"/>
            </a:avLst>
          </a:prstGeom>
          <a:solidFill>
            <a:srgbClr val="F2F2F2"/>
          </a:solidFill>
          <a:ln/>
        </p:spPr>
      </p:sp>
      <p:sp>
        <p:nvSpPr>
          <p:cNvPr id="12" name="Text 10"/>
          <p:cNvSpPr txBox="1"/>
          <p:nvPr/>
        </p:nvSpPr>
        <p:spPr>
          <a:xfrm>
            <a:off x="630936" y="1819656"/>
            <a:ext cx="3963924"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用量</a:t>
            </a:r>
            <a:endParaRPr lang="ja-JP" sz="2400" dirty="0"/>
          </a:p>
        </p:txBody>
      </p:sp>
      <p:sp>
        <p:nvSpPr>
          <p:cNvPr id="13" name="Text 11"/>
          <p:cNvSpPr txBox="1"/>
          <p:nvPr/>
        </p:nvSpPr>
        <p:spPr>
          <a:xfrm>
            <a:off x="630936" y="2350008"/>
            <a:ext cx="3963924"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添付文書：</a:t>
            </a:r>
            <a:r>
              <a:rPr lang="ja-JP" altLang="en-US" sz="2200" b="1" dirty="0">
                <a:solidFill>
                  <a:srgbClr val="0072B2"/>
                </a:solidFill>
                <a:latin typeface="メイリオ" pitchFamily="34" charset="0"/>
                <a:ea typeface="メイリオ" pitchFamily="34" charset="-122"/>
                <a:cs typeface="メイリオ" pitchFamily="34" charset="-120"/>
              </a:rPr>
              <a:t>1 回 0.2 mg</a:t>
            </a:r>
            <a:r>
              <a:rPr lang="ja-JP" altLang="en-US" sz="2200" dirty="0">
                <a:solidFill>
                  <a:srgbClr val="262626"/>
                </a:solidFill>
                <a:latin typeface="メイリオ" pitchFamily="34" charset="0"/>
                <a:ea typeface="メイリオ" pitchFamily="34" charset="-122"/>
                <a:cs typeface="メイリオ" pitchFamily="34" charset="-120"/>
              </a:rPr>
              <a:t> 静注</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（0.1〜0.5 mg）</a:t>
            </a:r>
            <a:endParaRPr lang="ja-JP" sz="2200" dirty="0"/>
          </a:p>
        </p:txBody>
      </p:sp>
      <p:sp>
        <p:nvSpPr>
          <p:cNvPr id="14" name="Shape 12"/>
          <p:cNvSpPr/>
          <p:nvPr/>
        </p:nvSpPr>
        <p:spPr>
          <a:xfrm>
            <a:off x="630936" y="3300984"/>
            <a:ext cx="3963924" cy="0"/>
          </a:xfrm>
          <a:prstGeom prst="line">
            <a:avLst/>
          </a:prstGeom>
          <a:noFill/>
          <a:ln w="12700">
            <a:solidFill>
              <a:srgbClr val="BFBFBF"/>
            </a:solidFill>
            <a:prstDash val="solid"/>
          </a:ln>
        </p:spPr>
      </p:sp>
      <p:sp>
        <p:nvSpPr>
          <p:cNvPr id="15" name="Text 13"/>
          <p:cNvSpPr txBox="1"/>
          <p:nvPr/>
        </p:nvSpPr>
        <p:spPr>
          <a:xfrm>
            <a:off x="630936" y="3392424"/>
            <a:ext cx="3963924"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反復は 10〜15 分おき</a:t>
            </a:r>
            <a:endParaRPr lang="ja-JP" sz="2200" dirty="0"/>
          </a:p>
        </p:txBody>
      </p:sp>
      <p:sp>
        <p:nvSpPr>
          <p:cNvPr id="16" name="Shape 14"/>
          <p:cNvSpPr/>
          <p:nvPr/>
        </p:nvSpPr>
        <p:spPr>
          <a:xfrm>
            <a:off x="630936" y="3904488"/>
            <a:ext cx="3963924" cy="0"/>
          </a:xfrm>
          <a:prstGeom prst="line">
            <a:avLst/>
          </a:prstGeom>
          <a:noFill/>
          <a:ln w="12700">
            <a:solidFill>
              <a:srgbClr val="BFBFBF"/>
            </a:solidFill>
            <a:prstDash val="solid"/>
          </a:ln>
        </p:spPr>
      </p:sp>
      <p:sp>
        <p:nvSpPr>
          <p:cNvPr id="17" name="Text 15"/>
          <p:cNvSpPr txBox="1"/>
          <p:nvPr/>
        </p:nvSpPr>
        <p:spPr>
          <a:xfrm>
            <a:off x="630936" y="3995928"/>
            <a:ext cx="3963924" cy="1719072"/>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麻酔中の慣用</a:t>
            </a:r>
            <a:endParaRPr lang="ja-JP" sz="2200" dirty="0"/>
          </a:p>
          <a:p>
            <a:pPr algn="l" indent="0" marL="0">
              <a:spcAft>
                <a:spcPts val="100"/>
              </a:spcAft>
              <a:buNone/>
            </a:pPr>
            <a:r>
              <a:rPr lang="ja-JP" altLang="en-US" sz="2200" b="1" dirty="0">
                <a:solidFill>
                  <a:srgbClr val="D55E00"/>
                </a:solidFill>
                <a:latin typeface="メイリオ" pitchFamily="34" charset="0"/>
                <a:ea typeface="メイリオ" pitchFamily="34" charset="-122"/>
                <a:cs typeface="メイリオ" pitchFamily="34" charset="-120"/>
              </a:rPr>
              <a:t>（添付文書外）</a:t>
            </a: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0.1 mg/mL に希釈し</a:t>
            </a:r>
            <a:endParaRPr lang="ja-JP" sz="2200" dirty="0"/>
          </a:p>
          <a:p>
            <a:pPr algn="l" indent="0" marL="0">
              <a:spcAft>
                <a:spcPts val="100"/>
              </a:spcAft>
              <a:buNone/>
            </a:pPr>
            <a:r>
              <a:rPr lang="ja-JP" altLang="en-US" sz="2200" b="1" dirty="0">
                <a:solidFill>
                  <a:srgbClr val="0072B2"/>
                </a:solidFill>
                <a:latin typeface="メイリオ" pitchFamily="34" charset="0"/>
                <a:ea typeface="メイリオ" pitchFamily="34" charset="-122"/>
                <a:cs typeface="メイリオ" pitchFamily="34" charset="-120"/>
              </a:rPr>
              <a:t>0.05〜0.1 mg</a:t>
            </a:r>
            <a:r>
              <a:rPr lang="ja-JP" altLang="en-US" sz="2200" dirty="0">
                <a:solidFill>
                  <a:srgbClr val="262626"/>
                </a:solidFill>
                <a:latin typeface="メイリオ" pitchFamily="34" charset="0"/>
                <a:ea typeface="メイリオ" pitchFamily="34" charset="-122"/>
                <a:cs typeface="メイリオ" pitchFamily="34" charset="-120"/>
              </a:rPr>
              <a:t> ずつ</a:t>
            </a:r>
            <a:endParaRPr lang="ja-JP" sz="2200" dirty="0"/>
          </a:p>
        </p:txBody>
      </p:sp>
      <p:sp>
        <p:nvSpPr>
          <p:cNvPr id="18" name="Shape 16"/>
          <p:cNvSpPr/>
          <p:nvPr/>
        </p:nvSpPr>
        <p:spPr>
          <a:xfrm>
            <a:off x="4942332" y="1691640"/>
            <a:ext cx="3105302" cy="4151376"/>
          </a:xfrm>
          <a:prstGeom prst="roundRect">
            <a:avLst>
              <a:gd name="adj" fmla="val 2356"/>
            </a:avLst>
          </a:prstGeom>
          <a:solidFill>
            <a:srgbClr val="F2F2F2"/>
          </a:solidFill>
          <a:ln/>
        </p:spPr>
      </p:sp>
      <p:sp>
        <p:nvSpPr>
          <p:cNvPr id="19" name="Text 17"/>
          <p:cNvSpPr txBox="1"/>
          <p:nvPr/>
        </p:nvSpPr>
        <p:spPr>
          <a:xfrm>
            <a:off x="5070348" y="1819656"/>
            <a:ext cx="2849270" cy="457200"/>
          </a:xfrm>
          <a:prstGeom prst="rect">
            <a:avLst/>
          </a:prstGeom>
          <a:noFill/>
          <a:ln/>
        </p:spPr>
        <p:txBody>
          <a:bodyPr wrap="square" lIns="0" tIns="0" rIns="0" bIns="0" rtlCol="0" anchor="t"/>
          <a:lstStyle/>
          <a:p>
            <a:pPr algn="l" indent="0" marL="0">
              <a:buNone/>
            </a:pPr>
            <a:r>
              <a:rPr lang="ja-JP" altLang="en-US" sz="2400" b="1" dirty="0">
                <a:solidFill>
                  <a:srgbClr val="00A8AA"/>
                </a:solidFill>
                <a:latin typeface="メイリオ" pitchFamily="34" charset="0"/>
                <a:ea typeface="メイリオ" pitchFamily="34" charset="-122"/>
                <a:cs typeface="メイリオ" pitchFamily="34" charset="-120"/>
              </a:rPr>
              <a:t>向く場面</a:t>
            </a:r>
            <a:endParaRPr lang="ja-JP" sz="2400" dirty="0"/>
          </a:p>
        </p:txBody>
      </p:sp>
      <p:sp>
        <p:nvSpPr>
          <p:cNvPr id="20" name="Text 18"/>
          <p:cNvSpPr txBox="1"/>
          <p:nvPr/>
        </p:nvSpPr>
        <p:spPr>
          <a:xfrm>
            <a:off x="5070348" y="2350008"/>
            <a:ext cx="2849270"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頻脈ぎみの低血圧</a:t>
            </a:r>
            <a:endParaRPr lang="ja-JP" sz="2200" dirty="0"/>
          </a:p>
        </p:txBody>
      </p:sp>
      <p:sp>
        <p:nvSpPr>
          <p:cNvPr id="21" name="Shape 19"/>
          <p:cNvSpPr/>
          <p:nvPr/>
        </p:nvSpPr>
        <p:spPr>
          <a:xfrm>
            <a:off x="5070348" y="2862072"/>
            <a:ext cx="2849270" cy="0"/>
          </a:xfrm>
          <a:prstGeom prst="line">
            <a:avLst/>
          </a:prstGeom>
          <a:noFill/>
          <a:ln w="12700">
            <a:solidFill>
              <a:srgbClr val="BFBFBF"/>
            </a:solidFill>
            <a:prstDash val="solid"/>
          </a:ln>
        </p:spPr>
      </p:sp>
      <p:sp>
        <p:nvSpPr>
          <p:cNvPr id="22" name="Text 20"/>
          <p:cNvSpPr txBox="1"/>
          <p:nvPr/>
        </p:nvSpPr>
        <p:spPr>
          <a:xfrm>
            <a:off x="5070348" y="2953512"/>
            <a:ext cx="2849270"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脊麻・麻酔薬による</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血管拡張</a:t>
            </a:r>
            <a:endParaRPr lang="ja-JP" sz="2200" dirty="0"/>
          </a:p>
        </p:txBody>
      </p:sp>
      <p:sp>
        <p:nvSpPr>
          <p:cNvPr id="23" name="Shape 21"/>
          <p:cNvSpPr/>
          <p:nvPr/>
        </p:nvSpPr>
        <p:spPr>
          <a:xfrm>
            <a:off x="5070348" y="3904488"/>
            <a:ext cx="2849270" cy="0"/>
          </a:xfrm>
          <a:prstGeom prst="line">
            <a:avLst/>
          </a:prstGeom>
          <a:noFill/>
          <a:ln w="12700">
            <a:solidFill>
              <a:srgbClr val="BFBFBF"/>
            </a:solidFill>
            <a:prstDash val="solid"/>
          </a:ln>
        </p:spPr>
      </p:sp>
      <p:sp>
        <p:nvSpPr>
          <p:cNvPr id="24" name="Text 22"/>
          <p:cNvSpPr txBox="1"/>
          <p:nvPr/>
        </p:nvSpPr>
        <p:spPr>
          <a:xfrm>
            <a:off x="5070348" y="3995928"/>
            <a:ext cx="2849270"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心拍数を</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上げたくない患者</a:t>
            </a:r>
            <a:endParaRPr lang="ja-JP" sz="2200" dirty="0"/>
          </a:p>
        </p:txBody>
      </p:sp>
      <p:sp>
        <p:nvSpPr>
          <p:cNvPr id="25" name="Shape 23"/>
          <p:cNvSpPr/>
          <p:nvPr/>
        </p:nvSpPr>
        <p:spPr>
          <a:xfrm>
            <a:off x="8267090" y="1691640"/>
            <a:ext cx="3418942" cy="4151376"/>
          </a:xfrm>
          <a:prstGeom prst="roundRect">
            <a:avLst>
              <a:gd name="adj" fmla="val 2140"/>
            </a:avLst>
          </a:prstGeom>
          <a:solidFill>
            <a:srgbClr val="F2F2F2"/>
          </a:solidFill>
          <a:ln/>
        </p:spPr>
      </p:sp>
      <p:sp>
        <p:nvSpPr>
          <p:cNvPr id="26" name="Text 24"/>
          <p:cNvSpPr txBox="1"/>
          <p:nvPr/>
        </p:nvSpPr>
        <p:spPr>
          <a:xfrm>
            <a:off x="8395106" y="1819656"/>
            <a:ext cx="3162910"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注意</a:t>
            </a:r>
            <a:endParaRPr lang="ja-JP" sz="2400" dirty="0"/>
          </a:p>
        </p:txBody>
      </p:sp>
      <p:sp>
        <p:nvSpPr>
          <p:cNvPr id="27" name="Text 25"/>
          <p:cNvSpPr txBox="1"/>
          <p:nvPr/>
        </p:nvSpPr>
        <p:spPr>
          <a:xfrm>
            <a:off x="8395106" y="2350008"/>
            <a:ext cx="3162910" cy="420624"/>
          </a:xfrm>
          <a:prstGeom prst="rect">
            <a:avLst/>
          </a:prstGeom>
          <a:noFill/>
          <a:ln/>
        </p:spPr>
        <p:txBody>
          <a:bodyPr wrap="square" lIns="0" tIns="0" rIns="0" bIns="0" rtlCol="0" anchor="t"/>
          <a:lstStyle/>
          <a:p>
            <a:pPr algn="l" indent="0" marL="0">
              <a:spcAft>
                <a:spcPts val="100"/>
              </a:spcAft>
              <a:buNone/>
            </a:pPr>
            <a:r>
              <a:rPr lang="ja-JP" altLang="en-US" sz="2200" b="1" dirty="0">
                <a:solidFill>
                  <a:srgbClr val="D55E00"/>
                </a:solidFill>
                <a:latin typeface="メイリオ" pitchFamily="34" charset="0"/>
                <a:ea typeface="メイリオ" pitchFamily="34" charset="-122"/>
                <a:cs typeface="メイリオ" pitchFamily="34" charset="-120"/>
              </a:rPr>
              <a:t>反射性徐脈</a:t>
            </a:r>
            <a:endParaRPr lang="ja-JP" sz="2200" dirty="0"/>
          </a:p>
        </p:txBody>
      </p:sp>
      <p:sp>
        <p:nvSpPr>
          <p:cNvPr id="28" name="Shape 26"/>
          <p:cNvSpPr/>
          <p:nvPr/>
        </p:nvSpPr>
        <p:spPr>
          <a:xfrm>
            <a:off x="8395106" y="2862072"/>
            <a:ext cx="3162910" cy="0"/>
          </a:xfrm>
          <a:prstGeom prst="line">
            <a:avLst/>
          </a:prstGeom>
          <a:noFill/>
          <a:ln w="12700">
            <a:solidFill>
              <a:srgbClr val="BFBFBF"/>
            </a:solidFill>
            <a:prstDash val="solid"/>
          </a:ln>
        </p:spPr>
      </p:sp>
      <p:sp>
        <p:nvSpPr>
          <p:cNvPr id="29" name="Text 27"/>
          <p:cNvSpPr txBox="1"/>
          <p:nvPr/>
        </p:nvSpPr>
        <p:spPr>
          <a:xfrm>
            <a:off x="8395106" y="2953512"/>
            <a:ext cx="3162910"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心機能が悪いと</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心拍出量が落ちる</a:t>
            </a:r>
            <a:endParaRPr lang="ja-JP" sz="2200" dirty="0"/>
          </a:p>
        </p:txBody>
      </p:sp>
      <p:sp>
        <p:nvSpPr>
          <p:cNvPr id="30" name="Shape 28"/>
          <p:cNvSpPr/>
          <p:nvPr/>
        </p:nvSpPr>
        <p:spPr>
          <a:xfrm>
            <a:off x="8395106" y="3904488"/>
            <a:ext cx="3162910" cy="0"/>
          </a:xfrm>
          <a:prstGeom prst="line">
            <a:avLst/>
          </a:prstGeom>
          <a:noFill/>
          <a:ln w="12700">
            <a:solidFill>
              <a:srgbClr val="BFBFBF"/>
            </a:solidFill>
            <a:prstDash val="solid"/>
          </a:ln>
        </p:spPr>
      </p:sp>
      <p:sp>
        <p:nvSpPr>
          <p:cNvPr id="31" name="Text 29"/>
          <p:cNvSpPr txBox="1"/>
          <p:nvPr/>
        </p:nvSpPr>
        <p:spPr>
          <a:xfrm>
            <a:off x="8395106" y="3995928"/>
            <a:ext cx="3162910"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少量ボーラスの</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効果は数分、繰り返す</a:t>
            </a:r>
            <a:endParaRPr lang="ja-JP"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エフェドリン</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4つの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要素</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フェニレ</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フリン</a:t>
            </a:r>
            <a:endParaRPr lang="ja-JP" sz="1100" dirty="0"/>
          </a:p>
        </p:txBody>
      </p:sp>
      <p:sp>
        <p:nvSpPr>
          <p:cNvPr id="6" name="Text 4"/>
          <p:cNvSpPr/>
          <p:nvPr/>
        </p:nvSpPr>
        <p:spPr>
          <a:xfrm>
            <a:off x="10030968"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エフェ</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ドリン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ノルアド</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レナリン</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使い分け</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ヱフェドリン「ナガヰ」注射液 40mg 添付文書 / Sjøen GH, et al. Acta Anaesthesiol Scand</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2026;70:e70138 / 日本麻酔科学会「麻酔薬および麻酔関連薬使用ガイドライン 第4版」（2025）</a:t>
            </a:r>
            <a:endParaRPr lang="ja-JP" sz="1600" dirty="0"/>
          </a:p>
        </p:txBody>
      </p:sp>
      <p:sp>
        <p:nvSpPr>
          <p:cNvPr id="11" name="Shape 9"/>
          <p:cNvSpPr/>
          <p:nvPr/>
        </p:nvSpPr>
        <p:spPr>
          <a:xfrm>
            <a:off x="502920" y="1691640"/>
            <a:ext cx="3689604" cy="4160520"/>
          </a:xfrm>
          <a:prstGeom prst="roundRect">
            <a:avLst>
              <a:gd name="adj" fmla="val 1983"/>
            </a:avLst>
          </a:prstGeom>
          <a:solidFill>
            <a:srgbClr val="F2F2F2"/>
          </a:solidFill>
          <a:ln/>
        </p:spPr>
      </p:sp>
      <p:sp>
        <p:nvSpPr>
          <p:cNvPr id="12" name="Text 10"/>
          <p:cNvSpPr txBox="1"/>
          <p:nvPr/>
        </p:nvSpPr>
        <p:spPr>
          <a:xfrm>
            <a:off x="630936" y="1819656"/>
            <a:ext cx="3433572"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用量</a:t>
            </a:r>
            <a:endParaRPr lang="ja-JP" sz="2400" dirty="0"/>
          </a:p>
        </p:txBody>
      </p:sp>
      <p:sp>
        <p:nvSpPr>
          <p:cNvPr id="13" name="Text 11"/>
          <p:cNvSpPr txBox="1"/>
          <p:nvPr/>
        </p:nvSpPr>
        <p:spPr>
          <a:xfrm>
            <a:off x="630936" y="2350008"/>
            <a:ext cx="3433572" cy="128930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添付文書：</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麻酔時の血圧降下に</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1 回 </a:t>
            </a:r>
            <a:r>
              <a:rPr lang="ja-JP" altLang="en-US" sz="2200" b="1" dirty="0">
                <a:solidFill>
                  <a:srgbClr val="0072B2"/>
                </a:solidFill>
                <a:latin typeface="メイリオ" pitchFamily="34" charset="0"/>
                <a:ea typeface="メイリオ" pitchFamily="34" charset="-122"/>
                <a:cs typeface="メイリオ" pitchFamily="34" charset="-120"/>
              </a:rPr>
              <a:t>4〜8 mg</a:t>
            </a:r>
            <a:r>
              <a:rPr lang="ja-JP" altLang="en-US" sz="2200" dirty="0">
                <a:solidFill>
                  <a:srgbClr val="262626"/>
                </a:solidFill>
                <a:latin typeface="メイリオ" pitchFamily="34" charset="0"/>
                <a:ea typeface="メイリオ" pitchFamily="34" charset="-122"/>
                <a:cs typeface="メイリオ" pitchFamily="34" charset="-120"/>
              </a:rPr>
              <a:t> 静注</a:t>
            </a:r>
            <a:endParaRPr lang="ja-JP" sz="2200" dirty="0"/>
          </a:p>
        </p:txBody>
      </p:sp>
      <p:sp>
        <p:nvSpPr>
          <p:cNvPr id="14" name="Shape 12"/>
          <p:cNvSpPr/>
          <p:nvPr/>
        </p:nvSpPr>
        <p:spPr>
          <a:xfrm>
            <a:off x="630936" y="3730752"/>
            <a:ext cx="3433572" cy="0"/>
          </a:xfrm>
          <a:prstGeom prst="line">
            <a:avLst/>
          </a:prstGeom>
          <a:noFill/>
          <a:ln w="12700">
            <a:solidFill>
              <a:srgbClr val="BFBFBF"/>
            </a:solidFill>
            <a:prstDash val="solid"/>
          </a:ln>
        </p:spPr>
      </p:sp>
      <p:sp>
        <p:nvSpPr>
          <p:cNvPr id="15" name="Text 13"/>
          <p:cNvSpPr txBox="1"/>
          <p:nvPr/>
        </p:nvSpPr>
        <p:spPr>
          <a:xfrm>
            <a:off x="630936" y="3822192"/>
            <a:ext cx="3433572" cy="128930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希釈（慣用）：</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40 mg/1 mL を 10 mL に</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（4 mg/mL）</a:t>
            </a:r>
            <a:endParaRPr lang="ja-JP" sz="2200" dirty="0"/>
          </a:p>
        </p:txBody>
      </p:sp>
      <p:sp>
        <p:nvSpPr>
          <p:cNvPr id="16" name="Shape 14"/>
          <p:cNvSpPr/>
          <p:nvPr/>
        </p:nvSpPr>
        <p:spPr>
          <a:xfrm>
            <a:off x="630936" y="5202936"/>
            <a:ext cx="3433572" cy="0"/>
          </a:xfrm>
          <a:prstGeom prst="line">
            <a:avLst/>
          </a:prstGeom>
          <a:noFill/>
          <a:ln w="12700">
            <a:solidFill>
              <a:srgbClr val="BFBFBF"/>
            </a:solidFill>
            <a:prstDash val="solid"/>
          </a:ln>
        </p:spPr>
      </p:sp>
      <p:sp>
        <p:nvSpPr>
          <p:cNvPr id="17" name="Text 15"/>
          <p:cNvSpPr txBox="1"/>
          <p:nvPr/>
        </p:nvSpPr>
        <p:spPr>
          <a:xfrm>
            <a:off x="630936" y="5294376"/>
            <a:ext cx="3433572"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1〜2 mL ずつ</a:t>
            </a:r>
            <a:endParaRPr lang="ja-JP" sz="2200" dirty="0"/>
          </a:p>
        </p:txBody>
      </p:sp>
      <p:sp>
        <p:nvSpPr>
          <p:cNvPr id="18" name="Shape 16"/>
          <p:cNvSpPr/>
          <p:nvPr/>
        </p:nvSpPr>
        <p:spPr>
          <a:xfrm>
            <a:off x="4411980" y="1691640"/>
            <a:ext cx="3526841" cy="4160520"/>
          </a:xfrm>
          <a:prstGeom prst="roundRect">
            <a:avLst>
              <a:gd name="adj" fmla="val 2074"/>
            </a:avLst>
          </a:prstGeom>
          <a:solidFill>
            <a:srgbClr val="F2F2F2"/>
          </a:solidFill>
          <a:ln/>
        </p:spPr>
      </p:sp>
      <p:sp>
        <p:nvSpPr>
          <p:cNvPr id="19" name="Text 17"/>
          <p:cNvSpPr txBox="1"/>
          <p:nvPr/>
        </p:nvSpPr>
        <p:spPr>
          <a:xfrm>
            <a:off x="4539996" y="1819656"/>
            <a:ext cx="3270809" cy="457200"/>
          </a:xfrm>
          <a:prstGeom prst="rect">
            <a:avLst/>
          </a:prstGeom>
          <a:noFill/>
          <a:ln/>
        </p:spPr>
        <p:txBody>
          <a:bodyPr wrap="square" lIns="0" tIns="0" rIns="0" bIns="0" rtlCol="0" anchor="t"/>
          <a:lstStyle/>
          <a:p>
            <a:pPr algn="l" indent="0" marL="0">
              <a:buNone/>
            </a:pPr>
            <a:r>
              <a:rPr lang="ja-JP" altLang="en-US" sz="2400" b="1" dirty="0">
                <a:solidFill>
                  <a:srgbClr val="00A8AA"/>
                </a:solidFill>
                <a:latin typeface="メイリオ" pitchFamily="34" charset="0"/>
                <a:ea typeface="メイリオ" pitchFamily="34" charset="-122"/>
                <a:cs typeface="メイリオ" pitchFamily="34" charset="-120"/>
              </a:rPr>
              <a:t>向く場面</a:t>
            </a:r>
            <a:endParaRPr lang="ja-JP" sz="2400" dirty="0"/>
          </a:p>
        </p:txBody>
      </p:sp>
      <p:sp>
        <p:nvSpPr>
          <p:cNvPr id="20" name="Text 18"/>
          <p:cNvSpPr txBox="1"/>
          <p:nvPr/>
        </p:nvSpPr>
        <p:spPr>
          <a:xfrm>
            <a:off x="4539996" y="2350008"/>
            <a:ext cx="3270809"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徐脈ぎみの低血圧</a:t>
            </a:r>
            <a:endParaRPr lang="ja-JP" sz="2200" dirty="0"/>
          </a:p>
        </p:txBody>
      </p:sp>
      <p:sp>
        <p:nvSpPr>
          <p:cNvPr id="21" name="Shape 19"/>
          <p:cNvSpPr/>
          <p:nvPr/>
        </p:nvSpPr>
        <p:spPr>
          <a:xfrm>
            <a:off x="4539996" y="2862072"/>
            <a:ext cx="3270809" cy="0"/>
          </a:xfrm>
          <a:prstGeom prst="line">
            <a:avLst/>
          </a:prstGeom>
          <a:noFill/>
          <a:ln w="12700">
            <a:solidFill>
              <a:srgbClr val="BFBFBF"/>
            </a:solidFill>
            <a:prstDash val="solid"/>
          </a:ln>
        </p:spPr>
      </p:sp>
      <p:sp>
        <p:nvSpPr>
          <p:cNvPr id="22" name="Text 20"/>
          <p:cNvSpPr txBox="1"/>
          <p:nvPr/>
        </p:nvSpPr>
        <p:spPr>
          <a:xfrm>
            <a:off x="4539996" y="2953512"/>
            <a:ext cx="3270809"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麻酔導入後の</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最初の一手</a:t>
            </a:r>
            <a:endParaRPr lang="ja-JP" sz="2200" dirty="0"/>
          </a:p>
        </p:txBody>
      </p:sp>
      <p:sp>
        <p:nvSpPr>
          <p:cNvPr id="23" name="Shape 21"/>
          <p:cNvSpPr/>
          <p:nvPr/>
        </p:nvSpPr>
        <p:spPr>
          <a:xfrm>
            <a:off x="4539996" y="3904488"/>
            <a:ext cx="3270809" cy="0"/>
          </a:xfrm>
          <a:prstGeom prst="line">
            <a:avLst/>
          </a:prstGeom>
          <a:noFill/>
          <a:ln w="12700">
            <a:solidFill>
              <a:srgbClr val="BFBFBF"/>
            </a:solidFill>
            <a:prstDash val="solid"/>
          </a:ln>
        </p:spPr>
      </p:sp>
      <p:sp>
        <p:nvSpPr>
          <p:cNvPr id="24" name="Text 22"/>
          <p:cNvSpPr txBox="1"/>
          <p:nvPr/>
        </p:nvSpPr>
        <p:spPr>
          <a:xfrm>
            <a:off x="4539996" y="3995928"/>
            <a:ext cx="3270809" cy="42062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心拍数も上げたいとき</a:t>
            </a:r>
            <a:endParaRPr lang="ja-JP" sz="2200" dirty="0"/>
          </a:p>
        </p:txBody>
      </p:sp>
      <p:sp>
        <p:nvSpPr>
          <p:cNvPr id="25" name="Shape 23"/>
          <p:cNvSpPr/>
          <p:nvPr/>
        </p:nvSpPr>
        <p:spPr>
          <a:xfrm>
            <a:off x="8159191" y="1691640"/>
            <a:ext cx="3526841" cy="4160520"/>
          </a:xfrm>
          <a:prstGeom prst="roundRect">
            <a:avLst>
              <a:gd name="adj" fmla="val 2074"/>
            </a:avLst>
          </a:prstGeom>
          <a:solidFill>
            <a:srgbClr val="F2F2F2"/>
          </a:solidFill>
          <a:ln/>
        </p:spPr>
      </p:sp>
      <p:sp>
        <p:nvSpPr>
          <p:cNvPr id="26" name="Text 24"/>
          <p:cNvSpPr txBox="1"/>
          <p:nvPr/>
        </p:nvSpPr>
        <p:spPr>
          <a:xfrm>
            <a:off x="8287207" y="1819656"/>
            <a:ext cx="3270809"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注意</a:t>
            </a:r>
            <a:endParaRPr lang="ja-JP" sz="2400" dirty="0"/>
          </a:p>
        </p:txBody>
      </p:sp>
      <p:sp>
        <p:nvSpPr>
          <p:cNvPr id="27" name="Text 25"/>
          <p:cNvSpPr txBox="1"/>
          <p:nvPr/>
        </p:nvSpPr>
        <p:spPr>
          <a:xfrm>
            <a:off x="8287207" y="2350008"/>
            <a:ext cx="3270809" cy="128930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繰り返すと</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効かなくなる</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（タキフィラキシー）</a:t>
            </a:r>
            <a:endParaRPr lang="ja-JP" sz="2200" dirty="0"/>
          </a:p>
        </p:txBody>
      </p:sp>
      <p:sp>
        <p:nvSpPr>
          <p:cNvPr id="28" name="Shape 26"/>
          <p:cNvSpPr/>
          <p:nvPr/>
        </p:nvSpPr>
        <p:spPr>
          <a:xfrm>
            <a:off x="8287207" y="3730752"/>
            <a:ext cx="3270809" cy="0"/>
          </a:xfrm>
          <a:prstGeom prst="line">
            <a:avLst/>
          </a:prstGeom>
          <a:noFill/>
          <a:ln w="12700">
            <a:solidFill>
              <a:srgbClr val="BFBFBF"/>
            </a:solidFill>
            <a:prstDash val="solid"/>
          </a:ln>
        </p:spPr>
      </p:sp>
      <p:sp>
        <p:nvSpPr>
          <p:cNvPr id="29" name="Text 27"/>
          <p:cNvSpPr txBox="1"/>
          <p:nvPr/>
        </p:nvSpPr>
        <p:spPr>
          <a:xfrm>
            <a:off x="8287207" y="3822192"/>
            <a:ext cx="3270809"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効き始めは少し遅く、</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長く残る</a:t>
            </a:r>
            <a:endParaRPr lang="ja-JP" sz="2200" dirty="0"/>
          </a:p>
        </p:txBody>
      </p:sp>
      <p:sp>
        <p:nvSpPr>
          <p:cNvPr id="30" name="Shape 28"/>
          <p:cNvSpPr/>
          <p:nvPr/>
        </p:nvSpPr>
        <p:spPr>
          <a:xfrm>
            <a:off x="8287207" y="4773168"/>
            <a:ext cx="3270809" cy="0"/>
          </a:xfrm>
          <a:prstGeom prst="line">
            <a:avLst/>
          </a:prstGeom>
          <a:noFill/>
          <a:ln w="12700">
            <a:solidFill>
              <a:srgbClr val="BFBFBF"/>
            </a:solidFill>
            <a:prstDash val="solid"/>
          </a:ln>
        </p:spPr>
      </p:sp>
      <p:sp>
        <p:nvSpPr>
          <p:cNvPr id="31" name="Text 29"/>
          <p:cNvSpPr txBox="1"/>
          <p:nvPr/>
        </p:nvSpPr>
        <p:spPr>
          <a:xfrm>
            <a:off x="8287207" y="4864608"/>
            <a:ext cx="3270809"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カテコールアミン</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投与中は</a:t>
            </a:r>
            <a:r>
              <a:rPr lang="ja-JP" altLang="en-US" sz="2200" b="1" dirty="0">
                <a:solidFill>
                  <a:srgbClr val="C00000"/>
                </a:solidFill>
                <a:latin typeface="メイリオ" pitchFamily="34" charset="0"/>
                <a:ea typeface="メイリオ" pitchFamily="34" charset="-122"/>
                <a:cs typeface="メイリオ" pitchFamily="34" charset="-120"/>
              </a:rPr>
              <a:t>禁忌</a:t>
            </a:r>
            <a:endParaRPr lang="ja-JP"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ノルアドレナリン</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4つの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要素</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フェニレ</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フリン</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エフェ</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ドリン</a:t>
            </a:r>
            <a:endParaRPr lang="ja-JP" sz="1100" dirty="0"/>
          </a:p>
        </p:txBody>
      </p:sp>
      <p:sp>
        <p:nvSpPr>
          <p:cNvPr id="7" name="Text 5"/>
          <p:cNvSpPr/>
          <p:nvPr/>
        </p:nvSpPr>
        <p:spPr>
          <a:xfrm>
            <a:off x="10707624"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ノルアド</a:t>
            </a:r>
            <a:endParaRPr lang="ja-JP" sz="1100" dirty="0"/>
          </a:p>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レナリン</a:t>
            </a:r>
            <a:endParaRPr lang="ja-JP" sz="1100" dirty="0"/>
          </a:p>
        </p:txBody>
      </p:sp>
      <p:sp>
        <p:nvSpPr>
          <p:cNvPr id="8" name="Text 6"/>
          <p:cNvSpPr/>
          <p:nvPr/>
        </p:nvSpPr>
        <p:spPr>
          <a:xfrm>
            <a:off x="11384280"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使い分け</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ノルアドリナリン注 1mg 添付文書 / Thomsen KK, et al. Br J Anaesth 2026;136:1137-1144</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Tian DH, et al. Emerg Med Australas 2020;32:220-227</a:t>
            </a:r>
            <a:endParaRPr lang="ja-JP" sz="1600" dirty="0"/>
          </a:p>
        </p:txBody>
      </p:sp>
      <p:sp>
        <p:nvSpPr>
          <p:cNvPr id="11" name="Shape 9"/>
          <p:cNvSpPr/>
          <p:nvPr/>
        </p:nvSpPr>
        <p:spPr>
          <a:xfrm>
            <a:off x="502920" y="1691640"/>
            <a:ext cx="4090111" cy="4169664"/>
          </a:xfrm>
          <a:prstGeom prst="roundRect">
            <a:avLst>
              <a:gd name="adj" fmla="val 1789"/>
            </a:avLst>
          </a:prstGeom>
          <a:solidFill>
            <a:srgbClr val="F2F2F2"/>
          </a:solidFill>
          <a:ln/>
        </p:spPr>
      </p:sp>
      <p:sp>
        <p:nvSpPr>
          <p:cNvPr id="12" name="Text 10"/>
          <p:cNvSpPr txBox="1"/>
          <p:nvPr/>
        </p:nvSpPr>
        <p:spPr>
          <a:xfrm>
            <a:off x="630936" y="1819656"/>
            <a:ext cx="3834079" cy="457200"/>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用量</a:t>
            </a:r>
            <a:endParaRPr lang="ja-JP" sz="2400" dirty="0"/>
          </a:p>
        </p:txBody>
      </p:sp>
      <p:sp>
        <p:nvSpPr>
          <p:cNvPr id="13" name="Text 11"/>
          <p:cNvSpPr txBox="1"/>
          <p:nvPr/>
        </p:nvSpPr>
        <p:spPr>
          <a:xfrm>
            <a:off x="630936" y="2350008"/>
            <a:ext cx="3834079"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添付文書：1 mg/250 mL を</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0.5〜1.0 mL/分</a:t>
            </a:r>
            <a:endParaRPr lang="ja-JP" sz="2200" dirty="0"/>
          </a:p>
        </p:txBody>
      </p:sp>
      <p:sp>
        <p:nvSpPr>
          <p:cNvPr id="14" name="Shape 12"/>
          <p:cNvSpPr/>
          <p:nvPr/>
        </p:nvSpPr>
        <p:spPr>
          <a:xfrm>
            <a:off x="630936" y="3300984"/>
            <a:ext cx="3834079" cy="0"/>
          </a:xfrm>
          <a:prstGeom prst="line">
            <a:avLst/>
          </a:prstGeom>
          <a:noFill/>
          <a:ln w="12700">
            <a:solidFill>
              <a:srgbClr val="BFBFBF"/>
            </a:solidFill>
            <a:prstDash val="solid"/>
          </a:ln>
        </p:spPr>
      </p:sp>
      <p:sp>
        <p:nvSpPr>
          <p:cNvPr id="15" name="Text 13"/>
          <p:cNvSpPr txBox="1"/>
          <p:nvPr/>
        </p:nvSpPr>
        <p:spPr>
          <a:xfrm>
            <a:off x="630936" y="3392424"/>
            <a:ext cx="3834079"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慣用</a:t>
            </a:r>
            <a:r>
              <a:rPr lang="ja-JP" altLang="en-US" sz="2200" b="1" dirty="0">
                <a:solidFill>
                  <a:srgbClr val="D55E00"/>
                </a:solidFill>
                <a:latin typeface="メイリオ" pitchFamily="34" charset="0"/>
                <a:ea typeface="メイリオ" pitchFamily="34" charset="-122"/>
                <a:cs typeface="メイリオ" pitchFamily="34" charset="-120"/>
              </a:rPr>
              <a:t>（添付文書外）</a:t>
            </a: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a:p>
            <a:pPr algn="l" indent="0" marL="0">
              <a:spcAft>
                <a:spcPts val="100"/>
              </a:spcAft>
              <a:buNone/>
            </a:pPr>
            <a:r>
              <a:rPr lang="ja-JP" altLang="en-US" sz="2200" b="1" dirty="0">
                <a:solidFill>
                  <a:srgbClr val="0072B2"/>
                </a:solidFill>
                <a:latin typeface="メイリオ" pitchFamily="34" charset="0"/>
                <a:ea typeface="メイリオ" pitchFamily="34" charset="-122"/>
                <a:cs typeface="メイリオ" pitchFamily="34" charset="-120"/>
              </a:rPr>
              <a:t>0.03〜0.1 μg/kg/分</a:t>
            </a:r>
            <a:endParaRPr lang="ja-JP" sz="2200" dirty="0"/>
          </a:p>
        </p:txBody>
      </p:sp>
      <p:sp>
        <p:nvSpPr>
          <p:cNvPr id="16" name="Shape 14"/>
          <p:cNvSpPr/>
          <p:nvPr/>
        </p:nvSpPr>
        <p:spPr>
          <a:xfrm>
            <a:off x="630936" y="4343400"/>
            <a:ext cx="3834079" cy="0"/>
          </a:xfrm>
          <a:prstGeom prst="line">
            <a:avLst/>
          </a:prstGeom>
          <a:noFill/>
          <a:ln w="12700">
            <a:solidFill>
              <a:srgbClr val="BFBFBF"/>
            </a:solidFill>
            <a:prstDash val="solid"/>
          </a:ln>
        </p:spPr>
      </p:sp>
      <p:sp>
        <p:nvSpPr>
          <p:cNvPr id="17" name="Text 15"/>
          <p:cNvSpPr txBox="1"/>
          <p:nvPr/>
        </p:nvSpPr>
        <p:spPr>
          <a:xfrm>
            <a:off x="630936" y="4434840"/>
            <a:ext cx="3834079" cy="128930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少量ボーラスは</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施設の方法で</a:t>
            </a:r>
            <a:endParaRPr lang="ja-JP" sz="2200" dirty="0"/>
          </a:p>
          <a:p>
            <a:pPr algn="l" indent="0" marL="0">
              <a:spcAft>
                <a:spcPts val="100"/>
              </a:spcAft>
              <a:buNone/>
            </a:pPr>
            <a:r>
              <a:rPr lang="ja-JP" altLang="en-US" sz="2200" b="1" dirty="0">
                <a:solidFill>
                  <a:srgbClr val="D55E00"/>
                </a:solidFill>
                <a:latin typeface="メイリオ" pitchFamily="34" charset="0"/>
                <a:ea typeface="メイリオ" pitchFamily="34" charset="-122"/>
                <a:cs typeface="メイリオ" pitchFamily="34" charset="-120"/>
              </a:rPr>
              <a:t>（添付文書外）</a:t>
            </a:r>
            <a:endParaRPr lang="ja-JP" sz="2200" dirty="0"/>
          </a:p>
        </p:txBody>
      </p:sp>
      <p:sp>
        <p:nvSpPr>
          <p:cNvPr id="18" name="Shape 16"/>
          <p:cNvSpPr/>
          <p:nvPr/>
        </p:nvSpPr>
        <p:spPr>
          <a:xfrm>
            <a:off x="4812487" y="1691640"/>
            <a:ext cx="3170225" cy="4169664"/>
          </a:xfrm>
          <a:prstGeom prst="roundRect">
            <a:avLst>
              <a:gd name="adj" fmla="val 2307"/>
            </a:avLst>
          </a:prstGeom>
          <a:solidFill>
            <a:srgbClr val="F2F2F2"/>
          </a:solidFill>
          <a:ln/>
        </p:spPr>
      </p:sp>
      <p:sp>
        <p:nvSpPr>
          <p:cNvPr id="19" name="Text 17"/>
          <p:cNvSpPr txBox="1"/>
          <p:nvPr/>
        </p:nvSpPr>
        <p:spPr>
          <a:xfrm>
            <a:off x="4940503" y="1819656"/>
            <a:ext cx="2914193" cy="457200"/>
          </a:xfrm>
          <a:prstGeom prst="rect">
            <a:avLst/>
          </a:prstGeom>
          <a:noFill/>
          <a:ln/>
        </p:spPr>
        <p:txBody>
          <a:bodyPr wrap="square" lIns="0" tIns="0" rIns="0" bIns="0" rtlCol="0" anchor="t"/>
          <a:lstStyle/>
          <a:p>
            <a:pPr algn="l" indent="0" marL="0">
              <a:buNone/>
            </a:pPr>
            <a:r>
              <a:rPr lang="ja-JP" altLang="en-US" sz="2400" b="1" dirty="0">
                <a:solidFill>
                  <a:srgbClr val="00A8AA"/>
                </a:solidFill>
                <a:latin typeface="メイリオ" pitchFamily="34" charset="0"/>
                <a:ea typeface="メイリオ" pitchFamily="34" charset="-122"/>
                <a:cs typeface="メイリオ" pitchFamily="34" charset="-120"/>
              </a:rPr>
              <a:t>向く場面</a:t>
            </a:r>
            <a:endParaRPr lang="ja-JP" sz="2400" dirty="0"/>
          </a:p>
        </p:txBody>
      </p:sp>
      <p:sp>
        <p:nvSpPr>
          <p:cNvPr id="20" name="Text 18"/>
          <p:cNvSpPr txBox="1"/>
          <p:nvPr/>
        </p:nvSpPr>
        <p:spPr>
          <a:xfrm>
            <a:off x="4940503" y="2350008"/>
            <a:ext cx="2914193" cy="1289304"/>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続く低血圧、</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血管拡張</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（敗血症など）</a:t>
            </a:r>
            <a:endParaRPr lang="ja-JP" sz="2200" dirty="0"/>
          </a:p>
        </p:txBody>
      </p:sp>
      <p:sp>
        <p:nvSpPr>
          <p:cNvPr id="21" name="Shape 19"/>
          <p:cNvSpPr/>
          <p:nvPr/>
        </p:nvSpPr>
        <p:spPr>
          <a:xfrm>
            <a:off x="4940503" y="3730752"/>
            <a:ext cx="2914193" cy="0"/>
          </a:xfrm>
          <a:prstGeom prst="line">
            <a:avLst/>
          </a:prstGeom>
          <a:noFill/>
          <a:ln w="12700">
            <a:solidFill>
              <a:srgbClr val="BFBFBF"/>
            </a:solidFill>
            <a:prstDash val="solid"/>
          </a:ln>
        </p:spPr>
      </p:sp>
      <p:sp>
        <p:nvSpPr>
          <p:cNvPr id="22" name="Text 20"/>
          <p:cNvSpPr txBox="1"/>
          <p:nvPr/>
        </p:nvSpPr>
        <p:spPr>
          <a:xfrm>
            <a:off x="4940503" y="3822192"/>
            <a:ext cx="2914193"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ボーラスで</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追いつかないとき</a:t>
            </a:r>
            <a:endParaRPr lang="ja-JP" sz="2200" dirty="0"/>
          </a:p>
        </p:txBody>
      </p:sp>
      <p:sp>
        <p:nvSpPr>
          <p:cNvPr id="23" name="Shape 21"/>
          <p:cNvSpPr/>
          <p:nvPr/>
        </p:nvSpPr>
        <p:spPr>
          <a:xfrm>
            <a:off x="4940503" y="4773168"/>
            <a:ext cx="2914193" cy="0"/>
          </a:xfrm>
          <a:prstGeom prst="line">
            <a:avLst/>
          </a:prstGeom>
          <a:noFill/>
          <a:ln w="12700">
            <a:solidFill>
              <a:srgbClr val="BFBFBF"/>
            </a:solidFill>
            <a:prstDash val="solid"/>
          </a:ln>
        </p:spPr>
      </p:sp>
      <p:sp>
        <p:nvSpPr>
          <p:cNvPr id="24" name="Text 22"/>
          <p:cNvSpPr txBox="1"/>
          <p:nvPr/>
        </p:nvSpPr>
        <p:spPr>
          <a:xfrm>
            <a:off x="4940503" y="4864608"/>
            <a:ext cx="2914193"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収縮力を</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落としたくないとき</a:t>
            </a:r>
            <a:endParaRPr lang="ja-JP" sz="2200" dirty="0"/>
          </a:p>
        </p:txBody>
      </p:sp>
      <p:sp>
        <p:nvSpPr>
          <p:cNvPr id="25" name="Shape 23"/>
          <p:cNvSpPr/>
          <p:nvPr/>
        </p:nvSpPr>
        <p:spPr>
          <a:xfrm>
            <a:off x="8203082" y="1691640"/>
            <a:ext cx="3482950" cy="4169664"/>
          </a:xfrm>
          <a:prstGeom prst="roundRect">
            <a:avLst>
              <a:gd name="adj" fmla="val 2100"/>
            </a:avLst>
          </a:prstGeom>
          <a:solidFill>
            <a:srgbClr val="F2F2F2"/>
          </a:solidFill>
          <a:ln/>
        </p:spPr>
      </p:sp>
      <p:sp>
        <p:nvSpPr>
          <p:cNvPr id="26" name="Text 24"/>
          <p:cNvSpPr txBox="1"/>
          <p:nvPr/>
        </p:nvSpPr>
        <p:spPr>
          <a:xfrm>
            <a:off x="8331098" y="1819656"/>
            <a:ext cx="3226918" cy="457200"/>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注意</a:t>
            </a:r>
            <a:endParaRPr lang="ja-JP" sz="2400" dirty="0"/>
          </a:p>
        </p:txBody>
      </p:sp>
      <p:sp>
        <p:nvSpPr>
          <p:cNvPr id="27" name="Text 25"/>
          <p:cNvSpPr txBox="1"/>
          <p:nvPr/>
        </p:nvSpPr>
        <p:spPr>
          <a:xfrm>
            <a:off x="8331098" y="2350008"/>
            <a:ext cx="3226918" cy="1289304"/>
          </a:xfrm>
          <a:prstGeom prst="rect">
            <a:avLst/>
          </a:prstGeom>
          <a:noFill/>
          <a:ln/>
        </p:spPr>
        <p:txBody>
          <a:bodyPr wrap="square" lIns="0" tIns="0" rIns="0" bIns="0" rtlCol="0" anchor="t"/>
          <a:lstStyle/>
          <a:p>
            <a:pPr algn="l" indent="0" marL="0">
              <a:spcAft>
                <a:spcPts val="100"/>
              </a:spcAft>
              <a:buNone/>
            </a:pPr>
            <a:r>
              <a:rPr lang="ja-JP" altLang="en-US" sz="2200" b="1" dirty="0">
                <a:solidFill>
                  <a:srgbClr val="C00000"/>
                </a:solidFill>
                <a:latin typeface="メイリオ" pitchFamily="34" charset="0"/>
                <a:ea typeface="メイリオ" pitchFamily="34" charset="-122"/>
                <a:cs typeface="メイリオ" pitchFamily="34" charset="-120"/>
              </a:rPr>
              <a:t>血管外漏出</a:t>
            </a:r>
            <a:r>
              <a:rPr lang="ja-JP" altLang="en-US" sz="2200" dirty="0">
                <a:solidFill>
                  <a:srgbClr val="262626"/>
                </a:solidFill>
                <a:latin typeface="メイリオ" pitchFamily="34" charset="0"/>
                <a:ea typeface="メイリオ" pitchFamily="34" charset="-122"/>
                <a:cs typeface="メイリオ" pitchFamily="34" charset="-120"/>
              </a:rPr>
              <a:t>（末梢なら</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太い近位の静脈・</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短時間・観察）</a:t>
            </a:r>
            <a:endParaRPr lang="ja-JP" sz="2200" dirty="0"/>
          </a:p>
        </p:txBody>
      </p:sp>
      <p:sp>
        <p:nvSpPr>
          <p:cNvPr id="28" name="Shape 26"/>
          <p:cNvSpPr/>
          <p:nvPr/>
        </p:nvSpPr>
        <p:spPr>
          <a:xfrm>
            <a:off x="8331098" y="3730752"/>
            <a:ext cx="3226918" cy="0"/>
          </a:xfrm>
          <a:prstGeom prst="line">
            <a:avLst/>
          </a:prstGeom>
          <a:noFill/>
          <a:ln w="12700">
            <a:solidFill>
              <a:srgbClr val="BFBFBF"/>
            </a:solidFill>
            <a:prstDash val="solid"/>
          </a:ln>
        </p:spPr>
      </p:sp>
      <p:sp>
        <p:nvSpPr>
          <p:cNvPr id="29" name="Text 27"/>
          <p:cNvSpPr txBox="1"/>
          <p:nvPr/>
        </p:nvSpPr>
        <p:spPr>
          <a:xfrm>
            <a:off x="8331098" y="3822192"/>
            <a:ext cx="3226918"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過剰で臓器虚血、</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不整脈</a:t>
            </a:r>
            <a:endParaRPr lang="ja-JP" sz="2200" dirty="0"/>
          </a:p>
        </p:txBody>
      </p:sp>
      <p:sp>
        <p:nvSpPr>
          <p:cNvPr id="30" name="Shape 28"/>
          <p:cNvSpPr/>
          <p:nvPr/>
        </p:nvSpPr>
        <p:spPr>
          <a:xfrm>
            <a:off x="8331098" y="4773168"/>
            <a:ext cx="3226918" cy="0"/>
          </a:xfrm>
          <a:prstGeom prst="line">
            <a:avLst/>
          </a:prstGeom>
          <a:noFill/>
          <a:ln w="12700">
            <a:solidFill>
              <a:srgbClr val="BFBFBF"/>
            </a:solidFill>
            <a:prstDash val="solid"/>
          </a:ln>
        </p:spPr>
      </p:sp>
      <p:sp>
        <p:nvSpPr>
          <p:cNvPr id="31" name="Text 29"/>
          <p:cNvSpPr txBox="1"/>
          <p:nvPr/>
        </p:nvSpPr>
        <p:spPr>
          <a:xfrm>
            <a:off x="8331098" y="4864608"/>
            <a:ext cx="3226918" cy="859536"/>
          </a:xfrm>
          <a:prstGeom prst="rect">
            <a:avLst/>
          </a:prstGeom>
          <a:noFill/>
          <a:ln/>
        </p:spPr>
        <p:txBody>
          <a:bodyPr wrap="square" lIns="0" tIns="0" rIns="0" bIns="0" rtlCol="0" anchor="t"/>
          <a:lstStyle/>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側管の押し込みで</a:t>
            </a:r>
            <a:endParaRPr lang="ja-JP" sz="2200" dirty="0"/>
          </a:p>
          <a:p>
            <a:pPr algn="l" indent="0" marL="0">
              <a:spcAft>
                <a:spcPts val="100"/>
              </a:spcAft>
              <a:buNone/>
            </a:pPr>
            <a:r>
              <a:rPr lang="ja-JP" altLang="en-US" sz="2200" dirty="0">
                <a:solidFill>
                  <a:srgbClr val="262626"/>
                </a:solidFill>
                <a:latin typeface="メイリオ" pitchFamily="34" charset="0"/>
                <a:ea typeface="メイリオ" pitchFamily="34" charset="-122"/>
                <a:cs typeface="メイリオ" pitchFamily="34" charset="-120"/>
              </a:rPr>
              <a:t>一気に入る</a:t>
            </a:r>
            <a:endParaRPr lang="ja-JP"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使い分け</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4つの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要素</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フェニレ</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フリン</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エフェ</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ドリン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ノルアド</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レナリン</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使い分け</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第4版」（2025）</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Heesen M, et al. Int J Obstet Anesth 2019;37:16-28</a:t>
            </a:r>
            <a:endParaRPr lang="ja-JP"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11183112" cy="914400"/>
        </p:xfrm>
        <a:graphic>
          <a:graphicData uri="http://schemas.openxmlformats.org/drawingml/2006/table">
            <a:tbl>
              <a:tblPr/>
              <a:tblGrid>
                <a:gridCol w="3026664"/>
                <a:gridCol w="3026664"/>
                <a:gridCol w="5129784"/>
              </a:tblGrid>
              <a:tr h="475488">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状況</a:t>
                      </a:r>
                      <a:endParaRPr lang="en-US" sz="2200" dirty="0">
                        <a:latin typeface="メイリオ" charset="0"/>
                        <a:ea typeface="メイリオ" charset="0"/>
                        <a:cs typeface="メイリオ" charset="0"/>
                      </a:endParaRPr>
                    </a:p>
                  </a:txBody>
                  <a:tcPr marL="101600" marR="1016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足りない要素</a:t>
                      </a:r>
                      <a:endParaRPr lang="en-US" sz="2200" dirty="0">
                        <a:latin typeface="メイリオ" charset="0"/>
                        <a:ea typeface="メイリオ" charset="0"/>
                        <a:cs typeface="メイリオ" charset="0"/>
                      </a:endParaRPr>
                    </a:p>
                  </a:txBody>
                  <a:tcPr marL="101600" marR="1016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c>
                  <a:txBody>
                    <a:bodyPr/>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第一選択</a:t>
                      </a:r>
                      <a:endParaRPr lang="en-US" sz="2200" dirty="0">
                        <a:latin typeface="メイリオ" charset="0"/>
                        <a:ea typeface="メイリオ" charset="0"/>
                        <a:cs typeface="メイリオ" charset="0"/>
                      </a:endParaRPr>
                    </a:p>
                  </a:txBody>
                  <a:tcPr marL="101600" marR="1016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D9D9D9"/>
                    </a:solidFill>
                  </a:tcPr>
                </a:tc>
              </a:tr>
              <a:tr h="896112">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低血圧＋徐脈</a:t>
                      </a:r>
                      <a:endParaRPr lang="en-US" sz="2200" dirty="0">
                        <a:latin typeface="メイリオ" charset="0"/>
                        <a:ea typeface="メイリオ" charset="0"/>
                        <a:cs typeface="メイリオ" charset="0"/>
                      </a:endParaRPr>
                    </a:p>
                  </a:txBody>
                  <a:tcPr marL="101600" marR="1016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心拍数・収縮力</a:t>
                      </a:r>
                      <a:endParaRPr lang="en-US" sz="2200" dirty="0">
                        <a:latin typeface="メイリオ" charset="0"/>
                        <a:ea typeface="メイリオ" charset="0"/>
                        <a:cs typeface="メイリオ" charset="0"/>
                      </a:endParaRPr>
                    </a:p>
                  </a:txBody>
                  <a:tcPr marL="101600" marR="1016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エフェドリン</a:t>
                      </a:r>
                      <a:endParaRPr lang="en-US" sz="2200" dirty="0">
                        <a:latin typeface="メイリオ" charset="0"/>
                        <a:ea typeface="メイリオ" charset="0"/>
                        <a:cs typeface="メイリオ" charset="0"/>
                      </a:endParaRPr>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（徐脈が強ければアトロピン）</a:t>
                      </a:r>
                      <a:endParaRPr lang="en-US" sz="2200" dirty="0">
                        <a:latin typeface="メイリオ" charset="0"/>
                        <a:ea typeface="メイリオ" charset="0"/>
                        <a:cs typeface="メイリオ" charset="0"/>
                      </a:endParaRPr>
                    </a:p>
                  </a:txBody>
                  <a:tcPr marL="101600" marR="1016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75488">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低血圧＋頻脈</a:t>
                      </a:r>
                      <a:endParaRPr lang="en-US" sz="2200" dirty="0">
                        <a:latin typeface="メイリオ" charset="0"/>
                        <a:ea typeface="メイリオ" charset="0"/>
                        <a:cs typeface="メイリオ" charset="0"/>
                      </a:endParaRPr>
                    </a:p>
                  </a:txBody>
                  <a:tcPr marL="101600" marR="1016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後負荷（血管拡張）</a:t>
                      </a:r>
                      <a:endParaRPr lang="en-US" sz="2200" dirty="0">
                        <a:latin typeface="メイリオ" charset="0"/>
                        <a:ea typeface="メイリオ" charset="0"/>
                        <a:cs typeface="メイリオ" charset="0"/>
                      </a:endParaRPr>
                    </a:p>
                  </a:txBody>
                  <a:tcPr marL="101600" marR="1016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フェニレフリン</a:t>
                      </a:r>
                      <a:endParaRPr lang="en-US" sz="2200" dirty="0">
                        <a:latin typeface="メイリオ" charset="0"/>
                        <a:ea typeface="メイリオ" charset="0"/>
                        <a:cs typeface="メイリオ" charset="0"/>
                      </a:endParaRPr>
                    </a:p>
                  </a:txBody>
                  <a:tcPr marL="101600" marR="1016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896112">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下がり続ける、</a:t>
                      </a:r>
                      <a:endParaRPr lang="en-US" sz="2200" dirty="0">
                        <a:latin typeface="メイリオ" charset="0"/>
                        <a:ea typeface="メイリオ" charset="0"/>
                        <a:cs typeface="メイリオ" charset="0"/>
                      </a:endParaRPr>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ボーラスが効かない</a:t>
                      </a:r>
                      <a:endParaRPr lang="en-US" sz="2200" dirty="0">
                        <a:latin typeface="メイリオ" charset="0"/>
                        <a:ea typeface="メイリオ" charset="0"/>
                        <a:cs typeface="メイリオ" charset="0"/>
                      </a:endParaRPr>
                    </a:p>
                  </a:txBody>
                  <a:tcPr marL="101600" marR="1016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後負荷＋収縮力</a:t>
                      </a:r>
                      <a:endParaRPr lang="en-US" sz="2200" dirty="0">
                        <a:latin typeface="メイリオ" charset="0"/>
                        <a:ea typeface="メイリオ" charset="0"/>
                        <a:cs typeface="メイリオ" charset="0"/>
                      </a:endParaRPr>
                    </a:p>
                  </a:txBody>
                  <a:tcPr marL="101600" marR="1016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ノルアドレナリン持続</a:t>
                      </a:r>
                      <a:endParaRPr lang="en-US" sz="2200" dirty="0">
                        <a:latin typeface="メイリオ" charset="0"/>
                        <a:ea typeface="メイリオ" charset="0"/>
                        <a:cs typeface="メイリオ" charset="0"/>
                      </a:endParaRPr>
                    </a:p>
                  </a:txBody>
                  <a:tcPr marL="101600" marR="1016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896112">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心機能が悪い、</a:t>
                      </a:r>
                      <a:endParaRPr lang="en-US" sz="2200" dirty="0">
                        <a:latin typeface="メイリオ" charset="0"/>
                        <a:ea typeface="メイリオ" charset="0"/>
                        <a:cs typeface="メイリオ" charset="0"/>
                      </a:endParaRPr>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低心拍出</a:t>
                      </a:r>
                      <a:endParaRPr lang="en-US" sz="2200" dirty="0">
                        <a:latin typeface="メイリオ" charset="0"/>
                        <a:ea typeface="メイリオ" charset="0"/>
                        <a:cs typeface="メイリオ" charset="0"/>
                      </a:endParaRPr>
                    </a:p>
                  </a:txBody>
                  <a:tcPr marL="101600" marR="1016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収縮力</a:t>
                      </a:r>
                      <a:endParaRPr lang="en-US" sz="2200" dirty="0">
                        <a:latin typeface="メイリオ" charset="0"/>
                        <a:ea typeface="メイリオ" charset="0"/>
                        <a:cs typeface="メイリオ" charset="0"/>
                      </a:endParaRPr>
                    </a:p>
                  </a:txBody>
                  <a:tcPr marL="101600" marR="1016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ドブタミン、アドレナリン</a:t>
                      </a:r>
                      <a:endParaRPr lang="en-US" sz="2200" dirty="0">
                        <a:latin typeface="メイリオ" charset="0"/>
                        <a:ea typeface="メイリオ" charset="0"/>
                        <a:cs typeface="メイリオ" charset="0"/>
                      </a:endParaRPr>
                    </a:p>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 3-9）</a:t>
                      </a:r>
                      <a:endParaRPr lang="en-US" sz="2200" dirty="0">
                        <a:latin typeface="メイリオ" charset="0"/>
                        <a:ea typeface="メイリオ" charset="0"/>
                        <a:cs typeface="メイリオ" charset="0"/>
                      </a:endParaRPr>
                    </a:p>
                  </a:txBody>
                  <a:tcPr marL="101600" marR="1016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r h="475488">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出血・脱水</a:t>
                      </a:r>
                      <a:endParaRPr lang="en-US" sz="2200" dirty="0">
                        <a:latin typeface="メイリオ" charset="0"/>
                        <a:ea typeface="メイリオ" charset="0"/>
                        <a:cs typeface="メイリオ" charset="0"/>
                      </a:endParaRPr>
                    </a:p>
                  </a:txBody>
                  <a:tcPr marL="101600" marR="1016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前負荷</a:t>
                      </a:r>
                      <a:endParaRPr lang="en-US" sz="2200" dirty="0">
                        <a:latin typeface="メイリオ" charset="0"/>
                        <a:ea typeface="メイリオ" charset="0"/>
                        <a:cs typeface="メイリオ" charset="0"/>
                      </a:endParaRPr>
                    </a:p>
                  </a:txBody>
                  <a:tcPr marL="101600" marR="1016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c>
                  <a:txBody>
                    <a:bodyPr/>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輸液・輸血</a:t>
                      </a:r>
                      <a:r>
                        <a:rPr lang="ja-JP" altLang="en-US" sz="2200" dirty="0">
                          <a:solidFill>
                            <a:srgbClr val="262626"/>
                          </a:solidFill>
                          <a:latin typeface="メイリオ" pitchFamily="34" charset="0"/>
                          <a:ea typeface="メイリオ" pitchFamily="34" charset="-122"/>
                          <a:cs typeface="メイリオ" pitchFamily="34" charset="-120"/>
                        </a:rPr>
                        <a:t>（昇圧薬は時間稼ぎ）</a:t>
                      </a:r>
                      <a:endParaRPr lang="en-US" sz="2200" dirty="0">
                        <a:latin typeface="メイリオ" charset="0"/>
                        <a:ea typeface="メイリオ" charset="0"/>
                        <a:cs typeface="メイリオ" charset="0"/>
                      </a:endParaRPr>
                    </a:p>
                  </a:txBody>
                  <a:tcPr marL="101600" marR="101600" marT="25400" marB="2540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昇圧薬の前に</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4つの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要素</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フェニレ</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フリン</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エフェ</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ドリン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ノルアド</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レナリン</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使い分け</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Salmasi V, et al. Anesthesiology 2017;126:47-65 / Saugel B,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Br J Anaesth 2024;133:264-276 / Joosten A, et al. Intensive Care Med 2026;52:500-511</a:t>
            </a:r>
            <a:endParaRPr lang="ja-JP" sz="1600" dirty="0"/>
          </a:p>
        </p:txBody>
      </p:sp>
      <p:sp>
        <p:nvSpPr>
          <p:cNvPr id="11" name="Text 9"/>
          <p:cNvSpPr txBox="1"/>
          <p:nvPr/>
        </p:nvSpPr>
        <p:spPr>
          <a:xfrm>
            <a:off x="502920" y="1828800"/>
            <a:ext cx="11155680" cy="3831336"/>
          </a:xfrm>
          <a:prstGeom prst="rect">
            <a:avLst/>
          </a:prstGeom>
          <a:noFill/>
          <a:ln/>
        </p:spPr>
        <p:txBody>
          <a:bodyPr wrap="square" lIns="0" tIns="0" rIns="0" bIns="0" rtlCol="0" anchor="t"/>
          <a:lstStyle/>
          <a:p>
            <a:pPr algn="l" marL="355600" indent="-355600">
              <a:spcAft>
                <a:spcPts val="28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原因を探す：</a:t>
            </a:r>
            <a:r>
              <a:rPr lang="ja-JP" altLang="en-US" sz="2400" dirty="0">
                <a:solidFill>
                  <a:srgbClr val="262626"/>
                </a:solidFill>
                <a:latin typeface="メイリオ" pitchFamily="34" charset="0"/>
                <a:ea typeface="メイリオ" pitchFamily="34" charset="-122"/>
                <a:cs typeface="メイリオ" pitchFamily="34" charset="-120"/>
              </a:rPr>
              <a:t>出血、深い麻酔、体位、圧迫、気胸、アナフィラキシー</a:t>
            </a:r>
            <a:endParaRPr lang="ja-JP" sz="2400" dirty="0"/>
          </a:p>
          <a:p>
            <a:pPr algn="l" marL="355600" indent="-355600">
              <a:spcAft>
                <a:spcPts val="28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前負荷を戻す：</a:t>
            </a:r>
            <a:r>
              <a:rPr lang="ja-JP" altLang="en-US" sz="2400" dirty="0">
                <a:solidFill>
                  <a:srgbClr val="262626"/>
                </a:solidFill>
                <a:latin typeface="メイリオ" pitchFamily="34" charset="0"/>
                <a:ea typeface="メイリオ" pitchFamily="34" charset="-122"/>
                <a:cs typeface="メイリオ" pitchFamily="34" charset="-120"/>
              </a:rPr>
              <a:t>輸液、下肢挙上、圧迫の解除</a:t>
            </a:r>
            <a:endParaRPr lang="ja-JP" sz="2400" dirty="0"/>
          </a:p>
          <a:p>
            <a:pPr algn="l" marL="355600" indent="-355600">
              <a:spcAft>
                <a:spcPts val="28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麻酔薬を減らす</a:t>
            </a:r>
            <a:r>
              <a:rPr lang="ja-JP" altLang="en-US" sz="2400" dirty="0">
                <a:solidFill>
                  <a:srgbClr val="262626"/>
                </a:solidFill>
                <a:latin typeface="メイリオ" pitchFamily="34" charset="0"/>
                <a:ea typeface="メイリオ" pitchFamily="34" charset="-122"/>
                <a:cs typeface="メイリオ" pitchFamily="34" charset="-120"/>
              </a:rPr>
              <a:t>（吸入濃度、持続投与）</a:t>
            </a:r>
            <a:endParaRPr lang="ja-JP" sz="2400" dirty="0"/>
          </a:p>
          <a:p>
            <a:pPr algn="l" marL="355600" indent="-355600">
              <a:spcAft>
                <a:spcPts val="2800"/>
              </a:spcAft>
              <a:buSzPct val="100000"/>
              <a:buChar char="•"/>
            </a:pPr>
            <a:r>
              <a:rPr lang="ja-JP" altLang="en-US" sz="2400" b="1" dirty="0">
                <a:solidFill>
                  <a:srgbClr val="00A8AA"/>
                </a:solidFill>
                <a:latin typeface="メイリオ" pitchFamily="34" charset="0"/>
                <a:ea typeface="メイリオ" pitchFamily="34" charset="-122"/>
                <a:cs typeface="メイリオ" pitchFamily="34" charset="-120"/>
              </a:rPr>
              <a:t>昇圧薬は原因治療までのつなぎ</a:t>
            </a:r>
            <a:endParaRPr lang="ja-JP" sz="2400" dirty="0"/>
          </a:p>
          <a:p>
            <a:pPr algn="l" marL="355600" indent="-355600">
              <a:spcAft>
                <a:spcPts val="2800"/>
              </a:spcAft>
              <a:buSzPct val="100000"/>
              <a:buChar char="•"/>
            </a:pPr>
            <a:r>
              <a:rPr lang="ja-JP" altLang="en-US" sz="2400" b="1" dirty="0">
                <a:solidFill>
                  <a:srgbClr val="0072B2"/>
                </a:solidFill>
                <a:latin typeface="メイリオ" pitchFamily="34" charset="0"/>
                <a:ea typeface="メイリオ" pitchFamily="34" charset="-122"/>
                <a:cs typeface="メイリオ" pitchFamily="34" charset="-120"/>
              </a:rPr>
              <a:t>目安：</a:t>
            </a:r>
            <a:r>
              <a:rPr lang="ja-JP" altLang="en-US" sz="2400" dirty="0">
                <a:solidFill>
                  <a:srgbClr val="262626"/>
                </a:solidFill>
                <a:latin typeface="メイリオ" pitchFamily="34" charset="0"/>
                <a:ea typeface="メイリオ" pitchFamily="34" charset="-122"/>
                <a:cs typeface="メイリオ" pitchFamily="34" charset="-120"/>
              </a:rPr>
              <a:t>平均血圧 </a:t>
            </a:r>
            <a:r>
              <a:rPr lang="ja-JP" altLang="en-US" sz="2400" b="1" dirty="0">
                <a:solidFill>
                  <a:srgbClr val="00A8AA"/>
                </a:solidFill>
                <a:latin typeface="メイリオ" pitchFamily="34" charset="0"/>
                <a:ea typeface="メイリオ" pitchFamily="34" charset="-122"/>
                <a:cs typeface="メイリオ" pitchFamily="34" charset="-120"/>
              </a:rPr>
              <a:t>65 mmHg 以上</a:t>
            </a:r>
            <a:r>
              <a:rPr lang="ja-JP" altLang="en-US" sz="2400" dirty="0">
                <a:solidFill>
                  <a:srgbClr val="262626"/>
                </a:solidFill>
                <a:latin typeface="メイリオ" pitchFamily="34" charset="0"/>
                <a:ea typeface="メイリオ" pitchFamily="34" charset="-122"/>
                <a:cs typeface="メイリオ" pitchFamily="34" charset="-120"/>
              </a:rPr>
              <a:t>を保つ</a:t>
            </a:r>
            <a:endParaRPr lang="ja-JP"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落とし穴</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4つの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要素</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フェニレ</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フリン</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エフェ</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ドリン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ノルアド</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レナリン</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使い分け</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8</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日本麻酔科学会「麻酔薬および麻酔関連薬使用ガイドライン 第4版」（2025）</a:t>
            </a:r>
            <a:endParaRPr lang="ja-JP" sz="1600" dirty="0"/>
          </a:p>
        </p:txBody>
      </p:sp>
      <p:sp>
        <p:nvSpPr>
          <p:cNvPr id="11" name="Text 9"/>
          <p:cNvSpPr txBox="1"/>
          <p:nvPr/>
        </p:nvSpPr>
        <p:spPr>
          <a:xfrm>
            <a:off x="502920" y="1828800"/>
            <a:ext cx="11155680" cy="4069080"/>
          </a:xfrm>
          <a:prstGeom prst="rect">
            <a:avLst/>
          </a:prstGeom>
          <a:noFill/>
          <a:ln/>
        </p:spPr>
        <p:txBody>
          <a:bodyPr wrap="square" lIns="0" tIns="0" rIns="0" bIns="0" rtlCol="0" anchor="t"/>
          <a:lstStyle/>
          <a:p>
            <a:pPr algn="l" marL="406400" indent="-406400">
              <a:spcAft>
                <a:spcPts val="2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フェニレフリンで徐脈になり、</a:t>
            </a:r>
            <a:r>
              <a:rPr lang="ja-JP" altLang="en-US" sz="2800" b="1" dirty="0">
                <a:solidFill>
                  <a:srgbClr val="C00000"/>
                </a:solidFill>
                <a:latin typeface="メイリオ" pitchFamily="34" charset="0"/>
                <a:ea typeface="メイリオ" pitchFamily="34" charset="-122"/>
                <a:cs typeface="メイリオ" pitchFamily="34" charset="-120"/>
              </a:rPr>
              <a:t>心拍出量が落ちる</a:t>
            </a:r>
            <a:endParaRPr lang="ja-JP" sz="2800" dirty="0"/>
          </a:p>
          <a:p>
            <a:pPr algn="l" marL="406400" indent="-406400">
              <a:spcAft>
                <a:spcPts val="2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エフェドリンを連発して</a:t>
            </a:r>
            <a:r>
              <a:rPr lang="ja-JP" altLang="en-US" sz="2800" b="1" dirty="0">
                <a:solidFill>
                  <a:srgbClr val="C00000"/>
                </a:solidFill>
                <a:latin typeface="メイリオ" pitchFamily="34" charset="0"/>
                <a:ea typeface="メイリオ" pitchFamily="34" charset="-122"/>
                <a:cs typeface="メイリオ" pitchFamily="34" charset="-120"/>
              </a:rPr>
              <a:t>効かなくなる</a:t>
            </a:r>
            <a:endParaRPr lang="ja-JP" sz="2800" dirty="0"/>
          </a:p>
          <a:p>
            <a:pPr algn="l" marL="406400" indent="-406400">
              <a:spcAft>
                <a:spcPts val="2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ノルアドレナリンのラインを押し込んで</a:t>
            </a:r>
            <a:r>
              <a:rPr lang="ja-JP" altLang="en-US" sz="2800" b="1" dirty="0">
                <a:solidFill>
                  <a:srgbClr val="C00000"/>
                </a:solidFill>
                <a:latin typeface="メイリオ" pitchFamily="34" charset="0"/>
                <a:ea typeface="メイリオ" pitchFamily="34" charset="-122"/>
                <a:cs typeface="メイリオ" pitchFamily="34" charset="-120"/>
              </a:rPr>
              <a:t>急上昇</a:t>
            </a:r>
            <a:endParaRPr lang="ja-JP" sz="2800" dirty="0"/>
          </a:p>
          <a:p>
            <a:pPr algn="l" marL="406400" indent="-406400">
              <a:spcAft>
                <a:spcPts val="2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希釈を間違えて </a:t>
            </a:r>
            <a:r>
              <a:rPr lang="ja-JP" altLang="en-US" sz="2800" b="1" dirty="0">
                <a:solidFill>
                  <a:srgbClr val="C00000"/>
                </a:solidFill>
                <a:latin typeface="メイリオ" pitchFamily="34" charset="0"/>
                <a:ea typeface="メイリオ" pitchFamily="34" charset="-122"/>
                <a:cs typeface="メイリオ" pitchFamily="34" charset="-120"/>
              </a:rPr>
              <a:t>10 倍量</a:t>
            </a:r>
            <a:r>
              <a:rPr lang="ja-JP" altLang="en-US" sz="2800" dirty="0">
                <a:solidFill>
                  <a:srgbClr val="262626"/>
                </a:solidFill>
                <a:latin typeface="メイリオ" pitchFamily="34" charset="0"/>
                <a:ea typeface="メイリオ" pitchFamily="34" charset="-122"/>
                <a:cs typeface="メイリオ" pitchFamily="34" charset="-120"/>
              </a:rPr>
              <a:t>（mg と μg）</a:t>
            </a:r>
            <a:endParaRPr lang="ja-JP" sz="2800" dirty="0"/>
          </a:p>
          <a:p>
            <a:pPr algn="l" marL="406400" indent="-406400">
              <a:spcAft>
                <a:spcPts val="26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昇圧薬で血圧だけ戻して、</a:t>
            </a:r>
            <a:r>
              <a:rPr lang="ja-JP" altLang="en-US" sz="2800" b="1" dirty="0">
                <a:solidFill>
                  <a:srgbClr val="C00000"/>
                </a:solidFill>
                <a:latin typeface="メイリオ" pitchFamily="34" charset="0"/>
                <a:ea typeface="メイリオ" pitchFamily="34" charset="-122"/>
                <a:cs typeface="メイリオ" pitchFamily="34" charset="-120"/>
              </a:rPr>
              <a:t>出血に気づかない</a:t>
            </a:r>
            <a:endParaRPr lang="ja-JP"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4つの</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要素</a:t>
            </a:r>
            <a:endParaRPr lang="ja-JP" sz="1100" dirty="0"/>
          </a:p>
        </p:txBody>
      </p:sp>
      <p:sp>
        <p:nvSpPr>
          <p:cNvPr id="5" name="Text 3"/>
          <p:cNvSpPr/>
          <p:nvPr/>
        </p:nvSpPr>
        <p:spPr>
          <a:xfrm>
            <a:off x="9354312"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フェニレ</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フリン</a:t>
            </a:r>
            <a:endParaRPr lang="ja-JP" sz="1100" dirty="0"/>
          </a:p>
        </p:txBody>
      </p:sp>
      <p:sp>
        <p:nvSpPr>
          <p:cNvPr id="6" name="Text 4"/>
          <p:cNvSpPr/>
          <p:nvPr/>
        </p:nvSpPr>
        <p:spPr>
          <a:xfrm>
            <a:off x="10030968"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エフェ</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ドリン</a:t>
            </a:r>
            <a:endParaRPr lang="ja-JP" sz="1100" dirty="0"/>
          </a:p>
        </p:txBody>
      </p:sp>
      <p:sp>
        <p:nvSpPr>
          <p:cNvPr id="7" name="Text 5"/>
          <p:cNvSpPr/>
          <p:nvPr/>
        </p:nvSpPr>
        <p:spPr>
          <a:xfrm>
            <a:off x="10707624" y="54864"/>
            <a:ext cx="621792" cy="585216"/>
          </a:xfrm>
          <a:prstGeom prst="roundRect">
            <a:avLst>
              <a:gd name="adj" fmla="val 15625"/>
            </a:avLst>
          </a:prstGeom>
          <a:solidFill>
            <a:srgbClr val="D9D9D9"/>
          </a:solidFill>
          <a:ln/>
        </p:spPr>
        <p:txBody>
          <a:bodyPr wrap="square" lIns="0" tIns="0" rIns="0" bIns="0" rtlCol="0" anchor="ctr"/>
          <a:lstStyle/>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ノルアド</a:t>
            </a:r>
            <a:endParaRPr lang="ja-JP" sz="1100" dirty="0"/>
          </a:p>
          <a:p>
            <a:pPr algn="ctr" indent="0" marL="0">
              <a:buNone/>
            </a:pPr>
            <a:r>
              <a:rPr lang="ja-JP" altLang="en-US" sz="1100" dirty="0">
                <a:solidFill>
                  <a:srgbClr val="404040"/>
                </a:solidFill>
                <a:latin typeface="メイリオ" pitchFamily="34" charset="0"/>
                <a:ea typeface="メイリオ" pitchFamily="34" charset="-122"/>
                <a:cs typeface="メイリオ" pitchFamily="34" charset="-120"/>
              </a:rPr>
              <a:t>レナリン</a:t>
            </a:r>
            <a:endParaRPr lang="ja-JP" sz="1100" dirty="0"/>
          </a:p>
        </p:txBody>
      </p:sp>
      <p:sp>
        <p:nvSpPr>
          <p:cNvPr id="8" name="Text 6"/>
          <p:cNvSpPr/>
          <p:nvPr/>
        </p:nvSpPr>
        <p:spPr>
          <a:xfrm>
            <a:off x="11384280" y="54864"/>
            <a:ext cx="621792" cy="585216"/>
          </a:xfrm>
          <a:prstGeom prst="roundRect">
            <a:avLst>
              <a:gd name="adj" fmla="val 15625"/>
            </a:avLst>
          </a:prstGeom>
          <a:solidFill>
            <a:srgbClr val="00A8AA"/>
          </a:solidFill>
          <a:ln/>
        </p:spPr>
        <p:txBody>
          <a:bodyPr wrap="square" lIns="0" tIns="0" rIns="0" bIns="0" rtlCol="0" anchor="ctr"/>
          <a:lstStyle/>
          <a:p>
            <a:pPr algn="ctr" indent="0" marL="0">
              <a:buNone/>
            </a:pPr>
            <a:r>
              <a:rPr lang="ja-JP" altLang="en-US" sz="1100" b="1" dirty="0">
                <a:solidFill>
                  <a:srgbClr val="FFFFFF"/>
                </a:solidFill>
                <a:latin typeface="メイリオ" pitchFamily="34" charset="0"/>
                <a:ea typeface="メイリオ" pitchFamily="34" charset="-122"/>
                <a:cs typeface="メイリオ" pitchFamily="34" charset="-120"/>
              </a:rPr>
              <a:t>使い分け</a:t>
            </a:r>
            <a:endParaRPr lang="ja-JP" sz="110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9</a:t>
            </a:r>
            <a:endParaRPr lang="ja-JP" sz="1200" dirty="0"/>
          </a:p>
        </p:txBody>
      </p:sp>
      <p:sp>
        <p:nvSpPr>
          <p:cNvPr id="10" name="Text 8"/>
          <p:cNvSpPr txBox="1"/>
          <p:nvPr/>
        </p:nvSpPr>
        <p:spPr>
          <a:xfrm>
            <a:off x="502920" y="6263640"/>
            <a:ext cx="10607040" cy="45720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各薬剤の添付文書 / 日本麻酔科学会「麻酔薬および麻酔関連薬使用ガイドライン 第4版」（2025）</a:t>
            </a:r>
            <a:endParaRPr lang="ja-JP" sz="1600" dirty="0"/>
          </a:p>
        </p:txBody>
      </p:sp>
      <p:sp>
        <p:nvSpPr>
          <p:cNvPr id="11" name="Text 9"/>
          <p:cNvSpPr txBox="1"/>
          <p:nvPr/>
        </p:nvSpPr>
        <p:spPr>
          <a:xfrm>
            <a:off x="502920" y="1828800"/>
            <a:ext cx="11155680" cy="3941064"/>
          </a:xfrm>
          <a:prstGeom prst="rect">
            <a:avLst/>
          </a:prstGeom>
          <a:noFill/>
          <a:ln/>
        </p:spPr>
        <p:txBody>
          <a:bodyPr wrap="square" lIns="0" tIns="0" rIns="0" bIns="0" rtlCol="0" anchor="t"/>
          <a:lstStyle/>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血圧 ≈ 心拍出量 × 体血管抵抗。4 要素のどれが足りないか</a:t>
            </a:r>
            <a:endParaRPr lang="ja-JP" sz="2800" dirty="0"/>
          </a:p>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徐脈ぎみ → </a:t>
            </a:r>
            <a:r>
              <a:rPr lang="ja-JP" altLang="en-US" sz="2800" b="1" dirty="0">
                <a:solidFill>
                  <a:srgbClr val="0072B2"/>
                </a:solidFill>
                <a:latin typeface="メイリオ" pitchFamily="34" charset="0"/>
                <a:ea typeface="メイリオ" pitchFamily="34" charset="-122"/>
                <a:cs typeface="メイリオ" pitchFamily="34" charset="-120"/>
              </a:rPr>
              <a:t>エフェドリン 4〜8 mg</a:t>
            </a:r>
            <a:endParaRPr lang="ja-JP" sz="2800" dirty="0"/>
          </a:p>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頻脈ぎみ → </a:t>
            </a:r>
            <a:r>
              <a:rPr lang="ja-JP" altLang="en-US" sz="2800" b="1" dirty="0">
                <a:solidFill>
                  <a:srgbClr val="0072B2"/>
                </a:solidFill>
                <a:latin typeface="メイリオ" pitchFamily="34" charset="0"/>
                <a:ea typeface="メイリオ" pitchFamily="34" charset="-122"/>
                <a:cs typeface="メイリオ" pitchFamily="34" charset="-120"/>
              </a:rPr>
              <a:t>フェニレフリン 0.05〜0.1 mg ずつ</a:t>
            </a:r>
            <a:r>
              <a:rPr lang="ja-JP" altLang="en-US" sz="2800" dirty="0">
                <a:solidFill>
                  <a:srgbClr val="262626"/>
                </a:solidFill>
                <a:latin typeface="メイリオ" pitchFamily="34" charset="0"/>
                <a:ea typeface="メイリオ" pitchFamily="34" charset="-122"/>
                <a:cs typeface="メイリオ" pitchFamily="34" charset="-120"/>
              </a:rPr>
              <a:t>（慣用）</a:t>
            </a:r>
            <a:endParaRPr lang="ja-JP" sz="2800" dirty="0"/>
          </a:p>
          <a:p>
            <a:pPr algn="l" marL="406400" indent="-406400">
              <a:spcAft>
                <a:spcPts val="2400"/>
              </a:spcAft>
              <a:buSzPct val="100000"/>
              <a:buChar char="•"/>
            </a:pPr>
            <a:r>
              <a:rPr lang="ja-JP" altLang="en-US" sz="2800" dirty="0">
                <a:solidFill>
                  <a:srgbClr val="262626"/>
                </a:solidFill>
                <a:latin typeface="メイリオ" pitchFamily="34" charset="0"/>
                <a:ea typeface="メイリオ" pitchFamily="34" charset="-122"/>
                <a:cs typeface="メイリオ" pitchFamily="34" charset="-120"/>
              </a:rPr>
              <a:t>続く低血圧 → </a:t>
            </a:r>
            <a:r>
              <a:rPr lang="ja-JP" altLang="en-US" sz="2800" b="1" dirty="0">
                <a:solidFill>
                  <a:srgbClr val="0072B2"/>
                </a:solidFill>
                <a:latin typeface="メイリオ" pitchFamily="34" charset="0"/>
                <a:ea typeface="メイリオ" pitchFamily="34" charset="-122"/>
                <a:cs typeface="メイリオ" pitchFamily="34" charset="-120"/>
              </a:rPr>
              <a:t>ノルアドレナリン持続</a:t>
            </a:r>
            <a:endParaRPr lang="ja-JP" sz="2800" dirty="0"/>
          </a:p>
          <a:p>
            <a:pPr algn="l" marL="406400" indent="-406400">
              <a:spcAft>
                <a:spcPts val="2400"/>
              </a:spcAft>
              <a:buSzPct val="100000"/>
              <a:buChar char="•"/>
            </a:pPr>
            <a:r>
              <a:rPr lang="ja-JP" altLang="en-US" sz="2800" b="1" dirty="0">
                <a:solidFill>
                  <a:srgbClr val="00A8AA"/>
                </a:solidFill>
                <a:latin typeface="メイリオ" pitchFamily="34" charset="0"/>
                <a:ea typeface="メイリオ" pitchFamily="34" charset="-122"/>
                <a:cs typeface="メイリオ" pitchFamily="34" charset="-120"/>
              </a:rPr>
              <a:t>昇圧薬はつなぎ。</a:t>
            </a:r>
            <a:r>
              <a:rPr lang="ja-JP" altLang="en-US" sz="2800" dirty="0">
                <a:solidFill>
                  <a:srgbClr val="262626"/>
                </a:solidFill>
                <a:latin typeface="メイリオ" pitchFamily="34" charset="0"/>
                <a:ea typeface="メイリオ" pitchFamily="34" charset="-122"/>
                <a:cs typeface="メイリオ" pitchFamily="34" charset="-120"/>
              </a:rPr>
              <a:t>原因（出血・麻酔深度・前負荷）を探す</a:t>
            </a:r>
            <a:endParaRPr lang="ja-JP"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3-8 昇圧薬の使い分け</dc:title>
  <dc:subject/>
  <dc:creator>Anes-lecture</dc:creator>
  <cp:lastModifiedBy>Anes-lecture</cp:lastModifiedBy>
  <cp:revision>1</cp:revision>
  <dcterms:created xsi:type="dcterms:W3CDTF">2026-10-13T18:19:41Z</dcterms:created>
  <dcterms:modified xsi:type="dcterms:W3CDTF">2026-10-13T18:19:41Z</dcterms:modified>
</cp:coreProperties>
</file>