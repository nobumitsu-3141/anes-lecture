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常用薬の多くは「続ける」が正解で、止めて困る薬（β遮断薬、抗てんかん薬、レボドパ、ステロイド）と、直前に止めることがある薬（ACE 阻害薬・ARB は休薬するなら 24 時間前から、利尿薬は当日）と、前もって止める薬（低用量ピル、サプリ、大量出血の手術でのリチウム）を区別することが大切である。この講義では、降圧薬、ステロイドカバー、神経・精神の薬、甲状腺薬・女性ホルモン・漢方・サプリ・吸入薬、当日の内服指示の書き方を扱う。抗血栓薬は 4-12、糖尿病薬は 4-13。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添付文書: 国内の ARB の電子添文（例: オルメテックの 8.2）の「重要な基本的注意」に「手術前 24 時間は投与しないことが望ましい」（麻酔・手術中にレニン-アンジオテンシン系の抑制による低血圧を起こすおそれ）とある。ACE 阻害薬・エンレスト（ARNI）・ARB 配合錠も同様とされる【要確認: 各製品の PMDA 電子添文の「8. 重要な基本的注意」（例: レニベース、エンレスト、ユニシア、ミカトリオ）】。「望ましい」であり、継続しても添付文書違反ではない。</a:t>
            </a:r>
          </a:p>
          <a:p>
            <a:r>
              <a:rPr lang="ja-JP" altLang="en-US" dirty="0"/>
              <a:t>ガイドライン: 2024 AHA/ACC は、高血圧に対して長期内服中で血圧がコントロールされている患者が上昇リスクの非心臓手術を受ける場合、術中低血圧を減らす目的で手術 24 時間前からの休薬を考慮してもよい（2b）とし、継続が妥当（2a）とするのは HFrEF に限った（要約論文 Kothari 2025 で確認）。「継続は reasonable（2a）」は 2014 年版の表現とされる【要確認: 2014 ACC/AHA（Fleisher LA, et al. Circulation 2014;130:e278-e333）の RAAS 阻害薬の推奨の原文】。ESC 2022 は、心不全のない患者では周術期低血圧を防ぐため、手術当日の RAS 阻害薬の休薬を考慮すべき（IIa, B）としている【要確認: ESC 2022 本文の推奨表の原文】。日本循環器学会 JCS 2022 も休薬を推奨する立場とされる【要確認: JCS 2022（Circ J 2023;87:1253-1337）の降圧薬の節の推奨表で、推奨クラスと何時間前か】。休薬した降圧薬は、術後の高血圧による合併症を避けるため臨床的に可能になり次第再開する。続ける場合の術中の血圧は、2024 AHA/ACC が平均動脈圧 60〜65 mmHg 以上または収縮期血圧 90 mmHg 以上を保つことを Class 1 で推奨している（要約論文 Kothari 2025 による）。</a:t>
            </a:r>
          </a:p>
          <a:p>
            <a:r>
              <a:rPr lang="ja-JP" altLang="en-US" dirty="0"/>
              <a:t>STOP-or-NOT（Legrand 2024、フランス 40 施設の RCT、2,222 例）: RAS 阻害薬を 3 か月以上内服中で大手術を受ける患者を、手術当日まで継続する群と 48 時間前に休薬する群（最終内服は手術 3 日前）に分けた。28 日以内の全死亡＋主要術後合併症は両群 22%（相対リスク 1.02）で差がなく、術中低血圧（平均動脈圧 60 mmHg 未満または昇圧薬）は継続群 54%、中止群 41% で継続群に多かった（RR 1.31、95%CI 1.19–1.44）。それ以外の評価項目（AKI、在院日数など）に差はなかった。スライドの「休薬で術後高血圧」は STOP-or-NOT ではなく、SPACE とメタ解析の結果である。SPACE 試験（Ackland 2024、262 例）では休薬しても心筋障害は減らず、急性高血圧（180 mmHg 超）が休薬群に多かった（12.4% 対 5.3%、継続の OR 0.4、95%CI 0.16–1.00 で境界域）。RCT 10 件（3,740 例）のメタ解析（Algodi 2025）でも、休薬で術中低血圧は減る（継続 51.7% 対 休薬 38.6%、8 件・3,080 例。RR 0.82）が MACE・死亡・AKI は変わらず、周術期高血圧は休薬側で多い傾向（RR 1.21、95%CI 1.00–1.46、P=0.05）。観察研究の VISION（Roshanov 2017）では 24 時間前の休薬で死亡・脳卒中・心筋障害が少なかったが、RCT では再現されなかった。POISE-3 の血圧管理戦略の比較でも、低血圧回避戦略（術中の平均動脈圧 80 mmHg 以上を目標にし、RAAS 阻害薬を術前から術後 2 日まで休薬）と高血圧回避戦略（平均動脈圧 60 mmHg 以上、全降圧薬を継続）で主要血管合併症に差はなかった（13.9% 対 14.0%）。</a:t>
            </a:r>
          </a:p>
          <a:p>
            <a:r>
              <a:rPr lang="ja-JP" altLang="en-US" dirty="0"/>
              <a:t>国内 RCT（Takeuchi 2022、106 例）: 小手術で ARB/Ca 拮抗薬の配合錠を手術まで継続すると、24 時間以内に休薬した群より昇圧薬を繰り返し要する麻酔中の低血圧が多かった。配合錠の中の ARB を見落とさない。</a:t>
            </a:r>
          </a:p>
          <a:p>
            <a:r>
              <a:rPr lang="ja-JP" altLang="en-US" dirty="0"/>
              <a:t>結論: 「休薬で術中低血圧は減るが、硬いアウトカムは変わらない」。どちらでもよいが、続けるなら導入時の低血圧に備え（フェニレフリン、ノルアドレナリン）、止めたら再開日を指示に書く（再開忘れが多い）。</a:t>
            </a:r>
          </a:p>
          <a:p>
            <a:r>
              <a:rPr lang="ja-JP" altLang="en-US" dirty="0"/>
              <a:t>参考: Legrand M, et al. JAMA 2024;332:970-978（STOP-or-NOT） / Ackland GL, et al. Eur Heart J 2024;45:1146-1155（SPACE） / Roshanov PS, et al. Anesthesiology 2017;126:16-27 / Marcucci M, et al. Ann Intern Med 2023;176:605-614（POISE-3） / Takeuchi K, et al. J Anesth 2022;36:374-382 / Algodi M, et al. Indian J Anaesth 2025;69:984-998（メタ解析） / Halvorsen S, et al. Eur Heart J 2022;43:3826-3924（ESC 2022） / Kothari P, et al. J Cardiothorac Vasc Anesth 2025;39:2408-2420（2024 AHA/ACC の要約）</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β遮断薬: 長期に安定して内服しているβ遮断薬は継続し、手術当日の朝も少量の水で飲ませる（2024 AHA/ACC Class 1）。「絶飲食だから」と当日朝の分を抜くと反跳性の頻脈・虚血を招く。サンフランシスコ退役軍人医療センター 1 施設の 38,779 手術（1996〜2008 年）の観察研究で、周術期にβ遮断薬を中止した群は 30 日死亡のオッズ比 3.93（95%CI 2.57–6.01）、1 年死亡のオッズ比 1.96（1.49–2.58）だった（Wallace 2010。リスク比ではなくオッズ比で、「急な」中止かどうかは定義に入っていない）。国内の一部のβ遮断薬の添付文書には、手術前の休薬を勧める古い記載が残っているとされる【要確認: テノーミン、メインテート、アーチスト、インデラルの PMDA 電子添文の「重要な基本的注意」に「手術前 48 時間は投与しないことが望ましい」があるか】が、休薬で死亡が増えるデータがあるので継続を優先する。国内の添付文書には、狭心症の患者で急に中止すると症状の悪化や心筋梗塞を起こした例があり、休薬がどうしても必要なら急に止めずに徐々に減量するという注意もある【要確認: 上記のβ遮断薬の電子添文「重要な基本的注意」の、急な中止と漸減についての文言】。新たに必要なら手術の少なくとも 7 日前に開始し（2b）、急ぐ必要のないβ遮断薬を手術当日に開始してはならない（3: Harm）。POISE 試験（8,351 例）では手術 2〜4 時間前から始めた徐放性メトプロロールで心筋梗塞は減った（4.2% 対 5.7%）が、死亡（3.1% 対 2.3%）と脳卒中（1.0% 対 0.5%）が増えた。</a:t>
            </a:r>
          </a:p>
          <a:p>
            <a:r>
              <a:rPr lang="ja-JP" altLang="en-US" dirty="0"/>
              <a:t>Ca 拮抗薬: 2024 AHA/ACC に正式な推奨はないが、継続が妥当（SPAQI 2022）。</a:t>
            </a:r>
          </a:p>
          <a:p>
            <a:r>
              <a:rPr lang="ja-JP" altLang="en-US" dirty="0"/>
              <a:t>利尿薬: ループ・サイアザイド・カリウム保持性利尿薬は手術当日に休薬する施設が多い（ガイドラインの明記はなく、脱水・低血圧・腎機能への懸念から）。体液過剰のある心不全では続ける。施設と循環器内科の方針に合わせる。</a:t>
            </a:r>
          </a:p>
          <a:p>
            <a:r>
              <a:rPr lang="ja-JP" altLang="en-US" dirty="0"/>
              <a:t>クロニジン: 急な中止でリバウンド高血圧を起こすので継続。周術期に低用量クロニジンを新たに始めることは推奨されない（2024 AHA/ACC Class 3）。根拠の POISE-2（10,010 例）では、低用量クロニジンを周術期に新たに始めても死亡＋非致死性心筋梗塞は減らず（HR 1.08）、臨床的に重要な低血圧（47.6% 対 37.1%）と非致死性心停止（0.3% 対 0.1%）が増えた（Devereaux 2014）。β遮断薬の POISE と同じく「長く飲んでいるものは続け、直前に新しく始めない」。</a:t>
            </a:r>
          </a:p>
          <a:p>
            <a:r>
              <a:rPr lang="ja-JP" altLang="en-US" dirty="0"/>
              <a:t>スタチン: 長期内服中は継続（Class 1）。スタチンを飲んでいない患者でも、ASCVD の既往または 10 年リスクに基づき、長期使用を前提に周術期に開始する（Class 1）。腎動脈下の大動脈手術 669 例の観察研究で、術後のスタチン中断（4 日超）は術後心筋壊死の独立した予測因子（オッズ比 2.9、95%CI 1.6–5.5、Le Manach 2007）。スライドの値はリスク比ではなくオッズ比。</a:t>
            </a:r>
          </a:p>
          <a:p>
            <a:r>
              <a:rPr lang="ja-JP" altLang="en-US" dirty="0"/>
              <a:t>血圧: 術前外来で手順どおり複数回測っても 180/110 mmHg 以上なら、待機手術を延期してかかりつけ医で評価・治療してもらう。180/110 未満なら延期しない（かかりつけ医の記録で 160/100 未満であれば十分。AAGBI/BHS 2016）。延期そのものでリスクが下がるという根拠は乏しい（Howell 2004）（→ 4-1）。</a:t>
            </a:r>
          </a:p>
          <a:p>
            <a:r>
              <a:rPr lang="ja-JP" altLang="en-US" dirty="0"/>
              <a:t>参考: Wallace AW, et al. Anesthesiology 2010;113:794-805 / POISE Study Group. Lancet 2008;371:1839-1847 / Devereaux PJ, et al. N Engl J Med 2014;370:1504-1513（POISE-2） / Le Manach Y, et al. Anesth Analg 2007;104:1326-1333 / Sahai SK, et al. Mayo Clin Proc 2022;97:1734-1751（SPAQI 心血管薬） / Hartle A, et al. Anaesthesia 2016;71:326-337（AAGBI/BHS） / Howell SJ, et al. Br J Anaesth 2004;92:570-583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対象: 英国の合同ガイドライン（Woodcock 2020）は、成人でプレドニゾロン換算 5 mg/日以上を 1 か月以上使っていると視床下部-下垂体-副腎系が抑制されうるとし、経口だけでなく吸入・点鼻・関節内・外用でも起こるとしている。ESE/Endocrine Society 2024 の合同ガイドラインでも、生化学的な副腎不全は吸入ステロイドで全体 7.8%（12 か月超の使用で 27.4%、高用量で 21.5%）、関節内注射で 52.2% にみられ（Beuschlein 2024）、経口以外の経路も聞く必要がある。GINA は、長期に高用量の吸入ステロイド（ICS）を使う患者と、過去 6 か月に経口ステロイドを 2 週を超えて使った患者に、術中のヒドロコルチゾン投与を勧めている（→ 4-9）【要確認: GINA 2024/2025 本体の手術の節の文言（should か consider か）】。資料ごとに閾値が違うので、スライドでは Woodcock の基準を軸にし、迷えば内分泌内科に相談する（講義者の運用提案）。</a:t>
            </a:r>
          </a:p>
          <a:p>
            <a:r>
              <a:rPr lang="ja-JP" altLang="en-US" dirty="0"/>
              <a:t>量: ストレス量は普段のステロイドに上乗せして投与する（代わりではない）。導入時にヒドロコルチゾン 100 mg を静注し、続いて 200 mg/24 時間を持続静注する（持続できなければ 50 mg を 6 時間ごとに静注。国内では間欠投与が多い）。持続静注は絶食の間続け、食べられるようになったら通常量の 2 倍を 48 時間（回復の遅い大手術ではより長く）経口で続けてから元の量に戻す（Woodcock 2020。ESE/ES 2024 の表も Woodcock に準拠）【要確認: Woodcock 2020 本文の表（手術の大きさ別の用量、小手術の扱い）。3-12 と共通の要確認事項】。小手術に一律 100 mg とすることには異論があり、2022 ACR/AAHKS（待機的な人工股・膝関節置換術）はストレス量を上乗せせず普段の量を続けることを勧めている（Goodman 2022）【要確認: ACR/AAHKS 2022 本文の糖質コルチコイドの推奨文】。</a:t>
            </a:r>
          </a:p>
          <a:p>
            <a:r>
              <a:rPr lang="ja-JP" altLang="en-US" dirty="0"/>
              <a:t>落とし穴: 「絶飲食」で当日朝の普段のステロイドを抜かない。カバーに使うヒドロコルチゾン（ソル・コーテフなど）はコハク酸エステル型で、NSAIDs 過敏喘息（N-ERD）では急速静注で発作が誘発されうる。安定した N-ERD 11 例への静注負荷試験で、陽性はヒドロコルチゾンコハク酸エステル 82%、メチルプレドニゾロンコハク酸エステル 50%、ヒドロコルチゾンリン酸エステル 9% で、多くは静注後 5 分以内の強い咳で始まった（Taniguchi 2023）。NSAIDs 過敏喘息ではリン酸エステル型（ヒドロコルチゾンリン酸エステル【要確認: ヒドロコルチゾンリン酸エステル製剤（水溶性ハイドロコートン注射液）の国内の販売状況と院内採用（PMDA の医療用医薬品の検索）】、デキサメタゾン、ベタメタゾン）を点滴でゆっくり投与する。リン酸エステル型でも反応はゼロではない（→ 4-9）。過剰投与の害（高血糖、感染、創治癒遅延、せん妄）も知る。</a:t>
            </a:r>
          </a:p>
          <a:p>
            <a:r>
              <a:rPr lang="ja-JP" altLang="en-US" dirty="0"/>
              <a:t>副腎不全の疑い: 術中・術後に昇圧薬に反応しない低血圧、低ナトリウム、低血糖、嘔吐、意識の変化があれば副腎不全を疑い、ヒドロコルチゾンを投与して内分泌内科に相談する。</a:t>
            </a:r>
          </a:p>
          <a:p>
            <a:r>
              <a:rPr lang="ja-JP" altLang="en-US" dirty="0"/>
              <a:t>参考: Woodcock T, et al. Anaesthesia 2020;75:654-663 / GINA Summary Guide 2024 / Beuschlein F, et al. J Clin Endocrinol Metab 2024;109:1657-1683（ESE/ES 2024） / Taniguchi M, et al. Front Allergy 2023;4:1145809 / Goodman SM, et al. Arthritis Rheumatol 2022;74:1464-1473（ACR/AAHKS 2022）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抗てんかん薬: 原則として手術当日も含めて継続する（SPAQI 2022）。同じ成分の静注製剤がある薬（レベチラセタム、ラコサミド、フェニトイン/ホスフェニトイン）は、絶食が長引けば静注に切り替える。バルプロ酸とカルバマゼピンは国内に静注製剤がないので、術後の絶食が長引く見込みなら、術前に処方医と代替薬（レベチラセタム静注など）を決めておく【要確認: イーケプラ点滴静注・ビムパット点滴静注・ホストインの電子添文の効能・効果、バルプロ酸・カルバマゼピンの静注製剤が国内にないこと、院内採用】。静注製剤は同じ成分の代替で、別の抗てんかん薬に勝手に切り替えてよいという意味ではない。バルプロ酸とカルバペネム系抗菌薬（メロペネムなど）は併用禁忌とされる【要確認: デパケン電子添文の「2. 禁忌」「10.1 併用禁忌」】。メタ解析（12 研究・633 例）では、併用開始後 1〜3 日でバルプロ酸の血中濃度が平均 43.98 mg/L 下がり、併用中の発作は 26.3% 増えた。バルプロ酸を増量しても差がなく、カルバペネムを止めても元の濃度に戻るまで 1〜2 週かかる（Chai 2021）ので、抗菌薬のほうを変える。術後感染でメロペネムを選ぶ場面で問題になる。</a:t>
            </a:r>
          </a:p>
          <a:p>
            <a:r>
              <a:rPr lang="ja-JP" altLang="en-US" dirty="0"/>
              <a:t>パーキンソン病: 抗パーキンソン病薬は急に中止してはならず、中止で悪性症候群やパーキンソニズム高熱症候群を起こしうる（国内の添付文書にも急激な減量・中止で悪性症候群の注意がある）。「絶食」の指示でレボドパが自動的に止まらないよう、当日朝も少量の水で内服させ、絶食が長引くなら日本神経学会のガイドライン（2018）のとおりレボドパ静注（ドパストン。経口レボドパ 100 mg あたり静注 50〜100 mg）で代替する。国内 DPC データでは周術期にレボドパ静注を使った群で術後在院日数が短かった（Kodama 2023。死亡・合併症には差がなかった観察研究）。制吐薬・抗精神病薬のうちドパミン拮抗作用のあるメトクロプラミド、ハロペリドール（ドロペリドールも）を避ける。国内のハロペリドール（セレネース）の電子添文では、パーキンソン病またはレビー小体型認知症の患者が禁忌とされる【要確認: セレネース電子添文の「2. 禁忌」】。メトクロプラミドは「禁忌」とは書かず「避ける」とする。</a:t>
            </a:r>
          </a:p>
          <a:p>
            <a:r>
              <a:rPr lang="ja-JP" altLang="en-US" dirty="0"/>
              <a:t>MAO-B 阻害薬: セレギリン（エフピー）の電子添文では、次の薬を投与中の患者が禁忌（検索の抜粋で確認）: ペチジン・トラマドール・タペンタドール、ほかの MAO-B 阻害薬（ラサギリン・サフィナミド）、三環系・四環系抗うつ薬、SSRI、ボルチオキセチン、SNRI、ミルタザピン、アトモキセチン。セレギリンを止めてからこれらを始めるまで少なくとも 14 日あける【要確認: エフピー OD 錠の「2. 禁忌」の原文と、ラサギリン（アジレクト）・サフィナミド（エクフィナ）での抗うつ薬の区分】。術後鎮痛にトラマドール（トラムセットを含む）を出さない。行 4 の抗うつ薬とセレギリンを両方飲んでいたら処方医に確認する。昇圧薬: 非選択的 MAO 阻害薬では、間接型交感神経作動薬（エフェドリン）は高血圧クリーゼのため強い禁忌。常用量の選択的 MAO-B 阻害薬ではリスクは低いとされるが、高用量のセレギリンは非選択的になる（Jung 2025）ので、エフェドリンは避けるか少量から使い、直接型（フェニレフリン）を第一選択にする。処方した精神科医・脳神経内科医に相談せずに中止しない。</a:t>
            </a:r>
          </a:p>
          <a:p>
            <a:r>
              <a:rPr lang="ja-JP" altLang="en-US" dirty="0"/>
              <a:t>SSRI・SNRI・三環系: 中断症状や再燃を避けるため周術期も継続する。SSRI は血小板のセロトニン取り込みを阻害して出血リスクを上げるので、出血リスクの高い手術や抗血栓薬・NSAIDs の併用では個別に判断する。セロトニン症候群は MAO 阻害薬や三環系との併用が最も危険で、トラマドール、ペチジン、オンダンセトロン、リネゾリド、メチレンブルー（術中の色素や血管拡張性ショックの治療で使う）でも起こりうる。メチレンブルー投与後に急性錯乱を起こした 26 例のうち、24 例がセロトニン再取り込み阻害薬（SSRI・SNRI など）を、1 例がクロミプラミンを内服しており、25 例すべてでセロトニン症候群が考えられた（Ng 2010）。FDA は 2011 年に精神科の薬との併用を警告したとされる。国内のメチレンブルー静注 50 mg の電子添文では、SSRI・SNRI などのセロトニン作動薬は禁忌ではなく併用注意（10.2）とされる【要確認: メチレンブルー静注 50 mg の電子添文「10.2 併用注意」に挙がる薬剤名（SSRI・SNRI・三環系・MAO 阻害薬など）の範囲】。SSRI とトラマドールは国内では併用注意とされる【要確認: トラマール・トラムセットの電子添文「10.2 併用注意」に SSRI・SNRI が載っているか】が、セロトニン症候群を避けるため術後鎮痛ではほかの鎮痛薬を優先する。術後の高体温・振戦・クローヌス・錯乱をせん妄と見誤らない。三環系は間接型昇圧薬の作用を増強するので直接型も少量から。</a:t>
            </a:r>
          </a:p>
          <a:p>
            <a:r>
              <a:rPr lang="ja-JP" altLang="en-US" dirty="0"/>
              <a:t>リチウム: Dominicus 2026 は手術を 3 段階に分ける。低リスク（膝関節鏡、ヘルニア、乳腺、眼科など）は量を変えずに継続。中等度リスク（人工膝・股関節、腹腔鏡下腹部手術など）は前日の夕方から休薬し、術後 1 日目に再開。高リスク（大量出血・大きな体液シフト・術後に経口摂取できない）は 72 時間前（少なくとも 24 時間前）に中止する（半減期 24〜36 時間）。スライドの表には低リスクと高リスクだけを載せたので、中等度リスクの手術で 72 時間前に止める過剰な休薬をしない。緊急手術では中止して、できるだけ早く血中濃度を測る。治療域は狭く、成人では維持療法 0.6〜0.8、急性期 0.8〜1.2 mmol/L、60〜79 歳は 0.4〜0.8、80 歳以上は 0.4〜0.7 mmol/L（Dominicus 2026）。中毒症状はおおむね 1.5〜2.0 mmol/L を超えると出るが、高齢者では治療域でも起こる。2 mmol/L を超えると筋力低下・失調・QRS 幅の拡大（Jung 2025）。脱水、AKI、NSAIDs、ACE 阻害薬・ARB、サイアザイド、メトロニダゾールで蓄積する。周術期の鎮痛に NSAIDs を使わない（Dominicus 2026）。再開は K・Na が正常でクレアチニンが術前値に戻り、十分に飲水できてから血中濃度を見ながら。筋弛緩薬は TOF をモニターする。</a:t>
            </a:r>
          </a:p>
          <a:p>
            <a:r>
              <a:rPr lang="ja-JP" altLang="en-US" dirty="0"/>
              <a:t>参考: Oprea AD, et al. Mayo Clin Proc 2022;97:375-396（SPAQI 神経疾患薬） / Oprea AD, et al. Mayo Clin Proc 2022;97:397-416（SPAQI 精神科薬） / Kodama ら. Mov Disord Clin Pract 2023;10:1650 / Jung SM, Park SJ. J Yeungnam Med Sci 2025;42:70 / Ng BK, Cameron AJ. Psychosomatics 2010;51:194-200 / Chai PY, et al. Expert Opin Drug Saf 2021;20:215-223 / Dominicus LS, et al. Bipolar Disord 2026;28:e70087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甲状腺: レボチロキシンは半減期が約 7 日と長く、手術当日の 1 回分を飲めなくても問題は少なく、術後数日抜けてもよい。経腸投与ができない状態が 5 日を超えたら経口量の 60〜80% を静注する（国内の注射剤の適応と採用は施設差がある【要確認: 国内のレボチロキシン注射剤（チラーヂン S 静注液）の電子添文の効能・効果と院内採用】）。抗甲状腺薬（チアマゾール・PTU）は周術期も継続する。顕性の甲状腺機能亢進症・低下症では待機手術を機能が正常化するまで延期する（Palace 2017）。</a:t>
            </a:r>
          </a:p>
          <a:p>
            <a:r>
              <a:rPr lang="ja-JP" altLang="en-US" dirty="0"/>
              <a:t>女性ホルモン: エチニルエストラジオールを含む製剤（低用量ピル、月経困難症の LEP）は、国内添付文書で「手術前 4 週以内、術後 2 週以内、産後 4 週以内および長期間安静状態の患者」が禁忌（血液凝固能の亢進）。待機手術は手術予約の時点で確認し、当日に気づいても遅い。緊急手術では静脈血栓塞栓症の予防を強化する。ヤーズ・ルナベルなど、エチニルエストラジオールを含む製剤はいずれも禁忌（2.11）で、病院資料にある「ヤーズは慎重投与」という記載は採らない。エストロゲンを含まない製剤（ジエノゲスト単剤など）はこの禁忌の対象外とされる【要確認: ディナゲストの電子添文の「2. 禁忌」】。米国の一部の院内プロトコル（Froedtert 2020。Rea 2024 の心臓手術のオーダーセットが引用）は、経口エストロゲン（避妊薬・閉経後のホルモン療法）を 6 週前に休薬とするが、国内は添付文書の 4 週に従う。ラロキシフェン（骨粗鬆症）は添付文書で長期不動状態に入る 3 日前に中止し、完全に歩行できるまで再開しない【要確認: エビスタ電子添文の「8. 重要な基本的注意」】。高齢女性の骨折手術では見落としやすく、入院時に中止して VTE 予防を強化する。</a:t>
            </a:r>
          </a:p>
          <a:p>
            <a:r>
              <a:rPr lang="ja-JP" altLang="en-US" dirty="0"/>
              <a:t>漢方: 甘草を 1 日 2.5 g 以上含む漢方製剤は偽アルドステロン症（低カリウム、高血圧、ミオパチー）のため、アルドステロン症・ミオパチー・低カリウム血症の患者が禁忌。芍薬甘草湯は甘草 6.0 g/日（ツムラ芍薬甘草湯 7.5 g/日中。Shimada 2022）。複数の漢方薬で甘草が重複していることがある。術前の K と心電図を確認する。医療用の漢方製剤は一律に止めない。麻黄（エフェドリンを含む。葛根湯、麻黄湯、小青竜湯など）を含むものは中止を考え、甘草を含むものは K を確かめ、処方医と相談する。大建中湯のように周術期に使う漢方もある。医療用漢方製剤を一律に 1〜2 週前に止めるという国内の資料は見つかっていない（講義者の運用提案）。</a:t>
            </a:r>
          </a:p>
          <a:p>
            <a:r>
              <a:rPr lang="ja-JP" altLang="en-US" dirty="0"/>
              <a:t>サプリ・ハーブ: ニンニク・イチョウ葉・朝鮮人参は出血リスク、エフェドラ（麻黄）は循環の不安定化、カバ・バレリアンは麻酔薬の鎮静作用の増強、セント・ジョーンズ・ワートは多くの薬の代謝を促進する（Ang-Lee 2001）。Ang-Lee 2001 の表では、休止期間は少なくともエフェドラ（麻黄）24 時間、カバ 24 時間、イチョウ葉 36 時間、セント・ジョーンズ・ワート 5 日、ニンニク・朝鮮人参 7 日。ASA に正式なガイドラインはないが、患者向け資料は少なくとも 2 週間前の中止を勧めている（ASA・AANA として 1〜2 週前とする総説もある: Elvir Lazo 2024）。SPAQI 2021 は「効果が示されていないものは術前に一時中止しても失うものは少ない」とし、患者は自分から申告しないので具体的に尋ねる。</a:t>
            </a:r>
          </a:p>
          <a:p>
            <a:r>
              <a:rPr lang="ja-JP" altLang="en-US" dirty="0"/>
              <a:t>吸入薬: 吸入ステロイド、β2 刺激薬、抗コリン薬、ロイコトリエン拮抗薬は手術当日も含めて継続し、入院時に吸入器を持参させる（→ 4-9）。吸入ステロイドもステロイドカバーの判断で数える。テオフィリンは前日から休薬するプロトコルがある。</a:t>
            </a:r>
          </a:p>
          <a:p>
            <a:r>
              <a:rPr lang="ja-JP" altLang="en-US" dirty="0"/>
              <a:t>参考: Palace MR. Health Serv Insights 2017;10 / Ang-Lee MK, et al. JAMA 2001;286:208-216 / Cummings KC, et al. Mayo Clin Proc 2021;96:1342-1355（SPAQI サプリメント） / Pfeifer KJ, et al. Mayo Clin Proc 2021;96:3158-3177（SPAQI 消化器・呼吸器薬） / Shimada Y. Intern Med 2022;61:29-35 / Elvir Lazo OL, et al. J Clin Anesth 2024;95:111473 / Rea A, et al. JTCVS Open 2024;22:1-13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書き方: 薬ごとに「当日飲む」「いつから止める」「いつ再開する」「誰に相談したか」を書く。「内服は中止」と一括して指示すると、β遮断薬・抗てんかん薬・レボドパ・ステロイドが止まって反跳や離脱、副腎不全を招く。当日の内服は少量の水（約 50〜100 mL）で、絶飲食の指示（→ 4-3）と矛盾しないように書く。</a:t>
            </a:r>
          </a:p>
          <a:p>
            <a:r>
              <a:rPr lang="ja-JP" altLang="en-US" dirty="0"/>
              <a:t>ACE 阻害薬・ARB: 休薬するなら手術 24 時間前から（国内添付文書の「手術前 24 時間は投与しないことが望ましい」、2024 AHA/ACC の 24 時間前の休薬（2b））。朝 1 回なら当日朝を抜けばよいが、夕方に飲む患者では当日朝を抜くだけでは 24 時間にならないので前日夕から抜く。S2 のとおり継続も選べるので、休薬するかどうかは施設の方針で決め、再開日を書く。HFrEF では続け、循環器内科に相談する。</a:t>
            </a:r>
          </a:p>
          <a:p>
            <a:r>
              <a:rPr lang="ja-JP" altLang="en-US" dirty="0"/>
              <a:t>リチウム: 72 時間前に止めるのは大量出血・大きな体液シフト・術後に経口摂取できない手術。人工関節・腹腔鏡などの中等度リスクは前日夕から休薬して術後 1 日目に再開、小手術は継続（Dominicus 2026、→ S5）。</a:t>
            </a:r>
          </a:p>
          <a:p>
            <a:r>
              <a:rPr lang="ja-JP" altLang="en-US" dirty="0"/>
              <a:t>レボチロキシン: 飲めるなら当日も飲むが、半減期が約 7 日と長いので 1 回抜けても問題は少ない（→ S6）。</a:t>
            </a:r>
          </a:p>
          <a:p>
            <a:r>
              <a:rPr lang="ja-JP" altLang="en-US" dirty="0"/>
              <a:t>漢方・サプリ: サプリは 1〜2 週前に止める。医療用の漢方製剤は一律に止めず、麻黄を含むものは中止を考え、甘草を含むものは K を確かめ、処方医と相談する（→ S6）。</a:t>
            </a:r>
          </a:p>
          <a:p>
            <a:r>
              <a:rPr lang="ja-JP" altLang="en-US" dirty="0"/>
              <a:t>止めたら再開: RAAS 阻害薬・利尿薬・SGLT2 阻害薬・リチウムは再開日まで書かないと止めっぱなしになる。</a:t>
            </a:r>
          </a:p>
          <a:p>
            <a:r>
              <a:rPr lang="ja-JP" altLang="en-US" dirty="0"/>
              <a:t>相談: 自己判断で中止しない。HFrEF・不整脈の薬は循環器内科、副腎不全は内分泌内科、パーキンソン病は脳神経内科、リチウム・MAO 阻害薬・抗精神病薬は精神科、てんかん・漢方は処方医に相談し、相談した事実を記録する。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分）。ACE 阻害薬・ARB は休薬（するなら 24 時間前から）でも継続でも硬いアウトカムは変わらず（STOP-or-NOT）、続けるなら導入時の低血圧に備え、止めたら再開日を書く。配合錠の中の ARB を見落とさない。β遮断薬・Ca 拮抗薬・スタチン・吸入薬・抗てんかん薬・レボドパ・SSRI・甲状腺薬は当日も少量の水で飲み、利尿薬は当日休薬が一般的。ステロイドカバーはプレドニゾロン換算 5 mg/日以上を 1 か月以上（吸入・外用も）で、普段の量に上乗せしてヒドロコルチゾンを投与する。パーキンソン病はレボドパを止めない。MAO-B 阻害薬（セレギリン・ラサギリン・サフィナミド）では、ペチジン・トラマドール・タペンタドールが禁忌（中止後 14 日あける）で、セレギリンは抗うつ薬の多く（三環系・SSRI・SNRI・ミルタザピン）とも併用禁忌。SSRI・SNRI 内服中は、トラマドール・ペチジン・メチレンブルーでセロトニン症候群が起こりうるので、ほかの鎮痛薬を優先する。エフェドリンよりフェニレフリンを使う。リチウムは大量出血・大きな体液シフト・術後に経口摂取できない手術で 72 時間前（人工関節・腹腔鏡などは前日夕から、小手術は継続）、低用量ピルは 4 週前、サプリは 1〜2 週前に止め、漢方は処方医と相談して麻黄を含むものは中止を考え、甘草の低カリウムを確かめる。指示は薬ごとに「飲む・止める・再開・相談相手」を書く。4 章はここまで。次は 5 章（術後管理・鎮痛）。</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常用薬③：その他</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4-14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ACE 阻害薬・ARB の扱い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Legrand M, et al. JAMA 2024;332:970-978（STOP-or-NOT） / Thompson A,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Circulation 2024;150:e351-e442（2024 AHA/ACC） / 各 ACE 阻害薬・ARB の添付文書（PMDA）</a:t>
            </a:r>
            <a:endParaRPr lang="ja-JP" sz="1600" dirty="0"/>
          </a:p>
        </p:txBody>
      </p:sp>
      <p:sp>
        <p:nvSpPr>
          <p:cNvPr id="11" name="Text 9"/>
          <p:cNvSpPr txBox="1"/>
          <p:nvPr/>
        </p:nvSpPr>
        <p:spPr>
          <a:xfrm>
            <a:off x="502920" y="1691640"/>
            <a:ext cx="11155680" cy="3063240"/>
          </a:xfrm>
          <a:prstGeom prst="rect">
            <a:avLst/>
          </a:prstGeom>
          <a:noFill/>
          <a:ln/>
        </p:spPr>
        <p:txBody>
          <a:bodyPr wrap="square" lIns="0" tIns="0" rIns="0" bIns="0" rtlCol="0" anchor="t"/>
          <a:lstStyle/>
          <a:p>
            <a:pPr algn="l" marL="355600" indent="-355600">
              <a:spcAft>
                <a:spcPts val="5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国内添付文書：</a:t>
            </a:r>
            <a:r>
              <a:rPr lang="ja-JP" altLang="en-US" sz="2400" dirty="0">
                <a:solidFill>
                  <a:srgbClr val="262626"/>
                </a:solidFill>
                <a:latin typeface="メイリオ" pitchFamily="34" charset="0"/>
                <a:ea typeface="メイリオ" pitchFamily="34" charset="-122"/>
                <a:cs typeface="メイリオ" pitchFamily="34" charset="-120"/>
              </a:rPr>
              <a:t>『手術前 24 時間は投与しないことが望ましい』</a:t>
            </a:r>
            <a:endParaRPr lang="ja-JP" sz="2400" dirty="0"/>
          </a:p>
          <a:p>
            <a:pPr algn="l" marL="355600" indent="-355600">
              <a:spcAft>
                <a:spcPts val="5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AHA/ACC 2024：</a:t>
            </a:r>
            <a:r>
              <a:rPr lang="ja-JP" altLang="en-US" sz="2400" dirty="0">
                <a:solidFill>
                  <a:srgbClr val="262626"/>
                </a:solidFill>
                <a:latin typeface="メイリオ" pitchFamily="34" charset="0"/>
                <a:ea typeface="メイリオ" pitchFamily="34" charset="-122"/>
                <a:cs typeface="メイリオ" pitchFamily="34" charset="-120"/>
              </a:rPr>
              <a:t>高血圧は 24 時間前休薬を考慮（2b）</a:t>
            </a:r>
            <a:endParaRPr lang="ja-JP" sz="2400" dirty="0"/>
          </a:p>
          <a:p>
            <a:pPr algn="l" marL="355600" indent="-355600">
              <a:spcAft>
                <a:spcPts val="5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HFrEF は継続（2a）</a:t>
            </a:r>
            <a:r>
              <a:rPr lang="ja-JP" altLang="en-US" sz="2400" dirty="0">
                <a:solidFill>
                  <a:srgbClr val="262626"/>
                </a:solidFill>
                <a:latin typeface="メイリオ" pitchFamily="34" charset="0"/>
                <a:ea typeface="メイリオ" pitchFamily="34" charset="-122"/>
                <a:cs typeface="メイリオ" pitchFamily="34" charset="-120"/>
              </a:rPr>
              <a:t>。</a:t>
            </a:r>
            <a:r>
              <a:rPr lang="ja-JP" altLang="en-US" sz="2400" b="1" dirty="0">
                <a:solidFill>
                  <a:srgbClr val="0072B2"/>
                </a:solidFill>
                <a:latin typeface="メイリオ" pitchFamily="34" charset="0"/>
                <a:ea typeface="メイリオ" pitchFamily="34" charset="-122"/>
                <a:cs typeface="メイリオ" pitchFamily="34" charset="-120"/>
              </a:rPr>
              <a:t>ESC 2022：</a:t>
            </a:r>
            <a:r>
              <a:rPr lang="ja-JP" altLang="en-US" sz="2400" dirty="0">
                <a:solidFill>
                  <a:srgbClr val="262626"/>
                </a:solidFill>
                <a:latin typeface="メイリオ" pitchFamily="34" charset="0"/>
                <a:ea typeface="メイリオ" pitchFamily="34" charset="-122"/>
                <a:cs typeface="メイリオ" pitchFamily="34" charset="-120"/>
              </a:rPr>
              <a:t>心不全なしは当日休薬（IIa）</a:t>
            </a:r>
            <a:endParaRPr lang="ja-JP" sz="2400" dirty="0"/>
          </a:p>
          <a:p>
            <a:pPr algn="l" marL="355600" indent="-355600">
              <a:spcAft>
                <a:spcPts val="5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STOP-or-NOT：</a:t>
            </a:r>
            <a:r>
              <a:rPr lang="ja-JP" altLang="en-US" sz="2400" dirty="0">
                <a:solidFill>
                  <a:srgbClr val="262626"/>
                </a:solidFill>
                <a:latin typeface="メイリオ" pitchFamily="34" charset="0"/>
                <a:ea typeface="メイリオ" pitchFamily="34" charset="-122"/>
                <a:cs typeface="メイリオ" pitchFamily="34" charset="-120"/>
              </a:rPr>
              <a:t>続けても止めても死亡・合併症は </a:t>
            </a:r>
            <a:r>
              <a:rPr lang="ja-JP" altLang="en-US" sz="2400" b="1" dirty="0">
                <a:solidFill>
                  <a:srgbClr val="D55E00"/>
                </a:solidFill>
                <a:latin typeface="メイリオ" pitchFamily="34" charset="0"/>
                <a:ea typeface="メイリオ" pitchFamily="34" charset="-122"/>
                <a:cs typeface="メイリオ" pitchFamily="34" charset="-120"/>
              </a:rPr>
              <a:t>22% で同じ</a:t>
            </a:r>
            <a:endParaRPr lang="ja-JP" sz="2400" dirty="0"/>
          </a:p>
          <a:p>
            <a:pPr algn="l" marL="355600" indent="-355600">
              <a:spcAft>
                <a:spcPts val="5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術中低血圧は継続 54%・休薬 41%。</a:t>
            </a:r>
            <a:r>
              <a:rPr lang="ja-JP" altLang="en-US" sz="2400" b="1" dirty="0">
                <a:solidFill>
                  <a:srgbClr val="0072B2"/>
                </a:solidFill>
                <a:latin typeface="メイリオ" pitchFamily="34" charset="0"/>
                <a:ea typeface="メイリオ" pitchFamily="34" charset="-122"/>
                <a:cs typeface="メイリオ" pitchFamily="34" charset="-120"/>
              </a:rPr>
              <a:t>SPACE：</a:t>
            </a:r>
            <a:r>
              <a:rPr lang="ja-JP" altLang="en-US" sz="2400" dirty="0">
                <a:solidFill>
                  <a:srgbClr val="262626"/>
                </a:solidFill>
                <a:latin typeface="メイリオ" pitchFamily="34" charset="0"/>
                <a:ea typeface="メイリオ" pitchFamily="34" charset="-122"/>
                <a:cs typeface="メイリオ" pitchFamily="34" charset="-120"/>
              </a:rPr>
              <a:t>休薬で術後高血圧が多め</a:t>
            </a:r>
            <a:endParaRPr lang="ja-JP" sz="2400" dirty="0"/>
          </a:p>
          <a:p>
            <a:pPr algn="l" marL="355600" indent="-355600">
              <a:spcAft>
                <a:spcPts val="5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配合錠（ARB＋Ca 拮抗薬、ARNI）の</a:t>
            </a:r>
            <a:r>
              <a:rPr lang="ja-JP" altLang="en-US" sz="2400" b="1" dirty="0">
                <a:solidFill>
                  <a:srgbClr val="D55E00"/>
                </a:solidFill>
                <a:latin typeface="メイリオ" pitchFamily="34" charset="0"/>
                <a:ea typeface="メイリオ" pitchFamily="34" charset="-122"/>
                <a:cs typeface="メイリオ" pitchFamily="34" charset="-120"/>
              </a:rPr>
              <a:t>中身を見落とさない</a:t>
            </a:r>
            <a:endParaRPr lang="ja-JP" sz="2400" dirty="0"/>
          </a:p>
        </p:txBody>
      </p:sp>
      <p:sp>
        <p:nvSpPr>
          <p:cNvPr id="12" name="Shape 10"/>
          <p:cNvSpPr/>
          <p:nvPr/>
        </p:nvSpPr>
        <p:spPr>
          <a:xfrm>
            <a:off x="502920" y="5029200"/>
            <a:ext cx="11183112" cy="859536"/>
          </a:xfrm>
          <a:prstGeom prst="roundRect">
            <a:avLst>
              <a:gd name="adj" fmla="val 10638"/>
            </a:avLst>
          </a:prstGeom>
          <a:solidFill>
            <a:srgbClr val="FFFFFF"/>
          </a:solidFill>
          <a:ln w="44450">
            <a:solidFill>
              <a:srgbClr val="00A8AA"/>
            </a:solidFill>
            <a:prstDash val="solid"/>
          </a:ln>
        </p:spPr>
      </p:sp>
      <p:sp>
        <p:nvSpPr>
          <p:cNvPr id="13" name="Text 11"/>
          <p:cNvSpPr txBox="1"/>
          <p:nvPr/>
        </p:nvSpPr>
        <p:spPr>
          <a:xfrm>
            <a:off x="566928" y="5065776"/>
            <a:ext cx="11055096" cy="420624"/>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どちらでもよいが、続けるなら導入時の低血圧に備える。</a:t>
            </a:r>
            <a:endParaRPr lang="ja-JP" sz="2400" dirty="0"/>
          </a:p>
        </p:txBody>
      </p:sp>
      <p:sp>
        <p:nvSpPr>
          <p:cNvPr id="14" name="Text 12"/>
          <p:cNvSpPr txBox="1"/>
          <p:nvPr/>
        </p:nvSpPr>
        <p:spPr>
          <a:xfrm>
            <a:off x="566928" y="5431536"/>
            <a:ext cx="11055096" cy="420624"/>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止めたら再開日を書く</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ほかの降圧薬とスタチン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 / POISE Study Group.</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Lancet 2008;371:1839-1847 / Sahai SK, et al. Mayo Clin Proc 2022;97:1734-1751（SPAQI）</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1717243"/>
                <a:gridCol w="1892808"/>
                <a:gridCol w="7545629"/>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当日</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理由</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088136">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β遮断薬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続ける（I）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周術期の中止で 30 日死亡のオッズ比 3.93</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（観察研究）。当日の新規開始は害（POISE）。</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始めるなら 7 日以上前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Ca 拮抗薬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続ける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中止の利益はない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利尿薬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当日は休薬</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が一般的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脱水・低血圧・腎機能。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溢水のある心不全では続ける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クロニジン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続ける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急な中止でリバウンド高血圧。新規開始は無益（3）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スタチン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続ける</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（I）。</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当日朝も</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術後 4 日超の中断で心筋壊死の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オッズ比 2.9（大動脈手術）。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ASCVD または 10 年リスクで適応があれば開始（I）</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ステロイドカバー</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Woodcock T, et al. Anaesthesia 2020;75:654-663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Beuschlein F, et al. J Clin Endocrinol Metab 2024;109:1657-1683（ESE/ES） / GINA 2024</a:t>
            </a:r>
            <a:endParaRPr lang="ja-JP" sz="1600" dirty="0"/>
          </a:p>
        </p:txBody>
      </p:sp>
      <p:sp>
        <p:nvSpPr>
          <p:cNvPr id="11" name="Shape 9"/>
          <p:cNvSpPr/>
          <p:nvPr/>
        </p:nvSpPr>
        <p:spPr>
          <a:xfrm>
            <a:off x="502920" y="5029200"/>
            <a:ext cx="11183112" cy="859536"/>
          </a:xfrm>
          <a:prstGeom prst="roundRect">
            <a:avLst>
              <a:gd name="adj" fmla="val 10638"/>
            </a:avLst>
          </a:prstGeom>
          <a:solidFill>
            <a:srgbClr val="FFFFFF"/>
          </a:solidFill>
          <a:ln w="44450">
            <a:solidFill>
              <a:srgbClr val="C00000"/>
            </a:solidFill>
            <a:prstDash val="solid"/>
          </a:ln>
        </p:spPr>
      </p:sp>
      <p:sp>
        <p:nvSpPr>
          <p:cNvPr id="12" name="Text 10"/>
          <p:cNvSpPr txBox="1"/>
          <p:nvPr/>
        </p:nvSpPr>
        <p:spPr>
          <a:xfrm>
            <a:off x="566928" y="5065776"/>
            <a:ext cx="11055096" cy="420624"/>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術中・術後の昇圧薬に反応しない低血圧、低 Na、低血糖、嘔吐</a:t>
            </a:r>
            <a:endParaRPr lang="ja-JP" sz="2400" dirty="0"/>
          </a:p>
        </p:txBody>
      </p:sp>
      <p:sp>
        <p:nvSpPr>
          <p:cNvPr id="13" name="Text 11"/>
          <p:cNvSpPr txBox="1"/>
          <p:nvPr/>
        </p:nvSpPr>
        <p:spPr>
          <a:xfrm>
            <a:off x="566928" y="5431536"/>
            <a:ext cx="11055096" cy="420624"/>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 </a:t>
            </a:r>
            <a:r>
              <a:rPr lang="ja-JP" altLang="en-US" sz="2400" b="1" dirty="0">
                <a:solidFill>
                  <a:srgbClr val="C00000"/>
                </a:solidFill>
                <a:latin typeface="メイリオ" pitchFamily="34" charset="0"/>
                <a:ea typeface="メイリオ" pitchFamily="34" charset="-122"/>
                <a:cs typeface="メイリオ" pitchFamily="34" charset="-120"/>
              </a:rPr>
              <a:t>副腎不全を疑って</a:t>
            </a:r>
            <a:r>
              <a:rPr lang="ja-JP" altLang="en-US" sz="2400" b="1" dirty="0">
                <a:solidFill>
                  <a:srgbClr val="262626"/>
                </a:solidFill>
                <a:latin typeface="メイリオ" pitchFamily="34" charset="0"/>
                <a:ea typeface="メイリオ" pitchFamily="34" charset="-122"/>
                <a:cs typeface="メイリオ" pitchFamily="34" charset="-120"/>
              </a:rPr>
              <a:t>ヒドロコルチゾン</a:t>
            </a:r>
            <a:endParaRPr lang="ja-JP" sz="2400" dirty="0"/>
          </a:p>
        </p:txBody>
      </p:sp>
      <p:sp>
        <p:nvSpPr>
          <p:cNvPr id="14" name="Shape 12"/>
          <p:cNvSpPr/>
          <p:nvPr/>
        </p:nvSpPr>
        <p:spPr>
          <a:xfrm>
            <a:off x="502920" y="1664208"/>
            <a:ext cx="4100170" cy="3145536"/>
          </a:xfrm>
          <a:prstGeom prst="roundRect">
            <a:avLst>
              <a:gd name="adj" fmla="val 2326"/>
            </a:avLst>
          </a:prstGeom>
          <a:solidFill>
            <a:srgbClr val="F2F2F2"/>
          </a:solidFill>
          <a:ln/>
        </p:spPr>
      </p:sp>
      <p:sp>
        <p:nvSpPr>
          <p:cNvPr id="15" name="Text 13"/>
          <p:cNvSpPr txBox="1"/>
          <p:nvPr/>
        </p:nvSpPr>
        <p:spPr>
          <a:xfrm>
            <a:off x="594360" y="1737360"/>
            <a:ext cx="3917290"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誰に</a:t>
            </a:r>
            <a:endParaRPr lang="ja-JP" sz="2400" dirty="0"/>
          </a:p>
        </p:txBody>
      </p:sp>
      <p:sp>
        <p:nvSpPr>
          <p:cNvPr id="16" name="Text 14"/>
          <p:cNvSpPr txBox="1"/>
          <p:nvPr/>
        </p:nvSpPr>
        <p:spPr>
          <a:xfrm>
            <a:off x="594360"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850392" y="2157984"/>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プレドニゾロン換算</a:t>
            </a:r>
            <a:endParaRPr lang="ja-JP" sz="2200" dirty="0"/>
          </a:p>
        </p:txBody>
      </p:sp>
      <p:sp>
        <p:nvSpPr>
          <p:cNvPr id="18" name="Text 16"/>
          <p:cNvSpPr txBox="1"/>
          <p:nvPr/>
        </p:nvSpPr>
        <p:spPr>
          <a:xfrm>
            <a:off x="850392" y="2493569"/>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5 mg/日以上を 1 か月以上</a:t>
            </a:r>
            <a:endParaRPr lang="ja-JP" sz="2200" dirty="0"/>
          </a:p>
        </p:txBody>
      </p:sp>
      <p:sp>
        <p:nvSpPr>
          <p:cNvPr id="19" name="Text 17"/>
          <p:cNvSpPr txBox="1"/>
          <p:nvPr/>
        </p:nvSpPr>
        <p:spPr>
          <a:xfrm>
            <a:off x="594360" y="294345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850392" y="2943454"/>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経口だけでなく吸入・</a:t>
            </a:r>
            <a:endParaRPr lang="ja-JP" sz="2200" dirty="0"/>
          </a:p>
        </p:txBody>
      </p:sp>
      <p:sp>
        <p:nvSpPr>
          <p:cNvPr id="21" name="Text 19"/>
          <p:cNvSpPr txBox="1"/>
          <p:nvPr/>
        </p:nvSpPr>
        <p:spPr>
          <a:xfrm>
            <a:off x="850392" y="3279038"/>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点鼻・関節内・外用も</a:t>
            </a:r>
            <a:endParaRPr lang="ja-JP" sz="2200" dirty="0"/>
          </a:p>
        </p:txBody>
      </p:sp>
      <p:sp>
        <p:nvSpPr>
          <p:cNvPr id="22" name="Text 20"/>
          <p:cNvSpPr txBox="1"/>
          <p:nvPr/>
        </p:nvSpPr>
        <p:spPr>
          <a:xfrm>
            <a:off x="594360" y="372983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850392" y="3729838"/>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過去 6 か月に経口</a:t>
            </a:r>
            <a:endParaRPr lang="ja-JP" sz="2200" dirty="0"/>
          </a:p>
        </p:txBody>
      </p:sp>
      <p:sp>
        <p:nvSpPr>
          <p:cNvPr id="24" name="Text 22"/>
          <p:cNvSpPr txBox="1"/>
          <p:nvPr/>
        </p:nvSpPr>
        <p:spPr>
          <a:xfrm>
            <a:off x="850392" y="4064508"/>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週超・長期の高用量</a:t>
            </a:r>
            <a:endParaRPr lang="ja-JP" sz="2200" dirty="0"/>
          </a:p>
        </p:txBody>
      </p:sp>
      <p:sp>
        <p:nvSpPr>
          <p:cNvPr id="25" name="Text 23"/>
          <p:cNvSpPr txBox="1"/>
          <p:nvPr/>
        </p:nvSpPr>
        <p:spPr>
          <a:xfrm>
            <a:off x="850392" y="4400093"/>
            <a:ext cx="366125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ICS（GINA）</a:t>
            </a:r>
            <a:endParaRPr lang="ja-JP" sz="2200" dirty="0"/>
          </a:p>
        </p:txBody>
      </p:sp>
      <p:sp>
        <p:nvSpPr>
          <p:cNvPr id="26" name="Shape 24"/>
          <p:cNvSpPr/>
          <p:nvPr/>
        </p:nvSpPr>
        <p:spPr>
          <a:xfrm>
            <a:off x="4822546" y="1664208"/>
            <a:ext cx="6863486" cy="3145536"/>
          </a:xfrm>
          <a:prstGeom prst="roundRect">
            <a:avLst>
              <a:gd name="adj" fmla="val 2326"/>
            </a:avLst>
          </a:prstGeom>
          <a:solidFill>
            <a:srgbClr val="F2F2F2"/>
          </a:solidFill>
          <a:ln/>
        </p:spPr>
      </p:sp>
      <p:sp>
        <p:nvSpPr>
          <p:cNvPr id="27" name="Text 25"/>
          <p:cNvSpPr txBox="1"/>
          <p:nvPr/>
        </p:nvSpPr>
        <p:spPr>
          <a:xfrm>
            <a:off x="4913986" y="1737360"/>
            <a:ext cx="6680606"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どう投与するか（Woodcock 2020）</a:t>
            </a:r>
            <a:endParaRPr lang="ja-JP" sz="2400" dirty="0"/>
          </a:p>
        </p:txBody>
      </p:sp>
      <p:sp>
        <p:nvSpPr>
          <p:cNvPr id="28" name="Text 26"/>
          <p:cNvSpPr txBox="1"/>
          <p:nvPr/>
        </p:nvSpPr>
        <p:spPr>
          <a:xfrm>
            <a:off x="4913986"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5170018" y="2157984"/>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普段のステロイドは当日朝も飲む。</a:t>
            </a:r>
            <a:endParaRPr lang="ja-JP" sz="2200" dirty="0"/>
          </a:p>
        </p:txBody>
      </p:sp>
      <p:sp>
        <p:nvSpPr>
          <p:cNvPr id="30" name="Text 28"/>
          <p:cNvSpPr txBox="1"/>
          <p:nvPr/>
        </p:nvSpPr>
        <p:spPr>
          <a:xfrm>
            <a:off x="5170018" y="2493569"/>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カバーは</a:t>
            </a:r>
            <a:r>
              <a:rPr lang="ja-JP" altLang="en-US" sz="2200" b="1" dirty="0">
                <a:solidFill>
                  <a:srgbClr val="D55E00"/>
                </a:solidFill>
                <a:latin typeface="メイリオ" pitchFamily="34" charset="0"/>
                <a:ea typeface="メイリオ" pitchFamily="34" charset="-122"/>
                <a:cs typeface="メイリオ" pitchFamily="34" charset="-120"/>
              </a:rPr>
              <a:t>『上乗せ』</a:t>
            </a:r>
            <a:endParaRPr lang="ja-JP" sz="2200" dirty="0"/>
          </a:p>
        </p:txBody>
      </p:sp>
      <p:sp>
        <p:nvSpPr>
          <p:cNvPr id="31" name="Text 29"/>
          <p:cNvSpPr txBox="1"/>
          <p:nvPr/>
        </p:nvSpPr>
        <p:spPr>
          <a:xfrm>
            <a:off x="4913986" y="290504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5170018" y="2905049"/>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導入時にヒドロコルチゾン 100 mg 静注</a:t>
            </a:r>
            <a:endParaRPr lang="ja-JP" sz="2200" dirty="0"/>
          </a:p>
        </p:txBody>
      </p:sp>
      <p:sp>
        <p:nvSpPr>
          <p:cNvPr id="33" name="Text 31"/>
          <p:cNvSpPr txBox="1"/>
          <p:nvPr/>
        </p:nvSpPr>
        <p:spPr>
          <a:xfrm>
            <a:off x="4913986" y="3317443"/>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5170018" y="3317443"/>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続いて 200 mg/24 時間を持続。食べられたら</a:t>
            </a:r>
            <a:endParaRPr lang="ja-JP" sz="2200" dirty="0"/>
          </a:p>
        </p:txBody>
      </p:sp>
      <p:sp>
        <p:nvSpPr>
          <p:cNvPr id="35" name="Text 33"/>
          <p:cNvSpPr txBox="1"/>
          <p:nvPr/>
        </p:nvSpPr>
        <p:spPr>
          <a:xfrm>
            <a:off x="5170018" y="3653028"/>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通常量の 2 倍を 48 時間経口で</a:t>
            </a:r>
            <a:endParaRPr lang="ja-JP" sz="2200" dirty="0"/>
          </a:p>
        </p:txBody>
      </p:sp>
      <p:sp>
        <p:nvSpPr>
          <p:cNvPr id="36" name="Text 34"/>
          <p:cNvSpPr txBox="1"/>
          <p:nvPr/>
        </p:nvSpPr>
        <p:spPr>
          <a:xfrm>
            <a:off x="4913986" y="406450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5170018" y="4064508"/>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小手術に一律 100 mg は</a:t>
            </a:r>
            <a:endParaRPr lang="ja-JP" sz="2200" dirty="0"/>
          </a:p>
        </p:txBody>
      </p:sp>
      <p:sp>
        <p:nvSpPr>
          <p:cNvPr id="38" name="Text 36"/>
          <p:cNvSpPr txBox="1"/>
          <p:nvPr/>
        </p:nvSpPr>
        <p:spPr>
          <a:xfrm>
            <a:off x="5170018" y="4400093"/>
            <a:ext cx="642457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異論あり（→ 3-12）</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神経・精神の薬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Oprea AD, et al. Mayo Clin Proc 2022;97:375-396, 397-416（SPAQI） / 日本神経学会</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パーキンソン病診療ガイドライン 2018 / Dominicus LS, et al. Bipolar Disord 2026;28:e70087</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328977"/>
                <a:gridCol w="3054096"/>
                <a:gridCol w="5772607"/>
              </a:tblGrid>
              <a:tr h="292608">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薬</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当日</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注意</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548640">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抗てんかん薬</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b="1" dirty="0">
                          <a:solidFill>
                            <a:srgbClr val="0072B2"/>
                          </a:solidFill>
                          <a:latin typeface="メイリオ" pitchFamily="34" charset="0"/>
                          <a:ea typeface="メイリオ" pitchFamily="34" charset="-122"/>
                          <a:cs typeface="メイリオ" pitchFamily="34" charset="-120"/>
                        </a:rPr>
                        <a:t>続ける</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絶食が長引けば静注製剤に。</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バルプロ酸とカルバペネムは併用禁忌</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レボドパ</a:t>
                      </a:r>
                      <a:endParaRPr lang="en-US" sz="1700" dirty="0">
                        <a:latin typeface="メイリオ" charset="0"/>
                        <a:ea typeface="メイリオ" charset="0"/>
                        <a:cs typeface="メイリオ" charset="0"/>
                      </a:endParaRPr>
                    </a:p>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（パーキンソン病）</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b="1" dirty="0">
                          <a:solidFill>
                            <a:srgbClr val="0072B2"/>
                          </a:solidFill>
                          <a:latin typeface="メイリオ" pitchFamily="34" charset="0"/>
                          <a:ea typeface="メイリオ" pitchFamily="34" charset="-122"/>
                          <a:cs typeface="メイリオ" pitchFamily="34" charset="-120"/>
                        </a:rPr>
                        <a:t>少量の水で続ける</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急な中止で悪性症候群。絶食ならレボドパ静注。</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メトクロプラミド・ハロペリドールを避ける</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04672">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MAO-B 阻害薬</a:t>
                      </a:r>
                      <a:endParaRPr lang="en-US" sz="1700" dirty="0">
                        <a:latin typeface="メイリオ" charset="0"/>
                        <a:ea typeface="メイリオ" charset="0"/>
                        <a:cs typeface="メイリオ" charset="0"/>
                      </a:endParaRPr>
                    </a:p>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（セレギリン）</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b="1" dirty="0">
                          <a:solidFill>
                            <a:srgbClr val="0072B2"/>
                          </a:solidFill>
                          <a:latin typeface="メイリオ" pitchFamily="34" charset="0"/>
                          <a:ea typeface="メイリオ" pitchFamily="34" charset="-122"/>
                          <a:cs typeface="メイリオ" pitchFamily="34" charset="-120"/>
                        </a:rPr>
                        <a:t>続ける</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ペチジン・トラマドール・タペンタドール、</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三環系・SSRI・SNRI・ミルタザピンは併用禁忌。</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エフェドリンを避けフェニレフリン少量</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SSRI・SNRI・</a:t>
                      </a:r>
                      <a:endParaRPr lang="en-US" sz="1700" dirty="0">
                        <a:latin typeface="メイリオ" charset="0"/>
                        <a:ea typeface="メイリオ" charset="0"/>
                        <a:cs typeface="メイリオ" charset="0"/>
                      </a:endParaRPr>
                    </a:p>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三環系</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b="1" dirty="0">
                          <a:solidFill>
                            <a:srgbClr val="0072B2"/>
                          </a:solidFill>
                          <a:latin typeface="メイリオ" pitchFamily="34" charset="0"/>
                          <a:ea typeface="メイリオ" pitchFamily="34" charset="-122"/>
                          <a:cs typeface="メイリオ" pitchFamily="34" charset="-120"/>
                        </a:rPr>
                        <a:t>続ける</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出血が増える。セロトニン症候群（トラマドール、</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ペチジン、メチレンブルー、リネゾリド）</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04672">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リチウム</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小手術は継続。大量出血・</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絶食が続く手術は</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72 時間前に中止</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脱水・NSAIDs・ACE 阻害薬・</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サイアザイドで蓄積。再開は K・Na・Cr を見て</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48640">
                <a:tc>
                  <a:txBody>
                    <a:bodyPr/>
                    <a:lstStyle/>
                    <a:p>
                      <a:pPr algn="l" indent="0" marL="0">
                        <a:lnSpc>
                          <a:spcPts val="2040"/>
                        </a:lnSpc>
                        <a:buNone/>
                      </a:pPr>
                      <a:r>
                        <a:rPr lang="ja-JP" altLang="en-US" sz="1700" b="1" dirty="0">
                          <a:solidFill>
                            <a:srgbClr val="262626"/>
                          </a:solidFill>
                          <a:latin typeface="メイリオ" pitchFamily="34" charset="0"/>
                          <a:ea typeface="メイリオ" pitchFamily="34" charset="-122"/>
                          <a:cs typeface="メイリオ" pitchFamily="34" charset="-120"/>
                        </a:rPr>
                        <a:t>抗精神病薬</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b="1" dirty="0">
                          <a:solidFill>
                            <a:srgbClr val="0072B2"/>
                          </a:solidFill>
                          <a:latin typeface="メイリオ" pitchFamily="34" charset="0"/>
                          <a:ea typeface="メイリオ" pitchFamily="34" charset="-122"/>
                          <a:cs typeface="メイリオ" pitchFamily="34" charset="-120"/>
                        </a:rPr>
                        <a:t>続ける（精神科と）</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QT 延長、錐体外路、悪性症候群。</a:t>
                      </a:r>
                      <a:endParaRPr lang="en-US" sz="1700" dirty="0">
                        <a:latin typeface="メイリオ" charset="0"/>
                        <a:ea typeface="メイリオ" charset="0"/>
                        <a:cs typeface="メイリオ" charset="0"/>
                      </a:endParaRPr>
                    </a:p>
                    <a:p>
                      <a:pPr algn="l" indent="0" marL="0">
                        <a:lnSpc>
                          <a:spcPts val="2040"/>
                        </a:lnSpc>
                        <a:buNone/>
                      </a:pPr>
                      <a:r>
                        <a:rPr lang="ja-JP" altLang="en-US" sz="1700" dirty="0">
                          <a:solidFill>
                            <a:srgbClr val="262626"/>
                          </a:solidFill>
                          <a:latin typeface="メイリオ" pitchFamily="34" charset="0"/>
                          <a:ea typeface="メイリオ" pitchFamily="34" charset="-122"/>
                          <a:cs typeface="メイリオ" pitchFamily="34" charset="-120"/>
                        </a:rPr>
                        <a:t>パーキンソン病にハロペリドールは禁忌</a:t>
                      </a:r>
                      <a:endParaRPr lang="en-US" sz="17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ホルモン・漢方・サプリ</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Ang-Lee MK, et al. JAMA 2001;286:208-216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Cummings KC, et al. Mayo Clin Proc 2021;96:1342-1355（SPAQI） / 各製剤の添付文書</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713025"/>
                <a:gridCol w="2969057"/>
                <a:gridCol w="5473598"/>
              </a:tblGrid>
              <a:tr h="35661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薬</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どうする</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理由</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63093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レボチロキシン</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当日飲めなくてもよい。</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5 日超は静注</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半減期約 7 日。</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顕性の機能異常は待機手術を延期</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5661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抗甲状腺薬</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b="1" dirty="0">
                          <a:solidFill>
                            <a:srgbClr val="0072B2"/>
                          </a:solidFill>
                          <a:latin typeface="メイリオ" pitchFamily="34" charset="0"/>
                          <a:ea typeface="メイリオ" pitchFamily="34" charset="-122"/>
                          <a:cs typeface="メイリオ" pitchFamily="34" charset="-120"/>
                        </a:rPr>
                        <a:t>続ける</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甲状腺クリーゼの予防</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3093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低用量ピル・LEP</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b="1" dirty="0">
                          <a:solidFill>
                            <a:srgbClr val="D55E00"/>
                          </a:solidFill>
                          <a:latin typeface="メイリオ" pitchFamily="34" charset="0"/>
                          <a:ea typeface="メイリオ" pitchFamily="34" charset="-122"/>
                          <a:cs typeface="メイリオ" pitchFamily="34" charset="-120"/>
                        </a:rPr>
                        <a:t>手術 4 週前に中止、</a:t>
                      </a:r>
                      <a:endParaRPr lang="en-US" sz="1800" dirty="0">
                        <a:latin typeface="メイリオ" charset="0"/>
                        <a:ea typeface="メイリオ" charset="0"/>
                        <a:cs typeface="メイリオ" charset="0"/>
                      </a:endParaRPr>
                    </a:p>
                    <a:p>
                      <a:pPr algn="l" indent="0" marL="0">
                        <a:lnSpc>
                          <a:spcPts val="2160"/>
                        </a:lnSpc>
                        <a:buNone/>
                      </a:pPr>
                      <a:r>
                        <a:rPr lang="ja-JP" altLang="en-US" sz="1800" b="1" dirty="0">
                          <a:solidFill>
                            <a:srgbClr val="D55E00"/>
                          </a:solidFill>
                          <a:latin typeface="メイリオ" pitchFamily="34" charset="0"/>
                          <a:ea typeface="メイリオ" pitchFamily="34" charset="-122"/>
                          <a:cs typeface="メイリオ" pitchFamily="34" charset="-120"/>
                        </a:rPr>
                        <a:t>術後 2 週は再開しない</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添付文書で禁忌</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（静脈血栓塞栓症）。予約時に確認</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3093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ラロキシフェン</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b="1" dirty="0">
                          <a:solidFill>
                            <a:srgbClr val="D55E00"/>
                          </a:solidFill>
                          <a:latin typeface="メイリオ" pitchFamily="34" charset="0"/>
                          <a:ea typeface="メイリオ" pitchFamily="34" charset="-122"/>
                          <a:cs typeface="メイリオ" pitchFamily="34" charset="-120"/>
                        </a:rPr>
                        <a:t>不動になる</a:t>
                      </a:r>
                      <a:endParaRPr lang="en-US" sz="1800" dirty="0">
                        <a:latin typeface="メイリオ" charset="0"/>
                        <a:ea typeface="メイリオ" charset="0"/>
                        <a:cs typeface="メイリオ" charset="0"/>
                      </a:endParaRPr>
                    </a:p>
                    <a:p>
                      <a:pPr algn="l" indent="0" marL="0">
                        <a:lnSpc>
                          <a:spcPts val="2160"/>
                        </a:lnSpc>
                        <a:buNone/>
                      </a:pPr>
                      <a:r>
                        <a:rPr lang="ja-JP" altLang="en-US" sz="1800" b="1" dirty="0">
                          <a:solidFill>
                            <a:srgbClr val="D55E00"/>
                          </a:solidFill>
                          <a:latin typeface="メイリオ" pitchFamily="34" charset="0"/>
                          <a:ea typeface="メイリオ" pitchFamily="34" charset="-122"/>
                          <a:cs typeface="メイリオ" pitchFamily="34" charset="-120"/>
                        </a:rPr>
                        <a:t>3 日前に中止</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静脈血栓塞栓症。</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骨折の緊急手術では VTE 予防を強化</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90525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漢方（甘草）・サプリ</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サプリは</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1〜2 週前に中止。</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甘草は K を確認</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偽アルドステロン症。</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ニンニク・イチョウは出血、</a:t>
                      </a:r>
                      <a:endParaRPr lang="en-US" sz="1800" dirty="0">
                        <a:latin typeface="メイリオ" charset="0"/>
                        <a:ea typeface="メイリオ" charset="0"/>
                        <a:cs typeface="メイリオ" charset="0"/>
                      </a:endParaRPr>
                    </a:p>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セント・ジョーンズ・ワートは薬物代謝</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30936">
                <a:tc>
                  <a:txBody>
                    <a:bodyPr/>
                    <a:lstStyle/>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吸入薬・</a:t>
                      </a:r>
                      <a:endParaRPr lang="en-US" sz="1800" dirty="0">
                        <a:latin typeface="メイリオ" charset="0"/>
                        <a:ea typeface="メイリオ" charset="0"/>
                        <a:cs typeface="メイリオ" charset="0"/>
                      </a:endParaRPr>
                    </a:p>
                    <a:p>
                      <a:pPr algn="l" indent="0" marL="0">
                        <a:lnSpc>
                          <a:spcPts val="2160"/>
                        </a:lnSpc>
                        <a:buNone/>
                      </a:pPr>
                      <a:r>
                        <a:rPr lang="ja-JP" altLang="en-US" sz="1800" b="1" dirty="0">
                          <a:solidFill>
                            <a:srgbClr val="262626"/>
                          </a:solidFill>
                          <a:latin typeface="メイリオ" pitchFamily="34" charset="0"/>
                          <a:ea typeface="メイリオ" pitchFamily="34" charset="-122"/>
                          <a:cs typeface="メイリオ" pitchFamily="34" charset="-120"/>
                        </a:rPr>
                        <a:t>ロイコトリエン拮抗薬</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b="1" dirty="0">
                          <a:solidFill>
                            <a:srgbClr val="0072B2"/>
                          </a:solidFill>
                          <a:latin typeface="メイリオ" pitchFamily="34" charset="0"/>
                          <a:ea typeface="メイリオ" pitchFamily="34" charset="-122"/>
                          <a:cs typeface="メイリオ" pitchFamily="34" charset="-120"/>
                        </a:rPr>
                        <a:t>当日も続ける</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吸入ステロイドはカバーの判断で数える</a:t>
                      </a:r>
                      <a:endParaRPr lang="en-US" sz="18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当日の内服指示の書き方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Sahai SK, et al. Mayo Clin Proc 2022;97:1734-1751（SPAQI 心血管薬） / Oprea AD,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Mayo Clin Proc 2022;97:375-396 / Woodcock T, et al. Anaesthesia 2020;75:654-663</a:t>
            </a:r>
            <a:endParaRPr lang="ja-JP" sz="1600" dirty="0"/>
          </a:p>
        </p:txBody>
      </p:sp>
      <p:sp>
        <p:nvSpPr>
          <p:cNvPr id="11" name="Shape 9"/>
          <p:cNvSpPr/>
          <p:nvPr/>
        </p:nvSpPr>
        <p:spPr>
          <a:xfrm>
            <a:off x="502920" y="5029200"/>
            <a:ext cx="11183112" cy="859536"/>
          </a:xfrm>
          <a:prstGeom prst="roundRect">
            <a:avLst>
              <a:gd name="adj" fmla="val 10638"/>
            </a:avLst>
          </a:prstGeom>
          <a:solidFill>
            <a:srgbClr val="FFFFFF"/>
          </a:solidFill>
          <a:ln w="44450">
            <a:solidFill>
              <a:srgbClr val="00A8AA"/>
            </a:solidFill>
            <a:prstDash val="solid"/>
          </a:ln>
        </p:spPr>
      </p:sp>
      <p:sp>
        <p:nvSpPr>
          <p:cNvPr id="12" name="Text 10"/>
          <p:cNvSpPr txBox="1"/>
          <p:nvPr/>
        </p:nvSpPr>
        <p:spPr>
          <a:xfrm>
            <a:off x="566928" y="5065776"/>
            <a:ext cx="11055096" cy="420624"/>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『飲む薬』</a:t>
            </a:r>
            <a:r>
              <a:rPr lang="ja-JP" altLang="en-US" sz="2400" b="1" dirty="0">
                <a:solidFill>
                  <a:srgbClr val="D55E00"/>
                </a:solidFill>
                <a:latin typeface="メイリオ" pitchFamily="34" charset="0"/>
                <a:ea typeface="メイリオ" pitchFamily="34" charset="-122"/>
                <a:cs typeface="メイリオ" pitchFamily="34" charset="-120"/>
              </a:rPr>
              <a:t>『止める薬と再開日』</a:t>
            </a:r>
            <a:r>
              <a:rPr lang="ja-JP" altLang="en-US" sz="2400" b="1" dirty="0">
                <a:solidFill>
                  <a:srgbClr val="262626"/>
                </a:solidFill>
                <a:latin typeface="メイリオ" pitchFamily="34" charset="0"/>
                <a:ea typeface="メイリオ" pitchFamily="34" charset="-122"/>
                <a:cs typeface="メイリオ" pitchFamily="34" charset="-120"/>
              </a:rPr>
              <a:t>『相談した相手』を薬ごとに書き、</a:t>
            </a:r>
            <a:endParaRPr lang="ja-JP" sz="2400" dirty="0"/>
          </a:p>
        </p:txBody>
      </p:sp>
      <p:sp>
        <p:nvSpPr>
          <p:cNvPr id="13" name="Text 11"/>
          <p:cNvSpPr txBox="1"/>
          <p:nvPr/>
        </p:nvSpPr>
        <p:spPr>
          <a:xfrm>
            <a:off x="566928" y="5431536"/>
            <a:ext cx="11055096" cy="420624"/>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少量の水で飲ませる</a:t>
            </a:r>
            <a:endParaRPr lang="ja-JP" sz="2400" dirty="0"/>
          </a:p>
        </p:txBody>
      </p:sp>
      <p:sp>
        <p:nvSpPr>
          <p:cNvPr id="14" name="Shape 12"/>
          <p:cNvSpPr/>
          <p:nvPr/>
        </p:nvSpPr>
        <p:spPr>
          <a:xfrm>
            <a:off x="502920" y="1664208"/>
            <a:ext cx="3196742" cy="3145536"/>
          </a:xfrm>
          <a:prstGeom prst="roundRect">
            <a:avLst>
              <a:gd name="adj" fmla="val 2326"/>
            </a:avLst>
          </a:prstGeom>
          <a:solidFill>
            <a:srgbClr val="F2F2F2"/>
          </a:solidFill>
          <a:ln/>
        </p:spPr>
      </p:sp>
      <p:sp>
        <p:nvSpPr>
          <p:cNvPr id="15" name="Text 13"/>
          <p:cNvSpPr txBox="1"/>
          <p:nvPr/>
        </p:nvSpPr>
        <p:spPr>
          <a:xfrm>
            <a:off x="576072" y="1737360"/>
            <a:ext cx="3050438"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当日も飲む</a:t>
            </a:r>
            <a:endParaRPr lang="ja-JP"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 y="2127809"/>
          <a:ext cx="3050438" cy="914400"/>
        </p:xfrm>
        <a:graphic>
          <a:graphicData uri="http://schemas.openxmlformats.org/drawingml/2006/table">
            <a:tbl>
              <a:tblPr/>
              <a:tblGrid>
                <a:gridCol w="201168"/>
                <a:gridCol w="2849270"/>
              </a:tblGrid>
              <a:tr h="54864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β遮断薬、Ca 拮抗薬、</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スタチン</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59436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吸入薬、抗てんかん薬、</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レボドパ</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r>
              <a:tr h="86868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SSRI、抗甲状腺薬、</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レボチロキシン</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（飲めなくても可）</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r>
              <a:tr h="59436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普段のステロイド</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（＋カバー）</a:t>
                      </a:r>
                      <a:endParaRPr lang="ja-JP" sz="1800" dirty="0">
                        <a:latin typeface="メイリオ" charset="0"/>
                        <a:ea typeface="メイリオ" charset="0"/>
                        <a:cs typeface="メイリオ" charset="0"/>
                      </a:endParaRPr>
                    </a:p>
                  </a:txBody>
                  <a:tcPr marL="0" marR="0" marT="4572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4"/>
          <p:cNvSpPr/>
          <p:nvPr/>
        </p:nvSpPr>
        <p:spPr>
          <a:xfrm>
            <a:off x="3919118" y="1664208"/>
            <a:ext cx="4348886" cy="3145536"/>
          </a:xfrm>
          <a:prstGeom prst="roundRect">
            <a:avLst>
              <a:gd name="adj" fmla="val 2326"/>
            </a:avLst>
          </a:prstGeom>
          <a:solidFill>
            <a:srgbClr val="F2F2F2"/>
          </a:solidFill>
          <a:ln/>
        </p:spPr>
      </p:sp>
      <p:sp>
        <p:nvSpPr>
          <p:cNvPr id="18" name="Text 15"/>
          <p:cNvSpPr txBox="1"/>
          <p:nvPr/>
        </p:nvSpPr>
        <p:spPr>
          <a:xfrm>
            <a:off x="3992270" y="1737360"/>
            <a:ext cx="4202582"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止める（いつから）</a:t>
            </a:r>
            <a:endParaRPr lang="ja-JP" sz="22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992270" y="2127809"/>
          <a:ext cx="4202582" cy="914400"/>
        </p:xfrm>
        <a:graphic>
          <a:graphicData uri="http://schemas.openxmlformats.org/drawingml/2006/table">
            <a:tbl>
              <a:tblPr/>
              <a:tblGrid>
                <a:gridCol w="201168"/>
                <a:gridCol w="4001414"/>
              </a:tblGrid>
              <a:tr h="54864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ACE 阻害薬・ARB：</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24 時間前から（HFrEF は相談）</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7581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利尿薬：当日朝</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37581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SGLT2 阻害薬：3 日前（→ 4-13）</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65013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リチウム：</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大量出血の手術は 72 時間前</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65013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低用量ピル：4 週前。</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サプリ：1〜2 週前</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bl>
          </a:graphicData>
        </a:graphic>
      </p:graphicFrame>
      <p:sp>
        <p:nvSpPr>
          <p:cNvPr id="20" name="Shape 16"/>
          <p:cNvSpPr/>
          <p:nvPr/>
        </p:nvSpPr>
        <p:spPr>
          <a:xfrm>
            <a:off x="8487461" y="1664208"/>
            <a:ext cx="3196742" cy="3145536"/>
          </a:xfrm>
          <a:prstGeom prst="roundRect">
            <a:avLst>
              <a:gd name="adj" fmla="val 2326"/>
            </a:avLst>
          </a:prstGeom>
          <a:solidFill>
            <a:srgbClr val="F2F2F2"/>
          </a:solidFill>
          <a:ln/>
        </p:spPr>
      </p:sp>
      <p:sp>
        <p:nvSpPr>
          <p:cNvPr id="21" name="Text 17"/>
          <p:cNvSpPr txBox="1"/>
          <p:nvPr/>
        </p:nvSpPr>
        <p:spPr>
          <a:xfrm>
            <a:off x="8560613" y="1737360"/>
            <a:ext cx="3050438" cy="37490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相談する相手</a:t>
            </a:r>
            <a:endParaRPr lang="ja-JP" sz="22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8560613" y="2127809"/>
          <a:ext cx="3050438" cy="914400"/>
        </p:xfrm>
        <a:graphic>
          <a:graphicData uri="http://schemas.openxmlformats.org/drawingml/2006/table">
            <a:tbl>
              <a:tblPr/>
              <a:tblGrid>
                <a:gridCol w="201168"/>
                <a:gridCol w="2849270"/>
              </a:tblGrid>
              <a:tr h="548640">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HFrEF・不整脈の薬：</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循環器内科</a:t>
                      </a:r>
                      <a:endParaRPr lang="ja-JP" sz="18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7581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副腎不全：内分泌内科</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65013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パーキンソン病：</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脳神経内科</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65013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リチウム・MAO 阻害薬・</a:t>
                      </a:r>
                      <a:endParaRPr lang="ja-JP" sz="1800" dirty="0">
                        <a:latin typeface="メイリオ" charset="0"/>
                        <a:ea typeface="メイリオ" charset="0"/>
                        <a:cs typeface="メイリオ" charset="0"/>
                      </a:endParaRPr>
                    </a:p>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抗精神病薬：精神科</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r h="375818">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c>
                  <a:txBody>
                    <a:bodyPr/>
                    <a:lstStyle/>
                    <a:p>
                      <a:pPr indent="0" marL="0">
                        <a:lnSpc>
                          <a:spcPts val="2160"/>
                        </a:lnSpc>
                        <a:buNone/>
                      </a:pPr>
                      <a:r>
                        <a:rPr lang="ja-JP" altLang="en-US" sz="1800" dirty="0">
                          <a:solidFill>
                            <a:srgbClr val="262626"/>
                          </a:solidFill>
                          <a:latin typeface="メイリオ" pitchFamily="34" charset="0"/>
                          <a:ea typeface="メイリオ" pitchFamily="34" charset="-122"/>
                          <a:cs typeface="メイリオ" pitchFamily="34" charset="-120"/>
                        </a:rPr>
                        <a:t>てんかん・漢方：処方医</a:t>
                      </a:r>
                      <a:endParaRPr lang="ja-JP" sz="1800" dirty="0">
                        <a:latin typeface="メイリオ" charset="0"/>
                        <a:ea typeface="メイリオ" charset="0"/>
                        <a:cs typeface="メイリオ" charset="0"/>
                      </a:endParaRPr>
                    </a:p>
                  </a:txBody>
                  <a:tcPr marL="0" marR="0" marT="10160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降圧薬</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ステロ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イド</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神経・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精神</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その他</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Legrand M, et al. JAMA 2024;332:970-978（STOP-or-NOT） / Thompson A, et al. Circulation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2024;150:e351-e442（2024 AHA/ACC） / Woodcock T, et al. Anaesthesia 2020;75:654-663</a:t>
            </a:r>
            <a:endParaRPr lang="ja-JP" sz="1600" dirty="0"/>
          </a:p>
        </p:txBody>
      </p:sp>
      <p:sp>
        <p:nvSpPr>
          <p:cNvPr id="11" name="Text 9"/>
          <p:cNvSpPr txBox="1"/>
          <p:nvPr/>
        </p:nvSpPr>
        <p:spPr>
          <a:xfrm>
            <a:off x="502920" y="1691640"/>
            <a:ext cx="11155680" cy="4197096"/>
          </a:xfrm>
          <a:prstGeom prst="rect">
            <a:avLst/>
          </a:prstGeom>
          <a:noFill/>
          <a:ln/>
        </p:spPr>
        <p:txBody>
          <a:bodyPr wrap="square" lIns="0" tIns="0" rIns="0" bIns="0" rtlCol="0" anchor="ctr"/>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ACE 阻害薬・ARB は休薬でも継続でも可。</a:t>
            </a:r>
            <a:r>
              <a:rPr lang="ja-JP" altLang="en-US" sz="2400" b="1" dirty="0">
                <a:solidFill>
                  <a:srgbClr val="D55E00"/>
                </a:solidFill>
                <a:latin typeface="メイリオ" pitchFamily="34" charset="0"/>
                <a:ea typeface="メイリオ" pitchFamily="34" charset="-122"/>
                <a:cs typeface="メイリオ" pitchFamily="34" charset="-120"/>
              </a:rPr>
              <a:t>止めたら再開日を書く</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β遮断薬・スタチン・吸入薬・抗てんかん薬・レボドパは</a:t>
            </a:r>
            <a:r>
              <a:rPr lang="ja-JP" altLang="en-US" sz="2400" b="1" dirty="0">
                <a:solidFill>
                  <a:srgbClr val="0072B2"/>
                </a:solidFill>
                <a:latin typeface="メイリオ" pitchFamily="34" charset="0"/>
                <a:ea typeface="メイリオ" pitchFamily="34" charset="-122"/>
                <a:cs typeface="メイリオ" pitchFamily="34" charset="-120"/>
              </a:rPr>
              <a:t>当日も飲む</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ステロイドカバー：5 mg/日以上を 1 か月以上。</a:t>
            </a:r>
            <a:r>
              <a:rPr lang="ja-JP" altLang="en-US" sz="2400" b="1" dirty="0">
                <a:solidFill>
                  <a:srgbClr val="D55E00"/>
                </a:solidFill>
                <a:latin typeface="メイリオ" pitchFamily="34" charset="0"/>
                <a:ea typeface="メイリオ" pitchFamily="34" charset="-122"/>
                <a:cs typeface="メイリオ" pitchFamily="34" charset="-120"/>
              </a:rPr>
              <a:t>普段の量に上乗せ</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MAO-B 阻害薬にペチジン・トラマドールは</a:t>
            </a:r>
            <a:r>
              <a:rPr lang="ja-JP" altLang="en-US" sz="2400" b="1" dirty="0">
                <a:solidFill>
                  <a:srgbClr val="C00000"/>
                </a:solidFill>
                <a:latin typeface="メイリオ" pitchFamily="34" charset="0"/>
                <a:ea typeface="メイリオ" pitchFamily="34" charset="-122"/>
                <a:cs typeface="メイリオ" pitchFamily="34" charset="-120"/>
              </a:rPr>
              <a:t>禁忌</a:t>
            </a:r>
            <a:r>
              <a:rPr lang="ja-JP" altLang="en-US" sz="2400" dirty="0">
                <a:solidFill>
                  <a:srgbClr val="262626"/>
                </a:solidFill>
                <a:latin typeface="メイリオ" pitchFamily="34" charset="0"/>
                <a:ea typeface="メイリオ" pitchFamily="34" charset="-122"/>
                <a:cs typeface="メイリオ" pitchFamily="34" charset="-120"/>
              </a:rPr>
              <a:t>。SSRI でも慎重に</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ピル 4 週前、サプリ 1〜2 週前、リチウムは大出血手術で </a:t>
            </a:r>
            <a:r>
              <a:rPr lang="ja-JP" altLang="en-US" sz="2400" b="1" dirty="0">
                <a:solidFill>
                  <a:srgbClr val="0072B2"/>
                </a:solidFill>
                <a:latin typeface="メイリオ" pitchFamily="34" charset="0"/>
                <a:ea typeface="メイリオ" pitchFamily="34" charset="-122"/>
                <a:cs typeface="メイリオ" pitchFamily="34" charset="-120"/>
              </a:rPr>
              <a:t>72 時間前</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4-14 常用薬③：その他</dc:title>
  <dc:subject/>
  <dc:creator>Anes-lecture</dc:creator>
  <cp:lastModifiedBy>Anes-lecture</cp:lastModifiedBy>
  <cp:revision>1</cp:revision>
  <dcterms:created xsi:type="dcterms:W3CDTF">2026-10-15T23:52:40Z</dcterms:created>
  <dcterms:modified xsi:type="dcterms:W3CDTF">2026-10-15T23:52:40Z</dcterms:modified>
</cp:coreProperties>
</file>